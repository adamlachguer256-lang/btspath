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Authors.xml" ContentType="application/vnd.openxmlformats-officedocument.presentationml.commentAuthor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9"/>
  </p:notesMasterIdLst>
  <p:handoutMasterIdLst>
    <p:handoutMasterId r:id="rId20"/>
  </p:handoutMasterIdLst>
  <p:sldIdLst>
    <p:sldId id="416" r:id="rId2"/>
    <p:sldId id="420" r:id="rId3"/>
    <p:sldId id="480" r:id="rId4"/>
    <p:sldId id="490" r:id="rId5"/>
    <p:sldId id="491" r:id="rId6"/>
    <p:sldId id="492" r:id="rId7"/>
    <p:sldId id="421" r:id="rId8"/>
    <p:sldId id="475" r:id="rId9"/>
    <p:sldId id="477" r:id="rId10"/>
    <p:sldId id="476" r:id="rId11"/>
    <p:sldId id="454" r:id="rId12"/>
    <p:sldId id="482" r:id="rId13"/>
    <p:sldId id="449" r:id="rId14"/>
    <p:sldId id="455" r:id="rId15"/>
    <p:sldId id="422" r:id="rId16"/>
    <p:sldId id="493" r:id="rId17"/>
    <p:sldId id="494" r:id="rId18"/>
  </p:sldIdLst>
  <p:sldSz cx="9144000" cy="6858000" type="screen4x3"/>
  <p:notesSz cx="6858000" cy="9144000"/>
  <p:defaultTextStyle>
    <a:defPPr>
      <a:defRPr lang="en-US"/>
    </a:defPPr>
    <a:lvl1pPr algn="ctr" rtl="0" eaLnBrk="0" fontAlgn="base" hangingPunct="0">
      <a:spcBef>
        <a:spcPct val="0"/>
      </a:spcBef>
      <a:spcAft>
        <a:spcPct val="0"/>
      </a:spcAft>
      <a:defRPr b="1" kern="1200">
        <a:solidFill>
          <a:schemeClr val="tx1"/>
        </a:solidFill>
        <a:latin typeface="Arial Narrow" pitchFamily="34" charset="0"/>
        <a:ea typeface="+mn-ea"/>
        <a:cs typeface="+mn-cs"/>
      </a:defRPr>
    </a:lvl1pPr>
    <a:lvl2pPr marL="457200" algn="ctr" rtl="0" eaLnBrk="0" fontAlgn="base" hangingPunct="0">
      <a:spcBef>
        <a:spcPct val="0"/>
      </a:spcBef>
      <a:spcAft>
        <a:spcPct val="0"/>
      </a:spcAft>
      <a:defRPr b="1" kern="1200">
        <a:solidFill>
          <a:schemeClr val="tx1"/>
        </a:solidFill>
        <a:latin typeface="Arial Narrow" pitchFamily="34" charset="0"/>
        <a:ea typeface="+mn-ea"/>
        <a:cs typeface="+mn-cs"/>
      </a:defRPr>
    </a:lvl2pPr>
    <a:lvl3pPr marL="914400" algn="ctr" rtl="0" eaLnBrk="0" fontAlgn="base" hangingPunct="0">
      <a:spcBef>
        <a:spcPct val="0"/>
      </a:spcBef>
      <a:spcAft>
        <a:spcPct val="0"/>
      </a:spcAft>
      <a:defRPr b="1" kern="1200">
        <a:solidFill>
          <a:schemeClr val="tx1"/>
        </a:solidFill>
        <a:latin typeface="Arial Narrow" pitchFamily="34" charset="0"/>
        <a:ea typeface="+mn-ea"/>
        <a:cs typeface="+mn-cs"/>
      </a:defRPr>
    </a:lvl3pPr>
    <a:lvl4pPr marL="1371600" algn="ctr" rtl="0" eaLnBrk="0" fontAlgn="base" hangingPunct="0">
      <a:spcBef>
        <a:spcPct val="0"/>
      </a:spcBef>
      <a:spcAft>
        <a:spcPct val="0"/>
      </a:spcAft>
      <a:defRPr b="1" kern="1200">
        <a:solidFill>
          <a:schemeClr val="tx1"/>
        </a:solidFill>
        <a:latin typeface="Arial Narrow" pitchFamily="34" charset="0"/>
        <a:ea typeface="+mn-ea"/>
        <a:cs typeface="+mn-cs"/>
      </a:defRPr>
    </a:lvl4pPr>
    <a:lvl5pPr marL="1828800" algn="ctr" rtl="0" eaLnBrk="0" fontAlgn="base" hangingPunct="0">
      <a:spcBef>
        <a:spcPct val="0"/>
      </a:spcBef>
      <a:spcAft>
        <a:spcPct val="0"/>
      </a:spcAft>
      <a:defRPr b="1" kern="1200">
        <a:solidFill>
          <a:schemeClr val="tx1"/>
        </a:solidFill>
        <a:latin typeface="Arial Narrow" pitchFamily="34" charset="0"/>
        <a:ea typeface="+mn-ea"/>
        <a:cs typeface="+mn-cs"/>
      </a:defRPr>
    </a:lvl5pPr>
    <a:lvl6pPr marL="2286000" algn="l" defTabSz="914400" rtl="0" eaLnBrk="1" latinLnBrk="0" hangingPunct="1">
      <a:defRPr b="1" kern="1200">
        <a:solidFill>
          <a:schemeClr val="tx1"/>
        </a:solidFill>
        <a:latin typeface="Arial Narrow" pitchFamily="34" charset="0"/>
        <a:ea typeface="+mn-ea"/>
        <a:cs typeface="+mn-cs"/>
      </a:defRPr>
    </a:lvl6pPr>
    <a:lvl7pPr marL="2743200" algn="l" defTabSz="914400" rtl="0" eaLnBrk="1" latinLnBrk="0" hangingPunct="1">
      <a:defRPr b="1" kern="1200">
        <a:solidFill>
          <a:schemeClr val="tx1"/>
        </a:solidFill>
        <a:latin typeface="Arial Narrow" pitchFamily="34" charset="0"/>
        <a:ea typeface="+mn-ea"/>
        <a:cs typeface="+mn-cs"/>
      </a:defRPr>
    </a:lvl7pPr>
    <a:lvl8pPr marL="3200400" algn="l" defTabSz="914400" rtl="0" eaLnBrk="1" latinLnBrk="0" hangingPunct="1">
      <a:defRPr b="1" kern="1200">
        <a:solidFill>
          <a:schemeClr val="tx1"/>
        </a:solidFill>
        <a:latin typeface="Arial Narrow" pitchFamily="34" charset="0"/>
        <a:ea typeface="+mn-ea"/>
        <a:cs typeface="+mn-cs"/>
      </a:defRPr>
    </a:lvl8pPr>
    <a:lvl9pPr marL="3657600" algn="l" defTabSz="914400" rtl="0" eaLnBrk="1" latinLnBrk="0" hangingPunct="1">
      <a:defRPr b="1" kern="1200">
        <a:solidFill>
          <a:schemeClr val="tx1"/>
        </a:solidFill>
        <a:latin typeface="Arial Narrow"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1" clrIdx="0"/>
  <p:cmAuthor id="1" name="Jim Toland" initials="" lastIdx="9" clrIdx="1"/>
  <p:cmAuthor id="2" name="Jeff Johnson" initials="" lastIdx="3" clrIdx="2"/>
  <p:cmAuthor id="3" name="jtoland" initials="" lastIdx="6" clrIdx="3"/>
  <p:cmAuthor id="4" name="Misty Shock" initials="" lastIdx="13" clrIdx="4"/>
  <p:cmAuthor id="5" name="jimcla" initials="" lastIdx="1" clrIdx="5"/>
</p:cmAuthorLst>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333333"/>
    <a:srgbClr val="EEEFD7"/>
    <a:srgbClr val="D5D69C"/>
    <a:srgbClr val="DFE8F2"/>
    <a:srgbClr val="BBCDE3"/>
    <a:srgbClr val="E4E4BF"/>
    <a:srgbClr val="8DACD0"/>
    <a:srgbClr val="CC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horzBarState="maximized">
    <p:restoredLeft sz="34578" autoAdjust="0"/>
    <p:restoredTop sz="86380" autoAdjust="0"/>
  </p:normalViewPr>
  <p:slideViewPr>
    <p:cSldViewPr snapToGrid="0">
      <p:cViewPr>
        <p:scale>
          <a:sx n="80" d="100"/>
          <a:sy n="80" d="100"/>
        </p:scale>
        <p:origin x="-768" y="14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00" d="100"/>
          <a:sy n="100" d="100"/>
        </p:scale>
        <p:origin x="-864" y="504"/>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_rels/viewProps.xml.rels><?xml version="1.0" encoding="UTF-8" standalone="yes"?>
<Relationships xmlns="http://schemas.openxmlformats.org/package/2006/relationships"><Relationship Id="rId8" Type="http://schemas.openxmlformats.org/officeDocument/2006/relationships/slide" Target="slides/slide10.xml"/><Relationship Id="rId3" Type="http://schemas.openxmlformats.org/officeDocument/2006/relationships/slide" Target="slides/slide4.xml"/><Relationship Id="rId7" Type="http://schemas.openxmlformats.org/officeDocument/2006/relationships/slide" Target="slides/slide9.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7.xml"/><Relationship Id="rId5" Type="http://schemas.openxmlformats.org/officeDocument/2006/relationships/slide" Target="slides/slide6.xml"/><Relationship Id="rId10" Type="http://schemas.openxmlformats.org/officeDocument/2006/relationships/slide" Target="slides/slide12.xml"/><Relationship Id="rId4" Type="http://schemas.openxmlformats.org/officeDocument/2006/relationships/slide" Target="slides/slide5.xml"/><Relationship Id="rId9"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endParaRPr lang="en-US"/>
          </a:p>
        </p:txBody>
      </p:sp>
      <p:sp>
        <p:nvSpPr>
          <p:cNvPr id="27853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27853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endParaRPr lang="en-US"/>
          </a:p>
        </p:txBody>
      </p:sp>
      <p:sp>
        <p:nvSpPr>
          <p:cNvPr id="27853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BD801B94-E90E-42AA-A890-655AD69D66EF}"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1127BB3C-C05A-46B0-AE40-4B3C0545877D}"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9AE628-D841-435A-8AD5-30E73DC61DD0}" type="slidenum">
              <a:rPr lang="en-US"/>
              <a:pPr/>
              <a:t>1</a:t>
            </a:fld>
            <a:endParaRPr lang="en-US"/>
          </a:p>
        </p:txBody>
      </p:sp>
      <p:sp>
        <p:nvSpPr>
          <p:cNvPr id="347138" name="Rectangle-2"/>
          <p:cNvSpPr>
            <a:spLocks noGrp="1" noRot="1" noChangeAspect="1" noChangeArrowheads="1" noTextEdit="1"/>
          </p:cNvSpPr>
          <p:nvPr>
            <p:ph type="sldImg"/>
          </p:nvPr>
        </p:nvSpPr>
        <p:spPr>
          <a:ln/>
        </p:spPr>
      </p:sp>
      <p:sp>
        <p:nvSpPr>
          <p:cNvPr id="347139" name="Rectangle-3"/>
          <p:cNvSpPr>
            <a:spLocks noGrp="1" noChangeArrowheads="1"/>
          </p:cNvSpPr>
          <p:nvPr>
            <p:ph type="body" idx="1"/>
          </p:nvPr>
        </p:nvSpPr>
        <p:spPr/>
        <p:txBody>
          <a:bodyPr/>
          <a:lstStyle/>
          <a:p>
            <a:endParaRPr lang="en-IE"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E75D82-D347-4BAA-AD64-9EBF2D3801CA}" type="slidenum">
              <a:rPr lang="en-US"/>
              <a:pPr/>
              <a:t>2</a:t>
            </a:fld>
            <a:endParaRPr lang="en-US"/>
          </a:p>
        </p:txBody>
      </p:sp>
      <p:sp>
        <p:nvSpPr>
          <p:cNvPr id="348162" name="Rectangle-2"/>
          <p:cNvSpPr>
            <a:spLocks noGrp="1" noRot="1" noChangeAspect="1" noChangeArrowheads="1" noTextEdit="1"/>
          </p:cNvSpPr>
          <p:nvPr>
            <p:ph type="sldImg"/>
          </p:nvPr>
        </p:nvSpPr>
        <p:spPr>
          <a:ln/>
        </p:spPr>
      </p:sp>
      <p:sp>
        <p:nvSpPr>
          <p:cNvPr id="348163" name="Rectangle-3"/>
          <p:cNvSpPr>
            <a:spLocks noGrp="1" noChangeArrowheads="1"/>
          </p:cNvSpPr>
          <p:nvPr>
            <p:ph type="body" idx="1"/>
          </p:nvPr>
        </p:nvSpPr>
        <p:spPr/>
        <p:txBody>
          <a:bodyPr/>
          <a:lstStyle/>
          <a:p>
            <a:endParaRPr lang="en-I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FEC333-9881-465D-B65D-26782B77EAD6}" type="slidenum">
              <a:rPr lang="en-US"/>
              <a:pPr/>
              <a:t>3</a:t>
            </a:fld>
            <a:endParaRPr lang="en-US"/>
          </a:p>
        </p:txBody>
      </p:sp>
      <p:sp>
        <p:nvSpPr>
          <p:cNvPr id="415746" name="Rectangle-2"/>
          <p:cNvSpPr>
            <a:spLocks noGrp="1" noRot="1" noChangeAspect="1" noChangeArrowheads="1" noTextEdit="1"/>
          </p:cNvSpPr>
          <p:nvPr>
            <p:ph type="sldImg"/>
          </p:nvPr>
        </p:nvSpPr>
        <p:spPr>
          <a:ln/>
        </p:spPr>
      </p:sp>
      <p:sp>
        <p:nvSpPr>
          <p:cNvPr id="415747" name="Rectangle-3"/>
          <p:cNvSpPr>
            <a:spLocks noGrp="1" noChangeArrowheads="1"/>
          </p:cNvSpPr>
          <p:nvPr>
            <p:ph type="body" idx="1"/>
          </p:nvPr>
        </p:nvSpPr>
        <p:spPr/>
        <p:txBody>
          <a:bodyPr/>
          <a:lstStyle/>
          <a:p>
            <a:endParaRPr lang="en-I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FEC333-9881-465D-B65D-26782B77EAD6}" type="slidenum">
              <a:rPr lang="en-US"/>
              <a:pPr/>
              <a:t>4</a:t>
            </a:fld>
            <a:endParaRPr lang="en-US"/>
          </a:p>
        </p:txBody>
      </p:sp>
      <p:sp>
        <p:nvSpPr>
          <p:cNvPr id="415746" name="Rectangle-2"/>
          <p:cNvSpPr>
            <a:spLocks noGrp="1" noRot="1" noChangeAspect="1" noChangeArrowheads="1" noTextEdit="1"/>
          </p:cNvSpPr>
          <p:nvPr>
            <p:ph type="sldImg"/>
          </p:nvPr>
        </p:nvSpPr>
        <p:spPr>
          <a:ln/>
        </p:spPr>
      </p:sp>
      <p:sp>
        <p:nvSpPr>
          <p:cNvPr id="415747" name="Rectangle-3"/>
          <p:cNvSpPr>
            <a:spLocks noGrp="1" noChangeArrowheads="1"/>
          </p:cNvSpPr>
          <p:nvPr>
            <p:ph type="body" idx="1"/>
          </p:nvPr>
        </p:nvSpPr>
        <p:spPr/>
        <p:txBody>
          <a:bodyPr/>
          <a:lstStyle/>
          <a:p>
            <a:endParaRPr lang="en-I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FEC333-9881-465D-B65D-26782B77EAD6}" type="slidenum">
              <a:rPr lang="en-US"/>
              <a:pPr/>
              <a:t>5</a:t>
            </a:fld>
            <a:endParaRPr lang="en-US"/>
          </a:p>
        </p:txBody>
      </p:sp>
      <p:sp>
        <p:nvSpPr>
          <p:cNvPr id="415746" name="Rectangle-2"/>
          <p:cNvSpPr>
            <a:spLocks noGrp="1" noRot="1" noChangeAspect="1" noChangeArrowheads="1" noTextEdit="1"/>
          </p:cNvSpPr>
          <p:nvPr>
            <p:ph type="sldImg"/>
          </p:nvPr>
        </p:nvSpPr>
        <p:spPr>
          <a:ln/>
        </p:spPr>
      </p:sp>
      <p:sp>
        <p:nvSpPr>
          <p:cNvPr id="415747" name="Rectangle-3"/>
          <p:cNvSpPr>
            <a:spLocks noGrp="1" noChangeArrowheads="1"/>
          </p:cNvSpPr>
          <p:nvPr>
            <p:ph type="body" idx="1"/>
          </p:nvPr>
        </p:nvSpPr>
        <p:spPr/>
        <p:txBody>
          <a:bodyPr/>
          <a:lstStyle/>
          <a:p>
            <a:endParaRPr lang="en-I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FEC333-9881-465D-B65D-26782B77EAD6}" type="slidenum">
              <a:rPr lang="en-US"/>
              <a:pPr/>
              <a:t>6</a:t>
            </a:fld>
            <a:endParaRPr lang="en-US"/>
          </a:p>
        </p:txBody>
      </p:sp>
      <p:sp>
        <p:nvSpPr>
          <p:cNvPr id="415746" name="Rectangle-2"/>
          <p:cNvSpPr>
            <a:spLocks noGrp="1" noRot="1" noChangeAspect="1" noChangeArrowheads="1" noTextEdit="1"/>
          </p:cNvSpPr>
          <p:nvPr>
            <p:ph type="sldImg"/>
          </p:nvPr>
        </p:nvSpPr>
        <p:spPr>
          <a:ln/>
        </p:spPr>
      </p:sp>
      <p:sp>
        <p:nvSpPr>
          <p:cNvPr id="415747" name="Rectangle-3"/>
          <p:cNvSpPr>
            <a:spLocks noGrp="1" noChangeArrowheads="1"/>
          </p:cNvSpPr>
          <p:nvPr>
            <p:ph type="body" idx="1"/>
          </p:nvPr>
        </p:nvSpPr>
        <p:spPr/>
        <p:txBody>
          <a:bodyPr/>
          <a:lstStyle/>
          <a:p>
            <a:endParaRPr lang="en-I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1457FF-EE19-4806-85CC-5B6B7A8CE04E}" type="slidenum">
              <a:rPr lang="en-US"/>
              <a:pPr/>
              <a:t>7</a:t>
            </a:fld>
            <a:endParaRPr lang="en-US"/>
          </a:p>
        </p:txBody>
      </p:sp>
      <p:sp>
        <p:nvSpPr>
          <p:cNvPr id="349186" name="Rectangle-2"/>
          <p:cNvSpPr>
            <a:spLocks noGrp="1" noRot="1" noChangeAspect="1" noChangeArrowheads="1" noTextEdit="1"/>
          </p:cNvSpPr>
          <p:nvPr>
            <p:ph type="sldImg"/>
          </p:nvPr>
        </p:nvSpPr>
        <p:spPr>
          <a:ln/>
        </p:spPr>
      </p:sp>
      <p:sp>
        <p:nvSpPr>
          <p:cNvPr id="349187" name="Rectangle-3"/>
          <p:cNvSpPr>
            <a:spLocks noGrp="1" noChangeArrowheads="1"/>
          </p:cNvSpPr>
          <p:nvPr>
            <p:ph type="body" idx="1"/>
          </p:nvPr>
        </p:nvSpPr>
        <p:spPr/>
        <p:txBody>
          <a:bodyPr/>
          <a:lstStyle/>
          <a:p>
            <a:endParaRPr lang="en-I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87626B-9805-46B9-923B-82D0207D9F70}" type="slidenum">
              <a:rPr lang="en-US"/>
              <a:pPr/>
              <a:t>8</a:t>
            </a:fld>
            <a:endParaRPr lang="en-US"/>
          </a:p>
        </p:txBody>
      </p:sp>
      <p:sp>
        <p:nvSpPr>
          <p:cNvPr id="385026" name="Rectangle-2"/>
          <p:cNvSpPr>
            <a:spLocks noGrp="1" noRot="1" noChangeAspect="1" noChangeArrowheads="1" noTextEdit="1"/>
          </p:cNvSpPr>
          <p:nvPr>
            <p:ph type="sldImg"/>
          </p:nvPr>
        </p:nvSpPr>
        <p:spPr>
          <a:ln/>
        </p:spPr>
      </p:sp>
      <p:sp>
        <p:nvSpPr>
          <p:cNvPr id="385027" name="Rectangle-3"/>
          <p:cNvSpPr>
            <a:spLocks noGrp="1" noChangeArrowheads="1"/>
          </p:cNvSpPr>
          <p:nvPr>
            <p:ph type="body" idx="1"/>
          </p:nvPr>
        </p:nvSpPr>
        <p:spPr/>
        <p:txBody>
          <a:bodyPr/>
          <a:lstStyle/>
          <a:p>
            <a:endParaRPr lang="en-I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23CE9B-C065-4789-928F-2CF7A4BB9AB8}" type="slidenum">
              <a:rPr lang="en-US"/>
              <a:pPr/>
              <a:t>9</a:t>
            </a:fld>
            <a:endParaRPr lang="en-US"/>
          </a:p>
        </p:txBody>
      </p:sp>
      <p:sp>
        <p:nvSpPr>
          <p:cNvPr id="391170" name="Rectangle-2"/>
          <p:cNvSpPr>
            <a:spLocks noGrp="1" noRot="1" noChangeAspect="1" noChangeArrowheads="1" noTextEdit="1"/>
          </p:cNvSpPr>
          <p:nvPr>
            <p:ph type="sldImg"/>
          </p:nvPr>
        </p:nvSpPr>
        <p:spPr>
          <a:ln/>
        </p:spPr>
      </p:sp>
      <p:sp>
        <p:nvSpPr>
          <p:cNvPr id="391171" name="Rectangle-3"/>
          <p:cNvSpPr>
            <a:spLocks noGrp="1" noChangeArrowheads="1"/>
          </p:cNvSpPr>
          <p:nvPr>
            <p:ph type="body" idx="1"/>
          </p:nvPr>
        </p:nvSpPr>
        <p:spPr/>
        <p:txBody>
          <a:bodyPr/>
          <a:lstStyle/>
          <a:p>
            <a:endParaRPr lang="en-I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EEBCB7-6C26-4E80-97CA-C36F3569AF05}" type="slidenum">
              <a:rPr lang="en-US"/>
              <a:pPr/>
              <a:t>10</a:t>
            </a:fld>
            <a:endParaRPr lang="en-US"/>
          </a:p>
        </p:txBody>
      </p:sp>
      <p:sp>
        <p:nvSpPr>
          <p:cNvPr id="389122" name="Rectangle-2"/>
          <p:cNvSpPr>
            <a:spLocks noGrp="1" noRot="1" noChangeAspect="1" noChangeArrowheads="1" noTextEdit="1"/>
          </p:cNvSpPr>
          <p:nvPr>
            <p:ph type="sldImg"/>
          </p:nvPr>
        </p:nvSpPr>
        <p:spPr>
          <a:ln/>
        </p:spPr>
      </p:sp>
      <p:sp>
        <p:nvSpPr>
          <p:cNvPr id="389123" name="Rectangle-3"/>
          <p:cNvSpPr>
            <a:spLocks noGrp="1" noChangeArrowheads="1"/>
          </p:cNvSpPr>
          <p:nvPr>
            <p:ph type="body" idx="1"/>
          </p:nvPr>
        </p:nvSpPr>
        <p:spPr/>
        <p:txBody>
          <a:bodyPr/>
          <a:lstStyle/>
          <a:p>
            <a:pPr>
              <a:lnSpc>
                <a:spcPct val="80000"/>
              </a:lnSpc>
            </a:pPr>
            <a:endParaRPr lang="en-IE" sz="8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DE35D5-FDE4-451D-946E-0227170143FC}" type="slidenum">
              <a:rPr lang="en-US"/>
              <a:pPr/>
              <a:t>11</a:t>
            </a:fld>
            <a:endParaRPr lang="en-US"/>
          </a:p>
        </p:txBody>
      </p:sp>
      <p:sp>
        <p:nvSpPr>
          <p:cNvPr id="380930" name="Rectangle-2"/>
          <p:cNvSpPr>
            <a:spLocks noGrp="1" noRot="1" noChangeAspect="1" noChangeArrowheads="1" noTextEdit="1"/>
          </p:cNvSpPr>
          <p:nvPr>
            <p:ph type="sldImg"/>
          </p:nvPr>
        </p:nvSpPr>
        <p:spPr>
          <a:ln/>
        </p:spPr>
      </p:sp>
      <p:sp>
        <p:nvSpPr>
          <p:cNvPr id="380931" name="Rectangle-3"/>
          <p:cNvSpPr>
            <a:spLocks noGrp="1" noChangeArrowheads="1"/>
          </p:cNvSpPr>
          <p:nvPr>
            <p:ph type="body" idx="1"/>
          </p:nvPr>
        </p:nvSpPr>
        <p:spPr/>
        <p:txBody>
          <a:bodyPr/>
          <a:lstStyle/>
          <a:p>
            <a:pPr marL="228600" indent="-228600" eaLnBrk="0" hangingPunct="0">
              <a:lnSpc>
                <a:spcPct val="85000"/>
              </a:lnSpc>
              <a:spcBef>
                <a:spcPct val="0"/>
              </a:spcBef>
            </a:pPr>
            <a:endParaRPr lang="en-I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4648CE-5736-48DC-A947-3780D4B2F328}" type="slidenum">
              <a:rPr lang="en-US"/>
              <a:pPr/>
              <a:t>12</a:t>
            </a:fld>
            <a:endParaRPr lang="en-US"/>
          </a:p>
        </p:txBody>
      </p:sp>
      <p:sp>
        <p:nvSpPr>
          <p:cNvPr id="417794" name="Rectangle-2"/>
          <p:cNvSpPr>
            <a:spLocks noGrp="1" noRot="1" noChangeAspect="1" noChangeArrowheads="1" noTextEdit="1"/>
          </p:cNvSpPr>
          <p:nvPr>
            <p:ph type="sldImg"/>
          </p:nvPr>
        </p:nvSpPr>
        <p:spPr>
          <a:ln/>
        </p:spPr>
      </p:sp>
      <p:sp>
        <p:nvSpPr>
          <p:cNvPr id="417795" name="Rectangle-3"/>
          <p:cNvSpPr>
            <a:spLocks noGrp="1" noChangeArrowheads="1"/>
          </p:cNvSpPr>
          <p:nvPr>
            <p:ph type="body" idx="1"/>
          </p:nvPr>
        </p:nvSpPr>
        <p:spPr/>
        <p:txBody>
          <a:bodyPr/>
          <a:lstStyle/>
          <a:p>
            <a:endParaRPr lang="en-I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76AA87-3D57-4A6B-B7D1-98441B920155}" type="slidenum">
              <a:rPr lang="en-US"/>
              <a:pPr/>
              <a:t>13</a:t>
            </a:fld>
            <a:endParaRPr lang="en-US"/>
          </a:p>
        </p:txBody>
      </p:sp>
      <p:sp>
        <p:nvSpPr>
          <p:cNvPr id="351234" name="Rectangle-2"/>
          <p:cNvSpPr>
            <a:spLocks noGrp="1" noRot="1" noChangeAspect="1" noChangeArrowheads="1" noTextEdit="1"/>
          </p:cNvSpPr>
          <p:nvPr>
            <p:ph type="sldImg"/>
          </p:nvPr>
        </p:nvSpPr>
        <p:spPr>
          <a:ln/>
        </p:spPr>
      </p:sp>
      <p:sp>
        <p:nvSpPr>
          <p:cNvPr id="351235" name="Rectangle-3"/>
          <p:cNvSpPr>
            <a:spLocks noGrp="1" noChangeArrowheads="1"/>
          </p:cNvSpPr>
          <p:nvPr>
            <p:ph type="body" idx="1"/>
          </p:nvPr>
        </p:nvSpPr>
        <p:spPr/>
        <p:txBody>
          <a:bodyPr/>
          <a:lstStyle/>
          <a:p>
            <a:endParaRPr lang="en-I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EA91B0-DE77-434A-A3F4-58B61A93914D}" type="slidenum">
              <a:rPr lang="en-US"/>
              <a:pPr/>
              <a:t>14</a:t>
            </a:fld>
            <a:endParaRPr lang="en-US"/>
          </a:p>
        </p:txBody>
      </p:sp>
      <p:sp>
        <p:nvSpPr>
          <p:cNvPr id="360450" name="Rectangle-2"/>
          <p:cNvSpPr>
            <a:spLocks noGrp="1" noRot="1" noChangeAspect="1" noChangeArrowheads="1" noTextEdit="1"/>
          </p:cNvSpPr>
          <p:nvPr>
            <p:ph type="sldImg"/>
          </p:nvPr>
        </p:nvSpPr>
        <p:spPr>
          <a:ln/>
        </p:spPr>
      </p:sp>
      <p:sp>
        <p:nvSpPr>
          <p:cNvPr id="360451" name="Rectangle-3"/>
          <p:cNvSpPr>
            <a:spLocks noGrp="1" noChangeArrowheads="1"/>
          </p:cNvSpPr>
          <p:nvPr>
            <p:ph type="body" idx="1"/>
          </p:nvPr>
        </p:nvSpPr>
        <p:spPr/>
        <p:txBody>
          <a:bodyPr/>
          <a:lstStyle/>
          <a:p>
            <a:pPr>
              <a:lnSpc>
                <a:spcPct val="80000"/>
              </a:lnSpc>
            </a:pPr>
            <a:endParaRPr lang="en-IE" sz="8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9229FD-6C0A-43B6-A739-0E31F682E1CE}" type="slidenum">
              <a:rPr lang="en-US"/>
              <a:pPr/>
              <a:t>15</a:t>
            </a:fld>
            <a:endParaRPr lang="en-US"/>
          </a:p>
        </p:txBody>
      </p:sp>
      <p:sp>
        <p:nvSpPr>
          <p:cNvPr id="364546" name="Rectangle-2"/>
          <p:cNvSpPr>
            <a:spLocks noGrp="1" noRot="1" noChangeAspect="1" noChangeArrowheads="1" noTextEdit="1"/>
          </p:cNvSpPr>
          <p:nvPr>
            <p:ph type="sldImg"/>
          </p:nvPr>
        </p:nvSpPr>
        <p:spPr>
          <a:ln/>
        </p:spPr>
      </p:sp>
      <p:sp>
        <p:nvSpPr>
          <p:cNvPr id="364547" name="Rectangle-3"/>
          <p:cNvSpPr>
            <a:spLocks noGrp="1" noChangeArrowheads="1"/>
          </p:cNvSpPr>
          <p:nvPr>
            <p:ph type="body" idx="1"/>
          </p:nvPr>
        </p:nvSpPr>
        <p:spPr/>
        <p:txBody>
          <a:bodyPr/>
          <a:lstStyle/>
          <a:p>
            <a:endParaRPr lang="en-I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4/4/2017</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4/4/2017</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4/4/2017</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4/4/2017</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4/4/2017</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4/4/2017</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4/4/2017</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4/4/2017</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4/4/2017</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4/4/2017</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4/4/2017</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1050925" y="1447800"/>
            <a:ext cx="3436938" cy="469423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0263" y="1447800"/>
            <a:ext cx="3436937" cy="469423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4/4/2017</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80" name="Rectangle-4"/>
          <p:cNvSpPr>
            <a:spLocks noGrp="1" noChangeArrowheads="1"/>
          </p:cNvSpPr>
          <p:nvPr>
            <p:ph type="ctrTitle"/>
          </p:nvPr>
        </p:nvSpPr>
        <p:spPr>
          <a:xfrm>
            <a:off x="984356" y="2873828"/>
            <a:ext cx="7221494" cy="2790702"/>
          </a:xfrm>
        </p:spPr>
        <p:txBody>
          <a:bodyPr>
            <a:normAutofit/>
          </a:bodyPr>
          <a:lstStyle/>
          <a:p>
            <a:r>
              <a:rPr lang="fr-FR" altLang="zh-CN" b="1" dirty="0" smtClean="0">
                <a:solidFill>
                  <a:srgbClr val="000000"/>
                </a:solidFill>
                <a:ea typeface="SimSun" pitchFamily="2" charset="-122"/>
                <a:cs typeface="Times New Roman" charset="0"/>
              </a:rPr>
              <a:t>Chapitre 5</a:t>
            </a:r>
            <a:r>
              <a:rPr lang="fr-FR" altLang="zh-CN" b="1" dirty="0">
                <a:solidFill>
                  <a:srgbClr val="000000"/>
                </a:solidFill>
                <a:ea typeface="SimSun" pitchFamily="2" charset="-122"/>
                <a:cs typeface="Times New Roman" charset="0"/>
              </a:rPr>
              <a:t> </a:t>
            </a:r>
            <a:r>
              <a:rPr lang="fr-FR" altLang="zh-CN" b="1" dirty="0" smtClean="0">
                <a:solidFill>
                  <a:srgbClr val="000000"/>
                </a:solidFill>
                <a:ea typeface="SimSun" pitchFamily="2" charset="-122"/>
                <a:cs typeface="Times New Roman" charset="0"/>
              </a:rPr>
              <a:t/>
            </a:r>
            <a:br>
              <a:rPr lang="fr-FR" altLang="zh-CN" b="1" dirty="0" smtClean="0">
                <a:solidFill>
                  <a:srgbClr val="000000"/>
                </a:solidFill>
                <a:ea typeface="SimSun" pitchFamily="2" charset="-122"/>
                <a:cs typeface="Times New Roman" charset="0"/>
              </a:rPr>
            </a:br>
            <a:r>
              <a:rPr lang="fr-FR" altLang="zh-CN" b="1" dirty="0" smtClean="0">
                <a:solidFill>
                  <a:srgbClr val="000000"/>
                </a:solidFill>
                <a:ea typeface="SimSun" pitchFamily="2" charset="-122"/>
                <a:cs typeface="Times New Roman" charset="0"/>
              </a:rPr>
              <a:t>Administration </a:t>
            </a:r>
            <a:r>
              <a:rPr lang="fr-FR" altLang="zh-CN" b="1" dirty="0">
                <a:solidFill>
                  <a:srgbClr val="000000"/>
                </a:solidFill>
                <a:ea typeface="SimSun" pitchFamily="2" charset="-122"/>
                <a:cs typeface="Times New Roman" charset="0"/>
              </a:rPr>
              <a:t>des accès aux objets dans les unités d'organisation</a:t>
            </a:r>
            <a:r>
              <a:rPr lang="en-IE" altLang="zh-CN" b="1" dirty="0">
                <a:solidFill>
                  <a:srgbClr val="000000"/>
                </a:solidFill>
                <a:ea typeface="SimSun" pitchFamily="2" charset="-122"/>
              </a:rPr>
              <a:t> </a:t>
            </a:r>
            <a:r>
              <a:rPr lang="en-US" b="1" dirty="0"/>
              <a:t>  </a:t>
            </a:r>
          </a:p>
        </p:txBody>
      </p:sp>
      <p:sp>
        <p:nvSpPr>
          <p:cNvPr id="4" name="Rectangle 3"/>
          <p:cNvSpPr/>
          <p:nvPr/>
        </p:nvSpPr>
        <p:spPr>
          <a:xfrm>
            <a:off x="2889885" y="774265"/>
            <a:ext cx="3202178" cy="830997"/>
          </a:xfrm>
          <a:prstGeom prst="rect">
            <a:avLst/>
          </a:prstGeom>
        </p:spPr>
        <p:txBody>
          <a:bodyPr wrap="square">
            <a:spAutoFit/>
          </a:bodyPr>
          <a:lstStyle/>
          <a:p>
            <a:r>
              <a:rPr lang="fr-FR" altLang="zh-CN" sz="4800" dirty="0" smtClean="0">
                <a:solidFill>
                  <a:srgbClr val="000000"/>
                </a:solidFill>
                <a:ea typeface="SimSun" pitchFamily="2" charset="-122"/>
                <a:cs typeface="Times New Roman" charset="0"/>
              </a:rPr>
              <a:t>Module S42</a:t>
            </a:r>
            <a:endParaRPr lang="fr-FR" sz="4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8" name="Rectangle-4"/>
          <p:cNvSpPr>
            <a:spLocks noGrp="1" noChangeArrowheads="1"/>
          </p:cNvSpPr>
          <p:nvPr>
            <p:ph type="title"/>
          </p:nvPr>
        </p:nvSpPr>
        <p:spPr/>
        <p:txBody>
          <a:bodyPr/>
          <a:lstStyle/>
          <a:p>
            <a:r>
              <a:rPr lang="fr-FR" altLang="zh-CN" b="1" dirty="0" smtClean="0">
                <a:solidFill>
                  <a:srgbClr val="000000"/>
                </a:solidFill>
                <a:ea typeface="SimSun" pitchFamily="2" charset="-122"/>
                <a:cs typeface="Times New Roman" charset="0"/>
              </a:rPr>
              <a:t>Plan du cours</a:t>
            </a:r>
            <a:endParaRPr lang="en-US" b="1" dirty="0">
              <a:solidFill>
                <a:srgbClr val="000000"/>
              </a:solidFill>
              <a:ea typeface="SimSun" pitchFamily="2" charset="-122"/>
              <a:cs typeface="Times New Roman" charset="0"/>
            </a:endParaRPr>
          </a:p>
        </p:txBody>
      </p:sp>
      <p:sp>
        <p:nvSpPr>
          <p:cNvPr id="287749" name="Rectangle-5"/>
          <p:cNvSpPr>
            <a:spLocks noGrp="1" noChangeArrowheads="1"/>
          </p:cNvSpPr>
          <p:nvPr>
            <p:ph sz="quarter" idx="1"/>
          </p:nvPr>
        </p:nvSpPr>
        <p:spPr/>
        <p:txBody>
          <a:bodyPr>
            <a:normAutofit/>
          </a:bodyPr>
          <a:lstStyle/>
          <a:p>
            <a:pPr marL="514350" indent="-514350">
              <a:buClrTx/>
              <a:buFont typeface="+mj-lt"/>
              <a:buAutoNum type="arabicPeriod"/>
            </a:pPr>
            <a:r>
              <a:rPr lang="fr-FR" altLang="zh-CN" sz="3000" dirty="0" smtClean="0">
                <a:solidFill>
                  <a:srgbClr val="000000"/>
                </a:solidFill>
                <a:ea typeface="SimSun" pitchFamily="2" charset="-122"/>
                <a:cs typeface="Times New Roman" charset="0"/>
              </a:rPr>
              <a:t>Structure </a:t>
            </a:r>
            <a:r>
              <a:rPr lang="fr-FR" altLang="zh-CN" sz="3000" dirty="0">
                <a:solidFill>
                  <a:srgbClr val="000000"/>
                </a:solidFill>
                <a:ea typeface="SimSun" pitchFamily="2" charset="-122"/>
                <a:cs typeface="Times New Roman" charset="0"/>
              </a:rPr>
              <a:t>des unités d'organisation</a:t>
            </a:r>
            <a:r>
              <a:rPr lang="en-IE" altLang="zh-CN" sz="3000" dirty="0">
                <a:solidFill>
                  <a:srgbClr val="000000"/>
                </a:solidFill>
                <a:ea typeface="SimSun" pitchFamily="2" charset="-122"/>
              </a:rPr>
              <a:t> </a:t>
            </a:r>
            <a:endParaRPr lang="en-US" sz="3000" dirty="0"/>
          </a:p>
          <a:p>
            <a:pPr marL="514350" indent="-514350">
              <a:buClrTx/>
              <a:buFont typeface="+mj-lt"/>
              <a:buAutoNum type="arabicPeriod"/>
            </a:pPr>
            <a:r>
              <a:rPr lang="fr-FR" altLang="zh-CN" sz="3000" dirty="0">
                <a:solidFill>
                  <a:srgbClr val="000000"/>
                </a:solidFill>
                <a:ea typeface="SimSun" pitchFamily="2" charset="-122"/>
              </a:rPr>
              <a:t>Modification des autorisations sur les objets </a:t>
            </a:r>
            <a:br>
              <a:rPr lang="fr-FR" altLang="zh-CN" sz="3000" dirty="0">
                <a:solidFill>
                  <a:srgbClr val="000000"/>
                </a:solidFill>
                <a:ea typeface="SimSun" pitchFamily="2" charset="-122"/>
              </a:rPr>
            </a:br>
            <a:r>
              <a:rPr lang="fr-FR" altLang="zh-CN" sz="3000" dirty="0">
                <a:solidFill>
                  <a:srgbClr val="000000"/>
                </a:solidFill>
                <a:ea typeface="SimSun" pitchFamily="2" charset="-122"/>
              </a:rPr>
              <a:t>Active Directory</a:t>
            </a:r>
            <a:r>
              <a:rPr lang="en-IE" altLang="zh-CN" sz="3000" dirty="0">
                <a:solidFill>
                  <a:srgbClr val="000000"/>
                </a:solidFill>
                <a:ea typeface="SimSun" pitchFamily="2" charset="-122"/>
              </a:rPr>
              <a:t> </a:t>
            </a:r>
            <a:endParaRPr lang="en-US" sz="3000" dirty="0"/>
          </a:p>
          <a:p>
            <a:pPr marL="514350" indent="-514350">
              <a:buClrTx/>
              <a:buFont typeface="+mj-lt"/>
              <a:buAutoNum type="arabicPeriod"/>
            </a:pPr>
            <a:r>
              <a:rPr lang="fr-FR" altLang="zh-CN" sz="3000" dirty="0">
                <a:solidFill>
                  <a:srgbClr val="000000"/>
                </a:solidFill>
                <a:ea typeface="SimSun" pitchFamily="2" charset="-122"/>
              </a:rPr>
              <a:t>Délégation du contrôle des unités </a:t>
            </a:r>
            <a:r>
              <a:rPr lang="fr-FR" altLang="zh-CN" sz="3000" dirty="0" smtClean="0">
                <a:solidFill>
                  <a:srgbClr val="000000"/>
                </a:solidFill>
                <a:ea typeface="SimSun" pitchFamily="2" charset="-122"/>
              </a:rPr>
              <a:t>d'organisation</a:t>
            </a:r>
            <a:r>
              <a:rPr lang="en-IE" altLang="zh-CN" sz="3000" dirty="0" smtClean="0">
                <a:solidFill>
                  <a:srgbClr val="000000"/>
                </a:solidFill>
                <a:ea typeface="SimSun" pitchFamily="2" charset="-122"/>
              </a:rPr>
              <a:t> </a:t>
            </a:r>
            <a:endParaRPr lang="en-US" sz="3000" dirty="0">
              <a:solidFill>
                <a:srgbClr val="0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8" name="Rectangle-4"/>
          <p:cNvSpPr>
            <a:spLocks noGrp="1" noChangeArrowheads="1"/>
          </p:cNvSpPr>
          <p:nvPr>
            <p:ph sz="quarter" idx="1"/>
          </p:nvPr>
        </p:nvSpPr>
        <p:spPr>
          <a:xfrm>
            <a:off x="290286" y="1447801"/>
            <a:ext cx="8679543" cy="2427514"/>
          </a:xfrm>
          <a:noFill/>
        </p:spPr>
        <p:txBody>
          <a:bodyPr/>
          <a:lstStyle/>
          <a:p>
            <a:pPr>
              <a:buClrTx/>
              <a:buFont typeface="Wingdings" pitchFamily="2" charset="2"/>
              <a:buChar char="q"/>
            </a:pPr>
            <a:r>
              <a:rPr lang="fr-FR" dirty="0" smtClean="0"/>
              <a:t>Une unité d’organisation est un objet conteneur utilisé pour organiser les objets au sein du domaine.</a:t>
            </a:r>
          </a:p>
          <a:p>
            <a:pPr>
              <a:buClrTx/>
              <a:buFont typeface="Wingdings" pitchFamily="2" charset="2"/>
              <a:buChar char="q"/>
            </a:pPr>
            <a:r>
              <a:rPr lang="fr-FR" dirty="0" smtClean="0"/>
              <a:t> Il peut contenir d’autres objets comme des comptes d’utilisateurs, des groupes, des ordinateurs, des imprimantes ainsi que d’autres unités d’organisation.</a:t>
            </a:r>
          </a:p>
          <a:p>
            <a:pPr>
              <a:buClrTx/>
              <a:buFont typeface="Wingdings" pitchFamily="2" charset="2"/>
              <a:buChar char="q"/>
            </a:pPr>
            <a:endParaRPr lang="en-US" dirty="0">
              <a:solidFill>
                <a:srgbClr val="000000"/>
              </a:solidFill>
              <a:ea typeface="SimSun" pitchFamily="2" charset="-122"/>
              <a:cs typeface="Times New Roman" charset="0"/>
            </a:endParaRPr>
          </a:p>
        </p:txBody>
      </p:sp>
      <p:sp>
        <p:nvSpPr>
          <p:cNvPr id="400386" name="Rectangle-2"/>
          <p:cNvSpPr>
            <a:spLocks noGrp="1" noChangeArrowheads="1"/>
          </p:cNvSpPr>
          <p:nvPr>
            <p:ph type="title"/>
          </p:nvPr>
        </p:nvSpPr>
        <p:spPr>
          <a:xfrm>
            <a:off x="174171" y="228600"/>
            <a:ext cx="8795658" cy="758952"/>
          </a:xfrm>
        </p:spPr>
        <p:txBody>
          <a:bodyPr>
            <a:normAutofit/>
          </a:bodyPr>
          <a:lstStyle/>
          <a:p>
            <a:r>
              <a:rPr lang="fr-FR" altLang="zh-CN" b="1" dirty="0" smtClean="0">
                <a:solidFill>
                  <a:srgbClr val="000000"/>
                </a:solidFill>
                <a:ea typeface="SimSun" pitchFamily="2" charset="-122"/>
                <a:cs typeface="Times New Roman" charset="0"/>
              </a:rPr>
              <a:t>1.  Structure </a:t>
            </a:r>
            <a:r>
              <a:rPr lang="fr-FR" altLang="zh-CN" b="1" dirty="0">
                <a:solidFill>
                  <a:srgbClr val="000000"/>
                </a:solidFill>
                <a:ea typeface="SimSun" pitchFamily="2" charset="-122"/>
                <a:cs typeface="Times New Roman" charset="0"/>
              </a:rPr>
              <a:t>des unités d'organisation</a:t>
            </a:r>
            <a:r>
              <a:rPr lang="en-IE" altLang="zh-CN" b="1" dirty="0">
                <a:solidFill>
                  <a:srgbClr val="000000"/>
                </a:solidFill>
                <a:ea typeface="SimSun" pitchFamily="2" charset="-122"/>
              </a:rPr>
              <a:t> </a:t>
            </a:r>
            <a:endParaRPr lang="en-US" b="1" dirty="0">
              <a:solidFill>
                <a:srgbClr val="000000"/>
              </a:solidFill>
            </a:endParaRPr>
          </a:p>
        </p:txBody>
      </p:sp>
      <p:pic>
        <p:nvPicPr>
          <p:cNvPr id="400405" name="Picture 21"/>
          <p:cNvPicPr>
            <a:picLocks noChangeAspect="1" noChangeArrowheads="1"/>
          </p:cNvPicPr>
          <p:nvPr/>
        </p:nvPicPr>
        <p:blipFill>
          <a:blip r:embed="rId3"/>
          <a:srcRect/>
          <a:stretch>
            <a:fillRect/>
          </a:stretch>
        </p:blipFill>
        <p:spPr bwMode="auto">
          <a:xfrm>
            <a:off x="896552" y="3686822"/>
            <a:ext cx="7350897" cy="2921046"/>
          </a:xfrm>
          <a:prstGeom prst="rect">
            <a:avLst/>
          </a:prstGeom>
          <a:noFill/>
          <a:ln w="9525" cap="flat" cmpd="sng" algn="ctr">
            <a:noFill/>
            <a:prstDash val="solid"/>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00388">
                                            <p:txEl>
                                              <p:pRg st="0" end="0"/>
                                            </p:txEl>
                                          </p:spTgt>
                                        </p:tgtEl>
                                        <p:attrNameLst>
                                          <p:attrName>style.visibility</p:attrName>
                                        </p:attrNameLst>
                                      </p:cBhvr>
                                      <p:to>
                                        <p:strVal val="visible"/>
                                      </p:to>
                                    </p:set>
                                    <p:animEffect transition="in" filter="wipe(right)">
                                      <p:cBhvr>
                                        <p:cTn id="7" dur="1000"/>
                                        <p:tgtEl>
                                          <p:spTgt spid="4003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400388">
                                            <p:txEl>
                                              <p:pRg st="1" end="1"/>
                                            </p:txEl>
                                          </p:spTgt>
                                        </p:tgtEl>
                                        <p:attrNameLst>
                                          <p:attrName>style.visibility</p:attrName>
                                        </p:attrNameLst>
                                      </p:cBhvr>
                                      <p:to>
                                        <p:strVal val="visible"/>
                                      </p:to>
                                    </p:set>
                                    <p:animEffect transition="in" filter="wipe(right)">
                                      <p:cBhvr>
                                        <p:cTn id="12" dur="1000"/>
                                        <p:tgtEl>
                                          <p:spTgt spid="400388">
                                            <p:txEl>
                                              <p:pRg st="1" end="1"/>
                                            </p:txEl>
                                          </p:spTgt>
                                        </p:tgtEl>
                                      </p:cBhvr>
                                    </p:animEffect>
                                  </p:childTnLst>
                                </p:cTn>
                              </p:par>
                            </p:childTnLst>
                          </p:cTn>
                        </p:par>
                        <p:par>
                          <p:cTn id="13" fill="hold">
                            <p:stCondLst>
                              <p:cond delay="1000"/>
                            </p:stCondLst>
                            <p:childTnLst>
                              <p:par>
                                <p:cTn id="14" presetID="5" presetClass="entr" presetSubtype="10" fill="hold" nodeType="afterEffect">
                                  <p:stCondLst>
                                    <p:cond delay="0"/>
                                  </p:stCondLst>
                                  <p:childTnLst>
                                    <p:set>
                                      <p:cBhvr>
                                        <p:cTn id="15" dur="1" fill="hold">
                                          <p:stCondLst>
                                            <p:cond delay="0"/>
                                          </p:stCondLst>
                                        </p:cTn>
                                        <p:tgtEl>
                                          <p:spTgt spid="400405"/>
                                        </p:tgtEl>
                                        <p:attrNameLst>
                                          <p:attrName>style.visibility</p:attrName>
                                        </p:attrNameLst>
                                      </p:cBhvr>
                                      <p:to>
                                        <p:strVal val="visible"/>
                                      </p:to>
                                    </p:set>
                                    <p:animEffect transition="in" filter="checkerboard(across)">
                                      <p:cBhvr>
                                        <p:cTn id="16" dur="1000"/>
                                        <p:tgtEl>
                                          <p:spTgt spid="400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2"/>
          <p:cNvSpPr>
            <a:spLocks noGrp="1" noChangeArrowheads="1"/>
          </p:cNvSpPr>
          <p:nvPr>
            <p:ph type="title"/>
          </p:nvPr>
        </p:nvSpPr>
        <p:spPr>
          <a:xfrm>
            <a:off x="174171" y="228600"/>
            <a:ext cx="8795658" cy="758952"/>
          </a:xfrm>
        </p:spPr>
        <p:txBody>
          <a:bodyPr>
            <a:normAutofit/>
          </a:bodyPr>
          <a:lstStyle/>
          <a:p>
            <a:r>
              <a:rPr lang="fr-FR" altLang="zh-CN" b="1" dirty="0" smtClean="0">
                <a:solidFill>
                  <a:srgbClr val="000000"/>
                </a:solidFill>
                <a:ea typeface="SimSun" pitchFamily="2" charset="-122"/>
                <a:cs typeface="Times New Roman" charset="0"/>
              </a:rPr>
              <a:t>1.  Structure </a:t>
            </a:r>
            <a:r>
              <a:rPr lang="fr-FR" altLang="zh-CN" b="1" dirty="0">
                <a:solidFill>
                  <a:srgbClr val="000000"/>
                </a:solidFill>
                <a:ea typeface="SimSun" pitchFamily="2" charset="-122"/>
                <a:cs typeface="Times New Roman" charset="0"/>
              </a:rPr>
              <a:t>des unités d'organisation</a:t>
            </a:r>
            <a:r>
              <a:rPr lang="en-IE" altLang="zh-CN" b="1" dirty="0">
                <a:solidFill>
                  <a:srgbClr val="000000"/>
                </a:solidFill>
                <a:ea typeface="SimSun" pitchFamily="2" charset="-122"/>
              </a:rPr>
              <a:t> </a:t>
            </a:r>
            <a:endParaRPr lang="en-US" b="1" dirty="0">
              <a:solidFill>
                <a:srgbClr val="000000"/>
              </a:solidFill>
            </a:endParaRPr>
          </a:p>
        </p:txBody>
      </p:sp>
      <p:pic>
        <p:nvPicPr>
          <p:cNvPr id="427010" name="Picture 2"/>
          <p:cNvPicPr>
            <a:picLocks noChangeAspect="1" noChangeArrowheads="1"/>
          </p:cNvPicPr>
          <p:nvPr/>
        </p:nvPicPr>
        <p:blipFill>
          <a:blip r:embed="rId3"/>
          <a:srcRect/>
          <a:stretch>
            <a:fillRect/>
          </a:stretch>
        </p:blipFill>
        <p:spPr bwMode="auto">
          <a:xfrm>
            <a:off x="5442857" y="1349137"/>
            <a:ext cx="3541489" cy="5360091"/>
          </a:xfrm>
          <a:prstGeom prst="rect">
            <a:avLst/>
          </a:prstGeom>
          <a:noFill/>
          <a:ln w="9525" cap="flat" cmpd="sng" algn="ctr">
            <a:noFill/>
            <a:prstDash val="solid"/>
            <a:miter lim="800000"/>
            <a:headEnd/>
            <a:tailEnd/>
          </a:ln>
          <a:effectLst/>
        </p:spPr>
      </p:pic>
      <p:sp>
        <p:nvSpPr>
          <p:cNvPr id="7" name="ZoneTexte 6"/>
          <p:cNvSpPr txBox="1"/>
          <p:nvPr/>
        </p:nvSpPr>
        <p:spPr>
          <a:xfrm>
            <a:off x="348343" y="2220684"/>
            <a:ext cx="5109028" cy="2791790"/>
          </a:xfrm>
          <a:prstGeom prst="rect">
            <a:avLst/>
          </a:prstGeom>
          <a:noFill/>
        </p:spPr>
        <p:txBody>
          <a:bodyPr wrap="square" rtlCol="0">
            <a:spAutoFit/>
          </a:bodyPr>
          <a:lstStyle/>
          <a:p>
            <a:pPr algn="l">
              <a:lnSpc>
                <a:spcPct val="150000"/>
              </a:lnSpc>
              <a:buFont typeface="Wingdings" pitchFamily="2" charset="2"/>
              <a:buChar char="q"/>
            </a:pPr>
            <a:r>
              <a:rPr lang="fr-FR" sz="2400" dirty="0" smtClean="0"/>
              <a:t> Vous pouvez créer des unités d’organisation afin d’organiser les objets de différentes façons, par exemple selon leur fonction, leur emplacement, leurs ressources, </a:t>
            </a:r>
            <a:r>
              <a:rPr lang="fr-FR" sz="2400" dirty="0" err="1" smtClean="0"/>
              <a:t>etc</a:t>
            </a:r>
            <a:endParaRPr lang="fr-FR" sz="2400" dirty="0"/>
          </a:p>
        </p:txBody>
      </p:sp>
      <p:pic>
        <p:nvPicPr>
          <p:cNvPr id="427012" name="Picture 4"/>
          <p:cNvPicPr>
            <a:picLocks noChangeAspect="1" noChangeArrowheads="1"/>
          </p:cNvPicPr>
          <p:nvPr/>
        </p:nvPicPr>
        <p:blipFill>
          <a:blip r:embed="rId4"/>
          <a:srcRect/>
          <a:stretch>
            <a:fillRect/>
          </a:stretch>
        </p:blipFill>
        <p:spPr bwMode="auto">
          <a:xfrm>
            <a:off x="0" y="1320833"/>
            <a:ext cx="5532845" cy="5392060"/>
          </a:xfrm>
          <a:prstGeom prst="rect">
            <a:avLst/>
          </a:prstGeom>
          <a:noFill/>
          <a:ln w="9525" cap="flat" cmpd="sng" algn="ctr">
            <a:noFill/>
            <a:prstDash val="solid"/>
            <a:miter lim="800000"/>
            <a:headEnd/>
            <a:tailEnd/>
          </a:ln>
          <a:effectLst/>
        </p:spPr>
      </p:pic>
      <p:sp>
        <p:nvSpPr>
          <p:cNvPr id="11" name="ZoneTexte 10"/>
          <p:cNvSpPr txBox="1"/>
          <p:nvPr/>
        </p:nvSpPr>
        <p:spPr>
          <a:xfrm>
            <a:off x="5689600" y="2017483"/>
            <a:ext cx="3280229" cy="3416320"/>
          </a:xfrm>
          <a:prstGeom prst="rect">
            <a:avLst/>
          </a:prstGeom>
          <a:noFill/>
        </p:spPr>
        <p:txBody>
          <a:bodyPr wrap="square" rtlCol="0">
            <a:spAutoFit/>
          </a:bodyPr>
          <a:lstStyle/>
          <a:p>
            <a:pPr algn="l">
              <a:buFont typeface="Wingdings" pitchFamily="2" charset="2"/>
              <a:buChar char="q"/>
            </a:pPr>
            <a:r>
              <a:rPr lang="fr-FR" sz="2400" dirty="0" smtClean="0"/>
              <a:t>Vous pouvez  imbriquer des unités d’organisation</a:t>
            </a:r>
          </a:p>
          <a:p>
            <a:pPr algn="l"/>
            <a:endParaRPr lang="fr-FR" sz="2400" dirty="0" smtClean="0"/>
          </a:p>
          <a:p>
            <a:pPr algn="l">
              <a:buFont typeface="Wingdings" pitchFamily="2" charset="2"/>
              <a:buChar char="q"/>
            </a:pPr>
            <a:r>
              <a:rPr lang="fr-FR" sz="2400" dirty="0"/>
              <a:t> Il est fortement déconseillé de dépasser les 5 niveaux </a:t>
            </a:r>
            <a:r>
              <a:rPr lang="fr-FR" sz="2400" dirty="0" smtClean="0"/>
              <a:t> d’imbrication </a:t>
            </a:r>
            <a:r>
              <a:rPr lang="fr-FR" sz="2400" dirty="0"/>
              <a:t>d’unités d’organisation</a:t>
            </a:r>
          </a:p>
          <a:p>
            <a:pPr algn="l">
              <a:buFont typeface="Wingdings" pitchFamily="2" charset="2"/>
              <a:buChar char="q"/>
            </a:pP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0-#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427010"/>
                                        </p:tgtEl>
                                        <p:attrNameLst>
                                          <p:attrName>style.visibility</p:attrName>
                                        </p:attrNameLst>
                                      </p:cBhvr>
                                      <p:to>
                                        <p:strVal val="visible"/>
                                      </p:to>
                                    </p:set>
                                    <p:anim calcmode="lin" valueType="num">
                                      <p:cBhvr additive="base">
                                        <p:cTn id="11" dur="1000" fill="hold"/>
                                        <p:tgtEl>
                                          <p:spTgt spid="427010"/>
                                        </p:tgtEl>
                                        <p:attrNameLst>
                                          <p:attrName>ppt_x</p:attrName>
                                        </p:attrNameLst>
                                      </p:cBhvr>
                                      <p:tavLst>
                                        <p:tav tm="0">
                                          <p:val>
                                            <p:strVal val="1+#ppt_w/2"/>
                                          </p:val>
                                        </p:tav>
                                        <p:tav tm="100000">
                                          <p:val>
                                            <p:strVal val="#ppt_x"/>
                                          </p:val>
                                        </p:tav>
                                      </p:tavLst>
                                    </p:anim>
                                    <p:anim calcmode="lin" valueType="num">
                                      <p:cBhvr additive="base">
                                        <p:cTn id="12" dur="1000" fill="hold"/>
                                        <p:tgtEl>
                                          <p:spTgt spid="42701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27012"/>
                                        </p:tgtEl>
                                        <p:attrNameLst>
                                          <p:attrName>style.visibility</p:attrName>
                                        </p:attrNameLst>
                                      </p:cBhvr>
                                      <p:to>
                                        <p:strVal val="visible"/>
                                      </p:to>
                                    </p:set>
                                    <p:anim calcmode="lin" valueType="num">
                                      <p:cBhvr additive="base">
                                        <p:cTn id="17" dur="500" fill="hold"/>
                                        <p:tgtEl>
                                          <p:spTgt spid="427012"/>
                                        </p:tgtEl>
                                        <p:attrNameLst>
                                          <p:attrName>ppt_x</p:attrName>
                                        </p:attrNameLst>
                                      </p:cBhvr>
                                      <p:tavLst>
                                        <p:tav tm="0">
                                          <p:val>
                                            <p:strVal val="0-#ppt_w/2"/>
                                          </p:val>
                                        </p:tav>
                                        <p:tav tm="100000">
                                          <p:val>
                                            <p:strVal val="#ppt_x"/>
                                          </p:val>
                                        </p:tav>
                                      </p:tavLst>
                                    </p:anim>
                                    <p:anim calcmode="lin" valueType="num">
                                      <p:cBhvr additive="base">
                                        <p:cTn id="18" dur="500" fill="hold"/>
                                        <p:tgtEl>
                                          <p:spTgt spid="427012"/>
                                        </p:tgtEl>
                                        <p:attrNameLst>
                                          <p:attrName>ppt_y</p:attrName>
                                        </p:attrNameLst>
                                      </p:cBhvr>
                                      <p:tavLst>
                                        <p:tav tm="0">
                                          <p:val>
                                            <p:strVal val="#ppt_y"/>
                                          </p:val>
                                        </p:tav>
                                        <p:tav tm="100000">
                                          <p:val>
                                            <p:strVal val="#ppt_y"/>
                                          </p:val>
                                        </p:tav>
                                      </p:tavLst>
                                    </p:anim>
                                  </p:childTnLst>
                                </p:cTn>
                              </p:par>
                              <p:par>
                                <p:cTn id="19" presetID="5" presetClass="exit" presetSubtype="10" fill="hold" nodeType="withEffect">
                                  <p:stCondLst>
                                    <p:cond delay="0"/>
                                  </p:stCondLst>
                                  <p:childTnLst>
                                    <p:animEffect transition="out" filter="checkerboard(across)">
                                      <p:cBhvr>
                                        <p:cTn id="20" dur="500"/>
                                        <p:tgtEl>
                                          <p:spTgt spid="427010"/>
                                        </p:tgtEl>
                                      </p:cBhvr>
                                    </p:animEffect>
                                    <p:set>
                                      <p:cBhvr>
                                        <p:cTn id="21" dur="1" fill="hold">
                                          <p:stCondLst>
                                            <p:cond delay="499"/>
                                          </p:stCondLst>
                                        </p:cTn>
                                        <p:tgtEl>
                                          <p:spTgt spid="427010"/>
                                        </p:tgtEl>
                                        <p:attrNameLst>
                                          <p:attrName>style.visibility</p:attrName>
                                        </p:attrNameLst>
                                      </p:cBhvr>
                                      <p:to>
                                        <p:strVal val="hidden"/>
                                      </p:to>
                                    </p:set>
                                  </p:childTnLst>
                                </p:cTn>
                              </p:par>
                              <p:par>
                                <p:cTn id="22" presetID="5" presetClass="exit" presetSubtype="10" fill="hold" grpId="1" nodeType="withEffect">
                                  <p:stCondLst>
                                    <p:cond delay="0"/>
                                  </p:stCondLst>
                                  <p:childTnLst>
                                    <p:animEffect transition="out" filter="checkerboard(across)">
                                      <p:cBhvr>
                                        <p:cTn id="23" dur="1000"/>
                                        <p:tgtEl>
                                          <p:spTgt spid="7"/>
                                        </p:tgtEl>
                                      </p:cBhvr>
                                    </p:animEffect>
                                    <p:set>
                                      <p:cBhvr>
                                        <p:cTn id="24" dur="1" fill="hold">
                                          <p:stCondLst>
                                            <p:cond delay="999"/>
                                          </p:stCondLst>
                                        </p:cTn>
                                        <p:tgtEl>
                                          <p:spTgt spid="7"/>
                                        </p:tgtEl>
                                        <p:attrNameLst>
                                          <p:attrName>style.visibility</p:attrName>
                                        </p:attrNameLst>
                                      </p:cBhvr>
                                      <p:to>
                                        <p:strVal val="hidden"/>
                                      </p:to>
                                    </p:set>
                                  </p:childTnLst>
                                </p:cTn>
                              </p:par>
                              <p:par>
                                <p:cTn id="25" presetID="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1000" fill="hold"/>
                                        <p:tgtEl>
                                          <p:spTgt spid="11"/>
                                        </p:tgtEl>
                                        <p:attrNameLst>
                                          <p:attrName>ppt_x</p:attrName>
                                        </p:attrNameLst>
                                      </p:cBhvr>
                                      <p:tavLst>
                                        <p:tav tm="0">
                                          <p:val>
                                            <p:strVal val="1+#ppt_w/2"/>
                                          </p:val>
                                        </p:tav>
                                        <p:tav tm="100000">
                                          <p:val>
                                            <p:strVal val="#ppt_x"/>
                                          </p:val>
                                        </p:tav>
                                      </p:tavLst>
                                    </p:anim>
                                    <p:anim calcmode="lin" valueType="num">
                                      <p:cBhvr additive="base">
                                        <p:cTn id="28" dur="10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 presetClass="exit" presetSubtype="10" fill="hold" nodeType="clickEffect">
                                  <p:stCondLst>
                                    <p:cond delay="0"/>
                                  </p:stCondLst>
                                  <p:childTnLst>
                                    <p:animEffect transition="out" filter="checkerboard(across)">
                                      <p:cBhvr>
                                        <p:cTn id="32" dur="500"/>
                                        <p:tgtEl>
                                          <p:spTgt spid="427012"/>
                                        </p:tgtEl>
                                      </p:cBhvr>
                                    </p:animEffect>
                                    <p:set>
                                      <p:cBhvr>
                                        <p:cTn id="33" dur="1" fill="hold">
                                          <p:stCondLst>
                                            <p:cond delay="499"/>
                                          </p:stCondLst>
                                        </p:cTn>
                                        <p:tgtEl>
                                          <p:spTgt spid="427012"/>
                                        </p:tgtEl>
                                        <p:attrNameLst>
                                          <p:attrName>style.visibility</p:attrName>
                                        </p:attrNameLst>
                                      </p:cBhvr>
                                      <p:to>
                                        <p:strVal val="hidden"/>
                                      </p:to>
                                    </p:set>
                                  </p:childTnLst>
                                </p:cTn>
                              </p:par>
                              <p:par>
                                <p:cTn id="34" presetID="5" presetClass="exit" presetSubtype="10" fill="hold" grpId="1" nodeType="withEffect">
                                  <p:stCondLst>
                                    <p:cond delay="0"/>
                                  </p:stCondLst>
                                  <p:childTnLst>
                                    <p:animEffect transition="out" filter="checkerboard(across)">
                                      <p:cBhvr>
                                        <p:cTn id="35" dur="500"/>
                                        <p:tgtEl>
                                          <p:spTgt spid="11"/>
                                        </p:tgtEl>
                                      </p:cBhvr>
                                    </p:animEffect>
                                    <p:set>
                                      <p:cBhvr>
                                        <p:cTn id="36"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1" grpId="0"/>
      <p:bldP spid="11"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2"/>
          <p:cNvSpPr>
            <a:spLocks noGrp="1" noChangeArrowheads="1"/>
          </p:cNvSpPr>
          <p:nvPr>
            <p:ph type="title"/>
          </p:nvPr>
        </p:nvSpPr>
        <p:spPr>
          <a:xfrm>
            <a:off x="174171" y="228600"/>
            <a:ext cx="8795658" cy="758952"/>
          </a:xfrm>
        </p:spPr>
        <p:txBody>
          <a:bodyPr>
            <a:normAutofit/>
          </a:bodyPr>
          <a:lstStyle/>
          <a:p>
            <a:r>
              <a:rPr lang="fr-FR" altLang="zh-CN" b="1" dirty="0" smtClean="0">
                <a:solidFill>
                  <a:srgbClr val="000000"/>
                </a:solidFill>
                <a:ea typeface="SimSun" pitchFamily="2" charset="-122"/>
                <a:cs typeface="Times New Roman" charset="0"/>
              </a:rPr>
              <a:t>1.  Structure </a:t>
            </a:r>
            <a:r>
              <a:rPr lang="fr-FR" altLang="zh-CN" b="1" dirty="0">
                <a:solidFill>
                  <a:srgbClr val="000000"/>
                </a:solidFill>
                <a:ea typeface="SimSun" pitchFamily="2" charset="-122"/>
                <a:cs typeface="Times New Roman" charset="0"/>
              </a:rPr>
              <a:t>des unités d'organisation</a:t>
            </a:r>
            <a:r>
              <a:rPr lang="en-IE" altLang="zh-CN" b="1" dirty="0">
                <a:solidFill>
                  <a:srgbClr val="000000"/>
                </a:solidFill>
                <a:ea typeface="SimSun" pitchFamily="2" charset="-122"/>
              </a:rPr>
              <a:t> </a:t>
            </a:r>
            <a:endParaRPr lang="en-US" b="1" dirty="0">
              <a:solidFill>
                <a:srgbClr val="000000"/>
              </a:solidFill>
            </a:endParaRPr>
          </a:p>
        </p:txBody>
      </p:sp>
      <p:sp>
        <p:nvSpPr>
          <p:cNvPr id="8" name="ZoneTexte 7"/>
          <p:cNvSpPr txBox="1"/>
          <p:nvPr/>
        </p:nvSpPr>
        <p:spPr>
          <a:xfrm>
            <a:off x="232228" y="1393371"/>
            <a:ext cx="8577943" cy="1200329"/>
          </a:xfrm>
          <a:prstGeom prst="rect">
            <a:avLst/>
          </a:prstGeom>
          <a:noFill/>
        </p:spPr>
        <p:txBody>
          <a:bodyPr wrap="square" rtlCol="0">
            <a:spAutoFit/>
          </a:bodyPr>
          <a:lstStyle/>
          <a:p>
            <a:pPr algn="l">
              <a:buFont typeface="Wingdings" pitchFamily="2" charset="2"/>
              <a:buChar char="q"/>
            </a:pPr>
            <a:r>
              <a:rPr lang="fr-FR" sz="2400" dirty="0" smtClean="0"/>
              <a:t> Les </a:t>
            </a:r>
            <a:r>
              <a:rPr lang="fr-FR" sz="2400" dirty="0"/>
              <a:t>unités d’organisation facilitent </a:t>
            </a:r>
            <a:r>
              <a:rPr lang="fr-FR" sz="2400" dirty="0" smtClean="0"/>
              <a:t> la </a:t>
            </a:r>
            <a:r>
              <a:rPr lang="fr-FR" sz="2400" dirty="0"/>
              <a:t>délégation d’administration selon l’organisation des objets</a:t>
            </a:r>
            <a:r>
              <a:rPr lang="fr-FR" sz="2400" dirty="0" smtClean="0"/>
              <a:t>.</a:t>
            </a:r>
          </a:p>
          <a:p>
            <a:pPr algn="l">
              <a:buFont typeface="Wingdings" pitchFamily="2" charset="2"/>
              <a:buChar char="q"/>
            </a:pPr>
            <a:r>
              <a:rPr lang="fr-FR" sz="2400" dirty="0" smtClean="0"/>
              <a:t> Exemple:</a:t>
            </a:r>
            <a:endParaRPr lang="fr-FR" sz="2400" dirty="0"/>
          </a:p>
        </p:txBody>
      </p:sp>
      <p:grpSp>
        <p:nvGrpSpPr>
          <p:cNvPr id="14" name="Groupe 13"/>
          <p:cNvGrpSpPr/>
          <p:nvPr/>
        </p:nvGrpSpPr>
        <p:grpSpPr>
          <a:xfrm>
            <a:off x="2627087" y="2235959"/>
            <a:ext cx="6371774" cy="4462387"/>
            <a:chOff x="2627087" y="2235959"/>
            <a:chExt cx="6371774" cy="4462387"/>
          </a:xfrm>
        </p:grpSpPr>
        <p:pic>
          <p:nvPicPr>
            <p:cNvPr id="428035" name="Picture 3"/>
            <p:cNvPicPr>
              <a:picLocks noChangeAspect="1" noChangeArrowheads="1"/>
            </p:cNvPicPr>
            <p:nvPr/>
          </p:nvPicPr>
          <p:blipFill>
            <a:blip r:embed="rId3"/>
            <a:srcRect/>
            <a:stretch>
              <a:fillRect/>
            </a:stretch>
          </p:blipFill>
          <p:spPr bwMode="auto">
            <a:xfrm>
              <a:off x="2627087" y="2235959"/>
              <a:ext cx="6371774" cy="4462387"/>
            </a:xfrm>
            <a:prstGeom prst="rect">
              <a:avLst/>
            </a:prstGeom>
            <a:noFill/>
            <a:ln w="9525" cap="flat" cmpd="sng" algn="ctr">
              <a:noFill/>
              <a:prstDash val="solid"/>
              <a:miter lim="800000"/>
              <a:headEnd/>
              <a:tailEnd/>
            </a:ln>
            <a:effectLst/>
          </p:spPr>
        </p:pic>
        <p:sp>
          <p:nvSpPr>
            <p:cNvPr id="10" name="ZoneTexte 9"/>
            <p:cNvSpPr txBox="1"/>
            <p:nvPr/>
          </p:nvSpPr>
          <p:spPr>
            <a:xfrm>
              <a:off x="4252687" y="2685144"/>
              <a:ext cx="2046515" cy="400110"/>
            </a:xfrm>
            <a:prstGeom prst="rect">
              <a:avLst/>
            </a:prstGeom>
            <a:noFill/>
          </p:spPr>
          <p:txBody>
            <a:bodyPr wrap="square" rtlCol="0">
              <a:spAutoFit/>
            </a:bodyPr>
            <a:lstStyle/>
            <a:p>
              <a:r>
                <a:rPr lang="fr-FR" sz="2000" dirty="0" smtClean="0"/>
                <a:t>Contrôle total</a:t>
              </a:r>
              <a:endParaRPr lang="fr-FR" sz="2000" dirty="0"/>
            </a:p>
          </p:txBody>
        </p:sp>
        <p:sp>
          <p:nvSpPr>
            <p:cNvPr id="12" name="ZoneTexte 11"/>
            <p:cNvSpPr txBox="1"/>
            <p:nvPr/>
          </p:nvSpPr>
          <p:spPr>
            <a:xfrm>
              <a:off x="4114802" y="3897095"/>
              <a:ext cx="2590795" cy="707886"/>
            </a:xfrm>
            <a:prstGeom prst="rect">
              <a:avLst/>
            </a:prstGeom>
            <a:noFill/>
          </p:spPr>
          <p:txBody>
            <a:bodyPr wrap="square" rtlCol="0">
              <a:spAutoFit/>
            </a:bodyPr>
            <a:lstStyle/>
            <a:p>
              <a:r>
                <a:rPr lang="fr-FR" sz="2000" dirty="0" smtClean="0"/>
                <a:t>Gestion des comptes utilisateurs</a:t>
              </a:r>
              <a:endParaRPr lang="fr-FR" sz="2000" dirty="0"/>
            </a:p>
          </p:txBody>
        </p:sp>
        <p:sp>
          <p:nvSpPr>
            <p:cNvPr id="13" name="ZoneTexte 12"/>
            <p:cNvSpPr txBox="1"/>
            <p:nvPr/>
          </p:nvSpPr>
          <p:spPr>
            <a:xfrm>
              <a:off x="3991437" y="5341267"/>
              <a:ext cx="2365820" cy="1015663"/>
            </a:xfrm>
            <a:prstGeom prst="rect">
              <a:avLst/>
            </a:prstGeom>
            <a:noFill/>
          </p:spPr>
          <p:txBody>
            <a:bodyPr wrap="square" rtlCol="0">
              <a:spAutoFit/>
            </a:bodyPr>
            <a:lstStyle/>
            <a:p>
              <a:r>
                <a:rPr lang="fr-FR" sz="2000" dirty="0" smtClean="0"/>
                <a:t>Réinitialisation des mots de passes des comptes</a:t>
              </a:r>
              <a:endParaRPr lang="fr-FR" sz="20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up)">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up)">
                                      <p:cBhvr>
                                        <p:cTn id="12" dur="1000"/>
                                        <p:tgtEl>
                                          <p:spTgt spid="8">
                                            <p:txEl>
                                              <p:pRg st="1" end="1"/>
                                            </p:txEl>
                                          </p:spTgt>
                                        </p:tgtEl>
                                      </p:cBhvr>
                                    </p:animEffect>
                                  </p:childTnLst>
                                </p:cTn>
                              </p:par>
                            </p:childTnLst>
                          </p:cTn>
                        </p:par>
                        <p:par>
                          <p:cTn id="13" fill="hold">
                            <p:stCondLst>
                              <p:cond delay="1000"/>
                            </p:stCondLst>
                            <p:childTnLst>
                              <p:par>
                                <p:cTn id="14" presetID="5" presetClass="entr" presetSubtype="10"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checkerboard(across)">
                                      <p:cBhvr>
                                        <p:cTn id="16"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2"/>
          <p:cNvSpPr>
            <a:spLocks noGrp="1" noChangeArrowheads="1"/>
          </p:cNvSpPr>
          <p:nvPr>
            <p:ph type="title"/>
          </p:nvPr>
        </p:nvSpPr>
        <p:spPr>
          <a:xfrm>
            <a:off x="174171" y="228600"/>
            <a:ext cx="8795658" cy="758952"/>
          </a:xfrm>
        </p:spPr>
        <p:txBody>
          <a:bodyPr>
            <a:normAutofit/>
          </a:bodyPr>
          <a:lstStyle/>
          <a:p>
            <a:r>
              <a:rPr lang="fr-FR" altLang="zh-CN" b="1" dirty="0" smtClean="0">
                <a:solidFill>
                  <a:srgbClr val="000000"/>
                </a:solidFill>
                <a:ea typeface="SimSun" pitchFamily="2" charset="-122"/>
                <a:cs typeface="Times New Roman" charset="0"/>
              </a:rPr>
              <a:t>1.  Structure </a:t>
            </a:r>
            <a:r>
              <a:rPr lang="fr-FR" altLang="zh-CN" b="1" dirty="0">
                <a:solidFill>
                  <a:srgbClr val="000000"/>
                </a:solidFill>
                <a:ea typeface="SimSun" pitchFamily="2" charset="-122"/>
                <a:cs typeface="Times New Roman" charset="0"/>
              </a:rPr>
              <a:t>des unités d'organisation</a:t>
            </a:r>
            <a:r>
              <a:rPr lang="en-IE" altLang="zh-CN" b="1" dirty="0">
                <a:solidFill>
                  <a:srgbClr val="000000"/>
                </a:solidFill>
                <a:ea typeface="SimSun" pitchFamily="2" charset="-122"/>
              </a:rPr>
              <a:t> </a:t>
            </a:r>
            <a:endParaRPr lang="en-US" b="1" dirty="0">
              <a:solidFill>
                <a:srgbClr val="000000"/>
              </a:solidFill>
            </a:endParaRPr>
          </a:p>
        </p:txBody>
      </p:sp>
      <p:sp>
        <p:nvSpPr>
          <p:cNvPr id="8" name="ZoneTexte 7"/>
          <p:cNvSpPr txBox="1"/>
          <p:nvPr/>
        </p:nvSpPr>
        <p:spPr>
          <a:xfrm>
            <a:off x="232228" y="1393371"/>
            <a:ext cx="8577943" cy="1569660"/>
          </a:xfrm>
          <a:prstGeom prst="rect">
            <a:avLst/>
          </a:prstGeom>
          <a:noFill/>
        </p:spPr>
        <p:txBody>
          <a:bodyPr wrap="square" rtlCol="0">
            <a:spAutoFit/>
          </a:bodyPr>
          <a:lstStyle/>
          <a:p>
            <a:pPr algn="l">
              <a:buFont typeface="Wingdings" pitchFamily="2" charset="2"/>
              <a:buChar char="q"/>
            </a:pPr>
            <a:r>
              <a:rPr lang="fr-FR" sz="2400" dirty="0" smtClean="0"/>
              <a:t> Les stratégies de groupe permettent de définir et d’appliquer les configurations d’ordinateurs et les environnement des utilisateurs</a:t>
            </a:r>
          </a:p>
          <a:p>
            <a:pPr algn="l">
              <a:buFont typeface="Wingdings" pitchFamily="2" charset="2"/>
              <a:buChar char="q"/>
            </a:pPr>
            <a:r>
              <a:rPr lang="fr-FR" sz="2400" dirty="0" smtClean="0"/>
              <a:t> Lorsque vous appliquez des paramètres de stratégie de groupe à une OU, les comptes en héritent dans toutes les OU imbriqués</a:t>
            </a:r>
            <a:endParaRPr lang="fr-FR" sz="2400" dirty="0"/>
          </a:p>
        </p:txBody>
      </p:sp>
      <p:pic>
        <p:nvPicPr>
          <p:cNvPr id="429060" name="Picture 4"/>
          <p:cNvPicPr>
            <a:picLocks noChangeAspect="1" noChangeArrowheads="1"/>
          </p:cNvPicPr>
          <p:nvPr/>
        </p:nvPicPr>
        <p:blipFill>
          <a:blip r:embed="rId3"/>
          <a:srcRect/>
          <a:stretch>
            <a:fillRect/>
          </a:stretch>
        </p:blipFill>
        <p:spPr bwMode="auto">
          <a:xfrm>
            <a:off x="1705589" y="2989943"/>
            <a:ext cx="5732823" cy="3868057"/>
          </a:xfrm>
          <a:prstGeom prst="rect">
            <a:avLst/>
          </a:prstGeom>
          <a:noFill/>
          <a:ln w="9525" cap="flat" cmpd="sng" algn="ctr">
            <a:noFill/>
            <a:prstDash val="solid"/>
            <a:miter lim="800000"/>
            <a:headEnd/>
            <a:tailEnd/>
          </a:ln>
          <a:effectLst/>
        </p:spPr>
      </p:pic>
      <p:pic>
        <p:nvPicPr>
          <p:cNvPr id="429061" name="Picture 5"/>
          <p:cNvPicPr>
            <a:picLocks noChangeAspect="1" noChangeArrowheads="1"/>
          </p:cNvPicPr>
          <p:nvPr/>
        </p:nvPicPr>
        <p:blipFill>
          <a:blip r:embed="rId4"/>
          <a:srcRect/>
          <a:stretch>
            <a:fillRect/>
          </a:stretch>
        </p:blipFill>
        <p:spPr bwMode="auto">
          <a:xfrm>
            <a:off x="1721573" y="2989943"/>
            <a:ext cx="5700855" cy="3868057"/>
          </a:xfrm>
          <a:prstGeom prst="rect">
            <a:avLst/>
          </a:prstGeom>
          <a:noFill/>
          <a:ln w="9525" cap="flat" cmpd="sng" algn="ctr">
            <a:noFill/>
            <a:prstDash val="solid"/>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1000"/>
                                        <p:tgtEl>
                                          <p:spTgt spid="8">
                                            <p:txEl>
                                              <p:pRg st="1" end="1"/>
                                            </p:txEl>
                                          </p:spTgt>
                                        </p:tgtEl>
                                      </p:cBhvr>
                                    </p:animEffect>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429060"/>
                                        </p:tgtEl>
                                        <p:attrNameLst>
                                          <p:attrName>style.visibility</p:attrName>
                                        </p:attrNameLst>
                                      </p:cBhvr>
                                      <p:to>
                                        <p:strVal val="visible"/>
                                      </p:to>
                                    </p:set>
                                    <p:anim calcmode="lin" valueType="num">
                                      <p:cBhvr additive="base">
                                        <p:cTn id="16" dur="1000" fill="hold"/>
                                        <p:tgtEl>
                                          <p:spTgt spid="429060"/>
                                        </p:tgtEl>
                                        <p:attrNameLst>
                                          <p:attrName>ppt_x</p:attrName>
                                        </p:attrNameLst>
                                      </p:cBhvr>
                                      <p:tavLst>
                                        <p:tav tm="0">
                                          <p:val>
                                            <p:strVal val="#ppt_x"/>
                                          </p:val>
                                        </p:tav>
                                        <p:tav tm="100000">
                                          <p:val>
                                            <p:strVal val="#ppt_x"/>
                                          </p:val>
                                        </p:tav>
                                      </p:tavLst>
                                    </p:anim>
                                    <p:anim calcmode="lin" valueType="num">
                                      <p:cBhvr additive="base">
                                        <p:cTn id="17" dur="1000" fill="hold"/>
                                        <p:tgtEl>
                                          <p:spTgt spid="429060"/>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5" presetClass="exit" presetSubtype="10" fill="hold" nodeType="clickEffect">
                                  <p:stCondLst>
                                    <p:cond delay="0"/>
                                  </p:stCondLst>
                                  <p:childTnLst>
                                    <p:animEffect transition="out" filter="checkerboard(across)">
                                      <p:cBhvr>
                                        <p:cTn id="21" dur="500"/>
                                        <p:tgtEl>
                                          <p:spTgt spid="429060"/>
                                        </p:tgtEl>
                                      </p:cBhvr>
                                    </p:animEffect>
                                    <p:set>
                                      <p:cBhvr>
                                        <p:cTn id="22" dur="1" fill="hold">
                                          <p:stCondLst>
                                            <p:cond delay="499"/>
                                          </p:stCondLst>
                                        </p:cTn>
                                        <p:tgtEl>
                                          <p:spTgt spid="429060"/>
                                        </p:tgtEl>
                                        <p:attrNameLst>
                                          <p:attrName>style.visibility</p:attrName>
                                        </p:attrNameLst>
                                      </p:cBhvr>
                                      <p:to>
                                        <p:strVal val="hidden"/>
                                      </p:to>
                                    </p:set>
                                  </p:childTnLst>
                                </p:cTn>
                              </p:par>
                              <p:par>
                                <p:cTn id="23" presetID="2" presetClass="entr" presetSubtype="4" fill="hold" nodeType="withEffect">
                                  <p:stCondLst>
                                    <p:cond delay="0"/>
                                  </p:stCondLst>
                                  <p:childTnLst>
                                    <p:set>
                                      <p:cBhvr>
                                        <p:cTn id="24" dur="1" fill="hold">
                                          <p:stCondLst>
                                            <p:cond delay="0"/>
                                          </p:stCondLst>
                                        </p:cTn>
                                        <p:tgtEl>
                                          <p:spTgt spid="429061"/>
                                        </p:tgtEl>
                                        <p:attrNameLst>
                                          <p:attrName>style.visibility</p:attrName>
                                        </p:attrNameLst>
                                      </p:cBhvr>
                                      <p:to>
                                        <p:strVal val="visible"/>
                                      </p:to>
                                    </p:set>
                                    <p:anim calcmode="lin" valueType="num">
                                      <p:cBhvr additive="base">
                                        <p:cTn id="25" dur="1000" fill="hold"/>
                                        <p:tgtEl>
                                          <p:spTgt spid="429061"/>
                                        </p:tgtEl>
                                        <p:attrNameLst>
                                          <p:attrName>ppt_x</p:attrName>
                                        </p:attrNameLst>
                                      </p:cBhvr>
                                      <p:tavLst>
                                        <p:tav tm="0">
                                          <p:val>
                                            <p:strVal val="#ppt_x"/>
                                          </p:val>
                                        </p:tav>
                                        <p:tav tm="100000">
                                          <p:val>
                                            <p:strVal val="#ppt_x"/>
                                          </p:val>
                                        </p:tav>
                                      </p:tavLst>
                                    </p:anim>
                                    <p:anim calcmode="lin" valueType="num">
                                      <p:cBhvr additive="base">
                                        <p:cTn id="26" dur="1000" fill="hold"/>
                                        <p:tgtEl>
                                          <p:spTgt spid="4290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2"/>
          <p:cNvSpPr>
            <a:spLocks noGrp="1" noChangeArrowheads="1"/>
          </p:cNvSpPr>
          <p:nvPr>
            <p:ph type="title"/>
          </p:nvPr>
        </p:nvSpPr>
        <p:spPr>
          <a:xfrm>
            <a:off x="185637" y="330200"/>
            <a:ext cx="8755164" cy="758952"/>
          </a:xfrm>
        </p:spPr>
        <p:txBody>
          <a:bodyPr>
            <a:noAutofit/>
          </a:bodyPr>
          <a:lstStyle/>
          <a:p>
            <a:r>
              <a:rPr lang="fr-FR" altLang="zh-CN" sz="3000" b="1" dirty="0" smtClean="0">
                <a:solidFill>
                  <a:srgbClr val="000000"/>
                </a:solidFill>
                <a:ea typeface="SimSun" pitchFamily="2" charset="-122"/>
                <a:cs typeface="Times New Roman" charset="0"/>
              </a:rPr>
              <a:t>2. Modification </a:t>
            </a:r>
            <a:r>
              <a:rPr lang="fr-FR" altLang="zh-CN" sz="3000" b="1" dirty="0">
                <a:solidFill>
                  <a:srgbClr val="000000"/>
                </a:solidFill>
                <a:ea typeface="SimSun" pitchFamily="2" charset="-122"/>
                <a:cs typeface="Times New Roman" charset="0"/>
              </a:rPr>
              <a:t>des autorisations sur les objets </a:t>
            </a:r>
            <a:r>
              <a:rPr lang="fr-FR" altLang="zh-CN" sz="3000" b="1" dirty="0" smtClean="0">
                <a:solidFill>
                  <a:srgbClr val="000000"/>
                </a:solidFill>
                <a:ea typeface="SimSun" pitchFamily="2" charset="-122"/>
                <a:cs typeface="Times New Roman" charset="0"/>
              </a:rPr>
              <a:t>AD</a:t>
            </a:r>
            <a:endParaRPr lang="en-US" sz="3000" b="1" dirty="0">
              <a:solidFill>
                <a:srgbClr val="000000"/>
              </a:solidFill>
            </a:endParaRPr>
          </a:p>
        </p:txBody>
      </p:sp>
      <p:sp>
        <p:nvSpPr>
          <p:cNvPr id="288771" name="Rectangle-3"/>
          <p:cNvSpPr>
            <a:spLocks noGrp="1" noChangeArrowheads="1"/>
          </p:cNvSpPr>
          <p:nvPr>
            <p:ph sz="quarter" idx="1"/>
          </p:nvPr>
        </p:nvSpPr>
        <p:spPr>
          <a:xfrm>
            <a:off x="188686" y="1693939"/>
            <a:ext cx="8737599" cy="3661826"/>
          </a:xfrm>
        </p:spPr>
        <p:txBody>
          <a:bodyPr>
            <a:normAutofit/>
          </a:bodyPr>
          <a:lstStyle/>
          <a:p>
            <a:pPr>
              <a:buClrTx/>
              <a:buFont typeface="Wingdings" pitchFamily="2" charset="2"/>
              <a:buChar char="q"/>
            </a:pPr>
            <a:r>
              <a:rPr lang="fr-FR" altLang="zh-CN" dirty="0">
                <a:solidFill>
                  <a:srgbClr val="000000"/>
                </a:solidFill>
                <a:ea typeface="SimSun" pitchFamily="2" charset="-122"/>
                <a:cs typeface="Times New Roman" charset="0"/>
              </a:rPr>
              <a:t>Description des autorisations sur les objets </a:t>
            </a:r>
            <a:r>
              <a:rPr lang="fr-FR" altLang="zh-CN" dirty="0" smtClean="0">
                <a:solidFill>
                  <a:srgbClr val="000000"/>
                </a:solidFill>
                <a:ea typeface="SimSun" pitchFamily="2" charset="-122"/>
                <a:cs typeface="Times New Roman" charset="0"/>
              </a:rPr>
              <a:t>AD</a:t>
            </a:r>
            <a:r>
              <a:rPr lang="en-IE" altLang="zh-CN" dirty="0" smtClean="0">
                <a:solidFill>
                  <a:srgbClr val="000000"/>
                </a:solidFill>
                <a:ea typeface="SimSun" pitchFamily="2" charset="-122"/>
                <a:cs typeface="Times New Roman" charset="0"/>
              </a:rPr>
              <a:t> </a:t>
            </a:r>
            <a:endParaRPr lang="en-US" dirty="0">
              <a:ea typeface="SimSun" pitchFamily="2" charset="-122"/>
              <a:cs typeface="Times New Roman" charset="0"/>
            </a:endParaRPr>
          </a:p>
          <a:p>
            <a:pPr>
              <a:buClrTx/>
              <a:buFont typeface="Wingdings" pitchFamily="2" charset="2"/>
              <a:buChar char="q"/>
            </a:pPr>
            <a:r>
              <a:rPr lang="fr-FR" altLang="zh-CN" dirty="0">
                <a:solidFill>
                  <a:srgbClr val="000000"/>
                </a:solidFill>
                <a:ea typeface="SimSun" pitchFamily="2" charset="-122"/>
                <a:cs typeface="Times New Roman" charset="0"/>
              </a:rPr>
              <a:t>Caractéristiques des autorisations sur les </a:t>
            </a:r>
            <a:r>
              <a:rPr lang="fr-FR" altLang="zh-CN" dirty="0" smtClean="0">
                <a:solidFill>
                  <a:srgbClr val="000000"/>
                </a:solidFill>
                <a:ea typeface="SimSun" pitchFamily="2" charset="-122"/>
                <a:cs typeface="Times New Roman" charset="0"/>
              </a:rPr>
              <a:t>objets AD</a:t>
            </a:r>
            <a:r>
              <a:rPr lang="en-IE" altLang="zh-CN" dirty="0" smtClean="0">
                <a:solidFill>
                  <a:srgbClr val="000000"/>
                </a:solidFill>
                <a:ea typeface="SimSun" pitchFamily="2" charset="-122"/>
                <a:cs typeface="Times New Roman" charset="0"/>
              </a:rPr>
              <a:t> </a:t>
            </a:r>
            <a:endParaRPr lang="en-US" dirty="0">
              <a:ea typeface="SimSun" pitchFamily="2" charset="-122"/>
              <a:cs typeface="Times New Roman" charset="0"/>
            </a:endParaRPr>
          </a:p>
          <a:p>
            <a:pPr>
              <a:buClrTx/>
              <a:buFont typeface="Wingdings" pitchFamily="2" charset="2"/>
              <a:buChar char="q"/>
            </a:pPr>
            <a:r>
              <a:rPr lang="fr-FR" altLang="zh-CN" dirty="0">
                <a:solidFill>
                  <a:srgbClr val="000000"/>
                </a:solidFill>
                <a:ea typeface="SimSun" pitchFamily="2" charset="-122"/>
                <a:cs typeface="Times New Roman" charset="0"/>
              </a:rPr>
              <a:t>Héritage des autorisations sur les objets </a:t>
            </a:r>
            <a:r>
              <a:rPr lang="fr-FR" altLang="zh-CN" dirty="0" smtClean="0">
                <a:solidFill>
                  <a:srgbClr val="000000"/>
                </a:solidFill>
                <a:ea typeface="SimSun" pitchFamily="2" charset="-122"/>
                <a:cs typeface="Times New Roman" charset="0"/>
              </a:rPr>
              <a:t>AD</a:t>
            </a:r>
            <a:r>
              <a:rPr lang="en-IE" altLang="zh-CN" dirty="0" smtClean="0">
                <a:solidFill>
                  <a:srgbClr val="000000"/>
                </a:solidFill>
                <a:ea typeface="SimSun" pitchFamily="2" charset="-122"/>
                <a:cs typeface="Times New Roman" charset="0"/>
              </a:rPr>
              <a:t> </a:t>
            </a:r>
            <a:endParaRPr lang="en-US" dirty="0">
              <a:ea typeface="SimSun" pitchFamily="2" charset="-122"/>
              <a:cs typeface="Times New Roman" charset="0"/>
            </a:endParaRPr>
          </a:p>
          <a:p>
            <a:pPr>
              <a:buClrTx/>
              <a:buFont typeface="Wingdings" pitchFamily="2" charset="2"/>
              <a:buChar char="q"/>
            </a:pPr>
            <a:r>
              <a:rPr lang="fr-FR" altLang="zh-CN" dirty="0">
                <a:solidFill>
                  <a:srgbClr val="000000"/>
                </a:solidFill>
                <a:ea typeface="SimSun" pitchFamily="2" charset="-122"/>
                <a:cs typeface="Times New Roman" charset="0"/>
              </a:rPr>
              <a:t>Impact de la modification des objets sur l'héritage des autorisations</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a:buClrTx/>
              <a:buFont typeface="Wingdings" pitchFamily="2" charset="2"/>
              <a:buChar char="q"/>
            </a:pPr>
            <a:r>
              <a:rPr lang="fr-FR" altLang="zh-CN" dirty="0" smtClean="0">
                <a:solidFill>
                  <a:srgbClr val="000000"/>
                </a:solidFill>
                <a:ea typeface="SimSun" pitchFamily="2" charset="-122"/>
                <a:cs typeface="Times New Roman" charset="0"/>
              </a:rPr>
              <a:t>Description </a:t>
            </a:r>
            <a:r>
              <a:rPr lang="fr-FR" altLang="zh-CN" dirty="0">
                <a:solidFill>
                  <a:srgbClr val="000000"/>
                </a:solidFill>
                <a:ea typeface="SimSun" pitchFamily="2" charset="-122"/>
                <a:cs typeface="Times New Roman" charset="0"/>
              </a:rPr>
              <a:t>des autorisations effectives sur les objets Active Directory</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2"/>
          <p:cNvSpPr>
            <a:spLocks noGrp="1" noChangeArrowheads="1"/>
          </p:cNvSpPr>
          <p:nvPr>
            <p:ph type="title"/>
          </p:nvPr>
        </p:nvSpPr>
        <p:spPr>
          <a:xfrm>
            <a:off x="301752" y="301172"/>
            <a:ext cx="8534400" cy="758952"/>
          </a:xfrm>
        </p:spPr>
        <p:txBody>
          <a:bodyPr>
            <a:normAutofit fontScale="90000"/>
          </a:bodyPr>
          <a:lstStyle/>
          <a:p>
            <a:r>
              <a:rPr lang="fr-FR" altLang="zh-CN" b="1" dirty="0">
                <a:solidFill>
                  <a:srgbClr val="C00000"/>
                </a:solidFill>
                <a:ea typeface="SimSun" pitchFamily="2" charset="-122"/>
                <a:cs typeface="Times New Roman" charset="0"/>
              </a:rPr>
              <a:t>Description des autorisations sur les objets Active Directory</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graphicFrame>
        <p:nvGraphicFramePr>
          <p:cNvPr id="384049" name="Group 49"/>
          <p:cNvGraphicFramePr>
            <a:graphicFrameLocks noGrp="1"/>
          </p:cNvGraphicFramePr>
          <p:nvPr/>
        </p:nvGraphicFramePr>
        <p:xfrm>
          <a:off x="174171" y="1447798"/>
          <a:ext cx="8795658" cy="5199744"/>
        </p:xfrm>
        <a:graphic>
          <a:graphicData uri="http://schemas.openxmlformats.org/drawingml/2006/table">
            <a:tbl>
              <a:tblPr/>
              <a:tblGrid>
                <a:gridCol w="2554515"/>
                <a:gridCol w="6241143"/>
              </a:tblGrid>
              <a:tr h="561475">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altLang="zh-CN" sz="24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Autorisation</a:t>
                      </a:r>
                      <a:r>
                        <a:rPr kumimoji="0" lang="en-IE" altLang="zh-CN" sz="24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 </a:t>
                      </a:r>
                      <a:endParaRPr kumimoji="0" lang="en-US" sz="2400" b="1" i="0" u="none" strike="noStrike" cap="none" normalizeH="0" baseline="0" dirty="0" smtClean="0">
                        <a:ln>
                          <a:noFill/>
                        </a:ln>
                        <a:solidFill>
                          <a:srgbClr val="000000"/>
                        </a:solidFill>
                        <a:effectLst/>
                        <a:latin typeface="Arial Narrow" pitchFamily="34" charset="0"/>
                        <a:ea typeface="SimSun" pitchFamily="2" charset="-122"/>
                        <a:cs typeface="Times New Roman" charset="0"/>
                      </a:endParaRPr>
                    </a:p>
                  </a:txBody>
                  <a:tcP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fr-FR" altLang="zh-CN" sz="2400" b="1" i="0" u="none" strike="noStrike" cap="none" normalizeH="0" baseline="0" smtClean="0">
                          <a:ln>
                            <a:noFill/>
                          </a:ln>
                          <a:solidFill>
                            <a:srgbClr val="000000"/>
                          </a:solidFill>
                          <a:effectLst/>
                          <a:latin typeface="Arial Narrow" pitchFamily="34" charset="0"/>
                          <a:ea typeface="SimSun" pitchFamily="2" charset="-122"/>
                          <a:cs typeface="Times New Roman" charset="0"/>
                        </a:rPr>
                        <a:t>Action</a:t>
                      </a:r>
                      <a:r>
                        <a:rPr kumimoji="0" lang="en-IE" altLang="zh-CN" sz="2400" b="1" i="0" u="none" strike="noStrike" cap="none" normalizeH="0" baseline="0" smtClean="0">
                          <a:ln>
                            <a:noFill/>
                          </a:ln>
                          <a:solidFill>
                            <a:srgbClr val="000000"/>
                          </a:solidFill>
                          <a:effectLst/>
                          <a:latin typeface="Arial Narrow" pitchFamily="34" charset="0"/>
                          <a:ea typeface="SimSun" pitchFamily="2" charset="-122"/>
                          <a:cs typeface="Times New Roman" charset="0"/>
                        </a:rPr>
                        <a:t> </a:t>
                      </a:r>
                      <a:endParaRPr kumimoji="0" lang="en-US" sz="2400" b="1" i="0" u="none" strike="noStrike" cap="none" normalizeH="0" baseline="0" smtClean="0">
                        <a:ln>
                          <a:noFill/>
                        </a:ln>
                        <a:solidFill>
                          <a:srgbClr val="000000"/>
                        </a:solidFill>
                        <a:effectLst/>
                        <a:latin typeface="Arial Narrow" pitchFamily="34"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r>
              <a:tr h="1220597">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altLang="zh-CN" sz="20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Contrôle total</a:t>
                      </a:r>
                      <a:r>
                        <a:rPr kumimoji="0" lang="en-IE" altLang="zh-CN" sz="20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 </a:t>
                      </a:r>
                      <a:endParaRPr kumimoji="0" lang="en-US" sz="2000" b="1" i="0" u="none" strike="noStrike" cap="none" normalizeH="0" baseline="0" dirty="0" smtClean="0">
                        <a:ln>
                          <a:noFill/>
                        </a:ln>
                        <a:solidFill>
                          <a:srgbClr val="000000"/>
                        </a:solidFill>
                        <a:effectLst/>
                        <a:latin typeface="Arial Narrow" pitchFamily="34"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Modifier les autorisations, prendre possession  et effectuer les tâches autorisées par toutes les autres autorisations standard</a:t>
                      </a:r>
                      <a:r>
                        <a:rPr kumimoji="0" lang="en-IE"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 </a:t>
                      </a:r>
                      <a:endParaRPr kumimoji="0" lang="en-US"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488239">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altLang="zh-CN" sz="2000" b="1" i="0" u="none" strike="noStrike" cap="none" normalizeH="0" baseline="0" smtClean="0">
                          <a:ln>
                            <a:noFill/>
                          </a:ln>
                          <a:solidFill>
                            <a:srgbClr val="000000"/>
                          </a:solidFill>
                          <a:effectLst/>
                          <a:latin typeface="Arial Narrow" pitchFamily="34" charset="0"/>
                          <a:ea typeface="SimSun" pitchFamily="2" charset="-122"/>
                          <a:cs typeface="Times New Roman" charset="0"/>
                        </a:rPr>
                        <a:t>Écriture</a:t>
                      </a:r>
                      <a:r>
                        <a:rPr kumimoji="0" lang="en-IE" altLang="zh-CN" sz="2000" b="1" i="0" u="none" strike="noStrike" cap="none" normalizeH="0" baseline="0" smtClean="0">
                          <a:ln>
                            <a:noFill/>
                          </a:ln>
                          <a:solidFill>
                            <a:srgbClr val="000000"/>
                          </a:solidFill>
                          <a:effectLst/>
                          <a:latin typeface="Arial Narrow" pitchFamily="34" charset="0"/>
                          <a:ea typeface="SimSun" pitchFamily="2" charset="-122"/>
                          <a:cs typeface="Times New Roman" charset="0"/>
                        </a:rPr>
                        <a:t> </a:t>
                      </a:r>
                      <a:endParaRPr kumimoji="0" lang="en-US" sz="2000" b="1" i="0" u="none" strike="noStrike" cap="none" normalizeH="0" baseline="0" smtClean="0">
                        <a:ln>
                          <a:noFill/>
                        </a:ln>
                        <a:solidFill>
                          <a:srgbClr val="000000"/>
                        </a:solidFill>
                        <a:effectLst/>
                        <a:latin typeface="Arial Narrow" pitchFamily="34"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Modifier les attributs des objets</a:t>
                      </a:r>
                      <a:r>
                        <a:rPr kumimoji="0" lang="en-IE"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 </a:t>
                      </a:r>
                      <a:endParaRPr kumimoji="0" lang="en-US"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854418">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altLang="zh-CN" sz="2000" b="1" i="0" u="none" strike="noStrike" cap="none" normalizeH="0" baseline="0" smtClean="0">
                          <a:ln>
                            <a:noFill/>
                          </a:ln>
                          <a:solidFill>
                            <a:srgbClr val="000000"/>
                          </a:solidFill>
                          <a:effectLst/>
                          <a:latin typeface="Arial Narrow" pitchFamily="34" charset="0"/>
                          <a:ea typeface="SimSun" pitchFamily="2" charset="-122"/>
                          <a:cs typeface="Times New Roman" charset="0"/>
                        </a:rPr>
                        <a:t>Lecture</a:t>
                      </a:r>
                      <a:r>
                        <a:rPr kumimoji="0" lang="en-IE" altLang="zh-CN" sz="2000" b="1" i="0" u="none" strike="noStrike" cap="none" normalizeH="0" baseline="0" smtClean="0">
                          <a:ln>
                            <a:noFill/>
                          </a:ln>
                          <a:solidFill>
                            <a:srgbClr val="000000"/>
                          </a:solidFill>
                          <a:effectLst/>
                          <a:latin typeface="Arial Narrow" pitchFamily="34" charset="0"/>
                          <a:ea typeface="SimSun" pitchFamily="2" charset="-122"/>
                          <a:cs typeface="Times New Roman" charset="0"/>
                        </a:rPr>
                        <a:t> </a:t>
                      </a:r>
                      <a:endParaRPr kumimoji="0" lang="en-US" sz="2000" b="1" i="0" u="none" strike="noStrike" cap="none" normalizeH="0" baseline="0" smtClean="0">
                        <a:ln>
                          <a:noFill/>
                        </a:ln>
                        <a:solidFill>
                          <a:srgbClr val="000000"/>
                        </a:solidFill>
                        <a:effectLst/>
                        <a:latin typeface="Arial Narrow" pitchFamily="34"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Afficher les objets, leurs attributs, leur propriétaire </a:t>
                      </a:r>
                      <a:br>
                        <a:rPr kumimoji="0" lang="fr-FR"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br>
                      <a:r>
                        <a:rPr kumimoji="0" lang="fr-FR"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et les autorisations  Active Directory</a:t>
                      </a:r>
                      <a:r>
                        <a:rPr kumimoji="0" lang="en-IE"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 </a:t>
                      </a:r>
                      <a:endParaRPr kumimoji="0" lang="en-US"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854418">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altLang="zh-CN" sz="2000" b="1" i="0" u="none" strike="noStrike" cap="none" normalizeH="0" baseline="0" smtClean="0">
                          <a:ln>
                            <a:noFill/>
                          </a:ln>
                          <a:solidFill>
                            <a:srgbClr val="000000"/>
                          </a:solidFill>
                          <a:effectLst/>
                          <a:latin typeface="Arial Narrow" pitchFamily="34" charset="0"/>
                          <a:ea typeface="SimSun" pitchFamily="2" charset="-122"/>
                          <a:cs typeface="Times New Roman" charset="0"/>
                        </a:rPr>
                        <a:t>Création de tous les objets enfants</a:t>
                      </a:r>
                      <a:r>
                        <a:rPr kumimoji="0" lang="en-IE" altLang="zh-CN" sz="2000" b="1" i="0" u="none" strike="noStrike" cap="none" normalizeH="0" baseline="0" smtClean="0">
                          <a:ln>
                            <a:noFill/>
                          </a:ln>
                          <a:solidFill>
                            <a:srgbClr val="000000"/>
                          </a:solidFill>
                          <a:effectLst/>
                          <a:latin typeface="Arial Narrow" pitchFamily="34" charset="0"/>
                          <a:ea typeface="SimSun" pitchFamily="2" charset="-122"/>
                          <a:cs typeface="Times New Roman" charset="0"/>
                        </a:rPr>
                        <a:t> </a:t>
                      </a:r>
                      <a:endParaRPr kumimoji="0" lang="en-US" sz="2000" b="1" i="0" u="none" strike="noStrike" cap="none" normalizeH="0" baseline="0" smtClean="0">
                        <a:ln>
                          <a:noFill/>
                        </a:ln>
                        <a:solidFill>
                          <a:srgbClr val="000000"/>
                        </a:solidFill>
                        <a:effectLst/>
                        <a:latin typeface="Arial Narrow" pitchFamily="34"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Ajouter n'importe quel type d'objet à une unité d'organisation</a:t>
                      </a:r>
                      <a:r>
                        <a:rPr kumimoji="0" lang="en-IE"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 </a:t>
                      </a:r>
                      <a:endParaRPr kumimoji="0" lang="en-US"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1220597">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altLang="zh-CN" sz="2000" b="1" i="0" u="none" strike="noStrike" cap="none" normalizeH="0" baseline="0" smtClean="0">
                          <a:ln>
                            <a:noFill/>
                          </a:ln>
                          <a:solidFill>
                            <a:srgbClr val="000000"/>
                          </a:solidFill>
                          <a:effectLst/>
                          <a:latin typeface="Arial Narrow" pitchFamily="34" charset="0"/>
                          <a:ea typeface="SimSun" pitchFamily="2" charset="-122"/>
                          <a:cs typeface="Times New Roman" charset="0"/>
                        </a:rPr>
                        <a:t>Suppression de tous les objets enfants</a:t>
                      </a:r>
                      <a:r>
                        <a:rPr kumimoji="0" lang="en-IE" altLang="zh-CN" sz="2000" b="1" i="0" u="none" strike="noStrike" cap="none" normalizeH="0" baseline="0" smtClean="0">
                          <a:ln>
                            <a:noFill/>
                          </a:ln>
                          <a:solidFill>
                            <a:srgbClr val="000000"/>
                          </a:solidFill>
                          <a:effectLst/>
                          <a:latin typeface="Arial Narrow" pitchFamily="34" charset="0"/>
                          <a:ea typeface="SimSun" pitchFamily="2" charset="-122"/>
                          <a:cs typeface="Times New Roman" charset="0"/>
                        </a:rPr>
                        <a:t> </a:t>
                      </a:r>
                      <a:endParaRPr kumimoji="0" lang="en-US" sz="2000" b="1" i="0" u="none" strike="noStrike" cap="none" normalizeH="0" baseline="0" smtClean="0">
                        <a:ln>
                          <a:noFill/>
                        </a:ln>
                        <a:solidFill>
                          <a:srgbClr val="000000"/>
                        </a:solidFill>
                        <a:effectLst/>
                        <a:latin typeface="Arial Narrow" pitchFamily="34"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Supprimer n'importe quel type d'objet enfant d'une unité d'organisation</a:t>
                      </a:r>
                      <a:r>
                        <a:rPr kumimoji="0" lang="en-IE" altLang="zh-CN"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rPr>
                        <a:t> </a:t>
                      </a:r>
                      <a:endParaRPr kumimoji="0" lang="en-US" sz="2200" b="1" i="0" u="none" strike="noStrike" cap="none" normalizeH="0" baseline="0" dirty="0" smtClean="0">
                        <a:ln>
                          <a:noFill/>
                        </a:ln>
                        <a:solidFill>
                          <a:srgbClr val="000000"/>
                        </a:solidFill>
                        <a:effectLst/>
                        <a:latin typeface="Arial Narrow" pitchFamily="34"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2"/>
          <p:cNvSpPr>
            <a:spLocks noGrp="1" noChangeArrowheads="1"/>
          </p:cNvSpPr>
          <p:nvPr>
            <p:ph type="title"/>
          </p:nvPr>
        </p:nvSpPr>
        <p:spPr/>
        <p:txBody>
          <a:bodyPr>
            <a:noAutofit/>
          </a:bodyPr>
          <a:lstStyle/>
          <a:p>
            <a:r>
              <a:rPr lang="fr-FR" altLang="zh-CN" sz="2600" b="1" dirty="0">
                <a:solidFill>
                  <a:srgbClr val="C00000"/>
                </a:solidFill>
                <a:ea typeface="SimSun" pitchFamily="2" charset="-122"/>
                <a:cs typeface="Times New Roman" charset="0"/>
              </a:rPr>
              <a:t>Caractéristiques des autorisations sur les objets Active Directory</a:t>
            </a:r>
            <a:r>
              <a:rPr lang="en-IE" altLang="zh-CN" sz="2600" b="1" dirty="0">
                <a:solidFill>
                  <a:srgbClr val="C00000"/>
                </a:solidFill>
                <a:ea typeface="SimSun" pitchFamily="2" charset="-122"/>
                <a:cs typeface="Times New Roman" charset="0"/>
              </a:rPr>
              <a:t> </a:t>
            </a:r>
            <a:endParaRPr lang="en-US" sz="2600" b="1" dirty="0">
              <a:solidFill>
                <a:srgbClr val="C00000"/>
              </a:solidFill>
              <a:ea typeface="SimSun" pitchFamily="2" charset="-122"/>
              <a:cs typeface="Times New Roman" charset="0"/>
            </a:endParaRPr>
          </a:p>
        </p:txBody>
      </p:sp>
      <p:sp>
        <p:nvSpPr>
          <p:cNvPr id="390147" name="Rectangle-3"/>
          <p:cNvSpPr>
            <a:spLocks noGrp="1" noChangeArrowheads="1"/>
          </p:cNvSpPr>
          <p:nvPr>
            <p:ph sz="quarter" idx="1"/>
          </p:nvPr>
        </p:nvSpPr>
        <p:spPr>
          <a:noFill/>
          <a:ln/>
        </p:spPr>
        <p:txBody>
          <a:bodyPr>
            <a:normAutofit/>
          </a:bodyPr>
          <a:lstStyle/>
          <a:p>
            <a:pPr>
              <a:buFont typeface="Wingdings" pitchFamily="2" charset="2"/>
              <a:buNone/>
            </a:pPr>
            <a:r>
              <a:rPr lang="fr-FR" altLang="zh-CN" sz="2400" dirty="0">
                <a:solidFill>
                  <a:srgbClr val="000000"/>
                </a:solidFill>
                <a:ea typeface="SimSun" pitchFamily="2" charset="-122"/>
                <a:cs typeface="Times New Roman" charset="0"/>
              </a:rPr>
              <a:t>Les autorisations sur les objets Active Directory peuvent être :</a:t>
            </a:r>
            <a:r>
              <a:rPr lang="en-IE" altLang="zh-CN" sz="2400" dirty="0">
                <a:solidFill>
                  <a:srgbClr val="000000"/>
                </a:solidFill>
                <a:ea typeface="SimSun" pitchFamily="2" charset="-122"/>
                <a:cs typeface="Times New Roman" charset="0"/>
              </a:rPr>
              <a:t> </a:t>
            </a:r>
            <a:endParaRPr lang="en-US" sz="2400" dirty="0">
              <a:ea typeface="SimSun" pitchFamily="2" charset="-122"/>
              <a:cs typeface="Times New Roman" charset="0"/>
            </a:endParaRPr>
          </a:p>
          <a:p>
            <a:pPr lvl="1"/>
            <a:r>
              <a:rPr lang="fr-FR" altLang="zh-CN" sz="2400" dirty="0">
                <a:solidFill>
                  <a:srgbClr val="000000"/>
                </a:solidFill>
                <a:ea typeface="SimSun" pitchFamily="2" charset="-122"/>
                <a:cs typeface="Times New Roman" charset="0"/>
              </a:rPr>
              <a:t>accordées ou refusées </a:t>
            </a:r>
            <a:r>
              <a:rPr lang="en-IE" altLang="zh-CN" sz="2400" dirty="0">
                <a:solidFill>
                  <a:srgbClr val="000000"/>
                </a:solidFill>
                <a:ea typeface="SimSun" pitchFamily="2" charset="-122"/>
              </a:rPr>
              <a:t> </a:t>
            </a:r>
            <a:endParaRPr lang="en-US" sz="2400" dirty="0"/>
          </a:p>
          <a:p>
            <a:pPr lvl="1"/>
            <a:r>
              <a:rPr lang="fr-FR" altLang="zh-CN" sz="2400" dirty="0">
                <a:solidFill>
                  <a:srgbClr val="000000"/>
                </a:solidFill>
                <a:ea typeface="SimSun" pitchFamily="2" charset="-122"/>
              </a:rPr>
              <a:t>refusées implicitement ou explicitement </a:t>
            </a:r>
            <a:r>
              <a:rPr lang="en-IE" altLang="zh-CN" sz="2400" dirty="0">
                <a:solidFill>
                  <a:srgbClr val="000000"/>
                </a:solidFill>
                <a:ea typeface="SimSun" pitchFamily="2" charset="-122"/>
              </a:rPr>
              <a:t> </a:t>
            </a:r>
            <a:endParaRPr lang="en-US" sz="2400" dirty="0"/>
          </a:p>
          <a:p>
            <a:pPr lvl="1"/>
            <a:r>
              <a:rPr lang="fr-FR" altLang="zh-CN" sz="2400" dirty="0">
                <a:solidFill>
                  <a:srgbClr val="000000"/>
                </a:solidFill>
                <a:ea typeface="SimSun" pitchFamily="2" charset="-122"/>
              </a:rPr>
              <a:t>définies comme autorisations standard ou spéciales </a:t>
            </a:r>
            <a:r>
              <a:rPr lang="en-IE" altLang="zh-CN" sz="2400" dirty="0">
                <a:solidFill>
                  <a:srgbClr val="000000"/>
                </a:solidFill>
                <a:ea typeface="SimSun" pitchFamily="2" charset="-122"/>
              </a:rPr>
              <a:t> </a:t>
            </a:r>
            <a:endParaRPr lang="en-US" sz="2400" dirty="0"/>
          </a:p>
          <a:p>
            <a:pPr lvl="2"/>
            <a:r>
              <a:rPr lang="fr-FR" altLang="zh-CN" sz="2400" dirty="0">
                <a:solidFill>
                  <a:srgbClr val="000000"/>
                </a:solidFill>
                <a:ea typeface="SimSun" pitchFamily="2" charset="-122"/>
              </a:rPr>
              <a:t>Les </a:t>
            </a:r>
            <a:r>
              <a:rPr lang="fr-FR" altLang="zh-CN" sz="2400" i="1" dirty="0">
                <a:solidFill>
                  <a:srgbClr val="000000"/>
                </a:solidFill>
                <a:ea typeface="SimSun" pitchFamily="2" charset="-122"/>
              </a:rPr>
              <a:t>autorisations</a:t>
            </a:r>
            <a:r>
              <a:rPr lang="fr-FR" altLang="zh-CN" sz="2400" dirty="0">
                <a:solidFill>
                  <a:srgbClr val="000000"/>
                </a:solidFill>
                <a:ea typeface="SimSun" pitchFamily="2" charset="-122"/>
              </a:rPr>
              <a:t> </a:t>
            </a:r>
            <a:r>
              <a:rPr lang="fr-FR" altLang="zh-CN" sz="2400" i="1" dirty="0">
                <a:solidFill>
                  <a:srgbClr val="000000"/>
                </a:solidFill>
                <a:ea typeface="SimSun" pitchFamily="2" charset="-122"/>
              </a:rPr>
              <a:t>standard</a:t>
            </a:r>
            <a:r>
              <a:rPr lang="fr-FR" altLang="zh-CN" sz="2400" dirty="0">
                <a:solidFill>
                  <a:srgbClr val="000000"/>
                </a:solidFill>
                <a:ea typeface="SimSun" pitchFamily="2" charset="-122"/>
              </a:rPr>
              <a:t> sont les plus fréquemment attribuées</a:t>
            </a:r>
            <a:endParaRPr lang="en-US" sz="2400" dirty="0"/>
          </a:p>
          <a:p>
            <a:pPr lvl="2"/>
            <a:r>
              <a:rPr lang="fr-FR" altLang="zh-CN" sz="2400" dirty="0">
                <a:solidFill>
                  <a:srgbClr val="000000"/>
                </a:solidFill>
                <a:ea typeface="SimSun" pitchFamily="2" charset="-122"/>
              </a:rPr>
              <a:t>Les </a:t>
            </a:r>
            <a:r>
              <a:rPr lang="fr-FR" altLang="zh-CN" sz="2400" i="1" dirty="0">
                <a:solidFill>
                  <a:srgbClr val="000000"/>
                </a:solidFill>
                <a:ea typeface="SimSun" pitchFamily="2" charset="-122"/>
              </a:rPr>
              <a:t>autorisations</a:t>
            </a:r>
            <a:r>
              <a:rPr lang="fr-FR" altLang="zh-CN" sz="2400" dirty="0">
                <a:solidFill>
                  <a:srgbClr val="000000"/>
                </a:solidFill>
                <a:ea typeface="SimSun" pitchFamily="2" charset="-122"/>
              </a:rPr>
              <a:t> </a:t>
            </a:r>
            <a:r>
              <a:rPr lang="fr-FR" altLang="zh-CN" sz="2400" i="1" dirty="0">
                <a:solidFill>
                  <a:srgbClr val="000000"/>
                </a:solidFill>
                <a:ea typeface="SimSun" pitchFamily="2" charset="-122"/>
              </a:rPr>
              <a:t>spéciales</a:t>
            </a:r>
            <a:r>
              <a:rPr lang="fr-FR" altLang="zh-CN" sz="2400" dirty="0">
                <a:solidFill>
                  <a:srgbClr val="000000"/>
                </a:solidFill>
                <a:ea typeface="SimSun" pitchFamily="2" charset="-122"/>
              </a:rPr>
              <a:t> permettent de contrôler plus précisément les autorisations d'accès aux objets</a:t>
            </a:r>
            <a:r>
              <a:rPr lang="en-IE" altLang="zh-CN" sz="2400" i="1" dirty="0">
                <a:solidFill>
                  <a:srgbClr val="000000"/>
                </a:solidFill>
                <a:ea typeface="SimSun" pitchFamily="2" charset="-122"/>
              </a:rPr>
              <a:t> </a:t>
            </a:r>
            <a:endParaRPr lang="en-US" sz="2400" i="1" dirty="0"/>
          </a:p>
          <a:p>
            <a:pPr lvl="1"/>
            <a:r>
              <a:rPr lang="fr-FR" altLang="zh-CN" sz="2400" dirty="0">
                <a:solidFill>
                  <a:srgbClr val="000000"/>
                </a:solidFill>
                <a:ea typeface="SimSun" pitchFamily="2" charset="-122"/>
              </a:rPr>
              <a:t>définies au niveau de l'objet ou héritées de son objet parent</a:t>
            </a:r>
            <a:endParaRPr lang="en-US" sz="2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90147">
                                            <p:txEl>
                                              <p:pRg st="1" end="1"/>
                                            </p:txEl>
                                          </p:spTgt>
                                        </p:tgtEl>
                                        <p:attrNameLst>
                                          <p:attrName>style.visibility</p:attrName>
                                        </p:attrNameLst>
                                      </p:cBhvr>
                                      <p:to>
                                        <p:strVal val="visible"/>
                                      </p:to>
                                    </p:set>
                                    <p:animEffect transition="in" filter="checkerboard(across)">
                                      <p:cBhvr>
                                        <p:cTn id="7" dur="1000"/>
                                        <p:tgtEl>
                                          <p:spTgt spid="3901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0147">
                                            <p:txEl>
                                              <p:pRg st="2" end="2"/>
                                            </p:txEl>
                                          </p:spTgt>
                                        </p:tgtEl>
                                        <p:attrNameLst>
                                          <p:attrName>style.visibility</p:attrName>
                                        </p:attrNameLst>
                                      </p:cBhvr>
                                      <p:to>
                                        <p:strVal val="visible"/>
                                      </p:to>
                                    </p:set>
                                    <p:animEffect transition="in" filter="checkerboard(across)">
                                      <p:cBhvr>
                                        <p:cTn id="12" dur="1000"/>
                                        <p:tgtEl>
                                          <p:spTgt spid="390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90147">
                                            <p:txEl>
                                              <p:pRg st="3" end="3"/>
                                            </p:txEl>
                                          </p:spTgt>
                                        </p:tgtEl>
                                        <p:attrNameLst>
                                          <p:attrName>style.visibility</p:attrName>
                                        </p:attrNameLst>
                                      </p:cBhvr>
                                      <p:to>
                                        <p:strVal val="visible"/>
                                      </p:to>
                                    </p:set>
                                    <p:animEffect transition="in" filter="checkerboard(across)">
                                      <p:cBhvr>
                                        <p:cTn id="17" dur="1000"/>
                                        <p:tgtEl>
                                          <p:spTgt spid="39014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90147">
                                            <p:txEl>
                                              <p:pRg st="4" end="4"/>
                                            </p:txEl>
                                          </p:spTgt>
                                        </p:tgtEl>
                                        <p:attrNameLst>
                                          <p:attrName>style.visibility</p:attrName>
                                        </p:attrNameLst>
                                      </p:cBhvr>
                                      <p:to>
                                        <p:strVal val="visible"/>
                                      </p:to>
                                    </p:set>
                                    <p:animEffect transition="in" filter="checkerboard(across)">
                                      <p:cBhvr>
                                        <p:cTn id="22" dur="1000"/>
                                        <p:tgtEl>
                                          <p:spTgt spid="39014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90147">
                                            <p:txEl>
                                              <p:pRg st="5" end="5"/>
                                            </p:txEl>
                                          </p:spTgt>
                                        </p:tgtEl>
                                        <p:attrNameLst>
                                          <p:attrName>style.visibility</p:attrName>
                                        </p:attrNameLst>
                                      </p:cBhvr>
                                      <p:to>
                                        <p:strVal val="visible"/>
                                      </p:to>
                                    </p:set>
                                    <p:animEffect transition="in" filter="checkerboard(across)">
                                      <p:cBhvr>
                                        <p:cTn id="27" dur="1000"/>
                                        <p:tgtEl>
                                          <p:spTgt spid="39014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90147">
                                            <p:txEl>
                                              <p:pRg st="6" end="6"/>
                                            </p:txEl>
                                          </p:spTgt>
                                        </p:tgtEl>
                                        <p:attrNameLst>
                                          <p:attrName>style.visibility</p:attrName>
                                        </p:attrNameLst>
                                      </p:cBhvr>
                                      <p:to>
                                        <p:strVal val="visible"/>
                                      </p:to>
                                    </p:set>
                                    <p:animEffect transition="in" filter="checkerboard(across)">
                                      <p:cBhvr>
                                        <p:cTn id="32" dur="1000"/>
                                        <p:tgtEl>
                                          <p:spTgt spid="3901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2"/>
          <p:cNvSpPr>
            <a:spLocks noGrp="1" noChangeArrowheads="1"/>
          </p:cNvSpPr>
          <p:nvPr>
            <p:ph type="title"/>
          </p:nvPr>
        </p:nvSpPr>
        <p:spPr>
          <a:xfrm>
            <a:off x="188686" y="228600"/>
            <a:ext cx="8647466" cy="758952"/>
          </a:xfrm>
        </p:spPr>
        <p:txBody>
          <a:bodyPr>
            <a:noAutofit/>
          </a:bodyPr>
          <a:lstStyle/>
          <a:p>
            <a:r>
              <a:rPr lang="fr-FR" altLang="zh-CN" sz="2600" b="1" dirty="0">
                <a:solidFill>
                  <a:srgbClr val="C00000"/>
                </a:solidFill>
                <a:ea typeface="SimSun" pitchFamily="2" charset="-122"/>
                <a:cs typeface="Times New Roman" charset="0"/>
              </a:rPr>
              <a:t>Héritage des autorisations sur les objets Active Directory</a:t>
            </a:r>
            <a:r>
              <a:rPr lang="en-IE" altLang="zh-CN" sz="2600" b="1" dirty="0">
                <a:solidFill>
                  <a:srgbClr val="C00000"/>
                </a:solidFill>
                <a:ea typeface="SimSun" pitchFamily="2" charset="-122"/>
                <a:cs typeface="Times New Roman" charset="0"/>
              </a:rPr>
              <a:t> </a:t>
            </a:r>
            <a:endParaRPr lang="en-US" sz="2600" b="1" dirty="0">
              <a:solidFill>
                <a:srgbClr val="C00000"/>
              </a:solidFill>
              <a:ea typeface="SimSun" pitchFamily="2" charset="-122"/>
              <a:cs typeface="Times New Roman" charset="0"/>
            </a:endParaRPr>
          </a:p>
        </p:txBody>
      </p:sp>
      <p:sp>
        <p:nvSpPr>
          <p:cNvPr id="388142" name="Rectangle-46"/>
          <p:cNvSpPr>
            <a:spLocks noGrp="1" noChangeArrowheads="1"/>
          </p:cNvSpPr>
          <p:nvPr>
            <p:ph sz="quarter" idx="1"/>
          </p:nvPr>
        </p:nvSpPr>
        <p:spPr>
          <a:xfrm>
            <a:off x="233916" y="1427163"/>
            <a:ext cx="8718697" cy="4694237"/>
          </a:xfrm>
        </p:spPr>
        <p:txBody>
          <a:bodyPr/>
          <a:lstStyle/>
          <a:p>
            <a:pPr>
              <a:lnSpc>
                <a:spcPct val="80000"/>
              </a:lnSpc>
            </a:pPr>
            <a:r>
              <a:rPr lang="fr-FR" altLang="zh-CN" sz="2200" dirty="0">
                <a:solidFill>
                  <a:srgbClr val="000000"/>
                </a:solidFill>
                <a:ea typeface="SimSun" pitchFamily="2" charset="-122"/>
                <a:cs typeface="Times New Roman" charset="0"/>
              </a:rPr>
              <a:t>Les conteneurs enfants et leurs objets héritent des autorisations définies sur un conteneur parent</a:t>
            </a:r>
            <a:r>
              <a:rPr lang="en-IE" altLang="zh-CN" sz="2200" dirty="0">
                <a:solidFill>
                  <a:srgbClr val="000000"/>
                </a:solidFill>
                <a:ea typeface="SimSun" pitchFamily="2" charset="-122"/>
                <a:cs typeface="Times New Roman" charset="0"/>
              </a:rPr>
              <a:t> </a:t>
            </a:r>
            <a:endParaRPr lang="en-US" sz="2200" dirty="0">
              <a:ea typeface="SimSun" pitchFamily="2" charset="-122"/>
              <a:cs typeface="Times New Roman" charset="0"/>
            </a:endParaRPr>
          </a:p>
          <a:p>
            <a:pPr>
              <a:lnSpc>
                <a:spcPct val="80000"/>
              </a:lnSpc>
            </a:pPr>
            <a:r>
              <a:rPr lang="fr-FR" altLang="zh-CN" sz="2200" dirty="0">
                <a:solidFill>
                  <a:srgbClr val="000000"/>
                </a:solidFill>
                <a:ea typeface="SimSun" pitchFamily="2" charset="-122"/>
                <a:cs typeface="Times New Roman" charset="0"/>
              </a:rPr>
              <a:t>Les autorisations héritables se propagent d'un objet parent </a:t>
            </a:r>
            <a:br>
              <a:rPr lang="fr-FR" altLang="zh-CN" sz="2200" dirty="0">
                <a:solidFill>
                  <a:srgbClr val="000000"/>
                </a:solidFill>
                <a:ea typeface="SimSun" pitchFamily="2" charset="-122"/>
                <a:cs typeface="Times New Roman" charset="0"/>
              </a:rPr>
            </a:br>
            <a:r>
              <a:rPr lang="fr-FR" altLang="zh-CN" sz="2200" dirty="0">
                <a:solidFill>
                  <a:srgbClr val="000000"/>
                </a:solidFill>
                <a:ea typeface="SimSun" pitchFamily="2" charset="-122"/>
                <a:cs typeface="Times New Roman" charset="0"/>
              </a:rPr>
              <a:t>à un objet enfant lorsque </a:t>
            </a:r>
            <a:r>
              <a:rPr lang="en-IE" altLang="zh-CN" sz="2200" dirty="0">
                <a:solidFill>
                  <a:srgbClr val="000000"/>
                </a:solidFill>
                <a:ea typeface="SimSun" pitchFamily="2" charset="-122"/>
                <a:cs typeface="Times New Roman" charset="0"/>
              </a:rPr>
              <a:t>:</a:t>
            </a:r>
            <a:endParaRPr lang="en-US" sz="2200" dirty="0">
              <a:ea typeface="SimSun" pitchFamily="2" charset="-122"/>
              <a:cs typeface="Times New Roman" charset="0"/>
            </a:endParaRPr>
          </a:p>
          <a:p>
            <a:pPr lvl="1">
              <a:lnSpc>
                <a:spcPct val="60000"/>
              </a:lnSpc>
            </a:pPr>
            <a:r>
              <a:rPr lang="fr-FR" altLang="zh-CN" dirty="0">
                <a:solidFill>
                  <a:srgbClr val="000000"/>
                </a:solidFill>
                <a:ea typeface="SimSun" pitchFamily="2" charset="-122"/>
                <a:cs typeface="Times New Roman" charset="0"/>
              </a:rPr>
              <a:t>un objet enfant est créé </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lvl="1">
              <a:lnSpc>
                <a:spcPct val="60000"/>
              </a:lnSpc>
            </a:pPr>
            <a:r>
              <a:rPr lang="fr-FR" altLang="zh-CN" dirty="0">
                <a:solidFill>
                  <a:srgbClr val="000000"/>
                </a:solidFill>
                <a:ea typeface="SimSun" pitchFamily="2" charset="-122"/>
                <a:cs typeface="Times New Roman" charset="0"/>
              </a:rPr>
              <a:t>les autorisations sur l'objet parent sont modifiées</a:t>
            </a:r>
            <a:r>
              <a:rPr lang="en-IE" altLang="zh-CN" dirty="0">
                <a:solidFill>
                  <a:srgbClr val="000000"/>
                </a:solidFill>
                <a:ea typeface="SimSun" pitchFamily="2" charset="-122"/>
                <a:cs typeface="Times New Roman" charset="0"/>
              </a:rPr>
              <a:t> </a:t>
            </a:r>
            <a:endParaRPr lang="en-US" dirty="0">
              <a:solidFill>
                <a:srgbClr val="000000"/>
              </a:solidFill>
              <a:ea typeface="SimSun" pitchFamily="2" charset="-122"/>
              <a:cs typeface="Times New Roman" charset="0"/>
            </a:endParaRPr>
          </a:p>
        </p:txBody>
      </p:sp>
      <p:sp>
        <p:nvSpPr>
          <p:cNvPr id="388187" name="AutoShape-91"/>
          <p:cNvSpPr>
            <a:spLocks noChangeArrowheads="1"/>
          </p:cNvSpPr>
          <p:nvPr/>
        </p:nvSpPr>
        <p:spPr bwMode="auto">
          <a:xfrm>
            <a:off x="178130" y="3443844"/>
            <a:ext cx="8811491" cy="3241964"/>
          </a:xfrm>
          <a:prstGeom prst="roundRect">
            <a:avLst>
              <a:gd name="adj" fmla="val 4167"/>
            </a:avLst>
          </a:prstGeom>
          <a:solidFill>
            <a:srgbClr val="F0F1E1"/>
          </a:solidFill>
          <a:ln w="9525" algn="ctr">
            <a:solidFill>
              <a:srgbClr val="808080"/>
            </a:solidFill>
            <a:round/>
            <a:headEnd/>
            <a:tailEnd/>
          </a:ln>
          <a:effectLst>
            <a:outerShdw dist="35921" dir="2700000" algn="ctr" rotWithShape="0">
              <a:srgbClr val="AFAFAF"/>
            </a:outerShdw>
          </a:effectLst>
        </p:spPr>
        <p:txBody>
          <a:bodyPr anchor="ctr"/>
          <a:lstStyle/>
          <a:p>
            <a:pPr>
              <a:buSzPct val="85000"/>
            </a:pPr>
            <a:endParaRPr lang="en-IE"/>
          </a:p>
        </p:txBody>
      </p:sp>
      <p:sp>
        <p:nvSpPr>
          <p:cNvPr id="388188" name="Freeform-92"/>
          <p:cNvSpPr>
            <a:spLocks/>
          </p:cNvSpPr>
          <p:nvPr/>
        </p:nvSpPr>
        <p:spPr bwMode="auto">
          <a:xfrm>
            <a:off x="3019013" y="4540388"/>
            <a:ext cx="542925" cy="1117600"/>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38100" cap="flat" cmpd="sng">
            <a:solidFill>
              <a:srgbClr val="808080"/>
            </a:solidFill>
            <a:prstDash val="solid"/>
            <a:round/>
            <a:headEnd type="none" w="med" len="med"/>
            <a:tailEnd type="none" w="med" len="med"/>
          </a:ln>
          <a:effectLst/>
        </p:spPr>
        <p:txBody>
          <a:bodyPr anchor="ctr"/>
          <a:lstStyle/>
          <a:p>
            <a:endParaRPr lang="fr-FR"/>
          </a:p>
        </p:txBody>
      </p:sp>
      <p:pic>
        <p:nvPicPr>
          <p:cNvPr id="388189" name="Picture-93" descr="Folder_FolderOpen01"/>
          <p:cNvPicPr>
            <a:picLocks noChangeAspect="1" noChangeArrowheads="1"/>
          </p:cNvPicPr>
          <p:nvPr/>
        </p:nvPicPr>
        <p:blipFill>
          <a:blip r:embed="rId3" cstate="print"/>
          <a:srcRect/>
          <a:stretch>
            <a:fillRect/>
          </a:stretch>
        </p:blipFill>
        <p:spPr bwMode="auto">
          <a:xfrm>
            <a:off x="3228563" y="5303975"/>
            <a:ext cx="752475" cy="673100"/>
          </a:xfrm>
          <a:prstGeom prst="rect">
            <a:avLst/>
          </a:prstGeom>
          <a:noFill/>
        </p:spPr>
      </p:pic>
      <p:sp>
        <p:nvSpPr>
          <p:cNvPr id="388190" name="Text-Box-94"/>
          <p:cNvSpPr txBox="1">
            <a:spLocks noChangeArrowheads="1"/>
          </p:cNvSpPr>
          <p:nvPr/>
        </p:nvSpPr>
        <p:spPr bwMode="auto">
          <a:xfrm>
            <a:off x="3384138" y="4172088"/>
            <a:ext cx="1377867" cy="707886"/>
          </a:xfrm>
          <a:prstGeom prst="rect">
            <a:avLst/>
          </a:prstGeom>
          <a:noFill/>
          <a:ln w="9525" algn="ctr">
            <a:noFill/>
            <a:miter lim="800000"/>
            <a:headEnd/>
            <a:tailEnd/>
          </a:ln>
          <a:effectLst/>
        </p:spPr>
        <p:txBody>
          <a:bodyPr wrap="square">
            <a:spAutoFit/>
          </a:bodyPr>
          <a:lstStyle/>
          <a:p>
            <a:pPr algn="l"/>
            <a:r>
              <a:rPr lang="fr-FR" altLang="zh-CN" sz="2000" dirty="0">
                <a:solidFill>
                  <a:srgbClr val="000000"/>
                </a:solidFill>
                <a:ea typeface="SimSun" pitchFamily="2" charset="-122"/>
                <a:cs typeface="Times New Roman" charset="0"/>
              </a:rPr>
              <a:t>Conteneur</a:t>
            </a:r>
            <a:r>
              <a:rPr lang="en-IE" altLang="zh-CN" sz="2000" dirty="0">
                <a:solidFill>
                  <a:srgbClr val="000000"/>
                </a:solidFill>
                <a:ea typeface="SimSun" pitchFamily="2" charset="-122"/>
                <a:cs typeface="Times New Roman" charset="0"/>
              </a:rPr>
              <a:t> </a:t>
            </a:r>
            <a:r>
              <a:rPr lang="en-US" sz="2000" dirty="0">
                <a:ea typeface="SimSun" pitchFamily="2" charset="-122"/>
                <a:cs typeface="Times New Roman" charset="0"/>
              </a:rPr>
              <a:t> </a:t>
            </a:r>
          </a:p>
          <a:p>
            <a:pPr algn="l"/>
            <a:r>
              <a:rPr lang="fr-FR" altLang="zh-CN" sz="2000" dirty="0">
                <a:solidFill>
                  <a:srgbClr val="000000"/>
                </a:solidFill>
                <a:ea typeface="SimSun" pitchFamily="2" charset="-122"/>
                <a:cs typeface="Times New Roman" charset="0"/>
              </a:rPr>
              <a:t>parent</a:t>
            </a:r>
            <a:r>
              <a:rPr lang="en-IE" altLang="zh-CN" sz="2000" dirty="0">
                <a:solidFill>
                  <a:srgbClr val="000000"/>
                </a:solidFill>
                <a:ea typeface="SimSun" pitchFamily="2" charset="-122"/>
                <a:cs typeface="Times New Roman" charset="0"/>
              </a:rPr>
              <a:t> </a:t>
            </a:r>
            <a:endParaRPr lang="en-US" sz="2000" dirty="0">
              <a:solidFill>
                <a:srgbClr val="000000"/>
              </a:solidFill>
              <a:ea typeface="SimSun" pitchFamily="2" charset="-122"/>
              <a:cs typeface="Times New Roman" charset="0"/>
            </a:endParaRPr>
          </a:p>
        </p:txBody>
      </p:sp>
      <p:sp>
        <p:nvSpPr>
          <p:cNvPr id="388191" name="AutoShape-95"/>
          <p:cNvSpPr>
            <a:spLocks noChangeArrowheads="1"/>
          </p:cNvSpPr>
          <p:nvPr/>
        </p:nvSpPr>
        <p:spPr bwMode="auto">
          <a:xfrm>
            <a:off x="1483900" y="4251463"/>
            <a:ext cx="1198563" cy="339725"/>
          </a:xfrm>
          <a:prstGeom prst="rightArrowCallout">
            <a:avLst>
              <a:gd name="adj1" fmla="val 42963"/>
              <a:gd name="adj2" fmla="val 42074"/>
              <a:gd name="adj3" fmla="val 54309"/>
              <a:gd name="adj4" fmla="val 77611"/>
            </a:avLst>
          </a:prstGeom>
          <a:gradFill rotWithShape="1">
            <a:gsLst>
              <a:gs pos="0">
                <a:srgbClr val="ADE2A1"/>
              </a:gs>
              <a:gs pos="100000">
                <a:srgbClr val="E8F6E4"/>
              </a:gs>
            </a:gsLst>
            <a:lin ang="2700000" scaled="1"/>
          </a:gradFill>
          <a:ln w="9525" algn="ctr">
            <a:solidFill>
              <a:srgbClr val="4D4D4D"/>
            </a:solidFill>
            <a:miter lim="800000"/>
            <a:headEnd/>
            <a:tailEnd/>
          </a:ln>
          <a:effectLst>
            <a:outerShdw dist="35921" dir="2700000" algn="ctr" rotWithShape="0">
              <a:srgbClr val="AFAFAF"/>
            </a:outerShdw>
          </a:effectLst>
        </p:spPr>
        <p:txBody>
          <a:bodyPr anchor="ctr"/>
          <a:lstStyle/>
          <a:p>
            <a:pPr>
              <a:lnSpc>
                <a:spcPct val="85000"/>
              </a:lnSpc>
            </a:pPr>
            <a:r>
              <a:rPr lang="fr-FR" altLang="zh-CN" dirty="0">
                <a:solidFill>
                  <a:srgbClr val="000000"/>
                </a:solidFill>
                <a:ea typeface="SimSun" pitchFamily="2" charset="-122"/>
                <a:cs typeface="Times New Roman" charset="0"/>
              </a:rPr>
              <a:t>Accès</a:t>
            </a:r>
            <a:r>
              <a:rPr lang="en-IE" altLang="zh-CN" dirty="0">
                <a:solidFill>
                  <a:srgbClr val="000000"/>
                </a:solidFill>
                <a:ea typeface="SimSun" pitchFamily="2" charset="-122"/>
                <a:cs typeface="Times New Roman" charset="0"/>
              </a:rPr>
              <a:t> </a:t>
            </a:r>
            <a:endParaRPr lang="en-US" dirty="0">
              <a:solidFill>
                <a:srgbClr val="000000"/>
              </a:solidFill>
              <a:ea typeface="SimSun" pitchFamily="2" charset="-122"/>
              <a:cs typeface="Times New Roman" charset="0"/>
            </a:endParaRPr>
          </a:p>
        </p:txBody>
      </p:sp>
      <p:grpSp>
        <p:nvGrpSpPr>
          <p:cNvPr id="388192" name="Group 96"/>
          <p:cNvGrpSpPr>
            <a:grpSpLocks/>
          </p:cNvGrpSpPr>
          <p:nvPr/>
        </p:nvGrpSpPr>
        <p:grpSpPr bwMode="auto">
          <a:xfrm>
            <a:off x="5403013" y="5440500"/>
            <a:ext cx="2481262" cy="563563"/>
            <a:chOff x="3517" y="3370"/>
            <a:chExt cx="1104" cy="355"/>
          </a:xfrm>
        </p:grpSpPr>
        <p:grpSp>
          <p:nvGrpSpPr>
            <p:cNvPr id="388193" name="Group 97"/>
            <p:cNvGrpSpPr>
              <a:grpSpLocks/>
            </p:cNvGrpSpPr>
            <p:nvPr/>
          </p:nvGrpSpPr>
          <p:grpSpPr bwMode="auto">
            <a:xfrm>
              <a:off x="3517" y="3370"/>
              <a:ext cx="1104" cy="178"/>
              <a:chOff x="3552" y="1824"/>
              <a:chExt cx="1104" cy="193"/>
            </a:xfrm>
          </p:grpSpPr>
          <p:sp>
            <p:nvSpPr>
              <p:cNvPr id="388194" name="Rectangle-98"/>
              <p:cNvSpPr>
                <a:spLocks noChangeArrowheads="1"/>
              </p:cNvSpPr>
              <p:nvPr/>
            </p:nvSpPr>
            <p:spPr bwMode="auto">
              <a:xfrm>
                <a:off x="3552" y="1824"/>
                <a:ext cx="460" cy="193"/>
              </a:xfrm>
              <a:prstGeom prst="rect">
                <a:avLst/>
              </a:prstGeom>
              <a:solidFill>
                <a:srgbClr val="FFFFFF"/>
              </a:solidFill>
              <a:ln w="9525">
                <a:solidFill>
                  <a:schemeClr val="tx1"/>
                </a:solidFill>
                <a:miter lim="800000"/>
                <a:headEnd/>
                <a:tailEnd/>
              </a:ln>
              <a:effectLst>
                <a:outerShdw dist="53882" dir="2700000" algn="ctr" rotWithShape="0">
                  <a:srgbClr val="B2B2B2"/>
                </a:outerShdw>
              </a:effectLst>
            </p:spPr>
            <p:txBody>
              <a:bodyPr wrap="none" anchor="ctr"/>
              <a:lstStyle/>
              <a:p>
                <a:r>
                  <a:rPr lang="fr-FR" altLang="zh-CN" sz="1600">
                    <a:solidFill>
                      <a:srgbClr val="000000"/>
                    </a:solidFill>
                    <a:ea typeface="SimSun" pitchFamily="2" charset="-122"/>
                    <a:cs typeface="Times New Roman" charset="0"/>
                  </a:rPr>
                  <a:t>Utilisateur 1</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sp>
            <p:nvSpPr>
              <p:cNvPr id="388195" name="Rectangle-99"/>
              <p:cNvSpPr>
                <a:spLocks noChangeArrowheads="1"/>
              </p:cNvSpPr>
              <p:nvPr/>
            </p:nvSpPr>
            <p:spPr bwMode="auto">
              <a:xfrm>
                <a:off x="4005" y="1824"/>
                <a:ext cx="651" cy="193"/>
              </a:xfrm>
              <a:prstGeom prst="rect">
                <a:avLst/>
              </a:prstGeom>
              <a:solidFill>
                <a:srgbClr val="CCFFCC"/>
              </a:solidFill>
              <a:ln w="9525">
                <a:solidFill>
                  <a:schemeClr val="tx1"/>
                </a:solidFill>
                <a:miter lim="800000"/>
                <a:headEnd/>
                <a:tailEnd/>
              </a:ln>
              <a:effectLst>
                <a:outerShdw dist="53882" dir="2700000" algn="ctr" rotWithShape="0">
                  <a:srgbClr val="B2B2B2"/>
                </a:outerShdw>
              </a:effectLst>
            </p:spPr>
            <p:txBody>
              <a:bodyPr wrap="none" anchor="ctr"/>
              <a:lstStyle/>
              <a:p>
                <a:r>
                  <a:rPr lang="fr-FR" altLang="zh-CN" sz="1600">
                    <a:solidFill>
                      <a:srgbClr val="000000"/>
                    </a:solidFill>
                    <a:ea typeface="SimSun" pitchFamily="2" charset="-122"/>
                    <a:cs typeface="Times New Roman" charset="0"/>
                  </a:rPr>
                  <a:t>Lecture</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grpSp>
        <p:sp>
          <p:nvSpPr>
            <p:cNvPr id="388196" name="Rectangle-100"/>
            <p:cNvSpPr>
              <a:spLocks noChangeArrowheads="1"/>
            </p:cNvSpPr>
            <p:nvPr/>
          </p:nvSpPr>
          <p:spPr bwMode="auto">
            <a:xfrm>
              <a:off x="3517" y="3548"/>
              <a:ext cx="460" cy="177"/>
            </a:xfrm>
            <a:prstGeom prst="rect">
              <a:avLst/>
            </a:prstGeom>
            <a:solidFill>
              <a:srgbClr val="FFFFFF"/>
            </a:solidFill>
            <a:ln w="9525">
              <a:solidFill>
                <a:schemeClr val="tx1"/>
              </a:solidFill>
              <a:miter lim="800000"/>
              <a:headEnd/>
              <a:tailEnd/>
            </a:ln>
            <a:effectLst>
              <a:outerShdw dist="53882" dir="2700000" algn="ctr" rotWithShape="0">
                <a:srgbClr val="B2B2B2"/>
              </a:outerShdw>
            </a:effectLst>
          </p:spPr>
          <p:txBody>
            <a:bodyPr wrap="none" anchor="ctr"/>
            <a:lstStyle/>
            <a:p>
              <a:r>
                <a:rPr lang="fr-FR" altLang="zh-CN" sz="1600">
                  <a:solidFill>
                    <a:srgbClr val="000000"/>
                  </a:solidFill>
                  <a:ea typeface="SimSun" pitchFamily="2" charset="-122"/>
                  <a:cs typeface="Times New Roman" charset="0"/>
                </a:rPr>
                <a:t>Groupe 1</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sp>
          <p:nvSpPr>
            <p:cNvPr id="388197" name="Rectangle-101"/>
            <p:cNvSpPr>
              <a:spLocks noChangeArrowheads="1"/>
            </p:cNvSpPr>
            <p:nvPr/>
          </p:nvSpPr>
          <p:spPr bwMode="auto">
            <a:xfrm>
              <a:off x="3970" y="3548"/>
              <a:ext cx="651" cy="177"/>
            </a:xfrm>
            <a:prstGeom prst="rect">
              <a:avLst/>
            </a:prstGeom>
            <a:solidFill>
              <a:srgbClr val="CCFFCC"/>
            </a:solidFill>
            <a:ln w="9525">
              <a:solidFill>
                <a:schemeClr val="tx1"/>
              </a:solidFill>
              <a:miter lim="800000"/>
              <a:headEnd/>
              <a:tailEnd/>
            </a:ln>
            <a:effectLst>
              <a:outerShdw dist="53882" dir="2700000" algn="ctr" rotWithShape="0">
                <a:srgbClr val="B2B2B2"/>
              </a:outerShdw>
            </a:effectLst>
          </p:spPr>
          <p:txBody>
            <a:bodyPr wrap="none" anchor="ctr"/>
            <a:lstStyle/>
            <a:p>
              <a:r>
                <a:rPr lang="fr-FR" altLang="zh-CN" sz="1600">
                  <a:solidFill>
                    <a:srgbClr val="000000"/>
                  </a:solidFill>
                  <a:ea typeface="SimSun" pitchFamily="2" charset="-122"/>
                  <a:cs typeface="Times New Roman" charset="0"/>
                </a:rPr>
                <a:t>Contrôle total</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grpSp>
      <p:grpSp>
        <p:nvGrpSpPr>
          <p:cNvPr id="388214" name="Group 118"/>
          <p:cNvGrpSpPr>
            <a:grpSpLocks/>
          </p:cNvGrpSpPr>
          <p:nvPr/>
        </p:nvGrpSpPr>
        <p:grpSpPr bwMode="auto">
          <a:xfrm>
            <a:off x="4806113" y="4265750"/>
            <a:ext cx="2138362" cy="492125"/>
            <a:chOff x="3207" y="2530"/>
            <a:chExt cx="1347" cy="310"/>
          </a:xfrm>
        </p:grpSpPr>
        <p:sp>
          <p:nvSpPr>
            <p:cNvPr id="388199" name="Rectangle-103"/>
            <p:cNvSpPr>
              <a:spLocks noChangeArrowheads="1"/>
            </p:cNvSpPr>
            <p:nvPr/>
          </p:nvSpPr>
          <p:spPr bwMode="auto">
            <a:xfrm>
              <a:off x="3207" y="2530"/>
              <a:ext cx="647" cy="155"/>
            </a:xfrm>
            <a:prstGeom prst="rect">
              <a:avLst/>
            </a:prstGeom>
            <a:solidFill>
              <a:srgbClr val="FFFFFF"/>
            </a:solidFill>
            <a:ln w="9525">
              <a:solidFill>
                <a:schemeClr val="tx1"/>
              </a:solidFill>
              <a:miter lim="800000"/>
              <a:headEnd/>
              <a:tailEnd/>
            </a:ln>
            <a:effectLst>
              <a:outerShdw dist="53882" dir="2700000" algn="ctr" rotWithShape="0">
                <a:srgbClr val="B2B2B2"/>
              </a:outerShdw>
            </a:effectLst>
          </p:spPr>
          <p:txBody>
            <a:bodyPr wrap="none" anchor="ctr"/>
            <a:lstStyle/>
            <a:p>
              <a:r>
                <a:rPr lang="fr-FR" altLang="zh-CN" sz="1600">
                  <a:solidFill>
                    <a:srgbClr val="000000"/>
                  </a:solidFill>
                  <a:ea typeface="SimSun" pitchFamily="2" charset="-122"/>
                  <a:cs typeface="Times New Roman" charset="0"/>
                </a:rPr>
                <a:t> Utilisateur 1</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sp>
          <p:nvSpPr>
            <p:cNvPr id="388200" name="Rectangle-104"/>
            <p:cNvSpPr>
              <a:spLocks noChangeArrowheads="1"/>
            </p:cNvSpPr>
            <p:nvPr/>
          </p:nvSpPr>
          <p:spPr bwMode="auto">
            <a:xfrm>
              <a:off x="3855" y="2530"/>
              <a:ext cx="699" cy="155"/>
            </a:xfrm>
            <a:prstGeom prst="rect">
              <a:avLst/>
            </a:prstGeom>
            <a:solidFill>
              <a:srgbClr val="CCFFCC"/>
            </a:solidFill>
            <a:ln w="9525">
              <a:solidFill>
                <a:schemeClr val="tx1"/>
              </a:solidFill>
              <a:miter lim="800000"/>
              <a:headEnd/>
              <a:tailEnd/>
            </a:ln>
            <a:effectLst>
              <a:outerShdw dist="53882" dir="2700000" algn="ctr" rotWithShape="0">
                <a:srgbClr val="B2B2B2"/>
              </a:outerShdw>
            </a:effectLst>
          </p:spPr>
          <p:txBody>
            <a:bodyPr wrap="none" anchor="ctr"/>
            <a:lstStyle/>
            <a:p>
              <a:r>
                <a:rPr lang="fr-FR" altLang="zh-CN" sz="1600">
                  <a:solidFill>
                    <a:srgbClr val="000000"/>
                  </a:solidFill>
                  <a:ea typeface="SimSun" pitchFamily="2" charset="-122"/>
                  <a:cs typeface="Times New Roman" charset="0"/>
                </a:rPr>
                <a:t>Lecture</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sp>
          <p:nvSpPr>
            <p:cNvPr id="388201" name="Rectangle-105"/>
            <p:cNvSpPr>
              <a:spLocks noChangeArrowheads="1"/>
            </p:cNvSpPr>
            <p:nvPr/>
          </p:nvSpPr>
          <p:spPr bwMode="auto">
            <a:xfrm>
              <a:off x="3207" y="2685"/>
              <a:ext cx="647" cy="155"/>
            </a:xfrm>
            <a:prstGeom prst="rect">
              <a:avLst/>
            </a:prstGeom>
            <a:solidFill>
              <a:srgbClr val="FFFFFF"/>
            </a:solidFill>
            <a:ln w="9525">
              <a:solidFill>
                <a:schemeClr val="tx1"/>
              </a:solidFill>
              <a:miter lim="800000"/>
              <a:headEnd/>
              <a:tailEnd/>
            </a:ln>
            <a:effectLst>
              <a:outerShdw dist="53882" dir="2700000" algn="ctr" rotWithShape="0">
                <a:srgbClr val="B2B2B2"/>
              </a:outerShdw>
            </a:effectLst>
          </p:spPr>
          <p:txBody>
            <a:bodyPr wrap="none" anchor="ctr"/>
            <a:lstStyle/>
            <a:p>
              <a:r>
                <a:rPr lang="fr-FR" altLang="zh-CN" sz="1600" dirty="0">
                  <a:solidFill>
                    <a:srgbClr val="000000"/>
                  </a:solidFill>
                  <a:ea typeface="SimSun" pitchFamily="2" charset="-122"/>
                  <a:cs typeface="Times New Roman" charset="0"/>
                </a:rPr>
                <a:t>Groupe 1</a:t>
              </a:r>
              <a:r>
                <a:rPr lang="en-IE" altLang="zh-CN" sz="1600" dirty="0">
                  <a:solidFill>
                    <a:srgbClr val="000000"/>
                  </a:solidFill>
                  <a:ea typeface="SimSun" pitchFamily="2" charset="-122"/>
                  <a:cs typeface="Times New Roman" charset="0"/>
                </a:rPr>
                <a:t> </a:t>
              </a:r>
              <a:endParaRPr lang="en-US" sz="1600" dirty="0">
                <a:solidFill>
                  <a:srgbClr val="000000"/>
                </a:solidFill>
                <a:ea typeface="SimSun" pitchFamily="2" charset="-122"/>
                <a:cs typeface="Times New Roman" charset="0"/>
              </a:endParaRPr>
            </a:p>
          </p:txBody>
        </p:sp>
        <p:sp>
          <p:nvSpPr>
            <p:cNvPr id="388202" name="Rectangle-106"/>
            <p:cNvSpPr>
              <a:spLocks noChangeArrowheads="1"/>
            </p:cNvSpPr>
            <p:nvPr/>
          </p:nvSpPr>
          <p:spPr bwMode="auto">
            <a:xfrm>
              <a:off x="3855" y="2685"/>
              <a:ext cx="699" cy="155"/>
            </a:xfrm>
            <a:prstGeom prst="rect">
              <a:avLst/>
            </a:prstGeom>
            <a:solidFill>
              <a:srgbClr val="CCFFCC"/>
            </a:solidFill>
            <a:ln w="9525">
              <a:solidFill>
                <a:schemeClr val="tx1"/>
              </a:solidFill>
              <a:miter lim="800000"/>
              <a:headEnd/>
              <a:tailEnd/>
            </a:ln>
            <a:effectLst>
              <a:outerShdw dist="53882" dir="2700000" algn="ctr" rotWithShape="0">
                <a:srgbClr val="B2B2B2"/>
              </a:outerShdw>
            </a:effectLst>
          </p:spPr>
          <p:txBody>
            <a:bodyPr wrap="none" anchor="ctr"/>
            <a:lstStyle/>
            <a:p>
              <a:r>
                <a:rPr lang="fr-FR" altLang="zh-CN" sz="1600" dirty="0">
                  <a:solidFill>
                    <a:srgbClr val="000000"/>
                  </a:solidFill>
                  <a:ea typeface="SimSun" pitchFamily="2" charset="-122"/>
                  <a:cs typeface="Times New Roman" charset="0"/>
                </a:rPr>
                <a:t>Contrôle total</a:t>
              </a:r>
              <a:r>
                <a:rPr lang="en-IE" altLang="zh-CN" sz="1600" dirty="0">
                  <a:solidFill>
                    <a:srgbClr val="000000"/>
                  </a:solidFill>
                  <a:ea typeface="SimSun" pitchFamily="2" charset="-122"/>
                  <a:cs typeface="Times New Roman" charset="0"/>
                </a:rPr>
                <a:t> </a:t>
              </a:r>
              <a:endParaRPr lang="en-US" sz="1600" dirty="0">
                <a:solidFill>
                  <a:srgbClr val="000000"/>
                </a:solidFill>
                <a:ea typeface="SimSun" pitchFamily="2" charset="-122"/>
                <a:cs typeface="Times New Roman" charset="0"/>
              </a:endParaRPr>
            </a:p>
          </p:txBody>
        </p:sp>
      </p:grpSp>
      <p:sp>
        <p:nvSpPr>
          <p:cNvPr id="388203" name="Text-Box-107"/>
          <p:cNvSpPr txBox="1">
            <a:spLocks noChangeArrowheads="1"/>
          </p:cNvSpPr>
          <p:nvPr/>
        </p:nvSpPr>
        <p:spPr bwMode="auto">
          <a:xfrm>
            <a:off x="3974688" y="5423038"/>
            <a:ext cx="1486896" cy="707886"/>
          </a:xfrm>
          <a:prstGeom prst="rect">
            <a:avLst/>
          </a:prstGeom>
          <a:noFill/>
          <a:ln w="9525" algn="ctr">
            <a:noFill/>
            <a:miter lim="800000"/>
            <a:headEnd/>
            <a:tailEnd/>
          </a:ln>
          <a:effectLst/>
        </p:spPr>
        <p:txBody>
          <a:bodyPr wrap="square">
            <a:spAutoFit/>
          </a:bodyPr>
          <a:lstStyle/>
          <a:p>
            <a:pPr algn="l"/>
            <a:r>
              <a:rPr lang="fr-FR" altLang="zh-CN" sz="2000" dirty="0">
                <a:solidFill>
                  <a:srgbClr val="000000"/>
                </a:solidFill>
                <a:ea typeface="SimSun" pitchFamily="2" charset="-122"/>
                <a:cs typeface="Times New Roman" charset="0"/>
              </a:rPr>
              <a:t>Conteneur</a:t>
            </a:r>
            <a:r>
              <a:rPr lang="en-IE" altLang="zh-CN" sz="2000" dirty="0">
                <a:solidFill>
                  <a:srgbClr val="000000"/>
                </a:solidFill>
                <a:ea typeface="SimSun" pitchFamily="2" charset="-122"/>
                <a:cs typeface="Times New Roman" charset="0"/>
              </a:rPr>
              <a:t> </a:t>
            </a:r>
            <a:r>
              <a:rPr lang="en-US" sz="2000" dirty="0">
                <a:ea typeface="SimSun" pitchFamily="2" charset="-122"/>
                <a:cs typeface="Times New Roman" charset="0"/>
              </a:rPr>
              <a:t> </a:t>
            </a:r>
          </a:p>
          <a:p>
            <a:pPr algn="l"/>
            <a:r>
              <a:rPr lang="fr-FR" altLang="zh-CN" sz="2000" dirty="0">
                <a:solidFill>
                  <a:srgbClr val="000000"/>
                </a:solidFill>
                <a:ea typeface="SimSun" pitchFamily="2" charset="-122"/>
                <a:cs typeface="Times New Roman" charset="0"/>
              </a:rPr>
              <a:t>enfant</a:t>
            </a:r>
            <a:r>
              <a:rPr lang="en-IE" altLang="zh-CN" sz="2000" dirty="0">
                <a:solidFill>
                  <a:srgbClr val="000000"/>
                </a:solidFill>
                <a:ea typeface="SimSun" pitchFamily="2" charset="-122"/>
                <a:cs typeface="Times New Roman" charset="0"/>
              </a:rPr>
              <a:t> </a:t>
            </a:r>
            <a:endParaRPr lang="en-US" sz="2000" dirty="0">
              <a:solidFill>
                <a:srgbClr val="000000"/>
              </a:solidFill>
              <a:ea typeface="SimSun" pitchFamily="2" charset="-122"/>
              <a:cs typeface="Times New Roman" charset="0"/>
            </a:endParaRPr>
          </a:p>
        </p:txBody>
      </p:sp>
      <p:pic>
        <p:nvPicPr>
          <p:cNvPr id="388204" name="Picture-108" descr="Users01"/>
          <p:cNvPicPr>
            <a:picLocks noChangeAspect="1" noChangeArrowheads="1"/>
          </p:cNvPicPr>
          <p:nvPr/>
        </p:nvPicPr>
        <p:blipFill>
          <a:blip r:embed="rId4" cstate="print"/>
          <a:srcRect/>
          <a:stretch>
            <a:fillRect/>
          </a:stretch>
        </p:blipFill>
        <p:spPr bwMode="auto">
          <a:xfrm>
            <a:off x="194800" y="4026039"/>
            <a:ext cx="919421" cy="1120088"/>
          </a:xfrm>
          <a:prstGeom prst="rect">
            <a:avLst/>
          </a:prstGeom>
          <a:noFill/>
        </p:spPr>
      </p:pic>
      <p:pic>
        <p:nvPicPr>
          <p:cNvPr id="388205" name="Picture-109" descr="Security_Permissions01"/>
          <p:cNvPicPr>
            <a:picLocks noChangeAspect="1" noChangeArrowheads="1"/>
          </p:cNvPicPr>
          <p:nvPr/>
        </p:nvPicPr>
        <p:blipFill>
          <a:blip r:embed="rId5" cstate="print"/>
          <a:srcRect/>
          <a:stretch>
            <a:fillRect/>
          </a:stretch>
        </p:blipFill>
        <p:spPr bwMode="auto">
          <a:xfrm>
            <a:off x="1134650" y="4103825"/>
            <a:ext cx="527050" cy="742950"/>
          </a:xfrm>
          <a:prstGeom prst="rect">
            <a:avLst/>
          </a:prstGeom>
          <a:noFill/>
        </p:spPr>
      </p:pic>
      <p:sp>
        <p:nvSpPr>
          <p:cNvPr id="388206" name="Text-Box-110"/>
          <p:cNvSpPr txBox="1">
            <a:spLocks noChangeArrowheads="1"/>
          </p:cNvSpPr>
          <p:nvPr/>
        </p:nvSpPr>
        <p:spPr bwMode="auto">
          <a:xfrm>
            <a:off x="211488" y="5122403"/>
            <a:ext cx="3094038" cy="749300"/>
          </a:xfrm>
          <a:prstGeom prst="rect">
            <a:avLst/>
          </a:prstGeom>
          <a:noFill/>
          <a:ln w="9525" algn="ctr">
            <a:noFill/>
            <a:miter lim="800000"/>
            <a:headEnd/>
            <a:tailEnd/>
          </a:ln>
          <a:effectLst/>
        </p:spPr>
        <p:txBody>
          <a:bodyPr>
            <a:spAutoFit/>
          </a:bodyPr>
          <a:lstStyle/>
          <a:p>
            <a:pPr>
              <a:lnSpc>
                <a:spcPct val="80000"/>
              </a:lnSpc>
            </a:pPr>
            <a:r>
              <a:rPr lang="fr-FR" altLang="zh-CN" dirty="0">
                <a:solidFill>
                  <a:srgbClr val="000000"/>
                </a:solidFill>
                <a:ea typeface="SimSun" pitchFamily="2" charset="-122"/>
                <a:cs typeface="Times New Roman" charset="0"/>
              </a:rPr>
              <a:t>Utilisateurs ayant l'autorisation </a:t>
            </a:r>
          </a:p>
          <a:p>
            <a:pPr>
              <a:lnSpc>
                <a:spcPct val="80000"/>
              </a:lnSpc>
            </a:pPr>
            <a:r>
              <a:rPr lang="fr-FR" altLang="zh-CN" dirty="0">
                <a:solidFill>
                  <a:srgbClr val="000000"/>
                </a:solidFill>
                <a:ea typeface="SimSun" pitchFamily="2" charset="-122"/>
                <a:cs typeface="Times New Roman" charset="0"/>
              </a:rPr>
              <a:t>d'accès pour le conteneur parent</a:t>
            </a:r>
            <a:r>
              <a:rPr lang="en-IE" altLang="zh-CN" dirty="0">
                <a:solidFill>
                  <a:srgbClr val="000000"/>
                </a:solidFill>
                <a:ea typeface="SimSun" pitchFamily="2" charset="-122"/>
                <a:cs typeface="Times New Roman" charset="0"/>
              </a:rPr>
              <a:t> </a:t>
            </a:r>
            <a:endParaRPr lang="en-US" dirty="0">
              <a:solidFill>
                <a:srgbClr val="000000"/>
              </a:solidFill>
              <a:ea typeface="SimSun" pitchFamily="2" charset="-122"/>
              <a:cs typeface="Times New Roman" charset="0"/>
            </a:endParaRPr>
          </a:p>
        </p:txBody>
      </p:sp>
      <p:sp>
        <p:nvSpPr>
          <p:cNvPr id="388207" name="Text-Box-111"/>
          <p:cNvSpPr txBox="1">
            <a:spLocks noChangeArrowheads="1"/>
          </p:cNvSpPr>
          <p:nvPr/>
        </p:nvSpPr>
        <p:spPr bwMode="auto">
          <a:xfrm>
            <a:off x="7104889" y="4315310"/>
            <a:ext cx="1860982" cy="1200329"/>
          </a:xfrm>
          <a:prstGeom prst="rect">
            <a:avLst/>
          </a:prstGeom>
          <a:noFill/>
          <a:ln w="9525" algn="ctr">
            <a:noFill/>
            <a:miter lim="800000"/>
            <a:headEnd/>
            <a:tailEnd/>
          </a:ln>
          <a:effectLst/>
        </p:spPr>
        <p:txBody>
          <a:bodyPr wrap="square">
            <a:spAutoFit/>
          </a:bodyPr>
          <a:lstStyle/>
          <a:p>
            <a:r>
              <a:rPr lang="fr-FR" altLang="zh-CN" dirty="0">
                <a:solidFill>
                  <a:srgbClr val="000000"/>
                </a:solidFill>
                <a:ea typeface="SimSun" pitchFamily="2" charset="-122"/>
                <a:cs typeface="Times New Roman" charset="0"/>
              </a:rPr>
              <a:t>Autorisations héritées </a:t>
            </a:r>
            <a:r>
              <a:rPr lang="fr-FR" altLang="zh-CN" dirty="0" smtClean="0">
                <a:solidFill>
                  <a:srgbClr val="000000"/>
                </a:solidFill>
                <a:ea typeface="SimSun" pitchFamily="2" charset="-122"/>
                <a:cs typeface="Times New Roman" charset="0"/>
              </a:rPr>
              <a:t>par </a:t>
            </a:r>
            <a:r>
              <a:rPr lang="fr-FR" altLang="zh-CN" dirty="0">
                <a:solidFill>
                  <a:srgbClr val="000000"/>
                </a:solidFill>
                <a:ea typeface="SimSun" pitchFamily="2" charset="-122"/>
                <a:cs typeface="Times New Roman" charset="0"/>
              </a:rPr>
              <a:t>les conteneurs</a:t>
            </a:r>
          </a:p>
          <a:p>
            <a:r>
              <a:rPr lang="fr-FR" altLang="zh-CN" dirty="0">
                <a:solidFill>
                  <a:srgbClr val="000000"/>
                </a:solidFill>
                <a:ea typeface="SimSun" pitchFamily="2" charset="-122"/>
                <a:cs typeface="Times New Roman" charset="0"/>
              </a:rPr>
              <a:t> enfants</a:t>
            </a:r>
            <a:r>
              <a:rPr lang="en-IE" altLang="zh-CN" dirty="0">
                <a:solidFill>
                  <a:srgbClr val="000000"/>
                </a:solidFill>
                <a:ea typeface="SimSun" pitchFamily="2" charset="-122"/>
                <a:cs typeface="Times New Roman" charset="0"/>
              </a:rPr>
              <a:t> </a:t>
            </a:r>
            <a:endParaRPr lang="en-US" dirty="0">
              <a:solidFill>
                <a:srgbClr val="000000"/>
              </a:solidFill>
              <a:ea typeface="SimSun" pitchFamily="2" charset="-122"/>
              <a:cs typeface="Times New Roman" charset="0"/>
            </a:endParaRPr>
          </a:p>
        </p:txBody>
      </p:sp>
      <p:sp>
        <p:nvSpPr>
          <p:cNvPr id="388208" name="Text-Box-112"/>
          <p:cNvSpPr txBox="1">
            <a:spLocks noChangeArrowheads="1"/>
          </p:cNvSpPr>
          <p:nvPr/>
        </p:nvSpPr>
        <p:spPr bwMode="auto">
          <a:xfrm>
            <a:off x="4734675" y="3948250"/>
            <a:ext cx="1200970" cy="338554"/>
          </a:xfrm>
          <a:prstGeom prst="rect">
            <a:avLst/>
          </a:prstGeom>
          <a:noFill/>
          <a:ln w="9525" algn="ctr">
            <a:noFill/>
            <a:miter lim="800000"/>
            <a:headEnd/>
            <a:tailEnd/>
          </a:ln>
          <a:effectLst/>
        </p:spPr>
        <p:txBody>
          <a:bodyPr wrap="none">
            <a:spAutoFit/>
          </a:bodyPr>
          <a:lstStyle/>
          <a:p>
            <a:r>
              <a:rPr lang="fr-FR" altLang="zh-CN" sz="1600" b="0">
                <a:solidFill>
                  <a:srgbClr val="000000"/>
                </a:solidFill>
                <a:ea typeface="SimSun" pitchFamily="2" charset="-122"/>
                <a:cs typeface="Times New Roman" charset="0"/>
              </a:rPr>
              <a:t>Autorisations</a:t>
            </a:r>
            <a:r>
              <a:rPr lang="en-IE" altLang="zh-CN" sz="1600" b="0">
                <a:solidFill>
                  <a:srgbClr val="000000"/>
                </a:solidFill>
                <a:ea typeface="SimSun" pitchFamily="2" charset="-122"/>
                <a:cs typeface="Times New Roman" charset="0"/>
              </a:rPr>
              <a:t> </a:t>
            </a:r>
            <a:endParaRPr lang="en-US" sz="1600" b="0">
              <a:solidFill>
                <a:srgbClr val="000000"/>
              </a:solidFill>
              <a:ea typeface="SimSun" pitchFamily="2" charset="-122"/>
              <a:cs typeface="Times New Roman" charset="0"/>
            </a:endParaRPr>
          </a:p>
        </p:txBody>
      </p:sp>
      <p:sp>
        <p:nvSpPr>
          <p:cNvPr id="388209" name="Text-Box-113"/>
          <p:cNvSpPr txBox="1">
            <a:spLocks noChangeArrowheads="1"/>
          </p:cNvSpPr>
          <p:nvPr/>
        </p:nvSpPr>
        <p:spPr bwMode="auto">
          <a:xfrm>
            <a:off x="5169485" y="5093786"/>
            <a:ext cx="1200970" cy="338554"/>
          </a:xfrm>
          <a:prstGeom prst="rect">
            <a:avLst/>
          </a:prstGeom>
          <a:noFill/>
          <a:ln w="9525" algn="ctr">
            <a:noFill/>
            <a:miter lim="800000"/>
            <a:headEnd/>
            <a:tailEnd/>
          </a:ln>
          <a:effectLst/>
        </p:spPr>
        <p:txBody>
          <a:bodyPr wrap="none">
            <a:spAutoFit/>
          </a:bodyPr>
          <a:lstStyle/>
          <a:p>
            <a:r>
              <a:rPr lang="fr-FR" altLang="zh-CN" sz="1600" b="0" dirty="0">
                <a:solidFill>
                  <a:srgbClr val="000000"/>
                </a:solidFill>
                <a:ea typeface="SimSun" pitchFamily="2" charset="-122"/>
                <a:cs typeface="Times New Roman" charset="0"/>
              </a:rPr>
              <a:t>Autorisations</a:t>
            </a:r>
            <a:r>
              <a:rPr lang="en-IE" altLang="zh-CN" sz="1600" b="0" dirty="0">
                <a:solidFill>
                  <a:srgbClr val="000000"/>
                </a:solidFill>
                <a:ea typeface="SimSun" pitchFamily="2" charset="-122"/>
                <a:cs typeface="Times New Roman" charset="0"/>
              </a:rPr>
              <a:t> </a:t>
            </a:r>
            <a:endParaRPr lang="en-US" sz="1600" b="0" dirty="0">
              <a:solidFill>
                <a:srgbClr val="000000"/>
              </a:solidFill>
              <a:ea typeface="SimSun" pitchFamily="2" charset="-122"/>
              <a:cs typeface="Times New Roman" charset="0"/>
            </a:endParaRPr>
          </a:p>
        </p:txBody>
      </p:sp>
      <p:sp>
        <p:nvSpPr>
          <p:cNvPr id="388210" name="Freeform-114"/>
          <p:cNvSpPr>
            <a:spLocks/>
          </p:cNvSpPr>
          <p:nvPr/>
        </p:nvSpPr>
        <p:spPr bwMode="auto">
          <a:xfrm rot="4735046">
            <a:off x="5774488" y="4786450"/>
            <a:ext cx="820737" cy="614363"/>
          </a:xfrm>
          <a:custGeom>
            <a:avLst/>
            <a:gdLst/>
            <a:ahLst/>
            <a:cxnLst>
              <a:cxn ang="0">
                <a:pos x="430" y="149"/>
              </a:cxn>
              <a:cxn ang="0">
                <a:pos x="427" y="165"/>
              </a:cxn>
              <a:cxn ang="0">
                <a:pos x="425" y="182"/>
              </a:cxn>
              <a:cxn ang="0">
                <a:pos x="422" y="204"/>
              </a:cxn>
              <a:cxn ang="0">
                <a:pos x="671" y="98"/>
              </a:cxn>
              <a:cxn ang="0">
                <a:pos x="422" y="0"/>
              </a:cxn>
              <a:cxn ang="0">
                <a:pos x="425" y="20"/>
              </a:cxn>
              <a:cxn ang="0">
                <a:pos x="427" y="37"/>
              </a:cxn>
              <a:cxn ang="0">
                <a:pos x="430" y="53"/>
              </a:cxn>
              <a:cxn ang="0">
                <a:pos x="414" y="55"/>
              </a:cxn>
              <a:cxn ang="0">
                <a:pos x="396" y="58"/>
              </a:cxn>
              <a:cxn ang="0">
                <a:pos x="372" y="62"/>
              </a:cxn>
              <a:cxn ang="0">
                <a:pos x="343" y="69"/>
              </a:cxn>
              <a:cxn ang="0">
                <a:pos x="311" y="78"/>
              </a:cxn>
              <a:cxn ang="0">
                <a:pos x="275" y="90"/>
              </a:cxn>
              <a:cxn ang="0">
                <a:pos x="258" y="97"/>
              </a:cxn>
              <a:cxn ang="0">
                <a:pos x="239" y="105"/>
              </a:cxn>
              <a:cxn ang="0">
                <a:pos x="220" y="114"/>
              </a:cxn>
              <a:cxn ang="0">
                <a:pos x="201" y="124"/>
              </a:cxn>
              <a:cxn ang="0">
                <a:pos x="182" y="136"/>
              </a:cxn>
              <a:cxn ang="0">
                <a:pos x="164" y="147"/>
              </a:cxn>
              <a:cxn ang="0">
                <a:pos x="146" y="161"/>
              </a:cxn>
              <a:cxn ang="0">
                <a:pos x="127" y="175"/>
              </a:cxn>
              <a:cxn ang="0">
                <a:pos x="111" y="191"/>
              </a:cxn>
              <a:cxn ang="0">
                <a:pos x="94" y="208"/>
              </a:cxn>
              <a:cxn ang="0">
                <a:pos x="78" y="226"/>
              </a:cxn>
              <a:cxn ang="0">
                <a:pos x="64" y="246"/>
              </a:cxn>
              <a:cxn ang="0">
                <a:pos x="49" y="268"/>
              </a:cxn>
              <a:cxn ang="0">
                <a:pos x="38" y="290"/>
              </a:cxn>
              <a:cxn ang="0">
                <a:pos x="32" y="301"/>
              </a:cxn>
              <a:cxn ang="0">
                <a:pos x="26" y="314"/>
              </a:cxn>
              <a:cxn ang="0">
                <a:pos x="20" y="326"/>
              </a:cxn>
              <a:cxn ang="0">
                <a:pos x="16" y="339"/>
              </a:cxn>
              <a:cxn ang="0">
                <a:pos x="7" y="366"/>
              </a:cxn>
              <a:cxn ang="0">
                <a:pos x="0" y="395"/>
              </a:cxn>
              <a:cxn ang="0">
                <a:pos x="7" y="382"/>
              </a:cxn>
              <a:cxn ang="0">
                <a:pos x="13" y="369"/>
              </a:cxn>
              <a:cxn ang="0">
                <a:pos x="27" y="345"/>
              </a:cxn>
              <a:cxn ang="0">
                <a:pos x="42" y="323"/>
              </a:cxn>
              <a:cxn ang="0">
                <a:pos x="56" y="301"/>
              </a:cxn>
              <a:cxn ang="0">
                <a:pos x="72" y="282"/>
              </a:cxn>
              <a:cxn ang="0">
                <a:pos x="90" y="265"/>
              </a:cxn>
              <a:cxn ang="0">
                <a:pos x="106" y="249"/>
              </a:cxn>
              <a:cxn ang="0">
                <a:pos x="123" y="234"/>
              </a:cxn>
              <a:cxn ang="0">
                <a:pos x="140" y="221"/>
              </a:cxn>
              <a:cxn ang="0">
                <a:pos x="159" y="210"/>
              </a:cxn>
              <a:cxn ang="0">
                <a:pos x="177" y="200"/>
              </a:cxn>
              <a:cxn ang="0">
                <a:pos x="194" y="190"/>
              </a:cxn>
              <a:cxn ang="0">
                <a:pos x="213" y="182"/>
              </a:cxn>
              <a:cxn ang="0">
                <a:pos x="230" y="175"/>
              </a:cxn>
              <a:cxn ang="0">
                <a:pos x="248" y="168"/>
              </a:cxn>
              <a:cxn ang="0">
                <a:pos x="265" y="163"/>
              </a:cxn>
              <a:cxn ang="0">
                <a:pos x="281" y="159"/>
              </a:cxn>
              <a:cxn ang="0">
                <a:pos x="298" y="156"/>
              </a:cxn>
              <a:cxn ang="0">
                <a:pos x="329" y="150"/>
              </a:cxn>
              <a:cxn ang="0">
                <a:pos x="343" y="149"/>
              </a:cxn>
              <a:cxn ang="0">
                <a:pos x="356" y="147"/>
              </a:cxn>
              <a:cxn ang="0">
                <a:pos x="381" y="147"/>
              </a:cxn>
              <a:cxn ang="0">
                <a:pos x="401" y="147"/>
              </a:cxn>
              <a:cxn ang="0">
                <a:pos x="417" y="147"/>
              </a:cxn>
              <a:cxn ang="0">
                <a:pos x="430" y="149"/>
              </a:cxn>
            </a:cxnLst>
            <a:rect l="0" t="0" r="r" b="b"/>
            <a:pathLst>
              <a:path w="671" h="395">
                <a:moveTo>
                  <a:pt x="430" y="149"/>
                </a:moveTo>
                <a:lnTo>
                  <a:pt x="427" y="165"/>
                </a:lnTo>
                <a:lnTo>
                  <a:pt x="425" y="182"/>
                </a:lnTo>
                <a:lnTo>
                  <a:pt x="422" y="204"/>
                </a:lnTo>
                <a:lnTo>
                  <a:pt x="671" y="98"/>
                </a:lnTo>
                <a:lnTo>
                  <a:pt x="422" y="0"/>
                </a:lnTo>
                <a:lnTo>
                  <a:pt x="425" y="20"/>
                </a:lnTo>
                <a:lnTo>
                  <a:pt x="427" y="37"/>
                </a:lnTo>
                <a:lnTo>
                  <a:pt x="430" y="53"/>
                </a:lnTo>
                <a:lnTo>
                  <a:pt x="414" y="55"/>
                </a:lnTo>
                <a:lnTo>
                  <a:pt x="396" y="58"/>
                </a:lnTo>
                <a:lnTo>
                  <a:pt x="372" y="62"/>
                </a:lnTo>
                <a:lnTo>
                  <a:pt x="343" y="69"/>
                </a:lnTo>
                <a:lnTo>
                  <a:pt x="311" y="78"/>
                </a:lnTo>
                <a:lnTo>
                  <a:pt x="275" y="90"/>
                </a:lnTo>
                <a:lnTo>
                  <a:pt x="258" y="97"/>
                </a:lnTo>
                <a:lnTo>
                  <a:pt x="239" y="105"/>
                </a:lnTo>
                <a:lnTo>
                  <a:pt x="220" y="114"/>
                </a:lnTo>
                <a:lnTo>
                  <a:pt x="201" y="124"/>
                </a:lnTo>
                <a:lnTo>
                  <a:pt x="182" y="136"/>
                </a:lnTo>
                <a:lnTo>
                  <a:pt x="164" y="147"/>
                </a:lnTo>
                <a:lnTo>
                  <a:pt x="146" y="161"/>
                </a:lnTo>
                <a:lnTo>
                  <a:pt x="127" y="175"/>
                </a:lnTo>
                <a:lnTo>
                  <a:pt x="111" y="191"/>
                </a:lnTo>
                <a:lnTo>
                  <a:pt x="94" y="208"/>
                </a:lnTo>
                <a:lnTo>
                  <a:pt x="78" y="226"/>
                </a:lnTo>
                <a:lnTo>
                  <a:pt x="64" y="246"/>
                </a:lnTo>
                <a:lnTo>
                  <a:pt x="49" y="268"/>
                </a:lnTo>
                <a:lnTo>
                  <a:pt x="38" y="290"/>
                </a:lnTo>
                <a:lnTo>
                  <a:pt x="32" y="301"/>
                </a:lnTo>
                <a:lnTo>
                  <a:pt x="26" y="314"/>
                </a:lnTo>
                <a:lnTo>
                  <a:pt x="20" y="326"/>
                </a:lnTo>
                <a:lnTo>
                  <a:pt x="16" y="339"/>
                </a:lnTo>
                <a:lnTo>
                  <a:pt x="7" y="366"/>
                </a:lnTo>
                <a:lnTo>
                  <a:pt x="0" y="395"/>
                </a:lnTo>
                <a:lnTo>
                  <a:pt x="7" y="382"/>
                </a:lnTo>
                <a:lnTo>
                  <a:pt x="13" y="369"/>
                </a:lnTo>
                <a:lnTo>
                  <a:pt x="27" y="345"/>
                </a:lnTo>
                <a:lnTo>
                  <a:pt x="42" y="323"/>
                </a:lnTo>
                <a:lnTo>
                  <a:pt x="56" y="301"/>
                </a:lnTo>
                <a:lnTo>
                  <a:pt x="72" y="282"/>
                </a:lnTo>
                <a:lnTo>
                  <a:pt x="90" y="265"/>
                </a:lnTo>
                <a:lnTo>
                  <a:pt x="106" y="249"/>
                </a:lnTo>
                <a:lnTo>
                  <a:pt x="123" y="234"/>
                </a:lnTo>
                <a:lnTo>
                  <a:pt x="140" y="221"/>
                </a:lnTo>
                <a:lnTo>
                  <a:pt x="159" y="210"/>
                </a:lnTo>
                <a:lnTo>
                  <a:pt x="177" y="200"/>
                </a:lnTo>
                <a:lnTo>
                  <a:pt x="194" y="190"/>
                </a:lnTo>
                <a:lnTo>
                  <a:pt x="213" y="182"/>
                </a:lnTo>
                <a:lnTo>
                  <a:pt x="230" y="175"/>
                </a:lnTo>
                <a:lnTo>
                  <a:pt x="248" y="168"/>
                </a:lnTo>
                <a:lnTo>
                  <a:pt x="265" y="163"/>
                </a:lnTo>
                <a:lnTo>
                  <a:pt x="281" y="159"/>
                </a:lnTo>
                <a:lnTo>
                  <a:pt x="298" y="156"/>
                </a:lnTo>
                <a:lnTo>
                  <a:pt x="329" y="150"/>
                </a:lnTo>
                <a:lnTo>
                  <a:pt x="343" y="149"/>
                </a:lnTo>
                <a:lnTo>
                  <a:pt x="356" y="147"/>
                </a:lnTo>
                <a:lnTo>
                  <a:pt x="381" y="147"/>
                </a:lnTo>
                <a:lnTo>
                  <a:pt x="401" y="147"/>
                </a:lnTo>
                <a:lnTo>
                  <a:pt x="417" y="147"/>
                </a:lnTo>
                <a:lnTo>
                  <a:pt x="430" y="149"/>
                </a:lnTo>
                <a:close/>
              </a:path>
            </a:pathLst>
          </a:custGeom>
          <a:solidFill>
            <a:srgbClr val="FF0000">
              <a:alpha val="75000"/>
            </a:srgbClr>
          </a:solidFill>
          <a:ln w="9525">
            <a:noFill/>
            <a:round/>
            <a:headEnd/>
            <a:tailEnd/>
          </a:ln>
        </p:spPr>
        <p:txBody>
          <a:bodyPr/>
          <a:lstStyle/>
          <a:p>
            <a:endParaRPr lang="fr-FR" sz="1600"/>
          </a:p>
        </p:txBody>
      </p:sp>
      <p:pic>
        <p:nvPicPr>
          <p:cNvPr id="388211" name="Picture-115" descr="Folder_FolderOpen01"/>
          <p:cNvPicPr>
            <a:picLocks noChangeAspect="1" noChangeArrowheads="1"/>
          </p:cNvPicPr>
          <p:nvPr/>
        </p:nvPicPr>
        <p:blipFill>
          <a:blip r:embed="rId3" cstate="print"/>
          <a:srcRect/>
          <a:stretch>
            <a:fillRect/>
          </a:stretch>
        </p:blipFill>
        <p:spPr bwMode="auto">
          <a:xfrm>
            <a:off x="2687225" y="4056200"/>
            <a:ext cx="752475" cy="6731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88142">
                                            <p:txEl>
                                              <p:pRg st="0" end="0"/>
                                            </p:txEl>
                                          </p:spTgt>
                                        </p:tgtEl>
                                        <p:attrNameLst>
                                          <p:attrName>style.visibility</p:attrName>
                                        </p:attrNameLst>
                                      </p:cBhvr>
                                      <p:to>
                                        <p:strVal val="visible"/>
                                      </p:to>
                                    </p:set>
                                    <p:animEffect transition="in" filter="checkerboard(across)">
                                      <p:cBhvr>
                                        <p:cTn id="7" dur="1000"/>
                                        <p:tgtEl>
                                          <p:spTgt spid="3881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8142">
                                            <p:txEl>
                                              <p:pRg st="1" end="1"/>
                                            </p:txEl>
                                          </p:spTgt>
                                        </p:tgtEl>
                                        <p:attrNameLst>
                                          <p:attrName>style.visibility</p:attrName>
                                        </p:attrNameLst>
                                      </p:cBhvr>
                                      <p:to>
                                        <p:strVal val="visible"/>
                                      </p:to>
                                    </p:set>
                                    <p:animEffect transition="in" filter="checkerboard(across)">
                                      <p:cBhvr>
                                        <p:cTn id="12" dur="1000"/>
                                        <p:tgtEl>
                                          <p:spTgt spid="3881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8142">
                                            <p:txEl>
                                              <p:pRg st="2" end="2"/>
                                            </p:txEl>
                                          </p:spTgt>
                                        </p:tgtEl>
                                        <p:attrNameLst>
                                          <p:attrName>style.visibility</p:attrName>
                                        </p:attrNameLst>
                                      </p:cBhvr>
                                      <p:to>
                                        <p:strVal val="visible"/>
                                      </p:to>
                                    </p:set>
                                    <p:animEffect transition="in" filter="checkerboard(across)">
                                      <p:cBhvr>
                                        <p:cTn id="17" dur="1000"/>
                                        <p:tgtEl>
                                          <p:spTgt spid="3881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88142">
                                            <p:txEl>
                                              <p:pRg st="3" end="3"/>
                                            </p:txEl>
                                          </p:spTgt>
                                        </p:tgtEl>
                                        <p:attrNameLst>
                                          <p:attrName>style.visibility</p:attrName>
                                        </p:attrNameLst>
                                      </p:cBhvr>
                                      <p:to>
                                        <p:strVal val="visible"/>
                                      </p:to>
                                    </p:set>
                                    <p:animEffect transition="in" filter="checkerboard(across)">
                                      <p:cBhvr>
                                        <p:cTn id="22" dur="1000"/>
                                        <p:tgtEl>
                                          <p:spTgt spid="3881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88187"/>
                                        </p:tgtEl>
                                        <p:attrNameLst>
                                          <p:attrName>style.visibility</p:attrName>
                                        </p:attrNameLst>
                                      </p:cBhvr>
                                      <p:to>
                                        <p:strVal val="visible"/>
                                      </p:to>
                                    </p:set>
                                    <p:animEffect transition="in" filter="box(in)">
                                      <p:cBhvr>
                                        <p:cTn id="27" dur="500"/>
                                        <p:tgtEl>
                                          <p:spTgt spid="388187"/>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388191"/>
                                        </p:tgtEl>
                                        <p:attrNameLst>
                                          <p:attrName>style.visibility</p:attrName>
                                        </p:attrNameLst>
                                      </p:cBhvr>
                                      <p:to>
                                        <p:strVal val="visible"/>
                                      </p:to>
                                    </p:set>
                                    <p:animEffect transition="in" filter="box(in)">
                                      <p:cBhvr>
                                        <p:cTn id="30" dur="1000"/>
                                        <p:tgtEl>
                                          <p:spTgt spid="388191"/>
                                        </p:tgtEl>
                                      </p:cBhvr>
                                    </p:animEffect>
                                  </p:childTnLst>
                                </p:cTn>
                              </p:par>
                              <p:par>
                                <p:cTn id="31" presetID="4" presetClass="entr" presetSubtype="16" fill="hold" nodeType="withEffect">
                                  <p:stCondLst>
                                    <p:cond delay="0"/>
                                  </p:stCondLst>
                                  <p:childTnLst>
                                    <p:set>
                                      <p:cBhvr>
                                        <p:cTn id="32" dur="1" fill="hold">
                                          <p:stCondLst>
                                            <p:cond delay="0"/>
                                          </p:stCondLst>
                                        </p:cTn>
                                        <p:tgtEl>
                                          <p:spTgt spid="388204"/>
                                        </p:tgtEl>
                                        <p:attrNameLst>
                                          <p:attrName>style.visibility</p:attrName>
                                        </p:attrNameLst>
                                      </p:cBhvr>
                                      <p:to>
                                        <p:strVal val="visible"/>
                                      </p:to>
                                    </p:set>
                                    <p:animEffect transition="in" filter="box(in)">
                                      <p:cBhvr>
                                        <p:cTn id="33" dur="1000"/>
                                        <p:tgtEl>
                                          <p:spTgt spid="388204"/>
                                        </p:tgtEl>
                                      </p:cBhvr>
                                    </p:animEffect>
                                  </p:childTnLst>
                                </p:cTn>
                              </p:par>
                              <p:par>
                                <p:cTn id="34" presetID="4" presetClass="entr" presetSubtype="16" fill="hold" nodeType="withEffect">
                                  <p:stCondLst>
                                    <p:cond delay="0"/>
                                  </p:stCondLst>
                                  <p:childTnLst>
                                    <p:set>
                                      <p:cBhvr>
                                        <p:cTn id="35" dur="1" fill="hold">
                                          <p:stCondLst>
                                            <p:cond delay="0"/>
                                          </p:stCondLst>
                                        </p:cTn>
                                        <p:tgtEl>
                                          <p:spTgt spid="388205"/>
                                        </p:tgtEl>
                                        <p:attrNameLst>
                                          <p:attrName>style.visibility</p:attrName>
                                        </p:attrNameLst>
                                      </p:cBhvr>
                                      <p:to>
                                        <p:strVal val="visible"/>
                                      </p:to>
                                    </p:set>
                                    <p:animEffect transition="in" filter="box(in)">
                                      <p:cBhvr>
                                        <p:cTn id="36" dur="1000"/>
                                        <p:tgtEl>
                                          <p:spTgt spid="388205"/>
                                        </p:tgtEl>
                                      </p:cBhvr>
                                    </p:animEffect>
                                  </p:childTnLst>
                                </p:cTn>
                              </p:par>
                              <p:par>
                                <p:cTn id="37" presetID="4" presetClass="entr" presetSubtype="16" fill="hold" grpId="0" nodeType="withEffect">
                                  <p:stCondLst>
                                    <p:cond delay="0"/>
                                  </p:stCondLst>
                                  <p:childTnLst>
                                    <p:set>
                                      <p:cBhvr>
                                        <p:cTn id="38" dur="1" fill="hold">
                                          <p:stCondLst>
                                            <p:cond delay="0"/>
                                          </p:stCondLst>
                                        </p:cTn>
                                        <p:tgtEl>
                                          <p:spTgt spid="388206"/>
                                        </p:tgtEl>
                                        <p:attrNameLst>
                                          <p:attrName>style.visibility</p:attrName>
                                        </p:attrNameLst>
                                      </p:cBhvr>
                                      <p:to>
                                        <p:strVal val="visible"/>
                                      </p:to>
                                    </p:set>
                                    <p:animEffect transition="in" filter="box(in)">
                                      <p:cBhvr>
                                        <p:cTn id="39" dur="1000"/>
                                        <p:tgtEl>
                                          <p:spTgt spid="388206"/>
                                        </p:tgtEl>
                                      </p:cBhvr>
                                    </p:animEffect>
                                  </p:childTnLst>
                                </p:cTn>
                              </p:par>
                              <p:par>
                                <p:cTn id="40" presetID="4" presetClass="entr" presetSubtype="16" fill="hold" nodeType="withEffect">
                                  <p:stCondLst>
                                    <p:cond delay="0"/>
                                  </p:stCondLst>
                                  <p:childTnLst>
                                    <p:set>
                                      <p:cBhvr>
                                        <p:cTn id="41" dur="1" fill="hold">
                                          <p:stCondLst>
                                            <p:cond delay="0"/>
                                          </p:stCondLst>
                                        </p:cTn>
                                        <p:tgtEl>
                                          <p:spTgt spid="388211"/>
                                        </p:tgtEl>
                                        <p:attrNameLst>
                                          <p:attrName>style.visibility</p:attrName>
                                        </p:attrNameLst>
                                      </p:cBhvr>
                                      <p:to>
                                        <p:strVal val="visible"/>
                                      </p:to>
                                    </p:set>
                                    <p:animEffect transition="in" filter="box(in)">
                                      <p:cBhvr>
                                        <p:cTn id="42" dur="1000"/>
                                        <p:tgtEl>
                                          <p:spTgt spid="388211"/>
                                        </p:tgtEl>
                                      </p:cBhvr>
                                    </p:animEffect>
                                  </p:childTnLst>
                                </p:cTn>
                              </p:par>
                              <p:par>
                                <p:cTn id="43" presetID="4" presetClass="entr" presetSubtype="16" fill="hold" grpId="0" nodeType="withEffect">
                                  <p:stCondLst>
                                    <p:cond delay="0"/>
                                  </p:stCondLst>
                                  <p:childTnLst>
                                    <p:set>
                                      <p:cBhvr>
                                        <p:cTn id="44" dur="1" fill="hold">
                                          <p:stCondLst>
                                            <p:cond delay="0"/>
                                          </p:stCondLst>
                                        </p:cTn>
                                        <p:tgtEl>
                                          <p:spTgt spid="388190"/>
                                        </p:tgtEl>
                                        <p:attrNameLst>
                                          <p:attrName>style.visibility</p:attrName>
                                        </p:attrNameLst>
                                      </p:cBhvr>
                                      <p:to>
                                        <p:strVal val="visible"/>
                                      </p:to>
                                    </p:set>
                                    <p:animEffect transition="in" filter="box(in)">
                                      <p:cBhvr>
                                        <p:cTn id="45" dur="1000"/>
                                        <p:tgtEl>
                                          <p:spTgt spid="388190"/>
                                        </p:tgtEl>
                                      </p:cBhvr>
                                    </p:animEffect>
                                  </p:childTnLst>
                                </p:cTn>
                              </p:par>
                              <p:par>
                                <p:cTn id="46" presetID="22" presetClass="entr" presetSubtype="4" fill="hold" nodeType="withEffect">
                                  <p:stCondLst>
                                    <p:cond delay="0"/>
                                  </p:stCondLst>
                                  <p:childTnLst>
                                    <p:set>
                                      <p:cBhvr>
                                        <p:cTn id="47" dur="1" fill="hold">
                                          <p:stCondLst>
                                            <p:cond delay="0"/>
                                          </p:stCondLst>
                                        </p:cTn>
                                        <p:tgtEl>
                                          <p:spTgt spid="388214"/>
                                        </p:tgtEl>
                                        <p:attrNameLst>
                                          <p:attrName>style.visibility</p:attrName>
                                        </p:attrNameLst>
                                      </p:cBhvr>
                                      <p:to>
                                        <p:strVal val="visible"/>
                                      </p:to>
                                    </p:set>
                                    <p:animEffect transition="in" filter="wipe(down)">
                                      <p:cBhvr>
                                        <p:cTn id="48" dur="1000"/>
                                        <p:tgtEl>
                                          <p:spTgt spid="388214"/>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388208"/>
                                        </p:tgtEl>
                                        <p:attrNameLst>
                                          <p:attrName>style.visibility</p:attrName>
                                        </p:attrNameLst>
                                      </p:cBhvr>
                                      <p:to>
                                        <p:strVal val="visible"/>
                                      </p:to>
                                    </p:set>
                                    <p:animEffect transition="in" filter="wipe(down)">
                                      <p:cBhvr>
                                        <p:cTn id="51" dur="1000"/>
                                        <p:tgtEl>
                                          <p:spTgt spid="38820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388188"/>
                                        </p:tgtEl>
                                        <p:attrNameLst>
                                          <p:attrName>style.visibility</p:attrName>
                                        </p:attrNameLst>
                                      </p:cBhvr>
                                      <p:to>
                                        <p:strVal val="visible"/>
                                      </p:to>
                                    </p:set>
                                    <p:animEffect transition="in" filter="wipe(down)">
                                      <p:cBhvr>
                                        <p:cTn id="56" dur="500"/>
                                        <p:tgtEl>
                                          <p:spTgt spid="388188"/>
                                        </p:tgtEl>
                                      </p:cBhvr>
                                    </p:animEffect>
                                  </p:childTnLst>
                                </p:cTn>
                              </p:par>
                              <p:par>
                                <p:cTn id="57" presetID="22" presetClass="entr" presetSubtype="4" fill="hold" nodeType="withEffect">
                                  <p:stCondLst>
                                    <p:cond delay="0"/>
                                  </p:stCondLst>
                                  <p:childTnLst>
                                    <p:set>
                                      <p:cBhvr>
                                        <p:cTn id="58" dur="1" fill="hold">
                                          <p:stCondLst>
                                            <p:cond delay="0"/>
                                          </p:stCondLst>
                                        </p:cTn>
                                        <p:tgtEl>
                                          <p:spTgt spid="388189"/>
                                        </p:tgtEl>
                                        <p:attrNameLst>
                                          <p:attrName>style.visibility</p:attrName>
                                        </p:attrNameLst>
                                      </p:cBhvr>
                                      <p:to>
                                        <p:strVal val="visible"/>
                                      </p:to>
                                    </p:set>
                                    <p:animEffect transition="in" filter="wipe(down)">
                                      <p:cBhvr>
                                        <p:cTn id="59" dur="500"/>
                                        <p:tgtEl>
                                          <p:spTgt spid="388189"/>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388203"/>
                                        </p:tgtEl>
                                        <p:attrNameLst>
                                          <p:attrName>style.visibility</p:attrName>
                                        </p:attrNameLst>
                                      </p:cBhvr>
                                      <p:to>
                                        <p:strVal val="visible"/>
                                      </p:to>
                                    </p:set>
                                    <p:animEffect transition="in" filter="wipe(down)">
                                      <p:cBhvr>
                                        <p:cTn id="62" dur="500"/>
                                        <p:tgtEl>
                                          <p:spTgt spid="388203"/>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388209"/>
                                        </p:tgtEl>
                                        <p:attrNameLst>
                                          <p:attrName>style.visibility</p:attrName>
                                        </p:attrNameLst>
                                      </p:cBhvr>
                                      <p:to>
                                        <p:strVal val="visible"/>
                                      </p:to>
                                    </p:set>
                                    <p:animEffect transition="in" filter="wipe(down)">
                                      <p:cBhvr>
                                        <p:cTn id="65" dur="500"/>
                                        <p:tgtEl>
                                          <p:spTgt spid="388209"/>
                                        </p:tgtEl>
                                      </p:cBhvr>
                                    </p:animEffect>
                                  </p:childTnLst>
                                </p:cTn>
                              </p:par>
                              <p:par>
                                <p:cTn id="66" presetID="22" presetClass="entr" presetSubtype="4" fill="hold" nodeType="withEffect">
                                  <p:stCondLst>
                                    <p:cond delay="0"/>
                                  </p:stCondLst>
                                  <p:childTnLst>
                                    <p:set>
                                      <p:cBhvr>
                                        <p:cTn id="67" dur="1" fill="hold">
                                          <p:stCondLst>
                                            <p:cond delay="0"/>
                                          </p:stCondLst>
                                        </p:cTn>
                                        <p:tgtEl>
                                          <p:spTgt spid="388192"/>
                                        </p:tgtEl>
                                        <p:attrNameLst>
                                          <p:attrName>style.visibility</p:attrName>
                                        </p:attrNameLst>
                                      </p:cBhvr>
                                      <p:to>
                                        <p:strVal val="visible"/>
                                      </p:to>
                                    </p:set>
                                    <p:animEffect transition="in" filter="wipe(down)">
                                      <p:cBhvr>
                                        <p:cTn id="68" dur="500"/>
                                        <p:tgtEl>
                                          <p:spTgt spid="388192"/>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388207"/>
                                        </p:tgtEl>
                                        <p:attrNameLst>
                                          <p:attrName>style.visibility</p:attrName>
                                        </p:attrNameLst>
                                      </p:cBhvr>
                                      <p:to>
                                        <p:strVal val="visible"/>
                                      </p:to>
                                    </p:set>
                                    <p:animEffect transition="in" filter="wipe(down)">
                                      <p:cBhvr>
                                        <p:cTn id="71" dur="500"/>
                                        <p:tgtEl>
                                          <p:spTgt spid="388207"/>
                                        </p:tgtEl>
                                      </p:cBhvr>
                                    </p:animEffect>
                                  </p:childTnLst>
                                </p:cTn>
                              </p:par>
                              <p:par>
                                <p:cTn id="72" presetID="5" presetClass="entr" presetSubtype="10" fill="hold" grpId="0" nodeType="withEffect">
                                  <p:stCondLst>
                                    <p:cond delay="0"/>
                                  </p:stCondLst>
                                  <p:childTnLst>
                                    <p:set>
                                      <p:cBhvr>
                                        <p:cTn id="73" dur="1" fill="hold">
                                          <p:stCondLst>
                                            <p:cond delay="0"/>
                                          </p:stCondLst>
                                        </p:cTn>
                                        <p:tgtEl>
                                          <p:spTgt spid="388210"/>
                                        </p:tgtEl>
                                        <p:attrNameLst>
                                          <p:attrName>style.visibility</p:attrName>
                                        </p:attrNameLst>
                                      </p:cBhvr>
                                      <p:to>
                                        <p:strVal val="visible"/>
                                      </p:to>
                                    </p:set>
                                    <p:animEffect transition="in" filter="checkerboard(across)">
                                      <p:cBhvr>
                                        <p:cTn id="74" dur="500"/>
                                        <p:tgtEl>
                                          <p:spTgt spid="388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87" grpId="0" animBg="1"/>
      <p:bldP spid="388188" grpId="0" animBg="1"/>
      <p:bldP spid="388190" grpId="0"/>
      <p:bldP spid="388191" grpId="0" animBg="1"/>
      <p:bldP spid="388203" grpId="0"/>
      <p:bldP spid="388206" grpId="0"/>
      <p:bldP spid="388207" grpId="0"/>
      <p:bldP spid="388208" grpId="0"/>
      <p:bldP spid="388209" grpId="0"/>
      <p:bldP spid="3882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2"/>
          <p:cNvSpPr>
            <a:spLocks noGrp="1" noChangeArrowheads="1"/>
          </p:cNvSpPr>
          <p:nvPr>
            <p:ph type="title"/>
          </p:nvPr>
        </p:nvSpPr>
        <p:spPr>
          <a:xfrm>
            <a:off x="166255" y="228600"/>
            <a:ext cx="8823366" cy="758952"/>
          </a:xfrm>
        </p:spPr>
        <p:txBody>
          <a:bodyPr>
            <a:noAutofit/>
          </a:bodyPr>
          <a:lstStyle/>
          <a:p>
            <a:r>
              <a:rPr lang="fr-FR" altLang="zh-CN" sz="2600" b="1" dirty="0">
                <a:solidFill>
                  <a:srgbClr val="C00000"/>
                </a:solidFill>
                <a:ea typeface="SimSun" pitchFamily="2" charset="-122"/>
                <a:cs typeface="Times New Roman" charset="0"/>
              </a:rPr>
              <a:t>Impact de la modification des objets sur l'héritage des autorisations</a:t>
            </a:r>
            <a:r>
              <a:rPr lang="en-IE" altLang="zh-CN" sz="2600" b="1" dirty="0">
                <a:solidFill>
                  <a:srgbClr val="C00000"/>
                </a:solidFill>
                <a:ea typeface="SimSun" pitchFamily="2" charset="-122"/>
                <a:cs typeface="Times New Roman" charset="0"/>
              </a:rPr>
              <a:t> </a:t>
            </a:r>
            <a:endParaRPr lang="en-US" sz="2600" b="1" dirty="0">
              <a:solidFill>
                <a:srgbClr val="C00000"/>
              </a:solidFill>
              <a:ea typeface="SimSun" pitchFamily="2" charset="-122"/>
              <a:cs typeface="Times New Roman" charset="0"/>
            </a:endParaRPr>
          </a:p>
        </p:txBody>
      </p:sp>
      <p:sp>
        <p:nvSpPr>
          <p:cNvPr id="332803" name="Rectangle-3"/>
          <p:cNvSpPr>
            <a:spLocks noGrp="1" noChangeArrowheads="1"/>
          </p:cNvSpPr>
          <p:nvPr>
            <p:ph sz="quarter" idx="1"/>
          </p:nvPr>
        </p:nvSpPr>
        <p:spPr>
          <a:xfrm>
            <a:off x="154379" y="1527048"/>
            <a:ext cx="8823365" cy="4572000"/>
          </a:xfrm>
        </p:spPr>
        <p:txBody>
          <a:bodyPr/>
          <a:lstStyle/>
          <a:p>
            <a:pPr>
              <a:buClrTx/>
              <a:buFont typeface="Wingdings" pitchFamily="2" charset="2"/>
              <a:buChar char="q"/>
            </a:pPr>
            <a:r>
              <a:rPr lang="fr-FR" altLang="zh-CN" dirty="0" smtClean="0">
                <a:solidFill>
                  <a:srgbClr val="000000"/>
                </a:solidFill>
                <a:ea typeface="SimSun" pitchFamily="2" charset="-122"/>
                <a:cs typeface="Times New Roman" charset="0"/>
              </a:rPr>
              <a:t>Les </a:t>
            </a:r>
            <a:r>
              <a:rPr lang="fr-FR" altLang="zh-CN" dirty="0">
                <a:solidFill>
                  <a:srgbClr val="000000"/>
                </a:solidFill>
                <a:ea typeface="SimSun" pitchFamily="2" charset="-122"/>
                <a:cs typeface="Times New Roman" charset="0"/>
              </a:rPr>
              <a:t>objets déplacés héritent des autorisations </a:t>
            </a:r>
            <a:br>
              <a:rPr lang="fr-FR" altLang="zh-CN" dirty="0">
                <a:solidFill>
                  <a:srgbClr val="000000"/>
                </a:solidFill>
                <a:ea typeface="SimSun" pitchFamily="2" charset="-122"/>
                <a:cs typeface="Times New Roman" charset="0"/>
              </a:rPr>
            </a:br>
            <a:r>
              <a:rPr lang="fr-FR" altLang="zh-CN" dirty="0">
                <a:solidFill>
                  <a:srgbClr val="000000"/>
                </a:solidFill>
                <a:ea typeface="SimSun" pitchFamily="2" charset="-122"/>
                <a:cs typeface="Times New Roman" charset="0"/>
              </a:rPr>
              <a:t>de la nouvelle unité d'organisation parente</a:t>
            </a:r>
            <a:endParaRPr lang="en-US" dirty="0">
              <a:ea typeface="SimSun" pitchFamily="2" charset="-122"/>
              <a:cs typeface="Times New Roman" charset="0"/>
            </a:endParaRPr>
          </a:p>
          <a:p>
            <a:pPr>
              <a:buClrTx/>
              <a:buFont typeface="Wingdings" pitchFamily="2" charset="2"/>
              <a:buChar char="q"/>
            </a:pPr>
            <a:r>
              <a:rPr lang="fr-FR" altLang="zh-CN" dirty="0">
                <a:solidFill>
                  <a:srgbClr val="000000"/>
                </a:solidFill>
                <a:ea typeface="SimSun" pitchFamily="2" charset="-122"/>
                <a:cs typeface="Times New Roman" charset="0"/>
              </a:rPr>
              <a:t>Les objets déplacés n'héritent plus des autorisations </a:t>
            </a:r>
            <a:br>
              <a:rPr lang="fr-FR" altLang="zh-CN" dirty="0">
                <a:solidFill>
                  <a:srgbClr val="000000"/>
                </a:solidFill>
                <a:ea typeface="SimSun" pitchFamily="2" charset="-122"/>
                <a:cs typeface="Times New Roman" charset="0"/>
              </a:rPr>
            </a:br>
            <a:r>
              <a:rPr lang="fr-FR" altLang="zh-CN" dirty="0">
                <a:solidFill>
                  <a:srgbClr val="000000"/>
                </a:solidFill>
                <a:ea typeface="SimSun" pitchFamily="2" charset="-122"/>
                <a:cs typeface="Times New Roman" charset="0"/>
              </a:rPr>
              <a:t>de l'unité d'organisation parente précédente</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a:buClrTx/>
              <a:buFont typeface="Wingdings" pitchFamily="2" charset="2"/>
              <a:buChar char="q"/>
            </a:pPr>
            <a:r>
              <a:rPr lang="fr-FR" altLang="zh-CN" dirty="0">
                <a:solidFill>
                  <a:srgbClr val="000000"/>
                </a:solidFill>
                <a:ea typeface="SimSun" pitchFamily="2" charset="-122"/>
                <a:cs typeface="Times New Roman" charset="0"/>
              </a:rPr>
              <a:t>Blocage de l'héritage des autorisations</a:t>
            </a:r>
            <a:r>
              <a:rPr lang="en-IE" altLang="zh-CN" dirty="0">
                <a:solidFill>
                  <a:srgbClr val="000000"/>
                </a:solidFill>
                <a:ea typeface="SimSun" pitchFamily="2" charset="-122"/>
                <a:cs typeface="Times New Roman" charset="0"/>
              </a:rPr>
              <a:t> </a:t>
            </a:r>
            <a:r>
              <a:rPr lang="en-IE" altLang="zh-CN" dirty="0" smtClean="0">
                <a:solidFill>
                  <a:srgbClr val="000000"/>
                </a:solidFill>
                <a:ea typeface="SimSun" pitchFamily="2" charset="-122"/>
                <a:cs typeface="Times New Roman" charset="0"/>
              </a:rPr>
              <a:t> </a:t>
            </a:r>
            <a:r>
              <a:rPr lang="en-IE" altLang="zh-CN" dirty="0" err="1" smtClean="0">
                <a:solidFill>
                  <a:srgbClr val="000000"/>
                </a:solidFill>
                <a:ea typeface="SimSun" pitchFamily="2" charset="-122"/>
                <a:cs typeface="Times New Roman" charset="0"/>
              </a:rPr>
              <a:t>est</a:t>
            </a:r>
            <a:r>
              <a:rPr lang="en-IE" altLang="zh-CN" dirty="0" smtClean="0">
                <a:solidFill>
                  <a:srgbClr val="000000"/>
                </a:solidFill>
                <a:ea typeface="SimSun" pitchFamily="2" charset="-122"/>
                <a:cs typeface="Times New Roman" charset="0"/>
              </a:rPr>
              <a:t> possible</a:t>
            </a:r>
            <a:endParaRPr lang="en-US" dirty="0">
              <a:solidFill>
                <a:srgbClr val="000000"/>
              </a:solidFill>
              <a:ea typeface="SimSun" pitchFamily="2" charset="-122"/>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2803">
                                            <p:txEl>
                                              <p:pRg st="0" end="0"/>
                                            </p:txEl>
                                          </p:spTgt>
                                        </p:tgtEl>
                                        <p:attrNameLst>
                                          <p:attrName>style.visibility</p:attrName>
                                        </p:attrNameLst>
                                      </p:cBhvr>
                                      <p:to>
                                        <p:strVal val="visible"/>
                                      </p:to>
                                    </p:set>
                                    <p:animEffect transition="in" filter="wipe(down)">
                                      <p:cBhvr>
                                        <p:cTn id="7" dur="1000"/>
                                        <p:tgtEl>
                                          <p:spTgt spid="3328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32803">
                                            <p:txEl>
                                              <p:pRg st="1" end="1"/>
                                            </p:txEl>
                                          </p:spTgt>
                                        </p:tgtEl>
                                        <p:attrNameLst>
                                          <p:attrName>style.visibility</p:attrName>
                                        </p:attrNameLst>
                                      </p:cBhvr>
                                      <p:to>
                                        <p:strVal val="visible"/>
                                      </p:to>
                                    </p:set>
                                    <p:animEffect transition="in" filter="wipe(down)">
                                      <p:cBhvr>
                                        <p:cTn id="12" dur="1000"/>
                                        <p:tgtEl>
                                          <p:spTgt spid="3328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32803">
                                            <p:txEl>
                                              <p:pRg st="2" end="2"/>
                                            </p:txEl>
                                          </p:spTgt>
                                        </p:tgtEl>
                                        <p:attrNameLst>
                                          <p:attrName>style.visibility</p:attrName>
                                        </p:attrNameLst>
                                      </p:cBhvr>
                                      <p:to>
                                        <p:strVal val="visible"/>
                                      </p:to>
                                    </p:set>
                                    <p:animEffect transition="in" filter="wipe(down)">
                                      <p:cBhvr>
                                        <p:cTn id="17" dur="1000"/>
                                        <p:tgtEl>
                                          <p:spTgt spid="3328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2"/>
          <p:cNvSpPr>
            <a:spLocks noGrp="1" noChangeArrowheads="1"/>
          </p:cNvSpPr>
          <p:nvPr>
            <p:ph type="title"/>
          </p:nvPr>
        </p:nvSpPr>
        <p:spPr>
          <a:xfrm>
            <a:off x="190005" y="228600"/>
            <a:ext cx="8787740" cy="758952"/>
          </a:xfrm>
        </p:spPr>
        <p:txBody>
          <a:bodyPr>
            <a:normAutofit fontScale="90000"/>
          </a:bodyPr>
          <a:lstStyle/>
          <a:p>
            <a:r>
              <a:rPr lang="fr-FR" altLang="zh-CN" sz="2600" b="1" dirty="0">
                <a:solidFill>
                  <a:srgbClr val="C00000"/>
                </a:solidFill>
                <a:ea typeface="SimSun" pitchFamily="2" charset="-122"/>
                <a:cs typeface="Times New Roman" charset="0"/>
              </a:rPr>
              <a:t>Description des autorisations effectives sur les objets Active Directory</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402435" name="Rectangle-3"/>
          <p:cNvSpPr>
            <a:spLocks noGrp="1" noChangeArrowheads="1"/>
          </p:cNvSpPr>
          <p:nvPr>
            <p:ph sz="quarter" idx="1"/>
          </p:nvPr>
        </p:nvSpPr>
        <p:spPr>
          <a:xfrm>
            <a:off x="301751" y="2120815"/>
            <a:ext cx="8503920" cy="2534314"/>
          </a:xfrm>
        </p:spPr>
        <p:txBody>
          <a:bodyPr/>
          <a:lstStyle/>
          <a:p>
            <a:pPr>
              <a:buClrTx/>
              <a:buFont typeface="Wingdings" pitchFamily="2" charset="2"/>
              <a:buChar char="q"/>
            </a:pPr>
            <a:r>
              <a:rPr lang="fr-FR" altLang="zh-CN" dirty="0">
                <a:solidFill>
                  <a:srgbClr val="000000"/>
                </a:solidFill>
                <a:ea typeface="SimSun" pitchFamily="2" charset="-122"/>
                <a:cs typeface="Times New Roman" charset="0"/>
              </a:rPr>
              <a:t>Les autorisations sont cumulables</a:t>
            </a:r>
            <a:endParaRPr lang="en-US" dirty="0">
              <a:ea typeface="SimSun" pitchFamily="2" charset="-122"/>
              <a:cs typeface="Times New Roman" charset="0"/>
            </a:endParaRPr>
          </a:p>
          <a:p>
            <a:pPr>
              <a:buClrTx/>
              <a:buFont typeface="Wingdings" pitchFamily="2" charset="2"/>
              <a:buChar char="q"/>
            </a:pPr>
            <a:r>
              <a:rPr lang="fr-FR" altLang="zh-CN" dirty="0">
                <a:solidFill>
                  <a:srgbClr val="000000"/>
                </a:solidFill>
                <a:ea typeface="SimSun" pitchFamily="2" charset="-122"/>
                <a:cs typeface="Times New Roman" charset="0"/>
              </a:rPr>
              <a:t>Les refus d'autorisations remplacent toutes les autres autorisations</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a:buClrTx/>
              <a:buFont typeface="Wingdings" pitchFamily="2" charset="2"/>
              <a:buChar char="q"/>
            </a:pPr>
            <a:r>
              <a:rPr lang="fr-FR" altLang="zh-CN" dirty="0">
                <a:solidFill>
                  <a:srgbClr val="000000"/>
                </a:solidFill>
                <a:ea typeface="SimSun" pitchFamily="2" charset="-122"/>
                <a:cs typeface="Times New Roman" charset="0"/>
              </a:rPr>
              <a:t>Les propriétaires d'objets peuvent toujours modifier les autorisations</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2435">
                                            <p:txEl>
                                              <p:pRg st="0" end="0"/>
                                            </p:txEl>
                                          </p:spTgt>
                                        </p:tgtEl>
                                        <p:attrNameLst>
                                          <p:attrName>style.visibility</p:attrName>
                                        </p:attrNameLst>
                                      </p:cBhvr>
                                      <p:to>
                                        <p:strVal val="visible"/>
                                      </p:to>
                                    </p:set>
                                    <p:animEffect transition="in" filter="wipe(down)">
                                      <p:cBhvr>
                                        <p:cTn id="7" dur="1000"/>
                                        <p:tgtEl>
                                          <p:spTgt spid="402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02435">
                                            <p:txEl>
                                              <p:pRg st="1" end="1"/>
                                            </p:txEl>
                                          </p:spTgt>
                                        </p:tgtEl>
                                        <p:attrNameLst>
                                          <p:attrName>style.visibility</p:attrName>
                                        </p:attrNameLst>
                                      </p:cBhvr>
                                      <p:to>
                                        <p:strVal val="visible"/>
                                      </p:to>
                                    </p:set>
                                    <p:animEffect transition="in" filter="wipe(down)">
                                      <p:cBhvr>
                                        <p:cTn id="12" dur="1000"/>
                                        <p:tgtEl>
                                          <p:spTgt spid="402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02435">
                                            <p:txEl>
                                              <p:pRg st="2" end="2"/>
                                            </p:txEl>
                                          </p:spTgt>
                                        </p:tgtEl>
                                        <p:attrNameLst>
                                          <p:attrName>style.visibility</p:attrName>
                                        </p:attrNameLst>
                                      </p:cBhvr>
                                      <p:to>
                                        <p:strVal val="visible"/>
                                      </p:to>
                                    </p:set>
                                    <p:animEffect transition="in" filter="wipe(down)">
                                      <p:cBhvr>
                                        <p:cTn id="17" dur="1000"/>
                                        <p:tgtEl>
                                          <p:spTgt spid="402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2"/>
          <p:cNvSpPr>
            <a:spLocks noGrp="1" noChangeArrowheads="1"/>
          </p:cNvSpPr>
          <p:nvPr>
            <p:ph type="title"/>
          </p:nvPr>
        </p:nvSpPr>
        <p:spPr>
          <a:xfrm>
            <a:off x="190005" y="311725"/>
            <a:ext cx="8775865" cy="758952"/>
          </a:xfrm>
        </p:spPr>
        <p:txBody>
          <a:bodyPr>
            <a:noAutofit/>
          </a:bodyPr>
          <a:lstStyle/>
          <a:p>
            <a:r>
              <a:rPr lang="fr-FR" altLang="zh-CN" sz="3000" b="1" dirty="0" smtClean="0">
                <a:solidFill>
                  <a:srgbClr val="000000"/>
                </a:solidFill>
                <a:ea typeface="SimSun" pitchFamily="2" charset="-122"/>
                <a:cs typeface="Times New Roman" charset="0"/>
              </a:rPr>
              <a:t>3. Délégation </a:t>
            </a:r>
            <a:r>
              <a:rPr lang="fr-FR" altLang="zh-CN" sz="3000" b="1" dirty="0">
                <a:solidFill>
                  <a:srgbClr val="000000"/>
                </a:solidFill>
                <a:ea typeface="SimSun" pitchFamily="2" charset="-122"/>
                <a:cs typeface="Times New Roman" charset="0"/>
              </a:rPr>
              <a:t>du contrôle des </a:t>
            </a:r>
            <a:r>
              <a:rPr lang="fr-FR" altLang="zh-CN" sz="3000" b="1" dirty="0" smtClean="0">
                <a:solidFill>
                  <a:srgbClr val="000000"/>
                </a:solidFill>
                <a:ea typeface="SimSun" pitchFamily="2" charset="-122"/>
                <a:cs typeface="Times New Roman" charset="0"/>
              </a:rPr>
              <a:t>OU</a:t>
            </a:r>
            <a:r>
              <a:rPr lang="en-IE" altLang="zh-CN" sz="3000" b="1" dirty="0" smtClean="0">
                <a:solidFill>
                  <a:srgbClr val="000000"/>
                </a:solidFill>
                <a:ea typeface="SimSun" pitchFamily="2" charset="-122"/>
              </a:rPr>
              <a:t> </a:t>
            </a:r>
            <a:endParaRPr lang="en-US" sz="3000" b="1" dirty="0">
              <a:solidFill>
                <a:srgbClr val="000000"/>
              </a:solidFill>
            </a:endParaRPr>
          </a:p>
        </p:txBody>
      </p:sp>
      <p:sp>
        <p:nvSpPr>
          <p:cNvPr id="327683" name="Rectangle-3"/>
          <p:cNvSpPr>
            <a:spLocks noGrp="1" noChangeArrowheads="1"/>
          </p:cNvSpPr>
          <p:nvPr>
            <p:ph sz="quarter" idx="1"/>
          </p:nvPr>
        </p:nvSpPr>
        <p:spPr>
          <a:xfrm>
            <a:off x="230499" y="2429573"/>
            <a:ext cx="8503920" cy="1655539"/>
          </a:xfrm>
        </p:spPr>
        <p:txBody>
          <a:bodyPr/>
          <a:lstStyle/>
          <a:p>
            <a:pPr>
              <a:buClrTx/>
              <a:buFont typeface="Wingdings" pitchFamily="2" charset="2"/>
              <a:buChar char="q"/>
            </a:pPr>
            <a:r>
              <a:rPr lang="fr-FR" altLang="zh-CN" dirty="0">
                <a:solidFill>
                  <a:srgbClr val="000000"/>
                </a:solidFill>
                <a:ea typeface="SimSun" pitchFamily="2" charset="-122"/>
                <a:cs typeface="Times New Roman" charset="0"/>
              </a:rPr>
              <a:t>Description de la délégation du contrôle d'une unité d'organisation </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a:buClrTx/>
              <a:buFont typeface="Wingdings" pitchFamily="2" charset="2"/>
              <a:buChar char="q"/>
            </a:pPr>
            <a:r>
              <a:rPr lang="fr-FR" altLang="zh-CN" dirty="0">
                <a:solidFill>
                  <a:srgbClr val="000000"/>
                </a:solidFill>
                <a:ea typeface="SimSun" pitchFamily="2" charset="-122"/>
                <a:cs typeface="Times New Roman" charset="0"/>
              </a:rPr>
              <a:t>Assistant Délégation de contrôle</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2"/>
          <p:cNvSpPr>
            <a:spLocks noGrp="1" noChangeArrowheads="1"/>
          </p:cNvSpPr>
          <p:nvPr>
            <p:ph type="title"/>
          </p:nvPr>
        </p:nvSpPr>
        <p:spPr>
          <a:xfrm>
            <a:off x="149431" y="267794"/>
            <a:ext cx="8828313" cy="684212"/>
          </a:xfrm>
        </p:spPr>
        <p:txBody>
          <a:bodyPr>
            <a:noAutofit/>
          </a:bodyPr>
          <a:lstStyle/>
          <a:p>
            <a:r>
              <a:rPr lang="fr-FR" altLang="zh-CN" sz="2600" b="1" dirty="0">
                <a:solidFill>
                  <a:srgbClr val="C00000"/>
                </a:solidFill>
                <a:ea typeface="SimSun" pitchFamily="2" charset="-122"/>
                <a:cs typeface="Times New Roman" charset="0"/>
              </a:rPr>
              <a:t>Description de la délégation du contrôle d'une unité d'organisation </a:t>
            </a:r>
            <a:r>
              <a:rPr lang="en-IE" altLang="zh-CN" sz="2600" b="1" dirty="0">
                <a:solidFill>
                  <a:srgbClr val="C00000"/>
                </a:solidFill>
                <a:ea typeface="SimSun" pitchFamily="2" charset="-122"/>
                <a:cs typeface="Times New Roman" charset="0"/>
              </a:rPr>
              <a:t> </a:t>
            </a:r>
            <a:endParaRPr lang="en-US" sz="2600" b="1" dirty="0">
              <a:solidFill>
                <a:srgbClr val="C00000"/>
              </a:solidFill>
              <a:ea typeface="SimSun" pitchFamily="2" charset="-122"/>
              <a:cs typeface="Times New Roman" charset="0"/>
            </a:endParaRPr>
          </a:p>
        </p:txBody>
      </p:sp>
      <p:grpSp>
        <p:nvGrpSpPr>
          <p:cNvPr id="334050" name="Group 226"/>
          <p:cNvGrpSpPr>
            <a:grpSpLocks/>
          </p:cNvGrpSpPr>
          <p:nvPr/>
        </p:nvGrpSpPr>
        <p:grpSpPr bwMode="auto">
          <a:xfrm>
            <a:off x="4852284" y="2173288"/>
            <a:ext cx="4057158" cy="3998912"/>
            <a:chOff x="2832" y="1434"/>
            <a:chExt cx="2540" cy="2519"/>
          </a:xfrm>
        </p:grpSpPr>
        <p:pic>
          <p:nvPicPr>
            <p:cNvPr id="334051" name="Picture-227" descr="User_UserHalfA01"/>
            <p:cNvPicPr>
              <a:picLocks noChangeAspect="1" noChangeArrowheads="1"/>
            </p:cNvPicPr>
            <p:nvPr/>
          </p:nvPicPr>
          <p:blipFill>
            <a:blip r:embed="rId3" cstate="print"/>
            <a:srcRect/>
            <a:stretch>
              <a:fillRect/>
            </a:stretch>
          </p:blipFill>
          <p:spPr bwMode="auto">
            <a:xfrm>
              <a:off x="2913" y="3137"/>
              <a:ext cx="392" cy="618"/>
            </a:xfrm>
            <a:prstGeom prst="rect">
              <a:avLst/>
            </a:prstGeom>
            <a:noFill/>
          </p:spPr>
        </p:pic>
        <p:pic>
          <p:nvPicPr>
            <p:cNvPr id="334052" name="Picture-228" descr="User_UserHalfB01"/>
            <p:cNvPicPr>
              <a:picLocks noChangeAspect="1" noChangeArrowheads="1"/>
            </p:cNvPicPr>
            <p:nvPr/>
          </p:nvPicPr>
          <p:blipFill>
            <a:blip r:embed="rId4" cstate="print"/>
            <a:srcRect/>
            <a:stretch>
              <a:fillRect/>
            </a:stretch>
          </p:blipFill>
          <p:spPr bwMode="auto">
            <a:xfrm>
              <a:off x="4679" y="2233"/>
              <a:ext cx="392" cy="618"/>
            </a:xfrm>
            <a:prstGeom prst="rect">
              <a:avLst/>
            </a:prstGeom>
            <a:noFill/>
          </p:spPr>
        </p:pic>
        <p:pic>
          <p:nvPicPr>
            <p:cNvPr id="334053" name="Picture-229" descr="User_UserHalfD01"/>
            <p:cNvPicPr>
              <a:picLocks noChangeAspect="1" noChangeArrowheads="1"/>
            </p:cNvPicPr>
            <p:nvPr/>
          </p:nvPicPr>
          <p:blipFill>
            <a:blip r:embed="rId5" cstate="print"/>
            <a:srcRect/>
            <a:stretch>
              <a:fillRect/>
            </a:stretch>
          </p:blipFill>
          <p:spPr bwMode="auto">
            <a:xfrm>
              <a:off x="4944" y="3137"/>
              <a:ext cx="392" cy="618"/>
            </a:xfrm>
            <a:prstGeom prst="rect">
              <a:avLst/>
            </a:prstGeom>
            <a:noFill/>
          </p:spPr>
        </p:pic>
        <p:sp>
          <p:nvSpPr>
            <p:cNvPr id="334054" name="Line-230"/>
            <p:cNvSpPr>
              <a:spLocks noChangeShapeType="1"/>
            </p:cNvSpPr>
            <p:nvPr/>
          </p:nvSpPr>
          <p:spPr bwMode="auto">
            <a:xfrm>
              <a:off x="3170" y="3435"/>
              <a:ext cx="728" cy="1"/>
            </a:xfrm>
            <a:prstGeom prst="line">
              <a:avLst/>
            </a:prstGeom>
            <a:noFill/>
            <a:ln w="63500" cap="rnd">
              <a:solidFill>
                <a:srgbClr val="CC0000"/>
              </a:solidFill>
              <a:prstDash val="sysDot"/>
              <a:round/>
              <a:headEnd/>
              <a:tailEnd/>
            </a:ln>
            <a:effectLst/>
          </p:spPr>
          <p:txBody>
            <a:bodyPr anchor="ctr"/>
            <a:lstStyle/>
            <a:p>
              <a:endParaRPr lang="fr-FR"/>
            </a:p>
          </p:txBody>
        </p:sp>
        <p:sp>
          <p:nvSpPr>
            <p:cNvPr id="334055" name="Line-231"/>
            <p:cNvSpPr>
              <a:spLocks noChangeShapeType="1"/>
            </p:cNvSpPr>
            <p:nvPr/>
          </p:nvSpPr>
          <p:spPr bwMode="auto">
            <a:xfrm flipV="1">
              <a:off x="4239" y="2648"/>
              <a:ext cx="600" cy="247"/>
            </a:xfrm>
            <a:prstGeom prst="line">
              <a:avLst/>
            </a:prstGeom>
            <a:noFill/>
            <a:ln w="63500" cap="rnd">
              <a:solidFill>
                <a:srgbClr val="CC0000"/>
              </a:solidFill>
              <a:prstDash val="sysDot"/>
              <a:round/>
              <a:headEnd/>
              <a:tailEnd/>
            </a:ln>
            <a:effectLst/>
          </p:spPr>
          <p:txBody>
            <a:bodyPr anchor="ctr"/>
            <a:lstStyle/>
            <a:p>
              <a:endParaRPr lang="fr-FR"/>
            </a:p>
          </p:txBody>
        </p:sp>
        <p:pic>
          <p:nvPicPr>
            <p:cNvPr id="334056" name="Picture-232" descr="2Domain01"/>
            <p:cNvPicPr>
              <a:picLocks noChangeAspect="1" noChangeArrowheads="1"/>
            </p:cNvPicPr>
            <p:nvPr/>
          </p:nvPicPr>
          <p:blipFill>
            <a:blip r:embed="rId6"/>
            <a:srcRect/>
            <a:stretch>
              <a:fillRect/>
            </a:stretch>
          </p:blipFill>
          <p:spPr bwMode="auto">
            <a:xfrm>
              <a:off x="3523" y="2533"/>
              <a:ext cx="1316" cy="1161"/>
            </a:xfrm>
            <a:prstGeom prst="rect">
              <a:avLst/>
            </a:prstGeom>
            <a:noFill/>
          </p:spPr>
        </p:pic>
        <p:sp>
          <p:nvSpPr>
            <p:cNvPr id="334057" name="Text-Box-233"/>
            <p:cNvSpPr txBox="1">
              <a:spLocks noChangeArrowheads="1"/>
            </p:cNvSpPr>
            <p:nvPr/>
          </p:nvSpPr>
          <p:spPr bwMode="auto">
            <a:xfrm>
              <a:off x="3856" y="3683"/>
              <a:ext cx="648" cy="231"/>
            </a:xfrm>
            <a:prstGeom prst="rect">
              <a:avLst/>
            </a:prstGeom>
            <a:noFill/>
            <a:ln w="9525" algn="ctr">
              <a:noFill/>
              <a:miter lim="800000"/>
              <a:headEnd/>
              <a:tailEnd/>
            </a:ln>
            <a:effectLst/>
          </p:spPr>
          <p:txBody>
            <a:bodyPr wrap="none">
              <a:spAutoFit/>
            </a:bodyPr>
            <a:lstStyle/>
            <a:p>
              <a:r>
                <a:rPr lang="fr-FR" altLang="zh-CN">
                  <a:solidFill>
                    <a:srgbClr val="000000"/>
                  </a:solidFill>
                  <a:ea typeface="SimSun" pitchFamily="2" charset="-122"/>
                  <a:cs typeface="Times New Roman" charset="0"/>
                </a:rPr>
                <a:t>Domaine</a:t>
              </a:r>
              <a:r>
                <a:rPr lang="en-IE" altLang="zh-CN">
                  <a:solidFill>
                    <a:srgbClr val="000000"/>
                  </a:solidFill>
                  <a:ea typeface="SimSun" pitchFamily="2" charset="-122"/>
                  <a:cs typeface="Times New Roman" charset="0"/>
                </a:rPr>
                <a:t> </a:t>
              </a:r>
              <a:endParaRPr lang="en-US">
                <a:solidFill>
                  <a:srgbClr val="000000"/>
                </a:solidFill>
                <a:ea typeface="SimSun" pitchFamily="2" charset="-122"/>
                <a:cs typeface="Times New Roman" charset="0"/>
              </a:endParaRPr>
            </a:p>
          </p:txBody>
        </p:sp>
        <p:grpSp>
          <p:nvGrpSpPr>
            <p:cNvPr id="334058" name="Group 234"/>
            <p:cNvGrpSpPr>
              <a:grpSpLocks/>
            </p:cNvGrpSpPr>
            <p:nvPr/>
          </p:nvGrpSpPr>
          <p:grpSpPr bwMode="auto">
            <a:xfrm>
              <a:off x="3978" y="2742"/>
              <a:ext cx="392" cy="381"/>
              <a:chOff x="689" y="763"/>
              <a:chExt cx="392" cy="381"/>
            </a:xfrm>
          </p:grpSpPr>
          <p:pic>
            <p:nvPicPr>
              <p:cNvPr id="334059" name="Picture-235" descr="2Ou01"/>
              <p:cNvPicPr>
                <a:picLocks noChangeAspect="1" noChangeArrowheads="1"/>
              </p:cNvPicPr>
              <p:nvPr/>
            </p:nvPicPr>
            <p:blipFill>
              <a:blip r:embed="rId7" cstate="print"/>
              <a:srcRect/>
              <a:stretch>
                <a:fillRect/>
              </a:stretch>
            </p:blipFill>
            <p:spPr bwMode="auto">
              <a:xfrm>
                <a:off x="695" y="763"/>
                <a:ext cx="381" cy="381"/>
              </a:xfrm>
              <a:prstGeom prst="rect">
                <a:avLst/>
              </a:prstGeom>
              <a:noFill/>
            </p:spPr>
          </p:pic>
          <p:sp>
            <p:nvSpPr>
              <p:cNvPr id="334060" name="Text-Box-236"/>
              <p:cNvSpPr txBox="1">
                <a:spLocks noChangeArrowheads="1"/>
              </p:cNvSpPr>
              <p:nvPr/>
            </p:nvSpPr>
            <p:spPr bwMode="auto">
              <a:xfrm>
                <a:off x="689" y="837"/>
                <a:ext cx="392" cy="231"/>
              </a:xfrm>
              <a:prstGeom prst="rect">
                <a:avLst/>
              </a:prstGeom>
              <a:noFill/>
              <a:ln w="9525" algn="ctr">
                <a:noFill/>
                <a:miter lim="800000"/>
                <a:headEnd/>
                <a:tailEnd/>
              </a:ln>
              <a:effectLst/>
            </p:spPr>
            <p:txBody>
              <a:bodyPr wrap="none">
                <a:spAutoFit/>
              </a:bodyPr>
              <a:lstStyle/>
              <a:p>
                <a:r>
                  <a:rPr lang="fr-FR" altLang="zh-CN">
                    <a:solidFill>
                      <a:srgbClr val="000000"/>
                    </a:solidFill>
                    <a:ea typeface="SimSun" pitchFamily="2" charset="-122"/>
                    <a:cs typeface="Times New Roman" charset="0"/>
                  </a:rPr>
                  <a:t>OU1</a:t>
                </a:r>
                <a:r>
                  <a:rPr lang="en-IE" altLang="zh-CN">
                    <a:solidFill>
                      <a:srgbClr val="000000"/>
                    </a:solidFill>
                    <a:ea typeface="SimSun" pitchFamily="2" charset="-122"/>
                    <a:cs typeface="Times New Roman" charset="0"/>
                  </a:rPr>
                  <a:t> </a:t>
                </a:r>
                <a:endParaRPr lang="en-US">
                  <a:solidFill>
                    <a:srgbClr val="000000"/>
                  </a:solidFill>
                  <a:ea typeface="SimSun" pitchFamily="2" charset="-122"/>
                  <a:cs typeface="Times New Roman" charset="0"/>
                </a:endParaRPr>
              </a:p>
            </p:txBody>
          </p:sp>
        </p:grpSp>
        <p:grpSp>
          <p:nvGrpSpPr>
            <p:cNvPr id="334061" name="Group 237"/>
            <p:cNvGrpSpPr>
              <a:grpSpLocks/>
            </p:cNvGrpSpPr>
            <p:nvPr/>
          </p:nvGrpSpPr>
          <p:grpSpPr bwMode="auto">
            <a:xfrm>
              <a:off x="3750" y="3225"/>
              <a:ext cx="392" cy="381"/>
              <a:chOff x="689" y="763"/>
              <a:chExt cx="392" cy="381"/>
            </a:xfrm>
          </p:grpSpPr>
          <p:pic>
            <p:nvPicPr>
              <p:cNvPr id="334062" name="Picture-238" descr="2Ou01"/>
              <p:cNvPicPr>
                <a:picLocks noChangeAspect="1" noChangeArrowheads="1"/>
              </p:cNvPicPr>
              <p:nvPr/>
            </p:nvPicPr>
            <p:blipFill>
              <a:blip r:embed="rId7" cstate="print"/>
              <a:srcRect/>
              <a:stretch>
                <a:fillRect/>
              </a:stretch>
            </p:blipFill>
            <p:spPr bwMode="auto">
              <a:xfrm>
                <a:off x="695" y="763"/>
                <a:ext cx="381" cy="381"/>
              </a:xfrm>
              <a:prstGeom prst="rect">
                <a:avLst/>
              </a:prstGeom>
              <a:noFill/>
            </p:spPr>
          </p:pic>
          <p:sp>
            <p:nvSpPr>
              <p:cNvPr id="334063" name="Text-Box-239"/>
              <p:cNvSpPr txBox="1">
                <a:spLocks noChangeArrowheads="1"/>
              </p:cNvSpPr>
              <p:nvPr/>
            </p:nvSpPr>
            <p:spPr bwMode="auto">
              <a:xfrm>
                <a:off x="689" y="837"/>
                <a:ext cx="392" cy="231"/>
              </a:xfrm>
              <a:prstGeom prst="rect">
                <a:avLst/>
              </a:prstGeom>
              <a:noFill/>
              <a:ln w="9525" algn="ctr">
                <a:noFill/>
                <a:miter lim="800000"/>
                <a:headEnd/>
                <a:tailEnd/>
              </a:ln>
              <a:effectLst/>
            </p:spPr>
            <p:txBody>
              <a:bodyPr wrap="none">
                <a:spAutoFit/>
              </a:bodyPr>
              <a:lstStyle/>
              <a:p>
                <a:r>
                  <a:rPr lang="fr-FR" altLang="zh-CN">
                    <a:solidFill>
                      <a:srgbClr val="000000"/>
                    </a:solidFill>
                    <a:ea typeface="SimSun" pitchFamily="2" charset="-122"/>
                    <a:cs typeface="Times New Roman" charset="0"/>
                  </a:rPr>
                  <a:t>OU2</a:t>
                </a:r>
                <a:r>
                  <a:rPr lang="en-IE" altLang="zh-CN">
                    <a:solidFill>
                      <a:srgbClr val="000000"/>
                    </a:solidFill>
                    <a:ea typeface="SimSun" pitchFamily="2" charset="-122"/>
                    <a:cs typeface="Times New Roman" charset="0"/>
                  </a:rPr>
                  <a:t> </a:t>
                </a:r>
                <a:endParaRPr lang="en-US">
                  <a:solidFill>
                    <a:srgbClr val="000000"/>
                  </a:solidFill>
                  <a:ea typeface="SimSun" pitchFamily="2" charset="-122"/>
                  <a:cs typeface="Times New Roman" charset="0"/>
                </a:endParaRPr>
              </a:p>
            </p:txBody>
          </p:sp>
        </p:grpSp>
        <p:pic>
          <p:nvPicPr>
            <p:cNvPr id="334064" name="Picture-240" descr="Security_Permissions01"/>
            <p:cNvPicPr>
              <a:picLocks noChangeAspect="1" noChangeArrowheads="1"/>
            </p:cNvPicPr>
            <p:nvPr/>
          </p:nvPicPr>
          <p:blipFill>
            <a:blip r:embed="rId8" cstate="print"/>
            <a:srcRect/>
            <a:stretch>
              <a:fillRect/>
            </a:stretch>
          </p:blipFill>
          <p:spPr bwMode="auto">
            <a:xfrm>
              <a:off x="3484" y="3214"/>
              <a:ext cx="340" cy="480"/>
            </a:xfrm>
            <a:prstGeom prst="rect">
              <a:avLst/>
            </a:prstGeom>
            <a:noFill/>
          </p:spPr>
        </p:pic>
        <p:pic>
          <p:nvPicPr>
            <p:cNvPr id="334065" name="Picture-241" descr="Security_Permissions01"/>
            <p:cNvPicPr>
              <a:picLocks noChangeAspect="1" noChangeArrowheads="1"/>
            </p:cNvPicPr>
            <p:nvPr/>
          </p:nvPicPr>
          <p:blipFill>
            <a:blip r:embed="rId8" cstate="print"/>
            <a:srcRect/>
            <a:stretch>
              <a:fillRect/>
            </a:stretch>
          </p:blipFill>
          <p:spPr bwMode="auto">
            <a:xfrm>
              <a:off x="4279" y="2700"/>
              <a:ext cx="340" cy="480"/>
            </a:xfrm>
            <a:prstGeom prst="rect">
              <a:avLst/>
            </a:prstGeom>
            <a:noFill/>
          </p:spPr>
        </p:pic>
        <p:sp>
          <p:nvSpPr>
            <p:cNvPr id="334066" name="AutoShape-242"/>
            <p:cNvSpPr>
              <a:spLocks noChangeArrowheads="1"/>
            </p:cNvSpPr>
            <p:nvPr/>
          </p:nvSpPr>
          <p:spPr bwMode="auto">
            <a:xfrm>
              <a:off x="2832" y="3781"/>
              <a:ext cx="476" cy="172"/>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altLang="zh-CN" sz="1600">
                  <a:solidFill>
                    <a:srgbClr val="000000"/>
                  </a:solidFill>
                  <a:ea typeface="SimSun" pitchFamily="2" charset="-122"/>
                  <a:cs typeface="Times New Roman" charset="0"/>
                </a:rPr>
                <a:t>Admin2</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sp>
          <p:nvSpPr>
            <p:cNvPr id="334067" name="AutoShape-243"/>
            <p:cNvSpPr>
              <a:spLocks noChangeArrowheads="1"/>
            </p:cNvSpPr>
            <p:nvPr/>
          </p:nvSpPr>
          <p:spPr bwMode="auto">
            <a:xfrm>
              <a:off x="4752" y="2857"/>
              <a:ext cx="476" cy="172"/>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altLang="zh-CN" sz="1600" dirty="0">
                  <a:solidFill>
                    <a:srgbClr val="000000"/>
                  </a:solidFill>
                  <a:ea typeface="SimSun" pitchFamily="2" charset="-122"/>
                  <a:cs typeface="Times New Roman" charset="0"/>
                </a:rPr>
                <a:t>Admin1</a:t>
              </a:r>
              <a:r>
                <a:rPr lang="en-IE" altLang="zh-CN" sz="1600" dirty="0">
                  <a:solidFill>
                    <a:srgbClr val="000000"/>
                  </a:solidFill>
                  <a:ea typeface="SimSun" pitchFamily="2" charset="-122"/>
                  <a:cs typeface="Times New Roman" charset="0"/>
                </a:rPr>
                <a:t> </a:t>
              </a:r>
              <a:endParaRPr lang="en-US" sz="1600" dirty="0">
                <a:solidFill>
                  <a:srgbClr val="000000"/>
                </a:solidFill>
                <a:ea typeface="SimSun" pitchFamily="2" charset="-122"/>
                <a:cs typeface="Times New Roman" charset="0"/>
              </a:endParaRPr>
            </a:p>
          </p:txBody>
        </p:sp>
        <p:sp>
          <p:nvSpPr>
            <p:cNvPr id="334068" name="AutoShape-244"/>
            <p:cNvSpPr>
              <a:spLocks noChangeArrowheads="1"/>
            </p:cNvSpPr>
            <p:nvPr/>
          </p:nvSpPr>
          <p:spPr bwMode="auto">
            <a:xfrm>
              <a:off x="4896" y="3781"/>
              <a:ext cx="476" cy="172"/>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altLang="zh-CN" sz="1600">
                  <a:solidFill>
                    <a:srgbClr val="000000"/>
                  </a:solidFill>
                  <a:ea typeface="SimSun" pitchFamily="2" charset="-122"/>
                  <a:cs typeface="Times New Roman" charset="0"/>
                </a:rPr>
                <a:t>Admin3</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sp>
          <p:nvSpPr>
            <p:cNvPr id="334069" name="Line-245"/>
            <p:cNvSpPr>
              <a:spLocks noChangeShapeType="1"/>
            </p:cNvSpPr>
            <p:nvPr/>
          </p:nvSpPr>
          <p:spPr bwMode="auto">
            <a:xfrm>
              <a:off x="4458" y="3469"/>
              <a:ext cx="643" cy="1"/>
            </a:xfrm>
            <a:prstGeom prst="line">
              <a:avLst/>
            </a:prstGeom>
            <a:noFill/>
            <a:ln w="63500" cap="rnd">
              <a:solidFill>
                <a:srgbClr val="CC0000"/>
              </a:solidFill>
              <a:prstDash val="sysDot"/>
              <a:round/>
              <a:headEnd/>
              <a:tailEnd/>
            </a:ln>
            <a:effectLst/>
          </p:spPr>
          <p:txBody>
            <a:bodyPr anchor="ctr"/>
            <a:lstStyle/>
            <a:p>
              <a:endParaRPr lang="fr-FR"/>
            </a:p>
          </p:txBody>
        </p:sp>
        <p:grpSp>
          <p:nvGrpSpPr>
            <p:cNvPr id="334070" name="Group 246"/>
            <p:cNvGrpSpPr>
              <a:grpSpLocks/>
            </p:cNvGrpSpPr>
            <p:nvPr/>
          </p:nvGrpSpPr>
          <p:grpSpPr bwMode="auto">
            <a:xfrm>
              <a:off x="4223" y="3225"/>
              <a:ext cx="392" cy="381"/>
              <a:chOff x="689" y="763"/>
              <a:chExt cx="392" cy="381"/>
            </a:xfrm>
          </p:grpSpPr>
          <p:pic>
            <p:nvPicPr>
              <p:cNvPr id="334071" name="Picture-247" descr="2Ou01"/>
              <p:cNvPicPr>
                <a:picLocks noChangeAspect="1" noChangeArrowheads="1"/>
              </p:cNvPicPr>
              <p:nvPr/>
            </p:nvPicPr>
            <p:blipFill>
              <a:blip r:embed="rId7" cstate="print"/>
              <a:srcRect/>
              <a:stretch>
                <a:fillRect/>
              </a:stretch>
            </p:blipFill>
            <p:spPr bwMode="auto">
              <a:xfrm>
                <a:off x="695" y="763"/>
                <a:ext cx="381" cy="381"/>
              </a:xfrm>
              <a:prstGeom prst="rect">
                <a:avLst/>
              </a:prstGeom>
              <a:noFill/>
            </p:spPr>
          </p:pic>
          <p:sp>
            <p:nvSpPr>
              <p:cNvPr id="334072" name="Text-Box-248"/>
              <p:cNvSpPr txBox="1">
                <a:spLocks noChangeArrowheads="1"/>
              </p:cNvSpPr>
              <p:nvPr/>
            </p:nvSpPr>
            <p:spPr bwMode="auto">
              <a:xfrm>
                <a:off x="689" y="837"/>
                <a:ext cx="392" cy="231"/>
              </a:xfrm>
              <a:prstGeom prst="rect">
                <a:avLst/>
              </a:prstGeom>
              <a:noFill/>
              <a:ln w="9525" algn="ctr">
                <a:noFill/>
                <a:miter lim="800000"/>
                <a:headEnd/>
                <a:tailEnd/>
              </a:ln>
              <a:effectLst/>
            </p:spPr>
            <p:txBody>
              <a:bodyPr wrap="none">
                <a:spAutoFit/>
              </a:bodyPr>
              <a:lstStyle/>
              <a:p>
                <a:r>
                  <a:rPr lang="fr-FR" altLang="zh-CN">
                    <a:solidFill>
                      <a:srgbClr val="000000"/>
                    </a:solidFill>
                    <a:ea typeface="SimSun" pitchFamily="2" charset="-122"/>
                    <a:cs typeface="Times New Roman" charset="0"/>
                  </a:rPr>
                  <a:t>OU3</a:t>
                </a:r>
                <a:r>
                  <a:rPr lang="en-IE" altLang="zh-CN">
                    <a:solidFill>
                      <a:srgbClr val="000000"/>
                    </a:solidFill>
                    <a:ea typeface="SimSun" pitchFamily="2" charset="-122"/>
                    <a:cs typeface="Times New Roman" charset="0"/>
                  </a:rPr>
                  <a:t> </a:t>
                </a:r>
                <a:endParaRPr lang="en-US">
                  <a:solidFill>
                    <a:srgbClr val="000000"/>
                  </a:solidFill>
                  <a:ea typeface="SimSun" pitchFamily="2" charset="-122"/>
                  <a:cs typeface="Times New Roman" charset="0"/>
                </a:endParaRPr>
              </a:p>
            </p:txBody>
          </p:sp>
        </p:grpSp>
        <p:pic>
          <p:nvPicPr>
            <p:cNvPr id="334073" name="Picture-249" descr="Security_Permissions01"/>
            <p:cNvPicPr>
              <a:picLocks noChangeAspect="1" noChangeArrowheads="1"/>
            </p:cNvPicPr>
            <p:nvPr/>
          </p:nvPicPr>
          <p:blipFill>
            <a:blip r:embed="rId8" cstate="print"/>
            <a:srcRect/>
            <a:stretch>
              <a:fillRect/>
            </a:stretch>
          </p:blipFill>
          <p:spPr bwMode="auto">
            <a:xfrm>
              <a:off x="4492" y="3214"/>
              <a:ext cx="340" cy="480"/>
            </a:xfrm>
            <a:prstGeom prst="rect">
              <a:avLst/>
            </a:prstGeom>
            <a:noFill/>
          </p:spPr>
        </p:pic>
        <p:sp>
          <p:nvSpPr>
            <p:cNvPr id="334074" name="AutoShape-250"/>
            <p:cNvSpPr>
              <a:spLocks noChangeArrowheads="1"/>
            </p:cNvSpPr>
            <p:nvPr/>
          </p:nvSpPr>
          <p:spPr bwMode="auto">
            <a:xfrm>
              <a:off x="4016" y="2020"/>
              <a:ext cx="306" cy="615"/>
            </a:xfrm>
            <a:prstGeom prst="downArrow">
              <a:avLst>
                <a:gd name="adj1" fmla="val 50000"/>
                <a:gd name="adj2" fmla="val 50245"/>
              </a:avLst>
            </a:prstGeom>
            <a:solidFill>
              <a:srgbClr val="FF0000">
                <a:alpha val="75000"/>
              </a:srgbClr>
            </a:solidFill>
            <a:ln w="9525" algn="ctr">
              <a:noFill/>
              <a:miter lim="800000"/>
              <a:headEnd/>
              <a:tailEnd/>
            </a:ln>
            <a:effectLst/>
          </p:spPr>
          <p:txBody>
            <a:bodyPr/>
            <a:lstStyle/>
            <a:p>
              <a:endParaRPr lang="fr-FR"/>
            </a:p>
          </p:txBody>
        </p:sp>
        <p:pic>
          <p:nvPicPr>
            <p:cNvPr id="334075" name="Picture-251" descr="UserWithDesktopComputer01"/>
            <p:cNvPicPr>
              <a:picLocks noChangeAspect="1" noChangeArrowheads="1"/>
            </p:cNvPicPr>
            <p:nvPr/>
          </p:nvPicPr>
          <p:blipFill>
            <a:blip r:embed="rId9" cstate="print"/>
            <a:srcRect/>
            <a:stretch>
              <a:fillRect/>
            </a:stretch>
          </p:blipFill>
          <p:spPr bwMode="auto">
            <a:xfrm>
              <a:off x="3840" y="1434"/>
              <a:ext cx="747" cy="868"/>
            </a:xfrm>
            <a:prstGeom prst="rect">
              <a:avLst/>
            </a:prstGeom>
            <a:noFill/>
          </p:spPr>
        </p:pic>
      </p:grpSp>
      <p:sp>
        <p:nvSpPr>
          <p:cNvPr id="32" name="Rectangle-224"/>
          <p:cNvSpPr>
            <a:spLocks noChangeArrowheads="1"/>
          </p:cNvSpPr>
          <p:nvPr/>
        </p:nvSpPr>
        <p:spPr bwMode="auto">
          <a:xfrm>
            <a:off x="166659" y="2292343"/>
            <a:ext cx="6222266" cy="3752850"/>
          </a:xfrm>
          <a:prstGeom prst="rect">
            <a:avLst/>
          </a:prstGeom>
          <a:noFill/>
          <a:ln w="9525" algn="ctr">
            <a:noFill/>
            <a:miter lim="800000"/>
            <a:headEnd/>
            <a:tailEnd/>
          </a:ln>
          <a:effectLst/>
        </p:spPr>
        <p:txBody>
          <a:bodyPr lIns="0" tIns="0" rIns="0" bIns="0"/>
          <a:lstStyle/>
          <a:p>
            <a:pPr marL="228600" indent="-228600" algn="l">
              <a:lnSpc>
                <a:spcPct val="90000"/>
              </a:lnSpc>
              <a:spcBef>
                <a:spcPct val="40000"/>
              </a:spcBef>
              <a:buClr>
                <a:srgbClr val="8DACD0"/>
              </a:buClr>
              <a:buSzPct val="70000"/>
            </a:pPr>
            <a:r>
              <a:rPr lang="fr-FR" altLang="zh-CN" sz="2400" dirty="0">
                <a:solidFill>
                  <a:srgbClr val="000000"/>
                </a:solidFill>
                <a:ea typeface="SimSun" pitchFamily="2" charset="-122"/>
                <a:cs typeface="Times New Roman" charset="0"/>
              </a:rPr>
              <a:t>L'administration déléguée :</a:t>
            </a:r>
            <a:r>
              <a:rPr lang="en-IE" altLang="zh-CN" sz="2400" dirty="0">
                <a:solidFill>
                  <a:srgbClr val="000000"/>
                </a:solidFill>
                <a:ea typeface="SimSun" pitchFamily="2" charset="-122"/>
                <a:cs typeface="Times New Roman" charset="0"/>
              </a:rPr>
              <a:t> </a:t>
            </a:r>
            <a:endParaRPr lang="en-US" sz="2400" dirty="0">
              <a:ea typeface="SimSun" pitchFamily="2" charset="-122"/>
              <a:cs typeface="Times New Roman" charset="0"/>
            </a:endParaRPr>
          </a:p>
          <a:p>
            <a:pPr marL="268288" lvl="1" indent="-174625" algn="l">
              <a:lnSpc>
                <a:spcPct val="85000"/>
              </a:lnSpc>
              <a:spcBef>
                <a:spcPct val="20000"/>
              </a:spcBef>
              <a:buClr>
                <a:srgbClr val="8DACD0"/>
              </a:buClr>
              <a:buFont typeface="Wingdings" pitchFamily="2" charset="2"/>
              <a:buChar char="q"/>
            </a:pPr>
            <a:r>
              <a:rPr lang="fr-FR" altLang="zh-CN" sz="2200" b="0" dirty="0" smtClean="0">
                <a:solidFill>
                  <a:srgbClr val="000000"/>
                </a:solidFill>
                <a:ea typeface="SimSun" pitchFamily="2" charset="-122"/>
                <a:cs typeface="Times New Roman" charset="0"/>
              </a:rPr>
              <a:t> Allège </a:t>
            </a:r>
            <a:r>
              <a:rPr lang="fr-FR" altLang="zh-CN" sz="2200" b="0" dirty="0">
                <a:solidFill>
                  <a:srgbClr val="000000"/>
                </a:solidFill>
                <a:ea typeface="SimSun" pitchFamily="2" charset="-122"/>
                <a:cs typeface="Times New Roman" charset="0"/>
              </a:rPr>
              <a:t>la charge globale d'administration d'un réseau par la répartition des tâches d'administration </a:t>
            </a:r>
            <a:r>
              <a:rPr lang="fr-FR" altLang="zh-CN" sz="2200" b="0" dirty="0" smtClean="0">
                <a:solidFill>
                  <a:srgbClr val="000000"/>
                </a:solidFill>
                <a:ea typeface="SimSun" pitchFamily="2" charset="-122"/>
                <a:cs typeface="Times New Roman" charset="0"/>
              </a:rPr>
              <a:t>courante</a:t>
            </a:r>
          </a:p>
          <a:p>
            <a:pPr marL="268288" lvl="1" indent="-174625" algn="l">
              <a:lnSpc>
                <a:spcPct val="85000"/>
              </a:lnSpc>
              <a:spcBef>
                <a:spcPct val="20000"/>
              </a:spcBef>
              <a:buClr>
                <a:srgbClr val="8DACD0"/>
              </a:buClr>
              <a:buFont typeface="Wingdings" pitchFamily="2" charset="2"/>
              <a:buChar char="q"/>
            </a:pPr>
            <a:r>
              <a:rPr lang="fr-FR" altLang="zh-CN" sz="2200" b="0" dirty="0">
                <a:solidFill>
                  <a:srgbClr val="000000"/>
                </a:solidFill>
                <a:ea typeface="SimSun" pitchFamily="2" charset="-122"/>
                <a:cs typeface="Times New Roman" charset="0"/>
              </a:rPr>
              <a:t> </a:t>
            </a:r>
            <a:r>
              <a:rPr lang="fr-FR" altLang="zh-CN" sz="2200" b="0" dirty="0" smtClean="0">
                <a:solidFill>
                  <a:srgbClr val="000000"/>
                </a:solidFill>
                <a:ea typeface="SimSun" pitchFamily="2" charset="-122"/>
                <a:cs typeface="Times New Roman" charset="0"/>
              </a:rPr>
              <a:t>A</a:t>
            </a:r>
            <a:r>
              <a:rPr lang="fr-FR" altLang="zh-CN" sz="2200" b="0" dirty="0" smtClean="0">
                <a:solidFill>
                  <a:srgbClr val="000000"/>
                </a:solidFill>
                <a:ea typeface="SimSun" pitchFamily="2" charset="-122"/>
              </a:rPr>
              <a:t>ccorde </a:t>
            </a:r>
            <a:r>
              <a:rPr lang="fr-FR" altLang="zh-CN" sz="2200" b="0" dirty="0">
                <a:solidFill>
                  <a:srgbClr val="000000"/>
                </a:solidFill>
                <a:ea typeface="SimSun" pitchFamily="2" charset="-122"/>
              </a:rPr>
              <a:t>aux utilisateurs ou groupes </a:t>
            </a:r>
            <a:r>
              <a:rPr lang="fr-FR" altLang="zh-CN" sz="2200" b="0" dirty="0" smtClean="0">
                <a:solidFill>
                  <a:srgbClr val="000000"/>
                </a:solidFill>
                <a:ea typeface="SimSun" pitchFamily="2" charset="-122"/>
              </a:rPr>
              <a:t>de </a:t>
            </a:r>
            <a:r>
              <a:rPr lang="fr-FR" altLang="zh-CN" sz="2200" b="0" dirty="0">
                <a:solidFill>
                  <a:srgbClr val="000000"/>
                </a:solidFill>
                <a:ea typeface="SimSun" pitchFamily="2" charset="-122"/>
              </a:rPr>
              <a:t>votre organisation un plus grand contrôle des ressources réseau </a:t>
            </a:r>
            <a:r>
              <a:rPr lang="fr-FR" altLang="zh-CN" sz="2200" b="0" dirty="0" smtClean="0">
                <a:solidFill>
                  <a:srgbClr val="000000"/>
                </a:solidFill>
                <a:ea typeface="SimSun" pitchFamily="2" charset="-122"/>
              </a:rPr>
              <a:t>locales</a:t>
            </a:r>
          </a:p>
          <a:p>
            <a:pPr marL="268288" lvl="1" indent="-174625" algn="l">
              <a:lnSpc>
                <a:spcPct val="85000"/>
              </a:lnSpc>
              <a:spcBef>
                <a:spcPct val="20000"/>
              </a:spcBef>
              <a:buClr>
                <a:srgbClr val="8DACD0"/>
              </a:buClr>
              <a:buFont typeface="Wingdings" pitchFamily="2" charset="2"/>
              <a:buChar char="q"/>
            </a:pPr>
            <a:r>
              <a:rPr lang="fr-FR" altLang="zh-CN" sz="2200" b="0" dirty="0">
                <a:solidFill>
                  <a:srgbClr val="000000"/>
                </a:solidFill>
                <a:ea typeface="SimSun" pitchFamily="2" charset="-122"/>
              </a:rPr>
              <a:t> </a:t>
            </a:r>
            <a:r>
              <a:rPr lang="fr-FR" altLang="zh-CN" sz="2200" b="0" dirty="0" smtClean="0">
                <a:solidFill>
                  <a:srgbClr val="000000"/>
                </a:solidFill>
                <a:ea typeface="SimSun" pitchFamily="2" charset="-122"/>
              </a:rPr>
              <a:t>Réduit </a:t>
            </a:r>
            <a:r>
              <a:rPr lang="fr-FR" altLang="zh-CN" sz="2200" b="0" dirty="0">
                <a:solidFill>
                  <a:srgbClr val="000000"/>
                </a:solidFill>
                <a:ea typeface="SimSun" pitchFamily="2" charset="-122"/>
              </a:rPr>
              <a:t>la nécessité de plusieurs </a:t>
            </a:r>
            <a:r>
              <a:rPr lang="fr-FR" altLang="zh-CN" sz="2200" b="0" dirty="0" smtClean="0">
                <a:solidFill>
                  <a:srgbClr val="000000"/>
                </a:solidFill>
                <a:ea typeface="SimSun" pitchFamily="2" charset="-122"/>
              </a:rPr>
              <a:t>comptes </a:t>
            </a:r>
            <a:r>
              <a:rPr lang="fr-FR" altLang="zh-CN" sz="2200" b="0" dirty="0">
                <a:solidFill>
                  <a:srgbClr val="000000"/>
                </a:solidFill>
                <a:ea typeface="SimSun" pitchFamily="2" charset="-122"/>
              </a:rPr>
              <a:t>d'administration qui </a:t>
            </a:r>
            <a:r>
              <a:rPr lang="fr-FR" altLang="zh-CN" sz="2200" b="0" dirty="0" smtClean="0">
                <a:solidFill>
                  <a:srgbClr val="000000"/>
                </a:solidFill>
                <a:ea typeface="SimSun" pitchFamily="2" charset="-122"/>
              </a:rPr>
              <a:t> possèdent </a:t>
            </a:r>
            <a:r>
              <a:rPr lang="fr-FR" altLang="zh-CN" sz="2200" b="0" dirty="0">
                <a:solidFill>
                  <a:srgbClr val="000000"/>
                </a:solidFill>
                <a:ea typeface="SimSun" pitchFamily="2" charset="-122"/>
              </a:rPr>
              <a:t>une autorité </a:t>
            </a:r>
            <a:r>
              <a:rPr lang="fr-FR" altLang="zh-CN" sz="2200" b="0" dirty="0" smtClean="0">
                <a:solidFill>
                  <a:srgbClr val="000000"/>
                </a:solidFill>
                <a:ea typeface="SimSun" pitchFamily="2" charset="-122"/>
              </a:rPr>
              <a:t>large </a:t>
            </a:r>
            <a:r>
              <a:rPr lang="fr-FR" altLang="zh-CN" sz="2200" b="0" dirty="0">
                <a:solidFill>
                  <a:srgbClr val="000000"/>
                </a:solidFill>
                <a:ea typeface="SimSun" pitchFamily="2" charset="-122"/>
              </a:rPr>
              <a:t>comme sur </a:t>
            </a:r>
            <a:r>
              <a:rPr lang="fr-FR" altLang="zh-CN" sz="2200" b="0" dirty="0" smtClean="0">
                <a:solidFill>
                  <a:srgbClr val="000000"/>
                </a:solidFill>
                <a:ea typeface="SimSun" pitchFamily="2" charset="-122"/>
              </a:rPr>
              <a:t>un </a:t>
            </a:r>
            <a:r>
              <a:rPr lang="fr-FR" altLang="zh-CN" sz="2200" b="0" dirty="0">
                <a:solidFill>
                  <a:srgbClr val="000000"/>
                </a:solidFill>
                <a:ea typeface="SimSun" pitchFamily="2" charset="-122"/>
              </a:rPr>
              <a:t>domaine </a:t>
            </a:r>
            <a:r>
              <a:rPr lang="fr-FR" altLang="zh-CN" sz="2200" b="0" dirty="0" smtClean="0">
                <a:solidFill>
                  <a:srgbClr val="000000"/>
                </a:solidFill>
                <a:ea typeface="SimSun" pitchFamily="2" charset="-122"/>
              </a:rPr>
              <a:t>entier</a:t>
            </a:r>
            <a:endParaRPr lang="en-US" sz="2200" b="0" dirty="0">
              <a:solidFill>
                <a:srgbClr val="000000"/>
              </a:solidFill>
            </a:endParaRPr>
          </a:p>
        </p:txBody>
      </p:sp>
      <p:sp>
        <p:nvSpPr>
          <p:cNvPr id="33" name="Rectangle-225"/>
          <p:cNvSpPr>
            <a:spLocks noChangeArrowheads="1"/>
          </p:cNvSpPr>
          <p:nvPr/>
        </p:nvSpPr>
        <p:spPr bwMode="auto">
          <a:xfrm>
            <a:off x="344439" y="1338263"/>
            <a:ext cx="8799561" cy="768350"/>
          </a:xfrm>
          <a:prstGeom prst="rect">
            <a:avLst/>
          </a:prstGeom>
          <a:noFill/>
          <a:ln w="9525" algn="ctr">
            <a:noFill/>
            <a:miter lim="800000"/>
            <a:headEnd/>
            <a:tailEnd/>
          </a:ln>
          <a:effectLst/>
        </p:spPr>
        <p:txBody>
          <a:bodyPr lIns="0" tIns="0" rIns="0" bIns="0"/>
          <a:lstStyle/>
          <a:p>
            <a:pPr marL="228600" indent="-228600" algn="l">
              <a:lnSpc>
                <a:spcPct val="90000"/>
              </a:lnSpc>
              <a:spcBef>
                <a:spcPct val="40000"/>
              </a:spcBef>
              <a:buClr>
                <a:srgbClr val="8DACD0"/>
              </a:buClr>
              <a:buSzPct val="70000"/>
              <a:buFont typeface="Wingdings" pitchFamily="2" charset="2"/>
              <a:buBlip>
                <a:blip r:embed="rId10"/>
              </a:buBlip>
            </a:pPr>
            <a:r>
              <a:rPr lang="fr-FR" altLang="zh-CN" sz="2400" dirty="0" smtClean="0">
                <a:solidFill>
                  <a:srgbClr val="000000"/>
                </a:solidFill>
                <a:ea typeface="SimSun" pitchFamily="2" charset="-122"/>
                <a:cs typeface="Times New Roman" charset="0"/>
              </a:rPr>
              <a:t>Attribution </a:t>
            </a:r>
            <a:r>
              <a:rPr lang="fr-FR" altLang="zh-CN" sz="2400" dirty="0">
                <a:solidFill>
                  <a:srgbClr val="000000"/>
                </a:solidFill>
                <a:ea typeface="SimSun" pitchFamily="2" charset="-122"/>
                <a:cs typeface="Times New Roman" charset="0"/>
              </a:rPr>
              <a:t>de la responsabilité d'administration d'une </a:t>
            </a:r>
            <a:r>
              <a:rPr lang="fr-FR" altLang="zh-CN" sz="2400" dirty="0" smtClean="0">
                <a:solidFill>
                  <a:srgbClr val="000000"/>
                </a:solidFill>
                <a:ea typeface="SimSun" pitchFamily="2" charset="-122"/>
                <a:cs typeface="Times New Roman" charset="0"/>
              </a:rPr>
              <a:t>OU à </a:t>
            </a:r>
            <a:r>
              <a:rPr lang="fr-FR" altLang="zh-CN" sz="2400" dirty="0">
                <a:solidFill>
                  <a:srgbClr val="000000"/>
                </a:solidFill>
                <a:ea typeface="SimSun" pitchFamily="2" charset="-122"/>
                <a:cs typeface="Times New Roman" charset="0"/>
              </a:rPr>
              <a:t>un autre utilisateur ou groupe</a:t>
            </a:r>
            <a:r>
              <a:rPr lang="en-IE" altLang="zh-CN" sz="2400" dirty="0">
                <a:solidFill>
                  <a:srgbClr val="000000"/>
                </a:solidFill>
                <a:ea typeface="SimSun" pitchFamily="2" charset="-122"/>
                <a:cs typeface="Times New Roman" charset="0"/>
              </a:rPr>
              <a:t> </a:t>
            </a:r>
            <a:endParaRPr lang="en-US" sz="2400" dirty="0">
              <a:solidFill>
                <a:srgbClr val="000000"/>
              </a:solidFill>
              <a:ea typeface="SimSun" pitchFamily="2" charset="-122"/>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checkerboard(across)">
                                      <p:cBhvr>
                                        <p:cTn id="7" dur="1000"/>
                                        <p:tgtEl>
                                          <p:spTgt spid="3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34050"/>
                                        </p:tgtEl>
                                        <p:attrNameLst>
                                          <p:attrName>style.visibility</p:attrName>
                                        </p:attrNameLst>
                                      </p:cBhvr>
                                      <p:to>
                                        <p:strVal val="visible"/>
                                      </p:to>
                                    </p:set>
                                    <p:animEffect transition="in" filter="wipe(down)">
                                      <p:cBhvr>
                                        <p:cTn id="11" dur="1000"/>
                                        <p:tgtEl>
                                          <p:spTgt spid="334050"/>
                                        </p:tgtEl>
                                      </p:cBhvr>
                                    </p:animEffect>
                                  </p:childTnLst>
                                </p:cTn>
                              </p:par>
                            </p:childTnLst>
                          </p:cTn>
                        </p:par>
                        <p:par>
                          <p:cTn id="12" fill="hold">
                            <p:stCondLst>
                              <p:cond delay="2000"/>
                            </p:stCondLst>
                            <p:childTnLst>
                              <p:par>
                                <p:cTn id="13" presetID="5" presetClass="entr" presetSubtype="10" fill="hold" nodeType="afterEffect">
                                  <p:stCondLst>
                                    <p:cond delay="0"/>
                                  </p:stCondLst>
                                  <p:childTnLst>
                                    <p:set>
                                      <p:cBhvr>
                                        <p:cTn id="14" dur="1" fill="hold">
                                          <p:stCondLst>
                                            <p:cond delay="0"/>
                                          </p:stCondLst>
                                        </p:cTn>
                                        <p:tgtEl>
                                          <p:spTgt spid="32">
                                            <p:txEl>
                                              <p:pRg st="0" end="0"/>
                                            </p:txEl>
                                          </p:spTgt>
                                        </p:tgtEl>
                                        <p:attrNameLst>
                                          <p:attrName>style.visibility</p:attrName>
                                        </p:attrNameLst>
                                      </p:cBhvr>
                                      <p:to>
                                        <p:strVal val="visible"/>
                                      </p:to>
                                    </p:set>
                                    <p:animEffect transition="in" filter="checkerboard(across)">
                                      <p:cBhvr>
                                        <p:cTn id="15" dur="1000"/>
                                        <p:tgtEl>
                                          <p:spTgt spid="3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32">
                                            <p:txEl>
                                              <p:pRg st="1" end="1"/>
                                            </p:txEl>
                                          </p:spTgt>
                                        </p:tgtEl>
                                        <p:attrNameLst>
                                          <p:attrName>style.visibility</p:attrName>
                                        </p:attrNameLst>
                                      </p:cBhvr>
                                      <p:to>
                                        <p:strVal val="visible"/>
                                      </p:to>
                                    </p:set>
                                    <p:animEffect transition="in" filter="checkerboard(across)">
                                      <p:cBhvr>
                                        <p:cTn id="20" dur="1000"/>
                                        <p:tgtEl>
                                          <p:spTgt spid="3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32">
                                            <p:txEl>
                                              <p:pRg st="2" end="2"/>
                                            </p:txEl>
                                          </p:spTgt>
                                        </p:tgtEl>
                                        <p:attrNameLst>
                                          <p:attrName>style.visibility</p:attrName>
                                        </p:attrNameLst>
                                      </p:cBhvr>
                                      <p:to>
                                        <p:strVal val="visible"/>
                                      </p:to>
                                    </p:set>
                                    <p:animEffect transition="in" filter="checkerboard(across)">
                                      <p:cBhvr>
                                        <p:cTn id="25" dur="1000"/>
                                        <p:tgtEl>
                                          <p:spTgt spid="3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nodeType="clickEffect">
                                  <p:stCondLst>
                                    <p:cond delay="0"/>
                                  </p:stCondLst>
                                  <p:childTnLst>
                                    <p:set>
                                      <p:cBhvr>
                                        <p:cTn id="29" dur="1" fill="hold">
                                          <p:stCondLst>
                                            <p:cond delay="0"/>
                                          </p:stCondLst>
                                        </p:cTn>
                                        <p:tgtEl>
                                          <p:spTgt spid="32">
                                            <p:txEl>
                                              <p:pRg st="3" end="3"/>
                                            </p:txEl>
                                          </p:spTgt>
                                        </p:tgtEl>
                                        <p:attrNameLst>
                                          <p:attrName>style.visibility</p:attrName>
                                        </p:attrNameLst>
                                      </p:cBhvr>
                                      <p:to>
                                        <p:strVal val="visible"/>
                                      </p:to>
                                    </p:set>
                                    <p:animEffect transition="in" filter="checkerboard(across)">
                                      <p:cBhvr>
                                        <p:cTn id="30" dur="1000"/>
                                        <p:tgtEl>
                                          <p:spTgt spid="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2"/>
          <p:cNvSpPr>
            <a:spLocks noGrp="1" noChangeArrowheads="1"/>
          </p:cNvSpPr>
          <p:nvPr>
            <p:ph type="title"/>
          </p:nvPr>
        </p:nvSpPr>
        <p:spPr/>
        <p:txBody>
          <a:bodyPr/>
          <a:lstStyle/>
          <a:p>
            <a:r>
              <a:rPr lang="fr-FR" altLang="zh-CN" b="1" dirty="0">
                <a:solidFill>
                  <a:srgbClr val="C00000"/>
                </a:solidFill>
                <a:ea typeface="SimSun" pitchFamily="2" charset="-122"/>
                <a:cs typeface="Times New Roman" charset="0"/>
              </a:rPr>
              <a:t>Assistant Délégation de contrôle</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289881" name="Rectangle-89"/>
          <p:cNvSpPr>
            <a:spLocks noGrp="1" noChangeArrowheads="1"/>
          </p:cNvSpPr>
          <p:nvPr>
            <p:ph sz="quarter" idx="1"/>
          </p:nvPr>
        </p:nvSpPr>
        <p:spPr>
          <a:noFill/>
          <a:ln/>
        </p:spPr>
        <p:txBody>
          <a:bodyPr/>
          <a:lstStyle/>
          <a:p>
            <a:r>
              <a:rPr lang="fr-FR" altLang="zh-CN" sz="2400" dirty="0">
                <a:solidFill>
                  <a:srgbClr val="000000"/>
                </a:solidFill>
                <a:ea typeface="SimSun" pitchFamily="2" charset="-122"/>
                <a:cs typeface="Times New Roman" charset="0"/>
              </a:rPr>
              <a:t>Utilisez l'Assistant Délégation de contrôle pour spécifier :</a:t>
            </a:r>
            <a:r>
              <a:rPr lang="en-IE" altLang="zh-CN" sz="2400" dirty="0">
                <a:solidFill>
                  <a:srgbClr val="000000"/>
                </a:solidFill>
                <a:ea typeface="SimSun" pitchFamily="2" charset="-122"/>
                <a:cs typeface="Times New Roman" charset="0"/>
              </a:rPr>
              <a:t> </a:t>
            </a:r>
            <a:endParaRPr lang="en-US" sz="2400" dirty="0">
              <a:ea typeface="SimSun" pitchFamily="2" charset="-122"/>
              <a:cs typeface="Times New Roman" charset="0"/>
            </a:endParaRPr>
          </a:p>
          <a:p>
            <a:pPr lvl="1"/>
            <a:r>
              <a:rPr lang="fr-FR" altLang="zh-CN" dirty="0">
                <a:solidFill>
                  <a:srgbClr val="000000"/>
                </a:solidFill>
                <a:ea typeface="SimSun" pitchFamily="2" charset="-122"/>
                <a:cs typeface="Times New Roman" charset="0"/>
              </a:rPr>
              <a:t>l'utilisateur ou le groupe auquel vous voulez déléguer </a:t>
            </a:r>
            <a:br>
              <a:rPr lang="fr-FR" altLang="zh-CN" dirty="0">
                <a:solidFill>
                  <a:srgbClr val="000000"/>
                </a:solidFill>
                <a:ea typeface="SimSun" pitchFamily="2" charset="-122"/>
                <a:cs typeface="Times New Roman" charset="0"/>
              </a:rPr>
            </a:br>
            <a:r>
              <a:rPr lang="fr-FR" altLang="zh-CN" dirty="0">
                <a:solidFill>
                  <a:srgbClr val="000000"/>
                </a:solidFill>
                <a:ea typeface="SimSun" pitchFamily="2" charset="-122"/>
                <a:cs typeface="Times New Roman" charset="0"/>
              </a:rPr>
              <a:t>le contrôle </a:t>
            </a:r>
            <a:r>
              <a:rPr lang="en-IE" altLang="zh-CN" dirty="0">
                <a:solidFill>
                  <a:srgbClr val="000000"/>
                </a:solidFill>
                <a:ea typeface="SimSun" pitchFamily="2" charset="-122"/>
              </a:rPr>
              <a:t> </a:t>
            </a:r>
            <a:endParaRPr lang="en-US" dirty="0"/>
          </a:p>
          <a:p>
            <a:pPr lvl="1"/>
            <a:r>
              <a:rPr lang="fr-FR" altLang="zh-CN" dirty="0">
                <a:solidFill>
                  <a:srgbClr val="000000"/>
                </a:solidFill>
                <a:ea typeface="SimSun" pitchFamily="2" charset="-122"/>
              </a:rPr>
              <a:t>les unités d'organisation et les objets pour lesquels vous voulez accorder l'autorisation de contrôle à l'utilisateur </a:t>
            </a:r>
            <a:br>
              <a:rPr lang="fr-FR" altLang="zh-CN" dirty="0">
                <a:solidFill>
                  <a:srgbClr val="000000"/>
                </a:solidFill>
                <a:ea typeface="SimSun" pitchFamily="2" charset="-122"/>
              </a:rPr>
            </a:br>
            <a:r>
              <a:rPr lang="fr-FR" altLang="zh-CN" dirty="0">
                <a:solidFill>
                  <a:srgbClr val="000000"/>
                </a:solidFill>
                <a:ea typeface="SimSun" pitchFamily="2" charset="-122"/>
              </a:rPr>
              <a:t>ou au groupe </a:t>
            </a:r>
            <a:endParaRPr lang="en-US" dirty="0"/>
          </a:p>
          <a:p>
            <a:pPr lvl="1"/>
            <a:r>
              <a:rPr lang="fr-FR" altLang="zh-CN" dirty="0">
                <a:solidFill>
                  <a:srgbClr val="000000"/>
                </a:solidFill>
                <a:ea typeface="SimSun" pitchFamily="2" charset="-122"/>
              </a:rPr>
              <a:t>les tâches que l'utilisateur ou le groupe doit pouvoir effectuer</a:t>
            </a:r>
            <a:r>
              <a:rPr lang="en-IE" altLang="zh-CN" dirty="0">
                <a:solidFill>
                  <a:srgbClr val="000000"/>
                </a:solidFill>
                <a:ea typeface="SimSun" pitchFamily="2" charset="-122"/>
              </a:rPr>
              <a:t> </a:t>
            </a:r>
            <a:endParaRPr lang="en-US" dirty="0"/>
          </a:p>
          <a:p>
            <a:r>
              <a:rPr lang="fr-FR" altLang="zh-CN" sz="2400" dirty="0">
                <a:solidFill>
                  <a:srgbClr val="000000"/>
                </a:solidFill>
                <a:ea typeface="SimSun" pitchFamily="2" charset="-122"/>
              </a:rPr>
              <a:t>L'Assistant Délégation de contrôle attribue automatiquement aux utilisateurs les autorisations appropriées pour l'accès et la modification d'objets spécifiés</a:t>
            </a:r>
            <a:r>
              <a:rPr lang="en-IE" altLang="zh-CN" sz="2400" dirty="0">
                <a:solidFill>
                  <a:srgbClr val="000000"/>
                </a:solidFill>
                <a:ea typeface="SimSun" pitchFamily="2" charset="-122"/>
              </a:rPr>
              <a:t> </a:t>
            </a:r>
            <a:endParaRPr lang="en-US" sz="2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89881">
                                            <p:txEl>
                                              <p:pRg st="0" end="0"/>
                                            </p:txEl>
                                          </p:spTgt>
                                        </p:tgtEl>
                                        <p:attrNameLst>
                                          <p:attrName>style.visibility</p:attrName>
                                        </p:attrNameLst>
                                      </p:cBhvr>
                                      <p:to>
                                        <p:strVal val="visible"/>
                                      </p:to>
                                    </p:set>
                                    <p:animEffect transition="in" filter="checkerboard(across)">
                                      <p:cBhvr>
                                        <p:cTn id="7" dur="1000"/>
                                        <p:tgtEl>
                                          <p:spTgt spid="28988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89881">
                                            <p:txEl>
                                              <p:pRg st="1" end="1"/>
                                            </p:txEl>
                                          </p:spTgt>
                                        </p:tgtEl>
                                        <p:attrNameLst>
                                          <p:attrName>style.visibility</p:attrName>
                                        </p:attrNameLst>
                                      </p:cBhvr>
                                      <p:to>
                                        <p:strVal val="visible"/>
                                      </p:to>
                                    </p:set>
                                    <p:animEffect transition="in" filter="checkerboard(across)">
                                      <p:cBhvr>
                                        <p:cTn id="12" dur="1000"/>
                                        <p:tgtEl>
                                          <p:spTgt spid="28988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89881">
                                            <p:txEl>
                                              <p:pRg st="2" end="2"/>
                                            </p:txEl>
                                          </p:spTgt>
                                        </p:tgtEl>
                                        <p:attrNameLst>
                                          <p:attrName>style.visibility</p:attrName>
                                        </p:attrNameLst>
                                      </p:cBhvr>
                                      <p:to>
                                        <p:strVal val="visible"/>
                                      </p:to>
                                    </p:set>
                                    <p:animEffect transition="in" filter="checkerboard(across)">
                                      <p:cBhvr>
                                        <p:cTn id="17" dur="1000"/>
                                        <p:tgtEl>
                                          <p:spTgt spid="28988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89881">
                                            <p:txEl>
                                              <p:pRg st="3" end="3"/>
                                            </p:txEl>
                                          </p:spTgt>
                                        </p:tgtEl>
                                        <p:attrNameLst>
                                          <p:attrName>style.visibility</p:attrName>
                                        </p:attrNameLst>
                                      </p:cBhvr>
                                      <p:to>
                                        <p:strVal val="visible"/>
                                      </p:to>
                                    </p:set>
                                    <p:animEffect transition="in" filter="checkerboard(across)">
                                      <p:cBhvr>
                                        <p:cTn id="22" dur="1000"/>
                                        <p:tgtEl>
                                          <p:spTgt spid="28988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89881">
                                            <p:txEl>
                                              <p:pRg st="4" end="4"/>
                                            </p:txEl>
                                          </p:spTgt>
                                        </p:tgtEl>
                                        <p:attrNameLst>
                                          <p:attrName>style.visibility</p:attrName>
                                        </p:attrNameLst>
                                      </p:cBhvr>
                                      <p:to>
                                        <p:strVal val="visible"/>
                                      </p:to>
                                    </p:set>
                                    <p:animEffect transition="in" filter="checkerboard(across)">
                                      <p:cBhvr>
                                        <p:cTn id="27" dur="1000"/>
                                        <p:tgtEl>
                                          <p:spTgt spid="28988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chemeClr val="tx1"/>
                </a:solidFill>
              </a:rPr>
              <a:t>Exercices</a:t>
            </a:r>
            <a:endParaRPr lang="fr-FR" b="1" dirty="0">
              <a:solidFill>
                <a:schemeClr val="tx1"/>
              </a:solidFill>
            </a:endParaRPr>
          </a:p>
        </p:txBody>
      </p:sp>
      <p:sp>
        <p:nvSpPr>
          <p:cNvPr id="3" name="Espace réservé du contenu 2"/>
          <p:cNvSpPr>
            <a:spLocks noGrp="1"/>
          </p:cNvSpPr>
          <p:nvPr>
            <p:ph sz="quarter" idx="1"/>
          </p:nvPr>
        </p:nvSpPr>
        <p:spPr>
          <a:xfrm>
            <a:off x="301752" y="1527047"/>
            <a:ext cx="8503920" cy="4897503"/>
          </a:xfrm>
        </p:spPr>
        <p:txBody>
          <a:bodyPr>
            <a:noAutofit/>
          </a:bodyPr>
          <a:lstStyle/>
          <a:p>
            <a:pPr marL="273050" lvl="0" indent="-273050">
              <a:buClr>
                <a:schemeClr val="tx1"/>
              </a:buClr>
              <a:buAutoNum type="arabicPeriod"/>
            </a:pPr>
            <a:r>
              <a:rPr lang="fr-FR" sz="2100" dirty="0" smtClean="0"/>
              <a:t>C'est quoi une unité d'organisation?</a:t>
            </a:r>
          </a:p>
          <a:p>
            <a:pPr marL="514350" lvl="0" indent="-514350">
              <a:buNone/>
            </a:pPr>
            <a:r>
              <a:rPr lang="fr-FR" sz="2100" dirty="0" smtClean="0"/>
              <a:t>C’est un objet conteneur utilisé pour organiser les objets au sein du domaine</a:t>
            </a:r>
          </a:p>
          <a:p>
            <a:pPr marL="273050" lvl="0" indent="-273050">
              <a:buClr>
                <a:schemeClr val="tx2"/>
              </a:buClr>
              <a:buAutoNum type="arabicPeriod" startAt="2"/>
            </a:pPr>
            <a:r>
              <a:rPr lang="fr-FR" sz="2100" dirty="0" smtClean="0"/>
              <a:t>Dans quels cas les unités d’organisations (OU) sont-elles utilisées ?</a:t>
            </a:r>
          </a:p>
          <a:p>
            <a:pPr marL="514350" lvl="0" indent="-514350">
              <a:buNone/>
            </a:pPr>
            <a:r>
              <a:rPr lang="fr-FR" sz="2100" dirty="0" smtClean="0"/>
              <a:t>Elles peuvent être utilisées dans deux cas:</a:t>
            </a:r>
          </a:p>
          <a:p>
            <a:pPr marL="514350" indent="-514350"/>
            <a:r>
              <a:rPr lang="fr-FR" sz="2100" dirty="0" smtClean="0"/>
              <a:t>Liaison avec des GPO</a:t>
            </a:r>
          </a:p>
          <a:p>
            <a:pPr marL="514350" indent="-514350"/>
            <a:r>
              <a:rPr lang="fr-FR" sz="2100" dirty="0" smtClean="0"/>
              <a:t>Délégation des tâches administratifs</a:t>
            </a:r>
          </a:p>
          <a:p>
            <a:pPr lvl="0">
              <a:buNone/>
            </a:pPr>
            <a:r>
              <a:rPr lang="fr-FR" sz="2100" dirty="0" smtClean="0"/>
              <a:t>3.  Comment faire pour restreindre l'accès aux propriétés d'une OU?</a:t>
            </a:r>
          </a:p>
          <a:p>
            <a:pPr lvl="0">
              <a:buNone/>
            </a:pPr>
            <a:r>
              <a:rPr lang="fr-FR" sz="2100" dirty="0" smtClean="0"/>
              <a:t>L’autorisation Lecture donne le droit d’afficher les propriétés d’une OU. Cette autorisation est appliqué au groupe utilisateurs authentifiés par défaut. Donc pour restreindre l’accès aux propriétés nous devons supprimer l’autorisation Lecture pour ce groupe.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checkerboard(across)">
                                      <p:cBhvr>
                                        <p:cTn id="25" dur="500"/>
                                        <p:tgtEl>
                                          <p:spTgt spid="3">
                                            <p:txEl>
                                              <p:pRg st="4" end="4"/>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checkerboard(across)">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checkerboard(across)">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checkerboard(across)">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chemeClr val="tx1"/>
                </a:solidFill>
              </a:rPr>
              <a:t>Exercices</a:t>
            </a:r>
            <a:endParaRPr lang="fr-FR" b="1" dirty="0">
              <a:solidFill>
                <a:schemeClr val="tx1"/>
              </a:solidFill>
            </a:endParaRPr>
          </a:p>
        </p:txBody>
      </p:sp>
      <p:sp>
        <p:nvSpPr>
          <p:cNvPr id="3" name="Espace réservé du contenu 2"/>
          <p:cNvSpPr>
            <a:spLocks noGrp="1"/>
          </p:cNvSpPr>
          <p:nvPr>
            <p:ph sz="quarter" idx="1"/>
          </p:nvPr>
        </p:nvSpPr>
        <p:spPr>
          <a:xfrm>
            <a:off x="225631" y="1538923"/>
            <a:ext cx="8752113" cy="4572000"/>
          </a:xfrm>
        </p:spPr>
        <p:txBody>
          <a:bodyPr/>
          <a:lstStyle/>
          <a:p>
            <a:pPr>
              <a:buNone/>
            </a:pPr>
            <a:r>
              <a:rPr lang="fr-FR" dirty="0" smtClean="0"/>
              <a:t>4.   De quelle manière est-il possible de déléguer tout ou partie du contrôle d’administration à un groupe d’utilisateurs sur une unité d’organisation spécifique ?</a:t>
            </a:r>
          </a:p>
          <a:p>
            <a:pPr>
              <a:buNone/>
            </a:pPr>
            <a:r>
              <a:rPr lang="fr-FR" dirty="0" smtClean="0"/>
              <a:t>Utilisez l’assistant délégation de contrôle pour choisir les utilisateurs ou les groupes auxquels vous voulez déléguer le contrôle et spécifier les tâches à déléguer.</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8703</TotalTime>
  <Words>674</Words>
  <Application>Microsoft PowerPoint</Application>
  <PresentationFormat>Affichage à l'écran (4:3)</PresentationFormat>
  <Paragraphs>131</Paragraphs>
  <Slides>17</Slides>
  <Notes>15</Notes>
  <HiddenSlides>0</HiddenSlides>
  <MMClips>0</MMClips>
  <ScaleCrop>false</ScaleCrop>
  <HeadingPairs>
    <vt:vector size="4" baseType="variant">
      <vt:variant>
        <vt:lpstr>Thème</vt:lpstr>
      </vt:variant>
      <vt:variant>
        <vt:i4>1</vt:i4>
      </vt:variant>
      <vt:variant>
        <vt:lpstr>Titres des diapositives</vt:lpstr>
      </vt:variant>
      <vt:variant>
        <vt:i4>17</vt:i4>
      </vt:variant>
    </vt:vector>
  </HeadingPairs>
  <TitlesOfParts>
    <vt:vector size="18" baseType="lpstr">
      <vt:lpstr>Civil</vt:lpstr>
      <vt:lpstr>Chapitre 5  Administration des accès aux objets dans les unités d'organisation   </vt:lpstr>
      <vt:lpstr>Plan du cours</vt:lpstr>
      <vt:lpstr>1.  Structure des unités d'organisation </vt:lpstr>
      <vt:lpstr>1.  Structure des unités d'organisation </vt:lpstr>
      <vt:lpstr>1.  Structure des unités d'organisation </vt:lpstr>
      <vt:lpstr>1.  Structure des unités d'organisation </vt:lpstr>
      <vt:lpstr>2. Modification des autorisations sur les objets AD</vt:lpstr>
      <vt:lpstr>Description des autorisations sur les objets Active Directory </vt:lpstr>
      <vt:lpstr>Caractéristiques des autorisations sur les objets Active Directory </vt:lpstr>
      <vt:lpstr>Héritage des autorisations sur les objets Active Directory </vt:lpstr>
      <vt:lpstr>Impact de la modification des objets sur l'héritage des autorisations </vt:lpstr>
      <vt:lpstr>Description des autorisations effectives sur les objets Active Directory </vt:lpstr>
      <vt:lpstr>3. Délégation du contrôle des OU </vt:lpstr>
      <vt:lpstr>Description de la délégation du contrôle d'une unité d'organisation  </vt:lpstr>
      <vt:lpstr>Assistant Délégation de contrôle </vt:lpstr>
      <vt:lpstr>Exercices</vt:lpstr>
      <vt:lpstr>Exercices</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User</dc:creator>
  <cp:lastModifiedBy>Halima</cp:lastModifiedBy>
  <cp:revision>282</cp:revision>
  <dcterms:created xsi:type="dcterms:W3CDTF">2002-08-07T17:51:12Z</dcterms:created>
  <dcterms:modified xsi:type="dcterms:W3CDTF">2017-04-04T19:31:59Z</dcterms:modified>
</cp:coreProperties>
</file>