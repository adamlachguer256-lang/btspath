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3"/>
  </p:notesMasterIdLst>
  <p:handoutMasterIdLst>
    <p:handoutMasterId r:id="rId24"/>
  </p:handoutMasterIdLst>
  <p:sldIdLst>
    <p:sldId id="416" r:id="rId2"/>
    <p:sldId id="420" r:id="rId3"/>
    <p:sldId id="421" r:id="rId4"/>
    <p:sldId id="534" r:id="rId5"/>
    <p:sldId id="566" r:id="rId6"/>
    <p:sldId id="452" r:id="rId7"/>
    <p:sldId id="502" r:id="rId8"/>
    <p:sldId id="518" r:id="rId9"/>
    <p:sldId id="519" r:id="rId10"/>
    <p:sldId id="521" r:id="rId11"/>
    <p:sldId id="520" r:id="rId12"/>
    <p:sldId id="459" r:id="rId13"/>
    <p:sldId id="559" r:id="rId14"/>
    <p:sldId id="540" r:id="rId15"/>
    <p:sldId id="541" r:id="rId16"/>
    <p:sldId id="546" r:id="rId17"/>
    <p:sldId id="549" r:id="rId18"/>
    <p:sldId id="550" r:id="rId19"/>
    <p:sldId id="562" r:id="rId20"/>
    <p:sldId id="563" r:id="rId21"/>
    <p:sldId id="564" r:id="rId22"/>
  </p:sldIdLst>
  <p:sldSz cx="9144000" cy="6858000" type="screen4x3"/>
  <p:notesSz cx="6858000" cy="9199563"/>
  <p:defaultTextStyle>
    <a:defPPr>
      <a:defRPr lang="en-US"/>
    </a:defPPr>
    <a:lvl1pPr algn="l" rtl="0" eaLnBrk="0" fontAlgn="base" hangingPunct="0">
      <a:spcBef>
        <a:spcPct val="0"/>
      </a:spcBef>
      <a:spcAft>
        <a:spcPct val="0"/>
      </a:spcAft>
      <a:defRPr b="1" kern="1200">
        <a:solidFill>
          <a:schemeClr val="tx1"/>
        </a:solidFill>
        <a:latin typeface="Arial Narrow" charset="0"/>
        <a:ea typeface="+mn-ea"/>
        <a:cs typeface="+mn-cs"/>
      </a:defRPr>
    </a:lvl1pPr>
    <a:lvl2pPr marL="457200" algn="l" rtl="0" eaLnBrk="0" fontAlgn="base" hangingPunct="0">
      <a:spcBef>
        <a:spcPct val="0"/>
      </a:spcBef>
      <a:spcAft>
        <a:spcPct val="0"/>
      </a:spcAft>
      <a:defRPr b="1" kern="1200">
        <a:solidFill>
          <a:schemeClr val="tx1"/>
        </a:solidFill>
        <a:latin typeface="Arial Narrow" charset="0"/>
        <a:ea typeface="+mn-ea"/>
        <a:cs typeface="+mn-cs"/>
      </a:defRPr>
    </a:lvl2pPr>
    <a:lvl3pPr marL="914400" algn="l" rtl="0" eaLnBrk="0" fontAlgn="base" hangingPunct="0">
      <a:spcBef>
        <a:spcPct val="0"/>
      </a:spcBef>
      <a:spcAft>
        <a:spcPct val="0"/>
      </a:spcAft>
      <a:defRPr b="1" kern="1200">
        <a:solidFill>
          <a:schemeClr val="tx1"/>
        </a:solidFill>
        <a:latin typeface="Arial Narrow" charset="0"/>
        <a:ea typeface="+mn-ea"/>
        <a:cs typeface="+mn-cs"/>
      </a:defRPr>
    </a:lvl3pPr>
    <a:lvl4pPr marL="1371600" algn="l" rtl="0" eaLnBrk="0" fontAlgn="base" hangingPunct="0">
      <a:spcBef>
        <a:spcPct val="0"/>
      </a:spcBef>
      <a:spcAft>
        <a:spcPct val="0"/>
      </a:spcAft>
      <a:defRPr b="1" kern="1200">
        <a:solidFill>
          <a:schemeClr val="tx1"/>
        </a:solidFill>
        <a:latin typeface="Arial Narrow" charset="0"/>
        <a:ea typeface="+mn-ea"/>
        <a:cs typeface="+mn-cs"/>
      </a:defRPr>
    </a:lvl4pPr>
    <a:lvl5pPr marL="1828800" algn="l" rtl="0" eaLnBrk="0" fontAlgn="base" hangingPunct="0">
      <a:spcBef>
        <a:spcPct val="0"/>
      </a:spcBef>
      <a:spcAft>
        <a:spcPct val="0"/>
      </a:spcAft>
      <a:defRPr b="1" kern="1200">
        <a:solidFill>
          <a:schemeClr val="tx1"/>
        </a:solidFill>
        <a:latin typeface="Arial Narrow" charset="0"/>
        <a:ea typeface="+mn-ea"/>
        <a:cs typeface="+mn-cs"/>
      </a:defRPr>
    </a:lvl5pPr>
    <a:lvl6pPr marL="2286000" algn="l" defTabSz="914400" rtl="0" eaLnBrk="1" latinLnBrk="0" hangingPunct="1">
      <a:defRPr b="1" kern="1200">
        <a:solidFill>
          <a:schemeClr val="tx1"/>
        </a:solidFill>
        <a:latin typeface="Arial Narrow" charset="0"/>
        <a:ea typeface="+mn-ea"/>
        <a:cs typeface="+mn-cs"/>
      </a:defRPr>
    </a:lvl6pPr>
    <a:lvl7pPr marL="2743200" algn="l" defTabSz="914400" rtl="0" eaLnBrk="1" latinLnBrk="0" hangingPunct="1">
      <a:defRPr b="1" kern="1200">
        <a:solidFill>
          <a:schemeClr val="tx1"/>
        </a:solidFill>
        <a:latin typeface="Arial Narrow" charset="0"/>
        <a:ea typeface="+mn-ea"/>
        <a:cs typeface="+mn-cs"/>
      </a:defRPr>
    </a:lvl7pPr>
    <a:lvl8pPr marL="3200400" algn="l" defTabSz="914400" rtl="0" eaLnBrk="1" latinLnBrk="0" hangingPunct="1">
      <a:defRPr b="1" kern="1200">
        <a:solidFill>
          <a:schemeClr val="tx1"/>
        </a:solidFill>
        <a:latin typeface="Arial Narrow" charset="0"/>
        <a:ea typeface="+mn-ea"/>
        <a:cs typeface="+mn-cs"/>
      </a:defRPr>
    </a:lvl8pPr>
    <a:lvl9pPr marL="3657600" algn="l" defTabSz="914400" rtl="0" eaLnBrk="1" latinLnBrk="0" hangingPunct="1">
      <a:defRPr b="1" kern="1200">
        <a:solidFill>
          <a:schemeClr val="tx1"/>
        </a:solidFill>
        <a:latin typeface="Arial Narrow"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9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1" clrIdx="0"/>
  <p:cmAuthor id="1" name="v-sonalm" initials="" lastIdx="2" clrIdx="1"/>
  <p:cmAuthor id="2" name="Sonal Mangrulkar" initials="" lastIdx="22" clrIdx="2"/>
  <p:cmAuthor id="3" name="Jeff Johnson" initials="" lastIdx="6" clrIdx="3"/>
  <p:cmAuthor id="4" name="Misty Shock" initials="" lastIdx="17" clrIdx="4"/>
  <p:cmAuthor id="5" name="jimcla" initials="" lastIdx="9" clrIdx="5"/>
  <p:cmAuthor id="6" name="jdecker" initials="" lastIdx="1" clrIdx="6"/>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8F8EE"/>
    <a:srgbClr val="333333"/>
    <a:srgbClr val="EEEFD7"/>
    <a:srgbClr val="D5D69C"/>
    <a:srgbClr val="DFE8F2"/>
    <a:srgbClr val="BBCDE3"/>
    <a:srgbClr val="A50021"/>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01" autoAdjust="0"/>
    <p:restoredTop sz="93011" autoAdjust="0"/>
  </p:normalViewPr>
  <p:slideViewPr>
    <p:cSldViewPr snapToGrid="0">
      <p:cViewPr varScale="1">
        <p:scale>
          <a:sx n="62" d="100"/>
          <a:sy n="62" d="100"/>
        </p:scale>
        <p:origin x="1212" y="4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3" d="100"/>
          <a:sy n="53" d="100"/>
        </p:scale>
        <p:origin x="-1788" y="-84"/>
      </p:cViewPr>
      <p:guideLst>
        <p:guide orient="horz" pos="289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slide" Target="slides/slide12.xml"/><Relationship Id="rId1" Type="http://schemas.openxmlformats.org/officeDocument/2006/relationships/slide" Target="slides/slide4.xml"/><Relationship Id="rId4"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8530"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Arial" charset="0"/>
              </a:defRPr>
            </a:lvl1pPr>
          </a:lstStyle>
          <a:p>
            <a:endParaRPr lang="en-US"/>
          </a:p>
        </p:txBody>
      </p:sp>
      <p:sp>
        <p:nvSpPr>
          <p:cNvPr id="278531" name="Rectangle 3"/>
          <p:cNvSpPr>
            <a:spLocks noGrp="1" noChangeArrowheads="1"/>
          </p:cNvSpPr>
          <p:nvPr>
            <p:ph type="dt" sz="quarter" idx="1"/>
          </p:nvPr>
        </p:nvSpPr>
        <p:spPr bwMode="auto">
          <a:xfrm>
            <a:off x="3884613"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278532" name="Rectangle 4"/>
          <p:cNvSpPr>
            <a:spLocks noGrp="1" noChangeArrowheads="1"/>
          </p:cNvSpPr>
          <p:nvPr>
            <p:ph type="ftr" sz="quarter" idx="2"/>
          </p:nvPr>
        </p:nvSpPr>
        <p:spPr bwMode="auto">
          <a:xfrm>
            <a:off x="0"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Arial" charset="0"/>
              </a:defRPr>
            </a:lvl1pPr>
          </a:lstStyle>
          <a:p>
            <a:endParaRPr lang="en-US"/>
          </a:p>
        </p:txBody>
      </p:sp>
      <p:sp>
        <p:nvSpPr>
          <p:cNvPr id="278533" name="Rectangle 5"/>
          <p:cNvSpPr>
            <a:spLocks noGrp="1" noChangeArrowheads="1"/>
          </p:cNvSpPr>
          <p:nvPr>
            <p:ph type="sldNum" sz="quarter" idx="3"/>
          </p:nvPr>
        </p:nvSpPr>
        <p:spPr bwMode="auto">
          <a:xfrm>
            <a:off x="3884613"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A07EFAE8-17CA-4CE8-8450-2D4BB1B43499}"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latin typeface="Arial" charset="0"/>
              </a:defRPr>
            </a:lvl1pPr>
          </a:lstStyle>
          <a:p>
            <a:endParaRPr lang="en-US"/>
          </a:p>
        </p:txBody>
      </p:sp>
      <p:sp>
        <p:nvSpPr>
          <p:cNvPr id="5123" name="Rectangle 3"/>
          <p:cNvSpPr>
            <a:spLocks noGrp="1" noChangeArrowheads="1"/>
          </p:cNvSpPr>
          <p:nvPr>
            <p:ph type="dt" idx="1"/>
          </p:nvPr>
        </p:nvSpPr>
        <p:spPr bwMode="auto">
          <a:xfrm>
            <a:off x="3884613" y="0"/>
            <a:ext cx="2971800"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endParaRPr lang="en-US"/>
          </a:p>
        </p:txBody>
      </p:sp>
      <p:sp>
        <p:nvSpPr>
          <p:cNvPr id="5124" name="Rectangle 4"/>
          <p:cNvSpPr>
            <a:spLocks noGrp="1" noRot="1" noChangeAspect="1" noChangeArrowheads="1" noTextEdit="1"/>
          </p:cNvSpPr>
          <p:nvPr>
            <p:ph type="sldImg" idx="2"/>
          </p:nvPr>
        </p:nvSpPr>
        <p:spPr bwMode="auto">
          <a:xfrm>
            <a:off x="1130300" y="690563"/>
            <a:ext cx="4598988" cy="3449637"/>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685800" y="4370388"/>
            <a:ext cx="5486400" cy="41386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0"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b="0">
                <a:latin typeface="Arial" charset="0"/>
              </a:defRPr>
            </a:lvl1pPr>
          </a:lstStyle>
          <a:p>
            <a:endParaRPr lang="en-US"/>
          </a:p>
        </p:txBody>
      </p:sp>
      <p:sp>
        <p:nvSpPr>
          <p:cNvPr id="5127" name="Rectangle 7"/>
          <p:cNvSpPr>
            <a:spLocks noGrp="1" noChangeArrowheads="1"/>
          </p:cNvSpPr>
          <p:nvPr>
            <p:ph type="sldNum" sz="quarter" idx="5"/>
          </p:nvPr>
        </p:nvSpPr>
        <p:spPr bwMode="auto">
          <a:xfrm>
            <a:off x="3884613" y="8737600"/>
            <a:ext cx="2971800"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Arial" charset="0"/>
              </a:defRPr>
            </a:lvl1pPr>
          </a:lstStyle>
          <a:p>
            <a:fld id="{CD8D5EE1-0575-4731-8CEC-93806915A0F7}"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309BBC-5A82-4033-B4AF-6E1150F296CD}" type="slidenum">
              <a:rPr lang="en-US"/>
              <a:pPr/>
              <a:t>1</a:t>
            </a:fld>
            <a:endParaRPr lang="en-US"/>
          </a:p>
        </p:txBody>
      </p:sp>
      <p:sp>
        <p:nvSpPr>
          <p:cNvPr id="422914" name="Rectangle-2"/>
          <p:cNvSpPr>
            <a:spLocks noGrp="1" noRot="1" noChangeAspect="1" noChangeArrowheads="1" noTextEdit="1"/>
          </p:cNvSpPr>
          <p:nvPr>
            <p:ph type="sldImg"/>
          </p:nvPr>
        </p:nvSpPr>
        <p:spPr>
          <a:ln/>
        </p:spPr>
      </p:sp>
      <p:sp>
        <p:nvSpPr>
          <p:cNvPr id="422915" name="Rectangle-3"/>
          <p:cNvSpPr>
            <a:spLocks noGrp="1" noChangeArrowheads="1"/>
          </p:cNvSpPr>
          <p:nvPr>
            <p:ph type="body" idx="1"/>
          </p:nvPr>
        </p:nvSpPr>
        <p:spPr/>
        <p:txBody>
          <a:bodyPr/>
          <a:lstStyle/>
          <a:p>
            <a:endParaRPr lang="en-I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F4ADEA2-C7C7-4FC2-96A2-408558D1F0F9}" type="slidenum">
              <a:rPr lang="en-US"/>
              <a:pPr/>
              <a:t>2</a:t>
            </a:fld>
            <a:endParaRPr lang="en-US"/>
          </a:p>
        </p:txBody>
      </p:sp>
      <p:sp>
        <p:nvSpPr>
          <p:cNvPr id="385026" name="Rectangle-2"/>
          <p:cNvSpPr>
            <a:spLocks noGrp="1" noRot="1" noChangeAspect="1" noChangeArrowheads="1" noTextEdit="1"/>
          </p:cNvSpPr>
          <p:nvPr>
            <p:ph type="sldImg"/>
          </p:nvPr>
        </p:nvSpPr>
        <p:spPr>
          <a:ln/>
        </p:spPr>
      </p:sp>
      <p:sp>
        <p:nvSpPr>
          <p:cNvPr id="385027" name="Rectangle-3"/>
          <p:cNvSpPr>
            <a:spLocks noGrp="1" noChangeArrowheads="1"/>
          </p:cNvSpPr>
          <p:nvPr>
            <p:ph type="body" idx="1"/>
          </p:nvPr>
        </p:nvSpPr>
        <p:spPr/>
        <p:txBody>
          <a:bodyPr/>
          <a:lstStyle/>
          <a:p>
            <a:endParaRPr lang="en-I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16F958-6EB9-49F6-B306-F9BA6C753397}" type="slidenum">
              <a:rPr lang="en-US"/>
              <a:pPr/>
              <a:t>3</a:t>
            </a:fld>
            <a:endParaRPr lang="en-US"/>
          </a:p>
        </p:txBody>
      </p:sp>
      <p:sp>
        <p:nvSpPr>
          <p:cNvPr id="386050" name="Rectangle-2"/>
          <p:cNvSpPr>
            <a:spLocks noGrp="1" noRot="1" noChangeAspect="1" noChangeArrowheads="1" noTextEdit="1"/>
          </p:cNvSpPr>
          <p:nvPr>
            <p:ph type="sldImg"/>
          </p:nvPr>
        </p:nvSpPr>
        <p:spPr>
          <a:ln/>
        </p:spPr>
      </p:sp>
      <p:sp>
        <p:nvSpPr>
          <p:cNvPr id="386051" name="Rectangle-3"/>
          <p:cNvSpPr>
            <a:spLocks noGrp="1" noChangeArrowheads="1"/>
          </p:cNvSpPr>
          <p:nvPr>
            <p:ph type="body" idx="1"/>
          </p:nvPr>
        </p:nvSpPr>
        <p:spPr/>
        <p:txBody>
          <a:bodyPr/>
          <a:lstStyle/>
          <a:p>
            <a:endParaRPr lang="en-I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4BA541-D8D6-4470-808E-2898BD4AB085}" type="slidenum">
              <a:rPr lang="en-US"/>
              <a:pPr/>
              <a:t>4</a:t>
            </a:fld>
            <a:endParaRPr lang="en-US"/>
          </a:p>
        </p:txBody>
      </p:sp>
      <p:sp>
        <p:nvSpPr>
          <p:cNvPr id="507906" name="Rectangle-2"/>
          <p:cNvSpPr>
            <a:spLocks noGrp="1" noRot="1" noChangeAspect="1" noChangeArrowheads="1" noTextEdit="1"/>
          </p:cNvSpPr>
          <p:nvPr>
            <p:ph type="sldImg"/>
          </p:nvPr>
        </p:nvSpPr>
        <p:spPr>
          <a:ln/>
        </p:spPr>
      </p:sp>
      <p:sp>
        <p:nvSpPr>
          <p:cNvPr id="507907" name="Rectangle-3"/>
          <p:cNvSpPr>
            <a:spLocks noGrp="1" noChangeArrowheads="1"/>
          </p:cNvSpPr>
          <p:nvPr>
            <p:ph type="body" idx="1"/>
          </p:nvPr>
        </p:nvSpPr>
        <p:spPr/>
        <p:txBody>
          <a:bodyPr/>
          <a:lstStyle/>
          <a:p>
            <a:endParaRPr lang="en-I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A914F5-71F8-4092-BAC0-152C5DF253B5}" type="slidenum">
              <a:rPr lang="en-US"/>
              <a:pPr/>
              <a:t>5</a:t>
            </a:fld>
            <a:endParaRPr lang="en-US"/>
          </a:p>
        </p:txBody>
      </p:sp>
      <p:sp>
        <p:nvSpPr>
          <p:cNvPr id="523266" name="Rectangle-2"/>
          <p:cNvSpPr>
            <a:spLocks noGrp="1" noRot="1" noChangeAspect="1" noChangeArrowheads="1" noTextEdit="1"/>
          </p:cNvSpPr>
          <p:nvPr>
            <p:ph type="sldImg"/>
          </p:nvPr>
        </p:nvSpPr>
        <p:spPr>
          <a:ln/>
        </p:spPr>
      </p:sp>
      <p:sp>
        <p:nvSpPr>
          <p:cNvPr id="523267" name="Rectangle-3"/>
          <p:cNvSpPr>
            <a:spLocks noGrp="1" noChangeArrowheads="1"/>
          </p:cNvSpPr>
          <p:nvPr>
            <p:ph type="body" idx="1"/>
          </p:nvPr>
        </p:nvSpPr>
        <p:spPr/>
        <p:txBody>
          <a:bodyPr/>
          <a:lstStyle/>
          <a:p>
            <a:endParaRPr lang="en-I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61BDAC-6502-458E-A42F-A1A40FB67FAA}" type="slidenum">
              <a:rPr lang="en-US"/>
              <a:pPr/>
              <a:t>6</a:t>
            </a:fld>
            <a:endParaRPr lang="en-US"/>
          </a:p>
        </p:txBody>
      </p:sp>
      <p:sp>
        <p:nvSpPr>
          <p:cNvPr id="388098" name="Rectangle-2"/>
          <p:cNvSpPr>
            <a:spLocks noGrp="1" noRot="1" noChangeAspect="1" noChangeArrowheads="1" noTextEdit="1"/>
          </p:cNvSpPr>
          <p:nvPr>
            <p:ph type="sldImg"/>
          </p:nvPr>
        </p:nvSpPr>
        <p:spPr>
          <a:ln/>
        </p:spPr>
      </p:sp>
      <p:sp>
        <p:nvSpPr>
          <p:cNvPr id="388099" name="Rectangle-3"/>
          <p:cNvSpPr>
            <a:spLocks noGrp="1" noChangeArrowheads="1"/>
          </p:cNvSpPr>
          <p:nvPr>
            <p:ph type="body" idx="1"/>
          </p:nvPr>
        </p:nvSpPr>
        <p:spPr/>
        <p:txBody>
          <a:bodyPr/>
          <a:lstStyle/>
          <a:p>
            <a:endParaRPr lang="en-I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27F395-CFCB-4E9A-8561-3E142DC26E6A}" type="slidenum">
              <a:rPr lang="en-US"/>
              <a:pPr/>
              <a:t>7</a:t>
            </a:fld>
            <a:endParaRPr lang="en-US"/>
          </a:p>
        </p:txBody>
      </p:sp>
      <p:sp>
        <p:nvSpPr>
          <p:cNvPr id="403458" name="Rectangle-2"/>
          <p:cNvSpPr>
            <a:spLocks noGrp="1" noRot="1" noChangeAspect="1" noChangeArrowheads="1" noTextEdit="1"/>
          </p:cNvSpPr>
          <p:nvPr>
            <p:ph type="sldImg"/>
          </p:nvPr>
        </p:nvSpPr>
        <p:spPr>
          <a:ln/>
        </p:spPr>
      </p:sp>
      <p:sp>
        <p:nvSpPr>
          <p:cNvPr id="403459" name="Rectangle-3"/>
          <p:cNvSpPr>
            <a:spLocks noGrp="1" noChangeArrowheads="1"/>
          </p:cNvSpPr>
          <p:nvPr>
            <p:ph type="body" idx="1"/>
          </p:nvPr>
        </p:nvSpPr>
        <p:spPr/>
        <p:txBody>
          <a:bodyPr/>
          <a:lstStyle/>
          <a:p>
            <a:pPr marL="228600" indent="-228600">
              <a:lnSpc>
                <a:spcPct val="80000"/>
              </a:lnSpc>
            </a:pPr>
            <a:endParaRPr lang="en-IE" sz="8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08FD97-930D-4259-9258-7C393786E7D1}" type="slidenum">
              <a:rPr lang="en-US"/>
              <a:pPr/>
              <a:t>8</a:t>
            </a:fld>
            <a:endParaRPr lang="en-US"/>
          </a:p>
        </p:txBody>
      </p:sp>
      <p:sp>
        <p:nvSpPr>
          <p:cNvPr id="509954" name="Rectangle-2"/>
          <p:cNvSpPr>
            <a:spLocks noGrp="1" noRot="1" noChangeAspect="1" noChangeArrowheads="1" noTextEdit="1"/>
          </p:cNvSpPr>
          <p:nvPr>
            <p:ph type="sldImg"/>
          </p:nvPr>
        </p:nvSpPr>
        <p:spPr>
          <a:ln/>
        </p:spPr>
      </p:sp>
      <p:sp>
        <p:nvSpPr>
          <p:cNvPr id="509955" name="Rectangle-3"/>
          <p:cNvSpPr>
            <a:spLocks noGrp="1" noChangeArrowheads="1"/>
          </p:cNvSpPr>
          <p:nvPr>
            <p:ph type="body" idx="1"/>
          </p:nvPr>
        </p:nvSpPr>
        <p:spPr/>
        <p:txBody>
          <a:bodyPr/>
          <a:lstStyle/>
          <a:p>
            <a:endParaRPr lang="en-I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51F388-B63E-4DA4-B8AC-706FBE58C43B}" type="slidenum">
              <a:rPr lang="en-US"/>
              <a:pPr/>
              <a:t>9</a:t>
            </a:fld>
            <a:endParaRPr lang="en-US"/>
          </a:p>
        </p:txBody>
      </p:sp>
      <p:sp>
        <p:nvSpPr>
          <p:cNvPr id="506882" name="Rectangle-2"/>
          <p:cNvSpPr>
            <a:spLocks noGrp="1" noRot="1" noChangeAspect="1" noChangeArrowheads="1" noTextEdit="1"/>
          </p:cNvSpPr>
          <p:nvPr>
            <p:ph type="sldImg"/>
          </p:nvPr>
        </p:nvSpPr>
        <p:spPr>
          <a:ln/>
        </p:spPr>
      </p:sp>
      <p:sp>
        <p:nvSpPr>
          <p:cNvPr id="506883" name="Rectangle-3"/>
          <p:cNvSpPr>
            <a:spLocks noGrp="1" noChangeArrowheads="1"/>
          </p:cNvSpPr>
          <p:nvPr>
            <p:ph type="body" idx="1"/>
          </p:nvPr>
        </p:nvSpPr>
        <p:spPr/>
        <p:txBody>
          <a:bodyPr/>
          <a:lstStyle/>
          <a:p>
            <a:endParaRPr lang="en-I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F394D0-0D8A-4C2D-9508-02AC1760E3B5}" type="slidenum">
              <a:rPr lang="en-US"/>
              <a:pPr/>
              <a:t>10</a:t>
            </a:fld>
            <a:endParaRPr lang="en-US"/>
          </a:p>
        </p:txBody>
      </p:sp>
      <p:sp>
        <p:nvSpPr>
          <p:cNvPr id="514050" name="Rectangle-2"/>
          <p:cNvSpPr>
            <a:spLocks noGrp="1" noRot="1" noChangeAspect="1" noChangeArrowheads="1" noTextEdit="1"/>
          </p:cNvSpPr>
          <p:nvPr>
            <p:ph type="sldImg"/>
          </p:nvPr>
        </p:nvSpPr>
        <p:spPr>
          <a:ln/>
        </p:spPr>
      </p:sp>
      <p:sp>
        <p:nvSpPr>
          <p:cNvPr id="514051" name="Rectangle-3"/>
          <p:cNvSpPr>
            <a:spLocks noGrp="1" noChangeArrowheads="1"/>
          </p:cNvSpPr>
          <p:nvPr>
            <p:ph type="body" idx="1"/>
          </p:nvPr>
        </p:nvSpPr>
        <p:spPr/>
        <p:txBody>
          <a:bodyPr/>
          <a:lstStyle/>
          <a:p>
            <a:endParaRPr lang="en-IE"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4496C9-6EBC-4129-B9E6-8C1061823096}" type="slidenum">
              <a:rPr lang="en-US"/>
              <a:pPr/>
              <a:t>11</a:t>
            </a:fld>
            <a:endParaRPr lang="en-US"/>
          </a:p>
        </p:txBody>
      </p:sp>
      <p:sp>
        <p:nvSpPr>
          <p:cNvPr id="515074" name="Rectangle-2"/>
          <p:cNvSpPr>
            <a:spLocks noGrp="1" noRot="1" noChangeAspect="1" noChangeArrowheads="1" noTextEdit="1"/>
          </p:cNvSpPr>
          <p:nvPr>
            <p:ph type="sldImg"/>
          </p:nvPr>
        </p:nvSpPr>
        <p:spPr>
          <a:ln/>
        </p:spPr>
      </p:sp>
      <p:sp>
        <p:nvSpPr>
          <p:cNvPr id="515075" name="Rectangle-3"/>
          <p:cNvSpPr>
            <a:spLocks noGrp="1" noChangeArrowheads="1"/>
          </p:cNvSpPr>
          <p:nvPr>
            <p:ph type="body" idx="1"/>
          </p:nvPr>
        </p:nvSpPr>
        <p:spPr/>
        <p:txBody>
          <a:bodyPr/>
          <a:lstStyle/>
          <a:p>
            <a:endParaRPr lang="en-I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20F387-3E05-414B-B636-639A92745D16}" type="slidenum">
              <a:rPr lang="en-US"/>
              <a:pPr/>
              <a:t>12</a:t>
            </a:fld>
            <a:endParaRPr lang="en-US"/>
          </a:p>
        </p:txBody>
      </p:sp>
      <p:sp>
        <p:nvSpPr>
          <p:cNvPr id="410626" name="Rectangle-2"/>
          <p:cNvSpPr>
            <a:spLocks noGrp="1" noRot="1" noChangeAspect="1" noChangeArrowheads="1" noTextEdit="1"/>
          </p:cNvSpPr>
          <p:nvPr>
            <p:ph type="sldImg"/>
          </p:nvPr>
        </p:nvSpPr>
        <p:spPr>
          <a:ln/>
        </p:spPr>
      </p:sp>
      <p:sp>
        <p:nvSpPr>
          <p:cNvPr id="410627" name="Rectangle-3"/>
          <p:cNvSpPr>
            <a:spLocks noGrp="1" noChangeArrowheads="1"/>
          </p:cNvSpPr>
          <p:nvPr>
            <p:ph type="body" idx="1"/>
          </p:nvPr>
        </p:nvSpPr>
        <p:spPr/>
        <p:txBody>
          <a:bodyPr/>
          <a:lstStyle/>
          <a:p>
            <a:endParaRPr lang="en-IE" sz="10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20F387-3E05-414B-B636-639A92745D16}" type="slidenum">
              <a:rPr lang="en-US"/>
              <a:pPr/>
              <a:t>13</a:t>
            </a:fld>
            <a:endParaRPr lang="en-US"/>
          </a:p>
        </p:txBody>
      </p:sp>
      <p:sp>
        <p:nvSpPr>
          <p:cNvPr id="410626" name="Rectangle-2"/>
          <p:cNvSpPr>
            <a:spLocks noGrp="1" noRot="1" noChangeAspect="1" noChangeArrowheads="1" noTextEdit="1"/>
          </p:cNvSpPr>
          <p:nvPr>
            <p:ph type="sldImg"/>
          </p:nvPr>
        </p:nvSpPr>
        <p:spPr>
          <a:ln/>
        </p:spPr>
      </p:sp>
      <p:sp>
        <p:nvSpPr>
          <p:cNvPr id="410627" name="Rectangle-3"/>
          <p:cNvSpPr>
            <a:spLocks noGrp="1" noChangeArrowheads="1"/>
          </p:cNvSpPr>
          <p:nvPr>
            <p:ph type="body" idx="1"/>
          </p:nvPr>
        </p:nvSpPr>
        <p:spPr/>
        <p:txBody>
          <a:bodyPr/>
          <a:lstStyle/>
          <a:p>
            <a:endParaRPr lang="en-IE" sz="10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ACCA17-469D-41D0-88E3-231DB8C064B6}" type="slidenum">
              <a:rPr lang="en-US"/>
              <a:pPr/>
              <a:t>14</a:t>
            </a:fld>
            <a:endParaRPr lang="en-US"/>
          </a:p>
        </p:txBody>
      </p:sp>
      <p:sp>
        <p:nvSpPr>
          <p:cNvPr id="386050" name="Rectangle-2"/>
          <p:cNvSpPr>
            <a:spLocks noGrp="1" noRot="1" noChangeAspect="1" noChangeArrowheads="1" noTextEdit="1"/>
          </p:cNvSpPr>
          <p:nvPr>
            <p:ph type="sldImg"/>
          </p:nvPr>
        </p:nvSpPr>
        <p:spPr>
          <a:ln/>
        </p:spPr>
      </p:sp>
      <p:sp>
        <p:nvSpPr>
          <p:cNvPr id="386051" name="Rectangle-3"/>
          <p:cNvSpPr>
            <a:spLocks noGrp="1" noChangeArrowheads="1"/>
          </p:cNvSpPr>
          <p:nvPr>
            <p:ph type="body" idx="1"/>
          </p:nvPr>
        </p:nvSpPr>
        <p:spPr/>
        <p:txBody>
          <a:bodyPr/>
          <a:lstStyle/>
          <a:p>
            <a:endParaRPr lang="en-I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F072DD-477D-47D3-BAA1-C4274F12A33F}" type="slidenum">
              <a:rPr lang="en-US"/>
              <a:pPr/>
              <a:t>15</a:t>
            </a:fld>
            <a:endParaRPr lang="en-US"/>
          </a:p>
        </p:txBody>
      </p:sp>
      <p:sp>
        <p:nvSpPr>
          <p:cNvPr id="409602" name="Rectangle-2"/>
          <p:cNvSpPr>
            <a:spLocks noGrp="1" noRot="1" noChangeAspect="1" noChangeArrowheads="1" noTextEdit="1"/>
          </p:cNvSpPr>
          <p:nvPr>
            <p:ph type="sldImg"/>
          </p:nvPr>
        </p:nvSpPr>
        <p:spPr>
          <a:ln/>
        </p:spPr>
      </p:sp>
      <p:sp>
        <p:nvSpPr>
          <p:cNvPr id="409603" name="Rectangle-3"/>
          <p:cNvSpPr>
            <a:spLocks noGrp="1" noChangeArrowheads="1"/>
          </p:cNvSpPr>
          <p:nvPr>
            <p:ph type="body" idx="1"/>
          </p:nvPr>
        </p:nvSpPr>
        <p:spPr/>
        <p:txBody>
          <a:bodyPr/>
          <a:lstStyle/>
          <a:p>
            <a:pPr marL="228600" indent="-228600">
              <a:lnSpc>
                <a:spcPct val="80000"/>
              </a:lnSpc>
            </a:pPr>
            <a:endParaRPr lang="en-IE" sz="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D1B76F-3521-4791-BA60-E5E0B95C7E2D}" type="slidenum">
              <a:rPr lang="en-US"/>
              <a:pPr/>
              <a:t>16</a:t>
            </a:fld>
            <a:endParaRPr lang="en-US"/>
          </a:p>
        </p:txBody>
      </p:sp>
      <p:sp>
        <p:nvSpPr>
          <p:cNvPr id="448514" name="Rectangle-2"/>
          <p:cNvSpPr>
            <a:spLocks noGrp="1" noRot="1" noChangeAspect="1" noChangeArrowheads="1" noTextEdit="1"/>
          </p:cNvSpPr>
          <p:nvPr>
            <p:ph type="sldImg"/>
          </p:nvPr>
        </p:nvSpPr>
        <p:spPr>
          <a:ln/>
        </p:spPr>
      </p:sp>
      <p:sp>
        <p:nvSpPr>
          <p:cNvPr id="448515" name="Rectangle-3"/>
          <p:cNvSpPr>
            <a:spLocks noGrp="1" noChangeArrowheads="1"/>
          </p:cNvSpPr>
          <p:nvPr>
            <p:ph type="body" idx="1"/>
          </p:nvPr>
        </p:nvSpPr>
        <p:spPr/>
        <p:txBody>
          <a:bodyPr/>
          <a:lstStyle/>
          <a:p>
            <a:endParaRPr lang="en-I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052AA1E-151E-4A6B-8023-418C921CBE0D}" type="slidenum">
              <a:rPr lang="en-US"/>
              <a:pPr/>
              <a:t>17</a:t>
            </a:fld>
            <a:endParaRPr lang="en-US"/>
          </a:p>
        </p:txBody>
      </p:sp>
      <p:sp>
        <p:nvSpPr>
          <p:cNvPr id="388098" name="Rectangle-2"/>
          <p:cNvSpPr>
            <a:spLocks noGrp="1" noRot="1" noChangeAspect="1" noChangeArrowheads="1" noTextEdit="1"/>
          </p:cNvSpPr>
          <p:nvPr>
            <p:ph type="sldImg"/>
          </p:nvPr>
        </p:nvSpPr>
        <p:spPr>
          <a:ln/>
        </p:spPr>
      </p:sp>
      <p:sp>
        <p:nvSpPr>
          <p:cNvPr id="388099" name="Rectangle-3"/>
          <p:cNvSpPr>
            <a:spLocks noGrp="1" noChangeArrowheads="1"/>
          </p:cNvSpPr>
          <p:nvPr>
            <p:ph type="body" idx="1"/>
          </p:nvPr>
        </p:nvSpPr>
        <p:spPr/>
        <p:txBody>
          <a:bodyPr/>
          <a:lstStyle/>
          <a:p>
            <a:endParaRPr lang="en-I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5B23B8-5B91-42FE-A330-8CD885B250D2}" type="slidenum">
              <a:rPr lang="en-US"/>
              <a:pPr/>
              <a:t>18</a:t>
            </a:fld>
            <a:endParaRPr lang="en-US"/>
          </a:p>
        </p:txBody>
      </p:sp>
      <p:sp>
        <p:nvSpPr>
          <p:cNvPr id="413698" name="Rectangle-2"/>
          <p:cNvSpPr>
            <a:spLocks noGrp="1" noRot="1" noChangeAspect="1" noChangeArrowheads="1" noTextEdit="1"/>
          </p:cNvSpPr>
          <p:nvPr>
            <p:ph type="sldImg"/>
          </p:nvPr>
        </p:nvSpPr>
        <p:spPr>
          <a:ln/>
        </p:spPr>
      </p:sp>
      <p:sp>
        <p:nvSpPr>
          <p:cNvPr id="413699" name="Rectangle-3"/>
          <p:cNvSpPr>
            <a:spLocks noGrp="1" noChangeArrowheads="1"/>
          </p:cNvSpPr>
          <p:nvPr>
            <p:ph type="body" idx="1"/>
          </p:nvPr>
        </p:nvSpPr>
        <p:spPr/>
        <p:txBody>
          <a:bodyPr/>
          <a:lstStyle/>
          <a:p>
            <a:endParaRPr lang="en-US"/>
          </a:p>
          <a:p>
            <a:endParaRPr lang="en-US"/>
          </a:p>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66C53F7-A598-4AE7-A470-B86B2F1228AC}" type="slidenum">
              <a:rPr lang="en-US"/>
              <a:pPr/>
              <a:t>19</a:t>
            </a:fld>
            <a:endParaRPr lang="en-US"/>
          </a:p>
        </p:txBody>
      </p:sp>
      <p:sp>
        <p:nvSpPr>
          <p:cNvPr id="451586" name="Rectangle-2"/>
          <p:cNvSpPr>
            <a:spLocks noGrp="1" noRot="1" noChangeAspect="1" noChangeArrowheads="1" noTextEdit="1"/>
          </p:cNvSpPr>
          <p:nvPr>
            <p:ph type="sldImg"/>
          </p:nvPr>
        </p:nvSpPr>
        <p:spPr>
          <a:ln/>
        </p:spPr>
      </p:sp>
      <p:sp>
        <p:nvSpPr>
          <p:cNvPr id="451587" name="Rectangle-3"/>
          <p:cNvSpPr>
            <a:spLocks noGrp="1" noChangeArrowheads="1"/>
          </p:cNvSpPr>
          <p:nvPr>
            <p:ph type="body" idx="1"/>
          </p:nvPr>
        </p:nvSpPr>
        <p:spPr/>
        <p:txBody>
          <a:bodyPr/>
          <a:lstStyle/>
          <a:p>
            <a:endParaRPr lang="en-I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2/25/2020</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2/25/2020</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2/25/2020</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2/25/2020</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2/25/2020</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2/25/2020</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2/25/2020</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2/25/2020</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2/25/2020</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2/25/2020</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2/25/2020</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a:t>Cliquez pour modifier le style du titre</a:t>
            </a:r>
          </a:p>
        </p:txBody>
      </p:sp>
      <p:sp>
        <p:nvSpPr>
          <p:cNvPr id="3" name="Espace réservé du texte 2"/>
          <p:cNvSpPr>
            <a:spLocks noGrp="1"/>
          </p:cNvSpPr>
          <p:nvPr>
            <p:ph type="body" sz="half" idx="1"/>
          </p:nvPr>
        </p:nvSpPr>
        <p:spPr>
          <a:xfrm>
            <a:off x="1050925" y="1447800"/>
            <a:ext cx="3436938"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0263" y="1447800"/>
            <a:ext cx="3436937"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2/25/2020</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jpe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80" name="Rectangle-4"/>
          <p:cNvSpPr>
            <a:spLocks noGrp="1" noChangeArrowheads="1"/>
          </p:cNvSpPr>
          <p:nvPr>
            <p:ph type="ctrTitle"/>
          </p:nvPr>
        </p:nvSpPr>
        <p:spPr>
          <a:xfrm>
            <a:off x="1103654" y="2933676"/>
            <a:ext cx="6443662" cy="2371725"/>
          </a:xfrm>
        </p:spPr>
        <p:txBody>
          <a:bodyPr>
            <a:normAutofit/>
          </a:bodyPr>
          <a:lstStyle/>
          <a:p>
            <a:r>
              <a:rPr lang="fr-FR" altLang="zh-CN" sz="4800" b="1" dirty="0">
                <a:solidFill>
                  <a:srgbClr val="000000"/>
                </a:solidFill>
                <a:ea typeface="SimSun" pitchFamily="2" charset="-122"/>
                <a:cs typeface="Times New Roman" charset="0"/>
              </a:rPr>
              <a:t>Chapitre 4 </a:t>
            </a:r>
            <a:r>
              <a:rPr lang="fr-FR" altLang="zh-CN" sz="4800" b="1" dirty="0">
                <a:solidFill>
                  <a:srgbClr val="000000"/>
                </a:solidFill>
                <a:ea typeface="SimSun" pitchFamily="2" charset="-122"/>
                <a:cs typeface="Arial Narrow" charset="0"/>
              </a:rPr>
              <a:t> </a:t>
            </a:r>
            <a:br>
              <a:rPr lang="fr-FR" altLang="zh-CN" sz="4800" b="1" dirty="0">
                <a:solidFill>
                  <a:srgbClr val="000000"/>
                </a:solidFill>
                <a:ea typeface="SimSun" pitchFamily="2" charset="-122"/>
                <a:cs typeface="Arial Narrow" charset="0"/>
              </a:rPr>
            </a:br>
            <a:r>
              <a:rPr lang="fr-FR" altLang="zh-CN" sz="4800" b="1" dirty="0">
                <a:solidFill>
                  <a:srgbClr val="000000"/>
                </a:solidFill>
                <a:ea typeface="SimSun" pitchFamily="2" charset="-122"/>
                <a:cs typeface="Times New Roman" charset="0"/>
              </a:rPr>
              <a:t>Administration de l'impression</a:t>
            </a:r>
            <a:r>
              <a:rPr lang="en-IE" altLang="zh-CN" sz="4800" b="1" dirty="0">
                <a:solidFill>
                  <a:srgbClr val="000000"/>
                </a:solidFill>
                <a:ea typeface="SimSun" pitchFamily="2" charset="-122"/>
              </a:rPr>
              <a:t> </a:t>
            </a:r>
            <a:r>
              <a:rPr lang="en-US" sz="4800" b="1" dirty="0"/>
              <a:t>  </a:t>
            </a:r>
          </a:p>
        </p:txBody>
      </p:sp>
      <p:sp>
        <p:nvSpPr>
          <p:cNvPr id="4" name="ZoneTexte 3"/>
          <p:cNvSpPr txBox="1"/>
          <p:nvPr/>
        </p:nvSpPr>
        <p:spPr>
          <a:xfrm>
            <a:off x="2222688" y="717452"/>
            <a:ext cx="4684541" cy="830997"/>
          </a:xfrm>
          <a:prstGeom prst="rect">
            <a:avLst/>
          </a:prstGeom>
          <a:noFill/>
        </p:spPr>
        <p:txBody>
          <a:bodyPr wrap="square" rtlCol="0">
            <a:spAutoFit/>
          </a:bodyPr>
          <a:lstStyle/>
          <a:p>
            <a:pPr algn="ctr"/>
            <a:r>
              <a:rPr lang="fr-FR" sz="4800" dirty="0"/>
              <a:t>Module S42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2"/>
          <p:cNvSpPr>
            <a:spLocks noGrp="1" noChangeArrowheads="1"/>
          </p:cNvSpPr>
          <p:nvPr>
            <p:ph type="title"/>
          </p:nvPr>
        </p:nvSpPr>
        <p:spPr/>
        <p:txBody>
          <a:bodyPr/>
          <a:lstStyle/>
          <a:p>
            <a:r>
              <a:rPr lang="fr-FR" altLang="zh-CN" b="1" dirty="0">
                <a:solidFill>
                  <a:srgbClr val="000000"/>
                </a:solidFill>
                <a:ea typeface="SimSun" pitchFamily="2" charset="-122"/>
                <a:cs typeface="Times New Roman" charset="0"/>
              </a:rPr>
              <a:t>Plan du cours</a:t>
            </a:r>
            <a:endParaRPr lang="en-US" b="1" dirty="0">
              <a:solidFill>
                <a:srgbClr val="000000"/>
              </a:solidFill>
              <a:ea typeface="SimSun" pitchFamily="2" charset="-122"/>
              <a:cs typeface="Times New Roman" charset="0"/>
            </a:endParaRPr>
          </a:p>
        </p:txBody>
      </p:sp>
      <p:sp>
        <p:nvSpPr>
          <p:cNvPr id="287747" name="Rectangle-3"/>
          <p:cNvSpPr>
            <a:spLocks noGrp="1" noChangeArrowheads="1"/>
          </p:cNvSpPr>
          <p:nvPr>
            <p:ph sz="quarter" idx="1"/>
          </p:nvPr>
        </p:nvSpPr>
        <p:spPr>
          <a:xfrm>
            <a:off x="287684" y="1520042"/>
            <a:ext cx="8503920" cy="4773880"/>
          </a:xfrm>
        </p:spPr>
        <p:txBody>
          <a:bodyPr>
            <a:normAutofit lnSpcReduction="10000"/>
          </a:bodyPr>
          <a:lstStyle/>
          <a:p>
            <a:pPr marL="514350" indent="-514350">
              <a:buClrTx/>
              <a:buFont typeface="+mj-lt"/>
              <a:buAutoNum type="arabicPeriod"/>
            </a:pPr>
            <a:r>
              <a:rPr lang="fr-FR" altLang="zh-CN" dirty="0">
                <a:ea typeface="SimSun" pitchFamily="2" charset="-122"/>
                <a:cs typeface="Times New Roman" charset="0"/>
              </a:rPr>
              <a:t>Présentation de l'impression dans la famille Windows Server</a:t>
            </a:r>
            <a:endParaRPr lang="en-US" dirty="0">
              <a:ea typeface="SimSun" pitchFamily="2" charset="-122"/>
              <a:cs typeface="Times New Roman" charset="0"/>
            </a:endParaRPr>
          </a:p>
          <a:p>
            <a:pPr marL="514350" indent="-514350">
              <a:buClrTx/>
              <a:buFont typeface="+mj-lt"/>
              <a:buAutoNum type="arabicPeriod"/>
            </a:pPr>
            <a:r>
              <a:rPr lang="fr-FR" altLang="zh-CN" dirty="0">
                <a:ea typeface="SimSun" pitchFamily="2" charset="-122"/>
                <a:cs typeface="Times New Roman" charset="0"/>
              </a:rPr>
              <a:t>Installation et partage d'imprimantes</a:t>
            </a:r>
            <a:r>
              <a:rPr lang="en-IE" altLang="zh-CN" dirty="0">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r>
              <a:rPr lang="fr-FR" altLang="zh-CN" dirty="0">
                <a:ea typeface="SimSun" pitchFamily="2" charset="-122"/>
                <a:cs typeface="Times New Roman" charset="0"/>
              </a:rPr>
              <a:t>Administration des accès aux imprimantes à l'aide d'autorisations d'imprimantes partagées</a:t>
            </a:r>
            <a:r>
              <a:rPr lang="en-IE" altLang="zh-CN" dirty="0">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r>
              <a:rPr lang="fr-FR" altLang="zh-CN" dirty="0">
                <a:ea typeface="SimSun" pitchFamily="2" charset="-122"/>
                <a:cs typeface="Times New Roman" charset="0"/>
              </a:rPr>
              <a:t>Gestion des pilotes d'imprimantes</a:t>
            </a:r>
            <a:r>
              <a:rPr lang="en-IE" altLang="zh-CN" dirty="0">
                <a:ea typeface="SimSun" pitchFamily="2" charset="-122"/>
                <a:cs typeface="Times New Roman" charset="0"/>
              </a:rPr>
              <a:t> </a:t>
            </a:r>
            <a:endParaRPr lang="en-US" dirty="0">
              <a:ea typeface="SimSun" pitchFamily="2" charset="-122"/>
              <a:cs typeface="Times New Roman" charset="0"/>
            </a:endParaRPr>
          </a:p>
          <a:p>
            <a:pPr marL="514350" indent="-514350">
              <a:buClrTx/>
              <a:buFont typeface="+mj-lt"/>
              <a:buAutoNum type="arabicPeriod"/>
            </a:pPr>
            <a:r>
              <a:rPr lang="fr-FR" altLang="zh-CN" dirty="0">
                <a:ea typeface="SimSun" pitchFamily="2" charset="-122"/>
                <a:cs typeface="Times New Roman" charset="0"/>
              </a:rPr>
              <a:t>Changement de l'emplacement du spouleur d'impression</a:t>
            </a:r>
            <a:r>
              <a:rPr lang="en-IE" altLang="zh-CN" dirty="0">
                <a:ea typeface="SimSun" pitchFamily="2" charset="-122"/>
                <a:cs typeface="Times New Roman" charset="0"/>
              </a:rPr>
              <a:t> </a:t>
            </a:r>
            <a:endParaRPr lang="en-US" altLang="zh-CN" dirty="0">
              <a:ea typeface="SimSun" pitchFamily="2" charset="-122"/>
              <a:cs typeface="Times New Roman" charset="0"/>
            </a:endParaRPr>
          </a:p>
          <a:p>
            <a:pPr marL="514350" indent="-514350">
              <a:buClrTx/>
              <a:buFont typeface="+mj-lt"/>
              <a:buAutoNum type="arabicPeriod"/>
            </a:pPr>
            <a:r>
              <a:rPr lang="fr-FR" altLang="zh-CN" dirty="0">
                <a:ea typeface="SimSun" pitchFamily="2" charset="-122"/>
                <a:cs typeface="Times New Roman" charset="0"/>
              </a:rPr>
              <a:t>Définition des priorités d'imprimantes</a:t>
            </a:r>
            <a:r>
              <a:rPr lang="en-IE" altLang="zh-CN" dirty="0">
                <a:ea typeface="SimSun" pitchFamily="2" charset="-122"/>
                <a:cs typeface="Times New Roman" charset="0"/>
              </a:rPr>
              <a:t> </a:t>
            </a:r>
            <a:r>
              <a:rPr lang="en-US" altLang="zh-CN" dirty="0">
                <a:ea typeface="SimSun" pitchFamily="2" charset="-122"/>
                <a:cs typeface="Times New Roman" charset="0"/>
              </a:rPr>
              <a:t> </a:t>
            </a:r>
          </a:p>
          <a:p>
            <a:pPr marL="514350" indent="-514350">
              <a:buClrTx/>
              <a:buFont typeface="+mj-lt"/>
              <a:buAutoNum type="arabicPeriod"/>
            </a:pPr>
            <a:r>
              <a:rPr lang="fr-FR" altLang="zh-CN" dirty="0">
                <a:ea typeface="SimSun" pitchFamily="2" charset="-122"/>
                <a:cs typeface="Times New Roman" charset="0"/>
              </a:rPr>
              <a:t>Planification de la disponibilité des imprimantes</a:t>
            </a:r>
            <a:r>
              <a:rPr lang="en-IE" altLang="zh-CN" dirty="0">
                <a:ea typeface="SimSun" pitchFamily="2" charset="-122"/>
                <a:cs typeface="Times New Roman" charset="0"/>
              </a:rPr>
              <a:t> </a:t>
            </a:r>
            <a:endParaRPr lang="en-US" altLang="zh-CN" dirty="0">
              <a:ea typeface="SimSun" pitchFamily="2" charset="-122"/>
              <a:cs typeface="Times New Roman" charset="0"/>
            </a:endParaRPr>
          </a:p>
          <a:p>
            <a:pPr marL="514350" indent="-514350">
              <a:buClrTx/>
              <a:buFont typeface="+mj-lt"/>
              <a:buAutoNum type="arabicPeriod"/>
            </a:pPr>
            <a:r>
              <a:rPr lang="fr-FR" altLang="zh-CN" dirty="0">
                <a:ea typeface="SimSun" pitchFamily="2" charset="-122"/>
                <a:cs typeface="Times New Roman" charset="0"/>
              </a:rPr>
              <a:t>Fonctionnement des pools d'impression</a:t>
            </a:r>
            <a:r>
              <a:rPr lang="en-IE" altLang="zh-CN" dirty="0">
                <a:ea typeface="SimSun" pitchFamily="2" charset="-122"/>
                <a:cs typeface="Times New Roman" charset="0"/>
              </a:rPr>
              <a:t> </a:t>
            </a:r>
            <a:endParaRPr lang="en-US" altLang="zh-CN" dirty="0">
              <a:ea typeface="SimSun" pitchFamily="2" charset="-122"/>
              <a:cs typeface="Times New Roman"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2"/>
          <p:cNvSpPr>
            <a:spLocks noGrp="1" noChangeArrowheads="1"/>
          </p:cNvSpPr>
          <p:nvPr>
            <p:ph type="title"/>
          </p:nvPr>
        </p:nvSpPr>
        <p:spPr>
          <a:xfrm>
            <a:off x="168812" y="228600"/>
            <a:ext cx="8792308" cy="758952"/>
          </a:xfrm>
        </p:spPr>
        <p:txBody>
          <a:bodyPr>
            <a:noAutofit/>
          </a:bodyPr>
          <a:lstStyle/>
          <a:p>
            <a:r>
              <a:rPr lang="fr-FR" altLang="zh-CN" sz="2600" b="1" dirty="0">
                <a:solidFill>
                  <a:srgbClr val="000000"/>
                </a:solidFill>
                <a:ea typeface="SimSun" pitchFamily="2" charset="-122"/>
                <a:cs typeface="Times New Roman" charset="0"/>
              </a:rPr>
              <a:t>1. Présentation de l'impression dans la famille Windows Server</a:t>
            </a:r>
            <a:endParaRPr lang="en-US" sz="2600" b="1" dirty="0">
              <a:solidFill>
                <a:srgbClr val="000000"/>
              </a:solidFill>
            </a:endParaRPr>
          </a:p>
        </p:txBody>
      </p:sp>
      <p:sp>
        <p:nvSpPr>
          <p:cNvPr id="288771" name="Rectangle-3"/>
          <p:cNvSpPr>
            <a:spLocks noGrp="1" noChangeArrowheads="1"/>
          </p:cNvSpPr>
          <p:nvPr>
            <p:ph sz="quarter" idx="1"/>
          </p:nvPr>
        </p:nvSpPr>
        <p:spPr>
          <a:xfrm>
            <a:off x="297368" y="2540106"/>
            <a:ext cx="8503920" cy="1746888"/>
          </a:xfrm>
        </p:spPr>
        <p:txBody>
          <a:bodyPr/>
          <a:lstStyle/>
          <a:p>
            <a:r>
              <a:rPr lang="fr-FR" altLang="zh-CN" dirty="0">
                <a:solidFill>
                  <a:srgbClr val="C00000"/>
                </a:solidFill>
                <a:ea typeface="SimSun" pitchFamily="2" charset="-122"/>
                <a:cs typeface="Times New Roman" charset="0"/>
              </a:rPr>
              <a:t>Terminologie de l'impression</a:t>
            </a:r>
            <a:r>
              <a:rPr lang="en-IE" altLang="zh-CN" dirty="0">
                <a:solidFill>
                  <a:srgbClr val="C00000"/>
                </a:solidFill>
                <a:ea typeface="SimSun" pitchFamily="2" charset="-122"/>
              </a:rPr>
              <a:t> </a:t>
            </a:r>
            <a:endParaRPr lang="en-US" dirty="0">
              <a:solidFill>
                <a:srgbClr val="C00000"/>
              </a:solidFill>
            </a:endParaRPr>
          </a:p>
          <a:p>
            <a:r>
              <a:rPr lang="fr-FR" altLang="zh-CN" dirty="0">
                <a:solidFill>
                  <a:srgbClr val="C00000"/>
                </a:solidFill>
                <a:ea typeface="SimSun" pitchFamily="2" charset="-122"/>
                <a:cs typeface="Times New Roman" charset="0"/>
              </a:rPr>
              <a:t>Fonctionnement de l'impression dans un environnement Windows Server </a:t>
            </a:r>
            <a:endParaRPr lang="en-US" altLang="zh-CN" dirty="0">
              <a:solidFill>
                <a:srgbClr val="C00000"/>
              </a:solidFill>
              <a:ea typeface="SimSun" pitchFamily="2" charset="-122"/>
              <a:cs typeface="Times New Roman"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Freeform-2"/>
          <p:cNvSpPr>
            <a:spLocks/>
          </p:cNvSpPr>
          <p:nvPr/>
        </p:nvSpPr>
        <p:spPr bwMode="auto">
          <a:xfrm>
            <a:off x="1021278" y="1995055"/>
            <a:ext cx="7362701" cy="3728851"/>
          </a:xfrm>
          <a:custGeom>
            <a:avLst/>
            <a:gdLst/>
            <a:ahLst/>
            <a:cxnLst>
              <a:cxn ang="0">
                <a:pos x="0" y="430"/>
              </a:cxn>
              <a:cxn ang="0">
                <a:pos x="632" y="65"/>
              </a:cxn>
              <a:cxn ang="0">
                <a:pos x="3091" y="65"/>
              </a:cxn>
              <a:cxn ang="0">
                <a:pos x="3771" y="458"/>
              </a:cxn>
            </a:cxnLst>
            <a:rect l="0" t="0" r="r" b="b"/>
            <a:pathLst>
              <a:path w="3771" h="458">
                <a:moveTo>
                  <a:pt x="0" y="430"/>
                </a:moveTo>
                <a:cubicBezTo>
                  <a:pt x="58" y="278"/>
                  <a:pt x="117" y="126"/>
                  <a:pt x="632" y="65"/>
                </a:cubicBezTo>
                <a:cubicBezTo>
                  <a:pt x="1147" y="4"/>
                  <a:pt x="2568" y="0"/>
                  <a:pt x="3091" y="65"/>
                </a:cubicBezTo>
                <a:cubicBezTo>
                  <a:pt x="3614" y="130"/>
                  <a:pt x="3692" y="294"/>
                  <a:pt x="3771" y="458"/>
                </a:cubicBezTo>
              </a:path>
            </a:pathLst>
          </a:custGeom>
          <a:noFill/>
          <a:ln w="76200" cap="rnd" cmpd="sng">
            <a:solidFill>
              <a:srgbClr val="EEEFD7">
                <a:alpha val="80000"/>
              </a:srgbClr>
            </a:solidFill>
            <a:prstDash val="sysDot"/>
            <a:round/>
            <a:headEnd/>
            <a:tailEnd/>
          </a:ln>
          <a:effectLst/>
        </p:spPr>
        <p:txBody>
          <a:bodyPr anchor="ctr"/>
          <a:lstStyle/>
          <a:p>
            <a:endParaRPr lang="fr-FR"/>
          </a:p>
        </p:txBody>
      </p:sp>
      <p:sp>
        <p:nvSpPr>
          <p:cNvPr id="490499" name="Rectangle-3"/>
          <p:cNvSpPr>
            <a:spLocks noChangeArrowheads="1"/>
          </p:cNvSpPr>
          <p:nvPr/>
        </p:nvSpPr>
        <p:spPr bwMode="auto">
          <a:xfrm>
            <a:off x="647700" y="163513"/>
            <a:ext cx="8189913" cy="841375"/>
          </a:xfrm>
          <a:prstGeom prst="rect">
            <a:avLst/>
          </a:prstGeom>
          <a:noFill/>
          <a:ln w="9525">
            <a:noFill/>
            <a:miter lim="800000"/>
            <a:headEnd/>
            <a:tailEnd/>
          </a:ln>
          <a:effectLst/>
        </p:spPr>
        <p:txBody>
          <a:bodyPr anchor="ctr"/>
          <a:lstStyle/>
          <a:p>
            <a:pPr>
              <a:lnSpc>
                <a:spcPct val="80000"/>
              </a:lnSpc>
              <a:buClr>
                <a:srgbClr val="DC0081"/>
              </a:buClr>
              <a:buFont typeface="Wingdings" pitchFamily="2" charset="2"/>
              <a:buNone/>
            </a:pPr>
            <a:endParaRPr lang="en-IE" sz="3000">
              <a:solidFill>
                <a:schemeClr val="tx2"/>
              </a:solidFill>
            </a:endParaRPr>
          </a:p>
        </p:txBody>
      </p:sp>
      <p:sp>
        <p:nvSpPr>
          <p:cNvPr id="490500" name="Rectangle-4"/>
          <p:cNvSpPr>
            <a:spLocks noGrp="1" noChangeArrowheads="1"/>
          </p:cNvSpPr>
          <p:nvPr>
            <p:ph type="title"/>
          </p:nvPr>
        </p:nvSpPr>
        <p:spPr/>
        <p:txBody>
          <a:bodyPr>
            <a:normAutofit/>
          </a:bodyPr>
          <a:lstStyle/>
          <a:p>
            <a:r>
              <a:rPr lang="fr-FR" altLang="zh-CN" b="1" dirty="0">
                <a:solidFill>
                  <a:srgbClr val="C00000"/>
                </a:solidFill>
                <a:ea typeface="SimSun" pitchFamily="2" charset="-122"/>
                <a:cs typeface="Times New Roman" charset="0"/>
              </a:rPr>
              <a:t>Terminologie  de l'impression</a:t>
            </a:r>
            <a:r>
              <a:rPr lang="en-IE" altLang="zh-CN" b="1" dirty="0">
                <a:solidFill>
                  <a:srgbClr val="C00000"/>
                </a:solidFill>
                <a:ea typeface="SimSun" pitchFamily="2" charset="-122"/>
              </a:rPr>
              <a:t> </a:t>
            </a:r>
            <a:endParaRPr lang="en-US" b="1" dirty="0">
              <a:solidFill>
                <a:srgbClr val="C00000"/>
              </a:solidFill>
            </a:endParaRPr>
          </a:p>
        </p:txBody>
      </p:sp>
      <p:pic>
        <p:nvPicPr>
          <p:cNvPr id="490503" name="Picture-7" descr="NetworkPrinter01"/>
          <p:cNvPicPr>
            <a:picLocks noChangeAspect="1" noChangeArrowheads="1"/>
          </p:cNvPicPr>
          <p:nvPr/>
        </p:nvPicPr>
        <p:blipFill>
          <a:blip r:embed="rId3" cstate="print"/>
          <a:srcRect/>
          <a:stretch>
            <a:fillRect/>
          </a:stretch>
        </p:blipFill>
        <p:spPr bwMode="auto">
          <a:xfrm>
            <a:off x="7715205" y="5343889"/>
            <a:ext cx="1194516" cy="1182450"/>
          </a:xfrm>
          <a:prstGeom prst="rect">
            <a:avLst/>
          </a:prstGeom>
          <a:noFill/>
        </p:spPr>
      </p:pic>
      <p:pic>
        <p:nvPicPr>
          <p:cNvPr id="490504" name="Picture-8" descr="Computer_DesktopComputer01"/>
          <p:cNvPicPr>
            <a:picLocks noChangeAspect="1" noChangeArrowheads="1"/>
          </p:cNvPicPr>
          <p:nvPr/>
        </p:nvPicPr>
        <p:blipFill>
          <a:blip r:embed="rId4" cstate="print"/>
          <a:srcRect/>
          <a:stretch>
            <a:fillRect/>
          </a:stretch>
        </p:blipFill>
        <p:spPr bwMode="auto">
          <a:xfrm>
            <a:off x="409963" y="5154966"/>
            <a:ext cx="1015076" cy="1136740"/>
          </a:xfrm>
          <a:prstGeom prst="rect">
            <a:avLst/>
          </a:prstGeom>
          <a:noFill/>
        </p:spPr>
      </p:pic>
      <p:pic>
        <p:nvPicPr>
          <p:cNvPr id="490505" name="Picture-9" descr="Document_Writing01"/>
          <p:cNvPicPr>
            <a:picLocks noChangeAspect="1" noChangeArrowheads="1"/>
          </p:cNvPicPr>
          <p:nvPr/>
        </p:nvPicPr>
        <p:blipFill>
          <a:blip r:embed="rId5" cstate="print"/>
          <a:srcRect/>
          <a:stretch>
            <a:fillRect/>
          </a:stretch>
        </p:blipFill>
        <p:spPr bwMode="auto">
          <a:xfrm>
            <a:off x="857679" y="4130951"/>
            <a:ext cx="555485" cy="904506"/>
          </a:xfrm>
          <a:prstGeom prst="rect">
            <a:avLst/>
          </a:prstGeom>
          <a:noFill/>
        </p:spPr>
      </p:pic>
      <p:grpSp>
        <p:nvGrpSpPr>
          <p:cNvPr id="490506" name="Group-10"/>
          <p:cNvGrpSpPr>
            <a:grpSpLocks/>
          </p:cNvGrpSpPr>
          <p:nvPr/>
        </p:nvGrpSpPr>
        <p:grpSpPr bwMode="auto">
          <a:xfrm>
            <a:off x="7448586" y="3182588"/>
            <a:ext cx="1089771" cy="1187532"/>
            <a:chOff x="823" y="373"/>
            <a:chExt cx="418" cy="560"/>
          </a:xfrm>
        </p:grpSpPr>
        <p:pic>
          <p:nvPicPr>
            <p:cNvPr id="490507" name="Picture-11" descr="Document_Writing01"/>
            <p:cNvPicPr>
              <a:picLocks noChangeAspect="1" noChangeArrowheads="1"/>
            </p:cNvPicPr>
            <p:nvPr/>
          </p:nvPicPr>
          <p:blipFill>
            <a:blip r:embed="rId5" cstate="print"/>
            <a:srcRect/>
            <a:stretch>
              <a:fillRect/>
            </a:stretch>
          </p:blipFill>
          <p:spPr bwMode="auto">
            <a:xfrm>
              <a:off x="823" y="373"/>
              <a:ext cx="226" cy="368"/>
            </a:xfrm>
            <a:prstGeom prst="rect">
              <a:avLst/>
            </a:prstGeom>
            <a:noFill/>
          </p:spPr>
        </p:pic>
        <p:pic>
          <p:nvPicPr>
            <p:cNvPr id="490508" name="Picture-12" descr="Document_Writing01"/>
            <p:cNvPicPr>
              <a:picLocks noChangeAspect="1" noChangeArrowheads="1"/>
            </p:cNvPicPr>
            <p:nvPr/>
          </p:nvPicPr>
          <p:blipFill>
            <a:blip r:embed="rId5" cstate="print"/>
            <a:srcRect/>
            <a:stretch>
              <a:fillRect/>
            </a:stretch>
          </p:blipFill>
          <p:spPr bwMode="auto">
            <a:xfrm>
              <a:off x="919" y="469"/>
              <a:ext cx="226" cy="368"/>
            </a:xfrm>
            <a:prstGeom prst="rect">
              <a:avLst/>
            </a:prstGeom>
            <a:noFill/>
          </p:spPr>
        </p:pic>
        <p:pic>
          <p:nvPicPr>
            <p:cNvPr id="490509" name="Picture-13" descr="Document_Writing01"/>
            <p:cNvPicPr>
              <a:picLocks noChangeAspect="1" noChangeArrowheads="1"/>
            </p:cNvPicPr>
            <p:nvPr/>
          </p:nvPicPr>
          <p:blipFill>
            <a:blip r:embed="rId5" cstate="print"/>
            <a:srcRect/>
            <a:stretch>
              <a:fillRect/>
            </a:stretch>
          </p:blipFill>
          <p:spPr bwMode="auto">
            <a:xfrm>
              <a:off x="1015" y="565"/>
              <a:ext cx="226" cy="368"/>
            </a:xfrm>
            <a:prstGeom prst="rect">
              <a:avLst/>
            </a:prstGeom>
            <a:noFill/>
          </p:spPr>
        </p:pic>
      </p:grpSp>
      <p:pic>
        <p:nvPicPr>
          <p:cNvPr id="490510" name="Picture-14" descr="Server01"/>
          <p:cNvPicPr>
            <a:picLocks noChangeAspect="1" noChangeArrowheads="1"/>
          </p:cNvPicPr>
          <p:nvPr/>
        </p:nvPicPr>
        <p:blipFill>
          <a:blip r:embed="rId6" cstate="print"/>
          <a:srcRect/>
          <a:stretch>
            <a:fillRect/>
          </a:stretch>
        </p:blipFill>
        <p:spPr bwMode="auto">
          <a:xfrm>
            <a:off x="1092531" y="2451050"/>
            <a:ext cx="992740" cy="1166583"/>
          </a:xfrm>
          <a:prstGeom prst="rect">
            <a:avLst/>
          </a:prstGeom>
          <a:noFill/>
        </p:spPr>
      </p:pic>
      <p:grpSp>
        <p:nvGrpSpPr>
          <p:cNvPr id="490511" name="Group-15"/>
          <p:cNvGrpSpPr>
            <a:grpSpLocks/>
          </p:cNvGrpSpPr>
          <p:nvPr/>
        </p:nvGrpSpPr>
        <p:grpSpPr bwMode="auto">
          <a:xfrm>
            <a:off x="3111336" y="1543793"/>
            <a:ext cx="1027232" cy="1157627"/>
            <a:chOff x="1978" y="3034"/>
            <a:chExt cx="412" cy="489"/>
          </a:xfrm>
        </p:grpSpPr>
        <p:pic>
          <p:nvPicPr>
            <p:cNvPr id="490512" name="Picture-16" descr="NetworkPrinter01"/>
            <p:cNvPicPr>
              <a:picLocks noChangeAspect="1" noChangeArrowheads="1"/>
            </p:cNvPicPr>
            <p:nvPr/>
          </p:nvPicPr>
          <p:blipFill>
            <a:blip r:embed="rId7" cstate="print"/>
            <a:srcRect/>
            <a:stretch>
              <a:fillRect/>
            </a:stretch>
          </p:blipFill>
          <p:spPr bwMode="auto">
            <a:xfrm>
              <a:off x="1998" y="3091"/>
              <a:ext cx="361" cy="358"/>
            </a:xfrm>
            <a:prstGeom prst="rect">
              <a:avLst/>
            </a:prstGeom>
            <a:noFill/>
            <a:ln w="9525">
              <a:noFill/>
              <a:miter lim="800000"/>
              <a:headEnd/>
              <a:tailEnd/>
            </a:ln>
          </p:spPr>
        </p:pic>
        <p:grpSp>
          <p:nvGrpSpPr>
            <p:cNvPr id="490513" name="Group 17"/>
            <p:cNvGrpSpPr>
              <a:grpSpLocks/>
            </p:cNvGrpSpPr>
            <p:nvPr/>
          </p:nvGrpSpPr>
          <p:grpSpPr bwMode="auto">
            <a:xfrm>
              <a:off x="1978" y="3034"/>
              <a:ext cx="412" cy="489"/>
              <a:chOff x="1978" y="3034"/>
              <a:chExt cx="412" cy="489"/>
            </a:xfrm>
          </p:grpSpPr>
          <p:sp>
            <p:nvSpPr>
              <p:cNvPr id="490514" name="Rectangle-18"/>
              <p:cNvSpPr>
                <a:spLocks noChangeArrowheads="1"/>
              </p:cNvSpPr>
              <p:nvPr/>
            </p:nvSpPr>
            <p:spPr bwMode="auto">
              <a:xfrm>
                <a:off x="1978" y="3043"/>
                <a:ext cx="412" cy="471"/>
              </a:xfrm>
              <a:prstGeom prst="rect">
                <a:avLst/>
              </a:prstGeom>
              <a:noFill/>
              <a:ln w="9525" algn="ctr">
                <a:solidFill>
                  <a:srgbClr val="33CC33">
                    <a:alpha val="49001"/>
                  </a:srgbClr>
                </a:solidFill>
                <a:miter lim="800000"/>
                <a:headEnd/>
                <a:tailEnd/>
              </a:ln>
              <a:effectLst/>
            </p:spPr>
            <p:txBody>
              <a:bodyPr wrap="none" anchor="ctr"/>
              <a:lstStyle/>
              <a:p>
                <a:endParaRPr lang="fr-FR"/>
              </a:p>
            </p:txBody>
          </p:sp>
          <p:sp>
            <p:nvSpPr>
              <p:cNvPr id="490515" name="Line-19"/>
              <p:cNvSpPr>
                <a:spLocks noChangeShapeType="1"/>
              </p:cNvSpPr>
              <p:nvPr/>
            </p:nvSpPr>
            <p:spPr bwMode="auto">
              <a:xfrm>
                <a:off x="2102" y="3043"/>
                <a:ext cx="0" cy="471"/>
              </a:xfrm>
              <a:prstGeom prst="line">
                <a:avLst/>
              </a:prstGeom>
              <a:noFill/>
              <a:ln w="9525">
                <a:solidFill>
                  <a:srgbClr val="33CC33">
                    <a:alpha val="49001"/>
                  </a:srgbClr>
                </a:solidFill>
                <a:round/>
                <a:headEnd/>
                <a:tailEnd/>
              </a:ln>
              <a:effectLst/>
            </p:spPr>
            <p:txBody>
              <a:bodyPr anchor="ctr"/>
              <a:lstStyle/>
              <a:p>
                <a:endParaRPr lang="fr-FR"/>
              </a:p>
            </p:txBody>
          </p:sp>
          <p:sp>
            <p:nvSpPr>
              <p:cNvPr id="490516" name="Line-20"/>
              <p:cNvSpPr>
                <a:spLocks noChangeShapeType="1"/>
              </p:cNvSpPr>
              <p:nvPr/>
            </p:nvSpPr>
            <p:spPr bwMode="auto">
              <a:xfrm>
                <a:off x="2266" y="3043"/>
                <a:ext cx="0" cy="480"/>
              </a:xfrm>
              <a:prstGeom prst="line">
                <a:avLst/>
              </a:prstGeom>
              <a:noFill/>
              <a:ln w="9525">
                <a:solidFill>
                  <a:srgbClr val="33CC33">
                    <a:alpha val="49001"/>
                  </a:srgbClr>
                </a:solidFill>
                <a:round/>
                <a:headEnd/>
                <a:tailEnd/>
              </a:ln>
              <a:effectLst/>
            </p:spPr>
            <p:txBody>
              <a:bodyPr anchor="ctr"/>
              <a:lstStyle/>
              <a:p>
                <a:endParaRPr lang="fr-FR"/>
              </a:p>
            </p:txBody>
          </p:sp>
          <p:sp>
            <p:nvSpPr>
              <p:cNvPr id="490517" name="Line-21"/>
              <p:cNvSpPr>
                <a:spLocks noChangeShapeType="1"/>
              </p:cNvSpPr>
              <p:nvPr/>
            </p:nvSpPr>
            <p:spPr bwMode="auto">
              <a:xfrm flipH="1">
                <a:off x="1997" y="3178"/>
                <a:ext cx="374" cy="0"/>
              </a:xfrm>
              <a:prstGeom prst="line">
                <a:avLst/>
              </a:prstGeom>
              <a:noFill/>
              <a:ln w="9525">
                <a:solidFill>
                  <a:srgbClr val="33CC33">
                    <a:alpha val="49001"/>
                  </a:srgbClr>
                </a:solidFill>
                <a:round/>
                <a:headEnd/>
                <a:tailEnd/>
              </a:ln>
              <a:effectLst/>
            </p:spPr>
            <p:txBody>
              <a:bodyPr anchor="ctr"/>
              <a:lstStyle/>
              <a:p>
                <a:endParaRPr lang="fr-FR"/>
              </a:p>
            </p:txBody>
          </p:sp>
          <p:sp>
            <p:nvSpPr>
              <p:cNvPr id="490518" name="Line-22"/>
              <p:cNvSpPr>
                <a:spLocks noChangeShapeType="1"/>
              </p:cNvSpPr>
              <p:nvPr/>
            </p:nvSpPr>
            <p:spPr bwMode="auto">
              <a:xfrm flipH="1">
                <a:off x="2006" y="3341"/>
                <a:ext cx="356" cy="9"/>
              </a:xfrm>
              <a:prstGeom prst="line">
                <a:avLst/>
              </a:prstGeom>
              <a:noFill/>
              <a:ln w="9525">
                <a:solidFill>
                  <a:srgbClr val="33CC33">
                    <a:alpha val="49001"/>
                  </a:srgbClr>
                </a:solidFill>
                <a:round/>
                <a:headEnd/>
                <a:tailEnd/>
              </a:ln>
              <a:effectLst/>
            </p:spPr>
            <p:txBody>
              <a:bodyPr anchor="ctr"/>
              <a:lstStyle/>
              <a:p>
                <a:endParaRPr lang="fr-FR"/>
              </a:p>
            </p:txBody>
          </p:sp>
          <p:sp>
            <p:nvSpPr>
              <p:cNvPr id="490519" name="Line-23"/>
              <p:cNvSpPr>
                <a:spLocks noChangeShapeType="1"/>
              </p:cNvSpPr>
              <p:nvPr/>
            </p:nvSpPr>
            <p:spPr bwMode="auto">
              <a:xfrm>
                <a:off x="2170" y="3034"/>
                <a:ext cx="0" cy="480"/>
              </a:xfrm>
              <a:prstGeom prst="line">
                <a:avLst/>
              </a:prstGeom>
              <a:noFill/>
              <a:ln w="9525">
                <a:solidFill>
                  <a:srgbClr val="33CC33">
                    <a:alpha val="49001"/>
                  </a:srgbClr>
                </a:solidFill>
                <a:round/>
                <a:headEnd/>
                <a:tailEnd/>
              </a:ln>
              <a:effectLst/>
            </p:spPr>
            <p:txBody>
              <a:bodyPr anchor="ctr"/>
              <a:lstStyle/>
              <a:p>
                <a:endParaRPr lang="fr-FR"/>
              </a:p>
            </p:txBody>
          </p:sp>
          <p:sp>
            <p:nvSpPr>
              <p:cNvPr id="490520" name="Line-24"/>
              <p:cNvSpPr>
                <a:spLocks noChangeShapeType="1"/>
              </p:cNvSpPr>
              <p:nvPr/>
            </p:nvSpPr>
            <p:spPr bwMode="auto">
              <a:xfrm flipH="1" flipV="1">
                <a:off x="2016" y="3264"/>
                <a:ext cx="365" cy="10"/>
              </a:xfrm>
              <a:prstGeom prst="line">
                <a:avLst/>
              </a:prstGeom>
              <a:noFill/>
              <a:ln w="9525">
                <a:solidFill>
                  <a:srgbClr val="33CC33">
                    <a:alpha val="49001"/>
                  </a:srgbClr>
                </a:solidFill>
                <a:round/>
                <a:headEnd/>
                <a:tailEnd/>
              </a:ln>
              <a:effectLst/>
            </p:spPr>
            <p:txBody>
              <a:bodyPr anchor="ctr"/>
              <a:lstStyle/>
              <a:p>
                <a:endParaRPr lang="fr-FR"/>
              </a:p>
            </p:txBody>
          </p:sp>
          <p:sp>
            <p:nvSpPr>
              <p:cNvPr id="490521" name="Line-25"/>
              <p:cNvSpPr>
                <a:spLocks noChangeShapeType="1"/>
              </p:cNvSpPr>
              <p:nvPr/>
            </p:nvSpPr>
            <p:spPr bwMode="auto">
              <a:xfrm flipH="1">
                <a:off x="1978" y="3437"/>
                <a:ext cx="393" cy="9"/>
              </a:xfrm>
              <a:prstGeom prst="line">
                <a:avLst/>
              </a:prstGeom>
              <a:noFill/>
              <a:ln w="9525">
                <a:solidFill>
                  <a:srgbClr val="33CC33">
                    <a:alpha val="49001"/>
                  </a:srgbClr>
                </a:solidFill>
                <a:round/>
                <a:headEnd/>
                <a:tailEnd/>
              </a:ln>
              <a:effectLst/>
            </p:spPr>
            <p:txBody>
              <a:bodyPr anchor="ctr"/>
              <a:lstStyle/>
              <a:p>
                <a:endParaRPr lang="fr-FR"/>
              </a:p>
            </p:txBody>
          </p:sp>
          <p:sp>
            <p:nvSpPr>
              <p:cNvPr id="490522" name="Line-26"/>
              <p:cNvSpPr>
                <a:spLocks noChangeShapeType="1"/>
              </p:cNvSpPr>
              <p:nvPr/>
            </p:nvSpPr>
            <p:spPr bwMode="auto">
              <a:xfrm flipH="1">
                <a:off x="1978" y="3101"/>
                <a:ext cx="403" cy="0"/>
              </a:xfrm>
              <a:prstGeom prst="line">
                <a:avLst/>
              </a:prstGeom>
              <a:noFill/>
              <a:ln w="9525">
                <a:solidFill>
                  <a:srgbClr val="33CC33">
                    <a:alpha val="49001"/>
                  </a:srgbClr>
                </a:solidFill>
                <a:round/>
                <a:headEnd/>
                <a:tailEnd/>
              </a:ln>
              <a:effectLst/>
            </p:spPr>
            <p:txBody>
              <a:bodyPr anchor="ctr"/>
              <a:lstStyle/>
              <a:p>
                <a:endParaRPr lang="fr-FR"/>
              </a:p>
            </p:txBody>
          </p:sp>
        </p:grpSp>
      </p:grpSp>
      <p:pic>
        <p:nvPicPr>
          <p:cNvPr id="490523" name="Picture-27" descr="draft_port"/>
          <p:cNvPicPr>
            <a:picLocks noChangeAspect="1" noChangeArrowheads="1"/>
          </p:cNvPicPr>
          <p:nvPr/>
        </p:nvPicPr>
        <p:blipFill>
          <a:blip r:embed="rId8"/>
          <a:srcRect/>
          <a:stretch>
            <a:fillRect/>
          </a:stretch>
        </p:blipFill>
        <p:spPr bwMode="auto">
          <a:xfrm>
            <a:off x="7943804" y="5227521"/>
            <a:ext cx="808309" cy="606230"/>
          </a:xfrm>
          <a:prstGeom prst="rect">
            <a:avLst/>
          </a:prstGeom>
          <a:noFill/>
        </p:spPr>
      </p:pic>
      <p:pic>
        <p:nvPicPr>
          <p:cNvPr id="490524" name="Picture-28" descr="ServerProcess01"/>
          <p:cNvPicPr>
            <a:picLocks noChangeAspect="1" noChangeArrowheads="1"/>
          </p:cNvPicPr>
          <p:nvPr/>
        </p:nvPicPr>
        <p:blipFill>
          <a:blip r:embed="rId9" cstate="print"/>
          <a:srcRect/>
          <a:stretch>
            <a:fillRect/>
          </a:stretch>
        </p:blipFill>
        <p:spPr bwMode="auto">
          <a:xfrm>
            <a:off x="522820" y="5931529"/>
            <a:ext cx="488471" cy="375886"/>
          </a:xfrm>
          <a:prstGeom prst="rect">
            <a:avLst/>
          </a:prstGeom>
          <a:noFill/>
        </p:spPr>
      </p:pic>
      <p:grpSp>
        <p:nvGrpSpPr>
          <p:cNvPr id="490525" name="Group-29"/>
          <p:cNvGrpSpPr>
            <a:grpSpLocks/>
          </p:cNvGrpSpPr>
          <p:nvPr/>
        </p:nvGrpSpPr>
        <p:grpSpPr bwMode="auto">
          <a:xfrm>
            <a:off x="5068120" y="1662546"/>
            <a:ext cx="1047671" cy="958467"/>
            <a:chOff x="-184" y="3634"/>
            <a:chExt cx="645" cy="686"/>
          </a:xfrm>
        </p:grpSpPr>
        <p:pic>
          <p:nvPicPr>
            <p:cNvPr id="490526" name="Picture-30" descr="NetworkPrinter01"/>
            <p:cNvPicPr>
              <a:picLocks noChangeAspect="1" noChangeArrowheads="1"/>
            </p:cNvPicPr>
            <p:nvPr/>
          </p:nvPicPr>
          <p:blipFill>
            <a:blip r:embed="rId10" cstate="print"/>
            <a:srcRect/>
            <a:stretch>
              <a:fillRect/>
            </a:stretch>
          </p:blipFill>
          <p:spPr bwMode="auto">
            <a:xfrm>
              <a:off x="-184" y="3732"/>
              <a:ext cx="594" cy="588"/>
            </a:xfrm>
            <a:prstGeom prst="rect">
              <a:avLst/>
            </a:prstGeom>
            <a:noFill/>
          </p:spPr>
        </p:pic>
        <p:pic>
          <p:nvPicPr>
            <p:cNvPr id="490527" name="Picture-31" descr="econoline-spool"/>
            <p:cNvPicPr>
              <a:picLocks noChangeAspect="1" noChangeArrowheads="1"/>
            </p:cNvPicPr>
            <p:nvPr/>
          </p:nvPicPr>
          <p:blipFill>
            <a:blip r:embed="rId11" cstate="print">
              <a:clrChange>
                <a:clrFrom>
                  <a:srgbClr val="FFFFFF"/>
                </a:clrFrom>
                <a:clrTo>
                  <a:srgbClr val="FFFFFF">
                    <a:alpha val="0"/>
                  </a:srgbClr>
                </a:clrTo>
              </a:clrChange>
            </a:blip>
            <a:srcRect/>
            <a:stretch>
              <a:fillRect/>
            </a:stretch>
          </p:blipFill>
          <p:spPr bwMode="auto">
            <a:xfrm>
              <a:off x="146" y="3634"/>
              <a:ext cx="315" cy="386"/>
            </a:xfrm>
            <a:prstGeom prst="rect">
              <a:avLst/>
            </a:prstGeom>
            <a:noFill/>
          </p:spPr>
        </p:pic>
      </p:grpSp>
      <p:sp>
        <p:nvSpPr>
          <p:cNvPr id="33" name="ZoneTexte 32"/>
          <p:cNvSpPr txBox="1"/>
          <p:nvPr/>
        </p:nvSpPr>
        <p:spPr>
          <a:xfrm>
            <a:off x="2113808" y="5296394"/>
            <a:ext cx="3895106" cy="1107996"/>
          </a:xfrm>
          <a:prstGeom prst="rect">
            <a:avLst/>
          </a:prstGeom>
          <a:noFill/>
        </p:spPr>
        <p:txBody>
          <a:bodyPr wrap="square" rtlCol="0">
            <a:spAutoFit/>
          </a:bodyPr>
          <a:lstStyle/>
          <a:p>
            <a:pPr algn="ctr"/>
            <a:r>
              <a:rPr lang="fr-FR" sz="2200" dirty="0"/>
              <a:t>Logiciel permettant aux application de communiquer avec des imprimantes spécifiques</a:t>
            </a:r>
          </a:p>
        </p:txBody>
      </p:sp>
      <p:sp>
        <p:nvSpPr>
          <p:cNvPr id="34" name="Rectangle à coins arrondis 33"/>
          <p:cNvSpPr/>
          <p:nvPr/>
        </p:nvSpPr>
        <p:spPr>
          <a:xfrm>
            <a:off x="47500" y="5771408"/>
            <a:ext cx="2006930" cy="62939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r-FR" dirty="0">
                <a:solidFill>
                  <a:schemeClr val="tx1"/>
                </a:solidFill>
              </a:rPr>
              <a:t>Pilote d'imprimante</a:t>
            </a:r>
          </a:p>
        </p:txBody>
      </p:sp>
      <p:sp>
        <p:nvSpPr>
          <p:cNvPr id="35" name="Rectangle à coins arrondis 34"/>
          <p:cNvSpPr/>
          <p:nvPr/>
        </p:nvSpPr>
        <p:spPr>
          <a:xfrm>
            <a:off x="47500" y="4593772"/>
            <a:ext cx="2006930" cy="62939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r-FR" dirty="0">
                <a:solidFill>
                  <a:schemeClr val="tx1"/>
                </a:solidFill>
              </a:rPr>
              <a:t>Tâche d'impression</a:t>
            </a:r>
          </a:p>
        </p:txBody>
      </p:sp>
      <p:sp>
        <p:nvSpPr>
          <p:cNvPr id="36" name="ZoneTexte 35"/>
          <p:cNvSpPr txBox="1"/>
          <p:nvPr/>
        </p:nvSpPr>
        <p:spPr>
          <a:xfrm>
            <a:off x="2206830" y="4558145"/>
            <a:ext cx="3895106" cy="769441"/>
          </a:xfrm>
          <a:prstGeom prst="rect">
            <a:avLst/>
          </a:prstGeom>
          <a:noFill/>
        </p:spPr>
        <p:txBody>
          <a:bodyPr wrap="square" rtlCol="0">
            <a:spAutoFit/>
          </a:bodyPr>
          <a:lstStyle/>
          <a:p>
            <a:pPr algn="ctr"/>
            <a:r>
              <a:rPr lang="fr-FR" sz="2200" dirty="0"/>
              <a:t>Tout document envoyé à une imprimante</a:t>
            </a:r>
          </a:p>
        </p:txBody>
      </p:sp>
      <p:sp>
        <p:nvSpPr>
          <p:cNvPr id="37" name="Rectangle à coins arrondis 36"/>
          <p:cNvSpPr/>
          <p:nvPr/>
        </p:nvSpPr>
        <p:spPr>
          <a:xfrm>
            <a:off x="59375" y="3154879"/>
            <a:ext cx="2006930" cy="629392"/>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r-FR" dirty="0">
                <a:solidFill>
                  <a:schemeClr val="tx1"/>
                </a:solidFill>
              </a:rPr>
              <a:t>Serveur d'impression</a:t>
            </a:r>
          </a:p>
        </p:txBody>
      </p:sp>
      <p:sp>
        <p:nvSpPr>
          <p:cNvPr id="38" name="ZoneTexte 37"/>
          <p:cNvSpPr txBox="1"/>
          <p:nvPr/>
        </p:nvSpPr>
        <p:spPr>
          <a:xfrm>
            <a:off x="2074224" y="3748648"/>
            <a:ext cx="4789714" cy="769441"/>
          </a:xfrm>
          <a:prstGeom prst="rect">
            <a:avLst/>
          </a:prstGeom>
          <a:noFill/>
        </p:spPr>
        <p:txBody>
          <a:bodyPr wrap="square" rtlCol="0">
            <a:spAutoFit/>
          </a:bodyPr>
          <a:lstStyle/>
          <a:p>
            <a:pPr algn="ctr"/>
            <a:r>
              <a:rPr lang="fr-FR" sz="2200" dirty="0"/>
              <a:t>Ordinateur responsable de la gestion des files d'attente d'un groupe d'imprimantes</a:t>
            </a:r>
          </a:p>
        </p:txBody>
      </p:sp>
      <p:sp>
        <p:nvSpPr>
          <p:cNvPr id="39" name="Rectangle à coins arrondis 38"/>
          <p:cNvSpPr/>
          <p:nvPr/>
        </p:nvSpPr>
        <p:spPr>
          <a:xfrm>
            <a:off x="1173676" y="1668484"/>
            <a:ext cx="2006930" cy="409698"/>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r-FR" dirty="0">
                <a:solidFill>
                  <a:schemeClr val="tx1"/>
                </a:solidFill>
              </a:rPr>
              <a:t>Imprimante</a:t>
            </a:r>
          </a:p>
        </p:txBody>
      </p:sp>
      <p:sp>
        <p:nvSpPr>
          <p:cNvPr id="40" name="Rectangle à coins arrondis 39"/>
          <p:cNvSpPr/>
          <p:nvPr/>
        </p:nvSpPr>
        <p:spPr>
          <a:xfrm>
            <a:off x="2291939" y="1555670"/>
            <a:ext cx="4762004" cy="1187531"/>
          </a:xfrm>
          <a:prstGeom prst="wedgeRoundRectCallout">
            <a:avLst>
              <a:gd name="adj1" fmla="val -55412"/>
              <a:gd name="adj2" fmla="val 52056"/>
              <a:gd name="adj3" fmla="val 16667"/>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ZoneTexte 40"/>
          <p:cNvSpPr txBox="1"/>
          <p:nvPr/>
        </p:nvSpPr>
        <p:spPr>
          <a:xfrm>
            <a:off x="2226623" y="2725392"/>
            <a:ext cx="4744191" cy="1107996"/>
          </a:xfrm>
          <a:prstGeom prst="rect">
            <a:avLst/>
          </a:prstGeom>
          <a:noFill/>
        </p:spPr>
        <p:txBody>
          <a:bodyPr wrap="square" rtlCol="0">
            <a:spAutoFit/>
          </a:bodyPr>
          <a:lstStyle/>
          <a:p>
            <a:pPr algn="ctr"/>
            <a:r>
              <a:rPr lang="fr-FR" sz="2200" dirty="0"/>
              <a:t>Interface logicielle entre un périphérique d'impression et les ordinateurs (imprimante logique) </a:t>
            </a:r>
          </a:p>
        </p:txBody>
      </p:sp>
      <p:sp>
        <p:nvSpPr>
          <p:cNvPr id="42" name="Rectangle à coins arrondis 41"/>
          <p:cNvSpPr/>
          <p:nvPr/>
        </p:nvSpPr>
        <p:spPr>
          <a:xfrm>
            <a:off x="6479966" y="1702130"/>
            <a:ext cx="2006930" cy="58980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r-FR" dirty="0">
                <a:solidFill>
                  <a:schemeClr val="tx1"/>
                </a:solidFill>
              </a:rPr>
              <a:t>Spouleur d'impression</a:t>
            </a:r>
          </a:p>
        </p:txBody>
      </p:sp>
      <p:sp>
        <p:nvSpPr>
          <p:cNvPr id="43" name="ZoneTexte 42"/>
          <p:cNvSpPr txBox="1"/>
          <p:nvPr/>
        </p:nvSpPr>
        <p:spPr>
          <a:xfrm>
            <a:off x="2319645" y="2806541"/>
            <a:ext cx="4924303" cy="769441"/>
          </a:xfrm>
          <a:prstGeom prst="rect">
            <a:avLst/>
          </a:prstGeom>
          <a:noFill/>
        </p:spPr>
        <p:txBody>
          <a:bodyPr wrap="square" rtlCol="0">
            <a:spAutoFit/>
          </a:bodyPr>
          <a:lstStyle/>
          <a:p>
            <a:pPr algn="ctr"/>
            <a:r>
              <a:rPr lang="fr-FR" sz="2200" dirty="0"/>
              <a:t>Logiciel qui reçoit, traite, planifie et distribue les documents à imprimer</a:t>
            </a:r>
          </a:p>
        </p:txBody>
      </p:sp>
      <p:sp>
        <p:nvSpPr>
          <p:cNvPr id="44" name="Rectangle à coins arrondis 43"/>
          <p:cNvSpPr/>
          <p:nvPr/>
        </p:nvSpPr>
        <p:spPr>
          <a:xfrm>
            <a:off x="7059876" y="3956463"/>
            <a:ext cx="2006930" cy="58980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r-FR" dirty="0">
                <a:solidFill>
                  <a:schemeClr val="tx1"/>
                </a:solidFill>
              </a:rPr>
              <a:t>File d'attente d'impression</a:t>
            </a:r>
          </a:p>
        </p:txBody>
      </p:sp>
      <p:sp>
        <p:nvSpPr>
          <p:cNvPr id="45" name="ZoneTexte 44"/>
          <p:cNvSpPr txBox="1"/>
          <p:nvPr/>
        </p:nvSpPr>
        <p:spPr>
          <a:xfrm>
            <a:off x="2240478" y="3853547"/>
            <a:ext cx="4789714" cy="769441"/>
          </a:xfrm>
          <a:prstGeom prst="rect">
            <a:avLst/>
          </a:prstGeom>
          <a:noFill/>
        </p:spPr>
        <p:txBody>
          <a:bodyPr wrap="square" rtlCol="0">
            <a:spAutoFit/>
          </a:bodyPr>
          <a:lstStyle/>
          <a:p>
            <a:pPr algn="ctr"/>
            <a:r>
              <a:rPr lang="fr-FR" sz="2200" dirty="0"/>
              <a:t>Ensemble des tâches en attente sur une imprimante particulière</a:t>
            </a:r>
          </a:p>
        </p:txBody>
      </p:sp>
      <p:sp>
        <p:nvSpPr>
          <p:cNvPr id="46" name="Rectangle à coins arrondis 45"/>
          <p:cNvSpPr/>
          <p:nvPr/>
        </p:nvSpPr>
        <p:spPr>
          <a:xfrm>
            <a:off x="7065820" y="4619502"/>
            <a:ext cx="2006930" cy="58980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r-FR" dirty="0">
                <a:solidFill>
                  <a:schemeClr val="tx1"/>
                </a:solidFill>
              </a:rPr>
              <a:t>Port d'imprimante</a:t>
            </a:r>
          </a:p>
        </p:txBody>
      </p:sp>
      <p:sp>
        <p:nvSpPr>
          <p:cNvPr id="47" name="ZoneTexte 46"/>
          <p:cNvSpPr txBox="1"/>
          <p:nvPr/>
        </p:nvSpPr>
        <p:spPr>
          <a:xfrm>
            <a:off x="2762992" y="4627417"/>
            <a:ext cx="4267200" cy="1107996"/>
          </a:xfrm>
          <a:prstGeom prst="rect">
            <a:avLst/>
          </a:prstGeom>
          <a:noFill/>
        </p:spPr>
        <p:txBody>
          <a:bodyPr wrap="square" rtlCol="0">
            <a:spAutoFit/>
          </a:bodyPr>
          <a:lstStyle/>
          <a:p>
            <a:pPr algn="ctr"/>
            <a:r>
              <a:rPr lang="fr-FR" sz="2200" dirty="0"/>
              <a:t>Interface de communication de l'imprimante logique avec le périphérique d'impression</a:t>
            </a:r>
          </a:p>
        </p:txBody>
      </p:sp>
      <p:sp>
        <p:nvSpPr>
          <p:cNvPr id="48" name="Rectangle à coins arrondis 47"/>
          <p:cNvSpPr/>
          <p:nvPr/>
        </p:nvSpPr>
        <p:spPr>
          <a:xfrm>
            <a:off x="7077695" y="6030687"/>
            <a:ext cx="2006930" cy="589807"/>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fr-FR" dirty="0">
                <a:solidFill>
                  <a:schemeClr val="tx1"/>
                </a:solidFill>
              </a:rPr>
              <a:t>Périphérique d'impression</a:t>
            </a:r>
          </a:p>
        </p:txBody>
      </p:sp>
      <p:sp>
        <p:nvSpPr>
          <p:cNvPr id="49" name="ZoneTexte 48"/>
          <p:cNvSpPr txBox="1"/>
          <p:nvPr/>
        </p:nvSpPr>
        <p:spPr>
          <a:xfrm>
            <a:off x="3061855" y="5472545"/>
            <a:ext cx="3895106" cy="1107996"/>
          </a:xfrm>
          <a:prstGeom prst="rect">
            <a:avLst/>
          </a:prstGeom>
          <a:noFill/>
        </p:spPr>
        <p:txBody>
          <a:bodyPr wrap="square" rtlCol="0">
            <a:spAutoFit/>
          </a:bodyPr>
          <a:lstStyle/>
          <a:p>
            <a:pPr algn="ctr"/>
            <a:r>
              <a:rPr lang="fr-FR" sz="2200" dirty="0"/>
              <a:t>Périphériques physiques produisant des pages imprimées (imprimante physique)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nodeType="withEffect">
                                  <p:stCondLst>
                                    <p:cond delay="0"/>
                                  </p:stCondLst>
                                  <p:childTnLst>
                                    <p:set>
                                      <p:cBhvr rctx="PPT">
                                        <p:cTn id="6" dur="indefinite"/>
                                        <p:tgtEl>
                                          <p:spTgt spid="490504"/>
                                        </p:tgtEl>
                                        <p:attrNameLst>
                                          <p:attrName>style.opacity</p:attrName>
                                        </p:attrNameLst>
                                      </p:cBhvr>
                                      <p:to>
                                        <p:strVal val="0.25"/>
                                      </p:to>
                                    </p:set>
                                    <p:animEffect filter="image" prLst="opacity: 0.25">
                                      <p:cBhvr rctx="IE">
                                        <p:cTn id="7" dur="indefinite"/>
                                        <p:tgtEl>
                                          <p:spTgt spid="490504"/>
                                        </p:tgtEl>
                                      </p:cBhvr>
                                    </p:animEffect>
                                  </p:childTnLst>
                                </p:cTn>
                              </p:par>
                              <p:par>
                                <p:cTn id="8" presetID="9" presetClass="emph" presetSubtype="0" nodeType="withEffect">
                                  <p:stCondLst>
                                    <p:cond delay="0"/>
                                  </p:stCondLst>
                                  <p:childTnLst>
                                    <p:set>
                                      <p:cBhvr rctx="PPT">
                                        <p:cTn id="9" dur="indefinite"/>
                                        <p:tgtEl>
                                          <p:spTgt spid="490505"/>
                                        </p:tgtEl>
                                        <p:attrNameLst>
                                          <p:attrName>style.opacity</p:attrName>
                                        </p:attrNameLst>
                                      </p:cBhvr>
                                      <p:to>
                                        <p:strVal val="0.25"/>
                                      </p:to>
                                    </p:set>
                                    <p:animEffect filter="image" prLst="opacity: 0.25">
                                      <p:cBhvr rctx="IE">
                                        <p:cTn id="10" dur="indefinite"/>
                                        <p:tgtEl>
                                          <p:spTgt spid="490505"/>
                                        </p:tgtEl>
                                      </p:cBhvr>
                                    </p:animEffect>
                                  </p:childTnLst>
                                </p:cTn>
                              </p:par>
                              <p:par>
                                <p:cTn id="11" presetID="9" presetClass="emph" presetSubtype="0" nodeType="withEffect">
                                  <p:stCondLst>
                                    <p:cond delay="0"/>
                                  </p:stCondLst>
                                  <p:childTnLst>
                                    <p:set>
                                      <p:cBhvr rctx="PPT">
                                        <p:cTn id="12" dur="indefinite"/>
                                        <p:tgtEl>
                                          <p:spTgt spid="490510"/>
                                        </p:tgtEl>
                                        <p:attrNameLst>
                                          <p:attrName>style.opacity</p:attrName>
                                        </p:attrNameLst>
                                      </p:cBhvr>
                                      <p:to>
                                        <p:strVal val="0.25"/>
                                      </p:to>
                                    </p:set>
                                    <p:animEffect filter="image" prLst="opacity: 0.25">
                                      <p:cBhvr rctx="IE">
                                        <p:cTn id="13" dur="indefinite"/>
                                        <p:tgtEl>
                                          <p:spTgt spid="490510"/>
                                        </p:tgtEl>
                                      </p:cBhvr>
                                    </p:animEffect>
                                  </p:childTnLst>
                                </p:cTn>
                              </p:par>
                              <p:par>
                                <p:cTn id="14" presetID="9" presetClass="emph" presetSubtype="0" nodeType="withEffect">
                                  <p:stCondLst>
                                    <p:cond delay="0"/>
                                  </p:stCondLst>
                                  <p:childTnLst>
                                    <p:set>
                                      <p:cBhvr rctx="PPT">
                                        <p:cTn id="15" dur="indefinite"/>
                                        <p:tgtEl>
                                          <p:spTgt spid="490511"/>
                                        </p:tgtEl>
                                        <p:attrNameLst>
                                          <p:attrName>style.opacity</p:attrName>
                                        </p:attrNameLst>
                                      </p:cBhvr>
                                      <p:to>
                                        <p:strVal val="0.25"/>
                                      </p:to>
                                    </p:set>
                                    <p:animEffect filter="image" prLst="opacity: 0.25">
                                      <p:cBhvr rctx="IE">
                                        <p:cTn id="16" dur="indefinite"/>
                                        <p:tgtEl>
                                          <p:spTgt spid="490511"/>
                                        </p:tgtEl>
                                      </p:cBhvr>
                                    </p:animEffect>
                                  </p:childTnLst>
                                </p:cTn>
                              </p:par>
                              <p:par>
                                <p:cTn id="17" presetID="9" presetClass="emph" presetSubtype="0" nodeType="withEffect">
                                  <p:stCondLst>
                                    <p:cond delay="0"/>
                                  </p:stCondLst>
                                  <p:childTnLst>
                                    <p:set>
                                      <p:cBhvr rctx="PPT">
                                        <p:cTn id="18" dur="indefinite"/>
                                        <p:tgtEl>
                                          <p:spTgt spid="490525"/>
                                        </p:tgtEl>
                                        <p:attrNameLst>
                                          <p:attrName>style.opacity</p:attrName>
                                        </p:attrNameLst>
                                      </p:cBhvr>
                                      <p:to>
                                        <p:strVal val="0.25"/>
                                      </p:to>
                                    </p:set>
                                    <p:animEffect filter="image" prLst="opacity: 0.25">
                                      <p:cBhvr rctx="IE">
                                        <p:cTn id="19" dur="indefinite"/>
                                        <p:tgtEl>
                                          <p:spTgt spid="490525"/>
                                        </p:tgtEl>
                                      </p:cBhvr>
                                    </p:animEffect>
                                  </p:childTnLst>
                                </p:cTn>
                              </p:par>
                              <p:par>
                                <p:cTn id="20" presetID="9" presetClass="emph" presetSubtype="0" nodeType="withEffect">
                                  <p:stCondLst>
                                    <p:cond delay="0"/>
                                  </p:stCondLst>
                                  <p:childTnLst>
                                    <p:set>
                                      <p:cBhvr rctx="PPT">
                                        <p:cTn id="21" dur="indefinite"/>
                                        <p:tgtEl>
                                          <p:spTgt spid="490506"/>
                                        </p:tgtEl>
                                        <p:attrNameLst>
                                          <p:attrName>style.opacity</p:attrName>
                                        </p:attrNameLst>
                                      </p:cBhvr>
                                      <p:to>
                                        <p:strVal val="0.25"/>
                                      </p:to>
                                    </p:set>
                                    <p:animEffect filter="image" prLst="opacity: 0.25">
                                      <p:cBhvr rctx="IE">
                                        <p:cTn id="22" dur="indefinite"/>
                                        <p:tgtEl>
                                          <p:spTgt spid="490506"/>
                                        </p:tgtEl>
                                      </p:cBhvr>
                                    </p:animEffect>
                                  </p:childTnLst>
                                </p:cTn>
                              </p:par>
                              <p:par>
                                <p:cTn id="23" presetID="9" presetClass="emph" presetSubtype="0" nodeType="withEffect">
                                  <p:stCondLst>
                                    <p:cond delay="0"/>
                                  </p:stCondLst>
                                  <p:childTnLst>
                                    <p:set>
                                      <p:cBhvr rctx="PPT">
                                        <p:cTn id="24" dur="indefinite"/>
                                        <p:tgtEl>
                                          <p:spTgt spid="490503"/>
                                        </p:tgtEl>
                                        <p:attrNameLst>
                                          <p:attrName>style.opacity</p:attrName>
                                        </p:attrNameLst>
                                      </p:cBhvr>
                                      <p:to>
                                        <p:strVal val="0.25"/>
                                      </p:to>
                                    </p:set>
                                    <p:animEffect filter="image" prLst="opacity: 0.25">
                                      <p:cBhvr rctx="IE">
                                        <p:cTn id="25" dur="indefinite"/>
                                        <p:tgtEl>
                                          <p:spTgt spid="490503"/>
                                        </p:tgtEl>
                                      </p:cBhvr>
                                    </p:animEffect>
                                  </p:childTnLst>
                                </p:cTn>
                              </p:par>
                              <p:par>
                                <p:cTn id="26" presetID="9" presetClass="emph" presetSubtype="0" nodeType="withEffect">
                                  <p:stCondLst>
                                    <p:cond delay="0"/>
                                  </p:stCondLst>
                                  <p:childTnLst>
                                    <p:set>
                                      <p:cBhvr rctx="PPT">
                                        <p:cTn id="27" dur="indefinite"/>
                                        <p:tgtEl>
                                          <p:spTgt spid="490524"/>
                                        </p:tgtEl>
                                        <p:attrNameLst>
                                          <p:attrName>style.opacity</p:attrName>
                                        </p:attrNameLst>
                                      </p:cBhvr>
                                      <p:to>
                                        <p:strVal val="0.25"/>
                                      </p:to>
                                    </p:set>
                                    <p:animEffect filter="image" prLst="opacity: 0.25">
                                      <p:cBhvr rctx="IE">
                                        <p:cTn id="28" dur="indefinite"/>
                                        <p:tgtEl>
                                          <p:spTgt spid="490524"/>
                                        </p:tgtEl>
                                      </p:cBhvr>
                                    </p:animEffect>
                                  </p:childTnLst>
                                </p:cTn>
                              </p:par>
                              <p:par>
                                <p:cTn id="29" presetID="9" presetClass="emph" presetSubtype="0" nodeType="withEffect">
                                  <p:stCondLst>
                                    <p:cond delay="0"/>
                                  </p:stCondLst>
                                  <p:childTnLst>
                                    <p:set>
                                      <p:cBhvr rctx="PPT">
                                        <p:cTn id="30" dur="indefinite"/>
                                        <p:tgtEl>
                                          <p:spTgt spid="490523"/>
                                        </p:tgtEl>
                                        <p:attrNameLst>
                                          <p:attrName>style.opacity</p:attrName>
                                        </p:attrNameLst>
                                      </p:cBhvr>
                                      <p:to>
                                        <p:strVal val="0.25"/>
                                      </p:to>
                                    </p:set>
                                    <p:animEffect filter="image" prLst="opacity: 0.25">
                                      <p:cBhvr rctx="IE">
                                        <p:cTn id="31" dur="indefinite"/>
                                        <p:tgtEl>
                                          <p:spTgt spid="490523"/>
                                        </p:tgtEl>
                                      </p:cBhvr>
                                    </p:animEffect>
                                  </p:childTnLst>
                                </p:cTn>
                              </p:par>
                              <p:par>
                                <p:cTn id="32" presetID="9" presetClass="emph" presetSubtype="0" grpId="0" nodeType="withEffect">
                                  <p:stCondLst>
                                    <p:cond delay="0"/>
                                  </p:stCondLst>
                                  <p:childTnLst>
                                    <p:set>
                                      <p:cBhvr rctx="PPT">
                                        <p:cTn id="33" dur="indefinite"/>
                                        <p:tgtEl>
                                          <p:spTgt spid="490498"/>
                                        </p:tgtEl>
                                        <p:attrNameLst>
                                          <p:attrName>style.opacity</p:attrName>
                                        </p:attrNameLst>
                                      </p:cBhvr>
                                      <p:to>
                                        <p:strVal val="0.25"/>
                                      </p:to>
                                    </p:set>
                                    <p:animEffect filter="image" prLst="opacity: 0.25">
                                      <p:cBhvr rctx="IE">
                                        <p:cTn id="34" dur="indefinite"/>
                                        <p:tgtEl>
                                          <p:spTgt spid="490498"/>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mph" presetSubtype="0" nodeType="clickEffect">
                                  <p:stCondLst>
                                    <p:cond delay="0"/>
                                  </p:stCondLst>
                                  <p:childTnLst>
                                    <p:set>
                                      <p:cBhvr rctx="PPT">
                                        <p:cTn id="38" dur="indefinite"/>
                                        <p:tgtEl>
                                          <p:spTgt spid="490504"/>
                                        </p:tgtEl>
                                        <p:attrNameLst>
                                          <p:attrName>style.opacity</p:attrName>
                                        </p:attrNameLst>
                                      </p:cBhvr>
                                      <p:to>
                                        <p:strVal val="1"/>
                                      </p:to>
                                    </p:set>
                                    <p:animEffect filter="image" prLst="opacity: 1">
                                      <p:cBhvr rctx="IE">
                                        <p:cTn id="39" dur="indefinite"/>
                                        <p:tgtEl>
                                          <p:spTgt spid="490504"/>
                                        </p:tgtEl>
                                      </p:cBhvr>
                                    </p:animEffect>
                                  </p:childTnLst>
                                </p:cTn>
                              </p:par>
                              <p:par>
                                <p:cTn id="40" presetID="9" presetClass="emph" presetSubtype="0" nodeType="withEffect">
                                  <p:stCondLst>
                                    <p:cond delay="0"/>
                                  </p:stCondLst>
                                  <p:childTnLst>
                                    <p:set>
                                      <p:cBhvr rctx="PPT">
                                        <p:cTn id="41" dur="indefinite"/>
                                        <p:tgtEl>
                                          <p:spTgt spid="490524"/>
                                        </p:tgtEl>
                                        <p:attrNameLst>
                                          <p:attrName>style.opacity</p:attrName>
                                        </p:attrNameLst>
                                      </p:cBhvr>
                                      <p:to>
                                        <p:strVal val="1"/>
                                      </p:to>
                                    </p:set>
                                    <p:animEffect filter="image" prLst="opacity: 1">
                                      <p:cBhvr rctx="IE">
                                        <p:cTn id="42" dur="indefinite"/>
                                        <p:tgtEl>
                                          <p:spTgt spid="490524"/>
                                        </p:tgtEl>
                                      </p:cBhvr>
                                    </p:animEffect>
                                  </p:childTnLst>
                                </p:cTn>
                              </p:par>
                              <p:par>
                                <p:cTn id="43" presetID="5" presetClass="entr" presetSubtype="1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checkerboard(across)">
                                      <p:cBhvr>
                                        <p:cTn id="45" dur="10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checkerboard(across)">
                                      <p:cBhvr>
                                        <p:cTn id="50" dur="10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mph" presetSubtype="0" nodeType="clickEffect">
                                  <p:stCondLst>
                                    <p:cond delay="0"/>
                                  </p:stCondLst>
                                  <p:childTnLst>
                                    <p:set>
                                      <p:cBhvr rctx="PPT">
                                        <p:cTn id="54" dur="indefinite"/>
                                        <p:tgtEl>
                                          <p:spTgt spid="490505"/>
                                        </p:tgtEl>
                                        <p:attrNameLst>
                                          <p:attrName>style.opacity</p:attrName>
                                        </p:attrNameLst>
                                      </p:cBhvr>
                                      <p:to>
                                        <p:strVal val="1"/>
                                      </p:to>
                                    </p:set>
                                    <p:animEffect filter="image" prLst="opacity: 1">
                                      <p:cBhvr rctx="IE">
                                        <p:cTn id="55" dur="indefinite"/>
                                        <p:tgtEl>
                                          <p:spTgt spid="490505"/>
                                        </p:tgtEl>
                                      </p:cBhvr>
                                    </p:animEffect>
                                  </p:childTnLst>
                                </p:cTn>
                              </p:par>
                              <p:par>
                                <p:cTn id="56" presetID="5" presetClass="exit" presetSubtype="10" fill="hold" grpId="1" nodeType="withEffect">
                                  <p:stCondLst>
                                    <p:cond delay="0"/>
                                  </p:stCondLst>
                                  <p:childTnLst>
                                    <p:animEffect transition="out" filter="checkerboard(across)">
                                      <p:cBhvr>
                                        <p:cTn id="57" dur="500"/>
                                        <p:tgtEl>
                                          <p:spTgt spid="33"/>
                                        </p:tgtEl>
                                      </p:cBhvr>
                                    </p:animEffect>
                                    <p:set>
                                      <p:cBhvr>
                                        <p:cTn id="58" dur="1" fill="hold">
                                          <p:stCondLst>
                                            <p:cond delay="499"/>
                                          </p:stCondLst>
                                        </p:cTn>
                                        <p:tgtEl>
                                          <p:spTgt spid="33"/>
                                        </p:tgtEl>
                                        <p:attrNameLst>
                                          <p:attrName>style.visibility</p:attrName>
                                        </p:attrNameLst>
                                      </p:cBhvr>
                                      <p:to>
                                        <p:strVal val="hidden"/>
                                      </p:to>
                                    </p:set>
                                  </p:childTnLst>
                                </p:cTn>
                              </p:par>
                              <p:par>
                                <p:cTn id="59" presetID="5" presetClass="entr" presetSubtype="10" fill="hold" grpId="1" nodeType="withEffect">
                                  <p:stCondLst>
                                    <p:cond delay="0"/>
                                  </p:stCondLst>
                                  <p:childTnLst>
                                    <p:set>
                                      <p:cBhvr>
                                        <p:cTn id="60" dur="1" fill="hold">
                                          <p:stCondLst>
                                            <p:cond delay="0"/>
                                          </p:stCondLst>
                                        </p:cTn>
                                        <p:tgtEl>
                                          <p:spTgt spid="35"/>
                                        </p:tgtEl>
                                        <p:attrNameLst>
                                          <p:attrName>style.visibility</p:attrName>
                                        </p:attrNameLst>
                                      </p:cBhvr>
                                      <p:to>
                                        <p:strVal val="visible"/>
                                      </p:to>
                                    </p:set>
                                    <p:animEffect transition="in" filter="checkerboard(across)">
                                      <p:cBhvr>
                                        <p:cTn id="61" dur="1000"/>
                                        <p:tgtEl>
                                          <p:spTgt spid="35"/>
                                        </p:tgtEl>
                                      </p:cBhvr>
                                    </p:animEffect>
                                  </p:childTnLst>
                                </p:cTn>
                              </p:par>
                            </p:childTnLst>
                          </p:cTn>
                        </p:par>
                      </p:childTnLst>
                    </p:cTn>
                  </p:par>
                  <p:par>
                    <p:cTn id="62" fill="hold">
                      <p:stCondLst>
                        <p:cond delay="indefinite"/>
                      </p:stCondLst>
                      <p:childTnLst>
                        <p:par>
                          <p:cTn id="63" fill="hold">
                            <p:stCondLst>
                              <p:cond delay="0"/>
                            </p:stCondLst>
                            <p:childTnLst>
                              <p:par>
                                <p:cTn id="64" presetID="5" presetClass="entr" presetSubtype="10" fill="hold" grpId="0" nodeType="clickEffect">
                                  <p:stCondLst>
                                    <p:cond delay="0"/>
                                  </p:stCondLst>
                                  <p:childTnLst>
                                    <p:set>
                                      <p:cBhvr>
                                        <p:cTn id="65" dur="1" fill="hold">
                                          <p:stCondLst>
                                            <p:cond delay="0"/>
                                          </p:stCondLst>
                                        </p:cTn>
                                        <p:tgtEl>
                                          <p:spTgt spid="36"/>
                                        </p:tgtEl>
                                        <p:attrNameLst>
                                          <p:attrName>style.visibility</p:attrName>
                                        </p:attrNameLst>
                                      </p:cBhvr>
                                      <p:to>
                                        <p:strVal val="visible"/>
                                      </p:to>
                                    </p:set>
                                    <p:animEffect transition="in" filter="checkerboard(across)">
                                      <p:cBhvr>
                                        <p:cTn id="66" dur="1000"/>
                                        <p:tgtEl>
                                          <p:spTgt spid="36"/>
                                        </p:tgtEl>
                                      </p:cBhvr>
                                    </p:animEffect>
                                  </p:childTnLst>
                                </p:cTn>
                              </p:par>
                            </p:childTnLst>
                          </p:cTn>
                        </p:par>
                      </p:childTnLst>
                    </p:cTn>
                  </p:par>
                  <p:par>
                    <p:cTn id="67" fill="hold">
                      <p:stCondLst>
                        <p:cond delay="indefinite"/>
                      </p:stCondLst>
                      <p:childTnLst>
                        <p:par>
                          <p:cTn id="68" fill="hold">
                            <p:stCondLst>
                              <p:cond delay="0"/>
                            </p:stCondLst>
                            <p:childTnLst>
                              <p:par>
                                <p:cTn id="69" presetID="5" presetClass="exit" presetSubtype="10" fill="hold" grpId="1" nodeType="clickEffect">
                                  <p:stCondLst>
                                    <p:cond delay="0"/>
                                  </p:stCondLst>
                                  <p:childTnLst>
                                    <p:animEffect transition="out" filter="checkerboard(across)">
                                      <p:cBhvr>
                                        <p:cTn id="70" dur="1000"/>
                                        <p:tgtEl>
                                          <p:spTgt spid="36"/>
                                        </p:tgtEl>
                                      </p:cBhvr>
                                    </p:animEffect>
                                    <p:set>
                                      <p:cBhvr>
                                        <p:cTn id="71" dur="1" fill="hold">
                                          <p:stCondLst>
                                            <p:cond delay="999"/>
                                          </p:stCondLst>
                                        </p:cTn>
                                        <p:tgtEl>
                                          <p:spTgt spid="36"/>
                                        </p:tgtEl>
                                        <p:attrNameLst>
                                          <p:attrName>style.visibility</p:attrName>
                                        </p:attrNameLst>
                                      </p:cBhvr>
                                      <p:to>
                                        <p:strVal val="hidden"/>
                                      </p:to>
                                    </p:set>
                                  </p:childTnLst>
                                </p:cTn>
                              </p:par>
                              <p:par>
                                <p:cTn id="72" presetID="9" presetClass="emph" presetSubtype="0" nodeType="withEffect">
                                  <p:stCondLst>
                                    <p:cond delay="0"/>
                                  </p:stCondLst>
                                  <p:childTnLst>
                                    <p:set>
                                      <p:cBhvr rctx="PPT">
                                        <p:cTn id="73" dur="indefinite"/>
                                        <p:tgtEl>
                                          <p:spTgt spid="490510"/>
                                        </p:tgtEl>
                                        <p:attrNameLst>
                                          <p:attrName>style.opacity</p:attrName>
                                        </p:attrNameLst>
                                      </p:cBhvr>
                                      <p:to>
                                        <p:strVal val="1"/>
                                      </p:to>
                                    </p:set>
                                    <p:animEffect filter="image" prLst="opacity: 1">
                                      <p:cBhvr rctx="IE">
                                        <p:cTn id="74" dur="indefinite"/>
                                        <p:tgtEl>
                                          <p:spTgt spid="490510"/>
                                        </p:tgtEl>
                                      </p:cBhvr>
                                    </p:animEffect>
                                  </p:childTnLst>
                                </p:cTn>
                              </p:par>
                              <p:par>
                                <p:cTn id="75" presetID="5" presetClass="entr" presetSubtype="10"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checkerboard(across)">
                                      <p:cBhvr>
                                        <p:cTn id="77" dur="1000"/>
                                        <p:tgtEl>
                                          <p:spTgt spid="37"/>
                                        </p:tgtEl>
                                      </p:cBhvr>
                                    </p:animEffect>
                                  </p:childTnLst>
                                </p:cTn>
                              </p:par>
                            </p:childTnLst>
                          </p:cTn>
                        </p:par>
                      </p:childTnLst>
                    </p:cTn>
                  </p:par>
                  <p:par>
                    <p:cTn id="78" fill="hold">
                      <p:stCondLst>
                        <p:cond delay="indefinite"/>
                      </p:stCondLst>
                      <p:childTnLst>
                        <p:par>
                          <p:cTn id="79" fill="hold">
                            <p:stCondLst>
                              <p:cond delay="0"/>
                            </p:stCondLst>
                            <p:childTnLst>
                              <p:par>
                                <p:cTn id="80" presetID="5" presetClass="entr" presetSubtype="10" fill="hold" grpId="0" nodeType="clickEffect">
                                  <p:stCondLst>
                                    <p:cond delay="0"/>
                                  </p:stCondLst>
                                  <p:childTnLst>
                                    <p:set>
                                      <p:cBhvr>
                                        <p:cTn id="81" dur="1" fill="hold">
                                          <p:stCondLst>
                                            <p:cond delay="0"/>
                                          </p:stCondLst>
                                        </p:cTn>
                                        <p:tgtEl>
                                          <p:spTgt spid="38"/>
                                        </p:tgtEl>
                                        <p:attrNameLst>
                                          <p:attrName>style.visibility</p:attrName>
                                        </p:attrNameLst>
                                      </p:cBhvr>
                                      <p:to>
                                        <p:strVal val="visible"/>
                                      </p:to>
                                    </p:set>
                                    <p:animEffect transition="in" filter="checkerboard(across)">
                                      <p:cBhvr>
                                        <p:cTn id="82" dur="1000"/>
                                        <p:tgtEl>
                                          <p:spTgt spid="38"/>
                                        </p:tgtEl>
                                      </p:cBhvr>
                                    </p:animEffect>
                                  </p:childTnLst>
                                </p:cTn>
                              </p:par>
                            </p:childTnLst>
                          </p:cTn>
                        </p:par>
                      </p:childTnLst>
                    </p:cTn>
                  </p:par>
                  <p:par>
                    <p:cTn id="83" fill="hold">
                      <p:stCondLst>
                        <p:cond delay="indefinite"/>
                      </p:stCondLst>
                      <p:childTnLst>
                        <p:par>
                          <p:cTn id="84" fill="hold">
                            <p:stCondLst>
                              <p:cond delay="0"/>
                            </p:stCondLst>
                            <p:childTnLst>
                              <p:par>
                                <p:cTn id="85" presetID="5" presetClass="exit" presetSubtype="10" fill="hold" grpId="1" nodeType="clickEffect">
                                  <p:stCondLst>
                                    <p:cond delay="0"/>
                                  </p:stCondLst>
                                  <p:childTnLst>
                                    <p:animEffect transition="out" filter="checkerboard(across)">
                                      <p:cBhvr>
                                        <p:cTn id="86" dur="1000"/>
                                        <p:tgtEl>
                                          <p:spTgt spid="38"/>
                                        </p:tgtEl>
                                      </p:cBhvr>
                                    </p:animEffect>
                                    <p:set>
                                      <p:cBhvr>
                                        <p:cTn id="87" dur="1" fill="hold">
                                          <p:stCondLst>
                                            <p:cond delay="999"/>
                                          </p:stCondLst>
                                        </p:cTn>
                                        <p:tgtEl>
                                          <p:spTgt spid="38"/>
                                        </p:tgtEl>
                                        <p:attrNameLst>
                                          <p:attrName>style.visibility</p:attrName>
                                        </p:attrNameLst>
                                      </p:cBhvr>
                                      <p:to>
                                        <p:strVal val="hidden"/>
                                      </p:to>
                                    </p:set>
                                  </p:childTnLst>
                                </p:cTn>
                              </p:par>
                              <p:par>
                                <p:cTn id="88" presetID="9" presetClass="emph" presetSubtype="0" nodeType="withEffect">
                                  <p:stCondLst>
                                    <p:cond delay="0"/>
                                  </p:stCondLst>
                                  <p:childTnLst>
                                    <p:set>
                                      <p:cBhvr rctx="PPT">
                                        <p:cTn id="89" dur="indefinite"/>
                                        <p:tgtEl>
                                          <p:spTgt spid="490511"/>
                                        </p:tgtEl>
                                        <p:attrNameLst>
                                          <p:attrName>style.opacity</p:attrName>
                                        </p:attrNameLst>
                                      </p:cBhvr>
                                      <p:to>
                                        <p:strVal val="1"/>
                                      </p:to>
                                    </p:set>
                                    <p:animEffect filter="image" prLst="opacity: 1">
                                      <p:cBhvr rctx="IE">
                                        <p:cTn id="90" dur="indefinite"/>
                                        <p:tgtEl>
                                          <p:spTgt spid="490511"/>
                                        </p:tgtEl>
                                      </p:cBhvr>
                                    </p:animEffect>
                                  </p:childTnLst>
                                </p:cTn>
                              </p:par>
                              <p:par>
                                <p:cTn id="91" presetID="5" presetClass="entr" presetSubtype="10" fill="hold" grpId="0"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checkerboard(across)">
                                      <p:cBhvr>
                                        <p:cTn id="93" dur="1000"/>
                                        <p:tgtEl>
                                          <p:spTgt spid="39"/>
                                        </p:tgtEl>
                                      </p:cBhvr>
                                    </p:animEffect>
                                  </p:childTnLst>
                                </p:cTn>
                              </p:par>
                              <p:par>
                                <p:cTn id="94" presetID="5" presetClass="entr" presetSubtype="1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checkerboard(across)">
                                      <p:cBhvr>
                                        <p:cTn id="96" dur="500"/>
                                        <p:tgtEl>
                                          <p:spTgt spid="40"/>
                                        </p:tgtEl>
                                      </p:cBhvr>
                                    </p:animEffect>
                                  </p:childTnLst>
                                </p:cTn>
                              </p:par>
                            </p:childTnLst>
                          </p:cTn>
                        </p:par>
                      </p:childTnLst>
                    </p:cTn>
                  </p:par>
                  <p:par>
                    <p:cTn id="97" fill="hold">
                      <p:stCondLst>
                        <p:cond delay="indefinite"/>
                      </p:stCondLst>
                      <p:childTnLst>
                        <p:par>
                          <p:cTn id="98" fill="hold">
                            <p:stCondLst>
                              <p:cond delay="0"/>
                            </p:stCondLst>
                            <p:childTnLst>
                              <p:par>
                                <p:cTn id="99" presetID="5" presetClass="entr" presetSubtype="10" fill="hold" grpId="0" nodeType="click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checkerboard(across)">
                                      <p:cBhvr>
                                        <p:cTn id="101" dur="1000"/>
                                        <p:tgtEl>
                                          <p:spTgt spid="41"/>
                                        </p:tgtEl>
                                      </p:cBhvr>
                                    </p:animEffect>
                                  </p:childTnLst>
                                </p:cTn>
                              </p:par>
                            </p:childTnLst>
                          </p:cTn>
                        </p:par>
                      </p:childTnLst>
                    </p:cTn>
                  </p:par>
                  <p:par>
                    <p:cTn id="102" fill="hold">
                      <p:stCondLst>
                        <p:cond delay="indefinite"/>
                      </p:stCondLst>
                      <p:childTnLst>
                        <p:par>
                          <p:cTn id="103" fill="hold">
                            <p:stCondLst>
                              <p:cond delay="0"/>
                            </p:stCondLst>
                            <p:childTnLst>
                              <p:par>
                                <p:cTn id="104" presetID="5" presetClass="exit" presetSubtype="10" fill="hold" grpId="1" nodeType="clickEffect">
                                  <p:stCondLst>
                                    <p:cond delay="0"/>
                                  </p:stCondLst>
                                  <p:childTnLst>
                                    <p:animEffect transition="out" filter="checkerboard(across)">
                                      <p:cBhvr>
                                        <p:cTn id="105" dur="1000"/>
                                        <p:tgtEl>
                                          <p:spTgt spid="41"/>
                                        </p:tgtEl>
                                      </p:cBhvr>
                                    </p:animEffect>
                                    <p:set>
                                      <p:cBhvr>
                                        <p:cTn id="106" dur="1" fill="hold">
                                          <p:stCondLst>
                                            <p:cond delay="999"/>
                                          </p:stCondLst>
                                        </p:cTn>
                                        <p:tgtEl>
                                          <p:spTgt spid="41"/>
                                        </p:tgtEl>
                                        <p:attrNameLst>
                                          <p:attrName>style.visibility</p:attrName>
                                        </p:attrNameLst>
                                      </p:cBhvr>
                                      <p:to>
                                        <p:strVal val="hidden"/>
                                      </p:to>
                                    </p:set>
                                  </p:childTnLst>
                                </p:cTn>
                              </p:par>
                              <p:par>
                                <p:cTn id="107" presetID="9" presetClass="emph" presetSubtype="0" nodeType="withEffect">
                                  <p:stCondLst>
                                    <p:cond delay="0"/>
                                  </p:stCondLst>
                                  <p:childTnLst>
                                    <p:set>
                                      <p:cBhvr rctx="PPT">
                                        <p:cTn id="108" dur="indefinite"/>
                                        <p:tgtEl>
                                          <p:spTgt spid="490525"/>
                                        </p:tgtEl>
                                        <p:attrNameLst>
                                          <p:attrName>style.opacity</p:attrName>
                                        </p:attrNameLst>
                                      </p:cBhvr>
                                      <p:to>
                                        <p:strVal val="1"/>
                                      </p:to>
                                    </p:set>
                                    <p:animEffect filter="image" prLst="opacity: 1">
                                      <p:cBhvr rctx="IE">
                                        <p:cTn id="109" dur="indefinite"/>
                                        <p:tgtEl>
                                          <p:spTgt spid="490525"/>
                                        </p:tgtEl>
                                      </p:cBhvr>
                                    </p:animEffect>
                                  </p:childTnLst>
                                </p:cTn>
                              </p:par>
                              <p:par>
                                <p:cTn id="110" presetID="5" presetClass="entr" presetSubtype="10" fill="hold" grpId="0" nodeType="withEffect">
                                  <p:stCondLst>
                                    <p:cond delay="0"/>
                                  </p:stCondLst>
                                  <p:childTnLst>
                                    <p:set>
                                      <p:cBhvr>
                                        <p:cTn id="111" dur="1" fill="hold">
                                          <p:stCondLst>
                                            <p:cond delay="0"/>
                                          </p:stCondLst>
                                        </p:cTn>
                                        <p:tgtEl>
                                          <p:spTgt spid="42"/>
                                        </p:tgtEl>
                                        <p:attrNameLst>
                                          <p:attrName>style.visibility</p:attrName>
                                        </p:attrNameLst>
                                      </p:cBhvr>
                                      <p:to>
                                        <p:strVal val="visible"/>
                                      </p:to>
                                    </p:set>
                                    <p:animEffect transition="in" filter="checkerboard(across)">
                                      <p:cBhvr>
                                        <p:cTn id="112" dur="1000"/>
                                        <p:tgtEl>
                                          <p:spTgt spid="42"/>
                                        </p:tgtEl>
                                      </p:cBhvr>
                                    </p:animEffect>
                                  </p:childTnLst>
                                </p:cTn>
                              </p:par>
                            </p:childTnLst>
                          </p:cTn>
                        </p:par>
                      </p:childTnLst>
                    </p:cTn>
                  </p:par>
                  <p:par>
                    <p:cTn id="113" fill="hold">
                      <p:stCondLst>
                        <p:cond delay="indefinite"/>
                      </p:stCondLst>
                      <p:childTnLst>
                        <p:par>
                          <p:cTn id="114" fill="hold">
                            <p:stCondLst>
                              <p:cond delay="0"/>
                            </p:stCondLst>
                            <p:childTnLst>
                              <p:par>
                                <p:cTn id="115" presetID="5" presetClass="entr" presetSubtype="10" fill="hold" grpId="0" nodeType="click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checkerboard(across)">
                                      <p:cBhvr>
                                        <p:cTn id="117" dur="1000"/>
                                        <p:tgtEl>
                                          <p:spTgt spid="43"/>
                                        </p:tgtEl>
                                      </p:cBhvr>
                                    </p:animEffect>
                                  </p:childTnLst>
                                </p:cTn>
                              </p:par>
                            </p:childTnLst>
                          </p:cTn>
                        </p:par>
                      </p:childTnLst>
                    </p:cTn>
                  </p:par>
                  <p:par>
                    <p:cTn id="118" fill="hold">
                      <p:stCondLst>
                        <p:cond delay="indefinite"/>
                      </p:stCondLst>
                      <p:childTnLst>
                        <p:par>
                          <p:cTn id="119" fill="hold">
                            <p:stCondLst>
                              <p:cond delay="0"/>
                            </p:stCondLst>
                            <p:childTnLst>
                              <p:par>
                                <p:cTn id="120" presetID="5" presetClass="exit" presetSubtype="10" fill="hold" grpId="1" nodeType="clickEffect">
                                  <p:stCondLst>
                                    <p:cond delay="0"/>
                                  </p:stCondLst>
                                  <p:childTnLst>
                                    <p:animEffect transition="out" filter="checkerboard(across)">
                                      <p:cBhvr>
                                        <p:cTn id="121" dur="1000"/>
                                        <p:tgtEl>
                                          <p:spTgt spid="43"/>
                                        </p:tgtEl>
                                      </p:cBhvr>
                                    </p:animEffect>
                                    <p:set>
                                      <p:cBhvr>
                                        <p:cTn id="122" dur="1" fill="hold">
                                          <p:stCondLst>
                                            <p:cond delay="999"/>
                                          </p:stCondLst>
                                        </p:cTn>
                                        <p:tgtEl>
                                          <p:spTgt spid="43"/>
                                        </p:tgtEl>
                                        <p:attrNameLst>
                                          <p:attrName>style.visibility</p:attrName>
                                        </p:attrNameLst>
                                      </p:cBhvr>
                                      <p:to>
                                        <p:strVal val="hidden"/>
                                      </p:to>
                                    </p:set>
                                  </p:childTnLst>
                                </p:cTn>
                              </p:par>
                              <p:par>
                                <p:cTn id="123" presetID="9" presetClass="emph" presetSubtype="0" nodeType="withEffect">
                                  <p:stCondLst>
                                    <p:cond delay="0"/>
                                  </p:stCondLst>
                                  <p:childTnLst>
                                    <p:set>
                                      <p:cBhvr rctx="PPT">
                                        <p:cTn id="124" dur="indefinite"/>
                                        <p:tgtEl>
                                          <p:spTgt spid="490506"/>
                                        </p:tgtEl>
                                        <p:attrNameLst>
                                          <p:attrName>style.opacity</p:attrName>
                                        </p:attrNameLst>
                                      </p:cBhvr>
                                      <p:to>
                                        <p:strVal val="1"/>
                                      </p:to>
                                    </p:set>
                                    <p:animEffect filter="image" prLst="opacity: 1">
                                      <p:cBhvr rctx="IE">
                                        <p:cTn id="125" dur="indefinite"/>
                                        <p:tgtEl>
                                          <p:spTgt spid="490506"/>
                                        </p:tgtEl>
                                      </p:cBhvr>
                                    </p:animEffect>
                                  </p:childTnLst>
                                </p:cTn>
                              </p:par>
                              <p:par>
                                <p:cTn id="126" presetID="5" presetClass="entr" presetSubtype="10" fill="hold" grpId="0" nodeType="withEffect">
                                  <p:stCondLst>
                                    <p:cond delay="0"/>
                                  </p:stCondLst>
                                  <p:childTnLst>
                                    <p:set>
                                      <p:cBhvr>
                                        <p:cTn id="127" dur="1" fill="hold">
                                          <p:stCondLst>
                                            <p:cond delay="0"/>
                                          </p:stCondLst>
                                        </p:cTn>
                                        <p:tgtEl>
                                          <p:spTgt spid="44"/>
                                        </p:tgtEl>
                                        <p:attrNameLst>
                                          <p:attrName>style.visibility</p:attrName>
                                        </p:attrNameLst>
                                      </p:cBhvr>
                                      <p:to>
                                        <p:strVal val="visible"/>
                                      </p:to>
                                    </p:set>
                                    <p:animEffect transition="in" filter="checkerboard(across)">
                                      <p:cBhvr>
                                        <p:cTn id="128" dur="1000"/>
                                        <p:tgtEl>
                                          <p:spTgt spid="44"/>
                                        </p:tgtEl>
                                      </p:cBhvr>
                                    </p:animEffect>
                                  </p:childTnLst>
                                </p:cTn>
                              </p:par>
                            </p:childTnLst>
                          </p:cTn>
                        </p:par>
                      </p:childTnLst>
                    </p:cTn>
                  </p:par>
                  <p:par>
                    <p:cTn id="129" fill="hold">
                      <p:stCondLst>
                        <p:cond delay="indefinite"/>
                      </p:stCondLst>
                      <p:childTnLst>
                        <p:par>
                          <p:cTn id="130" fill="hold">
                            <p:stCondLst>
                              <p:cond delay="0"/>
                            </p:stCondLst>
                            <p:childTnLst>
                              <p:par>
                                <p:cTn id="131" presetID="5" presetClass="entr" presetSubtype="10" fill="hold" grpId="0" nodeType="clickEffect">
                                  <p:stCondLst>
                                    <p:cond delay="0"/>
                                  </p:stCondLst>
                                  <p:childTnLst>
                                    <p:set>
                                      <p:cBhvr>
                                        <p:cTn id="132" dur="1" fill="hold">
                                          <p:stCondLst>
                                            <p:cond delay="0"/>
                                          </p:stCondLst>
                                        </p:cTn>
                                        <p:tgtEl>
                                          <p:spTgt spid="45"/>
                                        </p:tgtEl>
                                        <p:attrNameLst>
                                          <p:attrName>style.visibility</p:attrName>
                                        </p:attrNameLst>
                                      </p:cBhvr>
                                      <p:to>
                                        <p:strVal val="visible"/>
                                      </p:to>
                                    </p:set>
                                    <p:animEffect transition="in" filter="checkerboard(across)">
                                      <p:cBhvr>
                                        <p:cTn id="133" dur="1000"/>
                                        <p:tgtEl>
                                          <p:spTgt spid="45"/>
                                        </p:tgtEl>
                                      </p:cBhvr>
                                    </p:animEffect>
                                  </p:childTnLst>
                                </p:cTn>
                              </p:par>
                            </p:childTnLst>
                          </p:cTn>
                        </p:par>
                      </p:childTnLst>
                    </p:cTn>
                  </p:par>
                  <p:par>
                    <p:cTn id="134" fill="hold">
                      <p:stCondLst>
                        <p:cond delay="indefinite"/>
                      </p:stCondLst>
                      <p:childTnLst>
                        <p:par>
                          <p:cTn id="135" fill="hold">
                            <p:stCondLst>
                              <p:cond delay="0"/>
                            </p:stCondLst>
                            <p:childTnLst>
                              <p:par>
                                <p:cTn id="136" presetID="5" presetClass="exit" presetSubtype="10" fill="hold" grpId="1" nodeType="clickEffect">
                                  <p:stCondLst>
                                    <p:cond delay="0"/>
                                  </p:stCondLst>
                                  <p:childTnLst>
                                    <p:animEffect transition="out" filter="checkerboard(across)">
                                      <p:cBhvr>
                                        <p:cTn id="137" dur="1000"/>
                                        <p:tgtEl>
                                          <p:spTgt spid="45"/>
                                        </p:tgtEl>
                                      </p:cBhvr>
                                    </p:animEffect>
                                    <p:set>
                                      <p:cBhvr>
                                        <p:cTn id="138" dur="1" fill="hold">
                                          <p:stCondLst>
                                            <p:cond delay="999"/>
                                          </p:stCondLst>
                                        </p:cTn>
                                        <p:tgtEl>
                                          <p:spTgt spid="45"/>
                                        </p:tgtEl>
                                        <p:attrNameLst>
                                          <p:attrName>style.visibility</p:attrName>
                                        </p:attrNameLst>
                                      </p:cBhvr>
                                      <p:to>
                                        <p:strVal val="hidden"/>
                                      </p:to>
                                    </p:set>
                                  </p:childTnLst>
                                </p:cTn>
                              </p:par>
                              <p:par>
                                <p:cTn id="139" presetID="9" presetClass="emph" presetSubtype="0" nodeType="withEffect">
                                  <p:stCondLst>
                                    <p:cond delay="0"/>
                                  </p:stCondLst>
                                  <p:childTnLst>
                                    <p:set>
                                      <p:cBhvr rctx="PPT">
                                        <p:cTn id="140" dur="indefinite"/>
                                        <p:tgtEl>
                                          <p:spTgt spid="490523"/>
                                        </p:tgtEl>
                                        <p:attrNameLst>
                                          <p:attrName>style.opacity</p:attrName>
                                        </p:attrNameLst>
                                      </p:cBhvr>
                                      <p:to>
                                        <p:strVal val="1"/>
                                      </p:to>
                                    </p:set>
                                    <p:animEffect filter="image" prLst="opacity: 1">
                                      <p:cBhvr rctx="IE">
                                        <p:cTn id="141" dur="indefinite"/>
                                        <p:tgtEl>
                                          <p:spTgt spid="490523"/>
                                        </p:tgtEl>
                                      </p:cBhvr>
                                    </p:animEffect>
                                  </p:childTnLst>
                                </p:cTn>
                              </p:par>
                              <p:par>
                                <p:cTn id="142" presetID="5" presetClass="entr" presetSubtype="10" fill="hold" grpId="0" nodeType="withEffect">
                                  <p:stCondLst>
                                    <p:cond delay="0"/>
                                  </p:stCondLst>
                                  <p:childTnLst>
                                    <p:set>
                                      <p:cBhvr>
                                        <p:cTn id="143" dur="1" fill="hold">
                                          <p:stCondLst>
                                            <p:cond delay="0"/>
                                          </p:stCondLst>
                                        </p:cTn>
                                        <p:tgtEl>
                                          <p:spTgt spid="46"/>
                                        </p:tgtEl>
                                        <p:attrNameLst>
                                          <p:attrName>style.visibility</p:attrName>
                                        </p:attrNameLst>
                                      </p:cBhvr>
                                      <p:to>
                                        <p:strVal val="visible"/>
                                      </p:to>
                                    </p:set>
                                    <p:animEffect transition="in" filter="checkerboard(across)">
                                      <p:cBhvr>
                                        <p:cTn id="144" dur="1000"/>
                                        <p:tgtEl>
                                          <p:spTgt spid="46"/>
                                        </p:tgtEl>
                                      </p:cBhvr>
                                    </p:animEffect>
                                  </p:childTnLst>
                                </p:cTn>
                              </p:par>
                            </p:childTnLst>
                          </p:cTn>
                        </p:par>
                      </p:childTnLst>
                    </p:cTn>
                  </p:par>
                  <p:par>
                    <p:cTn id="145" fill="hold">
                      <p:stCondLst>
                        <p:cond delay="indefinite"/>
                      </p:stCondLst>
                      <p:childTnLst>
                        <p:par>
                          <p:cTn id="146" fill="hold">
                            <p:stCondLst>
                              <p:cond delay="0"/>
                            </p:stCondLst>
                            <p:childTnLst>
                              <p:par>
                                <p:cTn id="147" presetID="5" presetClass="entr" presetSubtype="10" fill="hold" grpId="0" nodeType="clickEffect">
                                  <p:stCondLst>
                                    <p:cond delay="0"/>
                                  </p:stCondLst>
                                  <p:childTnLst>
                                    <p:set>
                                      <p:cBhvr>
                                        <p:cTn id="148" dur="1" fill="hold">
                                          <p:stCondLst>
                                            <p:cond delay="0"/>
                                          </p:stCondLst>
                                        </p:cTn>
                                        <p:tgtEl>
                                          <p:spTgt spid="47"/>
                                        </p:tgtEl>
                                        <p:attrNameLst>
                                          <p:attrName>style.visibility</p:attrName>
                                        </p:attrNameLst>
                                      </p:cBhvr>
                                      <p:to>
                                        <p:strVal val="visible"/>
                                      </p:to>
                                    </p:set>
                                    <p:animEffect transition="in" filter="checkerboard(across)">
                                      <p:cBhvr>
                                        <p:cTn id="149" dur="1000"/>
                                        <p:tgtEl>
                                          <p:spTgt spid="47"/>
                                        </p:tgtEl>
                                      </p:cBhvr>
                                    </p:animEffect>
                                  </p:childTnLst>
                                </p:cTn>
                              </p:par>
                            </p:childTnLst>
                          </p:cTn>
                        </p:par>
                      </p:childTnLst>
                    </p:cTn>
                  </p:par>
                  <p:par>
                    <p:cTn id="150" fill="hold">
                      <p:stCondLst>
                        <p:cond delay="indefinite"/>
                      </p:stCondLst>
                      <p:childTnLst>
                        <p:par>
                          <p:cTn id="151" fill="hold">
                            <p:stCondLst>
                              <p:cond delay="0"/>
                            </p:stCondLst>
                            <p:childTnLst>
                              <p:par>
                                <p:cTn id="152" presetID="5" presetClass="exit" presetSubtype="10" fill="hold" grpId="1" nodeType="clickEffect">
                                  <p:stCondLst>
                                    <p:cond delay="0"/>
                                  </p:stCondLst>
                                  <p:childTnLst>
                                    <p:animEffect transition="out" filter="checkerboard(across)">
                                      <p:cBhvr>
                                        <p:cTn id="153" dur="1000"/>
                                        <p:tgtEl>
                                          <p:spTgt spid="47"/>
                                        </p:tgtEl>
                                      </p:cBhvr>
                                    </p:animEffect>
                                    <p:set>
                                      <p:cBhvr>
                                        <p:cTn id="154" dur="1" fill="hold">
                                          <p:stCondLst>
                                            <p:cond delay="999"/>
                                          </p:stCondLst>
                                        </p:cTn>
                                        <p:tgtEl>
                                          <p:spTgt spid="47"/>
                                        </p:tgtEl>
                                        <p:attrNameLst>
                                          <p:attrName>style.visibility</p:attrName>
                                        </p:attrNameLst>
                                      </p:cBhvr>
                                      <p:to>
                                        <p:strVal val="hidden"/>
                                      </p:to>
                                    </p:set>
                                  </p:childTnLst>
                                </p:cTn>
                              </p:par>
                              <p:par>
                                <p:cTn id="155" presetID="5" presetClass="entr" presetSubtype="10" fill="hold" grpId="0" nodeType="withEffect">
                                  <p:stCondLst>
                                    <p:cond delay="0"/>
                                  </p:stCondLst>
                                  <p:childTnLst>
                                    <p:set>
                                      <p:cBhvr>
                                        <p:cTn id="156" dur="1" fill="hold">
                                          <p:stCondLst>
                                            <p:cond delay="0"/>
                                          </p:stCondLst>
                                        </p:cTn>
                                        <p:tgtEl>
                                          <p:spTgt spid="48"/>
                                        </p:tgtEl>
                                        <p:attrNameLst>
                                          <p:attrName>style.visibility</p:attrName>
                                        </p:attrNameLst>
                                      </p:cBhvr>
                                      <p:to>
                                        <p:strVal val="visible"/>
                                      </p:to>
                                    </p:set>
                                    <p:animEffect transition="in" filter="checkerboard(across)">
                                      <p:cBhvr>
                                        <p:cTn id="157" dur="1000"/>
                                        <p:tgtEl>
                                          <p:spTgt spid="48"/>
                                        </p:tgtEl>
                                      </p:cBhvr>
                                    </p:animEffect>
                                  </p:childTnLst>
                                </p:cTn>
                              </p:par>
                            </p:childTnLst>
                          </p:cTn>
                        </p:par>
                      </p:childTnLst>
                    </p:cTn>
                  </p:par>
                  <p:par>
                    <p:cTn id="158" fill="hold">
                      <p:stCondLst>
                        <p:cond delay="indefinite"/>
                      </p:stCondLst>
                      <p:childTnLst>
                        <p:par>
                          <p:cTn id="159" fill="hold">
                            <p:stCondLst>
                              <p:cond delay="0"/>
                            </p:stCondLst>
                            <p:childTnLst>
                              <p:par>
                                <p:cTn id="160" presetID="5" presetClass="entr" presetSubtype="10" fill="hold" grpId="0" nodeType="clickEffect">
                                  <p:stCondLst>
                                    <p:cond delay="0"/>
                                  </p:stCondLst>
                                  <p:childTnLst>
                                    <p:set>
                                      <p:cBhvr>
                                        <p:cTn id="161" dur="1" fill="hold">
                                          <p:stCondLst>
                                            <p:cond delay="0"/>
                                          </p:stCondLst>
                                        </p:cTn>
                                        <p:tgtEl>
                                          <p:spTgt spid="49"/>
                                        </p:tgtEl>
                                        <p:attrNameLst>
                                          <p:attrName>style.visibility</p:attrName>
                                        </p:attrNameLst>
                                      </p:cBhvr>
                                      <p:to>
                                        <p:strVal val="visible"/>
                                      </p:to>
                                    </p:set>
                                    <p:animEffect transition="in" filter="checkerboard(across)">
                                      <p:cBhvr>
                                        <p:cTn id="162" dur="1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498" grpId="0" animBg="1"/>
      <p:bldP spid="33" grpId="0"/>
      <p:bldP spid="33" grpId="1"/>
      <p:bldP spid="34" grpId="0" animBg="1"/>
      <p:bldP spid="35" grpId="1" animBg="1"/>
      <p:bldP spid="36" grpId="0"/>
      <p:bldP spid="36" grpId="1"/>
      <p:bldP spid="37" grpId="0" animBg="1"/>
      <p:bldP spid="38" grpId="0"/>
      <p:bldP spid="38" grpId="1"/>
      <p:bldP spid="39" grpId="0" animBg="1"/>
      <p:bldP spid="40" grpId="0" animBg="1"/>
      <p:bldP spid="41" grpId="0"/>
      <p:bldP spid="41" grpId="1"/>
      <p:bldP spid="42" grpId="0" animBg="1"/>
      <p:bldP spid="43" grpId="0"/>
      <p:bldP spid="43" grpId="1"/>
      <p:bldP spid="44" grpId="0" animBg="1"/>
      <p:bldP spid="45" grpId="0"/>
      <p:bldP spid="45" grpId="1"/>
      <p:bldP spid="46" grpId="0" animBg="1"/>
      <p:bldP spid="47" grpId="0"/>
      <p:bldP spid="47" grpId="1"/>
      <p:bldP spid="48" grpId="0" animBg="1"/>
      <p:bldP spid="4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42" name="Rectangle-2"/>
          <p:cNvSpPr>
            <a:spLocks noGrp="1" noChangeArrowheads="1"/>
          </p:cNvSpPr>
          <p:nvPr>
            <p:ph type="title"/>
          </p:nvPr>
        </p:nvSpPr>
        <p:spPr/>
        <p:txBody>
          <a:bodyPr vert="horz" anchor="b">
            <a:noAutofit/>
          </a:bodyPr>
          <a:lstStyle/>
          <a:p>
            <a:r>
              <a:rPr lang="fr-FR" altLang="zh-CN" sz="2600" b="1" dirty="0">
                <a:solidFill>
                  <a:srgbClr val="C00000"/>
                </a:solidFill>
                <a:ea typeface="SimSun" pitchFamily="2" charset="-122"/>
                <a:cs typeface="Times New Roman" charset="0"/>
              </a:rPr>
              <a:t>Fonctionnement de l'impression dans un environnement Windows Server </a:t>
            </a:r>
            <a:endParaRPr lang="en-US" altLang="zh-CN" sz="2600" b="1" dirty="0">
              <a:solidFill>
                <a:srgbClr val="C00000"/>
              </a:solidFill>
              <a:ea typeface="SimSun" pitchFamily="2" charset="-122"/>
              <a:cs typeface="Times New Roman" charset="0"/>
            </a:endParaRPr>
          </a:p>
        </p:txBody>
      </p:sp>
      <p:graphicFrame>
        <p:nvGraphicFramePr>
          <p:cNvPr id="4" name="Tableau 3"/>
          <p:cNvGraphicFramePr>
            <a:graphicFrameLocks noGrp="1"/>
          </p:cNvGraphicFramePr>
          <p:nvPr/>
        </p:nvGraphicFramePr>
        <p:xfrm>
          <a:off x="0" y="1397000"/>
          <a:ext cx="9144000" cy="4937760"/>
        </p:xfrm>
        <a:graphic>
          <a:graphicData uri="http://schemas.openxmlformats.org/drawingml/2006/table">
            <a:tbl>
              <a:tblPr firstRow="1" bandRow="1">
                <a:tableStyleId>{5C22544A-7EE6-4342-B048-85BDC9FD1C3A}</a:tableStyleId>
              </a:tblPr>
              <a:tblGrid>
                <a:gridCol w="4444493">
                  <a:extLst>
                    <a:ext uri="{9D8B030D-6E8A-4147-A177-3AD203B41FA5}">
                      <a16:colId xmlns:a16="http://schemas.microsoft.com/office/drawing/2014/main" val="20000"/>
                    </a:ext>
                  </a:extLst>
                </a:gridCol>
                <a:gridCol w="4699507">
                  <a:extLst>
                    <a:ext uri="{9D8B030D-6E8A-4147-A177-3AD203B41FA5}">
                      <a16:colId xmlns:a16="http://schemas.microsoft.com/office/drawing/2014/main" val="20001"/>
                    </a:ext>
                  </a:extLst>
                </a:gridCol>
              </a:tblGrid>
              <a:tr h="37084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400" dirty="0">
                          <a:solidFill>
                            <a:srgbClr val="C00000"/>
                          </a:solidFill>
                        </a:rPr>
                        <a:t>Sans Serveur d’impression</a:t>
                      </a:r>
                    </a:p>
                  </a:txBody>
                  <a:tcPr/>
                </a:tc>
                <a:tc>
                  <a:txBody>
                    <a:bodyPr/>
                    <a:lstStyle/>
                    <a:p>
                      <a:pPr algn="ctr"/>
                      <a:r>
                        <a:rPr lang="fr-FR" sz="2400" dirty="0">
                          <a:solidFill>
                            <a:srgbClr val="C00000"/>
                          </a:solidFill>
                        </a:rPr>
                        <a:t>Avec Serveur d’impression</a:t>
                      </a:r>
                    </a:p>
                  </a:txBody>
                  <a:tcPr/>
                </a:tc>
                <a:extLst>
                  <a:ext uri="{0D108BD9-81ED-4DB2-BD59-A6C34878D82A}">
                    <a16:rowId xmlns:a16="http://schemas.microsoft.com/office/drawing/2014/main" val="10000"/>
                  </a:ext>
                </a:extLst>
              </a:tr>
              <a:tr h="370840">
                <a:tc>
                  <a:txBody>
                    <a:bodyPr/>
                    <a:lstStyle/>
                    <a:p>
                      <a:r>
                        <a:rPr lang="fr-FR" sz="2200" dirty="0"/>
                        <a:t>La gestion des pilotes se fait sur chaque ordinateur</a:t>
                      </a:r>
                    </a:p>
                  </a:txBody>
                  <a:tcPr/>
                </a:tc>
                <a:tc>
                  <a:txBody>
                    <a:bodyPr/>
                    <a:lstStyle/>
                    <a:p>
                      <a:r>
                        <a:rPr lang="fr-FR" sz="2200" dirty="0"/>
                        <a:t>Le serveur d’impression gère les paramètres du pilote d’impression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200" dirty="0"/>
                        <a:t>Chaque ordinateur dispose de sa propre file d’attente d’impression</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200" dirty="0"/>
                        <a:t>Une seule file d’attente d’impression</a:t>
                      </a:r>
                    </a:p>
                    <a:p>
                      <a:endParaRPr lang="fr-FR" sz="22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fr-FR" sz="2200" dirty="0"/>
                        <a:t>Les messages apparaissent sur un seul ordinateur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r-FR" sz="2200" dirty="0"/>
                        <a:t>Les messages d’erreur apparaissent sur tous les ordinateurs</a:t>
                      </a:r>
                    </a:p>
                  </a:txBody>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 typeface="Wingdings" pitchFamily="2" charset="2"/>
                        <a:buNone/>
                        <a:tabLst/>
                        <a:defRPr/>
                      </a:pPr>
                      <a:r>
                        <a:rPr lang="fr-FR" sz="2200" dirty="0"/>
                        <a:t>Les utilisateurs ne connaissent pas l’état de l’imprimante</a:t>
                      </a:r>
                    </a:p>
                    <a:p>
                      <a:pPr>
                        <a:buFont typeface="Wingdings" pitchFamily="2" charset="2"/>
                        <a:buNone/>
                      </a:pPr>
                      <a:endParaRPr lang="fr-FR" sz="2200" dirty="0"/>
                    </a:p>
                  </a:txBody>
                  <a:tcPr/>
                </a:tc>
                <a:tc>
                  <a:txBody>
                    <a:bodyPr/>
                    <a:lstStyle/>
                    <a:p>
                      <a:r>
                        <a:rPr kumimoji="0" lang="fr-FR" sz="2200" kern="1200" dirty="0">
                          <a:solidFill>
                            <a:schemeClr val="dk1"/>
                          </a:solidFill>
                          <a:latin typeface="+mn-lt"/>
                          <a:ea typeface="+mn-ea"/>
                          <a:cs typeface="+mn-cs"/>
                        </a:rPr>
                        <a:t>chaque utilisateur identifier son travail d’impression par rapport aux autres travaux d’impression</a:t>
                      </a:r>
                      <a:r>
                        <a:rPr kumimoji="0" lang="fr-FR" sz="1800" kern="1200" baseline="0" dirty="0">
                          <a:solidFill>
                            <a:schemeClr val="dk1"/>
                          </a:solidFill>
                          <a:latin typeface="+mn-lt"/>
                          <a:ea typeface="+mn-ea"/>
                          <a:cs typeface="+mn-cs"/>
                        </a:rPr>
                        <a:t>.</a:t>
                      </a:r>
                      <a:endParaRPr lang="fr-FR" sz="2200" dirty="0"/>
                    </a:p>
                  </a:txBody>
                  <a:tcPr/>
                </a:tc>
                <a:extLst>
                  <a:ext uri="{0D108BD9-81ED-4DB2-BD59-A6C34878D82A}">
                    <a16:rowId xmlns:a16="http://schemas.microsoft.com/office/drawing/2014/main" val="10004"/>
                  </a:ext>
                </a:extLst>
              </a:tr>
              <a:tr h="370840">
                <a:tc>
                  <a:txBody>
                    <a:bodyPr/>
                    <a:lstStyle/>
                    <a:p>
                      <a:r>
                        <a:rPr lang="fr-FR" sz="2200" dirty="0"/>
                        <a:t>Tous les processus d’un document envoyé à l’impression sont exécutés sur l’ordinateur</a:t>
                      </a:r>
                    </a:p>
                  </a:txBody>
                  <a:tcPr/>
                </a:tc>
                <a:tc>
                  <a:txBody>
                    <a:bodyPr/>
                    <a:lstStyle/>
                    <a:p>
                      <a:pPr>
                        <a:buFont typeface="Wingdings" pitchFamily="2" charset="2"/>
                        <a:buNone/>
                      </a:pPr>
                      <a:r>
                        <a:rPr lang="fr-FR" sz="2200" dirty="0"/>
                        <a:t>Tous les processus des documents envoyés pour impression sont exécutés sur le serveur d’impression</a:t>
                      </a:r>
                    </a:p>
                  </a:txBody>
                  <a:tcPr/>
                </a:tc>
                <a:extLst>
                  <a:ext uri="{0D108BD9-81ED-4DB2-BD59-A6C34878D82A}">
                    <a16:rowId xmlns:a16="http://schemas.microsoft.com/office/drawing/2014/main" val="10005"/>
                  </a:ext>
                </a:extLst>
              </a:tr>
            </a:tbl>
          </a:graphicData>
        </a:graphic>
      </p:graphicFrame>
      <p:sp>
        <p:nvSpPr>
          <p:cNvPr id="5" name="Rectangle 4"/>
          <p:cNvSpPr/>
          <p:nvPr/>
        </p:nvSpPr>
        <p:spPr>
          <a:xfrm>
            <a:off x="71250" y="1888176"/>
            <a:ext cx="4286992" cy="736270"/>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71250" y="2634342"/>
            <a:ext cx="4286992" cy="738247"/>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23750" y="3418119"/>
            <a:ext cx="4286992" cy="688769"/>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p:nvPr/>
        </p:nvSpPr>
        <p:spPr>
          <a:xfrm>
            <a:off x="23750" y="4201886"/>
            <a:ext cx="4370119" cy="952005"/>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p:nvPr/>
        </p:nvSpPr>
        <p:spPr>
          <a:xfrm>
            <a:off x="4510638" y="1909946"/>
            <a:ext cx="4609612" cy="688769"/>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p:nvPr/>
        </p:nvSpPr>
        <p:spPr>
          <a:xfrm>
            <a:off x="4512619" y="2622467"/>
            <a:ext cx="4631381" cy="738251"/>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p:nvPr/>
        </p:nvSpPr>
        <p:spPr>
          <a:xfrm>
            <a:off x="4498762" y="3394364"/>
            <a:ext cx="4597738" cy="688769"/>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p:nvPr/>
        </p:nvSpPr>
        <p:spPr>
          <a:xfrm>
            <a:off x="4510640" y="4172200"/>
            <a:ext cx="4597735" cy="1029192"/>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p:nvPr/>
        </p:nvSpPr>
        <p:spPr>
          <a:xfrm>
            <a:off x="35625" y="5316189"/>
            <a:ext cx="4370119" cy="952005"/>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4522511" y="5326086"/>
            <a:ext cx="4621489" cy="1003462"/>
          </a:xfrm>
          <a:prstGeom prst="rect">
            <a:avLst/>
          </a:prstGeom>
          <a:solidFill>
            <a:srgbClr val="F8F8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grpId="0" nodeType="clickEffect">
                                  <p:stCondLst>
                                    <p:cond delay="0"/>
                                  </p:stCondLst>
                                  <p:childTnLst>
                                    <p:animEffect transition="out" filter="checkerboard(across)">
                                      <p:cBhvr>
                                        <p:cTn id="11" dur="500"/>
                                        <p:tgtEl>
                                          <p:spTgt spid="9"/>
                                        </p:tgtEl>
                                      </p:cBhvr>
                                    </p:animEffect>
                                    <p:set>
                                      <p:cBhvr>
                                        <p:cTn id="12" dur="1" fill="hold">
                                          <p:stCondLst>
                                            <p:cond delay="499"/>
                                          </p:stCondLst>
                                        </p:cTn>
                                        <p:tgtEl>
                                          <p:spTgt spid="9"/>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5" presetClass="exit" presetSubtype="10" fill="hold" grpId="0" nodeType="clickEffect">
                                  <p:stCondLst>
                                    <p:cond delay="0"/>
                                  </p:stCondLst>
                                  <p:childTnLst>
                                    <p:animEffect transition="out" filter="checkerboard(across)">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5" presetClass="exit" presetSubtype="10" fill="hold" grpId="0" nodeType="clickEffect">
                                  <p:stCondLst>
                                    <p:cond delay="0"/>
                                  </p:stCondLst>
                                  <p:childTnLst>
                                    <p:animEffect transition="out" filter="checkerboard(across)">
                                      <p:cBhvr>
                                        <p:cTn id="21" dur="500"/>
                                        <p:tgtEl>
                                          <p:spTgt spid="10"/>
                                        </p:tgtEl>
                                      </p:cBhvr>
                                    </p:animEffect>
                                    <p:set>
                                      <p:cBhvr>
                                        <p:cTn id="22" dur="1" fill="hold">
                                          <p:stCondLst>
                                            <p:cond delay="499"/>
                                          </p:stCondLst>
                                        </p:cTn>
                                        <p:tgtEl>
                                          <p:spTgt spid="10"/>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5" presetClass="exit" presetSubtype="10" fill="hold" grpId="0" nodeType="clickEffect">
                                  <p:stCondLst>
                                    <p:cond delay="0"/>
                                  </p:stCondLst>
                                  <p:childTnLst>
                                    <p:animEffect transition="out" filter="checkerboard(across)">
                                      <p:cBhvr>
                                        <p:cTn id="26" dur="500"/>
                                        <p:tgtEl>
                                          <p:spTgt spid="7"/>
                                        </p:tgtEl>
                                      </p:cBhvr>
                                    </p:animEffect>
                                    <p:set>
                                      <p:cBhvr>
                                        <p:cTn id="27" dur="1" fill="hold">
                                          <p:stCondLst>
                                            <p:cond delay="499"/>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5" presetClass="exit" presetSubtype="10" fill="hold" grpId="0" nodeType="clickEffect">
                                  <p:stCondLst>
                                    <p:cond delay="0"/>
                                  </p:stCondLst>
                                  <p:childTnLst>
                                    <p:animEffect transition="out" filter="checkerboard(across)">
                                      <p:cBhvr>
                                        <p:cTn id="31" dur="500"/>
                                        <p:tgtEl>
                                          <p:spTgt spid="11"/>
                                        </p:tgtEl>
                                      </p:cBhvr>
                                    </p:animEffect>
                                    <p:set>
                                      <p:cBhvr>
                                        <p:cTn id="32" dur="1" fill="hold">
                                          <p:stCondLst>
                                            <p:cond delay="499"/>
                                          </p:stCondLst>
                                        </p:cTn>
                                        <p:tgtEl>
                                          <p:spTgt spid="11"/>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5" presetClass="exit" presetSubtype="10" fill="hold" grpId="0" nodeType="clickEffect">
                                  <p:stCondLst>
                                    <p:cond delay="0"/>
                                  </p:stCondLst>
                                  <p:childTnLst>
                                    <p:animEffect transition="out" filter="checkerboard(across)">
                                      <p:cBhvr>
                                        <p:cTn id="36" dur="500"/>
                                        <p:tgtEl>
                                          <p:spTgt spid="8"/>
                                        </p:tgtEl>
                                      </p:cBhvr>
                                    </p:animEffect>
                                    <p:set>
                                      <p:cBhvr>
                                        <p:cTn id="37" dur="1" fill="hold">
                                          <p:stCondLst>
                                            <p:cond delay="4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5" presetClass="exit" presetSubtype="10" fill="hold" grpId="0" nodeType="clickEffect">
                                  <p:stCondLst>
                                    <p:cond delay="0"/>
                                  </p:stCondLst>
                                  <p:childTnLst>
                                    <p:animEffect transition="out" filter="checkerboard(across)">
                                      <p:cBhvr>
                                        <p:cTn id="41" dur="500"/>
                                        <p:tgtEl>
                                          <p:spTgt spid="12"/>
                                        </p:tgtEl>
                                      </p:cBhvr>
                                    </p:animEffect>
                                    <p:set>
                                      <p:cBhvr>
                                        <p:cTn id="42" dur="1" fill="hold">
                                          <p:stCondLst>
                                            <p:cond delay="499"/>
                                          </p:stCondLst>
                                        </p:cTn>
                                        <p:tgtEl>
                                          <p:spTgt spid="1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5" presetClass="exit" presetSubtype="10" fill="hold" grpId="0" nodeType="clickEffect">
                                  <p:stCondLst>
                                    <p:cond delay="0"/>
                                  </p:stCondLst>
                                  <p:childTnLst>
                                    <p:animEffect transition="out" filter="checkerboard(across)">
                                      <p:cBhvr>
                                        <p:cTn id="46" dur="500"/>
                                        <p:tgtEl>
                                          <p:spTgt spid="13"/>
                                        </p:tgtEl>
                                      </p:cBhvr>
                                    </p:animEffect>
                                    <p:set>
                                      <p:cBhvr>
                                        <p:cTn id="47" dur="1" fill="hold">
                                          <p:stCondLst>
                                            <p:cond delay="499"/>
                                          </p:stCondLst>
                                        </p:cTn>
                                        <p:tgtEl>
                                          <p:spTgt spid="13"/>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5" presetClass="exit" presetSubtype="10" fill="hold" grpId="0" nodeType="clickEffect">
                                  <p:stCondLst>
                                    <p:cond delay="0"/>
                                  </p:stCondLst>
                                  <p:childTnLst>
                                    <p:animEffect transition="out" filter="checkerboard(across)">
                                      <p:cBhvr>
                                        <p:cTn id="51" dur="500"/>
                                        <p:tgtEl>
                                          <p:spTgt spid="14"/>
                                        </p:tgtEl>
                                      </p:cBhvr>
                                    </p:animEffect>
                                    <p:set>
                                      <p:cBhvr>
                                        <p:cTn id="52"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2"/>
          <p:cNvSpPr>
            <a:spLocks noGrp="1" noChangeArrowheads="1"/>
          </p:cNvSpPr>
          <p:nvPr>
            <p:ph type="title"/>
          </p:nvPr>
        </p:nvSpPr>
        <p:spPr/>
        <p:txBody>
          <a:bodyPr>
            <a:normAutofit fontScale="90000"/>
          </a:bodyPr>
          <a:lstStyle/>
          <a:p>
            <a:r>
              <a:rPr lang="fr-FR" altLang="zh-CN" b="1" dirty="0">
                <a:solidFill>
                  <a:srgbClr val="000000"/>
                </a:solidFill>
                <a:ea typeface="SimSun" pitchFamily="2" charset="-122"/>
                <a:cs typeface="Times New Roman" charset="0"/>
              </a:rPr>
              <a:t>2. Installation et partage d'imprimantes</a:t>
            </a:r>
            <a:r>
              <a:rPr lang="en-IE" altLang="zh-CN" b="1" dirty="0">
                <a:solidFill>
                  <a:srgbClr val="000000"/>
                </a:solidFill>
                <a:ea typeface="SimSun" pitchFamily="2" charset="-122"/>
              </a:rPr>
              <a:t> </a:t>
            </a:r>
            <a:endParaRPr lang="en-US" b="1" dirty="0">
              <a:solidFill>
                <a:srgbClr val="000000"/>
              </a:solidFill>
            </a:endParaRPr>
          </a:p>
        </p:txBody>
      </p:sp>
      <p:sp>
        <p:nvSpPr>
          <p:cNvPr id="330755" name="Rectangle-3"/>
          <p:cNvSpPr>
            <a:spLocks noGrp="1" noChangeArrowheads="1"/>
          </p:cNvSpPr>
          <p:nvPr>
            <p:ph sz="quarter" idx="1"/>
          </p:nvPr>
        </p:nvSpPr>
        <p:spPr/>
        <p:txBody>
          <a:bodyPr/>
          <a:lstStyle/>
          <a:p>
            <a:r>
              <a:rPr lang="fr-FR" altLang="zh-CN" dirty="0">
                <a:solidFill>
                  <a:srgbClr val="C00000"/>
                </a:solidFill>
                <a:ea typeface="SimSun" pitchFamily="2" charset="-122"/>
                <a:cs typeface="Times New Roman" charset="0"/>
              </a:rPr>
              <a:t>Qu'est-ce qu'une imprimante locale et une imprimante réseau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Configuration matérielle nécessaire pour configurer </a:t>
            </a:r>
            <a:br>
              <a:rPr lang="fr-FR" altLang="zh-CN" dirty="0">
                <a:solidFill>
                  <a:srgbClr val="C00000"/>
                </a:solidFill>
                <a:ea typeface="SimSun" pitchFamily="2" charset="-122"/>
                <a:cs typeface="Times New Roman" charset="0"/>
              </a:rPr>
            </a:br>
            <a:r>
              <a:rPr lang="fr-FR" altLang="zh-CN" dirty="0">
                <a:solidFill>
                  <a:srgbClr val="C00000"/>
                </a:solidFill>
                <a:ea typeface="SimSun" pitchFamily="2" charset="-122"/>
                <a:cs typeface="Times New Roman" charset="0"/>
              </a:rPr>
              <a:t>un serveur d'impression</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Procédure d'installation et de partage d'une imprimante locale</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Procédure d'installation et de partage d'une imprimante réseau</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22" name="Rectangle-2"/>
          <p:cNvSpPr>
            <a:spLocks noGrp="1" noChangeArrowheads="1"/>
          </p:cNvSpPr>
          <p:nvPr>
            <p:ph type="title"/>
          </p:nvPr>
        </p:nvSpPr>
        <p:spPr/>
        <p:txBody>
          <a:bodyPr>
            <a:normAutofit fontScale="90000"/>
          </a:bodyPr>
          <a:lstStyle/>
          <a:p>
            <a:r>
              <a:rPr lang="fr-FR" altLang="zh-CN" b="1" dirty="0">
                <a:solidFill>
                  <a:srgbClr val="C00000"/>
                </a:solidFill>
                <a:ea typeface="SimSun" pitchFamily="2" charset="-122"/>
                <a:cs typeface="Times New Roman" charset="0"/>
              </a:rPr>
              <a:t>Qu'est-ce qu'une imprimante locale et une imprimante réseau ?</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grpSp>
        <p:nvGrpSpPr>
          <p:cNvPr id="389182" name="Group 62"/>
          <p:cNvGrpSpPr>
            <a:grpSpLocks/>
          </p:cNvGrpSpPr>
          <p:nvPr/>
        </p:nvGrpSpPr>
        <p:grpSpPr bwMode="auto">
          <a:xfrm>
            <a:off x="946150" y="1282700"/>
            <a:ext cx="3244850" cy="4860925"/>
            <a:chOff x="596" y="808"/>
            <a:chExt cx="2044" cy="3062"/>
          </a:xfrm>
        </p:grpSpPr>
        <p:sp>
          <p:nvSpPr>
            <p:cNvPr id="389124" name="AutoShape-4"/>
            <p:cNvSpPr>
              <a:spLocks noChangeArrowheads="1"/>
            </p:cNvSpPr>
            <p:nvPr/>
          </p:nvSpPr>
          <p:spPr bwMode="auto">
            <a:xfrm>
              <a:off x="596" y="808"/>
              <a:ext cx="2044" cy="3062"/>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nSpc>
                  <a:spcPct val="90000"/>
                </a:lnSpc>
                <a:spcBef>
                  <a:spcPct val="40000"/>
                </a:spcBef>
                <a:buClr>
                  <a:srgbClr val="8DACD0"/>
                </a:buClr>
                <a:buSzPct val="70000"/>
                <a:buFont typeface="Wingdings" pitchFamily="2" charset="2"/>
                <a:buNone/>
              </a:pPr>
              <a:r>
                <a:rPr lang="fr-FR" altLang="zh-CN" sz="2400">
                  <a:solidFill>
                    <a:srgbClr val="000000"/>
                  </a:solidFill>
                  <a:ea typeface="SimSun" pitchFamily="2" charset="-122"/>
                  <a:cs typeface="Times New Roman" charset="0"/>
                </a:rPr>
                <a:t>Imprimantes locales :</a:t>
              </a:r>
              <a:r>
                <a:rPr lang="en-IE" altLang="zh-CN" sz="2400">
                  <a:solidFill>
                    <a:srgbClr val="000000"/>
                  </a:solidFill>
                  <a:ea typeface="SimSun" pitchFamily="2" charset="-122"/>
                  <a:cs typeface="Times New Roman" charset="0"/>
                </a:rPr>
                <a:t> </a:t>
              </a:r>
              <a:endParaRPr lang="en-US" sz="2400">
                <a:solidFill>
                  <a:srgbClr val="000000"/>
                </a:solidFill>
                <a:ea typeface="SimSun" pitchFamily="2" charset="-122"/>
                <a:cs typeface="Times New Roman" charset="0"/>
              </a:endParaRPr>
            </a:p>
          </p:txBody>
        </p:sp>
        <p:sp>
          <p:nvSpPr>
            <p:cNvPr id="389125" name="AutoShape-5"/>
            <p:cNvSpPr>
              <a:spLocks noChangeArrowheads="1"/>
            </p:cNvSpPr>
            <p:nvPr/>
          </p:nvSpPr>
          <p:spPr bwMode="auto">
            <a:xfrm>
              <a:off x="667" y="1127"/>
              <a:ext cx="1902" cy="2671"/>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nSpc>
                  <a:spcPct val="90000"/>
                </a:lnSpc>
                <a:spcBef>
                  <a:spcPct val="40000"/>
                </a:spcBef>
                <a:buSzPct val="80000"/>
              </a:pPr>
              <a:endParaRPr lang="en-IE" sz="2200"/>
            </a:p>
          </p:txBody>
        </p:sp>
        <p:grpSp>
          <p:nvGrpSpPr>
            <p:cNvPr id="389181" name="Group 61"/>
            <p:cNvGrpSpPr>
              <a:grpSpLocks/>
            </p:cNvGrpSpPr>
            <p:nvPr/>
          </p:nvGrpSpPr>
          <p:grpSpPr bwMode="auto">
            <a:xfrm>
              <a:off x="747" y="1415"/>
              <a:ext cx="1728" cy="2150"/>
              <a:chOff x="747" y="1415"/>
              <a:chExt cx="1728" cy="2150"/>
            </a:xfrm>
          </p:grpSpPr>
          <p:sp>
            <p:nvSpPr>
              <p:cNvPr id="389145" name="Line-25"/>
              <p:cNvSpPr>
                <a:spLocks noChangeShapeType="1"/>
              </p:cNvSpPr>
              <p:nvPr/>
            </p:nvSpPr>
            <p:spPr bwMode="auto">
              <a:xfrm>
                <a:off x="1402" y="2046"/>
                <a:ext cx="0" cy="876"/>
              </a:xfrm>
              <a:prstGeom prst="line">
                <a:avLst/>
              </a:prstGeom>
              <a:noFill/>
              <a:ln w="38100">
                <a:solidFill>
                  <a:srgbClr val="333333"/>
                </a:solidFill>
                <a:round/>
                <a:headEnd/>
                <a:tailEnd/>
              </a:ln>
              <a:effectLst/>
            </p:spPr>
            <p:txBody>
              <a:bodyPr anchor="ctr"/>
              <a:lstStyle/>
              <a:p>
                <a:endParaRPr lang="fr-FR"/>
              </a:p>
            </p:txBody>
          </p:sp>
          <p:pic>
            <p:nvPicPr>
              <p:cNvPr id="389137" name="Picture-17" descr="NetworkPrinter01"/>
              <p:cNvPicPr>
                <a:picLocks noChangeAspect="1" noChangeArrowheads="1"/>
              </p:cNvPicPr>
              <p:nvPr/>
            </p:nvPicPr>
            <p:blipFill>
              <a:blip r:embed="rId3" cstate="print"/>
              <a:srcRect/>
              <a:stretch>
                <a:fillRect/>
              </a:stretch>
            </p:blipFill>
            <p:spPr bwMode="auto">
              <a:xfrm>
                <a:off x="747" y="2770"/>
                <a:ext cx="803" cy="795"/>
              </a:xfrm>
              <a:prstGeom prst="rect">
                <a:avLst/>
              </a:prstGeom>
              <a:noFill/>
              <a:ln/>
              <a:effectLst/>
            </p:spPr>
          </p:pic>
          <p:pic>
            <p:nvPicPr>
              <p:cNvPr id="389143" name="Picture-23" descr="Server01"/>
              <p:cNvPicPr>
                <a:picLocks noChangeAspect="1" noChangeArrowheads="1"/>
              </p:cNvPicPr>
              <p:nvPr/>
            </p:nvPicPr>
            <p:blipFill>
              <a:blip r:embed="rId4" cstate="print"/>
              <a:srcRect/>
              <a:stretch>
                <a:fillRect/>
              </a:stretch>
            </p:blipFill>
            <p:spPr bwMode="auto">
              <a:xfrm>
                <a:off x="791" y="1415"/>
                <a:ext cx="795" cy="935"/>
              </a:xfrm>
              <a:prstGeom prst="rect">
                <a:avLst/>
              </a:prstGeom>
              <a:noFill/>
              <a:ln w="9525">
                <a:noFill/>
                <a:miter lim="800000"/>
                <a:headEnd/>
                <a:tailEnd/>
              </a:ln>
            </p:spPr>
          </p:pic>
          <p:sp>
            <p:nvSpPr>
              <p:cNvPr id="389146" name="Line-26"/>
              <p:cNvSpPr>
                <a:spLocks noChangeShapeType="1"/>
              </p:cNvSpPr>
              <p:nvPr/>
            </p:nvSpPr>
            <p:spPr bwMode="auto">
              <a:xfrm>
                <a:off x="1408" y="2506"/>
                <a:ext cx="426" cy="0"/>
              </a:xfrm>
              <a:prstGeom prst="line">
                <a:avLst/>
              </a:prstGeom>
              <a:noFill/>
              <a:ln w="38100">
                <a:solidFill>
                  <a:srgbClr val="333333"/>
                </a:solidFill>
                <a:round/>
                <a:headEnd/>
                <a:tailEnd/>
              </a:ln>
              <a:effectLst/>
            </p:spPr>
            <p:txBody>
              <a:bodyPr anchor="ctr"/>
              <a:lstStyle/>
              <a:p>
                <a:endParaRPr lang="fr-FR"/>
              </a:p>
            </p:txBody>
          </p:sp>
          <p:sp>
            <p:nvSpPr>
              <p:cNvPr id="389160" name="AutoShape-40"/>
              <p:cNvSpPr>
                <a:spLocks noChangeArrowheads="1"/>
              </p:cNvSpPr>
              <p:nvPr/>
            </p:nvSpPr>
            <p:spPr bwMode="auto">
              <a:xfrm>
                <a:off x="1458" y="1471"/>
                <a:ext cx="1017" cy="226"/>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gn="ctr">
                  <a:lnSpc>
                    <a:spcPct val="70000"/>
                  </a:lnSpc>
                </a:pPr>
                <a:r>
                  <a:rPr lang="fr-FR" altLang="zh-CN" sz="2000" dirty="0">
                    <a:solidFill>
                      <a:srgbClr val="000000"/>
                    </a:solidFill>
                    <a:ea typeface="SimSun" pitchFamily="2" charset="-122"/>
                    <a:cs typeface="Times New Roman" charset="0"/>
                  </a:rPr>
                  <a:t>Serveur</a:t>
                </a:r>
                <a:r>
                  <a:rPr lang="en-IE" altLang="zh-CN" sz="2000" dirty="0">
                    <a:solidFill>
                      <a:srgbClr val="000000"/>
                    </a:solidFill>
                    <a:ea typeface="SimSun" pitchFamily="2" charset="-122"/>
                    <a:cs typeface="Times New Roman" charset="0"/>
                  </a:rPr>
                  <a:t> </a:t>
                </a:r>
                <a:endParaRPr lang="en-US" sz="2000" dirty="0">
                  <a:solidFill>
                    <a:srgbClr val="000000"/>
                  </a:solidFill>
                  <a:ea typeface="SimSun" pitchFamily="2" charset="-122"/>
                  <a:cs typeface="Times New Roman" charset="0"/>
                </a:endParaRPr>
              </a:p>
            </p:txBody>
          </p:sp>
          <p:sp>
            <p:nvSpPr>
              <p:cNvPr id="389161" name="AutoShape-41"/>
              <p:cNvSpPr>
                <a:spLocks noChangeArrowheads="1"/>
              </p:cNvSpPr>
              <p:nvPr/>
            </p:nvSpPr>
            <p:spPr bwMode="auto">
              <a:xfrm>
                <a:off x="1458" y="2926"/>
                <a:ext cx="981" cy="394"/>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gn="ctr">
                  <a:lnSpc>
                    <a:spcPct val="70000"/>
                  </a:lnSpc>
                </a:pPr>
                <a:r>
                  <a:rPr lang="fr-FR" altLang="zh-CN" sz="2000" dirty="0">
                    <a:solidFill>
                      <a:srgbClr val="000000"/>
                    </a:solidFill>
                    <a:ea typeface="SimSun" pitchFamily="2" charset="-122"/>
                    <a:cs typeface="Times New Roman" charset="0"/>
                  </a:rPr>
                  <a:t>Périphérique d'impression</a:t>
                </a:r>
                <a:r>
                  <a:rPr lang="en-IE" altLang="zh-CN" sz="2000" dirty="0">
                    <a:solidFill>
                      <a:srgbClr val="000000"/>
                    </a:solidFill>
                    <a:ea typeface="SimSun" pitchFamily="2" charset="-122"/>
                    <a:cs typeface="Times New Roman" charset="0"/>
                  </a:rPr>
                  <a:t> </a:t>
                </a:r>
                <a:endParaRPr lang="en-US" sz="2000" dirty="0">
                  <a:solidFill>
                    <a:srgbClr val="000000"/>
                  </a:solidFill>
                  <a:ea typeface="SimSun" pitchFamily="2" charset="-122"/>
                  <a:cs typeface="Times New Roman" charset="0"/>
                </a:endParaRPr>
              </a:p>
            </p:txBody>
          </p:sp>
          <p:sp>
            <p:nvSpPr>
              <p:cNvPr id="389162" name="AutoShape-42"/>
              <p:cNvSpPr>
                <a:spLocks noChangeArrowheads="1"/>
              </p:cNvSpPr>
              <p:nvPr/>
            </p:nvSpPr>
            <p:spPr bwMode="auto">
              <a:xfrm>
                <a:off x="1740" y="1942"/>
                <a:ext cx="600" cy="85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nSpc>
                    <a:spcPct val="70000"/>
                  </a:lnSpc>
                </a:pPr>
                <a:r>
                  <a:rPr lang="fr-FR" altLang="zh-CN" sz="2000" dirty="0">
                    <a:solidFill>
                      <a:srgbClr val="000000"/>
                    </a:solidFill>
                    <a:ea typeface="SimSun" pitchFamily="2" charset="-122"/>
                    <a:cs typeface="Times New Roman" charset="0"/>
                  </a:rPr>
                  <a:t>LPT</a:t>
                </a:r>
                <a:r>
                  <a:rPr lang="fr-FR" altLang="zh-CN" sz="2000" i="1" dirty="0">
                    <a:solidFill>
                      <a:srgbClr val="000000"/>
                    </a:solidFill>
                    <a:ea typeface="SimSun" pitchFamily="2" charset="-122"/>
                    <a:cs typeface="Times New Roman" charset="0"/>
                  </a:rPr>
                  <a:t> </a:t>
                </a:r>
                <a:r>
                  <a:rPr lang="fr-FR" altLang="zh-CN" sz="2000" b="0" i="1" dirty="0">
                    <a:solidFill>
                      <a:srgbClr val="000000"/>
                    </a:solidFill>
                    <a:ea typeface="SimSun" pitchFamily="2" charset="-122"/>
                    <a:cs typeface="Times New Roman" charset="0"/>
                  </a:rPr>
                  <a:t>ou</a:t>
                </a:r>
                <a:r>
                  <a:rPr lang="en-IE" altLang="zh-CN" sz="2000" b="0" i="1" dirty="0">
                    <a:solidFill>
                      <a:srgbClr val="000000"/>
                    </a:solidFill>
                    <a:ea typeface="SimSun" pitchFamily="2" charset="-122"/>
                    <a:cs typeface="Times New Roman" charset="0"/>
                  </a:rPr>
                  <a:t> </a:t>
                </a:r>
                <a:endParaRPr lang="en-US" sz="2000" b="0" i="1" dirty="0">
                  <a:ea typeface="SimSun" pitchFamily="2" charset="-122"/>
                  <a:cs typeface="Times New Roman" charset="0"/>
                </a:endParaRPr>
              </a:p>
              <a:p>
                <a:pPr>
                  <a:lnSpc>
                    <a:spcPct val="70000"/>
                  </a:lnSpc>
                </a:pPr>
                <a:r>
                  <a:rPr lang="fr-FR" altLang="zh-CN" sz="2000" dirty="0">
                    <a:solidFill>
                      <a:srgbClr val="000000"/>
                    </a:solidFill>
                    <a:ea typeface="SimSun" pitchFamily="2" charset="-122"/>
                    <a:cs typeface="Times New Roman" charset="0"/>
                  </a:rPr>
                  <a:t>USB</a:t>
                </a:r>
                <a:r>
                  <a:rPr lang="fr-FR" altLang="zh-CN" sz="2000" i="1" dirty="0">
                    <a:solidFill>
                      <a:srgbClr val="000000"/>
                    </a:solidFill>
                    <a:ea typeface="SimSun" pitchFamily="2" charset="-122"/>
                    <a:cs typeface="Times New Roman" charset="0"/>
                  </a:rPr>
                  <a:t> </a:t>
                </a:r>
                <a:r>
                  <a:rPr lang="fr-FR" altLang="zh-CN" sz="2000" b="0" i="1" dirty="0">
                    <a:solidFill>
                      <a:srgbClr val="000000"/>
                    </a:solidFill>
                    <a:ea typeface="SimSun" pitchFamily="2" charset="-122"/>
                    <a:cs typeface="Times New Roman" charset="0"/>
                  </a:rPr>
                  <a:t>ou</a:t>
                </a:r>
                <a:r>
                  <a:rPr lang="en-IE" altLang="zh-CN" sz="2000" b="0" i="1" dirty="0">
                    <a:solidFill>
                      <a:srgbClr val="000000"/>
                    </a:solidFill>
                    <a:ea typeface="SimSun" pitchFamily="2" charset="-122"/>
                    <a:cs typeface="Times New Roman" charset="0"/>
                  </a:rPr>
                  <a:t> </a:t>
                </a:r>
                <a:endParaRPr lang="en-US" sz="2000" b="0" i="1" dirty="0">
                  <a:ea typeface="SimSun" pitchFamily="2" charset="-122"/>
                  <a:cs typeface="Times New Roman" charset="0"/>
                </a:endParaRPr>
              </a:p>
              <a:p>
                <a:pPr>
                  <a:lnSpc>
                    <a:spcPct val="70000"/>
                  </a:lnSpc>
                </a:pPr>
                <a:r>
                  <a:rPr lang="fr-FR" altLang="zh-CN" sz="2000" dirty="0">
                    <a:solidFill>
                      <a:srgbClr val="000000"/>
                    </a:solidFill>
                    <a:ea typeface="SimSun" pitchFamily="2" charset="-122"/>
                    <a:cs typeface="Times New Roman" charset="0"/>
                  </a:rPr>
                  <a:t>IR</a:t>
                </a:r>
                <a:r>
                  <a:rPr lang="en-IE" altLang="zh-CN" sz="2000" dirty="0">
                    <a:solidFill>
                      <a:srgbClr val="000000"/>
                    </a:solidFill>
                    <a:ea typeface="SimSun" pitchFamily="2" charset="-122"/>
                    <a:cs typeface="Times New Roman" charset="0"/>
                  </a:rPr>
                  <a:t> </a:t>
                </a:r>
                <a:endParaRPr lang="en-US" sz="2000" dirty="0">
                  <a:solidFill>
                    <a:srgbClr val="000000"/>
                  </a:solidFill>
                  <a:ea typeface="SimSun" pitchFamily="2" charset="-122"/>
                  <a:cs typeface="Times New Roman" charset="0"/>
                </a:endParaRPr>
              </a:p>
            </p:txBody>
          </p:sp>
        </p:grpSp>
      </p:grpSp>
      <p:grpSp>
        <p:nvGrpSpPr>
          <p:cNvPr id="389183" name="Group 63"/>
          <p:cNvGrpSpPr>
            <a:grpSpLocks/>
          </p:cNvGrpSpPr>
          <p:nvPr/>
        </p:nvGrpSpPr>
        <p:grpSpPr bwMode="auto">
          <a:xfrm>
            <a:off x="4308475" y="1282700"/>
            <a:ext cx="3778250" cy="4860925"/>
            <a:chOff x="2714" y="808"/>
            <a:chExt cx="2380" cy="3062"/>
          </a:xfrm>
        </p:grpSpPr>
        <p:sp>
          <p:nvSpPr>
            <p:cNvPr id="389163" name="AutoShape-43"/>
            <p:cNvSpPr>
              <a:spLocks noChangeArrowheads="1"/>
            </p:cNvSpPr>
            <p:nvPr/>
          </p:nvSpPr>
          <p:spPr bwMode="auto">
            <a:xfrm>
              <a:off x="2714" y="808"/>
              <a:ext cx="2380" cy="3062"/>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a:lnSpc>
                  <a:spcPct val="90000"/>
                </a:lnSpc>
                <a:spcBef>
                  <a:spcPct val="40000"/>
                </a:spcBef>
                <a:buClr>
                  <a:srgbClr val="8DACD0"/>
                </a:buClr>
                <a:buSzPct val="70000"/>
                <a:buFont typeface="Wingdings" pitchFamily="2" charset="2"/>
                <a:buNone/>
              </a:pPr>
              <a:r>
                <a:rPr lang="fr-FR" altLang="zh-CN" sz="2400">
                  <a:solidFill>
                    <a:srgbClr val="000000"/>
                  </a:solidFill>
                  <a:ea typeface="SimSun" pitchFamily="2" charset="-122"/>
                  <a:cs typeface="Times New Roman" charset="0"/>
                </a:rPr>
                <a:t>Imprimantes réseau :</a:t>
              </a:r>
              <a:r>
                <a:rPr lang="en-IE" altLang="zh-CN" sz="2400">
                  <a:solidFill>
                    <a:srgbClr val="000000"/>
                  </a:solidFill>
                  <a:ea typeface="SimSun" pitchFamily="2" charset="-122"/>
                  <a:cs typeface="Times New Roman" charset="0"/>
                </a:rPr>
                <a:t> </a:t>
              </a:r>
              <a:endParaRPr lang="en-US" sz="2400">
                <a:solidFill>
                  <a:srgbClr val="000000"/>
                </a:solidFill>
                <a:ea typeface="SimSun" pitchFamily="2" charset="-122"/>
                <a:cs typeface="Times New Roman" charset="0"/>
              </a:endParaRPr>
            </a:p>
          </p:txBody>
        </p:sp>
        <p:sp>
          <p:nvSpPr>
            <p:cNvPr id="389164" name="AutoShape-44"/>
            <p:cNvSpPr>
              <a:spLocks noChangeArrowheads="1"/>
            </p:cNvSpPr>
            <p:nvPr/>
          </p:nvSpPr>
          <p:spPr bwMode="auto">
            <a:xfrm>
              <a:off x="2798" y="1127"/>
              <a:ext cx="2231" cy="2671"/>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nSpc>
                  <a:spcPct val="90000"/>
                </a:lnSpc>
                <a:spcBef>
                  <a:spcPct val="40000"/>
                </a:spcBef>
                <a:buSzPct val="80000"/>
              </a:pPr>
              <a:endParaRPr lang="en-IE" sz="2200"/>
            </a:p>
          </p:txBody>
        </p:sp>
        <p:grpSp>
          <p:nvGrpSpPr>
            <p:cNvPr id="389165" name="Group 45"/>
            <p:cNvGrpSpPr>
              <a:grpSpLocks/>
            </p:cNvGrpSpPr>
            <p:nvPr/>
          </p:nvGrpSpPr>
          <p:grpSpPr bwMode="auto">
            <a:xfrm>
              <a:off x="2920" y="1258"/>
              <a:ext cx="1270" cy="2451"/>
              <a:chOff x="786" y="1114"/>
              <a:chExt cx="1270" cy="2451"/>
            </a:xfrm>
          </p:grpSpPr>
          <p:sp>
            <p:nvSpPr>
              <p:cNvPr id="389166" name="Line-46"/>
              <p:cNvSpPr>
                <a:spLocks noChangeShapeType="1"/>
              </p:cNvSpPr>
              <p:nvPr/>
            </p:nvSpPr>
            <p:spPr bwMode="auto">
              <a:xfrm>
                <a:off x="1479" y="1499"/>
                <a:ext cx="282" cy="0"/>
              </a:xfrm>
              <a:prstGeom prst="line">
                <a:avLst/>
              </a:prstGeom>
              <a:noFill/>
              <a:ln w="38100">
                <a:solidFill>
                  <a:srgbClr val="333333"/>
                </a:solidFill>
                <a:round/>
                <a:headEnd/>
                <a:tailEnd/>
              </a:ln>
              <a:effectLst/>
            </p:spPr>
            <p:txBody>
              <a:bodyPr anchor="ctr"/>
              <a:lstStyle/>
              <a:p>
                <a:endParaRPr lang="fr-FR"/>
              </a:p>
            </p:txBody>
          </p:sp>
          <p:sp>
            <p:nvSpPr>
              <p:cNvPr id="389167" name="Line-47"/>
              <p:cNvSpPr>
                <a:spLocks noChangeShapeType="1"/>
              </p:cNvSpPr>
              <p:nvPr/>
            </p:nvSpPr>
            <p:spPr bwMode="auto">
              <a:xfrm>
                <a:off x="1479" y="2363"/>
                <a:ext cx="282" cy="0"/>
              </a:xfrm>
              <a:prstGeom prst="line">
                <a:avLst/>
              </a:prstGeom>
              <a:noFill/>
              <a:ln w="38100">
                <a:solidFill>
                  <a:srgbClr val="333333"/>
                </a:solidFill>
                <a:round/>
                <a:headEnd/>
                <a:tailEnd/>
              </a:ln>
              <a:effectLst/>
            </p:spPr>
            <p:txBody>
              <a:bodyPr anchor="ctr"/>
              <a:lstStyle/>
              <a:p>
                <a:endParaRPr lang="fr-FR"/>
              </a:p>
            </p:txBody>
          </p:sp>
          <p:sp>
            <p:nvSpPr>
              <p:cNvPr id="389168" name="Line-48"/>
              <p:cNvSpPr>
                <a:spLocks noChangeShapeType="1"/>
              </p:cNvSpPr>
              <p:nvPr/>
            </p:nvSpPr>
            <p:spPr bwMode="auto">
              <a:xfrm>
                <a:off x="1479" y="3124"/>
                <a:ext cx="282" cy="0"/>
              </a:xfrm>
              <a:prstGeom prst="line">
                <a:avLst/>
              </a:prstGeom>
              <a:noFill/>
              <a:ln w="38100">
                <a:solidFill>
                  <a:srgbClr val="333333"/>
                </a:solidFill>
                <a:round/>
                <a:headEnd/>
                <a:tailEnd/>
              </a:ln>
              <a:effectLst/>
            </p:spPr>
            <p:txBody>
              <a:bodyPr anchor="ctr"/>
              <a:lstStyle/>
              <a:p>
                <a:endParaRPr lang="fr-FR"/>
              </a:p>
            </p:txBody>
          </p:sp>
          <p:pic>
            <p:nvPicPr>
              <p:cNvPr id="389169" name="Picture-49" descr="NetworkPrinter01"/>
              <p:cNvPicPr>
                <a:picLocks noChangeAspect="1" noChangeArrowheads="1"/>
              </p:cNvPicPr>
              <p:nvPr/>
            </p:nvPicPr>
            <p:blipFill>
              <a:blip r:embed="rId5" cstate="print"/>
              <a:srcRect/>
              <a:stretch>
                <a:fillRect/>
              </a:stretch>
            </p:blipFill>
            <p:spPr bwMode="auto">
              <a:xfrm>
                <a:off x="786" y="2811"/>
                <a:ext cx="762" cy="754"/>
              </a:xfrm>
              <a:prstGeom prst="rect">
                <a:avLst/>
              </a:prstGeom>
              <a:noFill/>
              <a:ln w="9525">
                <a:noFill/>
                <a:miter lim="800000"/>
                <a:headEnd/>
                <a:tailEnd/>
              </a:ln>
            </p:spPr>
          </p:pic>
          <p:pic>
            <p:nvPicPr>
              <p:cNvPr id="389170" name="Picture-50" descr="Server01"/>
              <p:cNvPicPr>
                <a:picLocks noChangeAspect="1" noChangeArrowheads="1"/>
              </p:cNvPicPr>
              <p:nvPr/>
            </p:nvPicPr>
            <p:blipFill>
              <a:blip r:embed="rId6" cstate="print"/>
              <a:srcRect/>
              <a:stretch>
                <a:fillRect/>
              </a:stretch>
            </p:blipFill>
            <p:spPr bwMode="auto">
              <a:xfrm>
                <a:off x="824" y="1114"/>
                <a:ext cx="724" cy="852"/>
              </a:xfrm>
              <a:prstGeom prst="rect">
                <a:avLst/>
              </a:prstGeom>
              <a:noFill/>
              <a:ln w="9525">
                <a:noFill/>
                <a:miter lim="800000"/>
                <a:headEnd/>
                <a:tailEnd/>
              </a:ln>
            </p:spPr>
          </p:pic>
          <p:pic>
            <p:nvPicPr>
              <p:cNvPr id="389171" name="Picture-51" descr="NetworkPrinter01"/>
              <p:cNvPicPr>
                <a:picLocks noChangeAspect="1" noChangeArrowheads="1"/>
              </p:cNvPicPr>
              <p:nvPr/>
            </p:nvPicPr>
            <p:blipFill>
              <a:blip r:embed="rId5" cstate="print"/>
              <a:srcRect/>
              <a:stretch>
                <a:fillRect/>
              </a:stretch>
            </p:blipFill>
            <p:spPr bwMode="auto">
              <a:xfrm>
                <a:off x="786" y="2015"/>
                <a:ext cx="762" cy="754"/>
              </a:xfrm>
              <a:prstGeom prst="rect">
                <a:avLst/>
              </a:prstGeom>
              <a:noFill/>
              <a:ln w="9525">
                <a:noFill/>
                <a:miter lim="800000"/>
                <a:headEnd/>
                <a:tailEnd/>
              </a:ln>
            </p:spPr>
          </p:pic>
          <p:sp>
            <p:nvSpPr>
              <p:cNvPr id="389172" name="Line-52"/>
              <p:cNvSpPr>
                <a:spLocks noChangeShapeType="1"/>
              </p:cNvSpPr>
              <p:nvPr/>
            </p:nvSpPr>
            <p:spPr bwMode="auto">
              <a:xfrm>
                <a:off x="1762" y="1186"/>
                <a:ext cx="0" cy="2236"/>
              </a:xfrm>
              <a:prstGeom prst="line">
                <a:avLst/>
              </a:prstGeom>
              <a:noFill/>
              <a:ln w="38100">
                <a:solidFill>
                  <a:srgbClr val="333333"/>
                </a:solidFill>
                <a:round/>
                <a:headEnd/>
                <a:tailEnd/>
              </a:ln>
              <a:effectLst/>
            </p:spPr>
            <p:txBody>
              <a:bodyPr anchor="ctr"/>
              <a:lstStyle/>
              <a:p>
                <a:endParaRPr lang="fr-FR"/>
              </a:p>
            </p:txBody>
          </p:sp>
          <p:sp>
            <p:nvSpPr>
              <p:cNvPr id="389173" name="Line-53"/>
              <p:cNvSpPr>
                <a:spLocks noChangeShapeType="1"/>
              </p:cNvSpPr>
              <p:nvPr/>
            </p:nvSpPr>
            <p:spPr bwMode="auto">
              <a:xfrm>
                <a:off x="1774" y="1931"/>
                <a:ext cx="282" cy="0"/>
              </a:xfrm>
              <a:prstGeom prst="line">
                <a:avLst/>
              </a:prstGeom>
              <a:noFill/>
              <a:ln w="38100">
                <a:solidFill>
                  <a:srgbClr val="333333"/>
                </a:solidFill>
                <a:round/>
                <a:headEnd/>
                <a:tailEnd/>
              </a:ln>
              <a:effectLst/>
            </p:spPr>
            <p:txBody>
              <a:bodyPr anchor="ctr"/>
              <a:lstStyle/>
              <a:p>
                <a:endParaRPr lang="fr-FR"/>
              </a:p>
            </p:txBody>
          </p:sp>
        </p:grpSp>
        <p:sp>
          <p:nvSpPr>
            <p:cNvPr id="389174" name="AutoShape-54"/>
            <p:cNvSpPr>
              <a:spLocks noChangeArrowheads="1"/>
            </p:cNvSpPr>
            <p:nvPr/>
          </p:nvSpPr>
          <p:spPr bwMode="auto">
            <a:xfrm>
              <a:off x="4116" y="1756"/>
              <a:ext cx="915" cy="672"/>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nSpc>
                  <a:spcPct val="70000"/>
                </a:lnSpc>
              </a:pPr>
              <a:r>
                <a:rPr lang="fr-FR" altLang="zh-CN" sz="2000" dirty="0">
                  <a:solidFill>
                    <a:srgbClr val="000000"/>
                  </a:solidFill>
                  <a:ea typeface="SimSun" pitchFamily="2" charset="-122"/>
                  <a:cs typeface="Times New Roman" charset="0"/>
                </a:rPr>
                <a:t>TCP/IP</a:t>
              </a:r>
              <a:r>
                <a:rPr lang="fr-FR" altLang="zh-CN" sz="2000" i="1" dirty="0">
                  <a:solidFill>
                    <a:srgbClr val="000000"/>
                  </a:solidFill>
                  <a:ea typeface="SimSun" pitchFamily="2" charset="-122"/>
                  <a:cs typeface="Times New Roman" charset="0"/>
                </a:rPr>
                <a:t> </a:t>
              </a:r>
              <a:r>
                <a:rPr lang="fr-FR" altLang="zh-CN" sz="2000" b="0" i="1" dirty="0">
                  <a:solidFill>
                    <a:srgbClr val="000000"/>
                  </a:solidFill>
                  <a:ea typeface="SimSun" pitchFamily="2" charset="-122"/>
                  <a:cs typeface="Times New Roman" charset="0"/>
                </a:rPr>
                <a:t>ou</a:t>
              </a:r>
              <a:r>
                <a:rPr lang="en-IE" altLang="zh-CN" sz="2000" b="0" i="1" dirty="0">
                  <a:solidFill>
                    <a:srgbClr val="000000"/>
                  </a:solidFill>
                  <a:ea typeface="SimSun" pitchFamily="2" charset="-122"/>
                  <a:cs typeface="Times New Roman" charset="0"/>
                </a:rPr>
                <a:t> </a:t>
              </a:r>
              <a:endParaRPr lang="en-US" sz="2000" b="0" i="1" dirty="0">
                <a:ea typeface="SimSun" pitchFamily="2" charset="-122"/>
                <a:cs typeface="Times New Roman" charset="0"/>
              </a:endParaRPr>
            </a:p>
            <a:p>
              <a:pPr>
                <a:lnSpc>
                  <a:spcPct val="70000"/>
                </a:lnSpc>
              </a:pPr>
              <a:r>
                <a:rPr lang="fr-FR" altLang="zh-CN" sz="2000" dirty="0">
                  <a:solidFill>
                    <a:srgbClr val="000000"/>
                  </a:solidFill>
                  <a:ea typeface="SimSun" pitchFamily="2" charset="-122"/>
                  <a:cs typeface="Times New Roman" charset="0"/>
                </a:rPr>
                <a:t>IPX</a:t>
              </a:r>
              <a:r>
                <a:rPr lang="fr-FR" altLang="zh-CN" sz="2000" i="1" dirty="0">
                  <a:solidFill>
                    <a:srgbClr val="000000"/>
                  </a:solidFill>
                  <a:ea typeface="SimSun" pitchFamily="2" charset="-122"/>
                  <a:cs typeface="Times New Roman" charset="0"/>
                </a:rPr>
                <a:t> </a:t>
              </a:r>
              <a:r>
                <a:rPr lang="fr-FR" altLang="zh-CN" sz="2000" b="0" i="1" dirty="0">
                  <a:solidFill>
                    <a:srgbClr val="000000"/>
                  </a:solidFill>
                  <a:ea typeface="SimSun" pitchFamily="2" charset="-122"/>
                  <a:cs typeface="Times New Roman" charset="0"/>
                </a:rPr>
                <a:t>ou</a:t>
              </a:r>
              <a:r>
                <a:rPr lang="en-IE" altLang="zh-CN" sz="2000" b="0" i="1" dirty="0">
                  <a:solidFill>
                    <a:srgbClr val="000000"/>
                  </a:solidFill>
                  <a:ea typeface="SimSun" pitchFamily="2" charset="-122"/>
                  <a:cs typeface="Times New Roman" charset="0"/>
                </a:rPr>
                <a:t> </a:t>
              </a:r>
              <a:endParaRPr lang="en-US" sz="2000" b="0" i="1" dirty="0">
                <a:ea typeface="SimSun" pitchFamily="2" charset="-122"/>
                <a:cs typeface="Times New Roman" charset="0"/>
              </a:endParaRPr>
            </a:p>
            <a:p>
              <a:pPr>
                <a:lnSpc>
                  <a:spcPct val="70000"/>
                </a:lnSpc>
              </a:pPr>
              <a:r>
                <a:rPr lang="fr-FR" altLang="zh-CN" sz="2000" dirty="0">
                  <a:solidFill>
                    <a:srgbClr val="000000"/>
                  </a:solidFill>
                  <a:ea typeface="SimSun" pitchFamily="2" charset="-122"/>
                  <a:cs typeface="Times New Roman" charset="0"/>
                </a:rPr>
                <a:t>AppleTalk</a:t>
              </a:r>
              <a:r>
                <a:rPr lang="en-IE" altLang="zh-CN" sz="2000" dirty="0">
                  <a:solidFill>
                    <a:srgbClr val="000000"/>
                  </a:solidFill>
                  <a:ea typeface="SimSun" pitchFamily="2" charset="-122"/>
                  <a:cs typeface="Times New Roman" charset="0"/>
                </a:rPr>
                <a:t> </a:t>
              </a:r>
              <a:endParaRPr lang="en-US" sz="2000" dirty="0">
                <a:solidFill>
                  <a:srgbClr val="000000"/>
                </a:solidFill>
                <a:ea typeface="SimSun" pitchFamily="2" charset="-122"/>
                <a:cs typeface="Times New Roman" charset="0"/>
              </a:endParaRPr>
            </a:p>
          </p:txBody>
        </p:sp>
        <p:sp>
          <p:nvSpPr>
            <p:cNvPr id="389175" name="AutoShape-55"/>
            <p:cNvSpPr>
              <a:spLocks noChangeArrowheads="1"/>
            </p:cNvSpPr>
            <p:nvPr/>
          </p:nvSpPr>
          <p:spPr bwMode="auto">
            <a:xfrm>
              <a:off x="3554" y="1180"/>
              <a:ext cx="1353" cy="371"/>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gn="ctr">
                <a:lnSpc>
                  <a:spcPct val="70000"/>
                </a:lnSpc>
              </a:pPr>
              <a:r>
                <a:rPr lang="fr-FR" altLang="zh-CN" sz="2000" dirty="0">
                  <a:solidFill>
                    <a:srgbClr val="000000"/>
                  </a:solidFill>
                  <a:ea typeface="SimSun" pitchFamily="2" charset="-122"/>
                  <a:cs typeface="Times New Roman" charset="0"/>
                </a:rPr>
                <a:t>Serveur d'impression</a:t>
              </a:r>
              <a:r>
                <a:rPr lang="en-IE" altLang="zh-CN" sz="2000" dirty="0">
                  <a:solidFill>
                    <a:srgbClr val="000000"/>
                  </a:solidFill>
                  <a:ea typeface="SimSun" pitchFamily="2" charset="-122"/>
                  <a:cs typeface="Times New Roman" charset="0"/>
                </a:rPr>
                <a:t> </a:t>
              </a:r>
              <a:endParaRPr lang="en-US" sz="2000" dirty="0">
                <a:solidFill>
                  <a:srgbClr val="000000"/>
                </a:solidFill>
                <a:ea typeface="SimSun" pitchFamily="2" charset="-122"/>
                <a:cs typeface="Times New Roman" charset="0"/>
              </a:endParaRPr>
            </a:p>
          </p:txBody>
        </p:sp>
        <p:sp>
          <p:nvSpPr>
            <p:cNvPr id="389176" name="AutoShape-56"/>
            <p:cNvSpPr>
              <a:spLocks noChangeArrowheads="1"/>
            </p:cNvSpPr>
            <p:nvPr/>
          </p:nvSpPr>
          <p:spPr bwMode="auto">
            <a:xfrm>
              <a:off x="3554" y="2582"/>
              <a:ext cx="1134" cy="359"/>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gn="ctr">
                <a:lnSpc>
                  <a:spcPct val="70000"/>
                </a:lnSpc>
              </a:pPr>
              <a:r>
                <a:rPr lang="fr-FR" altLang="zh-CN" sz="2000" dirty="0">
                  <a:solidFill>
                    <a:srgbClr val="000000"/>
                  </a:solidFill>
                  <a:ea typeface="SimSun" pitchFamily="2" charset="-122"/>
                  <a:cs typeface="Times New Roman" charset="0"/>
                </a:rPr>
                <a:t>Périphérique d'impression</a:t>
              </a:r>
              <a:r>
                <a:rPr lang="en-IE" altLang="zh-CN" sz="2000" dirty="0">
                  <a:solidFill>
                    <a:srgbClr val="000000"/>
                  </a:solidFill>
                  <a:ea typeface="SimSun" pitchFamily="2" charset="-122"/>
                  <a:cs typeface="Times New Roman" charset="0"/>
                </a:rPr>
                <a:t> </a:t>
              </a:r>
              <a:endParaRPr lang="en-US" sz="2000" dirty="0">
                <a:solidFill>
                  <a:srgbClr val="000000"/>
                </a:solidFill>
                <a:ea typeface="SimSun" pitchFamily="2" charset="-122"/>
                <a:cs typeface="Times New Roman" charset="0"/>
              </a:endParaRPr>
            </a:p>
          </p:txBody>
        </p:sp>
        <p:sp>
          <p:nvSpPr>
            <p:cNvPr id="389177" name="AutoShape-57"/>
            <p:cNvSpPr>
              <a:spLocks noChangeArrowheads="1"/>
            </p:cNvSpPr>
            <p:nvPr/>
          </p:nvSpPr>
          <p:spPr bwMode="auto">
            <a:xfrm>
              <a:off x="3554" y="3323"/>
              <a:ext cx="1101" cy="359"/>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gn="ctr">
                <a:lnSpc>
                  <a:spcPct val="70000"/>
                </a:lnSpc>
              </a:pPr>
              <a:r>
                <a:rPr lang="fr-FR" altLang="zh-CN" sz="2000">
                  <a:solidFill>
                    <a:srgbClr val="000000"/>
                  </a:solidFill>
                  <a:ea typeface="SimSun" pitchFamily="2" charset="-122"/>
                  <a:cs typeface="Times New Roman" charset="0"/>
                </a:rPr>
                <a:t>Périphérique d'impression</a:t>
              </a:r>
              <a:r>
                <a:rPr lang="en-IE" altLang="zh-CN" sz="2000">
                  <a:solidFill>
                    <a:srgbClr val="000000"/>
                  </a:solidFill>
                  <a:ea typeface="SimSun" pitchFamily="2" charset="-122"/>
                  <a:cs typeface="Times New Roman" charset="0"/>
                </a:rPr>
                <a:t> </a:t>
              </a:r>
              <a:endParaRPr lang="en-US" sz="2000">
                <a:solidFill>
                  <a:srgbClr val="000000"/>
                </a:solidFill>
                <a:ea typeface="SimSun" pitchFamily="2" charset="-122"/>
                <a:cs typeface="Times New Roman"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89182"/>
                                        </p:tgtEl>
                                        <p:attrNameLst>
                                          <p:attrName>style.visibility</p:attrName>
                                        </p:attrNameLst>
                                      </p:cBhvr>
                                      <p:to>
                                        <p:strVal val="visible"/>
                                      </p:to>
                                    </p:set>
                                    <p:animEffect transition="in" filter="checkerboard(across)">
                                      <p:cBhvr>
                                        <p:cTn id="7" dur="1000"/>
                                        <p:tgtEl>
                                          <p:spTgt spid="38918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89183"/>
                                        </p:tgtEl>
                                        <p:attrNameLst>
                                          <p:attrName>style.visibility</p:attrName>
                                        </p:attrNameLst>
                                      </p:cBhvr>
                                      <p:to>
                                        <p:strVal val="visible"/>
                                      </p:to>
                                    </p:set>
                                    <p:animEffect transition="in" filter="checkerboard(across)">
                                      <p:cBhvr>
                                        <p:cTn id="12" dur="1000"/>
                                        <p:tgtEl>
                                          <p:spTgt spid="389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Rectangle-2"/>
          <p:cNvSpPr>
            <a:spLocks noGrp="1" noChangeArrowheads="1"/>
          </p:cNvSpPr>
          <p:nvPr>
            <p:ph type="title"/>
          </p:nvPr>
        </p:nvSpPr>
        <p:spPr/>
        <p:txBody>
          <a:bodyPr>
            <a:normAutofit fontScale="90000"/>
          </a:bodyPr>
          <a:lstStyle/>
          <a:p>
            <a:r>
              <a:rPr lang="fr-FR" altLang="zh-CN" sz="2600" b="1" dirty="0">
                <a:solidFill>
                  <a:srgbClr val="C00000"/>
                </a:solidFill>
                <a:ea typeface="SimSun" pitchFamily="2" charset="-122"/>
                <a:cs typeface="Times New Roman" charset="0"/>
              </a:rPr>
              <a:t>Configuration matérielle nécessaire pour configurer </a:t>
            </a:r>
            <a:br>
              <a:rPr lang="fr-FR" altLang="zh-CN" sz="2600" b="1" dirty="0">
                <a:solidFill>
                  <a:srgbClr val="C00000"/>
                </a:solidFill>
                <a:ea typeface="SimSun" pitchFamily="2" charset="-122"/>
                <a:cs typeface="Times New Roman" charset="0"/>
              </a:rPr>
            </a:br>
            <a:r>
              <a:rPr lang="fr-FR" altLang="zh-CN" sz="2600" b="1" dirty="0">
                <a:solidFill>
                  <a:srgbClr val="C00000"/>
                </a:solidFill>
                <a:ea typeface="SimSun" pitchFamily="2" charset="-122"/>
                <a:cs typeface="Times New Roman" charset="0"/>
              </a:rPr>
              <a:t>un serveur d'impression</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sp>
        <p:nvSpPr>
          <p:cNvPr id="438281" name="AutoShape-9"/>
          <p:cNvSpPr>
            <a:spLocks noChangeArrowheads="1"/>
          </p:cNvSpPr>
          <p:nvPr/>
        </p:nvSpPr>
        <p:spPr bwMode="auto">
          <a:xfrm>
            <a:off x="1066800" y="1676400"/>
            <a:ext cx="7641102" cy="4132263"/>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endParaRPr lang="en-US" sz="2400"/>
          </a:p>
          <a:p>
            <a:endParaRPr lang="en-US" sz="2400" b="0"/>
          </a:p>
        </p:txBody>
      </p:sp>
      <p:sp>
        <p:nvSpPr>
          <p:cNvPr id="438282" name="AutoShape-10"/>
          <p:cNvSpPr>
            <a:spLocks noChangeArrowheads="1"/>
          </p:cNvSpPr>
          <p:nvPr/>
        </p:nvSpPr>
        <p:spPr bwMode="auto">
          <a:xfrm>
            <a:off x="1274762" y="2112963"/>
            <a:ext cx="7250259" cy="90328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nSpc>
                <a:spcPct val="90000"/>
              </a:lnSpc>
              <a:buSzPct val="80000"/>
              <a:buFontTx/>
              <a:buBlip>
                <a:blip r:embed="rId3"/>
              </a:buBlip>
            </a:pPr>
            <a:r>
              <a:rPr lang="fr-FR" altLang="zh-CN" sz="2200" dirty="0">
                <a:solidFill>
                  <a:srgbClr val="000000"/>
                </a:solidFill>
                <a:ea typeface="SimSun" pitchFamily="2" charset="-122"/>
                <a:cs typeface="Times New Roman" charset="0"/>
              </a:rPr>
              <a:t>Serveur d'impression exécutant l'un des systèmes d'exploitation de la famille Windows Server 2003</a:t>
            </a:r>
            <a:r>
              <a:rPr lang="en-IE" altLang="zh-CN" sz="2200" dirty="0">
                <a:solidFill>
                  <a:srgbClr val="000000"/>
                </a:solidFill>
                <a:ea typeface="SimSun" pitchFamily="2" charset="-122"/>
                <a:cs typeface="Times New Roman" charset="0"/>
              </a:rPr>
              <a:t> et  2008</a:t>
            </a:r>
            <a:endParaRPr lang="en-US" sz="2200" dirty="0">
              <a:solidFill>
                <a:srgbClr val="000000"/>
              </a:solidFill>
              <a:ea typeface="SimSun" pitchFamily="2" charset="-122"/>
              <a:cs typeface="Times New Roman" charset="0"/>
            </a:endParaRPr>
          </a:p>
        </p:txBody>
      </p:sp>
      <p:sp>
        <p:nvSpPr>
          <p:cNvPr id="438283" name="AutoShape-11"/>
          <p:cNvSpPr>
            <a:spLocks noChangeArrowheads="1"/>
          </p:cNvSpPr>
          <p:nvPr/>
        </p:nvSpPr>
        <p:spPr bwMode="auto">
          <a:xfrm>
            <a:off x="1274762" y="3321050"/>
            <a:ext cx="7250259" cy="90328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nSpc>
                <a:spcPct val="90000"/>
              </a:lnSpc>
              <a:buSzPct val="80000"/>
              <a:buFontTx/>
              <a:buBlip>
                <a:blip r:embed="rId3"/>
              </a:buBlip>
            </a:pPr>
            <a:r>
              <a:rPr lang="fr-FR" altLang="zh-CN" sz="2200" dirty="0">
                <a:solidFill>
                  <a:srgbClr val="000000"/>
                </a:solidFill>
                <a:ea typeface="SimSun" pitchFamily="2" charset="-122"/>
                <a:cs typeface="Times New Roman" charset="0"/>
              </a:rPr>
              <a:t>Mémoire RAM suffisante pour traiter les documents</a:t>
            </a:r>
            <a:r>
              <a:rPr lang="en-IE" altLang="zh-CN" sz="2200" dirty="0">
                <a:solidFill>
                  <a:srgbClr val="000000"/>
                </a:solidFill>
                <a:ea typeface="SimSun" pitchFamily="2" charset="-122"/>
                <a:cs typeface="Times New Roman" charset="0"/>
              </a:rPr>
              <a:t> </a:t>
            </a:r>
            <a:endParaRPr lang="en-US" sz="2200" dirty="0">
              <a:solidFill>
                <a:srgbClr val="000000"/>
              </a:solidFill>
              <a:ea typeface="SimSun" pitchFamily="2" charset="-122"/>
              <a:cs typeface="Times New Roman" charset="0"/>
            </a:endParaRPr>
          </a:p>
        </p:txBody>
      </p:sp>
      <p:sp>
        <p:nvSpPr>
          <p:cNvPr id="438284" name="AutoShape-12"/>
          <p:cNvSpPr>
            <a:spLocks noChangeArrowheads="1"/>
          </p:cNvSpPr>
          <p:nvPr/>
        </p:nvSpPr>
        <p:spPr bwMode="auto">
          <a:xfrm>
            <a:off x="1274762" y="4530725"/>
            <a:ext cx="7250259" cy="903288"/>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nSpc>
                <a:spcPct val="90000"/>
              </a:lnSpc>
              <a:buSzPct val="80000"/>
              <a:buFontTx/>
              <a:buBlip>
                <a:blip r:embed="rId3"/>
              </a:buBlip>
            </a:pPr>
            <a:r>
              <a:rPr lang="fr-FR" altLang="zh-CN" sz="2200" dirty="0">
                <a:solidFill>
                  <a:srgbClr val="000000"/>
                </a:solidFill>
                <a:ea typeface="SimSun" pitchFamily="2" charset="-122"/>
                <a:cs typeface="Times New Roman" charset="0"/>
              </a:rPr>
              <a:t>Espace disque suffisant sur le serveur d'impression pour stocker les documents en attente d'impression</a:t>
            </a:r>
            <a:r>
              <a:rPr lang="en-IE" altLang="zh-CN" sz="2200" dirty="0">
                <a:solidFill>
                  <a:srgbClr val="000000"/>
                </a:solidFill>
                <a:ea typeface="SimSun" pitchFamily="2" charset="-122"/>
                <a:cs typeface="Times New Roman" charset="0"/>
              </a:rPr>
              <a:t> </a:t>
            </a:r>
            <a:endParaRPr lang="en-US" sz="2200" dirty="0">
              <a:solidFill>
                <a:srgbClr val="000000"/>
              </a:solidFill>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38282"/>
                                        </p:tgtEl>
                                        <p:attrNameLst>
                                          <p:attrName>style.visibility</p:attrName>
                                        </p:attrNameLst>
                                      </p:cBhvr>
                                      <p:to>
                                        <p:strVal val="visible"/>
                                      </p:to>
                                    </p:set>
                                    <p:animEffect transition="in" filter="checkerboard(across)">
                                      <p:cBhvr>
                                        <p:cTn id="7" dur="1000"/>
                                        <p:tgtEl>
                                          <p:spTgt spid="43828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38283"/>
                                        </p:tgtEl>
                                        <p:attrNameLst>
                                          <p:attrName>style.visibility</p:attrName>
                                        </p:attrNameLst>
                                      </p:cBhvr>
                                      <p:to>
                                        <p:strVal val="visible"/>
                                      </p:to>
                                    </p:set>
                                    <p:animEffect transition="in" filter="checkerboard(across)">
                                      <p:cBhvr>
                                        <p:cTn id="12" dur="1000"/>
                                        <p:tgtEl>
                                          <p:spTgt spid="43828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38284"/>
                                        </p:tgtEl>
                                        <p:attrNameLst>
                                          <p:attrName>style.visibility</p:attrName>
                                        </p:attrNameLst>
                                      </p:cBhvr>
                                      <p:to>
                                        <p:strVal val="visible"/>
                                      </p:to>
                                    </p:set>
                                    <p:animEffect transition="in" filter="checkerboard(across)">
                                      <p:cBhvr>
                                        <p:cTn id="17" dur="1000"/>
                                        <p:tgtEl>
                                          <p:spTgt spid="438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8282" grpId="0" animBg="1"/>
      <p:bldP spid="438283" grpId="0" animBg="1"/>
      <p:bldP spid="43828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Rectangle-2"/>
          <p:cNvSpPr>
            <a:spLocks noGrp="1" noChangeArrowheads="1"/>
          </p:cNvSpPr>
          <p:nvPr>
            <p:ph type="title"/>
          </p:nvPr>
        </p:nvSpPr>
        <p:spPr/>
        <p:txBody>
          <a:bodyPr>
            <a:normAutofit fontScale="90000"/>
          </a:bodyPr>
          <a:lstStyle/>
          <a:p>
            <a:r>
              <a:rPr lang="fr-FR" altLang="zh-CN" sz="2600" b="1" dirty="0">
                <a:solidFill>
                  <a:srgbClr val="000000"/>
                </a:solidFill>
                <a:ea typeface="SimSun" pitchFamily="2" charset="-122"/>
                <a:cs typeface="Times New Roman" charset="0"/>
              </a:rPr>
              <a:t>3. Administration des accès aux imprimantes </a:t>
            </a:r>
            <a:br>
              <a:rPr lang="fr-FR" altLang="zh-CN" sz="2600" b="1" dirty="0">
                <a:solidFill>
                  <a:srgbClr val="000000"/>
                </a:solidFill>
                <a:ea typeface="SimSun" pitchFamily="2" charset="-122"/>
                <a:cs typeface="Times New Roman" charset="0"/>
              </a:rPr>
            </a:br>
            <a:r>
              <a:rPr lang="fr-FR" altLang="zh-CN" sz="2600" b="1" dirty="0">
                <a:solidFill>
                  <a:srgbClr val="000000"/>
                </a:solidFill>
                <a:ea typeface="SimSun" pitchFamily="2" charset="-122"/>
                <a:cs typeface="Times New Roman" charset="0"/>
              </a:rPr>
              <a:t>à l'aide d'autorisations d'imprimantes partagées</a:t>
            </a:r>
            <a:r>
              <a:rPr lang="en-IE" altLang="zh-CN" sz="2600" b="1" dirty="0">
                <a:solidFill>
                  <a:srgbClr val="000000"/>
                </a:solidFill>
                <a:ea typeface="SimSun" pitchFamily="2" charset="-122"/>
              </a:rPr>
              <a:t> </a:t>
            </a:r>
            <a:endParaRPr lang="en-US" sz="2600" b="1" dirty="0">
              <a:solidFill>
                <a:srgbClr val="000000"/>
              </a:solidFill>
            </a:endParaRPr>
          </a:p>
        </p:txBody>
      </p:sp>
      <p:sp>
        <p:nvSpPr>
          <p:cNvPr id="440323" name="Rectangle-3"/>
          <p:cNvSpPr>
            <a:spLocks noGrp="1" noChangeArrowheads="1"/>
          </p:cNvSpPr>
          <p:nvPr>
            <p:ph sz="quarter" idx="1"/>
          </p:nvPr>
        </p:nvSpPr>
        <p:spPr>
          <a:xfrm>
            <a:off x="313628" y="1907058"/>
            <a:ext cx="8503920" cy="1904921"/>
          </a:xfrm>
        </p:spPr>
        <p:txBody>
          <a:bodyPr/>
          <a:lstStyle/>
          <a:p>
            <a:r>
              <a:rPr lang="fr-FR" altLang="zh-CN" dirty="0">
                <a:solidFill>
                  <a:srgbClr val="C00000"/>
                </a:solidFill>
                <a:ea typeface="SimSun" pitchFamily="2" charset="-122"/>
                <a:cs typeface="Times New Roman" charset="0"/>
              </a:rPr>
              <a:t>Description des autorisations associées aux imprimantes partagées</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Pourquoi modifier les autorisations des imprimantes partagées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2"/>
          <p:cNvSpPr>
            <a:spLocks noGrp="1" noChangeArrowheads="1"/>
          </p:cNvSpPr>
          <p:nvPr>
            <p:ph type="title"/>
          </p:nvPr>
        </p:nvSpPr>
        <p:spPr/>
        <p:txBody>
          <a:bodyPr>
            <a:noAutofit/>
          </a:bodyPr>
          <a:lstStyle/>
          <a:p>
            <a:r>
              <a:rPr lang="fr-FR" altLang="zh-CN" sz="2600" b="1" dirty="0">
                <a:solidFill>
                  <a:srgbClr val="C00000"/>
                </a:solidFill>
                <a:ea typeface="SimSun" pitchFamily="2" charset="-122"/>
                <a:cs typeface="Times New Roman" charset="0"/>
              </a:rPr>
              <a:t>Description des autorisations associées aux imprimantes partagées</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graphicFrame>
        <p:nvGraphicFramePr>
          <p:cNvPr id="443429" name="Group 37"/>
          <p:cNvGraphicFramePr>
            <a:graphicFrameLocks noGrp="1"/>
          </p:cNvGraphicFramePr>
          <p:nvPr>
            <p:ph sz="quarter" idx="1"/>
          </p:nvPr>
        </p:nvGraphicFramePr>
        <p:xfrm>
          <a:off x="166255" y="1490663"/>
          <a:ext cx="8823366" cy="5147643"/>
        </p:xfrm>
        <a:graphic>
          <a:graphicData uri="http://schemas.openxmlformats.org/drawingml/2006/table">
            <a:tbl>
              <a:tblPr/>
              <a:tblGrid>
                <a:gridCol w="2224796">
                  <a:extLst>
                    <a:ext uri="{9D8B030D-6E8A-4147-A177-3AD203B41FA5}">
                      <a16:colId xmlns:a16="http://schemas.microsoft.com/office/drawing/2014/main" val="20000"/>
                    </a:ext>
                  </a:extLst>
                </a:gridCol>
                <a:gridCol w="6598570">
                  <a:extLst>
                    <a:ext uri="{9D8B030D-6E8A-4147-A177-3AD203B41FA5}">
                      <a16:colId xmlns:a16="http://schemas.microsoft.com/office/drawing/2014/main" val="20001"/>
                    </a:ext>
                  </a:extLst>
                </a:gridCol>
              </a:tblGrid>
              <a:tr h="489536">
                <a:tc>
                  <a:txBody>
                    <a:bodyPr/>
                    <a:lstStyle/>
                    <a:p>
                      <a:pPr marL="0" marR="0" lvl="0" indent="0" algn="ctr" defTabSz="914400" rtl="0" eaLnBrk="0" fontAlgn="base" latinLnBrk="0" hangingPunct="0">
                        <a:lnSpc>
                          <a:spcPct val="90000"/>
                        </a:lnSpc>
                        <a:spcBef>
                          <a:spcPct val="0"/>
                        </a:spcBef>
                        <a:spcAft>
                          <a:spcPct val="0"/>
                        </a:spcAft>
                        <a:buClr>
                          <a:schemeClr val="bg1"/>
                        </a:buClr>
                        <a:buSzPct val="70000"/>
                        <a:buFontTx/>
                        <a:buNone/>
                        <a:tabLst/>
                      </a:pPr>
                      <a:r>
                        <a:rPr kumimoji="0" lang="fr-FR" altLang="zh-CN" sz="2200" b="1" i="0" u="none" strike="noStrike" cap="none" normalizeH="0" baseline="0" dirty="0">
                          <a:ln>
                            <a:noFill/>
                          </a:ln>
                          <a:solidFill>
                            <a:srgbClr val="000000"/>
                          </a:solidFill>
                          <a:effectLst/>
                          <a:latin typeface="Arial Narrow" charset="0"/>
                          <a:ea typeface="SimSun" pitchFamily="2" charset="-122"/>
                          <a:cs typeface="Times New Roman" charset="0"/>
                        </a:rPr>
                        <a:t>Autorisation</a:t>
                      </a:r>
                      <a:r>
                        <a:rPr kumimoji="0" lang="en-IE" altLang="zh-CN" sz="2200" b="1"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200" b="1"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
                          <a:schemeClr val="bg1"/>
                        </a:buClr>
                        <a:buSzPct val="70000"/>
                        <a:buFontTx/>
                        <a:buNone/>
                        <a:tabLst/>
                      </a:pPr>
                      <a:r>
                        <a:rPr kumimoji="0" lang="fr-FR" altLang="zh-CN" sz="2200" b="1" i="0" u="none" strike="noStrike" cap="none" normalizeH="0" baseline="0">
                          <a:ln>
                            <a:noFill/>
                          </a:ln>
                          <a:solidFill>
                            <a:srgbClr val="000000"/>
                          </a:solidFill>
                          <a:effectLst/>
                          <a:latin typeface="Arial Narrow" charset="0"/>
                          <a:ea typeface="SimSun" pitchFamily="2" charset="-122"/>
                          <a:cs typeface="Times New Roman" charset="0"/>
                        </a:rPr>
                        <a:t>Action</a:t>
                      </a:r>
                      <a:r>
                        <a:rPr kumimoji="0" lang="en-IE" altLang="zh-CN" sz="2200" b="1" i="0" u="none" strike="noStrike" cap="none" normalizeH="0" baseline="0">
                          <a:ln>
                            <a:noFill/>
                          </a:ln>
                          <a:solidFill>
                            <a:srgbClr val="000000"/>
                          </a:solidFill>
                          <a:effectLst/>
                          <a:latin typeface="Arial Narrow" charset="0"/>
                          <a:ea typeface="SimSun" pitchFamily="2" charset="-122"/>
                          <a:cs typeface="Times New Roman" charset="0"/>
                        </a:rPr>
                        <a:t> </a:t>
                      </a:r>
                      <a:endParaRPr kumimoji="0" lang="en-US" sz="2200" b="1" i="0" u="none" strike="noStrike" cap="none" normalizeH="0" baseline="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756995">
                <a:tc>
                  <a:txBody>
                    <a:bodyPr/>
                    <a:lstStyle/>
                    <a:p>
                      <a:pPr marL="0" marR="0" lvl="0" indent="0" algn="l" defTabSz="914400" rtl="0" eaLnBrk="0" fontAlgn="base" latinLnBrk="0" hangingPunct="0">
                        <a:lnSpc>
                          <a:spcPct val="80000"/>
                        </a:lnSpc>
                        <a:spcBef>
                          <a:spcPct val="40000"/>
                        </a:spcBef>
                        <a:spcAft>
                          <a:spcPct val="0"/>
                        </a:spcAft>
                        <a:buClr>
                          <a:srgbClr val="8DACD0"/>
                        </a:buClr>
                        <a:buSzPct val="70000"/>
                        <a:buFont typeface="Wingdings" pitchFamily="2" charset="2"/>
                        <a:buNone/>
                        <a:tabLst/>
                      </a:pPr>
                      <a:r>
                        <a:rPr kumimoji="0" lang="fr-FR" altLang="zh-CN" sz="2200" b="1" i="0" u="none" strike="noStrike" cap="none" normalizeH="0" baseline="0" dirty="0">
                          <a:ln>
                            <a:noFill/>
                          </a:ln>
                          <a:solidFill>
                            <a:srgbClr val="000000"/>
                          </a:solidFill>
                          <a:effectLst/>
                          <a:latin typeface="Arial Narrow" charset="0"/>
                          <a:ea typeface="SimSun" pitchFamily="2" charset="-122"/>
                          <a:cs typeface="Times New Roman" charset="0"/>
                        </a:rPr>
                        <a:t>Impression</a:t>
                      </a:r>
                      <a:r>
                        <a:rPr kumimoji="0" lang="en-IE" altLang="zh-CN" sz="2200" b="1"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200" b="1"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80000"/>
                        </a:lnSpc>
                        <a:spcBef>
                          <a:spcPct val="40000"/>
                        </a:spcBef>
                        <a:spcAft>
                          <a:spcPct val="0"/>
                        </a:spcAft>
                        <a:buClr>
                          <a:srgbClr val="8DACD0"/>
                        </a:buClr>
                        <a:buSzPct val="70000"/>
                        <a:buFont typeface="Wingdings" pitchFamily="2" charset="2"/>
                        <a:buNone/>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Se connecter à une imprimante et y envoyer des documents</a:t>
                      </a:r>
                      <a:r>
                        <a:rPr kumimoji="0" lang="en-IE" altLang="zh-CN" sz="22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200" b="0"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451477">
                <a:tc>
                  <a:txBody>
                    <a:bodyPr/>
                    <a:lstStyle/>
                    <a:p>
                      <a:pPr marL="0" marR="0" lvl="0" indent="0" algn="l" defTabSz="914400" rtl="0" eaLnBrk="0" fontAlgn="base" latinLnBrk="0" hangingPunct="0">
                        <a:lnSpc>
                          <a:spcPct val="80000"/>
                        </a:lnSpc>
                        <a:spcBef>
                          <a:spcPct val="0"/>
                        </a:spcBef>
                        <a:spcAft>
                          <a:spcPct val="0"/>
                        </a:spcAft>
                        <a:buClr>
                          <a:schemeClr val="bg1"/>
                        </a:buClr>
                        <a:buSzPct val="70000"/>
                        <a:buFontTx/>
                        <a:buNone/>
                        <a:tabLst/>
                      </a:pPr>
                      <a:r>
                        <a:rPr kumimoji="0" lang="fr-FR" altLang="zh-CN" sz="2200" b="1" i="0" u="none" strike="noStrike" cap="none" normalizeH="0" baseline="0" dirty="0">
                          <a:ln>
                            <a:noFill/>
                          </a:ln>
                          <a:solidFill>
                            <a:srgbClr val="000000"/>
                          </a:solidFill>
                          <a:effectLst/>
                          <a:latin typeface="Arial Narrow" charset="0"/>
                          <a:ea typeface="SimSun" pitchFamily="2" charset="-122"/>
                          <a:cs typeface="Times New Roman" charset="0"/>
                        </a:rPr>
                        <a:t>Gestion d'imprimantes</a:t>
                      </a:r>
                      <a:r>
                        <a:rPr kumimoji="0" lang="en-IE" altLang="zh-CN" sz="2200" b="1"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200" b="1"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80000"/>
                        </a:lnSpc>
                        <a:spcBef>
                          <a:spcPct val="0"/>
                        </a:spcBef>
                        <a:spcAft>
                          <a:spcPct val="0"/>
                        </a:spcAft>
                        <a:buClrTx/>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Effectuer les tâches associées à l'autorisation Imprimer.</a:t>
                      </a:r>
                      <a:r>
                        <a:rPr kumimoji="0" lang="fr-FR" altLang="zh-CN" sz="2200" b="0" i="0" u="none" strike="noStrike" cap="none" normalizeH="0" baseline="0" dirty="0">
                          <a:ln>
                            <a:noFill/>
                          </a:ln>
                          <a:solidFill>
                            <a:srgbClr val="000000"/>
                          </a:solidFill>
                          <a:effectLst/>
                          <a:latin typeface="Arial Narrow" charset="0"/>
                          <a:ea typeface="SimSun" pitchFamily="2" charset="-122"/>
                          <a:cs typeface="Arial Narrow" charset="0"/>
                        </a:rPr>
                        <a:t> </a:t>
                      </a:r>
                    </a:p>
                    <a:p>
                      <a:pPr marL="0" marR="0" lvl="0" indent="0" algn="l" defTabSz="914400" rtl="0" eaLnBrk="0" fontAlgn="base" latinLnBrk="0" hangingPunct="0">
                        <a:lnSpc>
                          <a:spcPct val="80000"/>
                        </a:lnSpc>
                        <a:spcBef>
                          <a:spcPct val="0"/>
                        </a:spcBef>
                        <a:spcAft>
                          <a:spcPct val="0"/>
                        </a:spcAft>
                        <a:buClrTx/>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Contrôle total d'administration de l'imprimante</a:t>
                      </a:r>
                      <a:r>
                        <a:rPr kumimoji="0" lang="fr-FR" altLang="zh-CN" sz="2200" b="0" i="0" u="none" strike="noStrike" cap="none" normalizeH="0" baseline="0" dirty="0">
                          <a:ln>
                            <a:noFill/>
                          </a:ln>
                          <a:solidFill>
                            <a:srgbClr val="000000"/>
                          </a:solidFill>
                          <a:effectLst/>
                          <a:latin typeface="Arial Narrow" charset="0"/>
                          <a:ea typeface="SimSun" pitchFamily="2" charset="-122"/>
                          <a:cs typeface="Arial Narrow" charset="0"/>
                        </a:rPr>
                        <a:t> </a:t>
                      </a:r>
                    </a:p>
                    <a:p>
                      <a:pPr marL="0" marR="0" lvl="0" indent="0" algn="l" defTabSz="914400" rtl="0" eaLnBrk="0" fontAlgn="base" latinLnBrk="0" hangingPunct="0">
                        <a:lnSpc>
                          <a:spcPct val="80000"/>
                        </a:lnSpc>
                        <a:spcBef>
                          <a:spcPct val="0"/>
                        </a:spcBef>
                        <a:spcAft>
                          <a:spcPct val="0"/>
                        </a:spcAft>
                        <a:buClrTx/>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Arial Narrow" charset="0"/>
                        </a:rPr>
                        <a:t>S</a:t>
                      </a: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uspendre et redémarrer l'imprimante</a:t>
                      </a:r>
                    </a:p>
                    <a:p>
                      <a:pPr marL="0" marR="0" lvl="0" indent="0" algn="l" defTabSz="914400" rtl="0" eaLnBrk="0" fontAlgn="base" latinLnBrk="0" hangingPunct="0">
                        <a:lnSpc>
                          <a:spcPct val="80000"/>
                        </a:lnSpc>
                        <a:spcBef>
                          <a:spcPct val="0"/>
                        </a:spcBef>
                        <a:spcAft>
                          <a:spcPct val="0"/>
                        </a:spcAft>
                        <a:buClrTx/>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Modifier les paramètres du spouleur d'impression</a:t>
                      </a:r>
                    </a:p>
                    <a:p>
                      <a:pPr marL="0" marR="0" lvl="0" indent="0" algn="l" defTabSz="914400" rtl="0" eaLnBrk="0" fontAlgn="base" latinLnBrk="0" hangingPunct="0">
                        <a:lnSpc>
                          <a:spcPct val="80000"/>
                        </a:lnSpc>
                        <a:spcBef>
                          <a:spcPct val="0"/>
                        </a:spcBef>
                        <a:spcAft>
                          <a:spcPct val="0"/>
                        </a:spcAft>
                        <a:buClrTx/>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Partager l'imprimante</a:t>
                      </a:r>
                    </a:p>
                    <a:p>
                      <a:pPr marL="0" marR="0" lvl="0" indent="0" algn="l" defTabSz="914400" rtl="0" eaLnBrk="0" fontAlgn="base" latinLnBrk="0" hangingPunct="0">
                        <a:lnSpc>
                          <a:spcPct val="80000"/>
                        </a:lnSpc>
                        <a:spcBef>
                          <a:spcPct val="0"/>
                        </a:spcBef>
                        <a:spcAft>
                          <a:spcPct val="0"/>
                        </a:spcAft>
                        <a:buClrTx/>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Ajuster les autorisations </a:t>
                      </a:r>
                    </a:p>
                    <a:p>
                      <a:pPr marL="0" marR="0" lvl="0" indent="0" algn="l" defTabSz="914400" rtl="0" eaLnBrk="0" fontAlgn="base" latinLnBrk="0" hangingPunct="0">
                        <a:lnSpc>
                          <a:spcPct val="80000"/>
                        </a:lnSpc>
                        <a:spcBef>
                          <a:spcPct val="0"/>
                        </a:spcBef>
                        <a:spcAft>
                          <a:spcPct val="0"/>
                        </a:spcAft>
                        <a:buClrTx/>
                        <a:buSzPct val="70000"/>
                        <a:buFont typeface="Wingdings" pitchFamily="2" charset="2"/>
                        <a:buChar char="q"/>
                        <a:tabLst/>
                      </a:pPr>
                      <a:r>
                        <a:rPr kumimoji="0" lang="fr-FR" altLang="zh-CN" sz="2200" b="0" i="0" u="none" strike="noStrike" kern="1200" cap="none" normalizeH="0" baseline="0" dirty="0">
                          <a:ln>
                            <a:noFill/>
                          </a:ln>
                          <a:solidFill>
                            <a:srgbClr val="000000"/>
                          </a:solidFill>
                          <a:effectLst/>
                          <a:latin typeface="Arial Narrow" charset="0"/>
                          <a:ea typeface="SimSun" pitchFamily="2" charset="-122"/>
                          <a:cs typeface="Times New Roman" charset="0"/>
                        </a:rPr>
                        <a:t>Modifier les propriétés de l'imprimante</a:t>
                      </a:r>
                      <a:endParaRPr kumimoji="0" lang="en-US" altLang="zh-CN" sz="2200" b="0" i="0" u="none" strike="noStrike" kern="1200"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449635">
                <a:tc>
                  <a:txBody>
                    <a:bodyPr/>
                    <a:lstStyle/>
                    <a:p>
                      <a:pPr marL="0" marR="0" lvl="0" indent="0" algn="l" defTabSz="914400" rtl="0" eaLnBrk="0" fontAlgn="base" latinLnBrk="0" hangingPunct="0">
                        <a:lnSpc>
                          <a:spcPct val="80000"/>
                        </a:lnSpc>
                        <a:spcBef>
                          <a:spcPct val="0"/>
                        </a:spcBef>
                        <a:spcAft>
                          <a:spcPct val="0"/>
                        </a:spcAft>
                        <a:buClr>
                          <a:schemeClr val="bg1"/>
                        </a:buClr>
                        <a:buSzPct val="70000"/>
                        <a:buFontTx/>
                        <a:buNone/>
                        <a:tabLst/>
                      </a:pPr>
                      <a:r>
                        <a:rPr kumimoji="0" lang="fr-FR" altLang="zh-CN" sz="2200" b="1" i="0" u="none" strike="noStrike" cap="none" normalizeH="0" baseline="0">
                          <a:ln>
                            <a:noFill/>
                          </a:ln>
                          <a:solidFill>
                            <a:srgbClr val="000000"/>
                          </a:solidFill>
                          <a:effectLst/>
                          <a:latin typeface="Arial Narrow" charset="0"/>
                          <a:ea typeface="SimSun" pitchFamily="2" charset="-122"/>
                          <a:cs typeface="Times New Roman" charset="0"/>
                        </a:rPr>
                        <a:t>Gestion des documents</a:t>
                      </a:r>
                      <a:r>
                        <a:rPr kumimoji="0" lang="en-IE" altLang="zh-CN" sz="2200" b="1" i="0" u="none" strike="noStrike" cap="none" normalizeH="0" baseline="0">
                          <a:ln>
                            <a:noFill/>
                          </a:ln>
                          <a:solidFill>
                            <a:srgbClr val="000000"/>
                          </a:solidFill>
                          <a:effectLst/>
                          <a:latin typeface="Arial Narrow" charset="0"/>
                          <a:ea typeface="SimSun" pitchFamily="2" charset="-122"/>
                          <a:cs typeface="Times New Roman" charset="0"/>
                        </a:rPr>
                        <a:t> </a:t>
                      </a:r>
                      <a:endParaRPr kumimoji="0" lang="en-US" sz="2200" b="1" i="0" u="none" strike="noStrike" cap="none" normalizeH="0" baseline="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80000"/>
                        </a:lnSpc>
                        <a:spcBef>
                          <a:spcPct val="0"/>
                        </a:spcBef>
                        <a:spcAft>
                          <a:spcPct val="0"/>
                        </a:spcAft>
                        <a:buClr>
                          <a:schemeClr val="tx1"/>
                        </a:buClr>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Suspendre et redémarrer l'imprimante </a:t>
                      </a:r>
                    </a:p>
                    <a:p>
                      <a:pPr marL="0" marR="0" lvl="0" indent="0" algn="l" defTabSz="914400" rtl="0" eaLnBrk="0" fontAlgn="base" latinLnBrk="0" hangingPunct="0">
                        <a:lnSpc>
                          <a:spcPct val="80000"/>
                        </a:lnSpc>
                        <a:spcBef>
                          <a:spcPct val="0"/>
                        </a:spcBef>
                        <a:spcAft>
                          <a:spcPct val="0"/>
                        </a:spcAft>
                        <a:buClr>
                          <a:schemeClr val="tx1"/>
                        </a:buClr>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Annuler et réorganiser les documents soumis par tous les autres utilisateurs.</a:t>
                      </a:r>
                      <a:r>
                        <a:rPr kumimoji="0" lang="fr-FR" altLang="zh-CN" sz="2200" b="0" i="0" u="none" strike="noStrike" cap="none" normalizeH="0" baseline="0" dirty="0">
                          <a:ln>
                            <a:noFill/>
                          </a:ln>
                          <a:solidFill>
                            <a:srgbClr val="000000"/>
                          </a:solidFill>
                          <a:effectLst/>
                          <a:latin typeface="Arial Narrow" charset="0"/>
                          <a:ea typeface="SimSun" pitchFamily="2" charset="-122"/>
                          <a:cs typeface="Arial Narrow" charset="0"/>
                        </a:rPr>
                        <a:t> </a:t>
                      </a:r>
                    </a:p>
                    <a:p>
                      <a:pPr marL="0" marR="0" lvl="0" indent="0" algn="l" defTabSz="914400" rtl="0" eaLnBrk="0" fontAlgn="base" latinLnBrk="0" hangingPunct="0">
                        <a:lnSpc>
                          <a:spcPct val="80000"/>
                        </a:lnSpc>
                        <a:spcBef>
                          <a:spcPct val="0"/>
                        </a:spcBef>
                        <a:spcAft>
                          <a:spcPct val="0"/>
                        </a:spcAft>
                        <a:buClr>
                          <a:schemeClr val="tx1"/>
                        </a:buClr>
                        <a:buSzPct val="70000"/>
                        <a:buFont typeface="Wingdings" pitchFamily="2" charset="2"/>
                        <a:buChar char="q"/>
                        <a:tabLst/>
                      </a:pPr>
                      <a:r>
                        <a:rPr kumimoji="0" lang="fr-FR" altLang="zh-CN" sz="2200" b="0" i="0" u="none" strike="noStrike" cap="none" normalizeH="0" baseline="0" dirty="0">
                          <a:ln>
                            <a:noFill/>
                          </a:ln>
                          <a:solidFill>
                            <a:srgbClr val="000000"/>
                          </a:solidFill>
                          <a:effectLst/>
                          <a:latin typeface="Arial Narrow" charset="0"/>
                          <a:ea typeface="SimSun" pitchFamily="2" charset="-122"/>
                          <a:cs typeface="Times New Roman" charset="0"/>
                        </a:rPr>
                        <a:t>L'utilisateur ne peut pas envoyer des documents à l'imprimante ou contrôler son état</a:t>
                      </a:r>
                      <a:endParaRPr kumimoji="0" lang="en-US" sz="2200" b="0" i="0" u="none" strike="noStrike" cap="none" normalizeH="0" baseline="0" dirty="0">
                        <a:ln>
                          <a:noFill/>
                        </a:ln>
                        <a:solidFill>
                          <a:srgbClr val="000000"/>
                        </a:solidFill>
                        <a:effectLst/>
                        <a:latin typeface="Arial Narrow"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4" name="Rectangle 3"/>
          <p:cNvSpPr/>
          <p:nvPr/>
        </p:nvSpPr>
        <p:spPr>
          <a:xfrm>
            <a:off x="2458189" y="2125682"/>
            <a:ext cx="6317673" cy="45126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p:cNvSpPr/>
          <p:nvPr/>
        </p:nvSpPr>
        <p:spPr>
          <a:xfrm>
            <a:off x="2479960" y="2943097"/>
            <a:ext cx="6317673" cy="20089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2432459" y="5211288"/>
            <a:ext cx="6317673" cy="140326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1000"/>
                                        <p:tgtEl>
                                          <p:spTgt spid="4"/>
                                        </p:tgtEl>
                                      </p:cBhvr>
                                    </p:animEffect>
                                    <p:set>
                                      <p:cBhvr>
                                        <p:cTn id="7" dur="1" fill="hold">
                                          <p:stCondLst>
                                            <p:cond delay="9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grpId="0" nodeType="clickEffect">
                                  <p:stCondLst>
                                    <p:cond delay="0"/>
                                  </p:stCondLst>
                                  <p:childTnLst>
                                    <p:animEffect transition="out" filter="checkerboard(across)">
                                      <p:cBhvr>
                                        <p:cTn id="11" dur="1000"/>
                                        <p:tgtEl>
                                          <p:spTgt spid="5"/>
                                        </p:tgtEl>
                                      </p:cBhvr>
                                    </p:animEffect>
                                    <p:set>
                                      <p:cBhvr>
                                        <p:cTn id="12" dur="1" fill="hold">
                                          <p:stCondLst>
                                            <p:cond delay="9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5" presetClass="exit" presetSubtype="10" fill="hold" grpId="0" nodeType="clickEffect">
                                  <p:stCondLst>
                                    <p:cond delay="0"/>
                                  </p:stCondLst>
                                  <p:childTnLst>
                                    <p:animEffect transition="out" filter="checkerboard(across)">
                                      <p:cBhvr>
                                        <p:cTn id="16" dur="1000"/>
                                        <p:tgtEl>
                                          <p:spTgt spid="6"/>
                                        </p:tgtEl>
                                      </p:cBhvr>
                                    </p:animEffect>
                                    <p:set>
                                      <p:cBhvr>
                                        <p:cTn id="17"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Rectangle-2"/>
          <p:cNvSpPr>
            <a:spLocks noGrp="1" noChangeArrowheads="1"/>
          </p:cNvSpPr>
          <p:nvPr>
            <p:ph type="title"/>
          </p:nvPr>
        </p:nvSpPr>
        <p:spPr>
          <a:xfrm>
            <a:off x="182999" y="287977"/>
            <a:ext cx="8806622" cy="758952"/>
          </a:xfrm>
        </p:spPr>
        <p:txBody>
          <a:bodyPr>
            <a:noAutofit/>
          </a:bodyPr>
          <a:lstStyle/>
          <a:p>
            <a:r>
              <a:rPr lang="fr-FR" altLang="zh-CN" sz="2600" b="1" dirty="0">
                <a:solidFill>
                  <a:srgbClr val="C00000"/>
                </a:solidFill>
                <a:ea typeface="SimSun" pitchFamily="2" charset="-122"/>
                <a:cs typeface="Times New Roman" charset="0"/>
              </a:rPr>
              <a:t>Pourquoi modifier les autorisations des imprimantes partagées ?</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sp>
        <p:nvSpPr>
          <p:cNvPr id="441347" name="Rectangle-3"/>
          <p:cNvSpPr>
            <a:spLocks noGrp="1" noChangeArrowheads="1"/>
          </p:cNvSpPr>
          <p:nvPr>
            <p:ph sz="quarter" idx="1"/>
          </p:nvPr>
        </p:nvSpPr>
        <p:spPr>
          <a:xfrm>
            <a:off x="166254" y="1301750"/>
            <a:ext cx="8799615" cy="4989513"/>
          </a:xfrm>
        </p:spPr>
        <p:txBody>
          <a:bodyPr>
            <a:normAutofit fontScale="92500" lnSpcReduction="10000"/>
          </a:bodyPr>
          <a:lstStyle/>
          <a:p>
            <a:r>
              <a:rPr lang="fr-FR" altLang="zh-CN" dirty="0">
                <a:solidFill>
                  <a:srgbClr val="000000"/>
                </a:solidFill>
                <a:ea typeface="SimSun" pitchFamily="2" charset="-122"/>
                <a:cs typeface="Times New Roman" charset="0"/>
              </a:rPr>
              <a:t>Limitation de l'accès à une imprimante pour certains utilisateurs</a:t>
            </a:r>
            <a:r>
              <a:rPr lang="en-IE" altLang="zh-CN" sz="2000" dirty="0">
                <a:solidFill>
                  <a:srgbClr val="000000"/>
                </a:solidFill>
                <a:ea typeface="SimSun" pitchFamily="2" charset="-122"/>
                <a:cs typeface="Times New Roman" charset="0"/>
              </a:rPr>
              <a:t> </a:t>
            </a:r>
            <a:endParaRPr lang="en-US" sz="2000" dirty="0">
              <a:ea typeface="SimSun" pitchFamily="2" charset="-122"/>
              <a:cs typeface="Times New Roman" charset="0"/>
            </a:endParaRPr>
          </a:p>
          <a:p>
            <a:pPr lvl="1"/>
            <a:r>
              <a:rPr lang="fr-FR" altLang="zh-CN" i="1" u="sng" dirty="0">
                <a:solidFill>
                  <a:srgbClr val="000000"/>
                </a:solidFill>
                <a:ea typeface="SimSun" pitchFamily="2" charset="-122"/>
              </a:rPr>
              <a:t>Exemple</a:t>
            </a:r>
            <a:r>
              <a:rPr lang="fr-FR" altLang="zh-CN" dirty="0">
                <a:solidFill>
                  <a:srgbClr val="000000"/>
                </a:solidFill>
                <a:ea typeface="SimSun" pitchFamily="2" charset="-122"/>
                <a:cs typeface="Times New Roman" charset="0"/>
              </a:rPr>
              <a:t> :</a:t>
            </a:r>
            <a:r>
              <a:rPr lang="fr-FR" altLang="zh-CN" dirty="0">
                <a:solidFill>
                  <a:srgbClr val="000000"/>
                </a:solidFill>
                <a:ea typeface="SimSun" pitchFamily="2" charset="-122"/>
                <a:cs typeface="Arial Narrow" charset="0"/>
              </a:rPr>
              <a:t> </a:t>
            </a:r>
          </a:p>
          <a:p>
            <a:pPr lvl="2"/>
            <a:r>
              <a:rPr lang="fr-FR" altLang="zh-CN" dirty="0">
                <a:solidFill>
                  <a:srgbClr val="C00000"/>
                </a:solidFill>
                <a:ea typeface="SimSun" pitchFamily="2" charset="-122"/>
                <a:cs typeface="Times New Roman" charset="0"/>
              </a:rPr>
              <a:t>Accordez à tous les utilisateurs non administratifs d'un département une autorisation de niveau bas </a:t>
            </a:r>
          </a:p>
          <a:p>
            <a:pPr lvl="2"/>
            <a:r>
              <a:rPr lang="fr-FR" altLang="zh-CN" dirty="0">
                <a:solidFill>
                  <a:srgbClr val="C00000"/>
                </a:solidFill>
                <a:ea typeface="SimSun" pitchFamily="2" charset="-122"/>
                <a:cs typeface="Times New Roman" charset="0"/>
              </a:rPr>
              <a:t>Accordez à tous les chefs de service une autorisation de niveau plus élevé.</a:t>
            </a:r>
            <a:r>
              <a:rPr lang="fr-FR" altLang="zh-CN" dirty="0">
                <a:solidFill>
                  <a:srgbClr val="C00000"/>
                </a:solidFill>
                <a:ea typeface="SimSun" pitchFamily="2" charset="-122"/>
                <a:cs typeface="Arial Narrow" charset="0"/>
              </a:rPr>
              <a:t> </a:t>
            </a:r>
            <a:endParaRPr lang="fr-FR" altLang="zh-CN" dirty="0">
              <a:solidFill>
                <a:srgbClr val="C00000"/>
              </a:solidFill>
              <a:ea typeface="SimSun" pitchFamily="2" charset="-122"/>
              <a:cs typeface="Times New Roman" charset="0"/>
            </a:endParaRPr>
          </a:p>
          <a:p>
            <a:pPr lvl="2"/>
            <a:r>
              <a:rPr lang="fr-FR" altLang="zh-CN" dirty="0">
                <a:solidFill>
                  <a:srgbClr val="C00000"/>
                </a:solidFill>
                <a:ea typeface="SimSun" pitchFamily="2" charset="-122"/>
                <a:cs typeface="Times New Roman" charset="0"/>
              </a:rPr>
              <a:t>les utilisateurs et chefs de service peuvent imprimer des documents, mais les chefs de service peuvent changer l'état d'impression de n'importe quel document envoyé à l'imprimante</a:t>
            </a:r>
            <a:endParaRPr lang="en-US" dirty="0">
              <a:solidFill>
                <a:srgbClr val="C00000"/>
              </a:solidFill>
            </a:endParaRPr>
          </a:p>
          <a:p>
            <a:r>
              <a:rPr lang="fr-FR" altLang="zh-CN" dirty="0">
                <a:solidFill>
                  <a:srgbClr val="000000"/>
                </a:solidFill>
                <a:ea typeface="SimSun" pitchFamily="2" charset="-122"/>
              </a:rPr>
              <a:t>Interdiction d'accès à une imprimante pour certains utilisateurs</a:t>
            </a:r>
            <a:r>
              <a:rPr lang="en-IE" altLang="zh-CN" sz="2000" dirty="0">
                <a:solidFill>
                  <a:srgbClr val="000000"/>
                </a:solidFill>
                <a:ea typeface="SimSun" pitchFamily="2" charset="-122"/>
              </a:rPr>
              <a:t> </a:t>
            </a:r>
            <a:endParaRPr lang="en-US" sz="2000" dirty="0"/>
          </a:p>
          <a:p>
            <a:pPr lvl="1"/>
            <a:r>
              <a:rPr lang="fr-FR" altLang="zh-CN" i="1" u="sng" dirty="0">
                <a:solidFill>
                  <a:srgbClr val="000000"/>
                </a:solidFill>
                <a:ea typeface="SimSun" pitchFamily="2" charset="-122"/>
              </a:rPr>
              <a:t>Exemple</a:t>
            </a:r>
            <a:r>
              <a:rPr lang="fr-FR" altLang="zh-CN" dirty="0">
                <a:solidFill>
                  <a:srgbClr val="000000"/>
                </a:solidFill>
                <a:ea typeface="SimSun" pitchFamily="2" charset="-122"/>
              </a:rPr>
              <a:t> : </a:t>
            </a:r>
          </a:p>
          <a:p>
            <a:pPr lvl="2"/>
            <a:r>
              <a:rPr lang="fr-FR" altLang="zh-CN" dirty="0">
                <a:solidFill>
                  <a:srgbClr val="C00000"/>
                </a:solidFill>
                <a:ea typeface="SimSun" pitchFamily="2" charset="-122"/>
              </a:rPr>
              <a:t>Permettez à certains membres d'un groupe d'imprimer des documents</a:t>
            </a:r>
          </a:p>
          <a:p>
            <a:pPr lvl="2"/>
            <a:r>
              <a:rPr lang="fr-FR" altLang="zh-CN" dirty="0">
                <a:solidFill>
                  <a:srgbClr val="C00000"/>
                </a:solidFill>
                <a:ea typeface="SimSun" pitchFamily="2" charset="-122"/>
              </a:rPr>
              <a:t>Refusez aux autres membres l'accès à l'imprimante pour les forcer à utiliser une autre imprimante</a:t>
            </a:r>
            <a:r>
              <a:rPr lang="en-IE" altLang="zh-CN" dirty="0">
                <a:solidFill>
                  <a:srgbClr val="C00000"/>
                </a:solidFill>
                <a:ea typeface="SimSun" pitchFamily="2" charset="-122"/>
              </a:rPr>
              <a:t> </a:t>
            </a:r>
            <a:endParaRPr 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1347">
                                            <p:txEl>
                                              <p:pRg st="0" end="0"/>
                                            </p:txEl>
                                          </p:spTgt>
                                        </p:tgtEl>
                                        <p:attrNameLst>
                                          <p:attrName>style.visibility</p:attrName>
                                        </p:attrNameLst>
                                      </p:cBhvr>
                                      <p:to>
                                        <p:strVal val="visible"/>
                                      </p:to>
                                    </p:set>
                                    <p:anim calcmode="lin" valueType="num">
                                      <p:cBhvr additive="base">
                                        <p:cTn id="7" dur="1000" fill="hold"/>
                                        <p:tgtEl>
                                          <p:spTgt spid="441347">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41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1347">
                                            <p:txEl>
                                              <p:pRg st="1" end="1"/>
                                            </p:txEl>
                                          </p:spTgt>
                                        </p:tgtEl>
                                        <p:attrNameLst>
                                          <p:attrName>style.visibility</p:attrName>
                                        </p:attrNameLst>
                                      </p:cBhvr>
                                      <p:to>
                                        <p:strVal val="visible"/>
                                      </p:to>
                                    </p:set>
                                    <p:anim calcmode="lin" valueType="num">
                                      <p:cBhvr additive="base">
                                        <p:cTn id="13" dur="1000" fill="hold"/>
                                        <p:tgtEl>
                                          <p:spTgt spid="441347">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44134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41347">
                                            <p:txEl>
                                              <p:pRg st="2" end="2"/>
                                            </p:txEl>
                                          </p:spTgt>
                                        </p:tgtEl>
                                        <p:attrNameLst>
                                          <p:attrName>style.visibility</p:attrName>
                                        </p:attrNameLst>
                                      </p:cBhvr>
                                      <p:to>
                                        <p:strVal val="visible"/>
                                      </p:to>
                                    </p:set>
                                    <p:anim calcmode="lin" valueType="num">
                                      <p:cBhvr additive="base">
                                        <p:cTn id="17" dur="1000" fill="hold"/>
                                        <p:tgtEl>
                                          <p:spTgt spid="441347">
                                            <p:txEl>
                                              <p:pRg st="2" end="2"/>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44134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41347">
                                            <p:txEl>
                                              <p:pRg st="3" end="3"/>
                                            </p:txEl>
                                          </p:spTgt>
                                        </p:tgtEl>
                                        <p:attrNameLst>
                                          <p:attrName>style.visibility</p:attrName>
                                        </p:attrNameLst>
                                      </p:cBhvr>
                                      <p:to>
                                        <p:strVal val="visible"/>
                                      </p:to>
                                    </p:set>
                                    <p:anim calcmode="lin" valueType="num">
                                      <p:cBhvr additive="base">
                                        <p:cTn id="21" dur="1000" fill="hold"/>
                                        <p:tgtEl>
                                          <p:spTgt spid="441347">
                                            <p:txEl>
                                              <p:pRg st="3" end="3"/>
                                            </p:txEl>
                                          </p:spTgt>
                                        </p:tgtEl>
                                        <p:attrNameLst>
                                          <p:attrName>ppt_x</p:attrName>
                                        </p:attrNameLst>
                                      </p:cBhvr>
                                      <p:tavLst>
                                        <p:tav tm="0">
                                          <p:val>
                                            <p:strVal val="#ppt_x"/>
                                          </p:val>
                                        </p:tav>
                                        <p:tav tm="100000">
                                          <p:val>
                                            <p:strVal val="#ppt_x"/>
                                          </p:val>
                                        </p:tav>
                                      </p:tavLst>
                                    </p:anim>
                                    <p:anim calcmode="lin" valueType="num">
                                      <p:cBhvr additive="base">
                                        <p:cTn id="22" dur="1000" fill="hold"/>
                                        <p:tgtEl>
                                          <p:spTgt spid="441347">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41347">
                                            <p:txEl>
                                              <p:pRg st="4" end="4"/>
                                            </p:txEl>
                                          </p:spTgt>
                                        </p:tgtEl>
                                        <p:attrNameLst>
                                          <p:attrName>style.visibility</p:attrName>
                                        </p:attrNameLst>
                                      </p:cBhvr>
                                      <p:to>
                                        <p:strVal val="visible"/>
                                      </p:to>
                                    </p:set>
                                    <p:anim calcmode="lin" valueType="num">
                                      <p:cBhvr additive="base">
                                        <p:cTn id="25" dur="1000" fill="hold"/>
                                        <p:tgtEl>
                                          <p:spTgt spid="441347">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4413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41347">
                                            <p:txEl>
                                              <p:pRg st="5" end="5"/>
                                            </p:txEl>
                                          </p:spTgt>
                                        </p:tgtEl>
                                        <p:attrNameLst>
                                          <p:attrName>style.visibility</p:attrName>
                                        </p:attrNameLst>
                                      </p:cBhvr>
                                      <p:to>
                                        <p:strVal val="visible"/>
                                      </p:to>
                                    </p:set>
                                    <p:anim calcmode="lin" valueType="num">
                                      <p:cBhvr additive="base">
                                        <p:cTn id="31" dur="1000" fill="hold"/>
                                        <p:tgtEl>
                                          <p:spTgt spid="441347">
                                            <p:txEl>
                                              <p:pRg st="5" end="5"/>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4413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41347">
                                            <p:txEl>
                                              <p:pRg st="6" end="6"/>
                                            </p:txEl>
                                          </p:spTgt>
                                        </p:tgtEl>
                                        <p:attrNameLst>
                                          <p:attrName>style.visibility</p:attrName>
                                        </p:attrNameLst>
                                      </p:cBhvr>
                                      <p:to>
                                        <p:strVal val="visible"/>
                                      </p:to>
                                    </p:set>
                                    <p:anim calcmode="lin" valueType="num">
                                      <p:cBhvr additive="base">
                                        <p:cTn id="37" dur="1000" fill="hold"/>
                                        <p:tgtEl>
                                          <p:spTgt spid="441347">
                                            <p:txEl>
                                              <p:pRg st="6" end="6"/>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441347">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41347">
                                            <p:txEl>
                                              <p:pRg st="7" end="7"/>
                                            </p:txEl>
                                          </p:spTgt>
                                        </p:tgtEl>
                                        <p:attrNameLst>
                                          <p:attrName>style.visibility</p:attrName>
                                        </p:attrNameLst>
                                      </p:cBhvr>
                                      <p:to>
                                        <p:strVal val="visible"/>
                                      </p:to>
                                    </p:set>
                                    <p:anim calcmode="lin" valueType="num">
                                      <p:cBhvr additive="base">
                                        <p:cTn id="41" dur="1000" fill="hold"/>
                                        <p:tgtEl>
                                          <p:spTgt spid="441347">
                                            <p:txEl>
                                              <p:pRg st="7" end="7"/>
                                            </p:txEl>
                                          </p:spTgt>
                                        </p:tgtEl>
                                        <p:attrNameLst>
                                          <p:attrName>ppt_x</p:attrName>
                                        </p:attrNameLst>
                                      </p:cBhvr>
                                      <p:tavLst>
                                        <p:tav tm="0">
                                          <p:val>
                                            <p:strVal val="#ppt_x"/>
                                          </p:val>
                                        </p:tav>
                                        <p:tav tm="100000">
                                          <p:val>
                                            <p:strVal val="#ppt_x"/>
                                          </p:val>
                                        </p:tav>
                                      </p:tavLst>
                                    </p:anim>
                                    <p:anim calcmode="lin" valueType="num">
                                      <p:cBhvr additive="base">
                                        <p:cTn id="42" dur="1000" fill="hold"/>
                                        <p:tgtEl>
                                          <p:spTgt spid="441347">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41347">
                                            <p:txEl>
                                              <p:pRg st="8" end="8"/>
                                            </p:txEl>
                                          </p:spTgt>
                                        </p:tgtEl>
                                        <p:attrNameLst>
                                          <p:attrName>style.visibility</p:attrName>
                                        </p:attrNameLst>
                                      </p:cBhvr>
                                      <p:to>
                                        <p:strVal val="visible"/>
                                      </p:to>
                                    </p:set>
                                    <p:anim calcmode="lin" valueType="num">
                                      <p:cBhvr additive="base">
                                        <p:cTn id="45" dur="1000" fill="hold"/>
                                        <p:tgtEl>
                                          <p:spTgt spid="441347">
                                            <p:txEl>
                                              <p:pRg st="8" end="8"/>
                                            </p:txEl>
                                          </p:spTgt>
                                        </p:tgtEl>
                                        <p:attrNameLst>
                                          <p:attrName>ppt_x</p:attrName>
                                        </p:attrNameLst>
                                      </p:cBhvr>
                                      <p:tavLst>
                                        <p:tav tm="0">
                                          <p:val>
                                            <p:strVal val="#ppt_x"/>
                                          </p:val>
                                        </p:tav>
                                        <p:tav tm="100000">
                                          <p:val>
                                            <p:strVal val="#ppt_x"/>
                                          </p:val>
                                        </p:tav>
                                      </p:tavLst>
                                    </p:anim>
                                    <p:anim calcmode="lin" valueType="num">
                                      <p:cBhvr additive="base">
                                        <p:cTn id="46" dur="1000" fill="hold"/>
                                        <p:tgtEl>
                                          <p:spTgt spid="44134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2"/>
          <p:cNvSpPr>
            <a:spLocks noGrp="1" noChangeArrowheads="1"/>
          </p:cNvSpPr>
          <p:nvPr>
            <p:ph type="title"/>
          </p:nvPr>
        </p:nvSpPr>
        <p:spPr>
          <a:xfrm>
            <a:off x="301752" y="228600"/>
            <a:ext cx="8534400" cy="758952"/>
          </a:xfrm>
        </p:spPr>
        <p:txBody>
          <a:bodyPr/>
          <a:lstStyle/>
          <a:p>
            <a:r>
              <a:rPr lang="fr-FR" altLang="zh-CN" b="1" dirty="0">
                <a:solidFill>
                  <a:srgbClr val="000000"/>
                </a:solidFill>
                <a:ea typeface="SimSun" pitchFamily="2" charset="-122"/>
                <a:cs typeface="Times New Roman" charset="0"/>
              </a:rPr>
              <a:t>4. Gestion des pilotes d'imprimantes</a:t>
            </a:r>
            <a:r>
              <a:rPr lang="en-IE" altLang="zh-CN" b="1" dirty="0">
                <a:solidFill>
                  <a:srgbClr val="000000"/>
                </a:solidFill>
                <a:ea typeface="SimSun" pitchFamily="2" charset="-122"/>
              </a:rPr>
              <a:t> </a:t>
            </a:r>
            <a:r>
              <a:rPr lang="en-US" b="1" dirty="0"/>
              <a:t> </a:t>
            </a:r>
          </a:p>
        </p:txBody>
      </p:sp>
      <p:sp>
        <p:nvSpPr>
          <p:cNvPr id="7" name="Espace réservé du contenu 6"/>
          <p:cNvSpPr>
            <a:spLocks noGrp="1"/>
          </p:cNvSpPr>
          <p:nvPr>
            <p:ph sz="half" idx="2"/>
          </p:nvPr>
        </p:nvSpPr>
        <p:spPr>
          <a:xfrm>
            <a:off x="486888" y="1804061"/>
            <a:ext cx="8383980" cy="867888"/>
          </a:xfrm>
        </p:spPr>
        <p:txBody>
          <a:bodyPr/>
          <a:lstStyle/>
          <a:p>
            <a:r>
              <a:rPr lang="fr-FR" altLang="zh-CN" dirty="0">
                <a:solidFill>
                  <a:srgbClr val="000000"/>
                </a:solidFill>
                <a:ea typeface="SimSun" pitchFamily="2" charset="-122"/>
                <a:cs typeface="Times New Roman" pitchFamily="18" charset="0"/>
              </a:rPr>
              <a:t>Description d'un pilote d'imprimante</a:t>
            </a:r>
            <a:r>
              <a:rPr lang="en-IE" altLang="zh-CN" dirty="0">
                <a:solidFill>
                  <a:srgbClr val="000000"/>
                </a:solidFill>
                <a:ea typeface="SimSun" pitchFamily="2" charset="-122"/>
                <a:cs typeface="Times New Roman" pitchFamily="18" charset="0"/>
              </a:rPr>
              <a:t> </a:t>
            </a:r>
            <a:endParaRPr lang="en-US" dirty="0">
              <a:ea typeface="SimSun" pitchFamily="2" charset="-122"/>
              <a:cs typeface="Times New Roman" pitchFamily="18" charset="0"/>
            </a:endParaRPr>
          </a:p>
          <a:p>
            <a:endParaRPr lang="fr-F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3" name="Rectangle-3"/>
          <p:cNvSpPr>
            <a:spLocks noGrp="1" noChangeArrowheads="1"/>
          </p:cNvSpPr>
          <p:nvPr>
            <p:ph type="body" sz="half" idx="1"/>
          </p:nvPr>
        </p:nvSpPr>
        <p:spPr>
          <a:xfrm>
            <a:off x="213757" y="1430338"/>
            <a:ext cx="8740238" cy="1977879"/>
          </a:xfrm>
        </p:spPr>
        <p:txBody>
          <a:bodyPr>
            <a:normAutofit/>
          </a:bodyPr>
          <a:lstStyle/>
          <a:p>
            <a:r>
              <a:rPr lang="fr-FR" altLang="zh-CN" sz="2200" dirty="0">
                <a:solidFill>
                  <a:srgbClr val="000000"/>
                </a:solidFill>
                <a:ea typeface="SimSun" pitchFamily="2" charset="-122"/>
                <a:cs typeface="Times New Roman" charset="0"/>
              </a:rPr>
              <a:t>Logiciel utilisé par les programmes informatiques pour communiquer avec les imprimantes </a:t>
            </a:r>
            <a:endParaRPr lang="en-US" sz="2200" dirty="0">
              <a:ea typeface="SimSun" pitchFamily="2" charset="-122"/>
              <a:cs typeface="Times New Roman" charset="0"/>
            </a:endParaRPr>
          </a:p>
          <a:p>
            <a:r>
              <a:rPr lang="fr-FR" altLang="zh-CN" sz="2200" dirty="0">
                <a:solidFill>
                  <a:srgbClr val="000000"/>
                </a:solidFill>
                <a:ea typeface="SimSun" pitchFamily="2" charset="-122"/>
                <a:cs typeface="Times New Roman" charset="0"/>
              </a:rPr>
              <a:t>Il convertit les informations envoyées de l'ordinateur en commandes compréhensibles par l'imprimante</a:t>
            </a:r>
            <a:endParaRPr lang="en-US" sz="2200" dirty="0">
              <a:ea typeface="SimSun" pitchFamily="2" charset="-122"/>
              <a:cs typeface="Times New Roman" charset="0"/>
            </a:endParaRPr>
          </a:p>
          <a:p>
            <a:r>
              <a:rPr lang="fr-FR" altLang="zh-CN" sz="2200" dirty="0">
                <a:solidFill>
                  <a:srgbClr val="000000"/>
                </a:solidFill>
                <a:ea typeface="SimSun" pitchFamily="2" charset="-122"/>
                <a:cs typeface="Times New Roman" charset="0"/>
              </a:rPr>
              <a:t>Il comporte les types de fichier suivants :</a:t>
            </a:r>
            <a:r>
              <a:rPr lang="en-IE" altLang="zh-CN" sz="2200" dirty="0">
                <a:solidFill>
                  <a:srgbClr val="000000"/>
                </a:solidFill>
                <a:ea typeface="SimSun" pitchFamily="2" charset="-122"/>
                <a:cs typeface="Times New Roman" charset="0"/>
              </a:rPr>
              <a:t> </a:t>
            </a:r>
            <a:endParaRPr lang="en-US" sz="2200" dirty="0">
              <a:solidFill>
                <a:srgbClr val="000000"/>
              </a:solidFill>
              <a:ea typeface="SimSun" pitchFamily="2" charset="-122"/>
              <a:cs typeface="Times New Roman" charset="0"/>
            </a:endParaRPr>
          </a:p>
        </p:txBody>
      </p:sp>
      <p:graphicFrame>
        <p:nvGraphicFramePr>
          <p:cNvPr id="337968" name="Group 48"/>
          <p:cNvGraphicFramePr>
            <a:graphicFrameLocks noGrp="1"/>
          </p:cNvGraphicFramePr>
          <p:nvPr>
            <p:ph sz="half" idx="2"/>
          </p:nvPr>
        </p:nvGraphicFramePr>
        <p:xfrm>
          <a:off x="166254" y="3515096"/>
          <a:ext cx="8787740" cy="3194866"/>
        </p:xfrm>
        <a:graphic>
          <a:graphicData uri="http://schemas.openxmlformats.org/drawingml/2006/table">
            <a:tbl>
              <a:tblPr/>
              <a:tblGrid>
                <a:gridCol w="2885704">
                  <a:extLst>
                    <a:ext uri="{9D8B030D-6E8A-4147-A177-3AD203B41FA5}">
                      <a16:colId xmlns:a16="http://schemas.microsoft.com/office/drawing/2014/main" val="20000"/>
                    </a:ext>
                  </a:extLst>
                </a:gridCol>
                <a:gridCol w="5902036">
                  <a:extLst>
                    <a:ext uri="{9D8B030D-6E8A-4147-A177-3AD203B41FA5}">
                      <a16:colId xmlns:a16="http://schemas.microsoft.com/office/drawing/2014/main" val="20001"/>
                    </a:ext>
                  </a:extLst>
                </a:gridCol>
              </a:tblGrid>
              <a:tr h="1189578">
                <a:tc>
                  <a:txBody>
                    <a:bodyPr/>
                    <a:lstStyle/>
                    <a:p>
                      <a:pPr marL="0" marR="0" lvl="0" indent="0" algn="l" defTabSz="914400" rtl="0" eaLnBrk="0" fontAlgn="base" latinLnBrk="0" hangingPunct="0">
                        <a:lnSpc>
                          <a:spcPct val="80000"/>
                        </a:lnSpc>
                        <a:spcBef>
                          <a:spcPct val="0"/>
                        </a:spcBef>
                        <a:spcAft>
                          <a:spcPct val="0"/>
                        </a:spcAft>
                        <a:buClrTx/>
                        <a:buSzTx/>
                        <a:buFontTx/>
                        <a:buNone/>
                        <a:tabLst/>
                      </a:pPr>
                      <a:r>
                        <a:rPr kumimoji="0" lang="fr-FR" altLang="zh-CN" sz="2000" b="1" i="0" u="none" strike="noStrike" cap="none" normalizeH="0" baseline="0" dirty="0">
                          <a:ln>
                            <a:noFill/>
                          </a:ln>
                          <a:solidFill>
                            <a:srgbClr val="000000"/>
                          </a:solidFill>
                          <a:effectLst/>
                          <a:latin typeface="Arial Narrow" charset="0"/>
                          <a:ea typeface="SimSun" pitchFamily="2" charset="-122"/>
                          <a:cs typeface="Times New Roman" charset="0"/>
                        </a:rPr>
                        <a:t>Fichier de configuration ou d'interface d'imprimante</a:t>
                      </a:r>
                      <a:r>
                        <a:rPr kumimoji="0" lang="en-IE" altLang="zh-CN" sz="2000" b="1"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000" b="1"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0000"/>
                        </a:lnSpc>
                        <a:spcBef>
                          <a:spcPct val="25000"/>
                        </a:spcBef>
                        <a:spcAft>
                          <a:spcPct val="0"/>
                        </a:spcAft>
                        <a:buClrTx/>
                        <a:buSzPct val="70000"/>
                        <a:buFontTx/>
                        <a:buBlip>
                          <a:blip r:embed="rId3"/>
                        </a:buBlip>
                        <a:tabLst/>
                      </a:pPr>
                      <a:r>
                        <a:rPr kumimoji="0" lang="fr-FR" altLang="zh-CN" sz="2000" b="0" i="0" u="none" strike="noStrike" cap="none" normalizeH="0" baseline="0" dirty="0">
                          <a:ln>
                            <a:noFill/>
                          </a:ln>
                          <a:solidFill>
                            <a:srgbClr val="000000"/>
                          </a:solidFill>
                          <a:effectLst/>
                          <a:latin typeface="Arial Narrow" charset="0"/>
                          <a:ea typeface="SimSun" pitchFamily="2" charset="-122"/>
                          <a:cs typeface="Times New Roman" charset="0"/>
                        </a:rPr>
                        <a:t>Affiche les boîtes de dialogue Propriétés et Préférences lorsque vous configurez une imprimante</a:t>
                      </a:r>
                      <a:endParaRPr kumimoji="0" lang="en-US" sz="2000" b="0" i="0" u="none" strike="noStrike" cap="none" normalizeH="0" baseline="0" dirty="0">
                        <a:ln>
                          <a:noFill/>
                        </a:ln>
                        <a:solidFill>
                          <a:schemeClr val="tx1"/>
                        </a:solidFill>
                        <a:effectLst/>
                        <a:latin typeface="Arial Narrow" charset="0"/>
                        <a:ea typeface="SimSun" pitchFamily="2" charset="-122"/>
                        <a:cs typeface="Times New Roman" charset="0"/>
                      </a:endParaRPr>
                    </a:p>
                    <a:p>
                      <a:pPr marL="225425" marR="0" lvl="0" indent="-225425" algn="l" defTabSz="914400" rtl="0" eaLnBrk="0" fontAlgn="base" latinLnBrk="0" hangingPunct="0">
                        <a:lnSpc>
                          <a:spcPct val="80000"/>
                        </a:lnSpc>
                        <a:spcBef>
                          <a:spcPct val="25000"/>
                        </a:spcBef>
                        <a:spcAft>
                          <a:spcPct val="0"/>
                        </a:spcAft>
                        <a:buClrTx/>
                        <a:buSzPct val="70000"/>
                        <a:buFontTx/>
                        <a:buBlip>
                          <a:blip r:embed="rId3"/>
                        </a:buBlip>
                        <a:tabLst/>
                      </a:pPr>
                      <a:r>
                        <a:rPr kumimoji="0" lang="fr-FR" altLang="zh-CN" sz="2000" b="0" i="0" u="none" strike="noStrike" cap="none" normalizeH="0" baseline="0" dirty="0">
                          <a:ln>
                            <a:noFill/>
                          </a:ln>
                          <a:solidFill>
                            <a:srgbClr val="000000"/>
                          </a:solidFill>
                          <a:effectLst/>
                          <a:latin typeface="Arial Narrow" charset="0"/>
                          <a:ea typeface="SimSun" pitchFamily="2" charset="-122"/>
                          <a:cs typeface="Times New Roman" charset="0"/>
                        </a:rPr>
                        <a:t>Possède une extension .dll</a:t>
                      </a:r>
                      <a:r>
                        <a:rPr kumimoji="0" lang="en-IE" altLang="zh-CN" sz="20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000" b="0"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002644">
                <a:tc>
                  <a:txBody>
                    <a:bodyPr/>
                    <a:lstStyle/>
                    <a:p>
                      <a:pPr marL="0" marR="0" lvl="0" indent="0" algn="l" defTabSz="914400" rtl="0" eaLnBrk="0" fontAlgn="base" latinLnBrk="0" hangingPunct="0">
                        <a:lnSpc>
                          <a:spcPct val="80000"/>
                        </a:lnSpc>
                        <a:spcBef>
                          <a:spcPct val="40000"/>
                        </a:spcBef>
                        <a:spcAft>
                          <a:spcPct val="0"/>
                        </a:spcAft>
                        <a:buClr>
                          <a:srgbClr val="8DACD0"/>
                        </a:buClr>
                        <a:buSzPct val="70000"/>
                        <a:buFont typeface="Wingdings" pitchFamily="2" charset="2"/>
                        <a:buNone/>
                        <a:tabLst/>
                      </a:pPr>
                      <a:r>
                        <a:rPr kumimoji="0" lang="fr-FR" altLang="zh-CN" sz="2000" b="1" i="0" u="none" strike="noStrike" cap="none" normalizeH="0" baseline="0">
                          <a:ln>
                            <a:noFill/>
                          </a:ln>
                          <a:solidFill>
                            <a:srgbClr val="000000"/>
                          </a:solidFill>
                          <a:effectLst/>
                          <a:latin typeface="Arial Narrow" charset="0"/>
                          <a:ea typeface="SimSun" pitchFamily="2" charset="-122"/>
                          <a:cs typeface="Times New Roman" charset="0"/>
                        </a:rPr>
                        <a:t>Fichier de données</a:t>
                      </a:r>
                      <a:r>
                        <a:rPr kumimoji="0" lang="en-IE" altLang="zh-CN" sz="2000" b="1" i="0" u="none" strike="noStrike" cap="none" normalizeH="0" baseline="0">
                          <a:ln>
                            <a:noFill/>
                          </a:ln>
                          <a:solidFill>
                            <a:srgbClr val="000000"/>
                          </a:solidFill>
                          <a:effectLst/>
                          <a:latin typeface="Arial Narrow" charset="0"/>
                          <a:ea typeface="SimSun" pitchFamily="2" charset="-122"/>
                          <a:cs typeface="Times New Roman" charset="0"/>
                        </a:rPr>
                        <a:t> </a:t>
                      </a:r>
                      <a:endParaRPr kumimoji="0" lang="en-US" sz="2000" b="1" i="0" u="none" strike="noStrike" cap="none" normalizeH="0" baseline="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0000"/>
                        </a:lnSpc>
                        <a:spcBef>
                          <a:spcPct val="25000"/>
                        </a:spcBef>
                        <a:spcAft>
                          <a:spcPct val="0"/>
                        </a:spcAft>
                        <a:buClrTx/>
                        <a:buSzPct val="70000"/>
                        <a:buFontTx/>
                        <a:buBlip>
                          <a:blip r:embed="rId3"/>
                        </a:buBlip>
                        <a:tabLst/>
                      </a:pPr>
                      <a:r>
                        <a:rPr kumimoji="0" lang="fr-FR" altLang="zh-CN" sz="2000" b="0" i="0" u="none" strike="noStrike" cap="none" normalizeH="0" baseline="0">
                          <a:ln>
                            <a:noFill/>
                          </a:ln>
                          <a:solidFill>
                            <a:srgbClr val="000000"/>
                          </a:solidFill>
                          <a:effectLst/>
                          <a:latin typeface="Arial Narrow" charset="0"/>
                          <a:ea typeface="SimSun" pitchFamily="2" charset="-122"/>
                          <a:cs typeface="Times New Roman" charset="0"/>
                        </a:rPr>
                        <a:t>Fournit des informations sur les fonctionnalités d'une imprimante particulière</a:t>
                      </a:r>
                      <a:endParaRPr kumimoji="0" lang="en-US" sz="2000" b="0" i="0" u="none" strike="noStrike" cap="none" normalizeH="0" baseline="0">
                        <a:ln>
                          <a:noFill/>
                        </a:ln>
                        <a:solidFill>
                          <a:schemeClr val="tx1"/>
                        </a:solidFill>
                        <a:effectLst/>
                        <a:latin typeface="Arial Narrow" charset="0"/>
                        <a:ea typeface="SimSun" pitchFamily="2" charset="-122"/>
                        <a:cs typeface="Times New Roman" charset="0"/>
                      </a:endParaRPr>
                    </a:p>
                    <a:p>
                      <a:pPr marL="225425" marR="0" lvl="0" indent="-225425" algn="l" defTabSz="914400" rtl="0" eaLnBrk="0" fontAlgn="base" latinLnBrk="0" hangingPunct="0">
                        <a:lnSpc>
                          <a:spcPct val="80000"/>
                        </a:lnSpc>
                        <a:spcBef>
                          <a:spcPct val="25000"/>
                        </a:spcBef>
                        <a:spcAft>
                          <a:spcPct val="0"/>
                        </a:spcAft>
                        <a:buClrTx/>
                        <a:buSzPct val="70000"/>
                        <a:buFontTx/>
                        <a:buBlip>
                          <a:blip r:embed="rId3"/>
                        </a:buBlip>
                        <a:tabLst/>
                      </a:pPr>
                      <a:r>
                        <a:rPr kumimoji="0" lang="fr-FR" altLang="zh-CN" sz="2000" b="0" i="0" u="none" strike="noStrike" cap="none" normalizeH="0" baseline="0">
                          <a:ln>
                            <a:noFill/>
                          </a:ln>
                          <a:solidFill>
                            <a:srgbClr val="000000"/>
                          </a:solidFill>
                          <a:effectLst/>
                          <a:latin typeface="Arial Narrow" charset="0"/>
                          <a:ea typeface="SimSun" pitchFamily="2" charset="-122"/>
                          <a:cs typeface="Times New Roman" charset="0"/>
                        </a:rPr>
                        <a:t>Son extension peut être .dll, .pcd, .gpd ou .ppd</a:t>
                      </a:r>
                      <a:endParaRPr kumimoji="0" lang="en-US" sz="2000" b="0" i="0" u="none" strike="noStrike" cap="none" normalizeH="0" baseline="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002644">
                <a:tc>
                  <a:txBody>
                    <a:bodyPr/>
                    <a:lstStyle/>
                    <a:p>
                      <a:pPr marL="0" marR="0" lvl="0" indent="0" algn="l" defTabSz="914400" rtl="0" eaLnBrk="0" fontAlgn="base" latinLnBrk="0" hangingPunct="0">
                        <a:lnSpc>
                          <a:spcPct val="80000"/>
                        </a:lnSpc>
                        <a:spcBef>
                          <a:spcPct val="40000"/>
                        </a:spcBef>
                        <a:spcAft>
                          <a:spcPct val="0"/>
                        </a:spcAft>
                        <a:buClr>
                          <a:srgbClr val="8DACD0"/>
                        </a:buClr>
                        <a:buSzPct val="70000"/>
                        <a:buFont typeface="Wingdings" pitchFamily="2" charset="2"/>
                        <a:buNone/>
                        <a:tabLst/>
                      </a:pPr>
                      <a:r>
                        <a:rPr kumimoji="0" lang="fr-FR" altLang="zh-CN" sz="2000" b="1" i="0" u="none" strike="noStrike" cap="none" normalizeH="0" baseline="0">
                          <a:ln>
                            <a:noFill/>
                          </a:ln>
                          <a:solidFill>
                            <a:srgbClr val="000000"/>
                          </a:solidFill>
                          <a:effectLst/>
                          <a:latin typeface="Arial Narrow" charset="0"/>
                          <a:ea typeface="SimSun" pitchFamily="2" charset="-122"/>
                          <a:cs typeface="Times New Roman" charset="0"/>
                        </a:rPr>
                        <a:t>Fichier pilote d'impression graphique</a:t>
                      </a:r>
                      <a:r>
                        <a:rPr kumimoji="0" lang="en-IE" altLang="zh-CN" sz="2000" b="1" i="0" u="none" strike="noStrike" cap="none" normalizeH="0" baseline="0">
                          <a:ln>
                            <a:noFill/>
                          </a:ln>
                          <a:solidFill>
                            <a:srgbClr val="000000"/>
                          </a:solidFill>
                          <a:effectLst/>
                          <a:latin typeface="Arial Narrow" charset="0"/>
                          <a:ea typeface="SimSun" pitchFamily="2" charset="-122"/>
                          <a:cs typeface="Times New Roman" charset="0"/>
                        </a:rPr>
                        <a:t> </a:t>
                      </a:r>
                      <a:endParaRPr kumimoji="0" lang="en-US" sz="2000" b="1" i="0" u="none" strike="noStrike" cap="none" normalizeH="0" baseline="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0000"/>
                        </a:lnSpc>
                        <a:spcBef>
                          <a:spcPct val="25000"/>
                        </a:spcBef>
                        <a:spcAft>
                          <a:spcPct val="0"/>
                        </a:spcAft>
                        <a:buClrTx/>
                        <a:buSzPct val="70000"/>
                        <a:buFontTx/>
                        <a:buBlip>
                          <a:blip r:embed="rId3"/>
                        </a:buBlip>
                        <a:tabLst/>
                      </a:pPr>
                      <a:r>
                        <a:rPr kumimoji="0" lang="fr-FR" altLang="zh-CN" sz="2000" b="0" i="0" u="none" strike="noStrike" cap="none" normalizeH="0" baseline="0" dirty="0">
                          <a:ln>
                            <a:noFill/>
                          </a:ln>
                          <a:solidFill>
                            <a:srgbClr val="000000"/>
                          </a:solidFill>
                          <a:effectLst/>
                          <a:latin typeface="Arial Narrow" charset="0"/>
                          <a:ea typeface="SimSun" pitchFamily="2" charset="-122"/>
                          <a:cs typeface="Times New Roman" charset="0"/>
                        </a:rPr>
                        <a:t>Traduit les commandes d'impression en commandes compréhensibles par l'imprimante</a:t>
                      </a:r>
                      <a:r>
                        <a:rPr kumimoji="0" lang="en-IE" altLang="zh-CN" sz="20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000" b="0" i="0" u="none" strike="noStrike" cap="none" normalizeH="0" baseline="0" dirty="0">
                        <a:ln>
                          <a:noFill/>
                        </a:ln>
                        <a:solidFill>
                          <a:schemeClr val="tx1"/>
                        </a:solidFill>
                        <a:effectLst/>
                        <a:latin typeface="Arial Narrow" charset="0"/>
                        <a:ea typeface="SimSun" pitchFamily="2" charset="-122"/>
                        <a:cs typeface="Times New Roman" charset="0"/>
                      </a:endParaRPr>
                    </a:p>
                    <a:p>
                      <a:pPr marL="225425" marR="0" lvl="0" indent="-225425" algn="l" defTabSz="914400" rtl="0" eaLnBrk="0" fontAlgn="base" latinLnBrk="0" hangingPunct="0">
                        <a:lnSpc>
                          <a:spcPct val="80000"/>
                        </a:lnSpc>
                        <a:spcBef>
                          <a:spcPct val="25000"/>
                        </a:spcBef>
                        <a:spcAft>
                          <a:spcPct val="0"/>
                        </a:spcAft>
                        <a:buClrTx/>
                        <a:buSzPct val="70000"/>
                        <a:buFontTx/>
                        <a:buBlip>
                          <a:blip r:embed="rId3"/>
                        </a:buBlip>
                        <a:tabLst/>
                      </a:pPr>
                      <a:r>
                        <a:rPr kumimoji="0" lang="fr-FR" altLang="zh-CN" sz="2000" b="0" i="0" u="none" strike="noStrike" cap="none" normalizeH="0" baseline="0" dirty="0">
                          <a:ln>
                            <a:noFill/>
                          </a:ln>
                          <a:solidFill>
                            <a:srgbClr val="000000"/>
                          </a:solidFill>
                          <a:effectLst/>
                          <a:latin typeface="Arial Narrow" charset="0"/>
                          <a:ea typeface="SimSun" pitchFamily="2" charset="-122"/>
                          <a:cs typeface="Times New Roman" charset="0"/>
                        </a:rPr>
                        <a:t>Possède une extension .dll</a:t>
                      </a:r>
                      <a:r>
                        <a:rPr kumimoji="0" lang="en-IE" altLang="zh-CN" sz="2000" b="0" i="0" u="none" strike="noStrike" cap="none" normalizeH="0" baseline="0" dirty="0">
                          <a:ln>
                            <a:noFill/>
                          </a:ln>
                          <a:solidFill>
                            <a:srgbClr val="000000"/>
                          </a:solidFill>
                          <a:effectLst/>
                          <a:latin typeface="Arial Narrow" charset="0"/>
                          <a:ea typeface="SimSun" pitchFamily="2" charset="-122"/>
                          <a:cs typeface="Times New Roman" charset="0"/>
                        </a:rPr>
                        <a:t> </a:t>
                      </a:r>
                      <a:endParaRPr kumimoji="0" lang="en-US" sz="2000" b="0" i="0" u="none" strike="noStrike" cap="none" normalizeH="0" baseline="0" dirty="0">
                        <a:ln>
                          <a:noFill/>
                        </a:ln>
                        <a:solidFill>
                          <a:srgbClr val="000000"/>
                        </a:solidFill>
                        <a:effectLst/>
                        <a:latin typeface="Arial Narrow" charset="0"/>
                        <a:ea typeface="SimSun" pitchFamily="2" charset="-122"/>
                        <a:cs typeface="Times New Roman"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6" name="Rectangle-2"/>
          <p:cNvSpPr>
            <a:spLocks noGrp="1" noChangeArrowheads="1"/>
          </p:cNvSpPr>
          <p:nvPr>
            <p:ph type="title"/>
          </p:nvPr>
        </p:nvSpPr>
        <p:spPr>
          <a:xfrm>
            <a:off x="301752" y="228600"/>
            <a:ext cx="8534400" cy="758952"/>
          </a:xfrm>
        </p:spPr>
        <p:txBody>
          <a:bodyPr>
            <a:normAutofit/>
          </a:bodyPr>
          <a:lstStyle/>
          <a:p>
            <a:r>
              <a:rPr lang="fr-FR" altLang="zh-CN" sz="3000" b="1" dirty="0">
                <a:solidFill>
                  <a:srgbClr val="C00000"/>
                </a:solidFill>
                <a:ea typeface="SimSun" pitchFamily="2" charset="-122"/>
                <a:cs typeface="Times New Roman" pitchFamily="18" charset="0"/>
              </a:rPr>
              <a:t>Description d'un pilote d'imprimante</a:t>
            </a:r>
            <a:r>
              <a:rPr lang="en-IE" altLang="zh-CN" sz="3000" b="1" dirty="0">
                <a:solidFill>
                  <a:srgbClr val="C00000"/>
                </a:solidFill>
                <a:ea typeface="SimSun" pitchFamily="2" charset="-122"/>
                <a:cs typeface="Times New Roman" pitchFamily="18" charset="0"/>
              </a:rPr>
              <a:t> </a:t>
            </a:r>
            <a:endParaRPr lang="en-US" sz="3000" b="1" dirty="0">
              <a:solidFill>
                <a:srgbClr val="C00000"/>
              </a:solidFill>
              <a:ea typeface="SimSun" pitchFamily="2"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37923">
                                            <p:txEl>
                                              <p:pRg st="0" end="0"/>
                                            </p:txEl>
                                          </p:spTgt>
                                        </p:tgtEl>
                                        <p:attrNameLst>
                                          <p:attrName>style.visibility</p:attrName>
                                        </p:attrNameLst>
                                      </p:cBhvr>
                                      <p:to>
                                        <p:strVal val="visible"/>
                                      </p:to>
                                    </p:set>
                                    <p:animEffect transition="in" filter="checkerboard(across)">
                                      <p:cBhvr>
                                        <p:cTn id="7" dur="1000"/>
                                        <p:tgtEl>
                                          <p:spTgt spid="337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7923">
                                            <p:txEl>
                                              <p:pRg st="1" end="1"/>
                                            </p:txEl>
                                          </p:spTgt>
                                        </p:tgtEl>
                                        <p:attrNameLst>
                                          <p:attrName>style.visibility</p:attrName>
                                        </p:attrNameLst>
                                      </p:cBhvr>
                                      <p:to>
                                        <p:strVal val="visible"/>
                                      </p:to>
                                    </p:set>
                                    <p:animEffect transition="in" filter="checkerboard(across)">
                                      <p:cBhvr>
                                        <p:cTn id="12" dur="1000"/>
                                        <p:tgtEl>
                                          <p:spTgt spid="3379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37923">
                                            <p:txEl>
                                              <p:pRg st="2" end="2"/>
                                            </p:txEl>
                                          </p:spTgt>
                                        </p:tgtEl>
                                        <p:attrNameLst>
                                          <p:attrName>style.visibility</p:attrName>
                                        </p:attrNameLst>
                                      </p:cBhvr>
                                      <p:to>
                                        <p:strVal val="visible"/>
                                      </p:to>
                                    </p:set>
                                    <p:animEffect transition="in" filter="checkerboard(across)">
                                      <p:cBhvr>
                                        <p:cTn id="17" dur="1000"/>
                                        <p:tgtEl>
                                          <p:spTgt spid="3379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37968"/>
                                        </p:tgtEl>
                                        <p:attrNameLst>
                                          <p:attrName>style.visibility</p:attrName>
                                        </p:attrNameLst>
                                      </p:cBhvr>
                                      <p:to>
                                        <p:strVal val="visible"/>
                                      </p:to>
                                    </p:set>
                                    <p:animEffect transition="in" filter="checkerboard(across)">
                                      <p:cBhvr>
                                        <p:cTn id="22" dur="500"/>
                                        <p:tgtEl>
                                          <p:spTgt spid="3379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2"/>
          <p:cNvSpPr>
            <a:spLocks noGrp="1" noChangeArrowheads="1"/>
          </p:cNvSpPr>
          <p:nvPr>
            <p:ph type="title"/>
          </p:nvPr>
        </p:nvSpPr>
        <p:spPr>
          <a:xfrm>
            <a:off x="289876" y="311727"/>
            <a:ext cx="8534400" cy="758952"/>
          </a:xfrm>
        </p:spPr>
        <p:txBody>
          <a:bodyPr>
            <a:normAutofit fontScale="90000"/>
          </a:bodyPr>
          <a:lstStyle/>
          <a:p>
            <a:r>
              <a:rPr lang="fr-FR" altLang="zh-CN" b="1" dirty="0">
                <a:solidFill>
                  <a:srgbClr val="000000"/>
                </a:solidFill>
                <a:ea typeface="SimSun" pitchFamily="2" charset="-122"/>
                <a:cs typeface="Times New Roman" charset="0"/>
              </a:rPr>
              <a:t>5. Changement de l'emplacement du spouleur d'impression</a:t>
            </a:r>
            <a:endParaRPr lang="en-US" b="1" dirty="0">
              <a:solidFill>
                <a:srgbClr val="000000"/>
              </a:solidFill>
              <a:ea typeface="SimSun" pitchFamily="2" charset="-122"/>
              <a:cs typeface="Times New Roman" charset="0"/>
            </a:endParaRPr>
          </a:p>
        </p:txBody>
      </p:sp>
      <p:sp>
        <p:nvSpPr>
          <p:cNvPr id="288771" name="Rectangle-3"/>
          <p:cNvSpPr>
            <a:spLocks noGrp="1" noChangeArrowheads="1"/>
          </p:cNvSpPr>
          <p:nvPr>
            <p:ph type="body" idx="1"/>
          </p:nvPr>
        </p:nvSpPr>
        <p:spPr>
          <a:xfrm>
            <a:off x="278001" y="2180190"/>
            <a:ext cx="8503920" cy="1821794"/>
          </a:xfrm>
        </p:spPr>
        <p:txBody>
          <a:bodyPr/>
          <a:lstStyle/>
          <a:p>
            <a:r>
              <a:rPr lang="fr-FR" altLang="zh-CN" dirty="0">
                <a:solidFill>
                  <a:srgbClr val="C00000"/>
                </a:solidFill>
                <a:ea typeface="SimSun" pitchFamily="2" charset="-122"/>
                <a:cs typeface="Times New Roman" charset="0"/>
              </a:rPr>
              <a:t>Description d'un spouleur d'impression</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r>
              <a:rPr lang="fr-FR" altLang="zh-CN" dirty="0">
                <a:solidFill>
                  <a:srgbClr val="C00000"/>
                </a:solidFill>
                <a:ea typeface="SimSun" pitchFamily="2" charset="-122"/>
                <a:cs typeface="Times New Roman" charset="0"/>
              </a:rPr>
              <a:t>Pourquoi changer l'emplacement du spouleur d'impression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8" name="Rectangle-4"/>
          <p:cNvSpPr>
            <a:spLocks noGrp="1" noChangeArrowheads="1"/>
          </p:cNvSpPr>
          <p:nvPr>
            <p:ph type="title"/>
          </p:nvPr>
        </p:nvSpPr>
        <p:spPr>
          <a:xfrm>
            <a:off x="178130" y="228600"/>
            <a:ext cx="8823366" cy="758952"/>
          </a:xfrm>
        </p:spPr>
        <p:txBody>
          <a:bodyPr>
            <a:normAutofit/>
          </a:bodyPr>
          <a:lstStyle/>
          <a:p>
            <a:r>
              <a:rPr lang="fr-FR" altLang="zh-CN" b="1" dirty="0">
                <a:solidFill>
                  <a:srgbClr val="C00000"/>
                </a:solidFill>
                <a:ea typeface="SimSun" pitchFamily="2" charset="-122"/>
                <a:cs typeface="Times New Roman" charset="0"/>
              </a:rPr>
              <a:t>Description d'un spouleur d'impression</a:t>
            </a:r>
            <a:r>
              <a:rPr lang="en-IE" altLang="zh-CN" b="1" dirty="0">
                <a:solidFill>
                  <a:srgbClr val="C00000"/>
                </a:solidFill>
                <a:ea typeface="SimSun" pitchFamily="2" charset="-122"/>
                <a:cs typeface="Times New Roman" charset="0"/>
              </a:rPr>
              <a:t> </a:t>
            </a:r>
            <a:endParaRPr lang="en-US" b="1" dirty="0">
              <a:solidFill>
                <a:srgbClr val="C00000"/>
              </a:solidFill>
              <a:ea typeface="SimSun" pitchFamily="2" charset="-122"/>
              <a:cs typeface="Times New Roman" charset="0"/>
            </a:endParaRPr>
          </a:p>
        </p:txBody>
      </p:sp>
      <p:sp>
        <p:nvSpPr>
          <p:cNvPr id="400389" name="Rectangle-5"/>
          <p:cNvSpPr>
            <a:spLocks noGrp="1" noChangeArrowheads="1"/>
          </p:cNvSpPr>
          <p:nvPr>
            <p:ph type="body" idx="1"/>
          </p:nvPr>
        </p:nvSpPr>
        <p:spPr>
          <a:xfrm>
            <a:off x="178130" y="1527048"/>
            <a:ext cx="8787740" cy="4572000"/>
          </a:xfrm>
        </p:spPr>
        <p:txBody>
          <a:bodyPr>
            <a:normAutofit lnSpcReduction="10000"/>
          </a:bodyPr>
          <a:lstStyle/>
          <a:p>
            <a:r>
              <a:rPr lang="fr-FR" altLang="zh-CN" dirty="0">
                <a:solidFill>
                  <a:srgbClr val="000000"/>
                </a:solidFill>
                <a:ea typeface="SimSun" pitchFamily="2" charset="-122"/>
                <a:cs typeface="Times New Roman" charset="0"/>
              </a:rPr>
              <a:t>Fichier exécutable de gestion du processus  d'impression, qui comprend notamment :</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lvl="1"/>
            <a:r>
              <a:rPr lang="fr-FR" altLang="zh-CN" dirty="0">
                <a:solidFill>
                  <a:srgbClr val="000000"/>
                </a:solidFill>
                <a:ea typeface="SimSun" pitchFamily="2" charset="-122"/>
                <a:cs typeface="Times New Roman" charset="0"/>
              </a:rPr>
              <a:t>l'identification de l'emplacement du pilote d'imprimante approprié </a:t>
            </a:r>
            <a:r>
              <a:rPr lang="en-IE" altLang="zh-CN" dirty="0">
                <a:solidFill>
                  <a:srgbClr val="000000"/>
                </a:solidFill>
                <a:ea typeface="SimSun" pitchFamily="2" charset="-122"/>
              </a:rPr>
              <a:t> </a:t>
            </a:r>
            <a:endParaRPr lang="en-US" dirty="0"/>
          </a:p>
          <a:p>
            <a:pPr lvl="1"/>
            <a:r>
              <a:rPr lang="fr-FR" altLang="zh-CN" dirty="0">
                <a:solidFill>
                  <a:srgbClr val="000000"/>
                </a:solidFill>
                <a:ea typeface="SimSun" pitchFamily="2" charset="-122"/>
              </a:rPr>
              <a:t>le chargement de ce pilote </a:t>
            </a:r>
            <a:r>
              <a:rPr lang="en-IE" altLang="zh-CN" dirty="0">
                <a:solidFill>
                  <a:srgbClr val="000000"/>
                </a:solidFill>
                <a:ea typeface="SimSun" pitchFamily="2" charset="-122"/>
              </a:rPr>
              <a:t> </a:t>
            </a:r>
            <a:endParaRPr lang="en-US" dirty="0"/>
          </a:p>
          <a:p>
            <a:pPr lvl="1"/>
            <a:r>
              <a:rPr lang="fr-FR" altLang="zh-CN" dirty="0">
                <a:solidFill>
                  <a:srgbClr val="000000"/>
                </a:solidFill>
                <a:ea typeface="SimSun" pitchFamily="2" charset="-122"/>
              </a:rPr>
              <a:t>la mise en file d'attente des tâches d'impression </a:t>
            </a:r>
            <a:r>
              <a:rPr lang="en-IE" altLang="zh-CN" dirty="0">
                <a:solidFill>
                  <a:srgbClr val="000000"/>
                </a:solidFill>
                <a:ea typeface="SimSun" pitchFamily="2" charset="-122"/>
              </a:rPr>
              <a:t> </a:t>
            </a:r>
            <a:endParaRPr lang="en-US" dirty="0"/>
          </a:p>
          <a:p>
            <a:pPr lvl="1"/>
            <a:r>
              <a:rPr lang="fr-FR" altLang="zh-CN" dirty="0">
                <a:solidFill>
                  <a:srgbClr val="000000"/>
                </a:solidFill>
                <a:ea typeface="SimSun" pitchFamily="2" charset="-122"/>
              </a:rPr>
              <a:t>la planification du travail d'impression</a:t>
            </a:r>
            <a:r>
              <a:rPr lang="en-IE" altLang="zh-CN" dirty="0">
                <a:solidFill>
                  <a:srgbClr val="000000"/>
                </a:solidFill>
                <a:ea typeface="SimSun" pitchFamily="2" charset="-122"/>
              </a:rPr>
              <a:t> </a:t>
            </a:r>
            <a:endParaRPr lang="en-US" dirty="0"/>
          </a:p>
          <a:p>
            <a:r>
              <a:rPr lang="fr-FR" altLang="zh-CN" dirty="0">
                <a:solidFill>
                  <a:srgbClr val="000000"/>
                </a:solidFill>
                <a:ea typeface="SimSun" pitchFamily="2" charset="-122"/>
              </a:rPr>
              <a:t>Il prend les fichiers à imprimer, les stocke sur le disque dur et les envoie à l'imprimante lorsque cette dernière est prête</a:t>
            </a:r>
            <a:r>
              <a:rPr lang="en-IE" altLang="zh-CN" dirty="0">
                <a:solidFill>
                  <a:srgbClr val="000000"/>
                </a:solidFill>
                <a:ea typeface="SimSun" pitchFamily="2" charset="-122"/>
              </a:rPr>
              <a:t> </a:t>
            </a:r>
          </a:p>
          <a:p>
            <a:r>
              <a:rPr lang="en-IE" dirty="0">
                <a:solidFill>
                  <a:srgbClr val="000000"/>
                </a:solidFill>
                <a:ea typeface="SimSun" pitchFamily="2" charset="-122"/>
              </a:rPr>
              <a:t>Son emplacement: </a:t>
            </a:r>
            <a:r>
              <a:rPr lang="fr-FR" i="1" dirty="0"/>
              <a:t>%</a:t>
            </a:r>
            <a:r>
              <a:rPr lang="fr-FR" i="1" dirty="0" err="1"/>
              <a:t>SystemRoot</a:t>
            </a:r>
            <a:r>
              <a:rPr lang="fr-FR" i="1" dirty="0"/>
              <a:t>%\</a:t>
            </a:r>
            <a:r>
              <a:rPr lang="fr-FR" i="1" dirty="0" err="1"/>
              <a:t>Spool\Printers</a:t>
            </a:r>
            <a:endParaRPr lang="fr-FR" dirty="0"/>
          </a:p>
          <a:p>
            <a:endParaRPr lang="en-US"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00389">
                                            <p:txEl>
                                              <p:pRg st="0" end="0"/>
                                            </p:txEl>
                                          </p:spTgt>
                                        </p:tgtEl>
                                        <p:attrNameLst>
                                          <p:attrName>style.visibility</p:attrName>
                                        </p:attrNameLst>
                                      </p:cBhvr>
                                      <p:to>
                                        <p:strVal val="visible"/>
                                      </p:to>
                                    </p:set>
                                    <p:animEffect transition="in" filter="checkerboard(across)">
                                      <p:cBhvr>
                                        <p:cTn id="7" dur="1000"/>
                                        <p:tgtEl>
                                          <p:spTgt spid="400389">
                                            <p:txEl>
                                              <p:pRg st="0" end="0"/>
                                            </p:txEl>
                                          </p:spTgt>
                                        </p:tgtEl>
                                      </p:cBhvr>
                                    </p:animEffect>
                                  </p:childTnLst>
                                </p:cTn>
                              </p:par>
                            </p:childTnLst>
                          </p:cTn>
                        </p:par>
                        <p:par>
                          <p:cTn id="8" fill="hold">
                            <p:stCondLst>
                              <p:cond delay="1000"/>
                            </p:stCondLst>
                            <p:childTnLst>
                              <p:par>
                                <p:cTn id="9" presetID="5" presetClass="entr" presetSubtype="10" fill="hold" nodeType="afterEffect">
                                  <p:stCondLst>
                                    <p:cond delay="0"/>
                                  </p:stCondLst>
                                  <p:childTnLst>
                                    <p:set>
                                      <p:cBhvr>
                                        <p:cTn id="10" dur="1" fill="hold">
                                          <p:stCondLst>
                                            <p:cond delay="0"/>
                                          </p:stCondLst>
                                        </p:cTn>
                                        <p:tgtEl>
                                          <p:spTgt spid="400389">
                                            <p:txEl>
                                              <p:pRg st="1" end="1"/>
                                            </p:txEl>
                                          </p:spTgt>
                                        </p:tgtEl>
                                        <p:attrNameLst>
                                          <p:attrName>style.visibility</p:attrName>
                                        </p:attrNameLst>
                                      </p:cBhvr>
                                      <p:to>
                                        <p:strVal val="visible"/>
                                      </p:to>
                                    </p:set>
                                    <p:animEffect transition="in" filter="checkerboard(across)">
                                      <p:cBhvr>
                                        <p:cTn id="11" dur="1000"/>
                                        <p:tgtEl>
                                          <p:spTgt spid="400389">
                                            <p:txEl>
                                              <p:pRg st="1" end="1"/>
                                            </p:txEl>
                                          </p:spTgt>
                                        </p:tgtEl>
                                      </p:cBhvr>
                                    </p:animEffect>
                                  </p:childTnLst>
                                </p:cTn>
                              </p:par>
                            </p:childTnLst>
                          </p:cTn>
                        </p:par>
                        <p:par>
                          <p:cTn id="12" fill="hold">
                            <p:stCondLst>
                              <p:cond delay="2000"/>
                            </p:stCondLst>
                            <p:childTnLst>
                              <p:par>
                                <p:cTn id="13" presetID="5" presetClass="entr" presetSubtype="10" fill="hold" nodeType="afterEffect">
                                  <p:stCondLst>
                                    <p:cond delay="0"/>
                                  </p:stCondLst>
                                  <p:childTnLst>
                                    <p:set>
                                      <p:cBhvr>
                                        <p:cTn id="14" dur="1" fill="hold">
                                          <p:stCondLst>
                                            <p:cond delay="0"/>
                                          </p:stCondLst>
                                        </p:cTn>
                                        <p:tgtEl>
                                          <p:spTgt spid="400389">
                                            <p:txEl>
                                              <p:pRg st="2" end="2"/>
                                            </p:txEl>
                                          </p:spTgt>
                                        </p:tgtEl>
                                        <p:attrNameLst>
                                          <p:attrName>style.visibility</p:attrName>
                                        </p:attrNameLst>
                                      </p:cBhvr>
                                      <p:to>
                                        <p:strVal val="visible"/>
                                      </p:to>
                                    </p:set>
                                    <p:animEffect transition="in" filter="checkerboard(across)">
                                      <p:cBhvr>
                                        <p:cTn id="15" dur="1000"/>
                                        <p:tgtEl>
                                          <p:spTgt spid="400389">
                                            <p:txEl>
                                              <p:pRg st="2" end="2"/>
                                            </p:txEl>
                                          </p:spTgt>
                                        </p:tgtEl>
                                      </p:cBhvr>
                                    </p:animEffect>
                                  </p:childTnLst>
                                </p:cTn>
                              </p:par>
                            </p:childTnLst>
                          </p:cTn>
                        </p:par>
                        <p:par>
                          <p:cTn id="16" fill="hold">
                            <p:stCondLst>
                              <p:cond delay="3000"/>
                            </p:stCondLst>
                            <p:childTnLst>
                              <p:par>
                                <p:cTn id="17" presetID="5" presetClass="entr" presetSubtype="10" fill="hold" nodeType="afterEffect">
                                  <p:stCondLst>
                                    <p:cond delay="0"/>
                                  </p:stCondLst>
                                  <p:childTnLst>
                                    <p:set>
                                      <p:cBhvr>
                                        <p:cTn id="18" dur="1" fill="hold">
                                          <p:stCondLst>
                                            <p:cond delay="0"/>
                                          </p:stCondLst>
                                        </p:cTn>
                                        <p:tgtEl>
                                          <p:spTgt spid="400389">
                                            <p:txEl>
                                              <p:pRg st="3" end="3"/>
                                            </p:txEl>
                                          </p:spTgt>
                                        </p:tgtEl>
                                        <p:attrNameLst>
                                          <p:attrName>style.visibility</p:attrName>
                                        </p:attrNameLst>
                                      </p:cBhvr>
                                      <p:to>
                                        <p:strVal val="visible"/>
                                      </p:to>
                                    </p:set>
                                    <p:animEffect transition="in" filter="checkerboard(across)">
                                      <p:cBhvr>
                                        <p:cTn id="19" dur="1000"/>
                                        <p:tgtEl>
                                          <p:spTgt spid="400389">
                                            <p:txEl>
                                              <p:pRg st="3" end="3"/>
                                            </p:txEl>
                                          </p:spTgt>
                                        </p:tgtEl>
                                      </p:cBhvr>
                                    </p:animEffect>
                                  </p:childTnLst>
                                </p:cTn>
                              </p:par>
                            </p:childTnLst>
                          </p:cTn>
                        </p:par>
                        <p:par>
                          <p:cTn id="20" fill="hold">
                            <p:stCondLst>
                              <p:cond delay="4000"/>
                            </p:stCondLst>
                            <p:childTnLst>
                              <p:par>
                                <p:cTn id="21" presetID="5" presetClass="entr" presetSubtype="10" fill="hold" nodeType="afterEffect">
                                  <p:stCondLst>
                                    <p:cond delay="0"/>
                                  </p:stCondLst>
                                  <p:childTnLst>
                                    <p:set>
                                      <p:cBhvr>
                                        <p:cTn id="22" dur="1" fill="hold">
                                          <p:stCondLst>
                                            <p:cond delay="0"/>
                                          </p:stCondLst>
                                        </p:cTn>
                                        <p:tgtEl>
                                          <p:spTgt spid="400389">
                                            <p:txEl>
                                              <p:pRg st="4" end="4"/>
                                            </p:txEl>
                                          </p:spTgt>
                                        </p:tgtEl>
                                        <p:attrNameLst>
                                          <p:attrName>style.visibility</p:attrName>
                                        </p:attrNameLst>
                                      </p:cBhvr>
                                      <p:to>
                                        <p:strVal val="visible"/>
                                      </p:to>
                                    </p:set>
                                    <p:animEffect transition="in" filter="checkerboard(across)">
                                      <p:cBhvr>
                                        <p:cTn id="23" dur="1000"/>
                                        <p:tgtEl>
                                          <p:spTgt spid="400389">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400389">
                                            <p:txEl>
                                              <p:pRg st="5" end="5"/>
                                            </p:txEl>
                                          </p:spTgt>
                                        </p:tgtEl>
                                        <p:attrNameLst>
                                          <p:attrName>style.visibility</p:attrName>
                                        </p:attrNameLst>
                                      </p:cBhvr>
                                      <p:to>
                                        <p:strVal val="visible"/>
                                      </p:to>
                                    </p:set>
                                    <p:animEffect transition="in" filter="checkerboard(across)">
                                      <p:cBhvr>
                                        <p:cTn id="28" dur="1000"/>
                                        <p:tgtEl>
                                          <p:spTgt spid="400389">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400389">
                                            <p:txEl>
                                              <p:pRg st="6" end="6"/>
                                            </p:txEl>
                                          </p:spTgt>
                                        </p:tgtEl>
                                        <p:attrNameLst>
                                          <p:attrName>style.visibility</p:attrName>
                                        </p:attrNameLst>
                                      </p:cBhvr>
                                      <p:to>
                                        <p:strVal val="visible"/>
                                      </p:to>
                                    </p:set>
                                    <p:animEffect transition="in" filter="checkerboard(across)">
                                      <p:cBhvr>
                                        <p:cTn id="33" dur="1000"/>
                                        <p:tgtEl>
                                          <p:spTgt spid="40038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5406" name="Picture-206" descr="Server01"/>
          <p:cNvPicPr>
            <a:picLocks noChangeAspect="1" noChangeArrowheads="1"/>
          </p:cNvPicPr>
          <p:nvPr/>
        </p:nvPicPr>
        <p:blipFill>
          <a:blip r:embed="rId3"/>
          <a:srcRect/>
          <a:stretch>
            <a:fillRect/>
          </a:stretch>
        </p:blipFill>
        <p:spPr bwMode="auto">
          <a:xfrm>
            <a:off x="1855788" y="3003550"/>
            <a:ext cx="1425575" cy="1677988"/>
          </a:xfrm>
          <a:prstGeom prst="rect">
            <a:avLst/>
          </a:prstGeom>
          <a:noFill/>
        </p:spPr>
      </p:pic>
      <p:pic>
        <p:nvPicPr>
          <p:cNvPr id="435459" name="Picture 259"/>
          <p:cNvPicPr>
            <a:picLocks noGrp="1" noChangeAspect="1" noChangeArrowheads="1"/>
          </p:cNvPicPr>
          <p:nvPr>
            <p:ph sz="half" idx="2"/>
          </p:nvPr>
        </p:nvPicPr>
        <p:blipFill>
          <a:blip r:embed="rId4"/>
          <a:srcRect/>
          <a:stretch>
            <a:fillRect/>
          </a:stretch>
        </p:blipFill>
        <p:spPr>
          <a:xfrm>
            <a:off x="2713038" y="4670425"/>
            <a:ext cx="3365500" cy="1746250"/>
          </a:xfrm>
          <a:ln algn="ctr"/>
        </p:spPr>
      </p:pic>
      <p:sp>
        <p:nvSpPr>
          <p:cNvPr id="435410" name="Freeform-210"/>
          <p:cNvSpPr>
            <a:spLocks/>
          </p:cNvSpPr>
          <p:nvPr/>
        </p:nvSpPr>
        <p:spPr bwMode="auto">
          <a:xfrm flipV="1">
            <a:off x="2960688" y="4200525"/>
            <a:ext cx="674687" cy="446088"/>
          </a:xfrm>
          <a:custGeom>
            <a:avLst/>
            <a:gdLst/>
            <a:ahLst/>
            <a:cxnLst>
              <a:cxn ang="0">
                <a:pos x="0" y="0"/>
              </a:cxn>
              <a:cxn ang="0">
                <a:pos x="0" y="370"/>
              </a:cxn>
              <a:cxn ang="0">
                <a:pos x="1035" y="370"/>
              </a:cxn>
            </a:cxnLst>
            <a:rect l="0" t="0" r="r" b="b"/>
            <a:pathLst>
              <a:path w="1035" h="370">
                <a:moveTo>
                  <a:pt x="0" y="0"/>
                </a:moveTo>
                <a:lnTo>
                  <a:pt x="0" y="370"/>
                </a:lnTo>
                <a:lnTo>
                  <a:pt x="1035" y="370"/>
                </a:lnTo>
              </a:path>
            </a:pathLst>
          </a:custGeom>
          <a:noFill/>
          <a:ln w="57150" cap="flat" cmpd="sng">
            <a:solidFill>
              <a:srgbClr val="CC0000"/>
            </a:solidFill>
            <a:prstDash val="solid"/>
            <a:round/>
            <a:headEnd/>
            <a:tailEnd type="triangle" w="med" len="med"/>
          </a:ln>
          <a:effectLst>
            <a:outerShdw dist="35921" dir="2700000" algn="ctr" rotWithShape="0">
              <a:schemeClr val="bg1"/>
            </a:outerShdw>
          </a:effectLst>
        </p:spPr>
        <p:txBody>
          <a:bodyPr anchor="ctr"/>
          <a:lstStyle/>
          <a:p>
            <a:endParaRPr lang="fr-FR"/>
          </a:p>
        </p:txBody>
      </p:sp>
      <p:sp>
        <p:nvSpPr>
          <p:cNvPr id="435404" name="Line-204"/>
          <p:cNvSpPr>
            <a:spLocks noChangeShapeType="1"/>
          </p:cNvSpPr>
          <p:nvPr/>
        </p:nvSpPr>
        <p:spPr bwMode="auto">
          <a:xfrm>
            <a:off x="6305550" y="3852863"/>
            <a:ext cx="795338" cy="0"/>
          </a:xfrm>
          <a:prstGeom prst="line">
            <a:avLst/>
          </a:prstGeom>
          <a:noFill/>
          <a:ln w="57150">
            <a:solidFill>
              <a:srgbClr val="CC0000"/>
            </a:solidFill>
            <a:round/>
            <a:headEnd/>
            <a:tailEnd type="triangle" w="med" len="med"/>
          </a:ln>
          <a:effectLst/>
        </p:spPr>
        <p:txBody>
          <a:bodyPr anchor="ctr"/>
          <a:lstStyle/>
          <a:p>
            <a:endParaRPr lang="fr-FR"/>
          </a:p>
        </p:txBody>
      </p:sp>
      <p:sp>
        <p:nvSpPr>
          <p:cNvPr id="435405" name="Line-205"/>
          <p:cNvSpPr>
            <a:spLocks noChangeShapeType="1"/>
          </p:cNvSpPr>
          <p:nvPr/>
        </p:nvSpPr>
        <p:spPr bwMode="auto">
          <a:xfrm>
            <a:off x="1685925" y="5518150"/>
            <a:ext cx="795338" cy="0"/>
          </a:xfrm>
          <a:prstGeom prst="line">
            <a:avLst/>
          </a:prstGeom>
          <a:noFill/>
          <a:ln w="57150">
            <a:solidFill>
              <a:srgbClr val="CC0000"/>
            </a:solidFill>
            <a:round/>
            <a:headEnd/>
            <a:tailEnd type="triangle" w="med" len="med"/>
          </a:ln>
          <a:effectLst/>
        </p:spPr>
        <p:txBody>
          <a:bodyPr anchor="ctr"/>
          <a:lstStyle/>
          <a:p>
            <a:endParaRPr lang="fr-FR"/>
          </a:p>
        </p:txBody>
      </p:sp>
      <p:pic>
        <p:nvPicPr>
          <p:cNvPr id="435407" name="Picture-207" descr="NetworkPrinter01"/>
          <p:cNvPicPr>
            <a:picLocks noChangeAspect="1" noChangeArrowheads="1"/>
          </p:cNvPicPr>
          <p:nvPr/>
        </p:nvPicPr>
        <p:blipFill>
          <a:blip r:embed="rId5"/>
          <a:srcRect/>
          <a:stretch>
            <a:fillRect/>
          </a:stretch>
        </p:blipFill>
        <p:spPr bwMode="auto">
          <a:xfrm>
            <a:off x="6894513" y="2994025"/>
            <a:ext cx="1565275" cy="1549400"/>
          </a:xfrm>
          <a:prstGeom prst="rect">
            <a:avLst/>
          </a:prstGeom>
          <a:noFill/>
        </p:spPr>
      </p:pic>
      <p:sp>
        <p:nvSpPr>
          <p:cNvPr id="435408" name="AutoShape-208"/>
          <p:cNvSpPr>
            <a:spLocks noChangeArrowheads="1"/>
          </p:cNvSpPr>
          <p:nvPr/>
        </p:nvSpPr>
        <p:spPr bwMode="auto">
          <a:xfrm>
            <a:off x="1182688" y="3621088"/>
            <a:ext cx="1274762" cy="38100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gn="ctr">
              <a:lnSpc>
                <a:spcPct val="70000"/>
              </a:lnSpc>
            </a:pPr>
            <a:r>
              <a:rPr lang="fr-FR" altLang="zh-CN" sz="1500">
                <a:solidFill>
                  <a:srgbClr val="000000"/>
                </a:solidFill>
                <a:ea typeface="SimSun" pitchFamily="2" charset="-122"/>
                <a:cs typeface="Times New Roman" charset="0"/>
              </a:rPr>
              <a:t>Serveur d'impression</a:t>
            </a:r>
            <a:r>
              <a:rPr lang="en-IE" altLang="zh-CN" sz="1500">
                <a:solidFill>
                  <a:srgbClr val="000000"/>
                </a:solidFill>
                <a:ea typeface="SimSun" pitchFamily="2" charset="-122"/>
                <a:cs typeface="Times New Roman" charset="0"/>
              </a:rPr>
              <a:t> </a:t>
            </a:r>
            <a:endParaRPr lang="en-US" sz="1500">
              <a:solidFill>
                <a:srgbClr val="000000"/>
              </a:solidFill>
              <a:ea typeface="SimSun" pitchFamily="2" charset="-122"/>
              <a:cs typeface="Times New Roman" charset="0"/>
            </a:endParaRPr>
          </a:p>
        </p:txBody>
      </p:sp>
      <p:sp>
        <p:nvSpPr>
          <p:cNvPr id="435409" name="Freeform-209"/>
          <p:cNvSpPr>
            <a:spLocks/>
          </p:cNvSpPr>
          <p:nvPr/>
        </p:nvSpPr>
        <p:spPr bwMode="auto">
          <a:xfrm>
            <a:off x="2960688" y="2633663"/>
            <a:ext cx="674687" cy="814387"/>
          </a:xfrm>
          <a:custGeom>
            <a:avLst/>
            <a:gdLst/>
            <a:ahLst/>
            <a:cxnLst>
              <a:cxn ang="0">
                <a:pos x="0" y="0"/>
              </a:cxn>
              <a:cxn ang="0">
                <a:pos x="0" y="370"/>
              </a:cxn>
              <a:cxn ang="0">
                <a:pos x="1035" y="370"/>
              </a:cxn>
            </a:cxnLst>
            <a:rect l="0" t="0" r="r" b="b"/>
            <a:pathLst>
              <a:path w="1035" h="370">
                <a:moveTo>
                  <a:pt x="0" y="0"/>
                </a:moveTo>
                <a:lnTo>
                  <a:pt x="0" y="370"/>
                </a:lnTo>
                <a:lnTo>
                  <a:pt x="1035" y="370"/>
                </a:lnTo>
              </a:path>
            </a:pathLst>
          </a:custGeom>
          <a:noFill/>
          <a:ln w="57150" cap="flat" cmpd="sng">
            <a:solidFill>
              <a:srgbClr val="CC0000"/>
            </a:solidFill>
            <a:prstDash val="solid"/>
            <a:round/>
            <a:headEnd/>
            <a:tailEnd type="triangle" w="med" len="med"/>
          </a:ln>
          <a:effectLst>
            <a:outerShdw dist="35921" dir="2700000" algn="ctr" rotWithShape="0">
              <a:schemeClr val="bg1"/>
            </a:outerShdw>
          </a:effectLst>
        </p:spPr>
        <p:txBody>
          <a:bodyPr anchor="ctr"/>
          <a:lstStyle/>
          <a:p>
            <a:endParaRPr lang="fr-FR"/>
          </a:p>
        </p:txBody>
      </p:sp>
      <p:sp>
        <p:nvSpPr>
          <p:cNvPr id="435413" name="Text-Box-213"/>
          <p:cNvSpPr txBox="1">
            <a:spLocks noChangeArrowheads="1"/>
          </p:cNvSpPr>
          <p:nvPr/>
        </p:nvSpPr>
        <p:spPr bwMode="auto">
          <a:xfrm>
            <a:off x="2886075" y="4694238"/>
            <a:ext cx="2228850" cy="304800"/>
          </a:xfrm>
          <a:prstGeom prst="rect">
            <a:avLst/>
          </a:prstGeom>
          <a:noFill/>
          <a:ln w="9525" algn="ctr">
            <a:noFill/>
            <a:miter lim="800000"/>
            <a:headEnd/>
            <a:tailEnd/>
          </a:ln>
          <a:effectLst/>
        </p:spPr>
        <p:txBody>
          <a:bodyPr>
            <a:spAutoFit/>
          </a:bodyPr>
          <a:lstStyle/>
          <a:p>
            <a:r>
              <a:rPr lang="en-US" altLang="zh-CN" sz="1400" dirty="0">
                <a:solidFill>
                  <a:srgbClr val="000000"/>
                </a:solidFill>
                <a:latin typeface="Tahoma" pitchFamily="34" charset="0"/>
                <a:ea typeface="SimSun" pitchFamily="2" charset="-122"/>
                <a:cs typeface="Times New Roman" charset="0"/>
              </a:rPr>
              <a:t> </a:t>
            </a:r>
            <a:r>
              <a:rPr lang="fr-FR" altLang="zh-CN" sz="1400" dirty="0">
                <a:solidFill>
                  <a:srgbClr val="FFFFFF"/>
                </a:solidFill>
                <a:latin typeface="Tahoma" pitchFamily="34" charset="0"/>
                <a:ea typeface="SimSun" pitchFamily="2" charset="-122"/>
                <a:cs typeface="Times New Roman" charset="0"/>
              </a:rPr>
              <a:t>Critique pour l'</a:t>
            </a:r>
            <a:r>
              <a:rPr lang="fr-FR" altLang="zh-CN" sz="1400" dirty="0" err="1">
                <a:solidFill>
                  <a:srgbClr val="FFFFFF"/>
                </a:solidFill>
                <a:latin typeface="Tahoma" pitchFamily="34" charset="0"/>
                <a:ea typeface="SimSun" pitchFamily="2" charset="-122"/>
                <a:cs typeface="Times New Roman" charset="0"/>
              </a:rPr>
              <a:t>impr</a:t>
            </a:r>
            <a:r>
              <a:rPr lang="fr-FR" altLang="zh-CN" sz="1400" dirty="0">
                <a:solidFill>
                  <a:srgbClr val="FFFFFF"/>
                </a:solidFill>
                <a:latin typeface="Tahoma" pitchFamily="34" charset="0"/>
                <a:ea typeface="SimSun" pitchFamily="2" charset="-122"/>
                <a:cs typeface="Times New Roman" charset="0"/>
              </a:rPr>
              <a:t> …</a:t>
            </a:r>
            <a:endParaRPr lang="en-US" sz="1100" dirty="0">
              <a:solidFill>
                <a:srgbClr val="000000"/>
              </a:solidFill>
              <a:latin typeface="Arial" charset="0"/>
              <a:ea typeface="SimSun" pitchFamily="2" charset="-122"/>
              <a:cs typeface="Times New Roman" charset="0"/>
            </a:endParaRPr>
          </a:p>
        </p:txBody>
      </p:sp>
      <p:sp>
        <p:nvSpPr>
          <p:cNvPr id="435414" name="Rectangle-214"/>
          <p:cNvSpPr>
            <a:spLocks noChangeArrowheads="1"/>
          </p:cNvSpPr>
          <p:nvPr/>
        </p:nvSpPr>
        <p:spPr bwMode="auto">
          <a:xfrm>
            <a:off x="3100388" y="5565775"/>
            <a:ext cx="754063" cy="179387"/>
          </a:xfrm>
          <a:prstGeom prst="rect">
            <a:avLst/>
          </a:prstGeom>
          <a:noFill/>
          <a:ln w="9525">
            <a:noFill/>
            <a:miter lim="800000"/>
            <a:headEnd/>
            <a:tailEnd/>
          </a:ln>
        </p:spPr>
        <p:txBody>
          <a:bodyPr wrap="none" lIns="0" tIns="0" rIns="0" bIns="0">
            <a:spAutoFit/>
          </a:bodyPr>
          <a:lstStyle/>
          <a:p>
            <a:pPr>
              <a:lnSpc>
                <a:spcPct val="90000"/>
              </a:lnSpc>
              <a:spcBef>
                <a:spcPct val="60000"/>
              </a:spcBef>
              <a:buClr>
                <a:srgbClr val="D60093"/>
              </a:buClr>
              <a:buSzPct val="70000"/>
              <a:buFont typeface="Wingdings" pitchFamily="2" charset="2"/>
              <a:buNone/>
            </a:pPr>
            <a:r>
              <a:rPr lang="fr-FR" altLang="zh-CN" sz="1300" b="0" dirty="0">
                <a:solidFill>
                  <a:srgbClr val="000000"/>
                </a:solidFill>
                <a:latin typeface="Arial" charset="0"/>
                <a:ea typeface="SimSun" pitchFamily="2" charset="-122"/>
                <a:cs typeface="Times New Roman" charset="0"/>
              </a:rPr>
              <a:t>Word.doc</a:t>
            </a:r>
            <a:r>
              <a:rPr lang="en-IE" altLang="zh-CN" sz="1300" b="0" dirty="0">
                <a:solidFill>
                  <a:srgbClr val="000000"/>
                </a:solidFill>
                <a:latin typeface="Arial" charset="0"/>
                <a:ea typeface="SimSun" pitchFamily="2" charset="-122"/>
                <a:cs typeface="Times New Roman" charset="0"/>
              </a:rPr>
              <a:t> </a:t>
            </a:r>
            <a:endParaRPr lang="en-US" sz="1300" b="0" dirty="0">
              <a:solidFill>
                <a:srgbClr val="000000"/>
              </a:solidFill>
              <a:latin typeface="Arial" charset="0"/>
              <a:ea typeface="SimSun" pitchFamily="2" charset="-122"/>
              <a:cs typeface="Times New Roman" charset="0"/>
            </a:endParaRPr>
          </a:p>
        </p:txBody>
      </p:sp>
      <p:sp>
        <p:nvSpPr>
          <p:cNvPr id="435415" name="Rectangle-215"/>
          <p:cNvSpPr>
            <a:spLocks noChangeArrowheads="1"/>
          </p:cNvSpPr>
          <p:nvPr/>
        </p:nvSpPr>
        <p:spPr bwMode="auto">
          <a:xfrm>
            <a:off x="5092700" y="5578475"/>
            <a:ext cx="873125" cy="179387"/>
          </a:xfrm>
          <a:prstGeom prst="rect">
            <a:avLst/>
          </a:prstGeom>
          <a:noFill/>
          <a:ln w="9525">
            <a:noFill/>
            <a:miter lim="800000"/>
            <a:headEnd/>
            <a:tailEnd/>
          </a:ln>
        </p:spPr>
        <p:txBody>
          <a:bodyPr wrap="none" lIns="0" tIns="0" rIns="0" bIns="0">
            <a:spAutoFit/>
          </a:bodyPr>
          <a:lstStyle/>
          <a:p>
            <a:pPr>
              <a:lnSpc>
                <a:spcPct val="90000"/>
              </a:lnSpc>
              <a:spcBef>
                <a:spcPct val="60000"/>
              </a:spcBef>
              <a:buClr>
                <a:srgbClr val="D60093"/>
              </a:buClr>
              <a:buSzPct val="70000"/>
              <a:buFont typeface="Wingdings" pitchFamily="2" charset="2"/>
              <a:buNone/>
            </a:pPr>
            <a:r>
              <a:rPr lang="fr-FR" altLang="zh-CN" sz="1300" b="0">
                <a:solidFill>
                  <a:srgbClr val="000000"/>
                </a:solidFill>
                <a:latin typeface="Arial" charset="0"/>
                <a:ea typeface="SimSun" pitchFamily="2" charset="-122"/>
                <a:cs typeface="Times New Roman" charset="0"/>
              </a:rPr>
              <a:t>Utilisateur2</a:t>
            </a:r>
            <a:r>
              <a:rPr lang="en-IE" altLang="zh-CN" sz="1300" b="0">
                <a:solidFill>
                  <a:srgbClr val="000000"/>
                </a:solidFill>
                <a:latin typeface="Arial" charset="0"/>
                <a:ea typeface="SimSun" pitchFamily="2" charset="-122"/>
                <a:cs typeface="Times New Roman" charset="0"/>
              </a:rPr>
              <a:t> </a:t>
            </a:r>
            <a:endParaRPr lang="en-US" sz="1300" b="0">
              <a:solidFill>
                <a:srgbClr val="000000"/>
              </a:solidFill>
              <a:latin typeface="Arial" charset="0"/>
              <a:ea typeface="SimSun" pitchFamily="2" charset="-122"/>
              <a:cs typeface="Times New Roman" charset="0"/>
            </a:endParaRPr>
          </a:p>
        </p:txBody>
      </p:sp>
      <p:sp>
        <p:nvSpPr>
          <p:cNvPr id="435416" name="AutoShape-216"/>
          <p:cNvSpPr>
            <a:spLocks noChangeArrowheads="1"/>
          </p:cNvSpPr>
          <p:nvPr/>
        </p:nvSpPr>
        <p:spPr bwMode="auto">
          <a:xfrm>
            <a:off x="3876675" y="5972175"/>
            <a:ext cx="1231900" cy="374650"/>
          </a:xfrm>
          <a:prstGeom prst="roundRect">
            <a:avLst>
              <a:gd name="adj" fmla="val 4037"/>
            </a:avLst>
          </a:prstGeom>
          <a:solidFill>
            <a:srgbClr val="8DACD0"/>
          </a:solidFill>
          <a:ln w="19050">
            <a:solidFill>
              <a:srgbClr val="333333"/>
            </a:solidFill>
            <a:round/>
            <a:headEnd/>
            <a:tailEnd/>
          </a:ln>
          <a:effectLst>
            <a:outerShdw dist="53882" dir="2700000" algn="ctr" rotWithShape="0">
              <a:schemeClr val="bg2">
                <a:alpha val="50000"/>
              </a:schemeClr>
            </a:outerShdw>
          </a:effectLst>
        </p:spPr>
        <p:txBody>
          <a:bodyPr wrap="none" tIns="27432" bIns="27432" anchor="ctr"/>
          <a:lstStyle/>
          <a:p>
            <a:pPr algn="ctr">
              <a:lnSpc>
                <a:spcPct val="90000"/>
              </a:lnSpc>
              <a:spcBef>
                <a:spcPct val="60000"/>
              </a:spcBef>
              <a:buClr>
                <a:srgbClr val="D60093"/>
              </a:buClr>
              <a:buSzPct val="70000"/>
              <a:buFont typeface="Wingdings" pitchFamily="2" charset="2"/>
              <a:buNone/>
            </a:pPr>
            <a:r>
              <a:rPr lang="fr-FR" altLang="zh-CN" sz="1900">
                <a:solidFill>
                  <a:srgbClr val="FFFFFF"/>
                </a:solidFill>
                <a:effectLst>
                  <a:outerShdw blurRad="38100" dist="38100" dir="2700000" algn="tl">
                    <a:srgbClr val="000000"/>
                  </a:outerShdw>
                </a:effectLst>
                <a:ea typeface="SimSun" pitchFamily="2" charset="-122"/>
                <a:cs typeface="Times New Roman" charset="0"/>
              </a:rPr>
              <a:t>Priorité 99</a:t>
            </a:r>
            <a:r>
              <a:rPr lang="en-IE" altLang="zh-CN" sz="1900">
                <a:solidFill>
                  <a:srgbClr val="000000"/>
                </a:solidFill>
                <a:effectLst>
                  <a:outerShdw blurRad="38100" dist="38100" dir="2700000" algn="tl">
                    <a:srgbClr val="FFFFFF"/>
                  </a:outerShdw>
                </a:effectLst>
                <a:ea typeface="SimSun" pitchFamily="2" charset="-122"/>
                <a:cs typeface="Times New Roman" charset="0"/>
              </a:rPr>
              <a:t> </a:t>
            </a:r>
            <a:endParaRPr lang="en-US" sz="1900">
              <a:solidFill>
                <a:srgbClr val="000000"/>
              </a:solidFill>
              <a:effectLst>
                <a:outerShdw blurRad="38100" dist="38100" dir="2700000" algn="tl">
                  <a:srgbClr val="FFFFFF"/>
                </a:outerShdw>
              </a:effectLst>
              <a:ea typeface="SimSun" pitchFamily="2" charset="-122"/>
              <a:cs typeface="Times New Roman" charset="0"/>
            </a:endParaRPr>
          </a:p>
        </p:txBody>
      </p:sp>
      <p:pic>
        <p:nvPicPr>
          <p:cNvPr id="435425" name="Picture-225" descr="Document_Writing01"/>
          <p:cNvPicPr>
            <a:picLocks noChangeAspect="1" noChangeArrowheads="1"/>
          </p:cNvPicPr>
          <p:nvPr/>
        </p:nvPicPr>
        <p:blipFill>
          <a:blip r:embed="rId6" cstate="print"/>
          <a:srcRect/>
          <a:stretch>
            <a:fillRect/>
          </a:stretch>
        </p:blipFill>
        <p:spPr bwMode="auto">
          <a:xfrm>
            <a:off x="4681538" y="3219450"/>
            <a:ext cx="814387" cy="1317625"/>
          </a:xfrm>
          <a:prstGeom prst="rect">
            <a:avLst/>
          </a:prstGeom>
          <a:noFill/>
        </p:spPr>
      </p:pic>
      <p:pic>
        <p:nvPicPr>
          <p:cNvPr id="435427" name="Picture-227" descr="Document_Writing01"/>
          <p:cNvPicPr>
            <a:picLocks noChangeAspect="1" noChangeArrowheads="1"/>
          </p:cNvPicPr>
          <p:nvPr/>
        </p:nvPicPr>
        <p:blipFill>
          <a:blip r:embed="rId6" cstate="print"/>
          <a:srcRect/>
          <a:stretch>
            <a:fillRect/>
          </a:stretch>
        </p:blipFill>
        <p:spPr bwMode="auto">
          <a:xfrm>
            <a:off x="5595938" y="3219450"/>
            <a:ext cx="814387" cy="1317625"/>
          </a:xfrm>
          <a:prstGeom prst="rect">
            <a:avLst/>
          </a:prstGeom>
          <a:noFill/>
        </p:spPr>
      </p:pic>
      <p:sp>
        <p:nvSpPr>
          <p:cNvPr id="435429" name="Line-229"/>
          <p:cNvSpPr>
            <a:spLocks noChangeShapeType="1"/>
          </p:cNvSpPr>
          <p:nvPr/>
        </p:nvSpPr>
        <p:spPr bwMode="auto">
          <a:xfrm>
            <a:off x="1685925" y="2012950"/>
            <a:ext cx="795338" cy="0"/>
          </a:xfrm>
          <a:prstGeom prst="line">
            <a:avLst/>
          </a:prstGeom>
          <a:noFill/>
          <a:ln w="57150">
            <a:solidFill>
              <a:srgbClr val="CC0000"/>
            </a:solidFill>
            <a:round/>
            <a:headEnd/>
            <a:tailEnd type="triangle" w="med" len="med"/>
          </a:ln>
          <a:effectLst/>
        </p:spPr>
        <p:txBody>
          <a:bodyPr anchor="ctr"/>
          <a:lstStyle/>
          <a:p>
            <a:endParaRPr lang="fr-FR"/>
          </a:p>
        </p:txBody>
      </p:sp>
      <p:pic>
        <p:nvPicPr>
          <p:cNvPr id="435430" name="Picture-230" descr="Document_Writing01"/>
          <p:cNvPicPr>
            <a:picLocks noChangeAspect="1" noChangeArrowheads="1"/>
          </p:cNvPicPr>
          <p:nvPr/>
        </p:nvPicPr>
        <p:blipFill>
          <a:blip r:embed="rId6" cstate="print"/>
          <a:srcRect/>
          <a:stretch>
            <a:fillRect/>
          </a:stretch>
        </p:blipFill>
        <p:spPr bwMode="auto">
          <a:xfrm>
            <a:off x="969963" y="1281113"/>
            <a:ext cx="814387" cy="1317625"/>
          </a:xfrm>
          <a:prstGeom prst="rect">
            <a:avLst/>
          </a:prstGeom>
          <a:noFill/>
        </p:spPr>
      </p:pic>
      <p:pic>
        <p:nvPicPr>
          <p:cNvPr id="435432" name="Picture-232" descr="Document_Writing01"/>
          <p:cNvPicPr>
            <a:picLocks noChangeAspect="1" noChangeArrowheads="1"/>
          </p:cNvPicPr>
          <p:nvPr/>
        </p:nvPicPr>
        <p:blipFill>
          <a:blip r:embed="rId6" cstate="print"/>
          <a:srcRect/>
          <a:stretch>
            <a:fillRect/>
          </a:stretch>
        </p:blipFill>
        <p:spPr bwMode="auto">
          <a:xfrm>
            <a:off x="969963" y="4676775"/>
            <a:ext cx="814387" cy="1317625"/>
          </a:xfrm>
          <a:prstGeom prst="rect">
            <a:avLst/>
          </a:prstGeom>
          <a:noFill/>
        </p:spPr>
      </p:pic>
      <p:sp>
        <p:nvSpPr>
          <p:cNvPr id="435434" name="Arc-234"/>
          <p:cNvSpPr>
            <a:spLocks/>
          </p:cNvSpPr>
          <p:nvPr/>
        </p:nvSpPr>
        <p:spPr bwMode="auto">
          <a:xfrm>
            <a:off x="4054475" y="2960688"/>
            <a:ext cx="1438275" cy="1274762"/>
          </a:xfrm>
          <a:custGeom>
            <a:avLst/>
            <a:gdLst>
              <a:gd name="G0" fmla="+- 14419 0 0"/>
              <a:gd name="G1" fmla="+- 21600 0 0"/>
              <a:gd name="G2" fmla="+- 21600 0 0"/>
              <a:gd name="T0" fmla="*/ 0 w 27451"/>
              <a:gd name="T1" fmla="*/ 5517 h 21600"/>
              <a:gd name="T2" fmla="*/ 27451 w 27451"/>
              <a:gd name="T3" fmla="*/ 4374 h 21600"/>
              <a:gd name="T4" fmla="*/ 14419 w 27451"/>
              <a:gd name="T5" fmla="*/ 21600 h 21600"/>
            </a:gdLst>
            <a:ahLst/>
            <a:cxnLst>
              <a:cxn ang="0">
                <a:pos x="T0" y="T1"/>
              </a:cxn>
              <a:cxn ang="0">
                <a:pos x="T2" y="T3"/>
              </a:cxn>
              <a:cxn ang="0">
                <a:pos x="T4" y="T5"/>
              </a:cxn>
            </a:cxnLst>
            <a:rect l="0" t="0" r="r" b="b"/>
            <a:pathLst>
              <a:path w="27451" h="21600" fill="none" extrusionOk="0">
                <a:moveTo>
                  <a:pt x="0" y="5517"/>
                </a:moveTo>
                <a:cubicBezTo>
                  <a:pt x="3962" y="1964"/>
                  <a:pt x="9097" y="-1"/>
                  <a:pt x="14419" y="0"/>
                </a:cubicBezTo>
                <a:cubicBezTo>
                  <a:pt x="19123" y="0"/>
                  <a:pt x="23699" y="1535"/>
                  <a:pt x="27450" y="4374"/>
                </a:cubicBezTo>
              </a:path>
              <a:path w="27451" h="21600" stroke="0" extrusionOk="0">
                <a:moveTo>
                  <a:pt x="0" y="5517"/>
                </a:moveTo>
                <a:cubicBezTo>
                  <a:pt x="3962" y="1964"/>
                  <a:pt x="9097" y="-1"/>
                  <a:pt x="14419" y="0"/>
                </a:cubicBezTo>
                <a:cubicBezTo>
                  <a:pt x="19123" y="0"/>
                  <a:pt x="23699" y="1535"/>
                  <a:pt x="27450" y="4374"/>
                </a:cubicBezTo>
                <a:lnTo>
                  <a:pt x="14419" y="21600"/>
                </a:lnTo>
                <a:close/>
              </a:path>
            </a:pathLst>
          </a:custGeom>
          <a:noFill/>
          <a:ln w="57150">
            <a:solidFill>
              <a:srgbClr val="CC0000"/>
            </a:solidFill>
            <a:round/>
            <a:headEnd/>
            <a:tailEnd type="triangle" w="med" len="med"/>
          </a:ln>
          <a:effectLst>
            <a:outerShdw dist="35921" dir="2700000" algn="ctr" rotWithShape="0">
              <a:schemeClr val="bg1"/>
            </a:outerShdw>
          </a:effectLst>
        </p:spPr>
        <p:txBody>
          <a:bodyPr anchor="ctr"/>
          <a:lstStyle/>
          <a:p>
            <a:endParaRPr lang="fr-FR"/>
          </a:p>
        </p:txBody>
      </p:sp>
      <p:pic>
        <p:nvPicPr>
          <p:cNvPr id="435457" name="Picture 257"/>
          <p:cNvPicPr>
            <a:picLocks noGrp="1" noChangeAspect="1" noChangeArrowheads="1"/>
          </p:cNvPicPr>
          <p:nvPr>
            <p:ph sz="half" idx="1"/>
          </p:nvPr>
        </p:nvPicPr>
        <p:blipFill>
          <a:blip r:embed="rId4"/>
          <a:srcRect/>
          <a:stretch>
            <a:fillRect/>
          </a:stretch>
        </p:blipFill>
        <p:spPr>
          <a:xfrm>
            <a:off x="2489200" y="877888"/>
            <a:ext cx="3365500" cy="1746250"/>
          </a:xfrm>
          <a:ln algn="ctr"/>
        </p:spPr>
      </p:pic>
      <p:sp>
        <p:nvSpPr>
          <p:cNvPr id="435420" name="Rectangle-220"/>
          <p:cNvSpPr>
            <a:spLocks noChangeArrowheads="1"/>
          </p:cNvSpPr>
          <p:nvPr/>
        </p:nvSpPr>
        <p:spPr bwMode="auto">
          <a:xfrm>
            <a:off x="2855913" y="1787526"/>
            <a:ext cx="754063" cy="179388"/>
          </a:xfrm>
          <a:prstGeom prst="rect">
            <a:avLst/>
          </a:prstGeom>
          <a:noFill/>
          <a:ln w="9525">
            <a:noFill/>
            <a:miter lim="800000"/>
            <a:headEnd/>
            <a:tailEnd/>
          </a:ln>
        </p:spPr>
        <p:txBody>
          <a:bodyPr wrap="none" lIns="0" tIns="0" rIns="0" bIns="0">
            <a:spAutoFit/>
          </a:bodyPr>
          <a:lstStyle/>
          <a:p>
            <a:pPr>
              <a:lnSpc>
                <a:spcPct val="90000"/>
              </a:lnSpc>
              <a:spcBef>
                <a:spcPct val="60000"/>
              </a:spcBef>
              <a:buClr>
                <a:srgbClr val="D60093"/>
              </a:buClr>
              <a:buSzPct val="70000"/>
              <a:buFont typeface="Wingdings" pitchFamily="2" charset="2"/>
              <a:buNone/>
            </a:pPr>
            <a:r>
              <a:rPr lang="fr-FR" altLang="zh-CN" sz="1300" b="0" dirty="0">
                <a:solidFill>
                  <a:srgbClr val="000000"/>
                </a:solidFill>
                <a:latin typeface="Arial" charset="0"/>
                <a:ea typeface="SimSun" pitchFamily="2" charset="-122"/>
                <a:cs typeface="Times New Roman" charset="0"/>
              </a:rPr>
              <a:t>Word.doc</a:t>
            </a:r>
            <a:r>
              <a:rPr lang="en-IE" altLang="zh-CN" sz="1300" b="0" dirty="0">
                <a:solidFill>
                  <a:srgbClr val="000000"/>
                </a:solidFill>
                <a:latin typeface="Arial" charset="0"/>
                <a:ea typeface="SimSun" pitchFamily="2" charset="-122"/>
                <a:cs typeface="Times New Roman" charset="0"/>
              </a:rPr>
              <a:t> </a:t>
            </a:r>
            <a:endParaRPr lang="en-US" sz="1300" b="0" dirty="0">
              <a:solidFill>
                <a:srgbClr val="000000"/>
              </a:solidFill>
              <a:latin typeface="Arial" charset="0"/>
              <a:ea typeface="SimSun" pitchFamily="2" charset="-122"/>
              <a:cs typeface="Times New Roman" charset="0"/>
            </a:endParaRPr>
          </a:p>
        </p:txBody>
      </p:sp>
      <p:sp>
        <p:nvSpPr>
          <p:cNvPr id="435421" name="Rectangle-221"/>
          <p:cNvSpPr>
            <a:spLocks noChangeArrowheads="1"/>
          </p:cNvSpPr>
          <p:nvPr/>
        </p:nvSpPr>
        <p:spPr bwMode="auto">
          <a:xfrm>
            <a:off x="4872038" y="1785938"/>
            <a:ext cx="873125" cy="179388"/>
          </a:xfrm>
          <a:prstGeom prst="rect">
            <a:avLst/>
          </a:prstGeom>
          <a:noFill/>
          <a:ln w="9525">
            <a:noFill/>
            <a:miter lim="800000"/>
            <a:headEnd/>
            <a:tailEnd/>
          </a:ln>
        </p:spPr>
        <p:txBody>
          <a:bodyPr wrap="none" lIns="0" tIns="0" rIns="0" bIns="0">
            <a:spAutoFit/>
          </a:bodyPr>
          <a:lstStyle/>
          <a:p>
            <a:pPr>
              <a:lnSpc>
                <a:spcPct val="90000"/>
              </a:lnSpc>
              <a:spcBef>
                <a:spcPct val="60000"/>
              </a:spcBef>
              <a:buClr>
                <a:srgbClr val="D60093"/>
              </a:buClr>
              <a:buSzPct val="70000"/>
              <a:buFont typeface="Wingdings" pitchFamily="2" charset="2"/>
              <a:buNone/>
            </a:pPr>
            <a:r>
              <a:rPr lang="fr-FR" altLang="zh-CN" sz="1300" b="0">
                <a:solidFill>
                  <a:srgbClr val="000000"/>
                </a:solidFill>
                <a:latin typeface="Arial" charset="0"/>
                <a:ea typeface="SimSun" pitchFamily="2" charset="-122"/>
                <a:cs typeface="Times New Roman" charset="0"/>
              </a:rPr>
              <a:t>Utilisateur1</a:t>
            </a:r>
            <a:r>
              <a:rPr lang="en-IE" altLang="zh-CN" sz="1300" b="0">
                <a:solidFill>
                  <a:srgbClr val="000000"/>
                </a:solidFill>
                <a:latin typeface="Arial" charset="0"/>
                <a:ea typeface="SimSun" pitchFamily="2" charset="-122"/>
                <a:cs typeface="Times New Roman" charset="0"/>
              </a:rPr>
              <a:t> </a:t>
            </a:r>
            <a:endParaRPr lang="en-US" sz="1300" b="0">
              <a:solidFill>
                <a:srgbClr val="000000"/>
              </a:solidFill>
              <a:latin typeface="Arial" charset="0"/>
              <a:ea typeface="SimSun" pitchFamily="2" charset="-122"/>
              <a:cs typeface="Times New Roman" charset="0"/>
            </a:endParaRPr>
          </a:p>
        </p:txBody>
      </p:sp>
      <p:sp>
        <p:nvSpPr>
          <p:cNvPr id="435419" name="Text-Box-219"/>
          <p:cNvSpPr txBox="1">
            <a:spLocks noChangeArrowheads="1"/>
          </p:cNvSpPr>
          <p:nvPr/>
        </p:nvSpPr>
        <p:spPr bwMode="auto">
          <a:xfrm>
            <a:off x="2684463" y="903288"/>
            <a:ext cx="2139950" cy="336550"/>
          </a:xfrm>
          <a:prstGeom prst="rect">
            <a:avLst/>
          </a:prstGeom>
          <a:noFill/>
          <a:ln w="9525" algn="ctr">
            <a:noFill/>
            <a:miter lim="800000"/>
            <a:headEnd/>
            <a:tailEnd/>
          </a:ln>
          <a:effectLst/>
        </p:spPr>
        <p:txBody>
          <a:bodyPr wrap="none">
            <a:spAutoFit/>
          </a:bodyPr>
          <a:lstStyle/>
          <a:p>
            <a:r>
              <a:rPr lang="en-US" altLang="zh-CN" sz="1600" dirty="0">
                <a:solidFill>
                  <a:srgbClr val="000000"/>
                </a:solidFill>
                <a:latin typeface="Times New Roman" charset="0"/>
                <a:ea typeface="SimSun" pitchFamily="2" charset="-122"/>
                <a:cs typeface="Times New Roman" charset="0"/>
              </a:rPr>
              <a:t> </a:t>
            </a:r>
            <a:r>
              <a:rPr lang="fr-FR" altLang="zh-CN" sz="1400" dirty="0">
                <a:solidFill>
                  <a:srgbClr val="FFFFFF"/>
                </a:solidFill>
                <a:latin typeface="Tahoma" pitchFamily="34" charset="0"/>
                <a:ea typeface="SimSun" pitchFamily="2" charset="-122"/>
                <a:cs typeface="Times New Roman" charset="0"/>
              </a:rPr>
              <a:t>Impression générale</a:t>
            </a:r>
            <a:r>
              <a:rPr lang="en-IE" altLang="zh-CN" sz="1600" dirty="0">
                <a:solidFill>
                  <a:srgbClr val="000000"/>
                </a:solidFill>
                <a:latin typeface="Arial" charset="0"/>
                <a:ea typeface="SimSun" pitchFamily="2" charset="-122"/>
                <a:cs typeface="Times New Roman" charset="0"/>
              </a:rPr>
              <a:t> </a:t>
            </a:r>
            <a:endParaRPr lang="en-US" sz="1600" dirty="0">
              <a:solidFill>
                <a:srgbClr val="000000"/>
              </a:solidFill>
              <a:latin typeface="Arial" charset="0"/>
              <a:ea typeface="SimSun" pitchFamily="2" charset="-122"/>
              <a:cs typeface="Times New Roman" charset="0"/>
            </a:endParaRPr>
          </a:p>
        </p:txBody>
      </p:sp>
      <p:sp>
        <p:nvSpPr>
          <p:cNvPr id="435422" name="AutoShape-222"/>
          <p:cNvSpPr>
            <a:spLocks noChangeArrowheads="1"/>
          </p:cNvSpPr>
          <p:nvPr/>
        </p:nvSpPr>
        <p:spPr bwMode="auto">
          <a:xfrm>
            <a:off x="3556001" y="2478088"/>
            <a:ext cx="1231900" cy="374650"/>
          </a:xfrm>
          <a:prstGeom prst="roundRect">
            <a:avLst>
              <a:gd name="adj" fmla="val 4037"/>
            </a:avLst>
          </a:prstGeom>
          <a:solidFill>
            <a:srgbClr val="8DACD0"/>
          </a:solidFill>
          <a:ln w="19050">
            <a:solidFill>
              <a:srgbClr val="333333"/>
            </a:solidFill>
            <a:round/>
            <a:headEnd/>
            <a:tailEnd/>
          </a:ln>
          <a:effectLst>
            <a:outerShdw dist="53882" dir="2700000" algn="ctr" rotWithShape="0">
              <a:schemeClr val="bg2">
                <a:alpha val="50000"/>
              </a:schemeClr>
            </a:outerShdw>
          </a:effectLst>
        </p:spPr>
        <p:txBody>
          <a:bodyPr wrap="none" tIns="27432" bIns="27432" anchor="ctr"/>
          <a:lstStyle/>
          <a:p>
            <a:pPr algn="ctr">
              <a:lnSpc>
                <a:spcPct val="90000"/>
              </a:lnSpc>
              <a:spcBef>
                <a:spcPct val="60000"/>
              </a:spcBef>
              <a:buClr>
                <a:srgbClr val="D60093"/>
              </a:buClr>
              <a:buSzPct val="70000"/>
              <a:buFont typeface="Wingdings" pitchFamily="2" charset="2"/>
              <a:buNone/>
            </a:pPr>
            <a:r>
              <a:rPr lang="fr-FR" altLang="zh-CN" sz="1900" dirty="0">
                <a:solidFill>
                  <a:srgbClr val="FFFFFF"/>
                </a:solidFill>
                <a:effectLst>
                  <a:outerShdw blurRad="38100" dist="38100" dir="2700000" algn="tl">
                    <a:srgbClr val="000000"/>
                  </a:outerShdw>
                </a:effectLst>
                <a:ea typeface="SimSun" pitchFamily="2" charset="-122"/>
                <a:cs typeface="Times New Roman" charset="0"/>
              </a:rPr>
              <a:t>Priorité 1</a:t>
            </a:r>
            <a:r>
              <a:rPr lang="en-IE" altLang="zh-CN" sz="1900" dirty="0">
                <a:solidFill>
                  <a:srgbClr val="000000"/>
                </a:solidFill>
                <a:effectLst>
                  <a:outerShdw blurRad="38100" dist="38100" dir="2700000" algn="tl">
                    <a:srgbClr val="FFFFFF"/>
                  </a:outerShdw>
                </a:effectLst>
                <a:ea typeface="SimSun" pitchFamily="2" charset="-122"/>
                <a:cs typeface="Times New Roman" charset="0"/>
              </a:rPr>
              <a:t> </a:t>
            </a:r>
            <a:endParaRPr lang="en-US" sz="1900" dirty="0">
              <a:solidFill>
                <a:srgbClr val="000000"/>
              </a:solidFill>
              <a:effectLst>
                <a:outerShdw blurRad="38100" dist="38100" dir="2700000" algn="tl">
                  <a:srgbClr val="FFFFFF"/>
                </a:outerShdw>
              </a:effectLst>
              <a:ea typeface="SimSun" pitchFamily="2" charset="-122"/>
              <a:cs typeface="Times New Roman" charset="0"/>
            </a:endParaRPr>
          </a:p>
        </p:txBody>
      </p:sp>
      <p:sp>
        <p:nvSpPr>
          <p:cNvPr id="435460" name="AutoShape-224"/>
          <p:cNvSpPr>
            <a:spLocks noChangeArrowheads="1"/>
          </p:cNvSpPr>
          <p:nvPr/>
        </p:nvSpPr>
        <p:spPr bwMode="auto">
          <a:xfrm>
            <a:off x="5548313" y="3695700"/>
            <a:ext cx="946150" cy="381000"/>
          </a:xfrm>
          <a:prstGeom prst="roundRect">
            <a:avLst>
              <a:gd name="adj" fmla="val 4167"/>
            </a:avLst>
          </a:prstGeom>
          <a:solidFill>
            <a:schemeClr val="bg1"/>
          </a:solidFill>
          <a:ln w="9525">
            <a:solidFill>
              <a:srgbClr val="969696"/>
            </a:solidFill>
            <a:round/>
            <a:headEnd/>
            <a:tailEnd/>
          </a:ln>
          <a:effectLst>
            <a:outerShdw dist="35921" dir="2700000" algn="ctr" rotWithShape="0">
              <a:srgbClr val="AFAFAF"/>
            </a:outerShdw>
          </a:effectLst>
        </p:spPr>
        <p:txBody>
          <a:bodyPr lIns="36000" rIns="36000" anchor="ctr"/>
          <a:lstStyle/>
          <a:p>
            <a:pPr algn="ctr">
              <a:lnSpc>
                <a:spcPct val="70000"/>
              </a:lnSpc>
            </a:pPr>
            <a:r>
              <a:rPr lang="fr-FR" altLang="zh-CN" sz="1500">
                <a:ea typeface="SimSun" pitchFamily="2" charset="-122"/>
                <a:cs typeface="Times New Roman" charset="0"/>
              </a:rPr>
              <a:t>Utilisateur2</a:t>
            </a:r>
            <a:r>
              <a:rPr lang="en-IE" altLang="zh-CN" sz="1500">
                <a:ea typeface="SimSun" pitchFamily="2" charset="-122"/>
                <a:cs typeface="Times New Roman" charset="0"/>
              </a:rPr>
              <a:t> </a:t>
            </a:r>
            <a:endParaRPr lang="en-US" sz="1500">
              <a:ea typeface="SimSun" pitchFamily="2" charset="-122"/>
              <a:cs typeface="Times New Roman" charset="0"/>
            </a:endParaRPr>
          </a:p>
        </p:txBody>
      </p:sp>
      <p:sp>
        <p:nvSpPr>
          <p:cNvPr id="435461" name="AutoShape-224"/>
          <p:cNvSpPr>
            <a:spLocks noChangeArrowheads="1"/>
          </p:cNvSpPr>
          <p:nvPr/>
        </p:nvSpPr>
        <p:spPr bwMode="auto">
          <a:xfrm>
            <a:off x="4548889" y="3707575"/>
            <a:ext cx="946150" cy="381000"/>
          </a:xfrm>
          <a:prstGeom prst="roundRect">
            <a:avLst>
              <a:gd name="adj" fmla="val 4167"/>
            </a:avLst>
          </a:prstGeom>
          <a:solidFill>
            <a:schemeClr val="bg1"/>
          </a:solidFill>
          <a:ln w="9525">
            <a:solidFill>
              <a:srgbClr val="969696"/>
            </a:solidFill>
            <a:round/>
            <a:headEnd/>
            <a:tailEnd/>
          </a:ln>
          <a:effectLst>
            <a:outerShdw dist="35921" dir="2700000" algn="ctr" rotWithShape="0">
              <a:srgbClr val="AFAFAF"/>
            </a:outerShdw>
          </a:effectLst>
        </p:spPr>
        <p:txBody>
          <a:bodyPr lIns="36000" rIns="36000" anchor="ctr"/>
          <a:lstStyle/>
          <a:p>
            <a:pPr algn="ctr">
              <a:lnSpc>
                <a:spcPct val="70000"/>
              </a:lnSpc>
            </a:pPr>
            <a:r>
              <a:rPr lang="fr-FR" altLang="zh-CN" sz="1500" dirty="0">
                <a:ea typeface="SimSun" pitchFamily="2" charset="-122"/>
                <a:cs typeface="Times New Roman" charset="0"/>
              </a:rPr>
              <a:t>Utilisateur1</a:t>
            </a:r>
            <a:r>
              <a:rPr lang="en-IE" altLang="zh-CN" sz="1500" dirty="0">
                <a:ea typeface="SimSun" pitchFamily="2" charset="-122"/>
                <a:cs typeface="Times New Roman" charset="0"/>
              </a:rPr>
              <a:t> </a:t>
            </a:r>
            <a:endParaRPr lang="en-US" sz="1500" dirty="0">
              <a:ea typeface="SimSun" pitchFamily="2" charset="-122"/>
              <a:cs typeface="Times New Roman" charset="0"/>
            </a:endParaRPr>
          </a:p>
        </p:txBody>
      </p:sp>
      <p:sp>
        <p:nvSpPr>
          <p:cNvPr id="435462" name="AutoShape-224"/>
          <p:cNvSpPr>
            <a:spLocks noChangeArrowheads="1"/>
          </p:cNvSpPr>
          <p:nvPr/>
        </p:nvSpPr>
        <p:spPr bwMode="auto">
          <a:xfrm>
            <a:off x="768350" y="1858963"/>
            <a:ext cx="946150" cy="381000"/>
          </a:xfrm>
          <a:prstGeom prst="roundRect">
            <a:avLst>
              <a:gd name="adj" fmla="val 4167"/>
            </a:avLst>
          </a:prstGeom>
          <a:solidFill>
            <a:schemeClr val="bg1"/>
          </a:solidFill>
          <a:ln w="9525">
            <a:solidFill>
              <a:srgbClr val="969696"/>
            </a:solidFill>
            <a:round/>
            <a:headEnd/>
            <a:tailEnd/>
          </a:ln>
          <a:effectLst>
            <a:outerShdw dist="35921" dir="2700000" algn="ctr" rotWithShape="0">
              <a:srgbClr val="AFAFAF"/>
            </a:outerShdw>
          </a:effectLst>
        </p:spPr>
        <p:txBody>
          <a:bodyPr lIns="36000" rIns="36000" anchor="ctr"/>
          <a:lstStyle/>
          <a:p>
            <a:pPr algn="ctr">
              <a:lnSpc>
                <a:spcPct val="70000"/>
              </a:lnSpc>
            </a:pPr>
            <a:r>
              <a:rPr lang="fr-FR" altLang="zh-CN" sz="1500">
                <a:ea typeface="SimSun" pitchFamily="2" charset="-122"/>
                <a:cs typeface="Times New Roman" charset="0"/>
              </a:rPr>
              <a:t>Utilisateur1</a:t>
            </a:r>
            <a:r>
              <a:rPr lang="en-IE" altLang="zh-CN" sz="1500">
                <a:ea typeface="SimSun" pitchFamily="2" charset="-122"/>
                <a:cs typeface="Times New Roman" charset="0"/>
              </a:rPr>
              <a:t> </a:t>
            </a:r>
            <a:endParaRPr lang="en-US" sz="1500">
              <a:ea typeface="SimSun" pitchFamily="2" charset="-122"/>
              <a:cs typeface="Times New Roman" charset="0"/>
            </a:endParaRPr>
          </a:p>
        </p:txBody>
      </p:sp>
      <p:sp>
        <p:nvSpPr>
          <p:cNvPr id="435463" name="AutoShape-224"/>
          <p:cNvSpPr>
            <a:spLocks noChangeArrowheads="1"/>
          </p:cNvSpPr>
          <p:nvPr/>
        </p:nvSpPr>
        <p:spPr bwMode="auto">
          <a:xfrm>
            <a:off x="771525" y="5346700"/>
            <a:ext cx="946150" cy="381000"/>
          </a:xfrm>
          <a:prstGeom prst="roundRect">
            <a:avLst>
              <a:gd name="adj" fmla="val 4167"/>
            </a:avLst>
          </a:prstGeom>
          <a:solidFill>
            <a:schemeClr val="bg1"/>
          </a:solidFill>
          <a:ln w="9525">
            <a:solidFill>
              <a:srgbClr val="969696"/>
            </a:solidFill>
            <a:round/>
            <a:headEnd/>
            <a:tailEnd/>
          </a:ln>
          <a:effectLst>
            <a:outerShdw dist="35921" dir="2700000" algn="ctr" rotWithShape="0">
              <a:srgbClr val="AFAFAF"/>
            </a:outerShdw>
          </a:effectLst>
        </p:spPr>
        <p:txBody>
          <a:bodyPr lIns="36000" rIns="36000" anchor="ctr"/>
          <a:lstStyle/>
          <a:p>
            <a:pPr algn="ctr">
              <a:lnSpc>
                <a:spcPct val="70000"/>
              </a:lnSpc>
            </a:pPr>
            <a:r>
              <a:rPr lang="fr-FR" altLang="zh-CN" sz="1500">
                <a:ea typeface="SimSun" pitchFamily="2" charset="-122"/>
                <a:cs typeface="Times New Roman" charset="0"/>
              </a:rPr>
              <a:t>Utilisateur2</a:t>
            </a:r>
            <a:r>
              <a:rPr lang="en-IE" altLang="zh-CN" sz="1500">
                <a:ea typeface="SimSun" pitchFamily="2" charset="-122"/>
                <a:cs typeface="Times New Roman" charset="0"/>
              </a:rPr>
              <a:t> </a:t>
            </a:r>
            <a:endParaRPr lang="en-US" sz="1500">
              <a:ea typeface="SimSun" pitchFamily="2" charset="-122"/>
              <a:cs typeface="Times New Roman" charset="0"/>
            </a:endParaRPr>
          </a:p>
        </p:txBody>
      </p:sp>
      <p:sp>
        <p:nvSpPr>
          <p:cNvPr id="435468" name="Rectangle-221"/>
          <p:cNvSpPr>
            <a:spLocks noChangeArrowheads="1"/>
          </p:cNvSpPr>
          <p:nvPr/>
        </p:nvSpPr>
        <p:spPr bwMode="auto">
          <a:xfrm>
            <a:off x="2624138" y="1262063"/>
            <a:ext cx="2730500" cy="179387"/>
          </a:xfrm>
          <a:prstGeom prst="rect">
            <a:avLst/>
          </a:prstGeom>
          <a:noFill/>
          <a:ln w="9525">
            <a:noFill/>
            <a:miter lim="800000"/>
            <a:headEnd/>
            <a:tailEnd/>
          </a:ln>
        </p:spPr>
        <p:txBody>
          <a:bodyPr lIns="0" tIns="0" rIns="0" bIns="0">
            <a:spAutoFit/>
          </a:bodyPr>
          <a:lstStyle/>
          <a:p>
            <a:pPr>
              <a:lnSpc>
                <a:spcPct val="90000"/>
              </a:lnSpc>
              <a:spcBef>
                <a:spcPct val="60000"/>
              </a:spcBef>
              <a:buClr>
                <a:srgbClr val="D60093"/>
              </a:buClr>
              <a:buSzPct val="70000"/>
              <a:buFont typeface="Wingdings" pitchFamily="2" charset="2"/>
              <a:buNone/>
            </a:pPr>
            <a:r>
              <a:rPr lang="fr-FR" altLang="zh-CN" sz="1300" b="0" u="sng" dirty="0">
                <a:solidFill>
                  <a:srgbClr val="000000"/>
                </a:solidFill>
                <a:latin typeface="Arial" charset="0"/>
                <a:ea typeface="SimSun" pitchFamily="2" charset="-122"/>
                <a:cs typeface="Times New Roman" charset="0"/>
              </a:rPr>
              <a:t>I</a:t>
            </a:r>
            <a:r>
              <a:rPr lang="fr-FR" altLang="zh-CN" sz="1300" b="0" dirty="0">
                <a:solidFill>
                  <a:srgbClr val="000000"/>
                </a:solidFill>
                <a:latin typeface="Arial" charset="0"/>
                <a:ea typeface="SimSun" pitchFamily="2" charset="-122"/>
                <a:cs typeface="Times New Roman" charset="0"/>
              </a:rPr>
              <a:t>mprimante  </a:t>
            </a:r>
            <a:r>
              <a:rPr lang="fr-FR" altLang="zh-CN" sz="1300" b="0" u="sng" dirty="0">
                <a:solidFill>
                  <a:srgbClr val="000000"/>
                </a:solidFill>
                <a:latin typeface="Arial" charset="0"/>
                <a:ea typeface="SimSun" pitchFamily="2" charset="-122"/>
                <a:cs typeface="Times New Roman" charset="0"/>
              </a:rPr>
              <a:t>D</a:t>
            </a:r>
            <a:r>
              <a:rPr lang="fr-FR" altLang="zh-CN" sz="1300" b="0" dirty="0">
                <a:solidFill>
                  <a:srgbClr val="000000"/>
                </a:solidFill>
                <a:latin typeface="Arial" charset="0"/>
                <a:ea typeface="SimSun" pitchFamily="2" charset="-122"/>
                <a:cs typeface="Times New Roman" charset="0"/>
              </a:rPr>
              <a:t>ocument  </a:t>
            </a:r>
            <a:r>
              <a:rPr lang="fr-FR" altLang="zh-CN" sz="1300" b="0" u="sng" dirty="0">
                <a:solidFill>
                  <a:srgbClr val="000000"/>
                </a:solidFill>
                <a:latin typeface="Arial" charset="0"/>
                <a:ea typeface="SimSun" pitchFamily="2" charset="-122"/>
                <a:cs typeface="Times New Roman" charset="0"/>
              </a:rPr>
              <a:t>A</a:t>
            </a:r>
            <a:r>
              <a:rPr lang="fr-FR" altLang="zh-CN" sz="1300" b="0" dirty="0">
                <a:solidFill>
                  <a:srgbClr val="000000"/>
                </a:solidFill>
                <a:latin typeface="Arial" charset="0"/>
                <a:ea typeface="SimSun" pitchFamily="2" charset="-122"/>
                <a:cs typeface="Times New Roman" charset="0"/>
              </a:rPr>
              <a:t>ffichage  </a:t>
            </a:r>
            <a:r>
              <a:rPr lang="es-ES" altLang="zh-CN" sz="1300" b="0" u="sng" dirty="0">
                <a:solidFill>
                  <a:srgbClr val="000000"/>
                </a:solidFill>
                <a:latin typeface="Arial" charset="0"/>
                <a:ea typeface="SimSun" pitchFamily="2" charset="-122"/>
                <a:cs typeface="Times New Roman" charset="0"/>
              </a:rPr>
              <a:t>?</a:t>
            </a:r>
            <a:endParaRPr lang="en-US" sz="1300" b="0" u="sng" dirty="0">
              <a:solidFill>
                <a:srgbClr val="000000"/>
              </a:solidFill>
              <a:latin typeface="Arial" charset="0"/>
              <a:ea typeface="SimSun" pitchFamily="2" charset="-122"/>
              <a:cs typeface="Times New Roman" charset="0"/>
            </a:endParaRPr>
          </a:p>
        </p:txBody>
      </p:sp>
      <p:sp>
        <p:nvSpPr>
          <p:cNvPr id="435469" name="Rectangle-221"/>
          <p:cNvSpPr>
            <a:spLocks noChangeArrowheads="1"/>
          </p:cNvSpPr>
          <p:nvPr/>
        </p:nvSpPr>
        <p:spPr bwMode="auto">
          <a:xfrm>
            <a:off x="2865438" y="5059363"/>
            <a:ext cx="2730500" cy="179387"/>
          </a:xfrm>
          <a:prstGeom prst="rect">
            <a:avLst/>
          </a:prstGeom>
          <a:noFill/>
          <a:ln w="9525">
            <a:noFill/>
            <a:miter lim="800000"/>
            <a:headEnd/>
            <a:tailEnd/>
          </a:ln>
        </p:spPr>
        <p:txBody>
          <a:bodyPr lIns="0" tIns="0" rIns="0" bIns="0">
            <a:spAutoFit/>
          </a:bodyPr>
          <a:lstStyle/>
          <a:p>
            <a:pPr>
              <a:lnSpc>
                <a:spcPct val="90000"/>
              </a:lnSpc>
              <a:spcBef>
                <a:spcPct val="60000"/>
              </a:spcBef>
              <a:buClr>
                <a:srgbClr val="D60093"/>
              </a:buClr>
              <a:buSzPct val="70000"/>
              <a:buFont typeface="Wingdings" pitchFamily="2" charset="2"/>
              <a:buNone/>
            </a:pPr>
            <a:r>
              <a:rPr lang="fr-FR" altLang="zh-CN" sz="1300" b="0" u="sng" dirty="0">
                <a:solidFill>
                  <a:srgbClr val="000000"/>
                </a:solidFill>
                <a:latin typeface="Arial" charset="0"/>
                <a:ea typeface="SimSun" pitchFamily="2" charset="-122"/>
                <a:cs typeface="Times New Roman" charset="0"/>
              </a:rPr>
              <a:t>I</a:t>
            </a:r>
            <a:r>
              <a:rPr lang="fr-FR" altLang="zh-CN" sz="1300" b="0" dirty="0">
                <a:solidFill>
                  <a:srgbClr val="000000"/>
                </a:solidFill>
                <a:latin typeface="Arial" charset="0"/>
                <a:ea typeface="SimSun" pitchFamily="2" charset="-122"/>
                <a:cs typeface="Times New Roman" charset="0"/>
              </a:rPr>
              <a:t>mprimante  </a:t>
            </a:r>
            <a:r>
              <a:rPr lang="fr-FR" altLang="zh-CN" sz="1300" b="0" u="sng" dirty="0">
                <a:solidFill>
                  <a:srgbClr val="000000"/>
                </a:solidFill>
                <a:latin typeface="Arial" charset="0"/>
                <a:ea typeface="SimSun" pitchFamily="2" charset="-122"/>
                <a:cs typeface="Times New Roman" charset="0"/>
              </a:rPr>
              <a:t>D</a:t>
            </a:r>
            <a:r>
              <a:rPr lang="fr-FR" altLang="zh-CN" sz="1300" b="0" dirty="0">
                <a:solidFill>
                  <a:srgbClr val="000000"/>
                </a:solidFill>
                <a:latin typeface="Arial" charset="0"/>
                <a:ea typeface="SimSun" pitchFamily="2" charset="-122"/>
                <a:cs typeface="Times New Roman" charset="0"/>
              </a:rPr>
              <a:t>ocument  </a:t>
            </a:r>
            <a:r>
              <a:rPr lang="fr-FR" altLang="zh-CN" sz="1300" b="0" u="sng" dirty="0">
                <a:solidFill>
                  <a:srgbClr val="000000"/>
                </a:solidFill>
                <a:latin typeface="Arial" charset="0"/>
                <a:ea typeface="SimSun" pitchFamily="2" charset="-122"/>
                <a:cs typeface="Times New Roman" charset="0"/>
              </a:rPr>
              <a:t>A</a:t>
            </a:r>
            <a:r>
              <a:rPr lang="fr-FR" altLang="zh-CN" sz="1300" b="0" dirty="0">
                <a:solidFill>
                  <a:srgbClr val="000000"/>
                </a:solidFill>
                <a:latin typeface="Arial" charset="0"/>
                <a:ea typeface="SimSun" pitchFamily="2" charset="-122"/>
                <a:cs typeface="Times New Roman" charset="0"/>
              </a:rPr>
              <a:t>ffichage  </a:t>
            </a:r>
            <a:r>
              <a:rPr lang="es-ES" altLang="zh-CN" sz="1300" b="0" u="sng" dirty="0">
                <a:solidFill>
                  <a:srgbClr val="000000"/>
                </a:solidFill>
                <a:latin typeface="Arial" charset="0"/>
                <a:ea typeface="SimSun" pitchFamily="2" charset="-122"/>
                <a:cs typeface="Times New Roman" charset="0"/>
              </a:rPr>
              <a:t>?</a:t>
            </a:r>
            <a:endParaRPr lang="en-US" sz="1300" b="0" u="sng" dirty="0">
              <a:solidFill>
                <a:srgbClr val="000000"/>
              </a:solidFill>
              <a:latin typeface="Arial" charset="0"/>
              <a:ea typeface="SimSun" pitchFamily="2" charset="-122"/>
              <a:cs typeface="Times New Roman" charset="0"/>
            </a:endParaRPr>
          </a:p>
        </p:txBody>
      </p:sp>
      <p:sp>
        <p:nvSpPr>
          <p:cNvPr id="37" name="Rectangle-2"/>
          <p:cNvSpPr>
            <a:spLocks noGrp="1" noChangeArrowheads="1"/>
          </p:cNvSpPr>
          <p:nvPr>
            <p:ph type="title"/>
          </p:nvPr>
        </p:nvSpPr>
        <p:spPr>
          <a:xfrm>
            <a:off x="301752" y="228600"/>
            <a:ext cx="8534400" cy="758952"/>
          </a:xfrm>
        </p:spPr>
        <p:txBody>
          <a:bodyPr>
            <a:normAutofit fontScale="90000"/>
          </a:bodyPr>
          <a:lstStyle/>
          <a:p>
            <a:r>
              <a:rPr lang="fr-FR" altLang="zh-CN" b="1" dirty="0">
                <a:solidFill>
                  <a:srgbClr val="000000"/>
                </a:solidFill>
                <a:ea typeface="SimSun" pitchFamily="2" charset="-122"/>
                <a:cs typeface="Times New Roman" charset="0"/>
              </a:rPr>
              <a:t>6. Définition des priorités d'imprimantes</a:t>
            </a:r>
            <a:r>
              <a:rPr lang="en-IE" altLang="zh-CN" b="1" dirty="0">
                <a:solidFill>
                  <a:srgbClr val="000000"/>
                </a:solidFill>
                <a:ea typeface="SimSun" pitchFamily="2" charset="-122"/>
              </a:rPr>
              <a:t> </a:t>
            </a:r>
            <a:endParaRPr lang="en-US" b="1" dirty="0">
              <a:solidFill>
                <a:srgbClr val="000000"/>
              </a:solidFill>
            </a:endParaRPr>
          </a:p>
        </p:txBody>
      </p:sp>
      <p:pic>
        <p:nvPicPr>
          <p:cNvPr id="36" name="Picture-225" descr="Document_Writing01"/>
          <p:cNvPicPr>
            <a:picLocks noChangeAspect="1" noChangeArrowheads="1"/>
          </p:cNvPicPr>
          <p:nvPr/>
        </p:nvPicPr>
        <p:blipFill>
          <a:blip r:embed="rId6" cstate="print"/>
          <a:srcRect/>
          <a:stretch>
            <a:fillRect/>
          </a:stretch>
        </p:blipFill>
        <p:spPr bwMode="auto">
          <a:xfrm>
            <a:off x="3658281" y="3193721"/>
            <a:ext cx="814387" cy="1317625"/>
          </a:xfrm>
          <a:prstGeom prst="rect">
            <a:avLst/>
          </a:prstGeom>
          <a:noFill/>
        </p:spPr>
      </p:pic>
      <p:sp>
        <p:nvSpPr>
          <p:cNvPr id="38" name="AutoShape-224"/>
          <p:cNvSpPr>
            <a:spLocks noChangeArrowheads="1"/>
          </p:cNvSpPr>
          <p:nvPr/>
        </p:nvSpPr>
        <p:spPr bwMode="auto">
          <a:xfrm>
            <a:off x="3561258" y="3717471"/>
            <a:ext cx="946150" cy="381000"/>
          </a:xfrm>
          <a:prstGeom prst="roundRect">
            <a:avLst>
              <a:gd name="adj" fmla="val 4167"/>
            </a:avLst>
          </a:prstGeom>
          <a:solidFill>
            <a:schemeClr val="bg1"/>
          </a:solidFill>
          <a:ln w="9525">
            <a:solidFill>
              <a:srgbClr val="969696"/>
            </a:solidFill>
            <a:round/>
            <a:headEnd/>
            <a:tailEnd/>
          </a:ln>
          <a:effectLst>
            <a:outerShdw dist="35921" dir="2700000" algn="ctr" rotWithShape="0">
              <a:srgbClr val="AFAFAF"/>
            </a:outerShdw>
          </a:effectLst>
        </p:spPr>
        <p:txBody>
          <a:bodyPr lIns="36000" rIns="36000" anchor="ctr"/>
          <a:lstStyle/>
          <a:p>
            <a:pPr algn="ctr">
              <a:lnSpc>
                <a:spcPct val="70000"/>
              </a:lnSpc>
            </a:pPr>
            <a:r>
              <a:rPr lang="fr-FR" altLang="zh-CN" sz="1500" dirty="0">
                <a:ea typeface="SimSun" pitchFamily="2" charset="-122"/>
                <a:cs typeface="Times New Roman" charset="0"/>
              </a:rPr>
              <a:t>Utilisateur2</a:t>
            </a:r>
            <a:r>
              <a:rPr lang="en-IE" altLang="zh-CN" sz="1500" dirty="0">
                <a:ea typeface="SimSun" pitchFamily="2" charset="-122"/>
                <a:cs typeface="Times New Roman" charset="0"/>
              </a:rPr>
              <a:t> </a:t>
            </a:r>
            <a:endParaRPr lang="en-US" sz="1500" dirty="0">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35409"/>
                                        </p:tgtEl>
                                        <p:attrNameLst>
                                          <p:attrName>style.visibility</p:attrName>
                                        </p:attrNameLst>
                                      </p:cBhvr>
                                      <p:to>
                                        <p:strVal val="visible"/>
                                      </p:to>
                                    </p:set>
                                    <p:animEffect transition="in" filter="checkerboard(across)">
                                      <p:cBhvr>
                                        <p:cTn id="7" dur="1000"/>
                                        <p:tgtEl>
                                          <p:spTgt spid="43540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35429"/>
                                        </p:tgtEl>
                                        <p:attrNameLst>
                                          <p:attrName>style.visibility</p:attrName>
                                        </p:attrNameLst>
                                      </p:cBhvr>
                                      <p:to>
                                        <p:strVal val="visible"/>
                                      </p:to>
                                    </p:set>
                                    <p:animEffect transition="in" filter="checkerboard(across)">
                                      <p:cBhvr>
                                        <p:cTn id="10" dur="1000"/>
                                        <p:tgtEl>
                                          <p:spTgt spid="435429"/>
                                        </p:tgtEl>
                                      </p:cBhvr>
                                    </p:animEffect>
                                  </p:childTnLst>
                                </p:cTn>
                              </p:par>
                              <p:par>
                                <p:cTn id="11" presetID="5" presetClass="entr" presetSubtype="10" fill="hold" nodeType="withEffect">
                                  <p:stCondLst>
                                    <p:cond delay="0"/>
                                  </p:stCondLst>
                                  <p:childTnLst>
                                    <p:set>
                                      <p:cBhvr>
                                        <p:cTn id="12" dur="1" fill="hold">
                                          <p:stCondLst>
                                            <p:cond delay="0"/>
                                          </p:stCondLst>
                                        </p:cTn>
                                        <p:tgtEl>
                                          <p:spTgt spid="435430"/>
                                        </p:tgtEl>
                                        <p:attrNameLst>
                                          <p:attrName>style.visibility</p:attrName>
                                        </p:attrNameLst>
                                      </p:cBhvr>
                                      <p:to>
                                        <p:strVal val="visible"/>
                                      </p:to>
                                    </p:set>
                                    <p:animEffect transition="in" filter="checkerboard(across)">
                                      <p:cBhvr>
                                        <p:cTn id="13" dur="1000"/>
                                        <p:tgtEl>
                                          <p:spTgt spid="435430"/>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435462"/>
                                        </p:tgtEl>
                                        <p:attrNameLst>
                                          <p:attrName>style.visibility</p:attrName>
                                        </p:attrNameLst>
                                      </p:cBhvr>
                                      <p:to>
                                        <p:strVal val="visible"/>
                                      </p:to>
                                    </p:set>
                                    <p:animEffect transition="in" filter="checkerboard(across)">
                                      <p:cBhvr>
                                        <p:cTn id="16" dur="1000"/>
                                        <p:tgtEl>
                                          <p:spTgt spid="435462"/>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435468"/>
                                        </p:tgtEl>
                                        <p:attrNameLst>
                                          <p:attrName>style.visibility</p:attrName>
                                        </p:attrNameLst>
                                      </p:cBhvr>
                                      <p:to>
                                        <p:strVal val="visible"/>
                                      </p:to>
                                    </p:set>
                                    <p:animEffect transition="in" filter="checkerboard(across)">
                                      <p:cBhvr>
                                        <p:cTn id="19" dur="1000"/>
                                        <p:tgtEl>
                                          <p:spTgt spid="435468"/>
                                        </p:tgtEl>
                                      </p:cBhvr>
                                    </p:animEffect>
                                  </p:childTnLst>
                                </p:cTn>
                              </p:par>
                              <p:par>
                                <p:cTn id="20" presetID="5" presetClass="entr" presetSubtype="10" fill="hold" nodeType="withEffect">
                                  <p:stCondLst>
                                    <p:cond delay="0"/>
                                  </p:stCondLst>
                                  <p:childTnLst>
                                    <p:set>
                                      <p:cBhvr>
                                        <p:cTn id="21" dur="1" fill="hold">
                                          <p:stCondLst>
                                            <p:cond delay="0"/>
                                          </p:stCondLst>
                                        </p:cTn>
                                        <p:tgtEl>
                                          <p:spTgt spid="435457"/>
                                        </p:tgtEl>
                                        <p:attrNameLst>
                                          <p:attrName>style.visibility</p:attrName>
                                        </p:attrNameLst>
                                      </p:cBhvr>
                                      <p:to>
                                        <p:strVal val="visible"/>
                                      </p:to>
                                    </p:set>
                                    <p:animEffect transition="in" filter="checkerboard(across)">
                                      <p:cBhvr>
                                        <p:cTn id="22" dur="1000"/>
                                        <p:tgtEl>
                                          <p:spTgt spid="435457"/>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435463"/>
                                        </p:tgtEl>
                                        <p:attrNameLst>
                                          <p:attrName>style.visibility</p:attrName>
                                        </p:attrNameLst>
                                      </p:cBhvr>
                                      <p:to>
                                        <p:strVal val="visible"/>
                                      </p:to>
                                    </p:set>
                                    <p:animEffect transition="in" filter="checkerboard(across)">
                                      <p:cBhvr>
                                        <p:cTn id="25" dur="1000"/>
                                        <p:tgtEl>
                                          <p:spTgt spid="435463"/>
                                        </p:tgtEl>
                                      </p:cBhvr>
                                    </p:animEffect>
                                  </p:childTnLst>
                                </p:cTn>
                              </p:par>
                              <p:par>
                                <p:cTn id="26" presetID="5" presetClass="entr" presetSubtype="10" fill="hold" nodeType="withEffect">
                                  <p:stCondLst>
                                    <p:cond delay="0"/>
                                  </p:stCondLst>
                                  <p:childTnLst>
                                    <p:set>
                                      <p:cBhvr>
                                        <p:cTn id="27" dur="1" fill="hold">
                                          <p:stCondLst>
                                            <p:cond delay="0"/>
                                          </p:stCondLst>
                                        </p:cTn>
                                        <p:tgtEl>
                                          <p:spTgt spid="435432"/>
                                        </p:tgtEl>
                                        <p:attrNameLst>
                                          <p:attrName>style.visibility</p:attrName>
                                        </p:attrNameLst>
                                      </p:cBhvr>
                                      <p:to>
                                        <p:strVal val="visible"/>
                                      </p:to>
                                    </p:set>
                                    <p:animEffect transition="in" filter="checkerboard(across)">
                                      <p:cBhvr>
                                        <p:cTn id="28" dur="1000"/>
                                        <p:tgtEl>
                                          <p:spTgt spid="435432"/>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435405"/>
                                        </p:tgtEl>
                                        <p:attrNameLst>
                                          <p:attrName>style.visibility</p:attrName>
                                        </p:attrNameLst>
                                      </p:cBhvr>
                                      <p:to>
                                        <p:strVal val="visible"/>
                                      </p:to>
                                    </p:set>
                                    <p:animEffect transition="in" filter="checkerboard(across)">
                                      <p:cBhvr>
                                        <p:cTn id="31" dur="1000"/>
                                        <p:tgtEl>
                                          <p:spTgt spid="435405"/>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435469"/>
                                        </p:tgtEl>
                                        <p:attrNameLst>
                                          <p:attrName>style.visibility</p:attrName>
                                        </p:attrNameLst>
                                      </p:cBhvr>
                                      <p:to>
                                        <p:strVal val="visible"/>
                                      </p:to>
                                    </p:set>
                                    <p:animEffect transition="in" filter="checkerboard(across)">
                                      <p:cBhvr>
                                        <p:cTn id="34" dur="1000"/>
                                        <p:tgtEl>
                                          <p:spTgt spid="435469"/>
                                        </p:tgtEl>
                                      </p:cBhvr>
                                    </p:animEffect>
                                  </p:childTnLst>
                                </p:cTn>
                              </p:par>
                              <p:par>
                                <p:cTn id="35" presetID="5" presetClass="entr" presetSubtype="10" fill="hold" nodeType="withEffect">
                                  <p:stCondLst>
                                    <p:cond delay="0"/>
                                  </p:stCondLst>
                                  <p:childTnLst>
                                    <p:set>
                                      <p:cBhvr>
                                        <p:cTn id="36" dur="1" fill="hold">
                                          <p:stCondLst>
                                            <p:cond delay="0"/>
                                          </p:stCondLst>
                                        </p:cTn>
                                        <p:tgtEl>
                                          <p:spTgt spid="435459"/>
                                        </p:tgtEl>
                                        <p:attrNameLst>
                                          <p:attrName>style.visibility</p:attrName>
                                        </p:attrNameLst>
                                      </p:cBhvr>
                                      <p:to>
                                        <p:strVal val="visible"/>
                                      </p:to>
                                    </p:set>
                                    <p:animEffect transition="in" filter="checkerboard(across)">
                                      <p:cBhvr>
                                        <p:cTn id="37" dur="1000"/>
                                        <p:tgtEl>
                                          <p:spTgt spid="435459"/>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435410"/>
                                        </p:tgtEl>
                                        <p:attrNameLst>
                                          <p:attrName>style.visibility</p:attrName>
                                        </p:attrNameLst>
                                      </p:cBhvr>
                                      <p:to>
                                        <p:strVal val="visible"/>
                                      </p:to>
                                    </p:set>
                                    <p:animEffect transition="in" filter="checkerboard(across)">
                                      <p:cBhvr>
                                        <p:cTn id="40" dur="1000"/>
                                        <p:tgtEl>
                                          <p:spTgt spid="435410"/>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435420"/>
                                        </p:tgtEl>
                                        <p:attrNameLst>
                                          <p:attrName>style.visibility</p:attrName>
                                        </p:attrNameLst>
                                      </p:cBhvr>
                                      <p:to>
                                        <p:strVal val="visible"/>
                                      </p:to>
                                    </p:set>
                                    <p:animEffect transition="in" filter="checkerboard(across)">
                                      <p:cBhvr>
                                        <p:cTn id="43" dur="1000"/>
                                        <p:tgtEl>
                                          <p:spTgt spid="435420"/>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435421"/>
                                        </p:tgtEl>
                                        <p:attrNameLst>
                                          <p:attrName>style.visibility</p:attrName>
                                        </p:attrNameLst>
                                      </p:cBhvr>
                                      <p:to>
                                        <p:strVal val="visible"/>
                                      </p:to>
                                    </p:set>
                                    <p:animEffect transition="in" filter="checkerboard(across)">
                                      <p:cBhvr>
                                        <p:cTn id="46" dur="1000"/>
                                        <p:tgtEl>
                                          <p:spTgt spid="435421"/>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435419"/>
                                        </p:tgtEl>
                                        <p:attrNameLst>
                                          <p:attrName>style.visibility</p:attrName>
                                        </p:attrNameLst>
                                      </p:cBhvr>
                                      <p:to>
                                        <p:strVal val="visible"/>
                                      </p:to>
                                    </p:set>
                                    <p:animEffect transition="in" filter="checkerboard(across)">
                                      <p:cBhvr>
                                        <p:cTn id="49" dur="1000"/>
                                        <p:tgtEl>
                                          <p:spTgt spid="435419"/>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435413"/>
                                        </p:tgtEl>
                                        <p:attrNameLst>
                                          <p:attrName>style.visibility</p:attrName>
                                        </p:attrNameLst>
                                      </p:cBhvr>
                                      <p:to>
                                        <p:strVal val="visible"/>
                                      </p:to>
                                    </p:set>
                                    <p:animEffect transition="in" filter="checkerboard(across)">
                                      <p:cBhvr>
                                        <p:cTn id="52" dur="1000"/>
                                        <p:tgtEl>
                                          <p:spTgt spid="435413"/>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435414"/>
                                        </p:tgtEl>
                                        <p:attrNameLst>
                                          <p:attrName>style.visibility</p:attrName>
                                        </p:attrNameLst>
                                      </p:cBhvr>
                                      <p:to>
                                        <p:strVal val="visible"/>
                                      </p:to>
                                    </p:set>
                                    <p:animEffect transition="in" filter="checkerboard(across)">
                                      <p:cBhvr>
                                        <p:cTn id="55" dur="1000"/>
                                        <p:tgtEl>
                                          <p:spTgt spid="435414"/>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435415"/>
                                        </p:tgtEl>
                                        <p:attrNameLst>
                                          <p:attrName>style.visibility</p:attrName>
                                        </p:attrNameLst>
                                      </p:cBhvr>
                                      <p:to>
                                        <p:strVal val="visible"/>
                                      </p:to>
                                    </p:set>
                                    <p:animEffect transition="in" filter="checkerboard(across)">
                                      <p:cBhvr>
                                        <p:cTn id="58" dur="1000"/>
                                        <p:tgtEl>
                                          <p:spTgt spid="435415"/>
                                        </p:tgtEl>
                                      </p:cBhvr>
                                    </p:animEffect>
                                  </p:childTnLst>
                                </p:cTn>
                              </p:par>
                            </p:childTnLst>
                          </p:cTn>
                        </p:par>
                        <p:par>
                          <p:cTn id="59" fill="hold">
                            <p:stCondLst>
                              <p:cond delay="1000"/>
                            </p:stCondLst>
                            <p:childTnLst>
                              <p:par>
                                <p:cTn id="60" presetID="5" presetClass="entr" presetSubtype="10" fill="hold" nodeType="afterEffect">
                                  <p:stCondLst>
                                    <p:cond delay="0"/>
                                  </p:stCondLst>
                                  <p:childTnLst>
                                    <p:set>
                                      <p:cBhvr>
                                        <p:cTn id="61" dur="1" fill="hold">
                                          <p:stCondLst>
                                            <p:cond delay="0"/>
                                          </p:stCondLst>
                                        </p:cTn>
                                        <p:tgtEl>
                                          <p:spTgt spid="36"/>
                                        </p:tgtEl>
                                        <p:attrNameLst>
                                          <p:attrName>style.visibility</p:attrName>
                                        </p:attrNameLst>
                                      </p:cBhvr>
                                      <p:to>
                                        <p:strVal val="visible"/>
                                      </p:to>
                                    </p:set>
                                    <p:animEffect transition="in" filter="checkerboard(across)">
                                      <p:cBhvr>
                                        <p:cTn id="62" dur="1000"/>
                                        <p:tgtEl>
                                          <p:spTgt spid="36"/>
                                        </p:tgtEl>
                                      </p:cBhvr>
                                    </p:animEffect>
                                  </p:childTnLst>
                                </p:cTn>
                              </p:par>
                            </p:childTnLst>
                          </p:cTn>
                        </p:par>
                        <p:par>
                          <p:cTn id="63" fill="hold">
                            <p:stCondLst>
                              <p:cond delay="2000"/>
                            </p:stCondLst>
                            <p:childTnLst>
                              <p:par>
                                <p:cTn id="64" presetID="5" presetClass="entr" presetSubtype="10" fill="hold" grpId="0" nodeType="after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checkerboard(across)">
                                      <p:cBhvr>
                                        <p:cTn id="66" dur="1000"/>
                                        <p:tgtEl>
                                          <p:spTgt spid="38"/>
                                        </p:tgtEl>
                                      </p:cBhvr>
                                    </p:animEffect>
                                  </p:childTnLst>
                                </p:cTn>
                              </p:par>
                            </p:childTnLst>
                          </p:cTn>
                        </p:par>
                        <p:par>
                          <p:cTn id="67" fill="hold">
                            <p:stCondLst>
                              <p:cond delay="3000"/>
                            </p:stCondLst>
                            <p:childTnLst>
                              <p:par>
                                <p:cTn id="68" presetID="5" presetClass="entr" presetSubtype="10" fill="hold" grpId="0" nodeType="afterEffect">
                                  <p:stCondLst>
                                    <p:cond delay="0"/>
                                  </p:stCondLst>
                                  <p:childTnLst>
                                    <p:set>
                                      <p:cBhvr>
                                        <p:cTn id="69" dur="1" fill="hold">
                                          <p:stCondLst>
                                            <p:cond delay="0"/>
                                          </p:stCondLst>
                                        </p:cTn>
                                        <p:tgtEl>
                                          <p:spTgt spid="435461"/>
                                        </p:tgtEl>
                                        <p:attrNameLst>
                                          <p:attrName>style.visibility</p:attrName>
                                        </p:attrNameLst>
                                      </p:cBhvr>
                                      <p:to>
                                        <p:strVal val="visible"/>
                                      </p:to>
                                    </p:set>
                                    <p:animEffect transition="in" filter="checkerboard(across)">
                                      <p:cBhvr>
                                        <p:cTn id="70" dur="1000"/>
                                        <p:tgtEl>
                                          <p:spTgt spid="435461"/>
                                        </p:tgtEl>
                                      </p:cBhvr>
                                    </p:animEffect>
                                  </p:childTnLst>
                                </p:cTn>
                              </p:par>
                            </p:childTnLst>
                          </p:cTn>
                        </p:par>
                        <p:par>
                          <p:cTn id="71" fill="hold">
                            <p:stCondLst>
                              <p:cond delay="4000"/>
                            </p:stCondLst>
                            <p:childTnLst>
                              <p:par>
                                <p:cTn id="72" presetID="5" presetClass="entr" presetSubtype="10" fill="hold" nodeType="afterEffect">
                                  <p:stCondLst>
                                    <p:cond delay="0"/>
                                  </p:stCondLst>
                                  <p:childTnLst>
                                    <p:set>
                                      <p:cBhvr>
                                        <p:cTn id="73" dur="1" fill="hold">
                                          <p:stCondLst>
                                            <p:cond delay="0"/>
                                          </p:stCondLst>
                                        </p:cTn>
                                        <p:tgtEl>
                                          <p:spTgt spid="435425"/>
                                        </p:tgtEl>
                                        <p:attrNameLst>
                                          <p:attrName>style.visibility</p:attrName>
                                        </p:attrNameLst>
                                      </p:cBhvr>
                                      <p:to>
                                        <p:strVal val="visible"/>
                                      </p:to>
                                    </p:set>
                                    <p:animEffect transition="in" filter="checkerboard(across)">
                                      <p:cBhvr>
                                        <p:cTn id="74" dur="1000"/>
                                        <p:tgtEl>
                                          <p:spTgt spid="435425"/>
                                        </p:tgtEl>
                                      </p:cBhvr>
                                    </p:animEffect>
                                  </p:childTnLst>
                                </p:cTn>
                              </p:par>
                            </p:childTnLst>
                          </p:cTn>
                        </p:par>
                      </p:childTnLst>
                    </p:cTn>
                  </p:par>
                  <p:par>
                    <p:cTn id="75" fill="hold">
                      <p:stCondLst>
                        <p:cond delay="indefinite"/>
                      </p:stCondLst>
                      <p:childTnLst>
                        <p:par>
                          <p:cTn id="76" fill="hold">
                            <p:stCondLst>
                              <p:cond delay="0"/>
                            </p:stCondLst>
                            <p:childTnLst>
                              <p:par>
                                <p:cTn id="77" presetID="5" presetClass="entr" presetSubtype="10" fill="hold" grpId="0" nodeType="clickEffect">
                                  <p:stCondLst>
                                    <p:cond delay="0"/>
                                  </p:stCondLst>
                                  <p:childTnLst>
                                    <p:set>
                                      <p:cBhvr>
                                        <p:cTn id="78" dur="1" fill="hold">
                                          <p:stCondLst>
                                            <p:cond delay="0"/>
                                          </p:stCondLst>
                                        </p:cTn>
                                        <p:tgtEl>
                                          <p:spTgt spid="435422"/>
                                        </p:tgtEl>
                                        <p:attrNameLst>
                                          <p:attrName>style.visibility</p:attrName>
                                        </p:attrNameLst>
                                      </p:cBhvr>
                                      <p:to>
                                        <p:strVal val="visible"/>
                                      </p:to>
                                    </p:set>
                                    <p:animEffect transition="in" filter="checkerboard(across)">
                                      <p:cBhvr>
                                        <p:cTn id="79" dur="500"/>
                                        <p:tgtEl>
                                          <p:spTgt spid="435422"/>
                                        </p:tgtEl>
                                      </p:cBhvr>
                                    </p:animEffect>
                                  </p:childTnLst>
                                </p:cTn>
                              </p:par>
                              <p:par>
                                <p:cTn id="80" presetID="5" presetClass="entr" presetSubtype="10" fill="hold" grpId="0" nodeType="withEffect">
                                  <p:stCondLst>
                                    <p:cond delay="0"/>
                                  </p:stCondLst>
                                  <p:childTnLst>
                                    <p:set>
                                      <p:cBhvr>
                                        <p:cTn id="81" dur="1" fill="hold">
                                          <p:stCondLst>
                                            <p:cond delay="0"/>
                                          </p:stCondLst>
                                        </p:cTn>
                                        <p:tgtEl>
                                          <p:spTgt spid="435416"/>
                                        </p:tgtEl>
                                        <p:attrNameLst>
                                          <p:attrName>style.visibility</p:attrName>
                                        </p:attrNameLst>
                                      </p:cBhvr>
                                      <p:to>
                                        <p:strVal val="visible"/>
                                      </p:to>
                                    </p:set>
                                    <p:animEffect transition="in" filter="checkerboard(across)">
                                      <p:cBhvr>
                                        <p:cTn id="82" dur="500"/>
                                        <p:tgtEl>
                                          <p:spTgt spid="435416"/>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mph" presetSubtype="0" grpId="1" nodeType="clickEffect">
                                  <p:stCondLst>
                                    <p:cond delay="0"/>
                                  </p:stCondLst>
                                  <p:childTnLst>
                                    <p:set>
                                      <p:cBhvr rctx="PPT">
                                        <p:cTn id="86" dur="indefinite"/>
                                        <p:tgtEl>
                                          <p:spTgt spid="38"/>
                                        </p:tgtEl>
                                        <p:attrNameLst>
                                          <p:attrName>style.opacity</p:attrName>
                                        </p:attrNameLst>
                                      </p:cBhvr>
                                      <p:to>
                                        <p:strVal val="0.25"/>
                                      </p:to>
                                    </p:set>
                                    <p:animEffect filter="image" prLst="opacity: 0.25">
                                      <p:cBhvr rctx="IE">
                                        <p:cTn id="87" dur="indefinite"/>
                                        <p:tgtEl>
                                          <p:spTgt spid="38"/>
                                        </p:tgtEl>
                                      </p:cBhvr>
                                    </p:animEffect>
                                  </p:childTnLst>
                                </p:cTn>
                              </p:par>
                              <p:par>
                                <p:cTn id="88" presetID="9" presetClass="emph" presetSubtype="0" nodeType="withEffect">
                                  <p:stCondLst>
                                    <p:cond delay="0"/>
                                  </p:stCondLst>
                                  <p:childTnLst>
                                    <p:set>
                                      <p:cBhvr rctx="PPT">
                                        <p:cTn id="89" dur="indefinite"/>
                                        <p:tgtEl>
                                          <p:spTgt spid="36"/>
                                        </p:tgtEl>
                                        <p:attrNameLst>
                                          <p:attrName>style.opacity</p:attrName>
                                        </p:attrNameLst>
                                      </p:cBhvr>
                                      <p:to>
                                        <p:strVal val="0.25"/>
                                      </p:to>
                                    </p:set>
                                    <p:animEffect filter="image" prLst="opacity: 0.25">
                                      <p:cBhvr rctx="IE">
                                        <p:cTn id="90" dur="indefinite"/>
                                        <p:tgtEl>
                                          <p:spTgt spid="36"/>
                                        </p:tgtEl>
                                      </p:cBhvr>
                                    </p:animEffect>
                                  </p:childTnLst>
                                </p:cTn>
                              </p:par>
                            </p:childTnLst>
                          </p:cTn>
                        </p:par>
                        <p:par>
                          <p:cTn id="91" fill="hold">
                            <p:stCondLst>
                              <p:cond delay="0"/>
                            </p:stCondLst>
                            <p:childTnLst>
                              <p:par>
                                <p:cTn id="92" presetID="5" presetClass="entr" presetSubtype="10" fill="hold" grpId="0" nodeType="afterEffect">
                                  <p:stCondLst>
                                    <p:cond delay="0"/>
                                  </p:stCondLst>
                                  <p:childTnLst>
                                    <p:set>
                                      <p:cBhvr>
                                        <p:cTn id="93" dur="1" fill="hold">
                                          <p:stCondLst>
                                            <p:cond delay="0"/>
                                          </p:stCondLst>
                                        </p:cTn>
                                        <p:tgtEl>
                                          <p:spTgt spid="435434"/>
                                        </p:tgtEl>
                                        <p:attrNameLst>
                                          <p:attrName>style.visibility</p:attrName>
                                        </p:attrNameLst>
                                      </p:cBhvr>
                                      <p:to>
                                        <p:strVal val="visible"/>
                                      </p:to>
                                    </p:set>
                                    <p:animEffect transition="in" filter="checkerboard(across)">
                                      <p:cBhvr>
                                        <p:cTn id="94" dur="1000"/>
                                        <p:tgtEl>
                                          <p:spTgt spid="435434"/>
                                        </p:tgtEl>
                                      </p:cBhvr>
                                    </p:animEffect>
                                  </p:childTnLst>
                                </p:cTn>
                              </p:par>
                              <p:par>
                                <p:cTn id="95" presetID="5" presetClass="entr" presetSubtype="10" fill="hold" nodeType="withEffect">
                                  <p:stCondLst>
                                    <p:cond delay="0"/>
                                  </p:stCondLst>
                                  <p:childTnLst>
                                    <p:set>
                                      <p:cBhvr>
                                        <p:cTn id="96" dur="1" fill="hold">
                                          <p:stCondLst>
                                            <p:cond delay="0"/>
                                          </p:stCondLst>
                                        </p:cTn>
                                        <p:tgtEl>
                                          <p:spTgt spid="435427"/>
                                        </p:tgtEl>
                                        <p:attrNameLst>
                                          <p:attrName>style.visibility</p:attrName>
                                        </p:attrNameLst>
                                      </p:cBhvr>
                                      <p:to>
                                        <p:strVal val="visible"/>
                                      </p:to>
                                    </p:set>
                                    <p:animEffect transition="in" filter="checkerboard(across)">
                                      <p:cBhvr>
                                        <p:cTn id="97" dur="1000"/>
                                        <p:tgtEl>
                                          <p:spTgt spid="435427"/>
                                        </p:tgtEl>
                                      </p:cBhvr>
                                    </p:animEffect>
                                  </p:childTnLst>
                                </p:cTn>
                              </p:par>
                              <p:par>
                                <p:cTn id="98" presetID="5" presetClass="entr" presetSubtype="10" fill="hold" grpId="0" nodeType="withEffect">
                                  <p:stCondLst>
                                    <p:cond delay="0"/>
                                  </p:stCondLst>
                                  <p:childTnLst>
                                    <p:set>
                                      <p:cBhvr>
                                        <p:cTn id="99" dur="1" fill="hold">
                                          <p:stCondLst>
                                            <p:cond delay="0"/>
                                          </p:stCondLst>
                                        </p:cTn>
                                        <p:tgtEl>
                                          <p:spTgt spid="435460"/>
                                        </p:tgtEl>
                                        <p:attrNameLst>
                                          <p:attrName>style.visibility</p:attrName>
                                        </p:attrNameLst>
                                      </p:cBhvr>
                                      <p:to>
                                        <p:strVal val="visible"/>
                                      </p:to>
                                    </p:set>
                                    <p:animEffect transition="in" filter="checkerboard(across)">
                                      <p:cBhvr>
                                        <p:cTn id="100" dur="1000"/>
                                        <p:tgtEl>
                                          <p:spTgt spid="435460"/>
                                        </p:tgtEl>
                                      </p:cBhvr>
                                    </p:animEffect>
                                  </p:childTnLst>
                                </p:cTn>
                              </p:par>
                            </p:childTnLst>
                          </p:cTn>
                        </p:par>
                        <p:par>
                          <p:cTn id="101" fill="hold">
                            <p:stCondLst>
                              <p:cond delay="1000"/>
                            </p:stCondLst>
                            <p:childTnLst>
                              <p:par>
                                <p:cTn id="102" presetID="5" presetClass="entr" presetSubtype="10" fill="hold" grpId="0" nodeType="afterEffect">
                                  <p:stCondLst>
                                    <p:cond delay="0"/>
                                  </p:stCondLst>
                                  <p:childTnLst>
                                    <p:set>
                                      <p:cBhvr>
                                        <p:cTn id="103" dur="1" fill="hold">
                                          <p:stCondLst>
                                            <p:cond delay="0"/>
                                          </p:stCondLst>
                                        </p:cTn>
                                        <p:tgtEl>
                                          <p:spTgt spid="435404"/>
                                        </p:tgtEl>
                                        <p:attrNameLst>
                                          <p:attrName>style.visibility</p:attrName>
                                        </p:attrNameLst>
                                      </p:cBhvr>
                                      <p:to>
                                        <p:strVal val="visible"/>
                                      </p:to>
                                    </p:set>
                                    <p:animEffect transition="in" filter="checkerboard(across)">
                                      <p:cBhvr>
                                        <p:cTn id="104" dur="1000"/>
                                        <p:tgtEl>
                                          <p:spTgt spid="4354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5410" grpId="0" animBg="1"/>
      <p:bldP spid="435404" grpId="0" animBg="1"/>
      <p:bldP spid="435405" grpId="0" animBg="1"/>
      <p:bldP spid="435409" grpId="0" animBg="1"/>
      <p:bldP spid="435413" grpId="0"/>
      <p:bldP spid="435414" grpId="0"/>
      <p:bldP spid="435415" grpId="0"/>
      <p:bldP spid="435416" grpId="0" animBg="1"/>
      <p:bldP spid="435429" grpId="0" animBg="1"/>
      <p:bldP spid="435434" grpId="0" animBg="1"/>
      <p:bldP spid="435420" grpId="0"/>
      <p:bldP spid="435421" grpId="0"/>
      <p:bldP spid="435419" grpId="0"/>
      <p:bldP spid="435422" grpId="0" animBg="1"/>
      <p:bldP spid="435460" grpId="0" animBg="1"/>
      <p:bldP spid="435461" grpId="0" animBg="1"/>
      <p:bldP spid="435462" grpId="0" animBg="1"/>
      <p:bldP spid="435463" grpId="0" animBg="1"/>
      <p:bldP spid="435468" grpId="0"/>
      <p:bldP spid="435469" grpId="0"/>
      <p:bldP spid="38" grpId="0" animBg="1"/>
      <p:bldP spid="38"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2"/>
          <p:cNvSpPr>
            <a:spLocks noGrp="1" noChangeArrowheads="1"/>
          </p:cNvSpPr>
          <p:nvPr>
            <p:ph type="title"/>
          </p:nvPr>
        </p:nvSpPr>
        <p:spPr>
          <a:xfrm>
            <a:off x="0" y="228600"/>
            <a:ext cx="8836152" cy="758952"/>
          </a:xfrm>
        </p:spPr>
        <p:txBody>
          <a:bodyPr>
            <a:normAutofit fontScale="90000"/>
          </a:bodyPr>
          <a:lstStyle/>
          <a:p>
            <a:r>
              <a:rPr lang="fr-FR" altLang="zh-CN" b="1" dirty="0">
                <a:solidFill>
                  <a:srgbClr val="000000"/>
                </a:solidFill>
                <a:ea typeface="SimSun" pitchFamily="2" charset="-122"/>
                <a:cs typeface="Times New Roman" charset="0"/>
              </a:rPr>
              <a:t>7. Planification de la disponibilité des imprimantes</a:t>
            </a:r>
            <a:r>
              <a:rPr lang="en-IE" altLang="zh-CN" b="1" dirty="0">
                <a:solidFill>
                  <a:srgbClr val="000000"/>
                </a:solidFill>
                <a:ea typeface="SimSun" pitchFamily="2" charset="-122"/>
              </a:rPr>
              <a:t> </a:t>
            </a:r>
            <a:endParaRPr lang="en-US" b="1" dirty="0">
              <a:solidFill>
                <a:srgbClr val="000000"/>
              </a:solidFill>
            </a:endParaRPr>
          </a:p>
        </p:txBody>
      </p:sp>
      <p:sp>
        <p:nvSpPr>
          <p:cNvPr id="330755" name="Rectangle-3"/>
          <p:cNvSpPr>
            <a:spLocks noGrp="1" noChangeArrowheads="1"/>
          </p:cNvSpPr>
          <p:nvPr>
            <p:ph type="body" idx="1"/>
          </p:nvPr>
        </p:nvSpPr>
        <p:spPr>
          <a:xfrm>
            <a:off x="301752" y="1527048"/>
            <a:ext cx="8503920" cy="1406157"/>
          </a:xfrm>
        </p:spPr>
        <p:txBody>
          <a:bodyPr/>
          <a:lstStyle/>
          <a:p>
            <a:r>
              <a:rPr lang="fr-FR" altLang="zh-CN" dirty="0">
                <a:solidFill>
                  <a:srgbClr val="C00000"/>
                </a:solidFill>
                <a:ea typeface="SimSun" pitchFamily="2" charset="-122"/>
                <a:cs typeface="Times New Roman" charset="0"/>
              </a:rPr>
              <a:t>Quand est-il nécessaire de planifier la disponibilité des imprimantes ?</a:t>
            </a:r>
            <a:r>
              <a:rPr lang="en-IE" altLang="zh-CN" dirty="0">
                <a:solidFill>
                  <a:srgbClr val="C00000"/>
                </a:solidFill>
                <a:ea typeface="SimSun" pitchFamily="2" charset="-122"/>
                <a:cs typeface="Times New Roman" charset="0"/>
              </a:rPr>
              <a:t> </a:t>
            </a:r>
            <a:endParaRPr lang="en-US" dirty="0">
              <a:solidFill>
                <a:srgbClr val="C00000"/>
              </a:solidFill>
              <a:ea typeface="SimSun" pitchFamily="2" charset="-122"/>
              <a:cs typeface="Times New Roman" charset="0"/>
            </a:endParaRPr>
          </a:p>
          <a:p>
            <a:endParaRPr lang="en-US" dirty="0">
              <a:solidFill>
                <a:srgbClr val="C00000"/>
              </a:solidFill>
              <a:ea typeface="SimSun" pitchFamily="2" charset="-122"/>
              <a:cs typeface="Times New Roman"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80" name="Rectangle-4"/>
          <p:cNvSpPr>
            <a:spLocks noGrp="1" noChangeArrowheads="1"/>
          </p:cNvSpPr>
          <p:nvPr>
            <p:ph type="title"/>
          </p:nvPr>
        </p:nvSpPr>
        <p:spPr>
          <a:xfrm>
            <a:off x="71255" y="228600"/>
            <a:ext cx="8965870" cy="758952"/>
          </a:xfrm>
        </p:spPr>
        <p:txBody>
          <a:bodyPr>
            <a:noAutofit/>
          </a:bodyPr>
          <a:lstStyle/>
          <a:p>
            <a:r>
              <a:rPr lang="fr-FR" altLang="zh-CN" sz="2600" b="1" dirty="0">
                <a:solidFill>
                  <a:srgbClr val="C00000"/>
                </a:solidFill>
                <a:ea typeface="SimSun" pitchFamily="2" charset="-122"/>
                <a:cs typeface="Times New Roman" charset="0"/>
              </a:rPr>
              <a:t>Quand est-il nécessaire de planifier la disponibilité des imprimantes ?</a:t>
            </a:r>
            <a:r>
              <a:rPr lang="en-IE" altLang="zh-CN" sz="2600" b="1" dirty="0">
                <a:solidFill>
                  <a:srgbClr val="C00000"/>
                </a:solidFill>
                <a:ea typeface="SimSun" pitchFamily="2" charset="-122"/>
                <a:cs typeface="Times New Roman" charset="0"/>
              </a:rPr>
              <a:t> </a:t>
            </a:r>
            <a:endParaRPr lang="en-US" sz="2600" b="1" dirty="0">
              <a:solidFill>
                <a:srgbClr val="C00000"/>
              </a:solidFill>
              <a:ea typeface="SimSun" pitchFamily="2" charset="-122"/>
              <a:cs typeface="Times New Roman" charset="0"/>
            </a:endParaRPr>
          </a:p>
        </p:txBody>
      </p:sp>
      <p:sp>
        <p:nvSpPr>
          <p:cNvPr id="331781" name="Rectangle-5"/>
          <p:cNvSpPr>
            <a:spLocks noGrp="1" noChangeArrowheads="1"/>
          </p:cNvSpPr>
          <p:nvPr>
            <p:ph type="body" idx="1"/>
          </p:nvPr>
        </p:nvSpPr>
        <p:spPr>
          <a:xfrm>
            <a:off x="178129" y="1527048"/>
            <a:ext cx="8811491" cy="4572000"/>
          </a:xfrm>
        </p:spPr>
        <p:txBody>
          <a:bodyPr>
            <a:normAutofit lnSpcReduction="10000"/>
          </a:bodyPr>
          <a:lstStyle/>
          <a:p>
            <a:r>
              <a:rPr lang="fr-FR" altLang="zh-CN" dirty="0">
                <a:solidFill>
                  <a:srgbClr val="000000"/>
                </a:solidFill>
                <a:ea typeface="SimSun" pitchFamily="2" charset="-122"/>
                <a:cs typeface="Times New Roman" charset="0"/>
              </a:rPr>
              <a:t>Planifiez la disponibilité de l'imprimante pour imprimer des documents longs ou de certains types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r>
              <a:rPr lang="fr-FR" altLang="zh-CN" dirty="0">
                <a:solidFill>
                  <a:srgbClr val="000000"/>
                </a:solidFill>
                <a:ea typeface="SimSun" pitchFamily="2" charset="-122"/>
                <a:cs typeface="Times New Roman" charset="0"/>
              </a:rPr>
              <a:t>Envisagez de planifier la disponibilité d'une imprimante pour :</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lvl="1"/>
            <a:r>
              <a:rPr lang="fr-FR" altLang="zh-CN" dirty="0">
                <a:solidFill>
                  <a:srgbClr val="000000"/>
                </a:solidFill>
                <a:ea typeface="SimSun" pitchFamily="2" charset="-122"/>
                <a:cs typeface="Times New Roman" charset="0"/>
              </a:rPr>
              <a:t>différer l'impression de documents longs pendant </a:t>
            </a:r>
            <a:br>
              <a:rPr lang="fr-FR" altLang="zh-CN" dirty="0">
                <a:solidFill>
                  <a:srgbClr val="000000"/>
                </a:solidFill>
                <a:ea typeface="SimSun" pitchFamily="2" charset="-122"/>
                <a:cs typeface="Times New Roman" charset="0"/>
              </a:rPr>
            </a:br>
            <a:r>
              <a:rPr lang="fr-FR" altLang="zh-CN" dirty="0">
                <a:solidFill>
                  <a:srgbClr val="000000"/>
                </a:solidFill>
                <a:ea typeface="SimSun" pitchFamily="2" charset="-122"/>
                <a:cs typeface="Times New Roman" charset="0"/>
              </a:rPr>
              <a:t>la journée en les acheminant vers une imprimante qui fonctionne uniquement en dehors des heures de bureau </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lvl="1"/>
            <a:r>
              <a:rPr lang="fr-FR" altLang="zh-CN" dirty="0">
                <a:solidFill>
                  <a:srgbClr val="000000"/>
                </a:solidFill>
                <a:ea typeface="SimSun" pitchFamily="2" charset="-122"/>
                <a:cs typeface="Times New Roman" charset="0"/>
              </a:rPr>
              <a:t>définir plusieurs imprimantes pour le même périphérique d'impression et configurer la disponibilité de chacune à des heures différentes</a:t>
            </a:r>
            <a:r>
              <a:rPr lang="en-IE" altLang="zh-CN" dirty="0">
                <a:solidFill>
                  <a:srgbClr val="000000"/>
                </a:solidFill>
                <a:ea typeface="SimSun" pitchFamily="2" charset="-122"/>
                <a:cs typeface="Times New Roman" charset="0"/>
              </a:rPr>
              <a:t> </a:t>
            </a:r>
            <a:endParaRPr lang="en-US" dirty="0">
              <a:ea typeface="SimSun" pitchFamily="2" charset="-122"/>
              <a:cs typeface="Times New Roman" charset="0"/>
            </a:endParaRPr>
          </a:p>
          <a:p>
            <a:pPr lvl="2"/>
            <a:r>
              <a:rPr lang="fr-FR" altLang="zh-CN" dirty="0">
                <a:solidFill>
                  <a:srgbClr val="000000"/>
                </a:solidFill>
                <a:ea typeface="SimSun" pitchFamily="2" charset="-122"/>
                <a:cs typeface="Times New Roman" charset="0"/>
              </a:rPr>
              <a:t>Par exemple, une imprimante est disponible entre 18 h et 6 h, tandis qu'une autre l'est 24 h/24</a:t>
            </a:r>
            <a:r>
              <a:rPr lang="en-IE" altLang="zh-CN" sz="2400" dirty="0">
                <a:solidFill>
                  <a:srgbClr val="000000"/>
                </a:solidFill>
                <a:ea typeface="SimSun" pitchFamily="2" charset="-122"/>
                <a:cs typeface="Times New Roman" charset="0"/>
              </a:rPr>
              <a:t> </a:t>
            </a:r>
            <a:endParaRPr lang="en-US" sz="2400" dirty="0">
              <a:solidFill>
                <a:srgbClr val="000000"/>
              </a:solidFill>
              <a:ea typeface="SimSun" pitchFamily="2" charset="-122"/>
              <a:cs typeface="Times New 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31781">
                                            <p:txEl>
                                              <p:pRg st="0" end="0"/>
                                            </p:txEl>
                                          </p:spTgt>
                                        </p:tgtEl>
                                        <p:attrNameLst>
                                          <p:attrName>style.visibility</p:attrName>
                                        </p:attrNameLst>
                                      </p:cBhvr>
                                      <p:to>
                                        <p:strVal val="visible"/>
                                      </p:to>
                                    </p:set>
                                    <p:animEffect transition="in" filter="checkerboard(across)">
                                      <p:cBhvr>
                                        <p:cTn id="7" dur="1000"/>
                                        <p:tgtEl>
                                          <p:spTgt spid="3317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1781">
                                            <p:txEl>
                                              <p:pRg st="1" end="1"/>
                                            </p:txEl>
                                          </p:spTgt>
                                        </p:tgtEl>
                                        <p:attrNameLst>
                                          <p:attrName>style.visibility</p:attrName>
                                        </p:attrNameLst>
                                      </p:cBhvr>
                                      <p:to>
                                        <p:strVal val="visible"/>
                                      </p:to>
                                    </p:set>
                                    <p:animEffect transition="in" filter="checkerboard(across)">
                                      <p:cBhvr>
                                        <p:cTn id="12" dur="1000"/>
                                        <p:tgtEl>
                                          <p:spTgt spid="331781">
                                            <p:txEl>
                                              <p:pRg st="1" end="1"/>
                                            </p:txEl>
                                          </p:spTgt>
                                        </p:tgtEl>
                                      </p:cBhvr>
                                    </p:animEffect>
                                  </p:childTnLst>
                                </p:cTn>
                              </p:par>
                            </p:childTnLst>
                          </p:cTn>
                        </p:par>
                        <p:par>
                          <p:cTn id="13" fill="hold">
                            <p:stCondLst>
                              <p:cond delay="1000"/>
                            </p:stCondLst>
                            <p:childTnLst>
                              <p:par>
                                <p:cTn id="14" presetID="5" presetClass="entr" presetSubtype="10" fill="hold" nodeType="afterEffect">
                                  <p:stCondLst>
                                    <p:cond delay="0"/>
                                  </p:stCondLst>
                                  <p:childTnLst>
                                    <p:set>
                                      <p:cBhvr>
                                        <p:cTn id="15" dur="1" fill="hold">
                                          <p:stCondLst>
                                            <p:cond delay="0"/>
                                          </p:stCondLst>
                                        </p:cTn>
                                        <p:tgtEl>
                                          <p:spTgt spid="331781">
                                            <p:txEl>
                                              <p:pRg st="2" end="2"/>
                                            </p:txEl>
                                          </p:spTgt>
                                        </p:tgtEl>
                                        <p:attrNameLst>
                                          <p:attrName>style.visibility</p:attrName>
                                        </p:attrNameLst>
                                      </p:cBhvr>
                                      <p:to>
                                        <p:strVal val="visible"/>
                                      </p:to>
                                    </p:set>
                                    <p:animEffect transition="in" filter="checkerboard(across)">
                                      <p:cBhvr>
                                        <p:cTn id="16" dur="1000"/>
                                        <p:tgtEl>
                                          <p:spTgt spid="331781">
                                            <p:txEl>
                                              <p:pRg st="2" end="2"/>
                                            </p:txEl>
                                          </p:spTgt>
                                        </p:tgtEl>
                                      </p:cBhvr>
                                    </p:animEffect>
                                  </p:childTnLst>
                                </p:cTn>
                              </p:par>
                            </p:childTnLst>
                          </p:cTn>
                        </p:par>
                        <p:par>
                          <p:cTn id="17" fill="hold">
                            <p:stCondLst>
                              <p:cond delay="2000"/>
                            </p:stCondLst>
                            <p:childTnLst>
                              <p:par>
                                <p:cTn id="18" presetID="5" presetClass="entr" presetSubtype="10" fill="hold" nodeType="afterEffect">
                                  <p:stCondLst>
                                    <p:cond delay="0"/>
                                  </p:stCondLst>
                                  <p:childTnLst>
                                    <p:set>
                                      <p:cBhvr>
                                        <p:cTn id="19" dur="1" fill="hold">
                                          <p:stCondLst>
                                            <p:cond delay="0"/>
                                          </p:stCondLst>
                                        </p:cTn>
                                        <p:tgtEl>
                                          <p:spTgt spid="331781">
                                            <p:txEl>
                                              <p:pRg st="3" end="3"/>
                                            </p:txEl>
                                          </p:spTgt>
                                        </p:tgtEl>
                                        <p:attrNameLst>
                                          <p:attrName>style.visibility</p:attrName>
                                        </p:attrNameLst>
                                      </p:cBhvr>
                                      <p:to>
                                        <p:strVal val="visible"/>
                                      </p:to>
                                    </p:set>
                                    <p:animEffect transition="in" filter="checkerboard(across)">
                                      <p:cBhvr>
                                        <p:cTn id="20" dur="1000"/>
                                        <p:tgtEl>
                                          <p:spTgt spid="331781">
                                            <p:txEl>
                                              <p:pRg st="3" end="3"/>
                                            </p:txEl>
                                          </p:spTgt>
                                        </p:tgtEl>
                                      </p:cBhvr>
                                    </p:animEffect>
                                  </p:childTnLst>
                                </p:cTn>
                              </p:par>
                            </p:childTnLst>
                          </p:cTn>
                        </p:par>
                        <p:par>
                          <p:cTn id="21" fill="hold">
                            <p:stCondLst>
                              <p:cond delay="3000"/>
                            </p:stCondLst>
                            <p:childTnLst>
                              <p:par>
                                <p:cTn id="22" presetID="5" presetClass="entr" presetSubtype="10" fill="hold" nodeType="afterEffect">
                                  <p:stCondLst>
                                    <p:cond delay="0"/>
                                  </p:stCondLst>
                                  <p:childTnLst>
                                    <p:set>
                                      <p:cBhvr>
                                        <p:cTn id="23" dur="1" fill="hold">
                                          <p:stCondLst>
                                            <p:cond delay="0"/>
                                          </p:stCondLst>
                                        </p:cTn>
                                        <p:tgtEl>
                                          <p:spTgt spid="331781">
                                            <p:txEl>
                                              <p:pRg st="4" end="4"/>
                                            </p:txEl>
                                          </p:spTgt>
                                        </p:tgtEl>
                                        <p:attrNameLst>
                                          <p:attrName>style.visibility</p:attrName>
                                        </p:attrNameLst>
                                      </p:cBhvr>
                                      <p:to>
                                        <p:strVal val="visible"/>
                                      </p:to>
                                    </p:set>
                                    <p:animEffect transition="in" filter="checkerboard(across)">
                                      <p:cBhvr>
                                        <p:cTn id="24" dur="1000"/>
                                        <p:tgtEl>
                                          <p:spTgt spid="33178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2"/>
          <p:cNvSpPr>
            <a:spLocks noGrp="1" noChangeArrowheads="1"/>
          </p:cNvSpPr>
          <p:nvPr>
            <p:ph type="title"/>
          </p:nvPr>
        </p:nvSpPr>
        <p:spPr>
          <a:xfrm>
            <a:off x="166255" y="228600"/>
            <a:ext cx="8669897" cy="758952"/>
          </a:xfrm>
        </p:spPr>
        <p:txBody>
          <a:bodyPr>
            <a:normAutofit fontScale="90000"/>
          </a:bodyPr>
          <a:lstStyle/>
          <a:p>
            <a:r>
              <a:rPr lang="fr-FR" altLang="zh-CN" b="1" dirty="0">
                <a:solidFill>
                  <a:srgbClr val="000000"/>
                </a:solidFill>
                <a:ea typeface="SimSun" pitchFamily="2" charset="-122"/>
                <a:cs typeface="Times New Roman" charset="0"/>
              </a:rPr>
              <a:t>8. Fonctionnement des pools d'impression</a:t>
            </a:r>
            <a:r>
              <a:rPr lang="en-IE" altLang="zh-CN" b="1" dirty="0">
                <a:solidFill>
                  <a:srgbClr val="000000"/>
                </a:solidFill>
                <a:ea typeface="SimSun" pitchFamily="2" charset="-122"/>
              </a:rPr>
              <a:t> </a:t>
            </a:r>
            <a:endParaRPr lang="en-US" b="1" dirty="0">
              <a:solidFill>
                <a:srgbClr val="000000"/>
              </a:solidFill>
            </a:endParaRPr>
          </a:p>
        </p:txBody>
      </p:sp>
      <p:pic>
        <p:nvPicPr>
          <p:cNvPr id="1026" name="Picture 2"/>
          <p:cNvPicPr>
            <a:picLocks noChangeAspect="1" noChangeArrowheads="1"/>
          </p:cNvPicPr>
          <p:nvPr/>
        </p:nvPicPr>
        <p:blipFill>
          <a:blip r:embed="rId3"/>
          <a:srcRect l="26493" t="22078" r="26387" b="22727"/>
          <a:stretch>
            <a:fillRect/>
          </a:stretch>
        </p:blipFill>
        <p:spPr bwMode="auto">
          <a:xfrm>
            <a:off x="599704" y="1436914"/>
            <a:ext cx="7944592" cy="5255178"/>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l="26715" t="22930" r="26257" b="22687"/>
          <a:stretch>
            <a:fillRect/>
          </a:stretch>
        </p:blipFill>
        <p:spPr bwMode="auto">
          <a:xfrm>
            <a:off x="581893" y="1436915"/>
            <a:ext cx="8003969" cy="5226763"/>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a:srcRect l="18556" t="22281" r="26348" b="22524"/>
          <a:stretch>
            <a:fillRect/>
          </a:stretch>
        </p:blipFill>
        <p:spPr bwMode="auto">
          <a:xfrm>
            <a:off x="152254" y="1413167"/>
            <a:ext cx="8837371" cy="5248890"/>
          </a:xfrm>
          <a:prstGeom prst="rect">
            <a:avLst/>
          </a:prstGeom>
          <a:noFill/>
          <a:ln w="9525">
            <a:noFill/>
            <a:miter lim="800000"/>
            <a:headEnd/>
            <a:tailEnd/>
          </a:ln>
          <a:effectLst/>
        </p:spPr>
      </p:pic>
      <p:pic>
        <p:nvPicPr>
          <p:cNvPr id="1029" name="Picture 5"/>
          <p:cNvPicPr>
            <a:picLocks noChangeAspect="1" noChangeArrowheads="1"/>
          </p:cNvPicPr>
          <p:nvPr/>
        </p:nvPicPr>
        <p:blipFill>
          <a:blip r:embed="rId6"/>
          <a:srcRect l="21398" t="18222" r="22773" b="17817"/>
          <a:stretch>
            <a:fillRect/>
          </a:stretch>
        </p:blipFill>
        <p:spPr bwMode="auto">
          <a:xfrm>
            <a:off x="178129" y="1389412"/>
            <a:ext cx="8763990" cy="5447167"/>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checkerboard(across)">
                                      <p:cBhvr>
                                        <p:cTn id="7" dur="10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27"/>
                                        </p:tgtEl>
                                        <p:attrNameLst>
                                          <p:attrName>style.visibility</p:attrName>
                                        </p:attrNameLst>
                                      </p:cBhvr>
                                      <p:to>
                                        <p:strVal val="visible"/>
                                      </p:to>
                                    </p:set>
                                    <p:animEffect transition="in" filter="checkerboard(across)">
                                      <p:cBhvr>
                                        <p:cTn id="12" dur="1000"/>
                                        <p:tgtEl>
                                          <p:spTgt spid="102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checkerboard(across)">
                                      <p:cBhvr>
                                        <p:cTn id="17" dur="1000"/>
                                        <p:tgtEl>
                                          <p:spTgt spid="1028"/>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029"/>
                                        </p:tgtEl>
                                        <p:attrNameLst>
                                          <p:attrName>style.visibility</p:attrName>
                                        </p:attrNameLst>
                                      </p:cBhvr>
                                      <p:to>
                                        <p:strVal val="visible"/>
                                      </p:to>
                                    </p:set>
                                    <p:animEffect transition="in" filter="checkerboard(across)">
                                      <p:cBhvr>
                                        <p:cTn id="22" dur="1000"/>
                                        <p:tgtEl>
                                          <p:spTgt spid="1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C00000"/>
                </a:solidFill>
              </a:rPr>
              <a:t>Exercices</a:t>
            </a:r>
          </a:p>
        </p:txBody>
      </p:sp>
      <p:sp>
        <p:nvSpPr>
          <p:cNvPr id="3" name="Espace réservé du contenu 2"/>
          <p:cNvSpPr>
            <a:spLocks noGrp="1"/>
          </p:cNvSpPr>
          <p:nvPr>
            <p:ph sz="quarter" idx="1"/>
          </p:nvPr>
        </p:nvSpPr>
        <p:spPr/>
        <p:txBody>
          <a:bodyPr>
            <a:normAutofit fontScale="92500" lnSpcReduction="10000"/>
          </a:bodyPr>
          <a:lstStyle/>
          <a:p>
            <a:pPr lvl="0">
              <a:buClrTx/>
              <a:buFont typeface="Wingdings" pitchFamily="2" charset="2"/>
              <a:buChar char="q"/>
            </a:pPr>
            <a:r>
              <a:rPr lang="fr-FR" dirty="0"/>
              <a:t>Quelle est la différence entre une imprimante et un périphérique d'impression ?</a:t>
            </a:r>
          </a:p>
          <a:p>
            <a:pPr>
              <a:buClrTx/>
              <a:buFont typeface="Wingdings" pitchFamily="2" charset="2"/>
              <a:buChar char="q"/>
            </a:pPr>
            <a:r>
              <a:rPr lang="fr-FR" i="1" dirty="0"/>
              <a:t>L'imprimante est l'interface logicielle entre l'application et le périphérique d'impression. Le périphérique d'impression est le périphérique matériel qui produit physiquement les documents imprimés.</a:t>
            </a:r>
            <a:endParaRPr lang="fr-FR" dirty="0"/>
          </a:p>
          <a:p>
            <a:pPr lvl="0">
              <a:buClrTx/>
              <a:buFont typeface="Wingdings" pitchFamily="2" charset="2"/>
              <a:buChar char="q"/>
            </a:pPr>
            <a:r>
              <a:rPr lang="fr-FR" dirty="0"/>
              <a:t>Quel est l’emplacement du spouleur d’impression ?</a:t>
            </a:r>
          </a:p>
          <a:p>
            <a:pPr>
              <a:buClrTx/>
              <a:buFont typeface="Wingdings" pitchFamily="2" charset="2"/>
              <a:buChar char="q"/>
            </a:pPr>
            <a:r>
              <a:rPr lang="fr-FR" i="1" dirty="0"/>
              <a:t>%</a:t>
            </a:r>
            <a:r>
              <a:rPr lang="fr-FR" i="1" dirty="0" err="1"/>
              <a:t>SystemRoot</a:t>
            </a:r>
            <a:r>
              <a:rPr lang="fr-FR" i="1" dirty="0"/>
              <a:t>%\</a:t>
            </a:r>
            <a:r>
              <a:rPr lang="fr-FR" i="1" dirty="0" err="1"/>
              <a:t>Spool\Printers</a:t>
            </a:r>
            <a:endParaRPr lang="fr-FR" dirty="0"/>
          </a:p>
          <a:p>
            <a:pPr lvl="0">
              <a:buClrTx/>
              <a:buFont typeface="Wingdings" pitchFamily="2" charset="2"/>
              <a:buChar char="q"/>
            </a:pPr>
            <a:r>
              <a:rPr lang="fr-FR" dirty="0"/>
              <a:t>Quelle est la priorité la plus haute que l'on puisse attribuer à une imprimante ?</a:t>
            </a:r>
          </a:p>
          <a:p>
            <a:pPr>
              <a:buClrTx/>
              <a:buFont typeface="Wingdings" pitchFamily="2" charset="2"/>
              <a:buChar char="q"/>
            </a:pPr>
            <a:r>
              <a:rPr lang="fr-FR" i="1" dirty="0"/>
              <a:t>La priorité la plus haute est 99.</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rgbClr val="C00000"/>
                </a:solidFill>
              </a:rPr>
              <a:t>Exercices</a:t>
            </a:r>
          </a:p>
        </p:txBody>
      </p:sp>
      <p:sp>
        <p:nvSpPr>
          <p:cNvPr id="3" name="Espace réservé du contenu 2"/>
          <p:cNvSpPr>
            <a:spLocks noGrp="1"/>
          </p:cNvSpPr>
          <p:nvPr>
            <p:ph sz="quarter" idx="1"/>
          </p:nvPr>
        </p:nvSpPr>
        <p:spPr/>
        <p:txBody>
          <a:bodyPr>
            <a:normAutofit fontScale="85000" lnSpcReduction="10000"/>
          </a:bodyPr>
          <a:lstStyle/>
          <a:p>
            <a:pPr lvl="0"/>
            <a:r>
              <a:rPr lang="fr-FR" dirty="0"/>
              <a:t>Pourquoi créer un pool d'imprimantes ?</a:t>
            </a:r>
          </a:p>
          <a:p>
            <a:r>
              <a:rPr lang="fr-FR" i="1" dirty="0"/>
              <a:t>Cela accélère l'impression. Les utilisateurs peuvent imprimer sur une seule imprimante ayant plusieurs périphériques d'impression, de sorte que les documents ne traînent pas dans la file d'attente. De plus, il est plus facile de gérer une seule imprimante</a:t>
            </a:r>
          </a:p>
          <a:p>
            <a:pPr lvl="0"/>
            <a:r>
              <a:rPr lang="fr-FR" dirty="0"/>
              <a:t>De quelle permission d'impression l'utilisateur a-t-il besoin pour modifier la priorité d'impression du document d'un autre utilisateur ?</a:t>
            </a:r>
          </a:p>
          <a:p>
            <a:r>
              <a:rPr lang="fr-FR" i="1" dirty="0"/>
              <a:t>Gestion de document.</a:t>
            </a:r>
          </a:p>
          <a:p>
            <a:pPr lvl="0"/>
            <a:r>
              <a:rPr lang="fr-FR" dirty="0"/>
              <a:t>Citez au moins trois types de ports possibles pour utiliser une imprimante.</a:t>
            </a:r>
          </a:p>
          <a:p>
            <a:r>
              <a:rPr lang="fr-FR" i="1"/>
              <a:t>Vous pouvez citer le port parallèle LPT, USB et Infrarouge</a:t>
            </a:r>
            <a:endParaRPr lang="fr-FR"/>
          </a:p>
          <a:p>
            <a:endParaRPr lang="fr-FR"/>
          </a:p>
          <a:p>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16439</TotalTime>
  <Words>1187</Words>
  <Application>Microsoft Office PowerPoint</Application>
  <PresentationFormat>Affichage à l'écran (4:3)</PresentationFormat>
  <Paragraphs>183</Paragraphs>
  <Slides>21</Slides>
  <Notes>19</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21</vt:i4>
      </vt:variant>
    </vt:vector>
  </HeadingPairs>
  <TitlesOfParts>
    <vt:vector size="29" baseType="lpstr">
      <vt:lpstr>Arial</vt:lpstr>
      <vt:lpstr>Arial Narrow</vt:lpstr>
      <vt:lpstr>Georgia</vt:lpstr>
      <vt:lpstr>Tahoma</vt:lpstr>
      <vt:lpstr>Times New Roman</vt:lpstr>
      <vt:lpstr>Wingdings</vt:lpstr>
      <vt:lpstr>Wingdings 2</vt:lpstr>
      <vt:lpstr>Civil</vt:lpstr>
      <vt:lpstr>Chapitre 4   Administration de l'impression   </vt:lpstr>
      <vt:lpstr>Plan du cours</vt:lpstr>
      <vt:lpstr>1. Présentation de l'impression dans la famille Windows Server</vt:lpstr>
      <vt:lpstr>Terminologie  de l'impression </vt:lpstr>
      <vt:lpstr>Fonctionnement de l'impression dans un environnement Windows Server </vt:lpstr>
      <vt:lpstr>2. Installation et partage d'imprimantes </vt:lpstr>
      <vt:lpstr>Qu'est-ce qu'une imprimante locale et une imprimante réseau ? </vt:lpstr>
      <vt:lpstr>Configuration matérielle nécessaire pour configurer  un serveur d'impression </vt:lpstr>
      <vt:lpstr>3. Administration des accès aux imprimantes  à l'aide d'autorisations d'imprimantes partagées </vt:lpstr>
      <vt:lpstr>Description des autorisations associées aux imprimantes partagées </vt:lpstr>
      <vt:lpstr>Pourquoi modifier les autorisations des imprimantes partagées ? </vt:lpstr>
      <vt:lpstr>4. Gestion des pilotes d'imprimantes  </vt:lpstr>
      <vt:lpstr>Description d'un pilote d'imprimante </vt:lpstr>
      <vt:lpstr>5. Changement de l'emplacement du spouleur d'impression</vt:lpstr>
      <vt:lpstr>Description d'un spouleur d'impression </vt:lpstr>
      <vt:lpstr>6. Définition des priorités d'imprimantes </vt:lpstr>
      <vt:lpstr>7. Planification de la disponibilité des imprimantes </vt:lpstr>
      <vt:lpstr>Quand est-il nécessaire de planifier la disponibilité des imprimantes ? </vt:lpstr>
      <vt:lpstr>8. Fonctionnement des pools d'impression </vt:lpstr>
      <vt:lpstr>Exercices</vt:lpstr>
      <vt:lpstr>Exercices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Module Title</dc:title>
  <dc:creator>User</dc:creator>
  <cp:lastModifiedBy>HALIMA.HOUSNY</cp:lastModifiedBy>
  <cp:revision>578</cp:revision>
  <dcterms:created xsi:type="dcterms:W3CDTF">2002-08-07T17:51:12Z</dcterms:created>
  <dcterms:modified xsi:type="dcterms:W3CDTF">2020-02-25T20:45:31Z</dcterms:modified>
</cp:coreProperties>
</file>