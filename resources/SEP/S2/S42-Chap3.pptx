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6"/>
  </p:notesMasterIdLst>
  <p:handoutMasterIdLst>
    <p:handoutMasterId r:id="rId37"/>
  </p:handoutMasterIdLst>
  <p:sldIdLst>
    <p:sldId id="416" r:id="rId2"/>
    <p:sldId id="420" r:id="rId3"/>
    <p:sldId id="421" r:id="rId4"/>
    <p:sldId id="585" r:id="rId5"/>
    <p:sldId id="533" r:id="rId6"/>
    <p:sldId id="580" r:id="rId7"/>
    <p:sldId id="458" r:id="rId8"/>
    <p:sldId id="588" r:id="rId9"/>
    <p:sldId id="569" r:id="rId10"/>
    <p:sldId id="523" r:id="rId11"/>
    <p:sldId id="562" r:id="rId12"/>
    <p:sldId id="563" r:id="rId13"/>
    <p:sldId id="482" r:id="rId14"/>
    <p:sldId id="464" r:id="rId15"/>
    <p:sldId id="539" r:id="rId16"/>
    <p:sldId id="536" r:id="rId17"/>
    <p:sldId id="590" r:id="rId18"/>
    <p:sldId id="586" r:id="rId19"/>
    <p:sldId id="577" r:id="rId20"/>
    <p:sldId id="505" r:id="rId21"/>
    <p:sldId id="470" r:id="rId22"/>
    <p:sldId id="487" r:id="rId23"/>
    <p:sldId id="592" r:id="rId24"/>
    <p:sldId id="517" r:id="rId25"/>
    <p:sldId id="587" r:id="rId26"/>
    <p:sldId id="589" r:id="rId27"/>
    <p:sldId id="591" r:id="rId28"/>
    <p:sldId id="508" r:id="rId29"/>
    <p:sldId id="578" r:id="rId30"/>
    <p:sldId id="579" r:id="rId31"/>
    <p:sldId id="581" r:id="rId32"/>
    <p:sldId id="582" r:id="rId33"/>
    <p:sldId id="583" r:id="rId34"/>
    <p:sldId id="584" r:id="rId35"/>
  </p:sldIdLst>
  <p:sldSz cx="9144000" cy="6858000" type="screen4x3"/>
  <p:notesSz cx="6781800" cy="9918700"/>
  <p:defaultTextStyle>
    <a:defPPr>
      <a:defRPr lang="en-US"/>
    </a:defPPr>
    <a:lvl1pPr algn="ctr" rtl="0" eaLnBrk="0" fontAlgn="base" hangingPunct="0">
      <a:lnSpc>
        <a:spcPct val="85000"/>
      </a:lnSpc>
      <a:spcBef>
        <a:spcPct val="0"/>
      </a:spcBef>
      <a:spcAft>
        <a:spcPct val="0"/>
      </a:spcAft>
      <a:defRPr sz="1400" b="1" kern="1200">
        <a:solidFill>
          <a:srgbClr val="000000"/>
        </a:solidFill>
        <a:latin typeface="Arial Narrow" charset="0"/>
        <a:ea typeface="SimSun" pitchFamily="2" charset="-122"/>
        <a:cs typeface="+mn-cs"/>
      </a:defRPr>
    </a:lvl1pPr>
    <a:lvl2pPr marL="457200" algn="ctr" rtl="0" eaLnBrk="0" fontAlgn="base" hangingPunct="0">
      <a:lnSpc>
        <a:spcPct val="85000"/>
      </a:lnSpc>
      <a:spcBef>
        <a:spcPct val="0"/>
      </a:spcBef>
      <a:spcAft>
        <a:spcPct val="0"/>
      </a:spcAft>
      <a:defRPr sz="1400" b="1" kern="1200">
        <a:solidFill>
          <a:srgbClr val="000000"/>
        </a:solidFill>
        <a:latin typeface="Arial Narrow" charset="0"/>
        <a:ea typeface="SimSun" pitchFamily="2" charset="-122"/>
        <a:cs typeface="+mn-cs"/>
      </a:defRPr>
    </a:lvl2pPr>
    <a:lvl3pPr marL="914400" algn="ctr" rtl="0" eaLnBrk="0" fontAlgn="base" hangingPunct="0">
      <a:lnSpc>
        <a:spcPct val="85000"/>
      </a:lnSpc>
      <a:spcBef>
        <a:spcPct val="0"/>
      </a:spcBef>
      <a:spcAft>
        <a:spcPct val="0"/>
      </a:spcAft>
      <a:defRPr sz="1400" b="1" kern="1200">
        <a:solidFill>
          <a:srgbClr val="000000"/>
        </a:solidFill>
        <a:latin typeface="Arial Narrow" charset="0"/>
        <a:ea typeface="SimSun" pitchFamily="2" charset="-122"/>
        <a:cs typeface="+mn-cs"/>
      </a:defRPr>
    </a:lvl3pPr>
    <a:lvl4pPr marL="1371600" algn="ctr" rtl="0" eaLnBrk="0" fontAlgn="base" hangingPunct="0">
      <a:lnSpc>
        <a:spcPct val="85000"/>
      </a:lnSpc>
      <a:spcBef>
        <a:spcPct val="0"/>
      </a:spcBef>
      <a:spcAft>
        <a:spcPct val="0"/>
      </a:spcAft>
      <a:defRPr sz="1400" b="1" kern="1200">
        <a:solidFill>
          <a:srgbClr val="000000"/>
        </a:solidFill>
        <a:latin typeface="Arial Narrow" charset="0"/>
        <a:ea typeface="SimSun" pitchFamily="2" charset="-122"/>
        <a:cs typeface="+mn-cs"/>
      </a:defRPr>
    </a:lvl4pPr>
    <a:lvl5pPr marL="1828800" algn="ctr" rtl="0" eaLnBrk="0" fontAlgn="base" hangingPunct="0">
      <a:lnSpc>
        <a:spcPct val="85000"/>
      </a:lnSpc>
      <a:spcBef>
        <a:spcPct val="0"/>
      </a:spcBef>
      <a:spcAft>
        <a:spcPct val="0"/>
      </a:spcAft>
      <a:defRPr sz="1400" b="1" kern="1200">
        <a:solidFill>
          <a:srgbClr val="000000"/>
        </a:solidFill>
        <a:latin typeface="Arial Narrow" charset="0"/>
        <a:ea typeface="SimSun" pitchFamily="2" charset="-122"/>
        <a:cs typeface="+mn-cs"/>
      </a:defRPr>
    </a:lvl5pPr>
    <a:lvl6pPr marL="2286000" algn="l" defTabSz="914400" rtl="0" eaLnBrk="1" latinLnBrk="0" hangingPunct="1">
      <a:defRPr sz="1400" b="1" kern="1200">
        <a:solidFill>
          <a:srgbClr val="000000"/>
        </a:solidFill>
        <a:latin typeface="Arial Narrow" charset="0"/>
        <a:ea typeface="SimSun" pitchFamily="2" charset="-122"/>
        <a:cs typeface="+mn-cs"/>
      </a:defRPr>
    </a:lvl6pPr>
    <a:lvl7pPr marL="2743200" algn="l" defTabSz="914400" rtl="0" eaLnBrk="1" latinLnBrk="0" hangingPunct="1">
      <a:defRPr sz="1400" b="1" kern="1200">
        <a:solidFill>
          <a:srgbClr val="000000"/>
        </a:solidFill>
        <a:latin typeface="Arial Narrow" charset="0"/>
        <a:ea typeface="SimSun" pitchFamily="2" charset="-122"/>
        <a:cs typeface="+mn-cs"/>
      </a:defRPr>
    </a:lvl7pPr>
    <a:lvl8pPr marL="3200400" algn="l" defTabSz="914400" rtl="0" eaLnBrk="1" latinLnBrk="0" hangingPunct="1">
      <a:defRPr sz="1400" b="1" kern="1200">
        <a:solidFill>
          <a:srgbClr val="000000"/>
        </a:solidFill>
        <a:latin typeface="Arial Narrow" charset="0"/>
        <a:ea typeface="SimSun" pitchFamily="2" charset="-122"/>
        <a:cs typeface="+mn-cs"/>
      </a:defRPr>
    </a:lvl8pPr>
    <a:lvl9pPr marL="3657600" algn="l" defTabSz="914400" rtl="0" eaLnBrk="1" latinLnBrk="0" hangingPunct="1">
      <a:defRPr sz="1400" b="1" kern="1200">
        <a:solidFill>
          <a:srgbClr val="000000"/>
        </a:solidFill>
        <a:latin typeface="Arial Narrow" charset="0"/>
        <a:ea typeface="SimSun" pitchFamily="2" charset="-122"/>
        <a:cs typeface="+mn-cs"/>
      </a:defRPr>
    </a:lvl9pPr>
  </p:defaultTextStyle>
  <p:extLst>
    <p:ext uri="{EFAFB233-063F-42B5-8137-9DF3F51BA10A}">
      <p15:sldGuideLst xmlns:p15="http://schemas.microsoft.com/office/powerpoint/2012/main">
        <p15:guide id="1" orient="horz" pos="2161">
          <p15:clr>
            <a:srgbClr val="A4A3A4"/>
          </p15:clr>
        </p15:guide>
        <p15:guide id="2" pos="2879">
          <p15:clr>
            <a:srgbClr val="A4A3A4"/>
          </p15:clr>
        </p15:guide>
      </p15:sldGuideLst>
    </p:ext>
    <p:ext uri="{2D200454-40CA-4A62-9FC3-DE9A4176ACB9}">
      <p15:notesGuideLst xmlns:p15="http://schemas.microsoft.com/office/powerpoint/2012/main">
        <p15:guide id="1" orient="horz" pos="3124">
          <p15:clr>
            <a:srgbClr val="A4A3A4"/>
          </p15:clr>
        </p15:guide>
        <p15:guide id="2" pos="21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7" name="jimcla" initials="" lastIdx="5" clrIdx="7"/>
  <p:cmAuthor id="1" name="v-sonalm" initials="" lastIdx="2" clrIdx="1"/>
  <p:cmAuthor id="8" name="dianaj" initials="" lastIdx="1" clrIdx="8"/>
  <p:cmAuthor id="2" name="Sonal Mangrulkar" initials="" lastIdx="24" clrIdx="2"/>
  <p:cmAuthor id="3" name="jtoland" initials="" lastIdx="27" clrIdx="3"/>
  <p:cmAuthor id="4" name="Jeff Johnson" initials="" lastIdx="16" clrIdx="4"/>
  <p:cmAuthor id="5" name="Jim Toland" initials="" lastIdx="10" clrIdx="5"/>
  <p:cmAuthor id="6" name="Misty Shock" initials="" lastIdx="21" clrIdx="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99"/>
    <a:srgbClr val="D5D69C"/>
    <a:srgbClr val="CC0000"/>
    <a:srgbClr val="333333"/>
    <a:srgbClr val="EEEFD7"/>
    <a:srgbClr val="DFE8F2"/>
    <a:srgbClr val="BBCDE3"/>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58" autoAdjust="0"/>
    <p:restoredTop sz="91402" autoAdjust="0"/>
  </p:normalViewPr>
  <p:slideViewPr>
    <p:cSldViewPr snapToGrid="0">
      <p:cViewPr varScale="1">
        <p:scale>
          <a:sx n="45" d="100"/>
          <a:sy n="45" d="100"/>
        </p:scale>
        <p:origin x="1292" y="12"/>
      </p:cViewPr>
      <p:guideLst>
        <p:guide orient="horz" pos="2161"/>
        <p:guide pos="2879"/>
      </p:guideLst>
    </p:cSldViewPr>
  </p:slideViewPr>
  <p:outlineViewPr>
    <p:cViewPr>
      <p:scale>
        <a:sx n="33" d="100"/>
        <a:sy n="33" d="100"/>
      </p:scale>
      <p:origin x="0" y="-52"/>
    </p:cViewPr>
    <p:sldLst>
      <p:sld r:id="rId1" collapse="1"/>
    </p:sldLst>
  </p:outlineViewPr>
  <p:notesTextViewPr>
    <p:cViewPr>
      <p:scale>
        <a:sx n="100" d="100"/>
        <a:sy n="100" d="100"/>
      </p:scale>
      <p:origin x="0" y="0"/>
    </p:cViewPr>
  </p:notesTextViewPr>
  <p:sorterViewPr>
    <p:cViewPr>
      <p:scale>
        <a:sx n="66" d="100"/>
        <a:sy n="66" d="100"/>
      </p:scale>
      <p:origin x="0" y="4980"/>
    </p:cViewPr>
  </p:sorterViewPr>
  <p:notesViewPr>
    <p:cSldViewPr snapToGrid="0">
      <p:cViewPr varScale="1">
        <p:scale>
          <a:sx n="56" d="100"/>
          <a:sy n="56" d="100"/>
        </p:scale>
        <p:origin x="-1806" y="-84"/>
      </p:cViewPr>
      <p:guideLst>
        <p:guide orient="horz" pos="3124"/>
        <p:guide pos="21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defRPr sz="1200" b="0">
                <a:solidFill>
                  <a:schemeClr val="tx1"/>
                </a:solidFill>
                <a:latin typeface="Arial" charset="0"/>
              </a:defRPr>
            </a:lvl1pPr>
          </a:lstStyle>
          <a:p>
            <a:endParaRPr lang="en-US"/>
          </a:p>
        </p:txBody>
      </p:sp>
      <p:sp>
        <p:nvSpPr>
          <p:cNvPr id="278531" name="Rectangle 3"/>
          <p:cNvSpPr>
            <a:spLocks noGrp="1" noChangeArrowheads="1"/>
          </p:cNvSpPr>
          <p:nvPr>
            <p:ph type="dt" sz="quarter" idx="1"/>
          </p:nvPr>
        </p:nvSpPr>
        <p:spPr bwMode="auto">
          <a:xfrm>
            <a:off x="3841750" y="0"/>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b="0">
                <a:solidFill>
                  <a:schemeClr val="tx1"/>
                </a:solidFill>
                <a:latin typeface="Arial" charset="0"/>
              </a:defRPr>
            </a:lvl1pPr>
          </a:lstStyle>
          <a:p>
            <a:endParaRPr lang="en-US"/>
          </a:p>
        </p:txBody>
      </p:sp>
      <p:sp>
        <p:nvSpPr>
          <p:cNvPr id="278532" name="Rectangle 4"/>
          <p:cNvSpPr>
            <a:spLocks noGrp="1" noChangeArrowheads="1"/>
          </p:cNvSpPr>
          <p:nvPr>
            <p:ph type="ftr" sz="quarter" idx="2"/>
          </p:nvPr>
        </p:nvSpPr>
        <p:spPr bwMode="auto">
          <a:xfrm>
            <a:off x="0" y="9421813"/>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defRPr sz="1200" b="0">
                <a:solidFill>
                  <a:schemeClr val="tx1"/>
                </a:solidFill>
                <a:latin typeface="Arial" charset="0"/>
              </a:defRPr>
            </a:lvl1pPr>
          </a:lstStyle>
          <a:p>
            <a:endParaRPr lang="en-US"/>
          </a:p>
        </p:txBody>
      </p:sp>
      <p:sp>
        <p:nvSpPr>
          <p:cNvPr id="278533" name="Rectangle 5"/>
          <p:cNvSpPr>
            <a:spLocks noGrp="1" noChangeArrowheads="1"/>
          </p:cNvSpPr>
          <p:nvPr>
            <p:ph type="sldNum" sz="quarter" idx="3"/>
          </p:nvPr>
        </p:nvSpPr>
        <p:spPr bwMode="auto">
          <a:xfrm>
            <a:off x="3841750" y="9421813"/>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b="0">
                <a:solidFill>
                  <a:schemeClr val="tx1"/>
                </a:solidFill>
                <a:latin typeface="Arial" charset="0"/>
              </a:defRPr>
            </a:lvl1pPr>
          </a:lstStyle>
          <a:p>
            <a:fld id="{92F62060-D28D-433F-ADBB-463C4A6A8EDE}"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defRPr sz="1200" b="0">
                <a:solidFill>
                  <a:schemeClr val="tx1"/>
                </a:solidFill>
                <a:latin typeface="Arial" charset="0"/>
              </a:defRPr>
            </a:lvl1pPr>
          </a:lstStyle>
          <a:p>
            <a:endParaRPr lang="en-US"/>
          </a:p>
        </p:txBody>
      </p:sp>
      <p:sp>
        <p:nvSpPr>
          <p:cNvPr id="5123" name="Rectangle 3"/>
          <p:cNvSpPr>
            <a:spLocks noGrp="1" noChangeArrowheads="1"/>
          </p:cNvSpPr>
          <p:nvPr>
            <p:ph type="dt" idx="1"/>
          </p:nvPr>
        </p:nvSpPr>
        <p:spPr bwMode="auto">
          <a:xfrm>
            <a:off x="3841750" y="0"/>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b="0">
                <a:solidFill>
                  <a:schemeClr val="tx1"/>
                </a:solidFill>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911225" y="744538"/>
            <a:ext cx="4959350" cy="3719512"/>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77863" y="4711700"/>
            <a:ext cx="5426075" cy="44624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9421813"/>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defRPr sz="1200" b="0">
                <a:solidFill>
                  <a:schemeClr val="tx1"/>
                </a:solidFill>
                <a:latin typeface="Arial" charset="0"/>
              </a:defRPr>
            </a:lvl1pPr>
          </a:lstStyle>
          <a:p>
            <a:endParaRPr lang="en-US"/>
          </a:p>
        </p:txBody>
      </p:sp>
      <p:sp>
        <p:nvSpPr>
          <p:cNvPr id="5127" name="Rectangle 7"/>
          <p:cNvSpPr>
            <a:spLocks noGrp="1" noChangeArrowheads="1"/>
          </p:cNvSpPr>
          <p:nvPr>
            <p:ph type="sldNum" sz="quarter" idx="5"/>
          </p:nvPr>
        </p:nvSpPr>
        <p:spPr bwMode="auto">
          <a:xfrm>
            <a:off x="3841750" y="9421813"/>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b="0">
                <a:solidFill>
                  <a:schemeClr val="tx1"/>
                </a:solidFill>
                <a:latin typeface="Arial" charset="0"/>
              </a:defRPr>
            </a:lvl1pPr>
          </a:lstStyle>
          <a:p>
            <a:fld id="{BED5F9DB-A311-41E4-B028-F46A58251C9F}"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763CED-D3E5-445A-AE88-E61B93875D3A}" type="slidenum">
              <a:rPr lang="en-US"/>
              <a:pPr/>
              <a:t>1</a:t>
            </a:fld>
            <a:endParaRPr lang="en-US"/>
          </a:p>
        </p:txBody>
      </p:sp>
      <p:sp>
        <p:nvSpPr>
          <p:cNvPr id="388098" name="Rectangle-2"/>
          <p:cNvSpPr>
            <a:spLocks noGrp="1" noRot="1" noChangeAspect="1" noChangeArrowheads="1" noTextEdit="1"/>
          </p:cNvSpPr>
          <p:nvPr>
            <p:ph type="sldImg"/>
          </p:nvPr>
        </p:nvSpPr>
        <p:spPr>
          <a:ln/>
        </p:spPr>
      </p:sp>
      <p:sp>
        <p:nvSpPr>
          <p:cNvPr id="388099" name="Rectangle-3"/>
          <p:cNvSpPr>
            <a:spLocks noGrp="1" noChangeArrowheads="1"/>
          </p:cNvSpPr>
          <p:nvPr>
            <p:ph type="body" idx="1"/>
          </p:nvPr>
        </p:nvSpPr>
        <p:spPr/>
        <p:txBody>
          <a:bodyPr/>
          <a:lstStyle/>
          <a:p>
            <a:endParaRPr lang="en-I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26EFAE-F539-4675-8B0A-F9F5B35B937E}" type="slidenum">
              <a:rPr lang="en-US"/>
              <a:pPr/>
              <a:t>2</a:t>
            </a:fld>
            <a:endParaRPr lang="en-US"/>
          </a:p>
        </p:txBody>
      </p:sp>
      <p:sp>
        <p:nvSpPr>
          <p:cNvPr id="385026" name="Rectangle-2"/>
          <p:cNvSpPr>
            <a:spLocks noGrp="1" noRot="1" noChangeAspect="1" noChangeArrowheads="1" noTextEdit="1"/>
          </p:cNvSpPr>
          <p:nvPr>
            <p:ph type="sldImg"/>
          </p:nvPr>
        </p:nvSpPr>
        <p:spPr>
          <a:ln/>
        </p:spPr>
      </p:sp>
      <p:sp>
        <p:nvSpPr>
          <p:cNvPr id="385027"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8E89EA-81BD-4633-BFC0-22834360FE7F}" type="slidenum">
              <a:rPr lang="en-US"/>
              <a:pPr/>
              <a:t>3</a:t>
            </a:fld>
            <a:endParaRPr lang="en-US"/>
          </a:p>
        </p:txBody>
      </p:sp>
      <p:sp>
        <p:nvSpPr>
          <p:cNvPr id="397314" name="Rectangle-2"/>
          <p:cNvSpPr>
            <a:spLocks noGrp="1" noRot="1" noChangeAspect="1" noChangeArrowheads="1" noTextEdit="1"/>
          </p:cNvSpPr>
          <p:nvPr>
            <p:ph type="sldImg"/>
          </p:nvPr>
        </p:nvSpPr>
        <p:spPr>
          <a:ln/>
        </p:spPr>
      </p:sp>
      <p:sp>
        <p:nvSpPr>
          <p:cNvPr id="397315"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p:txBody>
          <a:bodyPr/>
          <a:lstStyle/>
          <a:p>
            <a:pPr>
              <a:defRPr/>
            </a:pPr>
            <a:r>
              <a:rPr lang="en-US" dirty="0">
                <a:solidFill>
                  <a:schemeClr val="tx1"/>
                </a:solidFill>
              </a:rPr>
              <a:t>Module 3: Configuring File Access and Printers on Windows 7 Clients</a:t>
            </a:r>
          </a:p>
        </p:txBody>
      </p:sp>
      <p:sp>
        <p:nvSpPr>
          <p:cNvPr id="52227" name="Rectangle 3"/>
          <p:cNvSpPr>
            <a:spLocks noGrp="1" noChangeArrowheads="1"/>
          </p:cNvSpPr>
          <p:nvPr>
            <p:ph type="dt" sz="quarter" idx="1"/>
          </p:nvPr>
        </p:nvSpPr>
        <p:spPr/>
        <p:txBody>
          <a:bodyPr/>
          <a:lstStyle/>
          <a:p>
            <a:pPr>
              <a:defRPr/>
            </a:pPr>
            <a:r>
              <a:rPr lang="en-US" dirty="0"/>
              <a:t>Course 6292A</a:t>
            </a:r>
          </a:p>
        </p:txBody>
      </p:sp>
      <p:sp>
        <p:nvSpPr>
          <p:cNvPr id="61444" name="Rectangle 7"/>
          <p:cNvSpPr>
            <a:spLocks noGrp="1" noChangeArrowheads="1"/>
          </p:cNvSpPr>
          <p:nvPr>
            <p:ph type="sldNum" sz="quarter" idx="5"/>
          </p:nvPr>
        </p:nvSpPr>
        <p:spPr>
          <a:noFill/>
        </p:spPr>
        <p:txBody>
          <a:bodyPr/>
          <a:lstStyle/>
          <a:p>
            <a:fld id="{2DCA3718-335B-4E38-96F1-DA0F5D599188}" type="slidenum">
              <a:rPr lang="en-US" smtClean="0"/>
              <a:pPr/>
              <a:t>4</a:t>
            </a:fld>
            <a:endParaRPr lang="en-US"/>
          </a:p>
        </p:txBody>
      </p:sp>
      <p:sp>
        <p:nvSpPr>
          <p:cNvPr id="61445" name="Rectangle 2"/>
          <p:cNvSpPr>
            <a:spLocks noGrp="1" noRot="1" noChangeAspect="1" noChangeArrowheads="1" noTextEdit="1"/>
          </p:cNvSpPr>
          <p:nvPr>
            <p:ph type="sldImg"/>
          </p:nvPr>
        </p:nvSpPr>
        <p:spPr>
          <a:xfrm>
            <a:off x="4210050" y="0"/>
            <a:ext cx="2697163" cy="2024063"/>
          </a:xfrm>
          <a:ln/>
        </p:spPr>
      </p:sp>
      <p:sp>
        <p:nvSpPr>
          <p:cNvPr id="61446" name="Rectangle 3"/>
          <p:cNvSpPr>
            <a:spLocks noGrp="1" noChangeArrowheads="1"/>
          </p:cNvSpPr>
          <p:nvPr>
            <p:ph type="body" idx="1"/>
          </p:nvPr>
        </p:nvSpPr>
        <p:spPr>
          <a:xfrm>
            <a:off x="304075" y="2330624"/>
            <a:ext cx="6081505" cy="7301830"/>
          </a:xfrm>
          <a:noFill/>
          <a:ln/>
        </p:spPr>
        <p:txBody>
          <a:bodyPr/>
          <a:lstStyle/>
          <a:p>
            <a:pPr eaLnBrk="1" hangingPunct="1">
              <a:tabLst>
                <a:tab pos="166688" algn="l"/>
              </a:tabLst>
            </a:pPr>
            <a:r>
              <a:rPr lang="en-US"/>
              <a:t>When describing authentication and authorization, you can use the analogy of trying to access a safety deposit box at a bank:</a:t>
            </a:r>
            <a:endParaRPr lang="en-US">
              <a:solidFill>
                <a:srgbClr val="FF0000"/>
              </a:solidFill>
            </a:endParaRPr>
          </a:p>
          <a:p>
            <a:pPr eaLnBrk="1" hangingPunct="1">
              <a:buFontTx/>
              <a:buChar char="•"/>
              <a:tabLst>
                <a:tab pos="166688" algn="l"/>
              </a:tabLst>
            </a:pPr>
            <a:r>
              <a:rPr lang="en-US"/>
              <a:t> Authentication – you provide identification.</a:t>
            </a:r>
          </a:p>
          <a:p>
            <a:pPr eaLnBrk="1" hangingPunct="1">
              <a:buFontTx/>
              <a:buChar char="•"/>
              <a:tabLst>
                <a:tab pos="166688" algn="l"/>
              </a:tabLst>
            </a:pPr>
            <a:r>
              <a:rPr lang="en-US"/>
              <a:t> Authorization – does the bank have you on a list? Does the list indicate you are allowed to access a safety deposit box or not?</a:t>
            </a:r>
          </a:p>
          <a:p>
            <a:pPr eaLnBrk="1" hangingPunct="1">
              <a:tabLst>
                <a:tab pos="166688" algn="l"/>
              </a:tabLst>
            </a:pPr>
            <a:endParaRPr lang="en-US"/>
          </a:p>
          <a:p>
            <a:pPr eaLnBrk="1" hangingPunct="1">
              <a:tabLst>
                <a:tab pos="166688" algn="l"/>
              </a:tabLst>
            </a:pPr>
            <a:r>
              <a:rPr lang="en-US"/>
              <a:t>A computer example:</a:t>
            </a:r>
          </a:p>
          <a:p>
            <a:pPr eaLnBrk="1" hangingPunct="1">
              <a:buFontTx/>
              <a:buChar char="•"/>
              <a:tabLst>
                <a:tab pos="166688" algn="l"/>
              </a:tabLst>
            </a:pPr>
            <a:r>
              <a:rPr lang="en-US"/>
              <a:t> When you log on, you are authenticated.</a:t>
            </a:r>
          </a:p>
          <a:p>
            <a:pPr eaLnBrk="1" hangingPunct="1">
              <a:buFontTx/>
              <a:buChar char="•"/>
              <a:tabLst>
                <a:tab pos="166688" algn="l"/>
              </a:tabLst>
            </a:pPr>
            <a:r>
              <a:rPr lang="en-US"/>
              <a:t> When you access a file, it is determined whether you are authorized and what access you have.</a:t>
            </a:r>
          </a:p>
          <a:p>
            <a:pPr eaLnBrk="1" hangingPunct="1">
              <a:buFontTx/>
              <a:buChar char="•"/>
              <a:tabLst>
                <a:tab pos="166688" algn="l"/>
              </a:tabLst>
            </a:pPr>
            <a:endParaRPr lang="en-US"/>
          </a:p>
          <a:p>
            <a:pPr eaLnBrk="1" hangingPunct="1">
              <a:tabLst>
                <a:tab pos="166688" algn="l"/>
              </a:tabLst>
            </a:pPr>
            <a:r>
              <a:rPr lang="en-US"/>
              <a:t>Note that there are three text boxes on the screen. The first two are authentication and authorization, which are the focus of this topic. The third text box at the bottom of the slide is the final component in the authorization process, which is to determine if the user’s permissions allow him or her to access and possibly update the resource. Mention that the topic of managing file access through user, file, and folder permissions is covered in the next lesson. </a:t>
            </a:r>
            <a:br>
              <a:rPr lang="en-US"/>
            </a:br>
            <a:endParaRPr lang="en-US"/>
          </a:p>
          <a:p>
            <a:pPr eaLnBrk="1" hangingPunct="1">
              <a:tabLst>
                <a:tab pos="166688" algn="l"/>
              </a:tabLst>
            </a:pPr>
            <a:r>
              <a:rPr lang="en-US"/>
              <a:t>Discuss the three types of authentication methods supported by Windows 7 for network logons (Kerberos version 5, Windows NT LAN Manager (NTML), and Certificate Mapping). Note how Kerberos is the preferred authentication protocol used by Windows 7, and spend some time reviewing the benefits that it provides. The benefits can be found in the detailed training manual in the companion CD, but are not included in the Student Guide. </a:t>
            </a:r>
          </a:p>
          <a:p>
            <a:pPr eaLnBrk="1" hangingPunct="1">
              <a:tabLst>
                <a:tab pos="166688" algn="l"/>
              </a:tabLst>
            </a:pPr>
            <a:endParaRPr lang="en-US"/>
          </a:p>
          <a:p>
            <a:pPr eaLnBrk="1" hangingPunct="1">
              <a:tabLst>
                <a:tab pos="166688" algn="l"/>
              </a:tabLst>
            </a:pPr>
            <a:endParaRPr lang="en-US"/>
          </a:p>
          <a:p>
            <a:pPr eaLnBrk="1" hangingPunct="1">
              <a:tabLst>
                <a:tab pos="166688" algn="l"/>
              </a:tabLst>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558B88-3F3C-454F-87C8-620B3CED950F}" type="slidenum">
              <a:rPr lang="en-US"/>
              <a:pPr/>
              <a:t>5</a:t>
            </a:fld>
            <a:endParaRPr lang="en-US"/>
          </a:p>
        </p:txBody>
      </p:sp>
      <p:sp>
        <p:nvSpPr>
          <p:cNvPr id="496642" name="Rectangle-2"/>
          <p:cNvSpPr>
            <a:spLocks noGrp="1" noRot="1" noChangeAspect="1" noChangeArrowheads="1" noTextEdit="1"/>
          </p:cNvSpPr>
          <p:nvPr>
            <p:ph type="sldImg"/>
          </p:nvPr>
        </p:nvSpPr>
        <p:spPr>
          <a:ln/>
        </p:spPr>
      </p:sp>
      <p:sp>
        <p:nvSpPr>
          <p:cNvPr id="496643" name="Rectangle-3"/>
          <p:cNvSpPr>
            <a:spLocks noGrp="1" noChangeArrowheads="1"/>
          </p:cNvSpPr>
          <p:nvPr>
            <p:ph type="body" idx="1"/>
          </p:nvPr>
        </p:nvSpPr>
        <p:spPr/>
        <p:txBody>
          <a:bodyPr/>
          <a:lstStyle/>
          <a:p>
            <a:pPr marL="190500" indent="-190500">
              <a:lnSpc>
                <a:spcPct val="80000"/>
              </a:lnSpc>
            </a:pPr>
            <a:endParaRPr lang="en-IE" sz="8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62FF67-D0BB-495F-AFB1-F6AA141FDD24}" type="slidenum">
              <a:rPr lang="en-US"/>
              <a:pPr/>
              <a:t>7</a:t>
            </a:fld>
            <a:endParaRPr lang="en-US"/>
          </a:p>
        </p:txBody>
      </p:sp>
      <p:sp>
        <p:nvSpPr>
          <p:cNvPr id="398338" name="Rectangle-2"/>
          <p:cNvSpPr>
            <a:spLocks noGrp="1" noRot="1" noChangeAspect="1" noChangeArrowheads="1" noTextEdit="1"/>
          </p:cNvSpPr>
          <p:nvPr>
            <p:ph type="sldImg"/>
          </p:nvPr>
        </p:nvSpPr>
        <p:spPr>
          <a:ln/>
        </p:spPr>
      </p:sp>
      <p:sp>
        <p:nvSpPr>
          <p:cNvPr id="398339" name="Rectangle-3"/>
          <p:cNvSpPr>
            <a:spLocks noGrp="1" noChangeArrowheads="1"/>
          </p:cNvSpPr>
          <p:nvPr>
            <p:ph type="body" idx="1"/>
          </p:nvPr>
        </p:nvSpPr>
        <p:spPr/>
        <p:txBody>
          <a:bodyPr/>
          <a:lstStyle/>
          <a:p>
            <a:endParaRPr lang="en-I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txBox="1">
            <a:spLocks noGrp="1" noChangeArrowheads="1"/>
          </p:cNvSpPr>
          <p:nvPr/>
        </p:nvSpPr>
        <p:spPr bwMode="auto">
          <a:xfrm>
            <a:off x="1" y="0"/>
            <a:ext cx="2939394" cy="237127"/>
          </a:xfrm>
          <a:prstGeom prst="rect">
            <a:avLst/>
          </a:prstGeom>
          <a:noFill/>
          <a:ln w="9525">
            <a:noFill/>
            <a:miter lim="800000"/>
            <a:headEnd/>
            <a:tailEnd/>
          </a:ln>
        </p:spPr>
        <p:txBody>
          <a:bodyPr/>
          <a:lstStyle/>
          <a:p>
            <a:r>
              <a:rPr lang="en-US" sz="1200">
                <a:latin typeface="Arial" charset="0"/>
              </a:rPr>
              <a:t>Course 6292A</a:t>
            </a:r>
          </a:p>
          <a:p>
            <a:r>
              <a:rPr lang="en-US" sz="1200">
                <a:latin typeface="Arial" charset="0"/>
              </a:rPr>
              <a:t>Module 3: Configuring File Access and Printers on Windows 7 Clients</a:t>
            </a:r>
          </a:p>
        </p:txBody>
      </p:sp>
      <p:sp>
        <p:nvSpPr>
          <p:cNvPr id="77827" name="Rectangle 7"/>
          <p:cNvSpPr txBox="1">
            <a:spLocks noGrp="1" noChangeArrowheads="1"/>
          </p:cNvSpPr>
          <p:nvPr/>
        </p:nvSpPr>
        <p:spPr bwMode="auto">
          <a:xfrm>
            <a:off x="3840871" y="9420733"/>
            <a:ext cx="2939394" cy="496274"/>
          </a:xfrm>
          <a:prstGeom prst="rect">
            <a:avLst/>
          </a:prstGeom>
          <a:noFill/>
          <a:ln w="9525">
            <a:noFill/>
            <a:miter lim="800000"/>
            <a:headEnd/>
            <a:tailEnd/>
          </a:ln>
        </p:spPr>
        <p:txBody>
          <a:bodyPr anchor="b"/>
          <a:lstStyle/>
          <a:p>
            <a:pPr algn="r"/>
            <a:fld id="{866A4846-7568-4BAE-8C65-967616AF1786}" type="slidenum">
              <a:rPr lang="en-US" sz="1200" b="0">
                <a:latin typeface="Arial" charset="0"/>
              </a:rPr>
              <a:pPr algn="r"/>
              <a:t>8</a:t>
            </a:fld>
            <a:endParaRPr lang="en-US" sz="1200" b="0">
              <a:latin typeface="Arial" charset="0"/>
            </a:endParaRPr>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xfrm>
            <a:off x="304075" y="2379744"/>
            <a:ext cx="6081505" cy="7252711"/>
          </a:xfrm>
          <a:ln/>
        </p:spPr>
        <p:txBody>
          <a:bodyPr/>
          <a:lstStyle/>
          <a:p>
            <a:pPr eaLnBrk="1" hangingPunct="1">
              <a:defRPr/>
            </a:pPr>
            <a:r>
              <a:rPr lang="en-US" dirty="0"/>
              <a:t>Mention that the icons for shared folders have changed from previous Windows versions. It will be beneficial to explain that the blue hand under the folder was replaced by an icon that shows two users.</a:t>
            </a:r>
            <a:br>
              <a:rPr lang="en-US" dirty="0"/>
            </a:br>
            <a:endParaRPr lang="en-US" dirty="0"/>
          </a:p>
          <a:p>
            <a:pPr eaLnBrk="1" hangingPunct="1">
              <a:defRPr/>
            </a:pPr>
            <a:r>
              <a:rPr lang="en-US" dirty="0"/>
              <a:t>The concept of shared folders will be nothing new to most, if not all, IT professionals. </a:t>
            </a:r>
            <a:br>
              <a:rPr lang="en-US" dirty="0"/>
            </a:br>
            <a:br>
              <a:rPr lang="en-US" dirty="0"/>
            </a:br>
            <a:r>
              <a:rPr lang="en-US" dirty="0"/>
              <a:t>Discuss why shared folders are needed. </a:t>
            </a:r>
            <a:br>
              <a:rPr lang="en-US" dirty="0"/>
            </a:br>
            <a:endParaRPr lang="en-US" dirty="0"/>
          </a:p>
          <a:p>
            <a:pPr eaLnBrk="1" hangingPunct="1">
              <a:defRPr/>
            </a:pPr>
            <a:r>
              <a:rPr lang="en-US" dirty="0"/>
              <a:t>Explain that shared folders be secured by assigning permissions. For example, mention that a best practice is to allow only Authenticated Users to the share.</a:t>
            </a:r>
            <a:br>
              <a:rPr lang="en-US" dirty="0"/>
            </a:br>
            <a:endParaRPr lang="en-US" dirty="0"/>
          </a:p>
          <a:p>
            <a:pPr eaLnBrk="1" hangingPunct="1">
              <a:defRPr/>
            </a:pPr>
            <a:r>
              <a:rPr lang="en-US" b="1" dirty="0"/>
              <a:t>Shared printers</a:t>
            </a:r>
            <a:endParaRPr lang="en-US" dirty="0"/>
          </a:p>
          <a:p>
            <a:pPr eaLnBrk="1" hangingPunct="1">
              <a:defRPr/>
            </a:pPr>
            <a:r>
              <a:rPr lang="en-US" dirty="0"/>
              <a:t>Briefly mention that the other common type of shared object in a networking environment are shared printers. </a:t>
            </a:r>
          </a:p>
          <a:p>
            <a:pPr marL="112713" indent="-112713" eaLnBrk="1" hangingPunct="1">
              <a:buFontTx/>
              <a:buChar char="•"/>
              <a:defRPr/>
            </a:pPr>
            <a:r>
              <a:rPr lang="en-US" dirty="0"/>
              <a:t> Printers are shared to allow multiple users to access the device.  </a:t>
            </a:r>
          </a:p>
          <a:p>
            <a:pPr marL="112713" indent="-112713" eaLnBrk="1" hangingPunct="1">
              <a:buFontTx/>
              <a:buChar char="•"/>
              <a:defRPr/>
            </a:pPr>
            <a:r>
              <a:rPr lang="en-US" dirty="0"/>
              <a:t> Printers can be shared from a local computer or from a server.</a:t>
            </a:r>
          </a:p>
          <a:p>
            <a:pPr marL="112713" indent="-112713" eaLnBrk="1" hangingPunct="1">
              <a:buFontTx/>
              <a:buChar char="•"/>
              <a:defRPr/>
            </a:pPr>
            <a:r>
              <a:rPr lang="en-US" dirty="0"/>
              <a:t> Shared printers can be published in AD DS.</a:t>
            </a:r>
          </a:p>
          <a:p>
            <a:pPr eaLnBrk="1" hangingPunct="1">
              <a:buFontTx/>
              <a:buChar char="•"/>
              <a:defRPr/>
            </a:pPr>
            <a:endParaRPr lang="en-US" dirty="0"/>
          </a:p>
          <a:p>
            <a:pPr>
              <a:defRPr/>
            </a:pPr>
            <a:r>
              <a:rPr lang="en-US" b="1" dirty="0"/>
              <a:t>Question:</a:t>
            </a:r>
            <a:r>
              <a:rPr lang="en-US" dirty="0"/>
              <a:t> What is a benefit of sharing folders across a network?</a:t>
            </a:r>
          </a:p>
          <a:p>
            <a:pPr>
              <a:defRPr/>
            </a:pPr>
            <a:r>
              <a:rPr lang="en-US" b="1" dirty="0"/>
              <a:t>Answer: </a:t>
            </a:r>
            <a:r>
              <a:rPr lang="en-US" dirty="0"/>
              <a:t>Sharing folders across a network keeps information up-to-date for a group of users and decreases the chance of file duplication because all files for a user account can be stored in a shared central repository.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9F280B-239C-4284-9DFD-21A30DD6F8E8}" type="slidenum">
              <a:rPr lang="en-US"/>
              <a:pPr/>
              <a:t>9</a:t>
            </a:fld>
            <a:endParaRPr lang="en-US"/>
          </a:p>
        </p:txBody>
      </p:sp>
      <p:sp>
        <p:nvSpPr>
          <p:cNvPr id="631810" name="Rectangle-2"/>
          <p:cNvSpPr>
            <a:spLocks noGrp="1" noRot="1" noChangeAspect="1" noChangeArrowheads="1" noTextEdit="1"/>
          </p:cNvSpPr>
          <p:nvPr>
            <p:ph type="sldImg"/>
          </p:nvPr>
        </p:nvSpPr>
        <p:spPr>
          <a:ln/>
        </p:spPr>
      </p:sp>
      <p:sp>
        <p:nvSpPr>
          <p:cNvPr id="631811" name="Rectangle-3"/>
          <p:cNvSpPr>
            <a:spLocks noGrp="1" noChangeArrowheads="1"/>
          </p:cNvSpPr>
          <p:nvPr>
            <p:ph type="body" idx="1"/>
          </p:nvPr>
        </p:nvSpPr>
        <p:spPr/>
        <p:txBody>
          <a:bodyPr/>
          <a:lstStyle/>
          <a:p>
            <a:endParaRPr lang="en-I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1151F4-C875-4297-97AA-4CEB2D1E92CB}" type="slidenum">
              <a:rPr lang="en-US"/>
              <a:pPr/>
              <a:t>10</a:t>
            </a:fld>
            <a:endParaRPr lang="en-US"/>
          </a:p>
        </p:txBody>
      </p:sp>
      <p:sp>
        <p:nvSpPr>
          <p:cNvPr id="460802" name="Rectangle-2"/>
          <p:cNvSpPr>
            <a:spLocks noGrp="1" noRot="1" noChangeAspect="1" noChangeArrowheads="1" noTextEdit="1"/>
          </p:cNvSpPr>
          <p:nvPr>
            <p:ph type="sldImg"/>
          </p:nvPr>
        </p:nvSpPr>
        <p:spPr>
          <a:ln/>
        </p:spPr>
      </p:sp>
      <p:sp>
        <p:nvSpPr>
          <p:cNvPr id="460803" name="Rectangle-3"/>
          <p:cNvSpPr>
            <a:spLocks noGrp="1" noChangeArrowheads="1"/>
          </p:cNvSpPr>
          <p:nvPr>
            <p:ph type="body" idx="1"/>
          </p:nvPr>
        </p:nvSpPr>
        <p:spPr/>
        <p:txBody>
          <a:bodyPr/>
          <a:lstStyle/>
          <a:p>
            <a:pPr>
              <a:lnSpc>
                <a:spcPct val="80000"/>
              </a:lnSpc>
            </a:pPr>
            <a:endParaRPr lang="en-IE"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F69283-7A80-4A9E-B557-3EA51CB1EE8A}" type="slidenum">
              <a:rPr lang="en-US"/>
              <a:pPr/>
              <a:t>11</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050F6D-4459-47B3-9E49-BD8A78EC7671}" type="slidenum">
              <a:rPr lang="en-US"/>
              <a:pPr/>
              <a:t>12</a:t>
            </a:fld>
            <a:endParaRPr lang="en-US"/>
          </a:p>
        </p:txBody>
      </p:sp>
      <p:sp>
        <p:nvSpPr>
          <p:cNvPr id="632834" name="Rectangle-2"/>
          <p:cNvSpPr>
            <a:spLocks noGrp="1" noRot="1" noChangeAspect="1" noChangeArrowheads="1" noTextEdit="1"/>
          </p:cNvSpPr>
          <p:nvPr>
            <p:ph type="sldImg"/>
          </p:nvPr>
        </p:nvSpPr>
        <p:spPr>
          <a:ln/>
        </p:spPr>
      </p:sp>
      <p:sp>
        <p:nvSpPr>
          <p:cNvPr id="632835" name="Rectangle-3"/>
          <p:cNvSpPr>
            <a:spLocks noGrp="1" noChangeArrowheads="1"/>
          </p:cNvSpPr>
          <p:nvPr>
            <p:ph type="body" idx="1"/>
          </p:nvPr>
        </p:nvSpPr>
        <p:spPr/>
        <p:txBody>
          <a:bodyPr/>
          <a:lstStyle/>
          <a:p>
            <a:endParaRPr lang="en-I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967283-056D-4864-9086-852E6C1505D6}" type="slidenum">
              <a:rPr lang="en-US"/>
              <a:pPr/>
              <a:t>13</a:t>
            </a:fld>
            <a:endParaRPr lang="en-US"/>
          </a:p>
        </p:txBody>
      </p:sp>
      <p:sp>
        <p:nvSpPr>
          <p:cNvPr id="419842" name="Rectangle-2"/>
          <p:cNvSpPr>
            <a:spLocks noGrp="1" noRot="1" noChangeAspect="1" noChangeArrowheads="1" noTextEdit="1"/>
          </p:cNvSpPr>
          <p:nvPr>
            <p:ph type="sldImg"/>
          </p:nvPr>
        </p:nvSpPr>
        <p:spPr>
          <a:ln/>
        </p:spPr>
      </p:sp>
      <p:sp>
        <p:nvSpPr>
          <p:cNvPr id="41984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5C353B-58BC-41B9-942F-DD98777A2680}" type="slidenum">
              <a:rPr lang="en-US"/>
              <a:pPr/>
              <a:t>14</a:t>
            </a:fld>
            <a:endParaRPr lang="en-US"/>
          </a:p>
        </p:txBody>
      </p:sp>
      <p:sp>
        <p:nvSpPr>
          <p:cNvPr id="399362" name="Rectangle-2"/>
          <p:cNvSpPr>
            <a:spLocks noGrp="1" noRot="1" noChangeAspect="1" noChangeArrowheads="1" noTextEdit="1"/>
          </p:cNvSpPr>
          <p:nvPr>
            <p:ph type="sldImg"/>
          </p:nvPr>
        </p:nvSpPr>
        <p:spPr>
          <a:ln/>
        </p:spPr>
      </p:sp>
      <p:sp>
        <p:nvSpPr>
          <p:cNvPr id="3993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13F366-2E3C-4BCE-806F-16595318FC35}" type="slidenum">
              <a:rPr lang="en-US"/>
              <a:pPr/>
              <a:t>15</a:t>
            </a:fld>
            <a:endParaRPr lang="en-US"/>
          </a:p>
        </p:txBody>
      </p:sp>
      <p:sp>
        <p:nvSpPr>
          <p:cNvPr id="508930" name="Rectangle-2"/>
          <p:cNvSpPr>
            <a:spLocks noGrp="1" noRot="1" noChangeAspect="1" noChangeArrowheads="1" noTextEdit="1"/>
          </p:cNvSpPr>
          <p:nvPr>
            <p:ph type="sldImg"/>
          </p:nvPr>
        </p:nvSpPr>
        <p:spPr>
          <a:ln/>
        </p:spPr>
      </p:sp>
      <p:sp>
        <p:nvSpPr>
          <p:cNvPr id="508931" name="Rectangle-3"/>
          <p:cNvSpPr>
            <a:spLocks noGrp="1" noChangeArrowheads="1"/>
          </p:cNvSpPr>
          <p:nvPr>
            <p:ph type="body" idx="1"/>
          </p:nvPr>
        </p:nvSpPr>
        <p:spPr/>
        <p:txBody>
          <a:bodyPr/>
          <a:lstStyle/>
          <a:p>
            <a:pPr marL="228600" indent="-228600">
              <a:lnSpc>
                <a:spcPct val="90000"/>
              </a:lnSpc>
            </a:pPr>
            <a:endParaRPr lang="en-IE"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ED2CC5-ABA0-4E41-BE07-EE015E171FC6}" type="slidenum">
              <a:rPr lang="en-US"/>
              <a:pPr/>
              <a:t>16</a:t>
            </a:fld>
            <a:endParaRPr lang="en-US"/>
          </a:p>
        </p:txBody>
      </p:sp>
      <p:sp>
        <p:nvSpPr>
          <p:cNvPr id="502786" name="Rectangle-2"/>
          <p:cNvSpPr>
            <a:spLocks noGrp="1" noRot="1" noChangeAspect="1" noChangeArrowheads="1" noTextEdit="1"/>
          </p:cNvSpPr>
          <p:nvPr>
            <p:ph type="sldImg"/>
          </p:nvPr>
        </p:nvSpPr>
        <p:spPr>
          <a:ln/>
        </p:spPr>
      </p:sp>
      <p:sp>
        <p:nvSpPr>
          <p:cNvPr id="502787" name="Rectangle-3"/>
          <p:cNvSpPr>
            <a:spLocks noGrp="1" noChangeArrowheads="1"/>
          </p:cNvSpPr>
          <p:nvPr>
            <p:ph type="body" idx="1"/>
          </p:nvPr>
        </p:nvSpPr>
        <p:spPr/>
        <p:txBody>
          <a:bodyPr/>
          <a:lstStyle/>
          <a:p>
            <a:pPr lvl="1">
              <a:lnSpc>
                <a:spcPct val="80000"/>
              </a:lnSpc>
            </a:pPr>
            <a:endParaRPr lang="en-IE" sz="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2D28F1-9B10-4578-A803-D804297F4FD1}" type="slidenum">
              <a:rPr lang="en-US"/>
              <a:pPr/>
              <a:t>17</a:t>
            </a:fld>
            <a:endParaRPr lang="en-US"/>
          </a:p>
        </p:txBody>
      </p:sp>
      <p:sp>
        <p:nvSpPr>
          <p:cNvPr id="548866" name="Rectangle-2"/>
          <p:cNvSpPr>
            <a:spLocks noGrp="1" noRot="1" noChangeAspect="1" noChangeArrowheads="1" noTextEdit="1"/>
          </p:cNvSpPr>
          <p:nvPr>
            <p:ph type="sldImg"/>
          </p:nvPr>
        </p:nvSpPr>
        <p:spPr>
          <a:ln/>
        </p:spPr>
      </p:sp>
      <p:sp>
        <p:nvSpPr>
          <p:cNvPr id="54886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F3DD27-228D-43E7-9834-667051BE3F06}" type="slidenum">
              <a:rPr lang="en-US"/>
              <a:pPr/>
              <a:t>19</a:t>
            </a:fld>
            <a:endParaRPr lang="en-US"/>
          </a:p>
        </p:txBody>
      </p:sp>
      <p:sp>
        <p:nvSpPr>
          <p:cNvPr id="622594" name="Rectangle-2"/>
          <p:cNvSpPr>
            <a:spLocks noGrp="1" noRot="1" noChangeAspect="1" noChangeArrowheads="1" noTextEdit="1"/>
          </p:cNvSpPr>
          <p:nvPr>
            <p:ph type="sldImg"/>
          </p:nvPr>
        </p:nvSpPr>
        <p:spPr>
          <a:ln/>
        </p:spPr>
      </p:sp>
      <p:sp>
        <p:nvSpPr>
          <p:cNvPr id="622595"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BF619B-50E6-4F20-87BD-8EE24571F4B1}" type="slidenum">
              <a:rPr lang="en-US"/>
              <a:pPr/>
              <a:t>20</a:t>
            </a:fld>
            <a:endParaRPr lang="en-US"/>
          </a:p>
        </p:txBody>
      </p:sp>
      <p:sp>
        <p:nvSpPr>
          <p:cNvPr id="422914" name="Rectangle-2"/>
          <p:cNvSpPr>
            <a:spLocks noGrp="1" noRot="1" noChangeAspect="1" noChangeArrowheads="1" noTextEdit="1"/>
          </p:cNvSpPr>
          <p:nvPr>
            <p:ph type="sldImg"/>
          </p:nvPr>
        </p:nvSpPr>
        <p:spPr>
          <a:ln/>
        </p:spPr>
      </p:sp>
      <p:sp>
        <p:nvSpPr>
          <p:cNvPr id="422915"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429D62-659C-4DA5-9C4C-465EB0DBADBA}" type="slidenum">
              <a:rPr lang="en-US"/>
              <a:pPr/>
              <a:t>21</a:t>
            </a:fld>
            <a:endParaRPr lang="en-US"/>
          </a:p>
        </p:txBody>
      </p:sp>
      <p:sp>
        <p:nvSpPr>
          <p:cNvPr id="400386" name="Rectangle-2"/>
          <p:cNvSpPr>
            <a:spLocks noGrp="1" noRot="1" noChangeAspect="1" noChangeArrowheads="1" noTextEdit="1"/>
          </p:cNvSpPr>
          <p:nvPr>
            <p:ph type="sldImg"/>
          </p:nvPr>
        </p:nvSpPr>
        <p:spPr>
          <a:ln/>
        </p:spPr>
      </p:sp>
      <p:sp>
        <p:nvSpPr>
          <p:cNvPr id="400387" name="Rectangle-3"/>
          <p:cNvSpPr>
            <a:spLocks noGrp="1" noChangeArrowheads="1"/>
          </p:cNvSpPr>
          <p:nvPr>
            <p:ph type="body" idx="1"/>
          </p:nvPr>
        </p:nvSpPr>
        <p:spPr/>
        <p:txBody>
          <a:bodyPr/>
          <a:lstStyle/>
          <a:p>
            <a:pPr>
              <a:buFontTx/>
              <a:buChar char="•"/>
            </a:pPr>
            <a:endParaRPr lang="en-I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5863A4-138B-44BB-AA6E-97BD12683195}" type="slidenum">
              <a:rPr lang="en-US"/>
              <a:pPr/>
              <a:t>22</a:t>
            </a:fld>
            <a:endParaRPr lang="en-US"/>
          </a:p>
        </p:txBody>
      </p:sp>
      <p:sp>
        <p:nvSpPr>
          <p:cNvPr id="425986" name="Rectangle-2"/>
          <p:cNvSpPr>
            <a:spLocks noGrp="1" noRot="1" noChangeAspect="1" noChangeArrowheads="1" noTextEdit="1"/>
          </p:cNvSpPr>
          <p:nvPr>
            <p:ph type="sldImg"/>
          </p:nvPr>
        </p:nvSpPr>
        <p:spPr>
          <a:ln/>
        </p:spPr>
      </p:sp>
      <p:sp>
        <p:nvSpPr>
          <p:cNvPr id="425987"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CDB90-2B7D-D1F1-4742-602E0B7BB0C2}"/>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498E753D-ABB4-ED1E-F747-7184D6D02785}"/>
              </a:ext>
            </a:extLst>
          </p:cNvPr>
          <p:cNvSpPr>
            <a:spLocks noGrp="1" noChangeArrowheads="1"/>
          </p:cNvSpPr>
          <p:nvPr>
            <p:ph type="sldNum" sz="quarter" idx="5"/>
          </p:nvPr>
        </p:nvSpPr>
        <p:spPr>
          <a:ln/>
        </p:spPr>
        <p:txBody>
          <a:bodyPr/>
          <a:lstStyle/>
          <a:p>
            <a:fld id="{625863A4-138B-44BB-AA6E-97BD12683195}" type="slidenum">
              <a:rPr lang="en-US"/>
              <a:pPr/>
              <a:t>23</a:t>
            </a:fld>
            <a:endParaRPr lang="en-US"/>
          </a:p>
        </p:txBody>
      </p:sp>
      <p:sp>
        <p:nvSpPr>
          <p:cNvPr id="425986" name="Rectangle-2">
            <a:extLst>
              <a:ext uri="{FF2B5EF4-FFF2-40B4-BE49-F238E27FC236}">
                <a16:creationId xmlns:a16="http://schemas.microsoft.com/office/drawing/2014/main" id="{F103215D-40E8-8404-588C-0988E5A05CE2}"/>
              </a:ext>
            </a:extLst>
          </p:cNvPr>
          <p:cNvSpPr>
            <a:spLocks noGrp="1" noRot="1" noChangeAspect="1" noChangeArrowheads="1" noTextEdit="1"/>
          </p:cNvSpPr>
          <p:nvPr>
            <p:ph type="sldImg"/>
          </p:nvPr>
        </p:nvSpPr>
        <p:spPr>
          <a:ln/>
        </p:spPr>
      </p:sp>
      <p:sp>
        <p:nvSpPr>
          <p:cNvPr id="425987" name="Rectangle-3">
            <a:extLst>
              <a:ext uri="{FF2B5EF4-FFF2-40B4-BE49-F238E27FC236}">
                <a16:creationId xmlns:a16="http://schemas.microsoft.com/office/drawing/2014/main" id="{87C37E09-C126-4B7D-557E-7DC3BE843F00}"/>
              </a:ext>
            </a:extLst>
          </p:cNvPr>
          <p:cNvSpPr>
            <a:spLocks noGrp="1" noChangeArrowheads="1"/>
          </p:cNvSpPr>
          <p:nvPr>
            <p:ph type="body" idx="1"/>
          </p:nvPr>
        </p:nvSpPr>
        <p:spPr/>
        <p:txBody>
          <a:bodyPr/>
          <a:lstStyle/>
          <a:p>
            <a:pPr>
              <a:lnSpc>
                <a:spcPct val="80000"/>
              </a:lnSpc>
            </a:pPr>
            <a:endParaRPr lang="en-IE" sz="800"/>
          </a:p>
        </p:txBody>
      </p:sp>
    </p:spTree>
    <p:extLst>
      <p:ext uri="{BB962C8B-B14F-4D97-AF65-F5344CB8AC3E}">
        <p14:creationId xmlns:p14="http://schemas.microsoft.com/office/powerpoint/2010/main" val="4072478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5B5F74-5ABD-4C4E-8886-EA11A90A98E7}" type="slidenum">
              <a:rPr lang="en-US"/>
              <a:pPr/>
              <a:t>24</a:t>
            </a:fld>
            <a:endParaRPr lang="en-US"/>
          </a:p>
        </p:txBody>
      </p:sp>
      <p:sp>
        <p:nvSpPr>
          <p:cNvPr id="438274" name="Rectangle-2"/>
          <p:cNvSpPr>
            <a:spLocks noGrp="1" noRot="1" noChangeAspect="1" noChangeArrowheads="1" noTextEdit="1"/>
          </p:cNvSpPr>
          <p:nvPr>
            <p:ph type="sldImg"/>
          </p:nvPr>
        </p:nvSpPr>
        <p:spPr>
          <a:ln/>
        </p:spPr>
      </p:sp>
      <p:sp>
        <p:nvSpPr>
          <p:cNvPr id="438275" name="Rectangle-3"/>
          <p:cNvSpPr>
            <a:spLocks noGrp="1" noChangeArrowheads="1"/>
          </p:cNvSpPr>
          <p:nvPr>
            <p:ph type="body" idx="1"/>
          </p:nvPr>
        </p:nvSpPr>
        <p:spPr/>
        <p:txBody>
          <a:bodyPr/>
          <a:lstStyle/>
          <a:p>
            <a:pPr marL="228600" indent="-228600">
              <a:lnSpc>
                <a:spcPct val="90000"/>
              </a:lnSpc>
            </a:pPr>
            <a:endParaRPr lang="en-IE"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ED5F9DB-A311-41E4-B028-F46A58251C9F}" type="slidenum">
              <a:rPr lang="en-US" smtClean="0"/>
              <a:pPr/>
              <a:t>26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BED5F9DB-A311-41E4-B028-F46A58251C9F}" type="slidenum">
              <a:rPr lang="en-US" smtClean="0"/>
              <a:pPr/>
              <a:t>27</a:t>
            </a:fld>
            <a:endParaRPr lang="en-US"/>
          </a:p>
        </p:txBody>
      </p:sp>
    </p:spTree>
    <p:extLst>
      <p:ext uri="{BB962C8B-B14F-4D97-AF65-F5344CB8AC3E}">
        <p14:creationId xmlns:p14="http://schemas.microsoft.com/office/powerpoint/2010/main" val="2936178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5E74BF-47FA-48EC-83B1-E02951A4FE6B}" type="slidenum">
              <a:rPr lang="en-US"/>
              <a:pPr/>
              <a:t>28</a:t>
            </a:fld>
            <a:endParaRPr lang="en-US"/>
          </a:p>
        </p:txBody>
      </p:sp>
      <p:sp>
        <p:nvSpPr>
          <p:cNvPr id="411650" name="Rectangle-2"/>
          <p:cNvSpPr>
            <a:spLocks noGrp="1" noRot="1" noChangeAspect="1" noChangeArrowheads="1" noTextEdit="1"/>
          </p:cNvSpPr>
          <p:nvPr>
            <p:ph type="sldImg"/>
          </p:nvPr>
        </p:nvSpPr>
        <p:spPr>
          <a:ln/>
        </p:spPr>
      </p:sp>
      <p:sp>
        <p:nvSpPr>
          <p:cNvPr id="411651"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B9FA46-7637-4E99-BA7D-3C6FEC702E7B}" type="slidenum">
              <a:rPr lang="en-US"/>
              <a:pPr/>
              <a:t>29</a:t>
            </a:fld>
            <a:endParaRPr lang="en-US"/>
          </a:p>
        </p:txBody>
      </p:sp>
      <p:sp>
        <p:nvSpPr>
          <p:cNvPr id="552962" name="Rectangle-2"/>
          <p:cNvSpPr>
            <a:spLocks noGrp="1" noRot="1" noChangeAspect="1" noChangeArrowheads="1" noTextEdit="1"/>
          </p:cNvSpPr>
          <p:nvPr>
            <p:ph type="sldImg"/>
          </p:nvPr>
        </p:nvSpPr>
        <p:spPr>
          <a:ln/>
        </p:spPr>
      </p:sp>
      <p:sp>
        <p:nvSpPr>
          <p:cNvPr id="5529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B9FA46-7637-4E99-BA7D-3C6FEC702E7B}" type="slidenum">
              <a:rPr lang="en-US"/>
              <a:pPr/>
              <a:t>30</a:t>
            </a:fld>
            <a:endParaRPr lang="en-US"/>
          </a:p>
        </p:txBody>
      </p:sp>
      <p:sp>
        <p:nvSpPr>
          <p:cNvPr id="552962" name="Rectangle-2"/>
          <p:cNvSpPr>
            <a:spLocks noGrp="1" noRot="1" noChangeAspect="1" noChangeArrowheads="1" noTextEdit="1"/>
          </p:cNvSpPr>
          <p:nvPr>
            <p:ph type="sldImg"/>
          </p:nvPr>
        </p:nvSpPr>
        <p:spPr>
          <a:ln/>
        </p:spPr>
      </p:sp>
      <p:sp>
        <p:nvSpPr>
          <p:cNvPr id="552963" name="Rectangle-3"/>
          <p:cNvSpPr>
            <a:spLocks noGrp="1" noChangeArrowheads="1"/>
          </p:cNvSpPr>
          <p:nvPr>
            <p:ph type="body" idx="1"/>
          </p:nvPr>
        </p:nvSpPr>
        <p:spPr/>
        <p:txBody>
          <a:bodyPr/>
          <a:lstStyle/>
          <a:p>
            <a:endParaRPr lang="en-I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2/16/2025</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490996"/>
            <a:ext cx="8534400" cy="758952"/>
          </a:xfrm>
          <a:solidFill>
            <a:schemeClr val="bg1"/>
          </a:solidFill>
        </p:spPr>
        <p:txBody>
          <a:bodyPr/>
          <a:lstStyle>
            <a:lvl1pPr>
              <a:defRPr>
                <a:solidFill>
                  <a:schemeClr val="accent3">
                    <a:shade val="75000"/>
                  </a:schemeClr>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2/16/2025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2/16/2025</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2/16/2025</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2/16/2025</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2/16/2025</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2/16/2025</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2/16/2025</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2/16/2025</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2/16/2025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2/16/2025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a:t>Cliquez pour modifier le style du titre</a:t>
            </a:r>
          </a:p>
        </p:txBody>
      </p:sp>
      <p:sp>
        <p:nvSpPr>
          <p:cNvPr id="3" name="Espace réservé du texte 2"/>
          <p:cNvSpPr>
            <a:spLocks noGrp="1"/>
          </p:cNvSpPr>
          <p:nvPr>
            <p:ph type="body" sz="half" idx="1"/>
          </p:nvPr>
        </p:nvSpPr>
        <p:spPr>
          <a:xfrm>
            <a:off x="1050925" y="1447800"/>
            <a:ext cx="3436938"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0263" y="1447800"/>
            <a:ext cx="3436937"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a:t>Cliquez pour modifier le style du titre</a:t>
            </a:r>
          </a:p>
        </p:txBody>
      </p:sp>
      <p:sp>
        <p:nvSpPr>
          <p:cNvPr id="3" name="Espace réservé du tableau 2"/>
          <p:cNvSpPr>
            <a:spLocks noGrp="1"/>
          </p:cNvSpPr>
          <p:nvPr>
            <p:ph type="tbl" idx="1"/>
          </p:nvPr>
        </p:nvSpPr>
        <p:spPr>
          <a:xfrm>
            <a:off x="1050925" y="1447800"/>
            <a:ext cx="7026275" cy="4694238"/>
          </a:xfrm>
        </p:spPr>
        <p:txBody>
          <a:bodyPr/>
          <a:lstStyle/>
          <a:p>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2/16/2025</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1" r:id="rId13"/>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0.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25.png"/><Relationship Id="rId9"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9.png"/><Relationship Id="rId7"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7.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14.png"/><Relationship Id="rId5" Type="http://schemas.openxmlformats.org/officeDocument/2006/relationships/image" Target="../media/image33.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25.png"/></Relationships>
</file>

<file path=ppt/slides/_rels/slide3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1305588" y="2822395"/>
            <a:ext cx="6443662" cy="2676525"/>
          </a:xfrm>
        </p:spPr>
        <p:txBody>
          <a:bodyPr>
            <a:normAutofit/>
          </a:bodyPr>
          <a:lstStyle/>
          <a:p>
            <a:r>
              <a:rPr lang="fr-FR" altLang="zh-CN" sz="4800" dirty="0">
                <a:solidFill>
                  <a:srgbClr val="000000"/>
                </a:solidFill>
                <a:ea typeface="SimSun" pitchFamily="2" charset="-122"/>
                <a:cs typeface="Times New Roman" charset="0"/>
              </a:rPr>
              <a:t>Chapitre 3</a:t>
            </a:r>
            <a:br>
              <a:rPr lang="fr-FR" altLang="zh-CN" sz="4800" dirty="0">
                <a:solidFill>
                  <a:srgbClr val="000000"/>
                </a:solidFill>
                <a:ea typeface="SimSun" pitchFamily="2" charset="-122"/>
                <a:cs typeface="Times New Roman" charset="0"/>
              </a:rPr>
            </a:br>
            <a:r>
              <a:rPr lang="fr-FR" altLang="zh-CN" sz="4800" dirty="0">
                <a:solidFill>
                  <a:srgbClr val="000000"/>
                </a:solidFill>
                <a:ea typeface="SimSun" pitchFamily="2" charset="-122"/>
                <a:cs typeface="Arial Narrow" charset="0"/>
              </a:rPr>
              <a:t> </a:t>
            </a:r>
            <a:r>
              <a:rPr lang="fr-FR" altLang="zh-CN" sz="4800" dirty="0">
                <a:solidFill>
                  <a:srgbClr val="000000"/>
                </a:solidFill>
                <a:ea typeface="SimSun" pitchFamily="2" charset="-122"/>
                <a:cs typeface="Times New Roman" charset="0"/>
              </a:rPr>
              <a:t>Administration des accès aux ressources</a:t>
            </a:r>
            <a:r>
              <a:rPr lang="en-IE" altLang="zh-CN" sz="4800" dirty="0">
                <a:solidFill>
                  <a:srgbClr val="000000"/>
                </a:solidFill>
                <a:ea typeface="SimSun" pitchFamily="2" charset="-122"/>
              </a:rPr>
              <a:t> </a:t>
            </a:r>
            <a:r>
              <a:rPr lang="en-US" sz="4800" dirty="0"/>
              <a:t> </a:t>
            </a:r>
          </a:p>
        </p:txBody>
      </p:sp>
      <p:sp>
        <p:nvSpPr>
          <p:cNvPr id="4" name="Rectangle 3"/>
          <p:cNvSpPr/>
          <p:nvPr/>
        </p:nvSpPr>
        <p:spPr>
          <a:xfrm>
            <a:off x="3064101" y="918460"/>
            <a:ext cx="2988319" cy="720197"/>
          </a:xfrm>
          <a:prstGeom prst="rect">
            <a:avLst/>
          </a:prstGeom>
        </p:spPr>
        <p:txBody>
          <a:bodyPr wrap="none">
            <a:spAutoFit/>
          </a:bodyPr>
          <a:lstStyle/>
          <a:p>
            <a:r>
              <a:rPr lang="fr-FR" altLang="zh-CN" sz="4800" dirty="0">
                <a:cs typeface="Times New Roman" charset="0"/>
              </a:rPr>
              <a:t>Module S42</a:t>
            </a:r>
            <a:endParaRPr lang="fr-FR"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2"/>
          <p:cNvSpPr>
            <a:spLocks noGrp="1" noChangeArrowheads="1"/>
          </p:cNvSpPr>
          <p:nvPr>
            <p:ph type="title"/>
          </p:nvPr>
        </p:nvSpPr>
        <p:spPr>
          <a:xfrm>
            <a:off x="173620" y="228600"/>
            <a:ext cx="8796760" cy="758952"/>
          </a:xfrm>
        </p:spPr>
        <p:txBody>
          <a:bodyPr/>
          <a:lstStyle/>
          <a:p>
            <a:r>
              <a:rPr lang="fr-FR" altLang="zh-CN" b="1" dirty="0">
                <a:solidFill>
                  <a:srgbClr val="000000"/>
                </a:solidFill>
                <a:ea typeface="SimSun" pitchFamily="2" charset="-122"/>
                <a:cs typeface="Times New Roman" charset="0"/>
              </a:rPr>
              <a:t>Plan du cours</a:t>
            </a:r>
            <a:endParaRPr lang="en-US" b="1" dirty="0">
              <a:solidFill>
                <a:srgbClr val="000000"/>
              </a:solidFill>
              <a:ea typeface="SimSun" pitchFamily="2" charset="-122"/>
              <a:cs typeface="Times New Roman" charset="0"/>
            </a:endParaRPr>
          </a:p>
        </p:txBody>
      </p:sp>
      <p:sp>
        <p:nvSpPr>
          <p:cNvPr id="287747" name="Rectangle-3"/>
          <p:cNvSpPr>
            <a:spLocks noGrp="1" noChangeArrowheads="1"/>
          </p:cNvSpPr>
          <p:nvPr>
            <p:ph sz="quarter" idx="1"/>
          </p:nvPr>
        </p:nvSpPr>
        <p:spPr/>
        <p:txBody>
          <a:bodyPr/>
          <a:lstStyle/>
          <a:p>
            <a:pPr marL="514350" indent="-514350">
              <a:buClrTx/>
              <a:buFont typeface="+mj-lt"/>
              <a:buAutoNum type="arabicPeriod"/>
            </a:pPr>
            <a:r>
              <a:rPr lang="fr-FR" altLang="zh-CN" dirty="0">
                <a:solidFill>
                  <a:srgbClr val="000000"/>
                </a:solidFill>
                <a:ea typeface="SimSun" pitchFamily="2" charset="-122"/>
                <a:cs typeface="Times New Roman" charset="0"/>
              </a:rPr>
              <a:t>Vue d'ensemble de l'administration des accès aux ressources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solidFill>
                  <a:srgbClr val="000000"/>
                </a:solidFill>
                <a:ea typeface="SimSun" pitchFamily="2" charset="-122"/>
                <a:cs typeface="Times New Roman" charset="0"/>
              </a:rPr>
              <a:t>Administration des accès aux dossiers partagés</a:t>
            </a:r>
            <a:r>
              <a:rPr lang="en-IE" altLang="zh-CN" dirty="0">
                <a:solidFill>
                  <a:srgbClr val="000000"/>
                </a:solidFill>
                <a:ea typeface="SimSun" pitchFamily="2" charset="-122"/>
                <a:cs typeface="Times New Roman" charset="0"/>
              </a:rPr>
              <a:t> </a:t>
            </a:r>
            <a:r>
              <a:rPr lang="en-US" dirty="0">
                <a:ea typeface="SimSun" pitchFamily="2" charset="-122"/>
                <a:cs typeface="Times New Roman" charset="0"/>
              </a:rPr>
              <a:t> </a:t>
            </a:r>
          </a:p>
          <a:p>
            <a:pPr marL="514350" indent="-514350">
              <a:buClrTx/>
              <a:buFont typeface="+mj-lt"/>
              <a:buAutoNum type="arabicPeriod"/>
            </a:pPr>
            <a:r>
              <a:rPr lang="fr-FR" altLang="zh-CN" dirty="0">
                <a:solidFill>
                  <a:srgbClr val="000000"/>
                </a:solidFill>
                <a:ea typeface="SimSun" pitchFamily="2" charset="-122"/>
                <a:cs typeface="Times New Roman" charset="0"/>
              </a:rPr>
              <a:t>Administration des accès aux fichiers et aux dossiers  en utilisant des autorisations NTFS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solidFill>
                  <a:srgbClr val="000000"/>
                </a:solidFill>
                <a:ea typeface="SimSun" pitchFamily="2" charset="-122"/>
                <a:cs typeface="Times New Roman" charset="0"/>
              </a:rPr>
              <a:t>Identification des autorisations effectives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endParaRPr lang="en-US" sz="2000" dirty="0">
              <a:solidFill>
                <a:srgbClr val="000000"/>
              </a:solidFill>
              <a:ea typeface="SimSun" pitchFamily="2" charset="-122"/>
              <a:cs typeface="Times New Roman"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2"/>
          <p:cNvSpPr>
            <a:spLocks noGrp="1" noChangeArrowheads="1"/>
          </p:cNvSpPr>
          <p:nvPr>
            <p:ph type="title"/>
          </p:nvPr>
        </p:nvSpPr>
        <p:spPr>
          <a:xfrm>
            <a:off x="185195" y="340963"/>
            <a:ext cx="8773610" cy="1049545"/>
          </a:xfrm>
        </p:spPr>
        <p:txBody>
          <a:bodyPr>
            <a:noAutofit/>
          </a:bodyPr>
          <a:lstStyle/>
          <a:p>
            <a:r>
              <a:rPr lang="fr-FR" altLang="zh-CN" sz="2600" b="1" dirty="0">
                <a:solidFill>
                  <a:srgbClr val="000000"/>
                </a:solidFill>
                <a:ea typeface="SimSun" pitchFamily="2" charset="-122"/>
                <a:cs typeface="Times New Roman" charset="0"/>
              </a:rPr>
              <a:t>1. Vue d'ensemble de l'administration des accès aux ressources</a:t>
            </a:r>
            <a:r>
              <a:rPr lang="en-IE" altLang="zh-CN" sz="2600" b="1" dirty="0">
                <a:solidFill>
                  <a:srgbClr val="000000"/>
                </a:solidFill>
                <a:ea typeface="SimSun" pitchFamily="2" charset="-122"/>
              </a:rPr>
              <a:t> </a:t>
            </a:r>
            <a:endParaRPr lang="en-US" sz="2600" b="1" dirty="0">
              <a:solidFill>
                <a:srgbClr val="000000"/>
              </a:solidFill>
            </a:endParaRPr>
          </a:p>
        </p:txBody>
      </p:sp>
      <p:sp>
        <p:nvSpPr>
          <p:cNvPr id="288771" name="Rectangle-3"/>
          <p:cNvSpPr>
            <a:spLocks noGrp="1" noChangeArrowheads="1"/>
          </p:cNvSpPr>
          <p:nvPr>
            <p:ph sz="quarter" idx="1"/>
          </p:nvPr>
        </p:nvSpPr>
        <p:spPr>
          <a:xfrm>
            <a:off x="278603" y="1885863"/>
            <a:ext cx="8503920" cy="3091251"/>
          </a:xfrm>
        </p:spPr>
        <p:txBody>
          <a:bodyPr>
            <a:normAutofit/>
          </a:bodyPr>
          <a:lstStyle/>
          <a:p>
            <a:pPr>
              <a:buClr>
                <a:srgbClr val="C00000"/>
              </a:buClr>
              <a:buFont typeface="Wingdings" pitchFamily="2" charset="2"/>
              <a:buChar char="q"/>
            </a:pPr>
            <a:r>
              <a:rPr lang="en-US" dirty="0" err="1">
                <a:solidFill>
                  <a:srgbClr val="C00000"/>
                </a:solidFill>
              </a:rPr>
              <a:t>C’est</a:t>
            </a:r>
            <a:r>
              <a:rPr lang="en-US" dirty="0">
                <a:solidFill>
                  <a:srgbClr val="C00000"/>
                </a:solidFill>
              </a:rPr>
              <a:t> quoi </a:t>
            </a:r>
            <a:r>
              <a:rPr lang="en-US" dirty="0" err="1">
                <a:solidFill>
                  <a:srgbClr val="C00000"/>
                </a:solidFill>
              </a:rPr>
              <a:t>l’Authentication</a:t>
            </a:r>
            <a:r>
              <a:rPr lang="en-US" dirty="0">
                <a:solidFill>
                  <a:srgbClr val="C00000"/>
                </a:solidFill>
              </a:rPr>
              <a:t> et </a:t>
            </a:r>
            <a:r>
              <a:rPr lang="en-US" dirty="0" err="1">
                <a:solidFill>
                  <a:srgbClr val="C00000"/>
                </a:solidFill>
              </a:rPr>
              <a:t>l’Authorisation</a:t>
            </a:r>
            <a:r>
              <a:rPr lang="en-US" dirty="0">
                <a:solidFill>
                  <a:srgbClr val="C00000"/>
                </a:solidFill>
              </a:rPr>
              <a:t>?</a:t>
            </a:r>
            <a:endParaRPr lang="fr-FR" dirty="0">
              <a:solidFill>
                <a:srgbClr val="C00000"/>
              </a:solidFill>
            </a:endParaRPr>
          </a:p>
          <a:p>
            <a:pPr>
              <a:buClr>
                <a:srgbClr val="C00000"/>
              </a:buClr>
              <a:buFont typeface="Wingdings" pitchFamily="2" charset="2"/>
              <a:buChar char="q"/>
            </a:pPr>
            <a:r>
              <a:rPr lang="fr-FR" altLang="zh-CN" dirty="0">
                <a:solidFill>
                  <a:srgbClr val="C00000"/>
                </a:solidFill>
                <a:ea typeface="SimSun" pitchFamily="2" charset="-122"/>
              </a:rPr>
              <a:t>Description des autorisations</a:t>
            </a:r>
          </a:p>
          <a:p>
            <a:pPr>
              <a:buClr>
                <a:srgbClr val="C00000"/>
              </a:buClr>
              <a:buFont typeface="Wingdings" pitchFamily="2" charset="2"/>
              <a:buChar char="q"/>
            </a:pPr>
            <a:r>
              <a:rPr lang="fr-FR" dirty="0">
                <a:solidFill>
                  <a:srgbClr val="C00000"/>
                </a:solidFill>
              </a:rPr>
              <a:t>Le Contrôle d'accès</a:t>
            </a:r>
            <a:r>
              <a:rPr lang="fr-FR" altLang="zh-CN" dirty="0">
                <a:solidFill>
                  <a:srgbClr val="C00000"/>
                </a:solidFill>
                <a:ea typeface="SimSun" pitchFamily="2" charset="-122"/>
              </a:rPr>
              <a:t> </a:t>
            </a:r>
            <a:endParaRPr lang="en-US" dirty="0">
              <a:solidFill>
                <a:srgbClr val="C00000"/>
              </a:solidFill>
              <a:ea typeface="SimSun"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9"/>
          <p:cNvSpPr>
            <a:spLocks noChangeArrowheads="1"/>
          </p:cNvSpPr>
          <p:nvPr/>
        </p:nvSpPr>
        <p:spPr bwMode="auto">
          <a:xfrm rot="5400000">
            <a:off x="2828154" y="3956732"/>
            <a:ext cx="1768475" cy="49053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499 w 21600"/>
              <a:gd name="T13" fmla="*/ 3499 h 21600"/>
              <a:gd name="T14" fmla="*/ 18101 w 21600"/>
              <a:gd name="T15" fmla="*/ 18101 h 21600"/>
            </a:gdLst>
            <a:ahLst/>
            <a:cxnLst>
              <a:cxn ang="T8">
                <a:pos x="T0" y="T1"/>
              </a:cxn>
              <a:cxn ang="T9">
                <a:pos x="T2" y="T3"/>
              </a:cxn>
              <a:cxn ang="T10">
                <a:pos x="T4" y="T5"/>
              </a:cxn>
              <a:cxn ang="T11">
                <a:pos x="T6" y="T7"/>
              </a:cxn>
            </a:cxnLst>
            <a:rect l="T12" t="T13" r="T14" b="T15"/>
            <a:pathLst>
              <a:path w="21600" h="21600">
                <a:moveTo>
                  <a:pt x="0" y="0"/>
                </a:moveTo>
                <a:lnTo>
                  <a:pt x="3398" y="21600"/>
                </a:lnTo>
                <a:lnTo>
                  <a:pt x="18202" y="21600"/>
                </a:lnTo>
                <a:lnTo>
                  <a:pt x="21600" y="0"/>
                </a:lnTo>
                <a:lnTo>
                  <a:pt x="0" y="0"/>
                </a:lnTo>
                <a:close/>
              </a:path>
            </a:pathLst>
          </a:custGeom>
          <a:solidFill>
            <a:schemeClr val="bg2">
              <a:alpha val="50195"/>
            </a:schemeClr>
          </a:solidFill>
          <a:ln w="28575" algn="ctr">
            <a:solidFill>
              <a:srgbClr val="333333"/>
            </a:solidFill>
            <a:miter lim="800000"/>
            <a:headEnd/>
            <a:tailEnd/>
          </a:ln>
        </p:spPr>
        <p:txBody>
          <a:bodyPr wrap="none" anchor="ctr"/>
          <a:lstStyle/>
          <a:p>
            <a:endParaRPr lang="fr-FR" sz="2400"/>
          </a:p>
        </p:txBody>
      </p:sp>
      <p:sp>
        <p:nvSpPr>
          <p:cNvPr id="6147" name="AutoShape 8"/>
          <p:cNvSpPr>
            <a:spLocks noChangeArrowheads="1"/>
          </p:cNvSpPr>
          <p:nvPr/>
        </p:nvSpPr>
        <p:spPr bwMode="auto">
          <a:xfrm>
            <a:off x="5349898" y="3960700"/>
            <a:ext cx="1312862" cy="609600"/>
          </a:xfrm>
          <a:prstGeom prst="rightArrow">
            <a:avLst>
              <a:gd name="adj1" fmla="val 50000"/>
              <a:gd name="adj2" fmla="val 62506"/>
            </a:avLst>
          </a:prstGeom>
          <a:solidFill>
            <a:srgbClr val="CC0000"/>
          </a:solidFill>
          <a:ln w="9525" algn="ctr">
            <a:noFill/>
            <a:miter lim="800000"/>
            <a:headEnd/>
            <a:tailEnd/>
          </a:ln>
        </p:spPr>
        <p:txBody>
          <a:bodyPr wrap="none" anchor="ctr"/>
          <a:lstStyle/>
          <a:p>
            <a:endParaRPr lang="fr-FR" sz="2400"/>
          </a:p>
        </p:txBody>
      </p:sp>
      <p:sp>
        <p:nvSpPr>
          <p:cNvPr id="6148" name="Rectangle 2"/>
          <p:cNvSpPr>
            <a:spLocks noGrp="1" noChangeArrowheads="1"/>
          </p:cNvSpPr>
          <p:nvPr>
            <p:ph type="title"/>
          </p:nvPr>
        </p:nvSpPr>
        <p:spPr>
          <a:xfrm>
            <a:off x="406400" y="480522"/>
            <a:ext cx="8331200" cy="741363"/>
          </a:xfrm>
          <a:solidFill>
            <a:schemeClr val="bg1"/>
          </a:solidFill>
        </p:spPr>
        <p:txBody>
          <a:bodyPr vert="horz" anchor="b">
            <a:noAutofit/>
          </a:bodyPr>
          <a:lstStyle/>
          <a:p>
            <a:r>
              <a:rPr lang="en-US" sz="2600" b="1" dirty="0" err="1">
                <a:solidFill>
                  <a:srgbClr val="C00000"/>
                </a:solidFill>
                <a:ea typeface="SimSun" pitchFamily="2" charset="-122"/>
                <a:cs typeface="Times New Roman" charset="0"/>
              </a:rPr>
              <a:t>C’est</a:t>
            </a:r>
            <a:r>
              <a:rPr lang="en-US" sz="2600" b="1" dirty="0">
                <a:solidFill>
                  <a:srgbClr val="C00000"/>
                </a:solidFill>
                <a:ea typeface="SimSun" pitchFamily="2" charset="-122"/>
                <a:cs typeface="Times New Roman" charset="0"/>
              </a:rPr>
              <a:t> quoi </a:t>
            </a:r>
            <a:r>
              <a:rPr lang="en-US" sz="2600" b="1" dirty="0" err="1">
                <a:solidFill>
                  <a:srgbClr val="C00000"/>
                </a:solidFill>
                <a:ea typeface="SimSun" pitchFamily="2" charset="-122"/>
                <a:cs typeface="Times New Roman" charset="0"/>
              </a:rPr>
              <a:t>l’Authentication</a:t>
            </a:r>
            <a:r>
              <a:rPr lang="en-US" sz="2600" b="1" dirty="0">
                <a:solidFill>
                  <a:srgbClr val="C00000"/>
                </a:solidFill>
                <a:ea typeface="SimSun" pitchFamily="2" charset="-122"/>
                <a:cs typeface="Times New Roman" charset="0"/>
              </a:rPr>
              <a:t> et l’ </a:t>
            </a:r>
            <a:r>
              <a:rPr lang="en-US" sz="2600" b="1" dirty="0" err="1">
                <a:solidFill>
                  <a:srgbClr val="C00000"/>
                </a:solidFill>
                <a:ea typeface="SimSun" pitchFamily="2" charset="-122"/>
                <a:cs typeface="Times New Roman" charset="0"/>
              </a:rPr>
              <a:t>Authorisation</a:t>
            </a:r>
            <a:r>
              <a:rPr lang="en-US" sz="2600" b="1" dirty="0">
                <a:solidFill>
                  <a:srgbClr val="C00000"/>
                </a:solidFill>
                <a:ea typeface="SimSun" pitchFamily="2" charset="-122"/>
                <a:cs typeface="Times New Roman" charset="0"/>
              </a:rPr>
              <a:t>?</a:t>
            </a:r>
          </a:p>
        </p:txBody>
      </p:sp>
      <p:pic>
        <p:nvPicPr>
          <p:cNvPr id="6149" name="Picture 4" descr="UserWithDesktopComputer01"/>
          <p:cNvPicPr>
            <a:picLocks noChangeAspect="1" noChangeArrowheads="1"/>
          </p:cNvPicPr>
          <p:nvPr/>
        </p:nvPicPr>
        <p:blipFill>
          <a:blip r:embed="rId3"/>
          <a:srcRect/>
          <a:stretch>
            <a:fillRect/>
          </a:stretch>
        </p:blipFill>
        <p:spPr bwMode="auto">
          <a:xfrm>
            <a:off x="1141435" y="3359038"/>
            <a:ext cx="1323975" cy="1539875"/>
          </a:xfrm>
          <a:prstGeom prst="rect">
            <a:avLst/>
          </a:prstGeom>
          <a:noFill/>
          <a:ln w="9525">
            <a:noFill/>
            <a:miter lim="800000"/>
            <a:headEnd/>
            <a:tailEnd/>
          </a:ln>
        </p:spPr>
      </p:pic>
      <p:sp>
        <p:nvSpPr>
          <p:cNvPr id="6150" name="Text Box 5"/>
          <p:cNvSpPr txBox="1">
            <a:spLocks noChangeArrowheads="1"/>
          </p:cNvSpPr>
          <p:nvPr/>
        </p:nvSpPr>
        <p:spPr bwMode="auto">
          <a:xfrm>
            <a:off x="1108793" y="4908438"/>
            <a:ext cx="1420582" cy="406265"/>
          </a:xfrm>
          <a:prstGeom prst="rect">
            <a:avLst/>
          </a:prstGeom>
          <a:noFill/>
          <a:ln w="9525" algn="ctr">
            <a:noFill/>
            <a:miter lim="800000"/>
            <a:headEnd/>
            <a:tailEnd/>
          </a:ln>
        </p:spPr>
        <p:txBody>
          <a:bodyPr wrap="none">
            <a:spAutoFit/>
          </a:bodyPr>
          <a:lstStyle/>
          <a:p>
            <a:r>
              <a:rPr lang="en-US" sz="2400" dirty="0" err="1"/>
              <a:t>Utilisateur</a:t>
            </a:r>
            <a:endParaRPr lang="en-US" sz="2400" dirty="0"/>
          </a:p>
        </p:txBody>
      </p:sp>
      <p:pic>
        <p:nvPicPr>
          <p:cNvPr id="6151" name="Picture 6" descr="Folder_OpenWithDocumentWriting01"/>
          <p:cNvPicPr>
            <a:picLocks noChangeAspect="1" noChangeArrowheads="1"/>
          </p:cNvPicPr>
          <p:nvPr/>
        </p:nvPicPr>
        <p:blipFill>
          <a:blip r:embed="rId4"/>
          <a:srcRect/>
          <a:stretch>
            <a:fillRect/>
          </a:stretch>
        </p:blipFill>
        <p:spPr bwMode="auto">
          <a:xfrm>
            <a:off x="6662760" y="3508263"/>
            <a:ext cx="1111250" cy="1292225"/>
          </a:xfrm>
          <a:prstGeom prst="rect">
            <a:avLst/>
          </a:prstGeom>
          <a:noFill/>
          <a:ln w="9525">
            <a:noFill/>
            <a:miter lim="800000"/>
            <a:headEnd/>
            <a:tailEnd/>
          </a:ln>
        </p:spPr>
      </p:pic>
      <p:sp>
        <p:nvSpPr>
          <p:cNvPr id="6152" name="Text Box 7"/>
          <p:cNvSpPr txBox="1">
            <a:spLocks noChangeArrowheads="1"/>
          </p:cNvSpPr>
          <p:nvPr/>
        </p:nvSpPr>
        <p:spPr bwMode="auto">
          <a:xfrm>
            <a:off x="6521991" y="4908438"/>
            <a:ext cx="1337225" cy="406265"/>
          </a:xfrm>
          <a:prstGeom prst="rect">
            <a:avLst/>
          </a:prstGeom>
          <a:noFill/>
          <a:ln w="9525" algn="ctr">
            <a:noFill/>
            <a:miter lim="800000"/>
            <a:headEnd/>
            <a:tailEnd/>
          </a:ln>
        </p:spPr>
        <p:txBody>
          <a:bodyPr wrap="none">
            <a:spAutoFit/>
          </a:bodyPr>
          <a:lstStyle/>
          <a:p>
            <a:r>
              <a:rPr lang="en-US" sz="2400"/>
              <a:t>Resource</a:t>
            </a:r>
          </a:p>
        </p:txBody>
      </p:sp>
      <p:sp>
        <p:nvSpPr>
          <p:cNvPr id="6153" name="AutoShape 11"/>
          <p:cNvSpPr>
            <a:spLocks noChangeArrowheads="1"/>
          </p:cNvSpPr>
          <p:nvPr/>
        </p:nvSpPr>
        <p:spPr bwMode="auto">
          <a:xfrm rot="5400000">
            <a:off x="4223566" y="3951969"/>
            <a:ext cx="1768475" cy="4905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499 w 21600"/>
              <a:gd name="T13" fmla="*/ 3499 h 21600"/>
              <a:gd name="T14" fmla="*/ 18101 w 21600"/>
              <a:gd name="T15" fmla="*/ 18101 h 21600"/>
            </a:gdLst>
            <a:ahLst/>
            <a:cxnLst>
              <a:cxn ang="T8">
                <a:pos x="T0" y="T1"/>
              </a:cxn>
              <a:cxn ang="T9">
                <a:pos x="T2" y="T3"/>
              </a:cxn>
              <a:cxn ang="T10">
                <a:pos x="T4" y="T5"/>
              </a:cxn>
              <a:cxn ang="T11">
                <a:pos x="T6" y="T7"/>
              </a:cxn>
            </a:cxnLst>
            <a:rect l="T12" t="T13" r="T14" b="T15"/>
            <a:pathLst>
              <a:path w="21600" h="21600">
                <a:moveTo>
                  <a:pt x="0" y="0"/>
                </a:moveTo>
                <a:lnTo>
                  <a:pt x="3398" y="21600"/>
                </a:lnTo>
                <a:lnTo>
                  <a:pt x="18202" y="21600"/>
                </a:lnTo>
                <a:lnTo>
                  <a:pt x="21600" y="0"/>
                </a:lnTo>
                <a:lnTo>
                  <a:pt x="0" y="0"/>
                </a:lnTo>
                <a:close/>
              </a:path>
            </a:pathLst>
          </a:custGeom>
          <a:solidFill>
            <a:schemeClr val="bg2">
              <a:alpha val="50195"/>
            </a:schemeClr>
          </a:solidFill>
          <a:ln w="28575" algn="ctr">
            <a:solidFill>
              <a:srgbClr val="333333"/>
            </a:solidFill>
            <a:miter lim="800000"/>
            <a:headEnd/>
            <a:tailEnd/>
          </a:ln>
        </p:spPr>
        <p:txBody>
          <a:bodyPr wrap="none" anchor="ctr"/>
          <a:lstStyle/>
          <a:p>
            <a:endParaRPr lang="fr-FR" sz="2400"/>
          </a:p>
        </p:txBody>
      </p:sp>
      <p:sp>
        <p:nvSpPr>
          <p:cNvPr id="6154" name="Rectangle 12"/>
          <p:cNvSpPr>
            <a:spLocks noChangeArrowheads="1"/>
          </p:cNvSpPr>
          <p:nvPr/>
        </p:nvSpPr>
        <p:spPr bwMode="auto">
          <a:xfrm>
            <a:off x="3938610" y="4111513"/>
            <a:ext cx="1131888" cy="295275"/>
          </a:xfrm>
          <a:prstGeom prst="rect">
            <a:avLst/>
          </a:prstGeom>
          <a:solidFill>
            <a:srgbClr val="CC0000"/>
          </a:solidFill>
          <a:ln w="9525" algn="ctr">
            <a:noFill/>
            <a:miter lim="800000"/>
            <a:headEnd/>
            <a:tailEnd/>
          </a:ln>
        </p:spPr>
        <p:txBody>
          <a:bodyPr wrap="none" anchor="ctr"/>
          <a:lstStyle/>
          <a:p>
            <a:endParaRPr lang="fr-FR" sz="2400"/>
          </a:p>
        </p:txBody>
      </p:sp>
      <p:sp>
        <p:nvSpPr>
          <p:cNvPr id="6155" name="Line 15"/>
          <p:cNvSpPr>
            <a:spLocks noChangeShapeType="1"/>
          </p:cNvSpPr>
          <p:nvPr/>
        </p:nvSpPr>
        <p:spPr bwMode="auto">
          <a:xfrm>
            <a:off x="3614760" y="2906600"/>
            <a:ext cx="0" cy="815975"/>
          </a:xfrm>
          <a:prstGeom prst="line">
            <a:avLst/>
          </a:prstGeom>
          <a:noFill/>
          <a:ln w="38100">
            <a:solidFill>
              <a:srgbClr val="CC0000"/>
            </a:solidFill>
            <a:round/>
            <a:headEnd/>
            <a:tailEnd/>
          </a:ln>
        </p:spPr>
        <p:txBody>
          <a:bodyPr anchor="ctr"/>
          <a:lstStyle/>
          <a:p>
            <a:endParaRPr lang="fr-FR" sz="2400"/>
          </a:p>
        </p:txBody>
      </p:sp>
      <p:sp>
        <p:nvSpPr>
          <p:cNvPr id="6156" name="Line 16"/>
          <p:cNvSpPr>
            <a:spLocks noChangeShapeType="1"/>
          </p:cNvSpPr>
          <p:nvPr/>
        </p:nvSpPr>
        <p:spPr bwMode="auto">
          <a:xfrm>
            <a:off x="5067323" y="2809763"/>
            <a:ext cx="0" cy="942975"/>
          </a:xfrm>
          <a:prstGeom prst="line">
            <a:avLst/>
          </a:prstGeom>
          <a:noFill/>
          <a:ln w="38100">
            <a:solidFill>
              <a:srgbClr val="CC0000"/>
            </a:solidFill>
            <a:round/>
            <a:headEnd/>
            <a:tailEnd/>
          </a:ln>
        </p:spPr>
        <p:txBody>
          <a:bodyPr anchor="ctr"/>
          <a:lstStyle/>
          <a:p>
            <a:endParaRPr lang="fr-FR" sz="2400"/>
          </a:p>
        </p:txBody>
      </p:sp>
      <p:graphicFrame>
        <p:nvGraphicFramePr>
          <p:cNvPr id="805922" name="Group 34"/>
          <p:cNvGraphicFramePr>
            <a:graphicFrameLocks noGrp="1"/>
          </p:cNvGraphicFramePr>
          <p:nvPr>
            <p:extLst>
              <p:ext uri="{D42A27DB-BD31-4B8C-83A1-F6EECF244321}">
                <p14:modId xmlns:p14="http://schemas.microsoft.com/office/powerpoint/2010/main" val="3807065847"/>
              </p:ext>
            </p:extLst>
          </p:nvPr>
        </p:nvGraphicFramePr>
        <p:xfrm>
          <a:off x="170482" y="1879847"/>
          <a:ext cx="3865725" cy="1499564"/>
        </p:xfrm>
        <a:graphic>
          <a:graphicData uri="http://schemas.openxmlformats.org/drawingml/2006/table">
            <a:tbl>
              <a:tblPr/>
              <a:tblGrid>
                <a:gridCol w="3865725">
                  <a:extLst>
                    <a:ext uri="{9D8B030D-6E8A-4147-A177-3AD203B41FA5}">
                      <a16:colId xmlns:a16="http://schemas.microsoft.com/office/drawing/2014/main" val="20000"/>
                    </a:ext>
                  </a:extLst>
                </a:gridCol>
              </a:tblGrid>
              <a:tr h="357415">
                <a:tc>
                  <a: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1" i="0" u="none" strike="noStrike" cap="none" normalizeH="0" baseline="0" dirty="0">
                          <a:ln>
                            <a:noFill/>
                          </a:ln>
                          <a:solidFill>
                            <a:schemeClr val="tx1"/>
                          </a:solidFill>
                          <a:effectLst/>
                          <a:latin typeface="Verdana" pitchFamily="34" charset="0"/>
                        </a:rPr>
                        <a:t>Qui </a:t>
                      </a:r>
                      <a:r>
                        <a:rPr kumimoji="0" lang="en-US" sz="2400" b="1" i="0" u="none" strike="noStrike" cap="none" normalizeH="0" baseline="0" dirty="0" err="1">
                          <a:ln>
                            <a:noFill/>
                          </a:ln>
                          <a:solidFill>
                            <a:schemeClr val="tx1"/>
                          </a:solidFill>
                          <a:effectLst/>
                          <a:latin typeface="Verdana" pitchFamily="34" charset="0"/>
                        </a:rPr>
                        <a:t>êtes-vous</a:t>
                      </a:r>
                      <a:r>
                        <a:rPr kumimoji="0" lang="en-US" sz="2400" b="1" i="0" u="none" strike="noStrike" cap="none" normalizeH="0" baseline="0" dirty="0">
                          <a:ln>
                            <a:noFill/>
                          </a:ln>
                          <a:solidFill>
                            <a:schemeClr val="tx1"/>
                          </a:solidFill>
                          <a:effectLst/>
                          <a:latin typeface="Verdana" pitchFamily="34" charset="0"/>
                        </a:rPr>
                        <a:t>?</a:t>
                      </a:r>
                    </a:p>
                  </a:txBody>
                  <a:tcPr marT="45707" marB="45707" anchor="ctr" horzOverflow="overflow">
                    <a:lnL w="1905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2410">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Verdana" pitchFamily="34" charset="0"/>
                        </a:rPr>
                        <a:t>Authentication: </a:t>
                      </a:r>
                      <a:r>
                        <a:rPr kumimoji="0" lang="en-US" sz="2400" b="0" i="0" u="none" strike="noStrike" cap="none" normalizeH="0" baseline="0" dirty="0" err="1">
                          <a:ln>
                            <a:noFill/>
                          </a:ln>
                          <a:solidFill>
                            <a:schemeClr val="tx1"/>
                          </a:solidFill>
                          <a:effectLst/>
                          <a:latin typeface="Verdana" pitchFamily="34" charset="0"/>
                        </a:rPr>
                        <a:t>Vérifier</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l’identité</a:t>
                      </a:r>
                      <a:r>
                        <a:rPr kumimoji="0" lang="en-US" sz="2400" b="0" i="0" u="none" strike="noStrike" cap="none" normalizeH="0" baseline="0" dirty="0">
                          <a:ln>
                            <a:noFill/>
                          </a:ln>
                          <a:solidFill>
                            <a:schemeClr val="tx1"/>
                          </a:solidFill>
                          <a:effectLst/>
                          <a:latin typeface="Verdana" pitchFamily="34" charset="0"/>
                        </a:rPr>
                        <a:t> de </a:t>
                      </a:r>
                      <a:r>
                        <a:rPr kumimoji="0" lang="en-US" sz="2400" b="0" i="0" u="none" strike="noStrike" cap="none" normalizeH="0" baseline="0" dirty="0" err="1">
                          <a:ln>
                            <a:noFill/>
                          </a:ln>
                          <a:solidFill>
                            <a:schemeClr val="tx1"/>
                          </a:solidFill>
                          <a:effectLst/>
                          <a:latin typeface="Verdana" pitchFamily="34" charset="0"/>
                        </a:rPr>
                        <a:t>l’utilisateur</a:t>
                      </a:r>
                      <a:endParaRPr kumimoji="0" lang="en-US" sz="2400" b="0" i="0" u="none" strike="noStrike" cap="none" normalizeH="0" baseline="0" dirty="0">
                        <a:ln>
                          <a:noFill/>
                        </a:ln>
                        <a:solidFill>
                          <a:schemeClr val="tx1"/>
                        </a:solidFill>
                        <a:effectLst/>
                        <a:latin typeface="Verdana" pitchFamily="34" charset="0"/>
                      </a:endParaRPr>
                    </a:p>
                  </a:txBody>
                  <a:tcPr marT="45707" marB="45707" anchor="ctr" horzOverflow="overflow">
                    <a:lnL w="1905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BBCDE3"/>
                    </a:solidFill>
                  </a:tcPr>
                </a:tc>
                <a:extLst>
                  <a:ext uri="{0D108BD9-81ED-4DB2-BD59-A6C34878D82A}">
                    <a16:rowId xmlns:a16="http://schemas.microsoft.com/office/drawing/2014/main" val="10001"/>
                  </a:ext>
                </a:extLst>
              </a:tr>
            </a:tbl>
          </a:graphicData>
        </a:graphic>
      </p:graphicFrame>
      <p:graphicFrame>
        <p:nvGraphicFramePr>
          <p:cNvPr id="805923" name="Group 35"/>
          <p:cNvGraphicFramePr>
            <a:graphicFrameLocks noGrp="1"/>
          </p:cNvGraphicFramePr>
          <p:nvPr>
            <p:extLst>
              <p:ext uri="{D42A27DB-BD31-4B8C-83A1-F6EECF244321}">
                <p14:modId xmlns:p14="http://schemas.microsoft.com/office/powerpoint/2010/main" val="3318182445"/>
              </p:ext>
            </p:extLst>
          </p:nvPr>
        </p:nvGraphicFramePr>
        <p:xfrm>
          <a:off x="4252105" y="1543297"/>
          <a:ext cx="4721409" cy="1828692"/>
        </p:xfrm>
        <a:graphic>
          <a:graphicData uri="http://schemas.openxmlformats.org/drawingml/2006/table">
            <a:tbl>
              <a:tblPr/>
              <a:tblGrid>
                <a:gridCol w="4721409">
                  <a:extLst>
                    <a:ext uri="{9D8B030D-6E8A-4147-A177-3AD203B41FA5}">
                      <a16:colId xmlns:a16="http://schemas.microsoft.com/office/drawing/2014/main" val="20000"/>
                    </a:ext>
                  </a:extLst>
                </a:gridCol>
              </a:tblGrid>
              <a:tr h="379949">
                <a:tc>
                  <a:txBody>
                    <a:body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2400" b="1" i="0" u="none" strike="noStrike" cap="none" normalizeH="0" baseline="0" dirty="0" err="1">
                          <a:ln>
                            <a:noFill/>
                          </a:ln>
                          <a:solidFill>
                            <a:schemeClr val="tx1"/>
                          </a:solidFill>
                          <a:effectLst/>
                          <a:latin typeface="Verdana" pitchFamily="34" charset="0"/>
                        </a:rPr>
                        <a:t>Votre</a:t>
                      </a:r>
                      <a:r>
                        <a:rPr kumimoji="0" lang="en-US" sz="2400" b="1" i="0" u="none" strike="noStrike" cap="none" normalizeH="0" baseline="0" dirty="0">
                          <a:ln>
                            <a:noFill/>
                          </a:ln>
                          <a:solidFill>
                            <a:schemeClr val="tx1"/>
                          </a:solidFill>
                          <a:effectLst/>
                          <a:latin typeface="Verdana" pitchFamily="34" charset="0"/>
                        </a:rPr>
                        <a:t> nom figure-t-</a:t>
                      </a:r>
                      <a:r>
                        <a:rPr kumimoji="0" lang="en-US" sz="2400" b="1" i="0" u="none" strike="noStrike" cap="none" normalizeH="0" baseline="0" dirty="0" err="1">
                          <a:ln>
                            <a:noFill/>
                          </a:ln>
                          <a:solidFill>
                            <a:schemeClr val="tx1"/>
                          </a:solidFill>
                          <a:effectLst/>
                          <a:latin typeface="Verdana" pitchFamily="34" charset="0"/>
                        </a:rPr>
                        <a:t>il</a:t>
                      </a:r>
                      <a:r>
                        <a:rPr kumimoji="0" lang="en-US" sz="2400" b="1" i="0" u="none" strike="noStrike" cap="none" normalizeH="0" baseline="0" dirty="0">
                          <a:ln>
                            <a:noFill/>
                          </a:ln>
                          <a:solidFill>
                            <a:schemeClr val="tx1"/>
                          </a:solidFill>
                          <a:effectLst/>
                          <a:latin typeface="Verdana" pitchFamily="34" charset="0"/>
                        </a:rPr>
                        <a:t> </a:t>
                      </a:r>
                      <a:r>
                        <a:rPr kumimoji="0" lang="en-US" sz="2400" b="1" i="0" u="none" strike="noStrike" cap="none" normalizeH="0" baseline="0" dirty="0" err="1">
                          <a:ln>
                            <a:noFill/>
                          </a:ln>
                          <a:solidFill>
                            <a:schemeClr val="tx1"/>
                          </a:solidFill>
                          <a:effectLst/>
                          <a:latin typeface="Verdana" pitchFamily="34" charset="0"/>
                        </a:rPr>
                        <a:t>sur</a:t>
                      </a:r>
                      <a:r>
                        <a:rPr kumimoji="0" lang="en-US" sz="2400" b="1" i="0" u="none" strike="noStrike" cap="none" normalizeH="0" baseline="0" dirty="0">
                          <a:ln>
                            <a:noFill/>
                          </a:ln>
                          <a:solidFill>
                            <a:schemeClr val="tx1"/>
                          </a:solidFill>
                          <a:effectLst/>
                          <a:latin typeface="Verdana" pitchFamily="34" charset="0"/>
                        </a:rPr>
                        <a:t> la </a:t>
                      </a:r>
                      <a:r>
                        <a:rPr kumimoji="0" lang="en-US" sz="2400" b="1" i="0" u="none" strike="noStrike" cap="none" normalizeH="0" baseline="0" dirty="0" err="1">
                          <a:ln>
                            <a:noFill/>
                          </a:ln>
                          <a:solidFill>
                            <a:schemeClr val="tx1"/>
                          </a:solidFill>
                          <a:effectLst/>
                          <a:latin typeface="Verdana" pitchFamily="34" charset="0"/>
                        </a:rPr>
                        <a:t>liste</a:t>
                      </a:r>
                      <a:r>
                        <a:rPr kumimoji="0" lang="en-US" sz="2400" b="1" i="0" u="none" strike="noStrike" cap="none" normalizeH="0" baseline="0" dirty="0">
                          <a:ln>
                            <a:noFill/>
                          </a:ln>
                          <a:solidFill>
                            <a:schemeClr val="tx1"/>
                          </a:solidFill>
                          <a:effectLst/>
                          <a:latin typeface="Verdana" pitchFamily="34" charset="0"/>
                        </a:rPr>
                        <a:t>?</a:t>
                      </a:r>
                    </a:p>
                  </a:txBody>
                  <a:tcPr marT="45693" marB="45693" anchor="ctr" horzOverflow="overflow">
                    <a:lnL w="1905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1801">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dirty="0" err="1">
                          <a:ln>
                            <a:noFill/>
                          </a:ln>
                          <a:solidFill>
                            <a:schemeClr val="tx1"/>
                          </a:solidFill>
                          <a:effectLst/>
                          <a:latin typeface="Verdana" pitchFamily="34" charset="0"/>
                        </a:rPr>
                        <a:t>Authorisation</a:t>
                      </a:r>
                      <a:r>
                        <a:rPr kumimoji="0" lang="en-US" sz="2400" b="1"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Déterminer</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si</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l’utlisateur</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peut</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accèder</a:t>
                      </a:r>
                      <a:r>
                        <a:rPr kumimoji="0" lang="en-US" sz="2400" b="0" i="0" u="none" strike="noStrike" cap="none" normalizeH="0" baseline="0" dirty="0">
                          <a:ln>
                            <a:noFill/>
                          </a:ln>
                          <a:solidFill>
                            <a:schemeClr val="tx1"/>
                          </a:solidFill>
                          <a:effectLst/>
                          <a:latin typeface="Verdana" pitchFamily="34" charset="0"/>
                        </a:rPr>
                        <a:t> à </a:t>
                      </a:r>
                      <a:r>
                        <a:rPr kumimoji="0" lang="en-US" sz="2400" b="0" i="0" u="none" strike="noStrike" cap="none" normalizeH="0" baseline="0" dirty="0" err="1">
                          <a:ln>
                            <a:noFill/>
                          </a:ln>
                          <a:solidFill>
                            <a:schemeClr val="tx1"/>
                          </a:solidFill>
                          <a:effectLst/>
                          <a:latin typeface="Verdana" pitchFamily="34" charset="0"/>
                        </a:rPr>
                        <a:t>une</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ressource</a:t>
                      </a:r>
                      <a:endParaRPr kumimoji="0" lang="en-US" sz="2400" b="0" i="0" u="none" strike="noStrike" cap="none" normalizeH="0" baseline="0" dirty="0">
                        <a:ln>
                          <a:noFill/>
                        </a:ln>
                        <a:solidFill>
                          <a:schemeClr val="tx1"/>
                        </a:solidFill>
                        <a:effectLst/>
                        <a:latin typeface="Verdana" pitchFamily="34" charset="0"/>
                      </a:endParaRPr>
                    </a:p>
                  </a:txBody>
                  <a:tcPr marT="45693" marB="45693" anchor="ctr" horzOverflow="overflow">
                    <a:lnL w="1905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1"/>
                  </a:ext>
                </a:extLst>
              </a:tr>
            </a:tbl>
          </a:graphicData>
        </a:graphic>
      </p:graphicFrame>
      <p:sp>
        <p:nvSpPr>
          <p:cNvPr id="6173" name="Rectangle 10"/>
          <p:cNvSpPr>
            <a:spLocks noChangeArrowheads="1"/>
          </p:cNvSpPr>
          <p:nvPr/>
        </p:nvSpPr>
        <p:spPr bwMode="auto">
          <a:xfrm>
            <a:off x="2552723" y="4111513"/>
            <a:ext cx="1131887" cy="295275"/>
          </a:xfrm>
          <a:prstGeom prst="rect">
            <a:avLst/>
          </a:prstGeom>
          <a:solidFill>
            <a:srgbClr val="CC0000"/>
          </a:solidFill>
          <a:ln w="9525" algn="ctr">
            <a:noFill/>
            <a:miter lim="800000"/>
            <a:headEnd/>
            <a:tailEnd/>
          </a:ln>
        </p:spPr>
        <p:txBody>
          <a:bodyPr wrap="none" anchor="ctr"/>
          <a:lstStyle/>
          <a:p>
            <a:endParaRPr lang="fr-FR" sz="2400"/>
          </a:p>
        </p:txBody>
      </p:sp>
      <p:graphicFrame>
        <p:nvGraphicFramePr>
          <p:cNvPr id="18" name="Group 35"/>
          <p:cNvGraphicFramePr>
            <a:graphicFrameLocks noGrp="1"/>
          </p:cNvGraphicFramePr>
          <p:nvPr>
            <p:extLst>
              <p:ext uri="{D42A27DB-BD31-4B8C-83A1-F6EECF244321}">
                <p14:modId xmlns:p14="http://schemas.microsoft.com/office/powerpoint/2010/main" val="1161846992"/>
              </p:ext>
            </p:extLst>
          </p:nvPr>
        </p:nvGraphicFramePr>
        <p:xfrm>
          <a:off x="2323097" y="5309824"/>
          <a:ext cx="6650417" cy="1499508"/>
        </p:xfrm>
        <a:graphic>
          <a:graphicData uri="http://schemas.openxmlformats.org/drawingml/2006/table">
            <a:tbl>
              <a:tblPr/>
              <a:tblGrid>
                <a:gridCol w="6650417">
                  <a:extLst>
                    <a:ext uri="{9D8B030D-6E8A-4147-A177-3AD203B41FA5}">
                      <a16:colId xmlns:a16="http://schemas.microsoft.com/office/drawing/2014/main" val="20000"/>
                    </a:ext>
                  </a:extLst>
                </a:gridCol>
              </a:tblGrid>
              <a:tr h="379949">
                <a:tc>
                  <a: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1" i="0" u="none" strike="noStrike" cap="none" normalizeH="0" baseline="0" dirty="0" err="1">
                          <a:ln>
                            <a:noFill/>
                          </a:ln>
                          <a:solidFill>
                            <a:schemeClr val="tx1"/>
                          </a:solidFill>
                          <a:effectLst/>
                          <a:latin typeface="Verdana" pitchFamily="34" charset="0"/>
                        </a:rPr>
                        <a:t>Selon</a:t>
                      </a:r>
                      <a:r>
                        <a:rPr kumimoji="0" lang="en-US" sz="2400" b="1" i="0" u="none" strike="noStrike" cap="none" normalizeH="0" baseline="0" dirty="0">
                          <a:ln>
                            <a:noFill/>
                          </a:ln>
                          <a:solidFill>
                            <a:schemeClr val="tx1"/>
                          </a:solidFill>
                          <a:effectLst/>
                          <a:latin typeface="Verdana" pitchFamily="34" charset="0"/>
                        </a:rPr>
                        <a:t> la </a:t>
                      </a:r>
                      <a:r>
                        <a:rPr kumimoji="0" lang="en-US" sz="2400" b="1" i="0" u="none" strike="noStrike" cap="none" normalizeH="0" baseline="0" dirty="0" err="1">
                          <a:ln>
                            <a:noFill/>
                          </a:ln>
                          <a:solidFill>
                            <a:schemeClr val="tx1"/>
                          </a:solidFill>
                          <a:effectLst/>
                          <a:latin typeface="Verdana" pitchFamily="34" charset="0"/>
                        </a:rPr>
                        <a:t>liste</a:t>
                      </a:r>
                      <a:r>
                        <a:rPr kumimoji="0" lang="en-US" sz="2400" b="1" i="0" u="none" strike="noStrike" cap="none" normalizeH="0" baseline="0" dirty="0">
                          <a:ln>
                            <a:noFill/>
                          </a:ln>
                          <a:solidFill>
                            <a:schemeClr val="tx1"/>
                          </a:solidFill>
                          <a:effectLst/>
                          <a:latin typeface="Verdana" pitchFamily="34" charset="0"/>
                        </a:rPr>
                        <a:t>, </a:t>
                      </a:r>
                      <a:r>
                        <a:rPr kumimoji="0" lang="en-US" sz="2400" b="1" i="0" u="none" strike="noStrike" cap="none" normalizeH="0" baseline="0" dirty="0" err="1">
                          <a:ln>
                            <a:noFill/>
                          </a:ln>
                          <a:solidFill>
                            <a:schemeClr val="tx1"/>
                          </a:solidFill>
                          <a:effectLst/>
                          <a:latin typeface="Verdana" pitchFamily="34" charset="0"/>
                        </a:rPr>
                        <a:t>que</a:t>
                      </a:r>
                      <a:r>
                        <a:rPr kumimoji="0" lang="en-US" sz="2400" b="1" i="0" u="none" strike="noStrike" cap="none" normalizeH="0" baseline="0" dirty="0">
                          <a:ln>
                            <a:noFill/>
                          </a:ln>
                          <a:solidFill>
                            <a:schemeClr val="tx1"/>
                          </a:solidFill>
                          <a:effectLst/>
                          <a:latin typeface="Verdana" pitchFamily="34" charset="0"/>
                        </a:rPr>
                        <a:t> </a:t>
                      </a:r>
                      <a:r>
                        <a:rPr kumimoji="0" lang="en-US" sz="2400" b="1" i="0" u="none" strike="noStrike" cap="none" normalizeH="0" baseline="0" dirty="0" err="1">
                          <a:ln>
                            <a:noFill/>
                          </a:ln>
                          <a:solidFill>
                            <a:schemeClr val="tx1"/>
                          </a:solidFill>
                          <a:effectLst/>
                          <a:latin typeface="Verdana" pitchFamily="34" charset="0"/>
                        </a:rPr>
                        <a:t>pouvez-vous</a:t>
                      </a:r>
                      <a:r>
                        <a:rPr kumimoji="0" lang="en-US" sz="2400" b="1" i="0" u="none" strike="noStrike" cap="none" normalizeH="0" baseline="0" dirty="0">
                          <a:ln>
                            <a:noFill/>
                          </a:ln>
                          <a:solidFill>
                            <a:schemeClr val="tx1"/>
                          </a:solidFill>
                          <a:effectLst/>
                          <a:latin typeface="Verdana" pitchFamily="34" charset="0"/>
                        </a:rPr>
                        <a:t> faire?</a:t>
                      </a:r>
                    </a:p>
                  </a:txBody>
                  <a:tcPr marL="91456" marR="91456" marT="45693" marB="45693" anchor="ctr" horzOverflow="overflow">
                    <a:lnL w="1905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1801">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sz="2400" b="1" i="0" u="none" strike="noStrike" cap="none" normalizeH="0" baseline="0" dirty="0" err="1">
                          <a:ln>
                            <a:noFill/>
                          </a:ln>
                          <a:solidFill>
                            <a:schemeClr val="tx1"/>
                          </a:solidFill>
                          <a:effectLst/>
                          <a:latin typeface="Verdana" pitchFamily="34" charset="0"/>
                        </a:rPr>
                        <a:t>Accès</a:t>
                      </a:r>
                      <a:r>
                        <a:rPr kumimoji="0" lang="en-US" sz="2400" b="1"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Déterminer</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quelles</a:t>
                      </a:r>
                      <a:r>
                        <a:rPr kumimoji="0" lang="en-US" sz="2400" b="0" i="0" u="none" strike="noStrike" cap="none" normalizeH="0" baseline="0" dirty="0">
                          <a:ln>
                            <a:noFill/>
                          </a:ln>
                          <a:solidFill>
                            <a:schemeClr val="tx1"/>
                          </a:solidFill>
                          <a:effectLst/>
                          <a:latin typeface="Verdana" pitchFamily="34" charset="0"/>
                        </a:rPr>
                        <a:t> actions </a:t>
                      </a:r>
                      <a:r>
                        <a:rPr kumimoji="0" lang="en-US" sz="2400" b="0" i="0" u="none" strike="noStrike" cap="none" normalizeH="0" baseline="0" dirty="0" err="1">
                          <a:ln>
                            <a:noFill/>
                          </a:ln>
                          <a:solidFill>
                            <a:schemeClr val="tx1"/>
                          </a:solidFill>
                          <a:effectLst/>
                          <a:latin typeface="Verdana" pitchFamily="34" charset="0"/>
                        </a:rPr>
                        <a:t>l’utlisateur</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peut</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exécuter</a:t>
                      </a:r>
                      <a:r>
                        <a:rPr kumimoji="0" lang="en-US" sz="2400" b="0" i="0" u="none" strike="noStrike" cap="none" normalizeH="0" baseline="0" dirty="0">
                          <a:ln>
                            <a:noFill/>
                          </a:ln>
                          <a:solidFill>
                            <a:schemeClr val="tx1"/>
                          </a:solidFill>
                          <a:effectLst/>
                          <a:latin typeface="Verdana" pitchFamily="34" charset="0"/>
                        </a:rPr>
                        <a:t> </a:t>
                      </a:r>
                      <a:r>
                        <a:rPr kumimoji="0" lang="en-US" sz="2400" b="0" i="0" u="none" strike="noStrike" cap="none" normalizeH="0" baseline="0" dirty="0" err="1">
                          <a:ln>
                            <a:noFill/>
                          </a:ln>
                          <a:solidFill>
                            <a:schemeClr val="tx1"/>
                          </a:solidFill>
                          <a:effectLst/>
                          <a:latin typeface="Verdana" pitchFamily="34" charset="0"/>
                        </a:rPr>
                        <a:t>sur</a:t>
                      </a:r>
                      <a:r>
                        <a:rPr kumimoji="0" lang="en-US" sz="2400" b="0" i="0" u="none" strike="noStrike" cap="none" normalizeH="0" baseline="0" dirty="0">
                          <a:ln>
                            <a:noFill/>
                          </a:ln>
                          <a:solidFill>
                            <a:schemeClr val="tx1"/>
                          </a:solidFill>
                          <a:effectLst/>
                          <a:latin typeface="Verdana" pitchFamily="34" charset="0"/>
                        </a:rPr>
                        <a:t> les </a:t>
                      </a:r>
                      <a:r>
                        <a:rPr kumimoji="0" lang="en-US" sz="2400" b="0" i="0" u="none" strike="noStrike" cap="none" normalizeH="0" baseline="0" dirty="0" err="1">
                          <a:ln>
                            <a:noFill/>
                          </a:ln>
                          <a:solidFill>
                            <a:schemeClr val="tx1"/>
                          </a:solidFill>
                          <a:effectLst/>
                          <a:latin typeface="Verdana" pitchFamily="34" charset="0"/>
                        </a:rPr>
                        <a:t>ressources</a:t>
                      </a:r>
                      <a:endParaRPr kumimoji="0" lang="en-US" sz="2400" b="0" i="0" u="none" strike="noStrike" cap="none" normalizeH="0" baseline="0" dirty="0">
                        <a:ln>
                          <a:noFill/>
                        </a:ln>
                        <a:solidFill>
                          <a:schemeClr val="tx1"/>
                        </a:solidFill>
                        <a:effectLst/>
                        <a:latin typeface="Verdana" pitchFamily="34" charset="0"/>
                      </a:endParaRPr>
                    </a:p>
                  </a:txBody>
                  <a:tcPr marL="91456" marR="91456" marT="45693" marB="45693" anchor="ctr" horzOverflow="overflow">
                    <a:lnL w="1905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1"/>
                  </a:ext>
                </a:extLst>
              </a:tr>
            </a:tbl>
          </a:graphicData>
        </a:graphic>
      </p:graphicFrame>
      <p:cxnSp>
        <p:nvCxnSpPr>
          <p:cNvPr id="6182" name="Straight Connector 19"/>
          <p:cNvCxnSpPr>
            <a:cxnSpLocks noChangeShapeType="1"/>
          </p:cNvCxnSpPr>
          <p:nvPr/>
        </p:nvCxnSpPr>
        <p:spPr bwMode="auto">
          <a:xfrm rot="16200000" flipH="1">
            <a:off x="4673622" y="5056076"/>
            <a:ext cx="777875" cy="0"/>
          </a:xfrm>
          <a:prstGeom prst="line">
            <a:avLst/>
          </a:prstGeom>
          <a:noFill/>
          <a:ln w="38100" algn="ctr">
            <a:solidFill>
              <a:srgbClr val="FF0000"/>
            </a:solidFill>
            <a:round/>
            <a:headEnd/>
            <a:tailEn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checkerboard(across)">
                                      <p:cBhvr>
                                        <p:cTn id="7" dur="500"/>
                                        <p:tgtEl>
                                          <p:spTgt spid="6146"/>
                                        </p:tgtEl>
                                      </p:cBhvr>
                                    </p:animEffect>
                                  </p:childTnLst>
                                </p:cTn>
                              </p:par>
                              <p:par>
                                <p:cTn id="8" presetID="5" presetClass="entr" presetSubtype="10" fill="hold" nodeType="withEffect">
                                  <p:stCondLst>
                                    <p:cond delay="0"/>
                                  </p:stCondLst>
                                  <p:childTnLst>
                                    <p:set>
                                      <p:cBhvr>
                                        <p:cTn id="9" dur="1" fill="hold">
                                          <p:stCondLst>
                                            <p:cond delay="0"/>
                                          </p:stCondLst>
                                        </p:cTn>
                                        <p:tgtEl>
                                          <p:spTgt spid="805922"/>
                                        </p:tgtEl>
                                        <p:attrNameLst>
                                          <p:attrName>style.visibility</p:attrName>
                                        </p:attrNameLst>
                                      </p:cBhvr>
                                      <p:to>
                                        <p:strVal val="visible"/>
                                      </p:to>
                                    </p:set>
                                    <p:animEffect transition="in" filter="checkerboard(across)">
                                      <p:cBhvr>
                                        <p:cTn id="10" dur="500"/>
                                        <p:tgtEl>
                                          <p:spTgt spid="80592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155"/>
                                        </p:tgtEl>
                                        <p:attrNameLst>
                                          <p:attrName>style.visibility</p:attrName>
                                        </p:attrNameLst>
                                      </p:cBhvr>
                                      <p:to>
                                        <p:strVal val="visible"/>
                                      </p:to>
                                    </p:set>
                                    <p:animEffect transition="in" filter="checkerboard(across)">
                                      <p:cBhvr>
                                        <p:cTn id="13" dur="500"/>
                                        <p:tgtEl>
                                          <p:spTgt spid="615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6153"/>
                                        </p:tgtEl>
                                        <p:attrNameLst>
                                          <p:attrName>style.visibility</p:attrName>
                                        </p:attrNameLst>
                                      </p:cBhvr>
                                      <p:to>
                                        <p:strVal val="visible"/>
                                      </p:to>
                                    </p:set>
                                    <p:animEffect transition="in" filter="checkerboard(across)">
                                      <p:cBhvr>
                                        <p:cTn id="18" dur="500"/>
                                        <p:tgtEl>
                                          <p:spTgt spid="6153"/>
                                        </p:tgtEl>
                                      </p:cBhvr>
                                    </p:animEffect>
                                  </p:childTnLst>
                                </p:cTn>
                              </p:par>
                              <p:par>
                                <p:cTn id="19" presetID="5" presetClass="entr" presetSubtype="10" fill="hold" nodeType="withEffect">
                                  <p:stCondLst>
                                    <p:cond delay="0"/>
                                  </p:stCondLst>
                                  <p:childTnLst>
                                    <p:set>
                                      <p:cBhvr>
                                        <p:cTn id="20" dur="1" fill="hold">
                                          <p:stCondLst>
                                            <p:cond delay="0"/>
                                          </p:stCondLst>
                                        </p:cTn>
                                        <p:tgtEl>
                                          <p:spTgt spid="805923"/>
                                        </p:tgtEl>
                                        <p:attrNameLst>
                                          <p:attrName>style.visibility</p:attrName>
                                        </p:attrNameLst>
                                      </p:cBhvr>
                                      <p:to>
                                        <p:strVal val="visible"/>
                                      </p:to>
                                    </p:set>
                                    <p:animEffect transition="in" filter="checkerboard(across)">
                                      <p:cBhvr>
                                        <p:cTn id="21" dur="500"/>
                                        <p:tgtEl>
                                          <p:spTgt spid="805923"/>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6156"/>
                                        </p:tgtEl>
                                        <p:attrNameLst>
                                          <p:attrName>style.visibility</p:attrName>
                                        </p:attrNameLst>
                                      </p:cBhvr>
                                      <p:to>
                                        <p:strVal val="visible"/>
                                      </p:to>
                                    </p:set>
                                    <p:animEffect transition="in" filter="checkerboard(across)">
                                      <p:cBhvr>
                                        <p:cTn id="24" dur="500"/>
                                        <p:tgtEl>
                                          <p:spTgt spid="6156"/>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6182"/>
                                        </p:tgtEl>
                                        <p:attrNameLst>
                                          <p:attrName>style.visibility</p:attrName>
                                        </p:attrNameLst>
                                      </p:cBhvr>
                                      <p:to>
                                        <p:strVal val="visible"/>
                                      </p:to>
                                    </p:set>
                                    <p:animEffect transition="in" filter="checkerboard(across)">
                                      <p:cBhvr>
                                        <p:cTn id="29" dur="500"/>
                                        <p:tgtEl>
                                          <p:spTgt spid="6182"/>
                                        </p:tgtEl>
                                      </p:cBhvr>
                                    </p:animEffect>
                                  </p:childTnLst>
                                </p:cTn>
                              </p:par>
                              <p:par>
                                <p:cTn id="30" presetID="5" presetClass="entr" presetSubtype="1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checkerboard(across)">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53" grpId="0" animBg="1"/>
      <p:bldP spid="6155" grpId="0" animBg="1"/>
      <p:bldP spid="615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2"/>
          <p:cNvSpPr>
            <a:spLocks noGrp="1" noChangeArrowheads="1"/>
          </p:cNvSpPr>
          <p:nvPr>
            <p:ph type="title"/>
          </p:nvPr>
        </p:nvSpPr>
        <p:spPr>
          <a:xfrm>
            <a:off x="193394" y="555216"/>
            <a:ext cx="8734063" cy="684212"/>
          </a:xfrm>
          <a:solidFill>
            <a:schemeClr val="bg1"/>
          </a:solidFill>
        </p:spPr>
        <p:txBody>
          <a:bodyPr/>
          <a:lstStyle/>
          <a:p>
            <a:r>
              <a:rPr lang="fr-FR" altLang="zh-CN" b="1" dirty="0">
                <a:solidFill>
                  <a:srgbClr val="C00000"/>
                </a:solidFill>
                <a:ea typeface="SimSun" pitchFamily="2" charset="-122"/>
                <a:cs typeface="Times New Roman" charset="0"/>
              </a:rPr>
              <a:t>Description des autorisations </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495619" name="Rectangle-3"/>
          <p:cNvSpPr>
            <a:spLocks noGrp="1" noChangeArrowheads="1"/>
          </p:cNvSpPr>
          <p:nvPr>
            <p:ph type="body" sz="half" idx="1"/>
          </p:nvPr>
        </p:nvSpPr>
        <p:spPr>
          <a:xfrm>
            <a:off x="231495" y="1395413"/>
            <a:ext cx="8657862" cy="3118714"/>
          </a:xfrm>
        </p:spPr>
        <p:txBody>
          <a:bodyPr>
            <a:normAutofit/>
          </a:bodyPr>
          <a:lstStyle/>
          <a:p>
            <a:pPr>
              <a:lnSpc>
                <a:spcPct val="110000"/>
              </a:lnSpc>
            </a:pPr>
            <a:r>
              <a:rPr lang="fr-FR" altLang="zh-CN" dirty="0">
                <a:solidFill>
                  <a:srgbClr val="C00000"/>
                </a:solidFill>
                <a:ea typeface="SimSun" pitchFamily="2" charset="-122"/>
                <a:cs typeface="Times New Roman" charset="0"/>
              </a:rPr>
              <a:t>C’est quoi? </a:t>
            </a:r>
            <a:r>
              <a:rPr lang="fr-FR" altLang="zh-CN" dirty="0">
                <a:solidFill>
                  <a:srgbClr val="000000"/>
                </a:solidFill>
                <a:ea typeface="SimSun" pitchFamily="2" charset="-122"/>
                <a:cs typeface="Times New Roman" charset="0"/>
              </a:rPr>
              <a:t>C’est le type d'accès accordé à un utilisateur, un groupe ou un ordinateur sur un objet</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a:lnSpc>
                <a:spcPct val="110000"/>
              </a:lnSpc>
            </a:pPr>
            <a:r>
              <a:rPr lang="fr-FR" altLang="zh-CN" dirty="0">
                <a:solidFill>
                  <a:srgbClr val="C00000"/>
                </a:solidFill>
                <a:ea typeface="SimSun" pitchFamily="2" charset="-122"/>
                <a:cs typeface="Times New Roman" charset="0"/>
              </a:rPr>
              <a:t>Sur Quoi? </a:t>
            </a:r>
            <a:r>
              <a:rPr lang="fr-FR" altLang="zh-CN" dirty="0">
                <a:solidFill>
                  <a:srgbClr val="000000"/>
                </a:solidFill>
                <a:ea typeface="SimSun" pitchFamily="2" charset="-122"/>
                <a:cs typeface="Times New Roman" charset="0"/>
              </a:rPr>
              <a:t>Sur des objets tels que les fichiers, les dossiers, les fichiers partagés et les imprimantes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a:lnSpc>
                <a:spcPct val="110000"/>
              </a:lnSpc>
            </a:pPr>
            <a:r>
              <a:rPr lang="fr-FR" altLang="zh-CN" dirty="0">
                <a:solidFill>
                  <a:srgbClr val="C00000"/>
                </a:solidFill>
                <a:ea typeface="SimSun" pitchFamily="2" charset="-122"/>
                <a:cs typeface="Times New Roman" charset="0"/>
              </a:rPr>
              <a:t>A qui? </a:t>
            </a:r>
            <a:r>
              <a:rPr lang="fr-FR" altLang="zh-CN" dirty="0">
                <a:solidFill>
                  <a:srgbClr val="000000"/>
                </a:solidFill>
                <a:ea typeface="SimSun" pitchFamily="2" charset="-122"/>
                <a:cs typeface="Times New Roman" charset="0"/>
              </a:rPr>
              <a:t>aux  utilisateurs et aux groupes dans Active Directory ou sur un ordinateur local</a:t>
            </a:r>
            <a:r>
              <a:rPr lang="en-IE" altLang="zh-CN" sz="1800" dirty="0">
                <a:solidFill>
                  <a:srgbClr val="000000"/>
                </a:solidFill>
                <a:ea typeface="SimSun" pitchFamily="2" charset="-122"/>
                <a:cs typeface="Times New Roman" charset="0"/>
              </a:rPr>
              <a:t> </a:t>
            </a:r>
            <a:endParaRPr lang="en-US" sz="1800" dirty="0">
              <a:solidFill>
                <a:srgbClr val="000000"/>
              </a:solidFill>
              <a:ea typeface="SimSun" pitchFamily="2" charset="-122"/>
              <a:cs typeface="Times New Roman" charset="0"/>
            </a:endParaRPr>
          </a:p>
        </p:txBody>
      </p:sp>
      <p:grpSp>
        <p:nvGrpSpPr>
          <p:cNvPr id="2" name="Groupe 1">
            <a:extLst>
              <a:ext uri="{FF2B5EF4-FFF2-40B4-BE49-F238E27FC236}">
                <a16:creationId xmlns:a16="http://schemas.microsoft.com/office/drawing/2014/main" id="{8B0E3CAA-60C7-403E-93E5-72C5C952BB42}"/>
              </a:ext>
            </a:extLst>
          </p:cNvPr>
          <p:cNvGrpSpPr/>
          <p:nvPr/>
        </p:nvGrpSpPr>
        <p:grpSpPr>
          <a:xfrm>
            <a:off x="1379539" y="4375230"/>
            <a:ext cx="5426376" cy="2247820"/>
            <a:chOff x="1379539" y="4375230"/>
            <a:chExt cx="5426376" cy="2247820"/>
          </a:xfrm>
        </p:grpSpPr>
        <p:grpSp>
          <p:nvGrpSpPr>
            <p:cNvPr id="495752" name="Group 136"/>
            <p:cNvGrpSpPr>
              <a:grpSpLocks/>
            </p:cNvGrpSpPr>
            <p:nvPr/>
          </p:nvGrpSpPr>
          <p:grpSpPr bwMode="auto">
            <a:xfrm>
              <a:off x="5142452" y="4375230"/>
              <a:ext cx="1663463" cy="1076120"/>
              <a:chOff x="3764" y="1953"/>
              <a:chExt cx="1240" cy="957"/>
            </a:xfrm>
          </p:grpSpPr>
          <p:sp>
            <p:nvSpPr>
              <p:cNvPr id="495753" name="Oval-137"/>
              <p:cNvSpPr>
                <a:spLocks noChangeArrowheads="1"/>
              </p:cNvSpPr>
              <p:nvPr/>
            </p:nvSpPr>
            <p:spPr bwMode="auto">
              <a:xfrm>
                <a:off x="3764" y="2327"/>
                <a:ext cx="1185" cy="583"/>
              </a:xfrm>
              <a:prstGeom prst="ellipse">
                <a:avLst/>
              </a:prstGeom>
              <a:gradFill rotWithShape="1">
                <a:gsLst>
                  <a:gs pos="0">
                    <a:srgbClr val="FFFFFF"/>
                  </a:gs>
                  <a:gs pos="100000">
                    <a:srgbClr val="EEEFD7"/>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pic>
            <p:nvPicPr>
              <p:cNvPr id="495754" name="Picture-138" descr="NetworkPrinter01"/>
              <p:cNvPicPr>
                <a:picLocks noChangeAspect="1" noChangeArrowheads="1"/>
              </p:cNvPicPr>
              <p:nvPr/>
            </p:nvPicPr>
            <p:blipFill>
              <a:blip r:embed="rId3" cstate="print"/>
              <a:srcRect/>
              <a:stretch>
                <a:fillRect/>
              </a:stretch>
            </p:blipFill>
            <p:spPr bwMode="auto">
              <a:xfrm>
                <a:off x="3826" y="1953"/>
                <a:ext cx="679" cy="673"/>
              </a:xfrm>
              <a:prstGeom prst="rect">
                <a:avLst/>
              </a:prstGeom>
              <a:noFill/>
            </p:spPr>
          </p:pic>
          <p:grpSp>
            <p:nvGrpSpPr>
              <p:cNvPr id="495755" name="Group 139"/>
              <p:cNvGrpSpPr>
                <a:grpSpLocks/>
              </p:cNvGrpSpPr>
              <p:nvPr/>
            </p:nvGrpSpPr>
            <p:grpSpPr bwMode="auto">
              <a:xfrm>
                <a:off x="4332" y="2273"/>
                <a:ext cx="672" cy="536"/>
                <a:chOff x="4332" y="2273"/>
                <a:chExt cx="672" cy="536"/>
              </a:xfrm>
            </p:grpSpPr>
            <p:pic>
              <p:nvPicPr>
                <p:cNvPr id="495756" name="Picture-140" descr="Folder_FolderOpen01"/>
                <p:cNvPicPr>
                  <a:picLocks noChangeAspect="1" noChangeArrowheads="1"/>
                </p:cNvPicPr>
                <p:nvPr/>
              </p:nvPicPr>
              <p:blipFill>
                <a:blip r:embed="rId4" cstate="print"/>
                <a:srcRect/>
                <a:stretch>
                  <a:fillRect/>
                </a:stretch>
              </p:blipFill>
              <p:spPr bwMode="auto">
                <a:xfrm>
                  <a:off x="4422" y="2273"/>
                  <a:ext cx="582" cy="521"/>
                </a:xfrm>
                <a:prstGeom prst="rect">
                  <a:avLst/>
                </a:prstGeom>
                <a:noFill/>
              </p:spPr>
            </p:pic>
            <p:pic>
              <p:nvPicPr>
                <p:cNvPr id="495757" name="Picture-141" descr="Shared Hand-3"/>
                <p:cNvPicPr>
                  <a:picLocks noChangeAspect="1" noChangeArrowheads="1"/>
                </p:cNvPicPr>
                <p:nvPr/>
              </p:nvPicPr>
              <p:blipFill>
                <a:blip r:embed="rId5"/>
                <a:srcRect/>
                <a:stretch>
                  <a:fillRect/>
                </a:stretch>
              </p:blipFill>
              <p:spPr bwMode="auto">
                <a:xfrm>
                  <a:off x="4332" y="2587"/>
                  <a:ext cx="509" cy="222"/>
                </a:xfrm>
                <a:prstGeom prst="rect">
                  <a:avLst/>
                </a:prstGeom>
                <a:noFill/>
              </p:spPr>
            </p:pic>
          </p:grpSp>
        </p:grpSp>
        <p:grpSp>
          <p:nvGrpSpPr>
            <p:cNvPr id="495758" name="Group 142"/>
            <p:cNvGrpSpPr>
              <a:grpSpLocks/>
            </p:cNvGrpSpPr>
            <p:nvPr/>
          </p:nvGrpSpPr>
          <p:grpSpPr bwMode="auto">
            <a:xfrm>
              <a:off x="4478409" y="5406371"/>
              <a:ext cx="1769441" cy="1216679"/>
              <a:chOff x="3196" y="2968"/>
              <a:chExt cx="1319" cy="1082"/>
            </a:xfrm>
          </p:grpSpPr>
          <p:sp>
            <p:nvSpPr>
              <p:cNvPr id="495759" name="Oval-143"/>
              <p:cNvSpPr>
                <a:spLocks noChangeArrowheads="1"/>
              </p:cNvSpPr>
              <p:nvPr/>
            </p:nvSpPr>
            <p:spPr bwMode="auto">
              <a:xfrm>
                <a:off x="3196" y="3407"/>
                <a:ext cx="1196" cy="588"/>
              </a:xfrm>
              <a:prstGeom prst="ellipse">
                <a:avLst/>
              </a:prstGeom>
              <a:gradFill rotWithShape="1">
                <a:gsLst>
                  <a:gs pos="0">
                    <a:srgbClr val="FFFFFF"/>
                  </a:gs>
                  <a:gs pos="100000">
                    <a:srgbClr val="EEEFD7"/>
                  </a:gs>
                </a:gsLst>
                <a:path path="shape">
                  <a:fillToRect l="50000" t="50000" r="50000" b="50000"/>
                </a:path>
              </a:gradFill>
              <a:ln w="9525">
                <a:solidFill>
                  <a:srgbClr val="333333"/>
                </a:solidFill>
                <a:round/>
                <a:headEnd/>
                <a:tailEnd/>
              </a:ln>
              <a:effectLst>
                <a:outerShdw dist="35921" dir="2700000" algn="ctr" rotWithShape="0">
                  <a:srgbClr val="ADADAD"/>
                </a:outerShdw>
              </a:effectLst>
            </p:spPr>
            <p:txBody>
              <a:bodyPr wrap="none" anchor="ctr"/>
              <a:lstStyle/>
              <a:p>
                <a:endParaRPr lang="fr-FR"/>
              </a:p>
            </p:txBody>
          </p:sp>
          <p:pic>
            <p:nvPicPr>
              <p:cNvPr id="495760" name="Picture-144" descr="Computer_Workstation01"/>
              <p:cNvPicPr>
                <a:picLocks noChangeAspect="1" noChangeArrowheads="1"/>
              </p:cNvPicPr>
              <p:nvPr/>
            </p:nvPicPr>
            <p:blipFill>
              <a:blip r:embed="rId6" cstate="print"/>
              <a:srcRect/>
              <a:stretch>
                <a:fillRect/>
              </a:stretch>
            </p:blipFill>
            <p:spPr bwMode="auto">
              <a:xfrm>
                <a:off x="3371" y="2968"/>
                <a:ext cx="725" cy="906"/>
              </a:xfrm>
              <a:prstGeom prst="rect">
                <a:avLst/>
              </a:prstGeom>
              <a:noFill/>
              <a:ln w="9525">
                <a:noFill/>
                <a:miter lim="800000"/>
                <a:headEnd/>
                <a:tailEnd/>
              </a:ln>
            </p:spPr>
          </p:pic>
          <p:pic>
            <p:nvPicPr>
              <p:cNvPr id="495761" name="Picture-145" descr="Folder_FolderOpenWithDocumentWriting01"/>
              <p:cNvPicPr>
                <a:picLocks noChangeAspect="1" noChangeArrowheads="1"/>
              </p:cNvPicPr>
              <p:nvPr/>
            </p:nvPicPr>
            <p:blipFill>
              <a:blip r:embed="rId7" cstate="print"/>
              <a:srcRect/>
              <a:stretch>
                <a:fillRect/>
              </a:stretch>
            </p:blipFill>
            <p:spPr bwMode="auto">
              <a:xfrm>
                <a:off x="3869" y="3299"/>
                <a:ext cx="646" cy="751"/>
              </a:xfrm>
              <a:prstGeom prst="rect">
                <a:avLst/>
              </a:prstGeom>
              <a:noFill/>
            </p:spPr>
          </p:pic>
        </p:grpSp>
        <p:sp>
          <p:nvSpPr>
            <p:cNvPr id="495762" name="Freeform-146"/>
            <p:cNvSpPr>
              <a:spLocks/>
            </p:cNvSpPr>
            <p:nvPr/>
          </p:nvSpPr>
          <p:spPr bwMode="auto">
            <a:xfrm rot="2122159">
              <a:off x="3311302" y="4561892"/>
              <a:ext cx="1442115" cy="1277400"/>
            </a:xfrm>
            <a:custGeom>
              <a:avLst/>
              <a:gdLst/>
              <a:ahLst/>
              <a:cxnLst>
                <a:cxn ang="0">
                  <a:pos x="18" y="919"/>
                </a:cxn>
                <a:cxn ang="0">
                  <a:pos x="55" y="898"/>
                </a:cxn>
                <a:cxn ang="0">
                  <a:pos x="119" y="857"/>
                </a:cxn>
                <a:cxn ang="0">
                  <a:pos x="167" y="825"/>
                </a:cxn>
                <a:cxn ang="0">
                  <a:pos x="242" y="767"/>
                </a:cxn>
                <a:cxn ang="0">
                  <a:pos x="322" y="703"/>
                </a:cxn>
                <a:cxn ang="0">
                  <a:pos x="376" y="657"/>
                </a:cxn>
                <a:cxn ang="0">
                  <a:pos x="481" y="558"/>
                </a:cxn>
                <a:cxn ang="0">
                  <a:pos x="534" y="506"/>
                </a:cxn>
                <a:cxn ang="0">
                  <a:pos x="583" y="454"/>
                </a:cxn>
                <a:cxn ang="0">
                  <a:pos x="631" y="400"/>
                </a:cxn>
                <a:cxn ang="0">
                  <a:pos x="674" y="348"/>
                </a:cxn>
                <a:cxn ang="0">
                  <a:pos x="713" y="296"/>
                </a:cxn>
                <a:cxn ang="0">
                  <a:pos x="748" y="244"/>
                </a:cxn>
                <a:cxn ang="0">
                  <a:pos x="754" y="251"/>
                </a:cxn>
                <a:cxn ang="0">
                  <a:pos x="789" y="290"/>
                </a:cxn>
                <a:cxn ang="0">
                  <a:pos x="841" y="45"/>
                </a:cxn>
                <a:cxn ang="0">
                  <a:pos x="839" y="8"/>
                </a:cxn>
                <a:cxn ang="0">
                  <a:pos x="732" y="87"/>
                </a:cxn>
                <a:cxn ang="0">
                  <a:pos x="613" y="176"/>
                </a:cxn>
                <a:cxn ang="0">
                  <a:pos x="663" y="189"/>
                </a:cxn>
                <a:cxn ang="0">
                  <a:pos x="661" y="211"/>
                </a:cxn>
                <a:cxn ang="0">
                  <a:pos x="629" y="266"/>
                </a:cxn>
                <a:cxn ang="0">
                  <a:pos x="593" y="319"/>
                </a:cxn>
                <a:cxn ang="0">
                  <a:pos x="548" y="382"/>
                </a:cxn>
                <a:cxn ang="0">
                  <a:pos x="493" y="451"/>
                </a:cxn>
                <a:cxn ang="0">
                  <a:pos x="429" y="528"/>
                </a:cxn>
                <a:cxn ang="0">
                  <a:pos x="381" y="582"/>
                </a:cxn>
                <a:cxn ang="0">
                  <a:pos x="329" y="638"/>
                </a:cxn>
                <a:cxn ang="0">
                  <a:pos x="273" y="695"/>
                </a:cxn>
                <a:cxn ang="0">
                  <a:pos x="210" y="753"/>
                </a:cxn>
                <a:cxn ang="0">
                  <a:pos x="110" y="840"/>
                </a:cxn>
                <a:cxn ang="0">
                  <a:pos x="38" y="898"/>
                </a:cxn>
              </a:cxnLst>
              <a:rect l="0" t="0" r="r" b="b"/>
              <a:pathLst>
                <a:path w="851" h="927">
                  <a:moveTo>
                    <a:pt x="0" y="927"/>
                  </a:moveTo>
                  <a:lnTo>
                    <a:pt x="18" y="919"/>
                  </a:lnTo>
                  <a:lnTo>
                    <a:pt x="35" y="909"/>
                  </a:lnTo>
                  <a:lnTo>
                    <a:pt x="55" y="898"/>
                  </a:lnTo>
                  <a:lnTo>
                    <a:pt x="76" y="886"/>
                  </a:lnTo>
                  <a:lnTo>
                    <a:pt x="119" y="857"/>
                  </a:lnTo>
                  <a:lnTo>
                    <a:pt x="142" y="841"/>
                  </a:lnTo>
                  <a:lnTo>
                    <a:pt x="167" y="825"/>
                  </a:lnTo>
                  <a:lnTo>
                    <a:pt x="216" y="787"/>
                  </a:lnTo>
                  <a:lnTo>
                    <a:pt x="242" y="767"/>
                  </a:lnTo>
                  <a:lnTo>
                    <a:pt x="268" y="747"/>
                  </a:lnTo>
                  <a:lnTo>
                    <a:pt x="322" y="703"/>
                  </a:lnTo>
                  <a:lnTo>
                    <a:pt x="348" y="680"/>
                  </a:lnTo>
                  <a:lnTo>
                    <a:pt x="376" y="657"/>
                  </a:lnTo>
                  <a:lnTo>
                    <a:pt x="429" y="608"/>
                  </a:lnTo>
                  <a:lnTo>
                    <a:pt x="481" y="558"/>
                  </a:lnTo>
                  <a:lnTo>
                    <a:pt x="507" y="532"/>
                  </a:lnTo>
                  <a:lnTo>
                    <a:pt x="534" y="506"/>
                  </a:lnTo>
                  <a:lnTo>
                    <a:pt x="558" y="480"/>
                  </a:lnTo>
                  <a:lnTo>
                    <a:pt x="583" y="454"/>
                  </a:lnTo>
                  <a:lnTo>
                    <a:pt x="607" y="427"/>
                  </a:lnTo>
                  <a:lnTo>
                    <a:pt x="631" y="400"/>
                  </a:lnTo>
                  <a:lnTo>
                    <a:pt x="652" y="374"/>
                  </a:lnTo>
                  <a:lnTo>
                    <a:pt x="674" y="348"/>
                  </a:lnTo>
                  <a:lnTo>
                    <a:pt x="694" y="322"/>
                  </a:lnTo>
                  <a:lnTo>
                    <a:pt x="713" y="296"/>
                  </a:lnTo>
                  <a:lnTo>
                    <a:pt x="731" y="270"/>
                  </a:lnTo>
                  <a:lnTo>
                    <a:pt x="748" y="244"/>
                  </a:lnTo>
                  <a:lnTo>
                    <a:pt x="750" y="247"/>
                  </a:lnTo>
                  <a:lnTo>
                    <a:pt x="754" y="251"/>
                  </a:lnTo>
                  <a:lnTo>
                    <a:pt x="767" y="267"/>
                  </a:lnTo>
                  <a:lnTo>
                    <a:pt x="789" y="290"/>
                  </a:lnTo>
                  <a:lnTo>
                    <a:pt x="819" y="145"/>
                  </a:lnTo>
                  <a:lnTo>
                    <a:pt x="841" y="45"/>
                  </a:lnTo>
                  <a:lnTo>
                    <a:pt x="851" y="0"/>
                  </a:lnTo>
                  <a:lnTo>
                    <a:pt x="839" y="8"/>
                  </a:lnTo>
                  <a:lnTo>
                    <a:pt x="813" y="28"/>
                  </a:lnTo>
                  <a:lnTo>
                    <a:pt x="732" y="87"/>
                  </a:lnTo>
                  <a:lnTo>
                    <a:pt x="651" y="148"/>
                  </a:lnTo>
                  <a:lnTo>
                    <a:pt x="613" y="176"/>
                  </a:lnTo>
                  <a:lnTo>
                    <a:pt x="642" y="183"/>
                  </a:lnTo>
                  <a:lnTo>
                    <a:pt x="663" y="189"/>
                  </a:lnTo>
                  <a:lnTo>
                    <a:pt x="673" y="192"/>
                  </a:lnTo>
                  <a:lnTo>
                    <a:pt x="661" y="211"/>
                  </a:lnTo>
                  <a:lnTo>
                    <a:pt x="647" y="235"/>
                  </a:lnTo>
                  <a:lnTo>
                    <a:pt x="629" y="266"/>
                  </a:lnTo>
                  <a:lnTo>
                    <a:pt x="606" y="300"/>
                  </a:lnTo>
                  <a:lnTo>
                    <a:pt x="593" y="319"/>
                  </a:lnTo>
                  <a:lnTo>
                    <a:pt x="578" y="338"/>
                  </a:lnTo>
                  <a:lnTo>
                    <a:pt x="548" y="382"/>
                  </a:lnTo>
                  <a:lnTo>
                    <a:pt x="513" y="428"/>
                  </a:lnTo>
                  <a:lnTo>
                    <a:pt x="493" y="451"/>
                  </a:lnTo>
                  <a:lnTo>
                    <a:pt x="473" y="476"/>
                  </a:lnTo>
                  <a:lnTo>
                    <a:pt x="429" y="528"/>
                  </a:lnTo>
                  <a:lnTo>
                    <a:pt x="406" y="554"/>
                  </a:lnTo>
                  <a:lnTo>
                    <a:pt x="381" y="582"/>
                  </a:lnTo>
                  <a:lnTo>
                    <a:pt x="355" y="609"/>
                  </a:lnTo>
                  <a:lnTo>
                    <a:pt x="329" y="638"/>
                  </a:lnTo>
                  <a:lnTo>
                    <a:pt x="302" y="666"/>
                  </a:lnTo>
                  <a:lnTo>
                    <a:pt x="273" y="695"/>
                  </a:lnTo>
                  <a:lnTo>
                    <a:pt x="242" y="724"/>
                  </a:lnTo>
                  <a:lnTo>
                    <a:pt x="210" y="753"/>
                  </a:lnTo>
                  <a:lnTo>
                    <a:pt x="145" y="811"/>
                  </a:lnTo>
                  <a:lnTo>
                    <a:pt x="110" y="840"/>
                  </a:lnTo>
                  <a:lnTo>
                    <a:pt x="76" y="869"/>
                  </a:lnTo>
                  <a:lnTo>
                    <a:pt x="38" y="898"/>
                  </a:lnTo>
                  <a:lnTo>
                    <a:pt x="0" y="927"/>
                  </a:lnTo>
                  <a:close/>
                </a:path>
              </a:pathLst>
            </a:custGeom>
            <a:solidFill>
              <a:srgbClr val="FF0000">
                <a:alpha val="75000"/>
              </a:srgbClr>
            </a:solidFill>
            <a:ln w="9525">
              <a:noFill/>
              <a:round/>
              <a:headEnd/>
              <a:tailEnd/>
            </a:ln>
          </p:spPr>
          <p:txBody>
            <a:bodyPr/>
            <a:lstStyle/>
            <a:p>
              <a:endParaRPr lang="fr-FR"/>
            </a:p>
          </p:txBody>
        </p:sp>
        <p:sp>
          <p:nvSpPr>
            <p:cNvPr id="495763" name="Freeform-147"/>
            <p:cNvSpPr>
              <a:spLocks/>
            </p:cNvSpPr>
            <p:nvPr/>
          </p:nvSpPr>
          <p:spPr bwMode="auto">
            <a:xfrm rot="19477841" flipV="1">
              <a:off x="2966536" y="5264688"/>
              <a:ext cx="1358942" cy="1203185"/>
            </a:xfrm>
            <a:custGeom>
              <a:avLst/>
              <a:gdLst/>
              <a:ahLst/>
              <a:cxnLst>
                <a:cxn ang="0">
                  <a:pos x="18" y="919"/>
                </a:cxn>
                <a:cxn ang="0">
                  <a:pos x="55" y="898"/>
                </a:cxn>
                <a:cxn ang="0">
                  <a:pos x="119" y="857"/>
                </a:cxn>
                <a:cxn ang="0">
                  <a:pos x="167" y="825"/>
                </a:cxn>
                <a:cxn ang="0">
                  <a:pos x="242" y="767"/>
                </a:cxn>
                <a:cxn ang="0">
                  <a:pos x="322" y="703"/>
                </a:cxn>
                <a:cxn ang="0">
                  <a:pos x="376" y="657"/>
                </a:cxn>
                <a:cxn ang="0">
                  <a:pos x="481" y="558"/>
                </a:cxn>
                <a:cxn ang="0">
                  <a:pos x="534" y="506"/>
                </a:cxn>
                <a:cxn ang="0">
                  <a:pos x="583" y="454"/>
                </a:cxn>
                <a:cxn ang="0">
                  <a:pos x="631" y="400"/>
                </a:cxn>
                <a:cxn ang="0">
                  <a:pos x="674" y="348"/>
                </a:cxn>
                <a:cxn ang="0">
                  <a:pos x="713" y="296"/>
                </a:cxn>
                <a:cxn ang="0">
                  <a:pos x="748" y="244"/>
                </a:cxn>
                <a:cxn ang="0">
                  <a:pos x="754" y="251"/>
                </a:cxn>
                <a:cxn ang="0">
                  <a:pos x="789" y="290"/>
                </a:cxn>
                <a:cxn ang="0">
                  <a:pos x="841" y="45"/>
                </a:cxn>
                <a:cxn ang="0">
                  <a:pos x="839" y="8"/>
                </a:cxn>
                <a:cxn ang="0">
                  <a:pos x="732" y="87"/>
                </a:cxn>
                <a:cxn ang="0">
                  <a:pos x="613" y="176"/>
                </a:cxn>
                <a:cxn ang="0">
                  <a:pos x="663" y="189"/>
                </a:cxn>
                <a:cxn ang="0">
                  <a:pos x="661" y="211"/>
                </a:cxn>
                <a:cxn ang="0">
                  <a:pos x="629" y="266"/>
                </a:cxn>
                <a:cxn ang="0">
                  <a:pos x="593" y="319"/>
                </a:cxn>
                <a:cxn ang="0">
                  <a:pos x="548" y="382"/>
                </a:cxn>
                <a:cxn ang="0">
                  <a:pos x="493" y="451"/>
                </a:cxn>
                <a:cxn ang="0">
                  <a:pos x="429" y="528"/>
                </a:cxn>
                <a:cxn ang="0">
                  <a:pos x="381" y="582"/>
                </a:cxn>
                <a:cxn ang="0">
                  <a:pos x="329" y="638"/>
                </a:cxn>
                <a:cxn ang="0">
                  <a:pos x="273" y="695"/>
                </a:cxn>
                <a:cxn ang="0">
                  <a:pos x="210" y="753"/>
                </a:cxn>
                <a:cxn ang="0">
                  <a:pos x="110" y="840"/>
                </a:cxn>
                <a:cxn ang="0">
                  <a:pos x="38" y="898"/>
                </a:cxn>
              </a:cxnLst>
              <a:rect l="0" t="0" r="r" b="b"/>
              <a:pathLst>
                <a:path w="851" h="927">
                  <a:moveTo>
                    <a:pt x="0" y="927"/>
                  </a:moveTo>
                  <a:lnTo>
                    <a:pt x="18" y="919"/>
                  </a:lnTo>
                  <a:lnTo>
                    <a:pt x="35" y="909"/>
                  </a:lnTo>
                  <a:lnTo>
                    <a:pt x="55" y="898"/>
                  </a:lnTo>
                  <a:lnTo>
                    <a:pt x="76" y="886"/>
                  </a:lnTo>
                  <a:lnTo>
                    <a:pt x="119" y="857"/>
                  </a:lnTo>
                  <a:lnTo>
                    <a:pt x="142" y="841"/>
                  </a:lnTo>
                  <a:lnTo>
                    <a:pt x="167" y="825"/>
                  </a:lnTo>
                  <a:lnTo>
                    <a:pt x="216" y="787"/>
                  </a:lnTo>
                  <a:lnTo>
                    <a:pt x="242" y="767"/>
                  </a:lnTo>
                  <a:lnTo>
                    <a:pt x="268" y="747"/>
                  </a:lnTo>
                  <a:lnTo>
                    <a:pt x="322" y="703"/>
                  </a:lnTo>
                  <a:lnTo>
                    <a:pt x="348" y="680"/>
                  </a:lnTo>
                  <a:lnTo>
                    <a:pt x="376" y="657"/>
                  </a:lnTo>
                  <a:lnTo>
                    <a:pt x="429" y="608"/>
                  </a:lnTo>
                  <a:lnTo>
                    <a:pt x="481" y="558"/>
                  </a:lnTo>
                  <a:lnTo>
                    <a:pt x="507" y="532"/>
                  </a:lnTo>
                  <a:lnTo>
                    <a:pt x="534" y="506"/>
                  </a:lnTo>
                  <a:lnTo>
                    <a:pt x="558" y="480"/>
                  </a:lnTo>
                  <a:lnTo>
                    <a:pt x="583" y="454"/>
                  </a:lnTo>
                  <a:lnTo>
                    <a:pt x="607" y="427"/>
                  </a:lnTo>
                  <a:lnTo>
                    <a:pt x="631" y="400"/>
                  </a:lnTo>
                  <a:lnTo>
                    <a:pt x="652" y="374"/>
                  </a:lnTo>
                  <a:lnTo>
                    <a:pt x="674" y="348"/>
                  </a:lnTo>
                  <a:lnTo>
                    <a:pt x="694" y="322"/>
                  </a:lnTo>
                  <a:lnTo>
                    <a:pt x="713" y="296"/>
                  </a:lnTo>
                  <a:lnTo>
                    <a:pt x="731" y="270"/>
                  </a:lnTo>
                  <a:lnTo>
                    <a:pt x="748" y="244"/>
                  </a:lnTo>
                  <a:lnTo>
                    <a:pt x="750" y="247"/>
                  </a:lnTo>
                  <a:lnTo>
                    <a:pt x="754" y="251"/>
                  </a:lnTo>
                  <a:lnTo>
                    <a:pt x="767" y="267"/>
                  </a:lnTo>
                  <a:lnTo>
                    <a:pt x="789" y="290"/>
                  </a:lnTo>
                  <a:lnTo>
                    <a:pt x="819" y="145"/>
                  </a:lnTo>
                  <a:lnTo>
                    <a:pt x="841" y="45"/>
                  </a:lnTo>
                  <a:lnTo>
                    <a:pt x="851" y="0"/>
                  </a:lnTo>
                  <a:lnTo>
                    <a:pt x="839" y="8"/>
                  </a:lnTo>
                  <a:lnTo>
                    <a:pt x="813" y="28"/>
                  </a:lnTo>
                  <a:lnTo>
                    <a:pt x="732" y="87"/>
                  </a:lnTo>
                  <a:lnTo>
                    <a:pt x="651" y="148"/>
                  </a:lnTo>
                  <a:lnTo>
                    <a:pt x="613" y="176"/>
                  </a:lnTo>
                  <a:lnTo>
                    <a:pt x="642" y="183"/>
                  </a:lnTo>
                  <a:lnTo>
                    <a:pt x="663" y="189"/>
                  </a:lnTo>
                  <a:lnTo>
                    <a:pt x="673" y="192"/>
                  </a:lnTo>
                  <a:lnTo>
                    <a:pt x="661" y="211"/>
                  </a:lnTo>
                  <a:lnTo>
                    <a:pt x="647" y="235"/>
                  </a:lnTo>
                  <a:lnTo>
                    <a:pt x="629" y="266"/>
                  </a:lnTo>
                  <a:lnTo>
                    <a:pt x="606" y="300"/>
                  </a:lnTo>
                  <a:lnTo>
                    <a:pt x="593" y="319"/>
                  </a:lnTo>
                  <a:lnTo>
                    <a:pt x="578" y="338"/>
                  </a:lnTo>
                  <a:lnTo>
                    <a:pt x="548" y="382"/>
                  </a:lnTo>
                  <a:lnTo>
                    <a:pt x="513" y="428"/>
                  </a:lnTo>
                  <a:lnTo>
                    <a:pt x="493" y="451"/>
                  </a:lnTo>
                  <a:lnTo>
                    <a:pt x="473" y="476"/>
                  </a:lnTo>
                  <a:lnTo>
                    <a:pt x="429" y="528"/>
                  </a:lnTo>
                  <a:lnTo>
                    <a:pt x="406" y="554"/>
                  </a:lnTo>
                  <a:lnTo>
                    <a:pt x="381" y="582"/>
                  </a:lnTo>
                  <a:lnTo>
                    <a:pt x="355" y="609"/>
                  </a:lnTo>
                  <a:lnTo>
                    <a:pt x="329" y="638"/>
                  </a:lnTo>
                  <a:lnTo>
                    <a:pt x="302" y="666"/>
                  </a:lnTo>
                  <a:lnTo>
                    <a:pt x="273" y="695"/>
                  </a:lnTo>
                  <a:lnTo>
                    <a:pt x="242" y="724"/>
                  </a:lnTo>
                  <a:lnTo>
                    <a:pt x="210" y="753"/>
                  </a:lnTo>
                  <a:lnTo>
                    <a:pt x="145" y="811"/>
                  </a:lnTo>
                  <a:lnTo>
                    <a:pt x="110" y="840"/>
                  </a:lnTo>
                  <a:lnTo>
                    <a:pt x="76" y="869"/>
                  </a:lnTo>
                  <a:lnTo>
                    <a:pt x="38" y="898"/>
                  </a:lnTo>
                  <a:lnTo>
                    <a:pt x="0" y="927"/>
                  </a:lnTo>
                  <a:close/>
                </a:path>
              </a:pathLst>
            </a:custGeom>
            <a:solidFill>
              <a:srgbClr val="FF0000">
                <a:alpha val="75000"/>
              </a:srgbClr>
            </a:solidFill>
            <a:ln w="9525">
              <a:noFill/>
              <a:round/>
              <a:headEnd/>
              <a:tailEnd/>
            </a:ln>
          </p:spPr>
          <p:txBody>
            <a:bodyPr/>
            <a:lstStyle/>
            <a:p>
              <a:endParaRPr lang="fr-FR"/>
            </a:p>
          </p:txBody>
        </p:sp>
        <p:pic>
          <p:nvPicPr>
            <p:cNvPr id="495764" name="Picture-148" descr="Collection_Group01"/>
            <p:cNvPicPr>
              <a:picLocks noChangeAspect="1" noChangeArrowheads="1"/>
            </p:cNvPicPr>
            <p:nvPr/>
          </p:nvPicPr>
          <p:blipFill>
            <a:blip r:embed="rId8"/>
            <a:srcRect/>
            <a:stretch>
              <a:fillRect/>
            </a:stretch>
          </p:blipFill>
          <p:spPr bwMode="auto">
            <a:xfrm>
              <a:off x="1379539" y="4865500"/>
              <a:ext cx="1766758" cy="1070498"/>
            </a:xfrm>
            <a:prstGeom prst="rect">
              <a:avLst/>
            </a:prstGeom>
            <a:noFill/>
            <a:ln w="9525">
              <a:noFill/>
              <a:miter lim="800000"/>
              <a:headEnd/>
              <a:tailEnd/>
            </a:ln>
          </p:spPr>
        </p:pic>
        <p:pic>
          <p:nvPicPr>
            <p:cNvPr id="495765" name="Picture-149" descr="Security_Permissions01"/>
            <p:cNvPicPr>
              <a:picLocks noChangeAspect="1" noChangeArrowheads="1"/>
            </p:cNvPicPr>
            <p:nvPr/>
          </p:nvPicPr>
          <p:blipFill>
            <a:blip r:embed="rId9" cstate="print"/>
            <a:srcRect/>
            <a:stretch>
              <a:fillRect/>
            </a:stretch>
          </p:blipFill>
          <p:spPr bwMode="auto">
            <a:xfrm>
              <a:off x="3819731" y="4843010"/>
              <a:ext cx="555382" cy="656692"/>
            </a:xfrm>
            <a:prstGeom prst="rect">
              <a:avLst/>
            </a:prstGeom>
            <a:noFill/>
          </p:spPr>
        </p:pic>
        <p:pic>
          <p:nvPicPr>
            <p:cNvPr id="495766" name="Picture-150" descr="Security_Permissions01"/>
            <p:cNvPicPr>
              <a:picLocks noChangeAspect="1" noChangeArrowheads="1"/>
            </p:cNvPicPr>
            <p:nvPr/>
          </p:nvPicPr>
          <p:blipFill>
            <a:blip r:embed="rId9" cstate="print"/>
            <a:srcRect/>
            <a:stretch>
              <a:fillRect/>
            </a:stretch>
          </p:blipFill>
          <p:spPr bwMode="auto">
            <a:xfrm>
              <a:off x="3318010" y="5554801"/>
              <a:ext cx="555382" cy="656692"/>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95619">
                                            <p:txEl>
                                              <p:pRg st="0" end="0"/>
                                            </p:txEl>
                                          </p:spTgt>
                                        </p:tgtEl>
                                        <p:attrNameLst>
                                          <p:attrName>style.visibility</p:attrName>
                                        </p:attrNameLst>
                                      </p:cBhvr>
                                      <p:to>
                                        <p:strVal val="visible"/>
                                      </p:to>
                                    </p:set>
                                    <p:animEffect transition="in" filter="checkerboard(across)">
                                      <p:cBhvr>
                                        <p:cTn id="7" dur="1000"/>
                                        <p:tgtEl>
                                          <p:spTgt spid="495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95619">
                                            <p:txEl>
                                              <p:pRg st="1" end="1"/>
                                            </p:txEl>
                                          </p:spTgt>
                                        </p:tgtEl>
                                        <p:attrNameLst>
                                          <p:attrName>style.visibility</p:attrName>
                                        </p:attrNameLst>
                                      </p:cBhvr>
                                      <p:to>
                                        <p:strVal val="visible"/>
                                      </p:to>
                                    </p:set>
                                    <p:animEffect transition="in" filter="checkerboard(across)">
                                      <p:cBhvr>
                                        <p:cTn id="12" dur="1000"/>
                                        <p:tgtEl>
                                          <p:spTgt spid="4956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95619">
                                            <p:txEl>
                                              <p:pRg st="2" end="2"/>
                                            </p:txEl>
                                          </p:spTgt>
                                        </p:tgtEl>
                                        <p:attrNameLst>
                                          <p:attrName>style.visibility</p:attrName>
                                        </p:attrNameLst>
                                      </p:cBhvr>
                                      <p:to>
                                        <p:strVal val="visible"/>
                                      </p:to>
                                    </p:set>
                                    <p:animEffect transition="in" filter="checkerboard(across)">
                                      <p:cBhvr>
                                        <p:cTn id="17" dur="1000"/>
                                        <p:tgtEl>
                                          <p:spTgt spid="4956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150471" y="1618361"/>
            <a:ext cx="8843058" cy="4763066"/>
          </a:xfrm>
        </p:spPr>
        <p:txBody>
          <a:bodyPr>
            <a:normAutofit fontScale="70000" lnSpcReduction="20000"/>
          </a:bodyPr>
          <a:lstStyle/>
          <a:p>
            <a:pPr>
              <a:buNone/>
            </a:pPr>
            <a:r>
              <a:rPr lang="fr-FR" sz="3100" b="1" dirty="0"/>
              <a:t>Les entités de sécurité : </a:t>
            </a:r>
          </a:p>
          <a:p>
            <a:r>
              <a:rPr lang="fr-FR" sz="3100" dirty="0"/>
              <a:t>Peuvent être un compte utilisateur, d’ordinateur ou un groupe. </a:t>
            </a:r>
          </a:p>
          <a:p>
            <a:r>
              <a:rPr lang="fr-FR" sz="3100" dirty="0"/>
              <a:t>Ils permettent d’affecter l’accès à un objet</a:t>
            </a:r>
          </a:p>
          <a:p>
            <a:pPr>
              <a:buNone/>
            </a:pPr>
            <a:r>
              <a:rPr lang="fr-FR" sz="3100" b="1" dirty="0"/>
              <a:t>Le SID : </a:t>
            </a:r>
          </a:p>
          <a:p>
            <a:r>
              <a:rPr lang="fr-FR" sz="3100" dirty="0"/>
              <a:t>Toutes les entités de sécurité sont identifiées par un SID. </a:t>
            </a:r>
          </a:p>
          <a:p>
            <a:r>
              <a:rPr lang="fr-FR" sz="3100" dirty="0"/>
              <a:t>Il est lié à la vie de l’objet</a:t>
            </a:r>
          </a:p>
          <a:p>
            <a:pPr>
              <a:buNone/>
            </a:pPr>
            <a:r>
              <a:rPr lang="fr-FR" sz="3100" b="1" dirty="0"/>
              <a:t>DACL - </a:t>
            </a:r>
            <a:r>
              <a:rPr lang="fr-FR" sz="3100" b="1" dirty="0" err="1"/>
              <a:t>Discretionary</a:t>
            </a:r>
            <a:r>
              <a:rPr lang="fr-FR" sz="3100" b="1" dirty="0"/>
              <a:t> Access Control List: </a:t>
            </a:r>
          </a:p>
          <a:p>
            <a:r>
              <a:rPr lang="fr-FR" sz="3100" dirty="0"/>
              <a:t>Associées à chaque ressource partagée </a:t>
            </a:r>
          </a:p>
          <a:p>
            <a:r>
              <a:rPr lang="fr-FR" sz="3100" dirty="0"/>
              <a:t>Ils sont composés d’ACE (Access Control Entry) qui définissent les accès à l’objet:</a:t>
            </a:r>
          </a:p>
          <a:p>
            <a:pPr lvl="1"/>
            <a:r>
              <a:rPr lang="fr-FR" sz="3100" i="1" dirty="0"/>
              <a:t>Informations sur l’accès (Lecture, Ecriture, …)</a:t>
            </a:r>
            <a:endParaRPr lang="fr-FR" sz="3100" dirty="0"/>
          </a:p>
          <a:p>
            <a:pPr lvl="1"/>
            <a:r>
              <a:rPr lang="fr-FR" sz="3100" i="1" dirty="0"/>
              <a:t>SID de l’entité</a:t>
            </a:r>
            <a:endParaRPr lang="fr-FR" sz="3100" dirty="0"/>
          </a:p>
          <a:p>
            <a:pPr lvl="1"/>
            <a:r>
              <a:rPr lang="fr-FR" sz="3100" i="1" dirty="0"/>
              <a:t>Les informations d’héritage.</a:t>
            </a:r>
            <a:endParaRPr lang="fr-FR" sz="3100" dirty="0"/>
          </a:p>
          <a:p>
            <a:pPr lvl="1"/>
            <a:r>
              <a:rPr lang="fr-FR" sz="3100" i="1" dirty="0"/>
              <a:t>L’indicateur de type d’ACE (Autoriser ou refuser).</a:t>
            </a:r>
            <a:endParaRPr lang="fr-FR" sz="3100" dirty="0"/>
          </a:p>
        </p:txBody>
      </p:sp>
      <p:sp>
        <p:nvSpPr>
          <p:cNvPr id="4" name="Rectangle-2"/>
          <p:cNvSpPr>
            <a:spLocks noGrp="1" noChangeArrowheads="1"/>
          </p:cNvSpPr>
          <p:nvPr>
            <p:ph type="title"/>
          </p:nvPr>
        </p:nvSpPr>
        <p:spPr>
          <a:xfrm>
            <a:off x="150471" y="476573"/>
            <a:ext cx="8843058" cy="758952"/>
          </a:xfrm>
          <a:solidFill>
            <a:schemeClr val="bg1"/>
          </a:solidFill>
        </p:spPr>
        <p:txBody>
          <a:bodyPr>
            <a:noAutofit/>
          </a:bodyPr>
          <a:lstStyle/>
          <a:p>
            <a:r>
              <a:rPr lang="fr-FR" b="1" dirty="0">
                <a:solidFill>
                  <a:srgbClr val="C00000"/>
                </a:solidFill>
                <a:ea typeface="SimSun" pitchFamily="2" charset="-122"/>
                <a:cs typeface="Times New Roman" charset="0"/>
              </a:rPr>
              <a:t>Le contrôle d'accès</a:t>
            </a:r>
            <a:endParaRPr lang="en-US" b="1" dirty="0">
              <a:solidFill>
                <a:srgbClr val="C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1000" fill="hold"/>
                                        <p:tgtEl>
                                          <p:spTgt spid="3">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 calcmode="lin" valueType="num">
                                      <p:cBhvr additive="base">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8" dur="1000" fill="hold"/>
                                        <p:tgtEl>
                                          <p:spTgt spid="3">
                                            <p:txEl>
                                              <p:pRg st="11" end="11"/>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10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2"/>
          <p:cNvSpPr>
            <a:spLocks noGrp="1" noChangeArrowheads="1"/>
          </p:cNvSpPr>
          <p:nvPr>
            <p:ph type="title"/>
          </p:nvPr>
        </p:nvSpPr>
        <p:spPr>
          <a:xfrm>
            <a:off x="167833" y="571692"/>
            <a:ext cx="8808334" cy="758952"/>
          </a:xfrm>
          <a:solidFill>
            <a:schemeClr val="bg1"/>
          </a:solidFill>
        </p:spPr>
        <p:txBody>
          <a:bodyPr>
            <a:normAutofit fontScale="90000"/>
          </a:bodyPr>
          <a:lstStyle/>
          <a:p>
            <a:r>
              <a:rPr lang="fr-FR" altLang="zh-CN" b="1" dirty="0">
                <a:solidFill>
                  <a:srgbClr val="000000"/>
                </a:solidFill>
                <a:ea typeface="SimSun" pitchFamily="2" charset="-122"/>
                <a:cs typeface="Times New Roman" charset="0"/>
              </a:rPr>
              <a:t>2. Administration des accès aux dossiers partagés</a:t>
            </a:r>
            <a:r>
              <a:rPr lang="en-IE" altLang="zh-CN" b="1" dirty="0">
                <a:solidFill>
                  <a:srgbClr val="000000"/>
                </a:solidFill>
                <a:ea typeface="SimSun" pitchFamily="2" charset="-122"/>
              </a:rPr>
              <a:t> </a:t>
            </a:r>
            <a:endParaRPr lang="en-US" b="1" dirty="0">
              <a:solidFill>
                <a:srgbClr val="000000"/>
              </a:solidFill>
            </a:endParaRPr>
          </a:p>
        </p:txBody>
      </p:sp>
      <p:sp>
        <p:nvSpPr>
          <p:cNvPr id="336899" name="Rectangle-3"/>
          <p:cNvSpPr>
            <a:spLocks noGrp="1" noChangeArrowheads="1"/>
          </p:cNvSpPr>
          <p:nvPr>
            <p:ph sz="quarter" idx="1"/>
          </p:nvPr>
        </p:nvSpPr>
        <p:spPr>
          <a:xfrm>
            <a:off x="289367" y="2214315"/>
            <a:ext cx="8403220" cy="3313041"/>
          </a:xfrm>
        </p:spPr>
        <p:txBody>
          <a:bodyPr>
            <a:normAutofit/>
          </a:bodyPr>
          <a:lstStyle/>
          <a:p>
            <a:r>
              <a:rPr lang="fr-FR" altLang="zh-CN" dirty="0">
                <a:solidFill>
                  <a:srgbClr val="C00000"/>
                </a:solidFill>
                <a:ea typeface="SimSun" pitchFamily="2" charset="-122"/>
                <a:cs typeface="Times New Roman" charset="0"/>
              </a:rPr>
              <a:t>Que sont les dossiers partagés ?</a:t>
            </a:r>
          </a:p>
          <a:p>
            <a:r>
              <a:rPr lang="fr-FR" altLang="zh-CN" dirty="0">
                <a:solidFill>
                  <a:srgbClr val="C00000"/>
                </a:solidFill>
                <a:ea typeface="SimSun" pitchFamily="2" charset="-122"/>
                <a:cs typeface="Times New Roman" charset="0"/>
              </a:rPr>
              <a:t>Procédure de création d'un dossier partagé</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Opérations sur des dossiers partagés</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Qui peut accéder aux dossiers partagés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Description des dossiers partagés publiés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Autorisations sur les dossiers partagés</a:t>
            </a:r>
            <a:endParaRPr lang="en-US" dirty="0">
              <a:solidFill>
                <a:srgbClr val="C00000"/>
              </a:solidFill>
              <a:ea typeface="SimSun" pitchFamily="2" charset="-122"/>
              <a:cs typeface="Times New Roman" charset="0"/>
            </a:endParaRPr>
          </a:p>
          <a:p>
            <a:endParaRPr lang="en-US" dirty="0">
              <a:solidFill>
                <a:srgbClr val="C00000"/>
              </a:solidFill>
              <a:ea typeface="SimSun" pitchFamily="2" charset="-122"/>
              <a:cs typeface="Times New Roman"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idx="4294967295"/>
          </p:nvPr>
        </p:nvSpPr>
        <p:spPr>
          <a:xfrm>
            <a:off x="363538" y="676148"/>
            <a:ext cx="8534400" cy="758952"/>
          </a:xfrm>
        </p:spPr>
        <p:txBody>
          <a:bodyPr vert="horz" anchor="b">
            <a:normAutofit/>
          </a:bodyPr>
          <a:lstStyle/>
          <a:p>
            <a:r>
              <a:rPr lang="fr-FR" altLang="zh-CN" b="1" dirty="0">
                <a:solidFill>
                  <a:srgbClr val="C00000"/>
                </a:solidFill>
                <a:ea typeface="SimSun" pitchFamily="2" charset="-122"/>
                <a:cs typeface="Times New Roman" charset="0"/>
              </a:rPr>
              <a:t>Que sont les dossiers partagés ?</a:t>
            </a:r>
          </a:p>
        </p:txBody>
      </p:sp>
      <p:sp>
        <p:nvSpPr>
          <p:cNvPr id="22532" name="Rounded Rectangle 844806"/>
          <p:cNvSpPr>
            <a:spLocks noChangeArrowheads="1"/>
          </p:cNvSpPr>
          <p:nvPr/>
        </p:nvSpPr>
        <p:spPr bwMode="auto">
          <a:xfrm>
            <a:off x="221276" y="3198229"/>
            <a:ext cx="8676661" cy="771775"/>
          </a:xfrm>
          <a:prstGeom prst="roundRect">
            <a:avLst>
              <a:gd name="adj" fmla="val 4167"/>
            </a:avLst>
          </a:prstGeom>
          <a:solidFill>
            <a:srgbClr val="EAE1C8"/>
          </a:solidFill>
          <a:ln w="9525" algn="ctr">
            <a:solidFill>
              <a:srgbClr val="333333"/>
            </a:solidFill>
            <a:round/>
            <a:headEnd/>
            <a:tailEnd/>
          </a:ln>
        </p:spPr>
        <p:txBody>
          <a:bodyPr wrap="square" anchor="ctr">
            <a:spAutoFit/>
          </a:bodyPr>
          <a:lstStyle/>
          <a:p>
            <a:pPr algn="l">
              <a:lnSpc>
                <a:spcPct val="90000"/>
              </a:lnSpc>
              <a:spcBef>
                <a:spcPct val="40000"/>
              </a:spcBef>
              <a:buSzPct val="80000"/>
            </a:pPr>
            <a:r>
              <a:rPr lang="en-US" sz="2400" b="0" dirty="0"/>
              <a:t>Par </a:t>
            </a:r>
            <a:r>
              <a:rPr lang="en-US" sz="2400" b="0" dirty="0" err="1"/>
              <a:t>défaut</a:t>
            </a:r>
            <a:r>
              <a:rPr lang="en-US" sz="2400" b="0" dirty="0"/>
              <a:t>, le dossier </a:t>
            </a:r>
            <a:r>
              <a:rPr lang="en-US" sz="2400" b="0" dirty="0" err="1"/>
              <a:t>partagé</a:t>
            </a:r>
            <a:r>
              <a:rPr lang="en-US" sz="2400" b="0" dirty="0"/>
              <a:t> a </a:t>
            </a:r>
            <a:r>
              <a:rPr lang="en-US" sz="2400" b="0" dirty="0" err="1"/>
              <a:t>l’autorisation</a:t>
            </a:r>
            <a:r>
              <a:rPr lang="en-US" sz="2400" b="0" dirty="0"/>
              <a:t> </a:t>
            </a:r>
            <a:r>
              <a:rPr lang="en-US" sz="2400" b="0" dirty="0" err="1"/>
              <a:t>Contrôle</a:t>
            </a:r>
            <a:r>
              <a:rPr lang="en-US" sz="2400" b="0" dirty="0"/>
              <a:t> total pour </a:t>
            </a:r>
            <a:r>
              <a:rPr lang="en-US" sz="2400" b="0" dirty="0" err="1"/>
              <a:t>l’utlisateur</a:t>
            </a:r>
            <a:r>
              <a:rPr lang="en-US" sz="2400" b="0" dirty="0"/>
              <a:t> qui </a:t>
            </a:r>
            <a:r>
              <a:rPr lang="en-US" sz="2400" b="0" dirty="0" err="1"/>
              <a:t>l’a</a:t>
            </a:r>
            <a:r>
              <a:rPr lang="en-US" sz="2400" b="0" dirty="0"/>
              <a:t> </a:t>
            </a:r>
            <a:r>
              <a:rPr lang="en-US" sz="2400" b="0" dirty="0" err="1"/>
              <a:t>partagé</a:t>
            </a:r>
            <a:endParaRPr lang="en-US" sz="2400" b="0" dirty="0"/>
          </a:p>
        </p:txBody>
      </p:sp>
      <p:sp>
        <p:nvSpPr>
          <p:cNvPr id="22536" name="Rounded Rectangle 844806"/>
          <p:cNvSpPr>
            <a:spLocks noChangeArrowheads="1"/>
          </p:cNvSpPr>
          <p:nvPr/>
        </p:nvSpPr>
        <p:spPr bwMode="auto">
          <a:xfrm>
            <a:off x="227625" y="1618561"/>
            <a:ext cx="8688750" cy="439288"/>
          </a:xfrm>
          <a:prstGeom prst="roundRect">
            <a:avLst>
              <a:gd name="adj" fmla="val 4167"/>
            </a:avLst>
          </a:prstGeom>
          <a:solidFill>
            <a:srgbClr val="EAE1C8"/>
          </a:solidFill>
          <a:ln w="9525" algn="ctr">
            <a:solidFill>
              <a:srgbClr val="333333"/>
            </a:solidFill>
            <a:round/>
            <a:headEnd/>
            <a:tailEnd/>
          </a:ln>
        </p:spPr>
        <p:txBody>
          <a:bodyPr wrap="square" anchor="ctr">
            <a:spAutoFit/>
          </a:bodyPr>
          <a:lstStyle/>
          <a:p>
            <a:pPr algn="l">
              <a:lnSpc>
                <a:spcPct val="90000"/>
              </a:lnSpc>
              <a:spcBef>
                <a:spcPct val="40000"/>
              </a:spcBef>
              <a:buSzPct val="80000"/>
            </a:pPr>
            <a:r>
              <a:rPr lang="en-US" sz="2400" b="0" dirty="0"/>
              <a:t>Le </a:t>
            </a:r>
            <a:r>
              <a:rPr lang="en-US" sz="2400" b="0" dirty="0" err="1"/>
              <a:t>contenu</a:t>
            </a:r>
            <a:r>
              <a:rPr lang="en-US" sz="2400" b="0" dirty="0"/>
              <a:t> des dossiers </a:t>
            </a:r>
            <a:r>
              <a:rPr lang="en-US" sz="2400" b="0" dirty="0" err="1"/>
              <a:t>partagés</a:t>
            </a:r>
            <a:r>
              <a:rPr lang="en-US" sz="2400" b="0" dirty="0"/>
              <a:t> </a:t>
            </a:r>
            <a:r>
              <a:rPr lang="en-US" sz="2400" b="0" dirty="0" err="1"/>
              <a:t>est</a:t>
            </a:r>
            <a:r>
              <a:rPr lang="en-US" sz="2400" b="0" dirty="0"/>
              <a:t> accessible </a:t>
            </a:r>
            <a:r>
              <a:rPr lang="en-US" sz="2400" b="0" dirty="0" err="1"/>
              <a:t>sur</a:t>
            </a:r>
            <a:r>
              <a:rPr lang="en-US" sz="2400" b="0" dirty="0"/>
              <a:t> le </a:t>
            </a:r>
            <a:r>
              <a:rPr lang="en-US" sz="2400" b="0" dirty="0" err="1"/>
              <a:t>réseau</a:t>
            </a:r>
            <a:endParaRPr lang="en-US" sz="2400" b="0" dirty="0"/>
          </a:p>
        </p:txBody>
      </p:sp>
      <p:sp>
        <p:nvSpPr>
          <p:cNvPr id="22533" name="Rounded Rectangle 844806"/>
          <p:cNvSpPr>
            <a:spLocks noChangeArrowheads="1"/>
          </p:cNvSpPr>
          <p:nvPr/>
        </p:nvSpPr>
        <p:spPr bwMode="auto">
          <a:xfrm>
            <a:off x="221277" y="2292799"/>
            <a:ext cx="8695098" cy="771775"/>
          </a:xfrm>
          <a:prstGeom prst="roundRect">
            <a:avLst>
              <a:gd name="adj" fmla="val 4167"/>
            </a:avLst>
          </a:prstGeom>
          <a:solidFill>
            <a:srgbClr val="EAE1C8"/>
          </a:solidFill>
          <a:ln w="9525" algn="ctr">
            <a:solidFill>
              <a:srgbClr val="333333"/>
            </a:solidFill>
            <a:round/>
            <a:headEnd/>
            <a:tailEnd/>
          </a:ln>
        </p:spPr>
        <p:txBody>
          <a:bodyPr wrap="square" anchor="ctr">
            <a:spAutoFit/>
          </a:bodyPr>
          <a:lstStyle/>
          <a:p>
            <a:pPr marL="228600" indent="-228600" algn="l">
              <a:lnSpc>
                <a:spcPct val="90000"/>
              </a:lnSpc>
              <a:spcBef>
                <a:spcPct val="40000"/>
              </a:spcBef>
              <a:buSzPct val="80000"/>
            </a:pPr>
            <a:r>
              <a:rPr lang="en-US" sz="2400" b="0" dirty="0" err="1"/>
              <a:t>Vous</a:t>
            </a:r>
            <a:r>
              <a:rPr lang="en-US" sz="2400" b="0" dirty="0"/>
              <a:t> </a:t>
            </a:r>
            <a:r>
              <a:rPr lang="en-US" sz="2400" b="0" dirty="0" err="1"/>
              <a:t>pouvez</a:t>
            </a:r>
            <a:r>
              <a:rPr lang="en-US" sz="2400" b="0" dirty="0"/>
              <a:t> </a:t>
            </a:r>
            <a:r>
              <a:rPr lang="en-US" sz="2400" b="0" dirty="0" err="1"/>
              <a:t>partagés</a:t>
            </a:r>
            <a:r>
              <a:rPr lang="en-US" sz="2400" b="0" dirty="0"/>
              <a:t> des dossiers, </a:t>
            </a:r>
            <a:r>
              <a:rPr lang="en-US" sz="2400" b="0" dirty="0" err="1"/>
              <a:t>mais</a:t>
            </a:r>
            <a:r>
              <a:rPr lang="en-US" sz="2400" b="0" dirty="0"/>
              <a:t> </a:t>
            </a:r>
            <a:r>
              <a:rPr lang="en-US" sz="2400" b="0" dirty="0" err="1"/>
              <a:t>vous</a:t>
            </a:r>
            <a:r>
              <a:rPr lang="en-US" sz="2400" b="0" dirty="0"/>
              <a:t> ne </a:t>
            </a:r>
            <a:r>
              <a:rPr lang="en-US" sz="2400" b="0" dirty="0" err="1"/>
              <a:t>pouvez</a:t>
            </a:r>
            <a:r>
              <a:rPr lang="en-US" sz="2400" b="0" dirty="0"/>
              <a:t> pas </a:t>
            </a:r>
            <a:r>
              <a:rPr lang="en-US" sz="2400" b="0" dirty="0" err="1"/>
              <a:t>partager</a:t>
            </a:r>
            <a:r>
              <a:rPr lang="en-US" sz="2400" b="0" dirty="0"/>
              <a:t> des </a:t>
            </a:r>
            <a:r>
              <a:rPr lang="en-US" sz="2400" b="0" dirty="0" err="1"/>
              <a:t>fichiers</a:t>
            </a:r>
            <a:r>
              <a:rPr lang="en-US" sz="2400" b="0" dirty="0"/>
              <a:t> </a:t>
            </a:r>
            <a:r>
              <a:rPr lang="en-US" sz="2400" b="0" dirty="0" err="1"/>
              <a:t>individuels</a:t>
            </a:r>
            <a:endParaRPr lang="en-US" sz="2400" b="0" dirty="0"/>
          </a:p>
        </p:txBody>
      </p:sp>
      <p:sp>
        <p:nvSpPr>
          <p:cNvPr id="22535" name="Rounded Rectangle 844806"/>
          <p:cNvSpPr>
            <a:spLocks noChangeArrowheads="1"/>
          </p:cNvSpPr>
          <p:nvPr/>
        </p:nvSpPr>
        <p:spPr bwMode="auto">
          <a:xfrm>
            <a:off x="114300" y="4136108"/>
            <a:ext cx="8783638" cy="2390620"/>
          </a:xfrm>
          <a:prstGeom prst="roundRect">
            <a:avLst>
              <a:gd name="adj" fmla="val 4167"/>
            </a:avLst>
          </a:prstGeom>
          <a:solidFill>
            <a:srgbClr val="EAE1C8"/>
          </a:solidFill>
          <a:ln w="9525" algn="ctr">
            <a:solidFill>
              <a:srgbClr val="333333"/>
            </a:solidFill>
            <a:round/>
            <a:headEnd/>
            <a:tailEnd/>
          </a:ln>
        </p:spPr>
        <p:txBody>
          <a:bodyPr wrap="square" anchor="ctr">
            <a:spAutoFit/>
          </a:bodyPr>
          <a:lstStyle/>
          <a:p>
            <a:pPr marL="228600" indent="-228600" algn="l">
              <a:lnSpc>
                <a:spcPct val="90000"/>
              </a:lnSpc>
              <a:spcBef>
                <a:spcPct val="40000"/>
              </a:spcBef>
              <a:buSzPct val="80000"/>
            </a:pPr>
            <a:r>
              <a:rPr lang="en-US" sz="2400" b="0" dirty="0"/>
              <a:t>Les dossiers </a:t>
            </a:r>
            <a:r>
              <a:rPr lang="en-US" sz="2400" b="0" dirty="0" err="1"/>
              <a:t>peuvent</a:t>
            </a:r>
            <a:r>
              <a:rPr lang="en-US" sz="2400" b="0" dirty="0"/>
              <a:t> </a:t>
            </a:r>
            <a:r>
              <a:rPr lang="en-US" sz="2400" b="0" dirty="0" err="1"/>
              <a:t>être</a:t>
            </a:r>
            <a:r>
              <a:rPr lang="en-US" sz="2400" b="0" dirty="0"/>
              <a:t> </a:t>
            </a:r>
            <a:r>
              <a:rPr lang="en-US" sz="2400" b="0" dirty="0" err="1"/>
              <a:t>partagé</a:t>
            </a:r>
            <a:r>
              <a:rPr lang="en-US" sz="2400" b="0" dirty="0"/>
              <a:t> par:</a:t>
            </a:r>
          </a:p>
          <a:p>
            <a:pPr marL="463550" lvl="1" indent="-231775" algn="l">
              <a:lnSpc>
                <a:spcPct val="90000"/>
              </a:lnSpc>
              <a:spcBef>
                <a:spcPct val="40000"/>
              </a:spcBef>
              <a:buSzPct val="80000"/>
              <a:buFont typeface="Verdana" pitchFamily="34" charset="0"/>
              <a:buChar char="•"/>
            </a:pPr>
            <a:r>
              <a:rPr lang="en-US" sz="2400" b="0" dirty="0"/>
              <a:t>La console MMC de </a:t>
            </a:r>
            <a:r>
              <a:rPr lang="en-US" sz="2400" b="0" dirty="0" err="1"/>
              <a:t>paratge</a:t>
            </a:r>
            <a:endParaRPr lang="en-US" sz="2400" b="0" dirty="0"/>
          </a:p>
          <a:p>
            <a:pPr marL="463550" lvl="1" indent="-231775" algn="l">
              <a:lnSpc>
                <a:spcPct val="90000"/>
              </a:lnSpc>
              <a:spcBef>
                <a:spcPct val="40000"/>
              </a:spcBef>
              <a:buSzPct val="80000"/>
              <a:buFont typeface="Verdana" pitchFamily="34" charset="0"/>
              <a:buChar char="•"/>
            </a:pPr>
            <a:r>
              <a:rPr lang="en-US" sz="2400" b="0" dirty="0" err="1"/>
              <a:t>Explorateur</a:t>
            </a:r>
            <a:r>
              <a:rPr lang="en-US" sz="2400" b="0" dirty="0"/>
              <a:t> Windows®</a:t>
            </a:r>
          </a:p>
          <a:p>
            <a:pPr marL="463550" lvl="1" indent="-231775" algn="l">
              <a:lnSpc>
                <a:spcPct val="90000"/>
              </a:lnSpc>
              <a:spcBef>
                <a:spcPct val="40000"/>
              </a:spcBef>
              <a:buSzPct val="80000"/>
              <a:buFont typeface="Verdana" pitchFamily="34" charset="0"/>
              <a:buChar char="•"/>
            </a:pPr>
            <a:r>
              <a:rPr lang="en-US" sz="2400" b="0" dirty="0"/>
              <a:t>La </a:t>
            </a:r>
            <a:r>
              <a:rPr lang="en-US" sz="2400" b="0" dirty="0" err="1"/>
              <a:t>ligne</a:t>
            </a:r>
            <a:r>
              <a:rPr lang="en-US" sz="2400" b="0" dirty="0"/>
              <a:t> de </a:t>
            </a:r>
            <a:r>
              <a:rPr lang="en-US" sz="2400" b="0" dirty="0" err="1"/>
              <a:t>commande</a:t>
            </a:r>
            <a:r>
              <a:rPr lang="en-US" sz="2400" b="0" dirty="0"/>
              <a:t> Net Share</a:t>
            </a:r>
          </a:p>
          <a:p>
            <a:pPr marL="463550" lvl="1" indent="-231775" algn="l">
              <a:lnSpc>
                <a:spcPct val="90000"/>
              </a:lnSpc>
              <a:spcBef>
                <a:spcPct val="40000"/>
              </a:spcBef>
              <a:buSzPct val="80000"/>
              <a:buFont typeface="Verdana" pitchFamily="34" charset="0"/>
              <a:buChar char="•"/>
            </a:pPr>
            <a:r>
              <a:rPr lang="en-US" sz="2400" b="0" dirty="0" err="1"/>
              <a:t>Gestion</a:t>
            </a:r>
            <a:r>
              <a:rPr lang="en-US" sz="2400" b="0" dirty="0"/>
              <a:t> de </a:t>
            </a:r>
            <a:r>
              <a:rPr lang="en-US" sz="2400" b="0" dirty="0" err="1"/>
              <a:t>l’ordinateur</a:t>
            </a:r>
            <a:endParaRPr lang="en-US" sz="2400" b="0" dirty="0"/>
          </a:p>
        </p:txBody>
      </p:sp>
      <p:pic>
        <p:nvPicPr>
          <p:cNvPr id="1109001" name="Picture 9"/>
          <p:cNvPicPr>
            <a:picLocks noChangeAspect="1" noChangeArrowheads="1"/>
          </p:cNvPicPr>
          <p:nvPr/>
        </p:nvPicPr>
        <p:blipFill>
          <a:blip r:embed="rId3"/>
          <a:srcRect/>
          <a:stretch>
            <a:fillRect/>
          </a:stretch>
        </p:blipFill>
        <p:spPr bwMode="auto">
          <a:xfrm>
            <a:off x="7070724" y="3539763"/>
            <a:ext cx="487363" cy="1038225"/>
          </a:xfrm>
          <a:prstGeom prst="rect">
            <a:avLst/>
          </a:prstGeom>
          <a:noFill/>
          <a:ln w="19050" algn="ctr">
            <a:noFill/>
            <a:miter lim="800000"/>
            <a:headEnd/>
            <a:tailEnd/>
          </a:ln>
          <a:effectLst>
            <a:outerShdw dist="35921" dir="2700000" algn="ctr" rotWithShape="0">
              <a:srgbClr val="AFAFAF"/>
            </a:outerShdw>
          </a:effectLst>
        </p:spPr>
      </p:pic>
      <p:pic>
        <p:nvPicPr>
          <p:cNvPr id="1109000" name="Picture 8"/>
          <p:cNvPicPr>
            <a:picLocks noChangeAspect="1" noChangeArrowheads="1"/>
          </p:cNvPicPr>
          <p:nvPr/>
        </p:nvPicPr>
        <p:blipFill>
          <a:blip r:embed="rId4"/>
          <a:srcRect/>
          <a:stretch>
            <a:fillRect/>
          </a:stretch>
        </p:blipFill>
        <p:spPr bwMode="auto">
          <a:xfrm>
            <a:off x="7396162" y="3698513"/>
            <a:ext cx="1249362" cy="1114425"/>
          </a:xfrm>
          <a:prstGeom prst="rect">
            <a:avLst/>
          </a:prstGeom>
          <a:noFill/>
          <a:ln w="19050" algn="ctr">
            <a:noFill/>
            <a:miter lim="800000"/>
            <a:headEnd/>
            <a:tailEnd/>
          </a:ln>
          <a:effectLst>
            <a:outerShdw dist="35921" dir="2700000" algn="ctr" rotWithShape="0">
              <a:srgbClr val="AFAFAF"/>
            </a:outerShdw>
          </a:effectLst>
        </p:spPr>
      </p:pic>
      <p:pic>
        <p:nvPicPr>
          <p:cNvPr id="1109002" name="Picture 10"/>
          <p:cNvPicPr>
            <a:picLocks noChangeAspect="1" noChangeArrowheads="1"/>
          </p:cNvPicPr>
          <p:nvPr/>
        </p:nvPicPr>
        <p:blipFill>
          <a:blip r:embed="rId5"/>
          <a:srcRect/>
          <a:stretch>
            <a:fillRect/>
          </a:stretch>
        </p:blipFill>
        <p:spPr bwMode="auto">
          <a:xfrm>
            <a:off x="8505824" y="3998550"/>
            <a:ext cx="503238" cy="1042988"/>
          </a:xfrm>
          <a:prstGeom prst="rect">
            <a:avLst/>
          </a:prstGeom>
          <a:noFill/>
          <a:ln w="19050" algn="ctr">
            <a:noFill/>
            <a:miter lim="800000"/>
            <a:headEnd/>
            <a:tailEnd/>
          </a:ln>
          <a:effectLst>
            <a:outerShdw dist="35921" dir="2700000" algn="ctr" rotWithShape="0">
              <a:srgbClr val="AFAFAF"/>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animEffect transition="in" filter="checkerboard(across)">
                                      <p:cBhvr>
                                        <p:cTn id="7" dur="500"/>
                                        <p:tgtEl>
                                          <p:spTgt spid="2253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533"/>
                                        </p:tgtEl>
                                        <p:attrNameLst>
                                          <p:attrName>style.visibility</p:attrName>
                                        </p:attrNameLst>
                                      </p:cBhvr>
                                      <p:to>
                                        <p:strVal val="visible"/>
                                      </p:to>
                                    </p:set>
                                    <p:animEffect transition="in" filter="checkerboard(across)">
                                      <p:cBhvr>
                                        <p:cTn id="12" dur="500"/>
                                        <p:tgtEl>
                                          <p:spTgt spid="2253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2532"/>
                                        </p:tgtEl>
                                        <p:attrNameLst>
                                          <p:attrName>style.visibility</p:attrName>
                                        </p:attrNameLst>
                                      </p:cBhvr>
                                      <p:to>
                                        <p:strVal val="visible"/>
                                      </p:to>
                                    </p:set>
                                    <p:animEffect transition="in" filter="checkerboard(across)">
                                      <p:cBhvr>
                                        <p:cTn id="17" dur="500"/>
                                        <p:tgtEl>
                                          <p:spTgt spid="2253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2535"/>
                                        </p:tgtEl>
                                        <p:attrNameLst>
                                          <p:attrName>style.visibility</p:attrName>
                                        </p:attrNameLst>
                                      </p:cBhvr>
                                      <p:to>
                                        <p:strVal val="visible"/>
                                      </p:to>
                                    </p:set>
                                    <p:animEffect transition="in" filter="checkerboard(across)">
                                      <p:cBhvr>
                                        <p:cTn id="22" dur="5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nimBg="1"/>
      <p:bldP spid="22536" grpId="0" animBg="1"/>
      <p:bldP spid="22533" grpId="0" animBg="1"/>
      <p:bldP spid="225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2"/>
          <p:cNvSpPr>
            <a:spLocks noGrp="1" noChangeArrowheads="1"/>
          </p:cNvSpPr>
          <p:nvPr>
            <p:ph type="title"/>
          </p:nvPr>
        </p:nvSpPr>
        <p:spPr>
          <a:xfrm>
            <a:off x="301752" y="337784"/>
            <a:ext cx="8534400" cy="758952"/>
          </a:xfrm>
        </p:spPr>
        <p:txBody>
          <a:bodyPr>
            <a:normAutofit fontScale="90000"/>
          </a:bodyPr>
          <a:lstStyle/>
          <a:p>
            <a:r>
              <a:rPr lang="fr-FR" altLang="zh-CN" b="1" dirty="0">
                <a:solidFill>
                  <a:srgbClr val="C00000"/>
                </a:solidFill>
                <a:ea typeface="SimSun" pitchFamily="2" charset="-122"/>
                <a:cs typeface="Times New Roman" charset="0"/>
              </a:rPr>
              <a:t>Procédure de création d'un dossier partagé</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607239" name="AutoShape-7"/>
          <p:cNvSpPr>
            <a:spLocks noChangeArrowheads="1"/>
          </p:cNvSpPr>
          <p:nvPr/>
        </p:nvSpPr>
        <p:spPr bwMode="auto">
          <a:xfrm>
            <a:off x="277793" y="1469985"/>
            <a:ext cx="8275898" cy="613459"/>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pPr>
            <a:r>
              <a:rPr lang="fr-FR" altLang="zh-CN" sz="2800" b="0" dirty="0">
                <a:cs typeface="Times New Roman" charset="0"/>
              </a:rPr>
              <a:t>Créer un dossier partagé avec </a:t>
            </a:r>
            <a:r>
              <a:rPr lang="fr-FR" altLang="zh-CN" sz="2800" dirty="0">
                <a:effectLst>
                  <a:outerShdw blurRad="38100" dist="38100" dir="2700000" algn="tl">
                    <a:srgbClr val="000000">
                      <a:alpha val="43137"/>
                    </a:srgbClr>
                  </a:outerShdw>
                </a:effectLst>
                <a:cs typeface="Times New Roman" charset="0"/>
              </a:rPr>
              <a:t>net </a:t>
            </a:r>
            <a:r>
              <a:rPr lang="fr-FR" altLang="zh-CN" sz="2800" dirty="0" err="1">
                <a:effectLst>
                  <a:outerShdw blurRad="38100" dist="38100" dir="2700000" algn="tl">
                    <a:srgbClr val="000000">
                      <a:alpha val="43137"/>
                    </a:srgbClr>
                  </a:outerShdw>
                </a:effectLst>
                <a:cs typeface="Times New Roman" charset="0"/>
              </a:rPr>
              <a:t>share</a:t>
            </a:r>
            <a:endParaRPr lang="en-US" sz="2800" dirty="0">
              <a:effectLst>
                <a:outerShdw blurRad="38100" dist="38100" dir="2700000" algn="tl">
                  <a:srgbClr val="000000">
                    <a:alpha val="43137"/>
                  </a:srgbClr>
                </a:outerShdw>
              </a:effectLst>
              <a:cs typeface="Times New Roman" charset="0"/>
            </a:endParaRPr>
          </a:p>
        </p:txBody>
      </p:sp>
      <p:sp>
        <p:nvSpPr>
          <p:cNvPr id="6" name="Rectangle 5"/>
          <p:cNvSpPr/>
          <p:nvPr/>
        </p:nvSpPr>
        <p:spPr>
          <a:xfrm>
            <a:off x="1122216" y="2643086"/>
            <a:ext cx="6760144" cy="458587"/>
          </a:xfrm>
          <a:prstGeom prst="rect">
            <a:avLst/>
          </a:prstGeom>
        </p:spPr>
        <p:txBody>
          <a:bodyPr wrap="square">
            <a:spAutoFit/>
          </a:bodyPr>
          <a:lstStyle/>
          <a:p>
            <a:r>
              <a:rPr lang="fr-FR" sz="2800" dirty="0"/>
              <a:t>net </a:t>
            </a:r>
            <a:r>
              <a:rPr lang="fr-FR" sz="2800" dirty="0" err="1"/>
              <a:t>share</a:t>
            </a:r>
            <a:r>
              <a:rPr lang="fr-FR" sz="2800" dirty="0"/>
              <a:t> </a:t>
            </a:r>
            <a:r>
              <a:rPr lang="fr-FR" sz="2800" b="0" i="1" dirty="0" err="1"/>
              <a:t>NomDossierPartagé</a:t>
            </a:r>
            <a:r>
              <a:rPr lang="fr-FR" sz="2800" b="0" i="1" dirty="0"/>
              <a:t>=</a:t>
            </a:r>
            <a:r>
              <a:rPr lang="fr-FR" sz="2800" b="0" i="1" dirty="0" err="1"/>
              <a:t>Unité:Chemin</a:t>
            </a:r>
            <a:endParaRPr lang="fr-FR" sz="2800" b="0" dirty="0"/>
          </a:p>
        </p:txBody>
      </p:sp>
      <p:sp>
        <p:nvSpPr>
          <p:cNvPr id="7" name="Rectangle 6"/>
          <p:cNvSpPr/>
          <p:nvPr/>
        </p:nvSpPr>
        <p:spPr>
          <a:xfrm>
            <a:off x="202556" y="3478532"/>
            <a:ext cx="8536329" cy="824841"/>
          </a:xfrm>
          <a:prstGeom prst="rect">
            <a:avLst/>
          </a:prstGeom>
        </p:spPr>
        <p:txBody>
          <a:bodyPr wrap="square">
            <a:spAutoFit/>
          </a:bodyPr>
          <a:lstStyle/>
          <a:p>
            <a:pPr algn="l"/>
            <a:r>
              <a:rPr lang="fr-FR" sz="2800" i="1" dirty="0" err="1">
                <a:solidFill>
                  <a:schemeClr val="tx1"/>
                </a:solidFill>
              </a:rPr>
              <a:t>NomDossierPartagé</a:t>
            </a:r>
            <a:r>
              <a:rPr lang="fr-FR" sz="2800" i="1" dirty="0">
                <a:solidFill>
                  <a:schemeClr val="tx1"/>
                </a:solidFill>
              </a:rPr>
              <a:t>=</a:t>
            </a:r>
            <a:r>
              <a:rPr lang="fr-FR" sz="2800" i="1" dirty="0" err="1">
                <a:solidFill>
                  <a:schemeClr val="tx1"/>
                </a:solidFill>
              </a:rPr>
              <a:t>Unité:Chemin</a:t>
            </a:r>
            <a:r>
              <a:rPr lang="fr-FR" sz="2800" b="0" i="1" dirty="0">
                <a:solidFill>
                  <a:schemeClr val="tx1"/>
                </a:solidFill>
              </a:rPr>
              <a:t> </a:t>
            </a:r>
            <a:r>
              <a:rPr lang="fr-FR" sz="2800" b="0" i="1" dirty="0">
                <a:solidFill>
                  <a:srgbClr val="C00000"/>
                </a:solidFill>
              </a:rPr>
              <a:t>C’est le nom de réseau du dossier partagé </a:t>
            </a:r>
            <a:r>
              <a:rPr lang="fr-FR" sz="2800" b="0" dirty="0">
                <a:solidFill>
                  <a:srgbClr val="C00000"/>
                </a:solidFill>
              </a:rPr>
              <a:t>et de son chemin absolu.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10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across)">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2"/>
          <p:cNvSpPr>
            <a:spLocks noGrp="1" noChangeArrowheads="1"/>
          </p:cNvSpPr>
          <p:nvPr>
            <p:ph type="title"/>
          </p:nvPr>
        </p:nvSpPr>
        <p:spPr>
          <a:xfrm>
            <a:off x="173620" y="488886"/>
            <a:ext cx="8762036" cy="758952"/>
          </a:xfrm>
          <a:solidFill>
            <a:schemeClr val="bg1"/>
          </a:solidFill>
        </p:spPr>
        <p:txBody>
          <a:bodyPr/>
          <a:lstStyle/>
          <a:p>
            <a:r>
              <a:rPr lang="fr-FR" altLang="zh-CN" b="1" dirty="0">
                <a:solidFill>
                  <a:srgbClr val="C00000"/>
                </a:solidFill>
                <a:ea typeface="SimSun" pitchFamily="2" charset="-122"/>
                <a:cs typeface="Times New Roman" charset="0"/>
              </a:rPr>
              <a:t>Opérations sur des dossiers partagés</a:t>
            </a:r>
            <a:endParaRPr lang="en-US" b="1" dirty="0">
              <a:solidFill>
                <a:srgbClr val="C00000"/>
              </a:solidFill>
              <a:ea typeface="SimSun" pitchFamily="2" charset="-122"/>
              <a:cs typeface="Times New Roman" charset="0"/>
            </a:endParaRPr>
          </a:p>
        </p:txBody>
      </p:sp>
      <p:sp>
        <p:nvSpPr>
          <p:cNvPr id="459779" name="Rectangle-3"/>
          <p:cNvSpPr>
            <a:spLocks noGrp="1" noChangeArrowheads="1"/>
          </p:cNvSpPr>
          <p:nvPr>
            <p:ph sz="quarter" idx="1"/>
          </p:nvPr>
        </p:nvSpPr>
        <p:spPr>
          <a:xfrm>
            <a:off x="162046" y="1474788"/>
            <a:ext cx="8773610" cy="5383212"/>
          </a:xfrm>
        </p:spPr>
        <p:txBody>
          <a:bodyPr>
            <a:noAutofit/>
          </a:bodyPr>
          <a:lstStyle/>
          <a:p>
            <a:r>
              <a:rPr lang="fr-FR" altLang="zh-CN" sz="2800" dirty="0">
                <a:solidFill>
                  <a:srgbClr val="C00000"/>
                </a:solidFill>
                <a:ea typeface="SimSun" pitchFamily="2" charset="-122"/>
                <a:cs typeface="Times New Roman" charset="0"/>
              </a:rPr>
              <a:t>Copier un dossier partagé</a:t>
            </a:r>
            <a:r>
              <a:rPr lang="en-IE" altLang="zh-CN" sz="2800" dirty="0">
                <a:solidFill>
                  <a:srgbClr val="C00000"/>
                </a:solidFill>
                <a:ea typeface="SimSun" pitchFamily="2" charset="-122"/>
                <a:cs typeface="Times New Roman" charset="0"/>
              </a:rPr>
              <a:t> </a:t>
            </a:r>
            <a:endParaRPr lang="en-US" sz="2800" dirty="0">
              <a:solidFill>
                <a:srgbClr val="C00000"/>
              </a:solidFill>
              <a:ea typeface="SimSun" pitchFamily="2" charset="-122"/>
              <a:cs typeface="Times New Roman" charset="0"/>
            </a:endParaRPr>
          </a:p>
          <a:p>
            <a:pPr lvl="1"/>
            <a:r>
              <a:rPr lang="fr-FR" altLang="zh-CN" sz="2800" dirty="0">
                <a:solidFill>
                  <a:srgbClr val="000000"/>
                </a:solidFill>
                <a:ea typeface="SimSun" pitchFamily="2" charset="-122"/>
                <a:cs typeface="Times New Roman" charset="0"/>
              </a:rPr>
              <a:t>Le dossier partagé d'origine est toujours partagé, mais pas sa copie</a:t>
            </a:r>
            <a:r>
              <a:rPr lang="en-IE" altLang="zh-CN" sz="2800" dirty="0">
                <a:solidFill>
                  <a:srgbClr val="000000"/>
                </a:solidFill>
                <a:ea typeface="SimSun" pitchFamily="2" charset="-122"/>
              </a:rPr>
              <a:t> </a:t>
            </a:r>
            <a:endParaRPr lang="en-US" sz="2800" dirty="0"/>
          </a:p>
          <a:p>
            <a:r>
              <a:rPr lang="fr-FR" altLang="zh-CN" sz="2800" dirty="0">
                <a:solidFill>
                  <a:srgbClr val="C00000"/>
                </a:solidFill>
                <a:ea typeface="SimSun" pitchFamily="2" charset="-122"/>
              </a:rPr>
              <a:t>Déplacer un dossier partagé</a:t>
            </a:r>
            <a:r>
              <a:rPr lang="en-IE" altLang="zh-CN" sz="2800" dirty="0">
                <a:solidFill>
                  <a:srgbClr val="C00000"/>
                </a:solidFill>
                <a:ea typeface="SimSun" pitchFamily="2" charset="-122"/>
              </a:rPr>
              <a:t> </a:t>
            </a:r>
            <a:endParaRPr lang="en-US" sz="2800" dirty="0">
              <a:solidFill>
                <a:srgbClr val="C00000"/>
              </a:solidFill>
            </a:endParaRPr>
          </a:p>
          <a:p>
            <a:pPr lvl="1"/>
            <a:r>
              <a:rPr lang="fr-FR" altLang="zh-CN" sz="2800" dirty="0">
                <a:solidFill>
                  <a:srgbClr val="000000"/>
                </a:solidFill>
                <a:ea typeface="SimSun" pitchFamily="2" charset="-122"/>
              </a:rPr>
              <a:t>Le dossier n'est plus partagé</a:t>
            </a:r>
            <a:r>
              <a:rPr lang="en-IE" altLang="zh-CN" sz="2800" dirty="0">
                <a:solidFill>
                  <a:srgbClr val="000000"/>
                </a:solidFill>
                <a:ea typeface="SimSun" pitchFamily="2" charset="-122"/>
              </a:rPr>
              <a:t> </a:t>
            </a:r>
            <a:endParaRPr lang="en-US" sz="2800" dirty="0"/>
          </a:p>
          <a:p>
            <a:r>
              <a:rPr lang="fr-FR" altLang="zh-CN" sz="2800" dirty="0">
                <a:solidFill>
                  <a:srgbClr val="C00000"/>
                </a:solidFill>
                <a:ea typeface="SimSun" pitchFamily="2" charset="-122"/>
              </a:rPr>
              <a:t>Cacher un dossier partagé</a:t>
            </a:r>
            <a:r>
              <a:rPr lang="en-IE" altLang="zh-CN" sz="2800" dirty="0">
                <a:solidFill>
                  <a:srgbClr val="C00000"/>
                </a:solidFill>
                <a:ea typeface="SimSun" pitchFamily="2" charset="-122"/>
              </a:rPr>
              <a:t> </a:t>
            </a:r>
            <a:endParaRPr lang="en-US" sz="2800" dirty="0">
              <a:solidFill>
                <a:srgbClr val="C00000"/>
              </a:solidFill>
            </a:endParaRPr>
          </a:p>
          <a:p>
            <a:pPr lvl="1"/>
            <a:r>
              <a:rPr lang="fr-FR" altLang="zh-CN" sz="2800" dirty="0">
                <a:solidFill>
                  <a:srgbClr val="000000"/>
                </a:solidFill>
                <a:ea typeface="SimSun" pitchFamily="2" charset="-122"/>
              </a:rPr>
              <a:t>Mettez un $ à la fin du nom du dossier partagé</a:t>
            </a:r>
            <a:r>
              <a:rPr lang="en-IE" altLang="zh-CN" sz="2800" dirty="0">
                <a:solidFill>
                  <a:srgbClr val="000000"/>
                </a:solidFill>
                <a:ea typeface="SimSun" pitchFamily="2" charset="-122"/>
              </a:rPr>
              <a:t> </a:t>
            </a:r>
            <a:endParaRPr lang="en-US" sz="2800" dirty="0"/>
          </a:p>
          <a:p>
            <a:pPr lvl="1"/>
            <a:r>
              <a:rPr lang="fr-FR" altLang="zh-CN" sz="2800" dirty="0">
                <a:solidFill>
                  <a:srgbClr val="000000"/>
                </a:solidFill>
                <a:ea typeface="SimSun" pitchFamily="2" charset="-122"/>
              </a:rPr>
              <a:t>Les utilisateurs peuvent accéder à un dossier partagé caché en tapant son UNC, par exemple \\serveur\secrets$</a:t>
            </a:r>
            <a:r>
              <a:rPr lang="en-IE" altLang="zh-CN" sz="2800" dirty="0">
                <a:solidFill>
                  <a:srgbClr val="000000"/>
                </a:solidFill>
                <a:ea typeface="SimSun" pitchFamily="2" charset="-122"/>
              </a:rPr>
              <a:t> </a:t>
            </a:r>
            <a:endParaRPr lang="en-US" sz="28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anim calcmode="lin" valueType="num">
                                      <p:cBhvr additive="base">
                                        <p:cTn id="7" dur="1000" fill="hold"/>
                                        <p:tgtEl>
                                          <p:spTgt spid="459779">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5977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9779">
                                            <p:txEl>
                                              <p:pRg st="1" end="1"/>
                                            </p:txEl>
                                          </p:spTgt>
                                        </p:tgtEl>
                                        <p:attrNameLst>
                                          <p:attrName>style.visibility</p:attrName>
                                        </p:attrNameLst>
                                      </p:cBhvr>
                                      <p:to>
                                        <p:strVal val="visible"/>
                                      </p:to>
                                    </p:set>
                                    <p:anim calcmode="lin" valueType="num">
                                      <p:cBhvr additive="base">
                                        <p:cTn id="11" dur="1000" fill="hold"/>
                                        <p:tgtEl>
                                          <p:spTgt spid="459779">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4597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59779">
                                            <p:txEl>
                                              <p:pRg st="2" end="2"/>
                                            </p:txEl>
                                          </p:spTgt>
                                        </p:tgtEl>
                                        <p:attrNameLst>
                                          <p:attrName>style.visibility</p:attrName>
                                        </p:attrNameLst>
                                      </p:cBhvr>
                                      <p:to>
                                        <p:strVal val="visible"/>
                                      </p:to>
                                    </p:set>
                                    <p:anim calcmode="lin" valueType="num">
                                      <p:cBhvr additive="base">
                                        <p:cTn id="17" dur="1000" fill="hold"/>
                                        <p:tgtEl>
                                          <p:spTgt spid="459779">
                                            <p:txEl>
                                              <p:pRg st="2" end="2"/>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45977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59779">
                                            <p:txEl>
                                              <p:pRg st="3" end="3"/>
                                            </p:txEl>
                                          </p:spTgt>
                                        </p:tgtEl>
                                        <p:attrNameLst>
                                          <p:attrName>style.visibility</p:attrName>
                                        </p:attrNameLst>
                                      </p:cBhvr>
                                      <p:to>
                                        <p:strVal val="visible"/>
                                      </p:to>
                                    </p:set>
                                    <p:anim calcmode="lin" valueType="num">
                                      <p:cBhvr additive="base">
                                        <p:cTn id="21" dur="1000" fill="hold"/>
                                        <p:tgtEl>
                                          <p:spTgt spid="459779">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4597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59779">
                                            <p:txEl>
                                              <p:pRg st="4" end="4"/>
                                            </p:txEl>
                                          </p:spTgt>
                                        </p:tgtEl>
                                        <p:attrNameLst>
                                          <p:attrName>style.visibility</p:attrName>
                                        </p:attrNameLst>
                                      </p:cBhvr>
                                      <p:to>
                                        <p:strVal val="visible"/>
                                      </p:to>
                                    </p:set>
                                    <p:anim calcmode="lin" valueType="num">
                                      <p:cBhvr additive="base">
                                        <p:cTn id="27" dur="1000" fill="hold"/>
                                        <p:tgtEl>
                                          <p:spTgt spid="459779">
                                            <p:txEl>
                                              <p:pRg st="4" end="4"/>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45977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59779">
                                            <p:txEl>
                                              <p:pRg st="5" end="5"/>
                                            </p:txEl>
                                          </p:spTgt>
                                        </p:tgtEl>
                                        <p:attrNameLst>
                                          <p:attrName>style.visibility</p:attrName>
                                        </p:attrNameLst>
                                      </p:cBhvr>
                                      <p:to>
                                        <p:strVal val="visible"/>
                                      </p:to>
                                    </p:set>
                                    <p:anim calcmode="lin" valueType="num">
                                      <p:cBhvr additive="base">
                                        <p:cTn id="31" dur="1000" fill="hold"/>
                                        <p:tgtEl>
                                          <p:spTgt spid="459779">
                                            <p:txEl>
                                              <p:pRg st="5" end="5"/>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45977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59779">
                                            <p:txEl>
                                              <p:pRg st="6" end="6"/>
                                            </p:txEl>
                                          </p:spTgt>
                                        </p:tgtEl>
                                        <p:attrNameLst>
                                          <p:attrName>style.visibility</p:attrName>
                                        </p:attrNameLst>
                                      </p:cBhvr>
                                      <p:to>
                                        <p:strVal val="visible"/>
                                      </p:to>
                                    </p:set>
                                    <p:anim calcmode="lin" valueType="num">
                                      <p:cBhvr additive="base">
                                        <p:cTn id="35" dur="1000" fill="hold"/>
                                        <p:tgtEl>
                                          <p:spTgt spid="459779">
                                            <p:txEl>
                                              <p:pRg st="6" end="6"/>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45977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2"/>
          <p:cNvSpPr>
            <a:spLocks noGrp="1" noChangeArrowheads="1"/>
          </p:cNvSpPr>
          <p:nvPr>
            <p:ph type="title"/>
          </p:nvPr>
        </p:nvSpPr>
        <p:spPr/>
        <p:txBody>
          <a:bodyPr>
            <a:normAutofit/>
          </a:bodyPr>
          <a:lstStyle/>
          <a:p>
            <a:r>
              <a:rPr lang="fr-FR" altLang="zh-CN" b="1" dirty="0">
                <a:solidFill>
                  <a:srgbClr val="C00000"/>
                </a:solidFill>
                <a:ea typeface="SimSun" pitchFamily="2" charset="-122"/>
                <a:cs typeface="Times New Roman" charset="0"/>
              </a:rPr>
              <a:t>Qui peut créer des dossiers partagés ?</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69347" name="Rectangle-3"/>
          <p:cNvSpPr>
            <a:spLocks noGrp="1" noChangeArrowheads="1"/>
          </p:cNvSpPr>
          <p:nvPr>
            <p:ph sz="quarter" idx="1"/>
          </p:nvPr>
        </p:nvSpPr>
        <p:spPr/>
        <p:txBody>
          <a:bodyPr>
            <a:normAutofit/>
          </a:bodyPr>
          <a:lstStyle/>
          <a:p>
            <a:r>
              <a:rPr lang="fr-FR" altLang="zh-CN" sz="2800" dirty="0">
                <a:solidFill>
                  <a:srgbClr val="000000"/>
                </a:solidFill>
                <a:ea typeface="SimSun" pitchFamily="2" charset="-122"/>
                <a:cs typeface="Times New Roman" charset="0"/>
              </a:rPr>
              <a:t>Contrôleur de domaine</a:t>
            </a:r>
            <a:endParaRPr lang="en-US" sz="2800" dirty="0">
              <a:ea typeface="SimSun" pitchFamily="2" charset="-122"/>
              <a:cs typeface="Times New Roman" charset="0"/>
            </a:endParaRPr>
          </a:p>
          <a:p>
            <a:pPr lvl="1"/>
            <a:r>
              <a:rPr lang="fr-FR" altLang="zh-CN" sz="2800" dirty="0">
                <a:solidFill>
                  <a:srgbClr val="000000"/>
                </a:solidFill>
                <a:ea typeface="SimSun" pitchFamily="2" charset="-122"/>
                <a:cs typeface="Times New Roman" charset="0"/>
              </a:rPr>
              <a:t>Groupe Administrateurs</a:t>
            </a:r>
            <a:r>
              <a:rPr lang="en-IE" altLang="zh-CN" sz="2800" dirty="0">
                <a:solidFill>
                  <a:srgbClr val="000000"/>
                </a:solidFill>
                <a:ea typeface="SimSun" pitchFamily="2" charset="-122"/>
              </a:rPr>
              <a:t> </a:t>
            </a:r>
            <a:endParaRPr lang="en-US" sz="2800" dirty="0"/>
          </a:p>
          <a:p>
            <a:pPr lvl="1"/>
            <a:r>
              <a:rPr lang="fr-FR" altLang="zh-CN" sz="2800" dirty="0">
                <a:solidFill>
                  <a:srgbClr val="000000"/>
                </a:solidFill>
                <a:ea typeface="SimSun" pitchFamily="2" charset="-122"/>
              </a:rPr>
              <a:t>Groupe Opérateurs de serveur</a:t>
            </a:r>
            <a:r>
              <a:rPr lang="en-IE" altLang="zh-CN" sz="2800" dirty="0">
                <a:solidFill>
                  <a:srgbClr val="000000"/>
                </a:solidFill>
                <a:ea typeface="SimSun" pitchFamily="2" charset="-122"/>
              </a:rPr>
              <a:t> </a:t>
            </a:r>
            <a:endParaRPr lang="en-US" sz="2800" dirty="0"/>
          </a:p>
          <a:p>
            <a:r>
              <a:rPr lang="fr-FR" altLang="zh-CN" sz="2800" dirty="0">
                <a:solidFill>
                  <a:srgbClr val="000000"/>
                </a:solidFill>
                <a:ea typeface="SimSun" pitchFamily="2" charset="-122"/>
              </a:rPr>
              <a:t>Serveur membre ou serveur autonome</a:t>
            </a:r>
            <a:endParaRPr lang="en-US" sz="2800" dirty="0"/>
          </a:p>
          <a:p>
            <a:pPr lvl="1"/>
            <a:r>
              <a:rPr lang="fr-FR" altLang="zh-CN" sz="2800" dirty="0">
                <a:solidFill>
                  <a:srgbClr val="000000"/>
                </a:solidFill>
                <a:ea typeface="SimSun" pitchFamily="2" charset="-122"/>
              </a:rPr>
              <a:t>Groupe Administrateurs</a:t>
            </a:r>
            <a:r>
              <a:rPr lang="en-IE" altLang="zh-CN" sz="2800" dirty="0">
                <a:solidFill>
                  <a:srgbClr val="000000"/>
                </a:solidFill>
                <a:ea typeface="SimSun" pitchFamily="2" charset="-122"/>
              </a:rPr>
              <a:t> </a:t>
            </a:r>
            <a:endParaRPr lang="en-US" sz="2800" dirty="0"/>
          </a:p>
          <a:p>
            <a:pPr lvl="1"/>
            <a:r>
              <a:rPr lang="fr-FR" altLang="zh-CN" sz="2800" dirty="0">
                <a:solidFill>
                  <a:srgbClr val="000000"/>
                </a:solidFill>
                <a:ea typeface="SimSun" pitchFamily="2" charset="-122"/>
              </a:rPr>
              <a:t>Groupe Utilisateurs avec pouvoir</a:t>
            </a:r>
            <a:r>
              <a:rPr lang="en-IE" altLang="zh-CN" sz="2800" dirty="0">
                <a:solidFill>
                  <a:srgbClr val="000000"/>
                </a:solidFill>
                <a:ea typeface="SimSun" pitchFamily="2" charset="-122"/>
              </a:rPr>
              <a:t> </a:t>
            </a:r>
            <a:endParaRPr lang="en-US" sz="28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69347">
                                            <p:txEl>
                                              <p:pRg st="0" end="0"/>
                                            </p:txEl>
                                          </p:spTgt>
                                        </p:tgtEl>
                                        <p:attrNameLst>
                                          <p:attrName>style.visibility</p:attrName>
                                        </p:attrNameLst>
                                      </p:cBhvr>
                                      <p:to>
                                        <p:strVal val="visible"/>
                                      </p:to>
                                    </p:set>
                                    <p:animEffect transition="in" filter="checkerboard(across)">
                                      <p:cBhvr>
                                        <p:cTn id="7" dur="1000"/>
                                        <p:tgtEl>
                                          <p:spTgt spid="56934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569347">
                                            <p:txEl>
                                              <p:pRg st="1" end="1"/>
                                            </p:txEl>
                                          </p:spTgt>
                                        </p:tgtEl>
                                        <p:attrNameLst>
                                          <p:attrName>style.visibility</p:attrName>
                                        </p:attrNameLst>
                                      </p:cBhvr>
                                      <p:to>
                                        <p:strVal val="visible"/>
                                      </p:to>
                                    </p:set>
                                    <p:animEffect transition="in" filter="checkerboard(across)">
                                      <p:cBhvr>
                                        <p:cTn id="10" dur="1000"/>
                                        <p:tgtEl>
                                          <p:spTgt spid="56934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569347">
                                            <p:txEl>
                                              <p:pRg st="2" end="2"/>
                                            </p:txEl>
                                          </p:spTgt>
                                        </p:tgtEl>
                                        <p:attrNameLst>
                                          <p:attrName>style.visibility</p:attrName>
                                        </p:attrNameLst>
                                      </p:cBhvr>
                                      <p:to>
                                        <p:strVal val="visible"/>
                                      </p:to>
                                    </p:set>
                                    <p:animEffect transition="in" filter="checkerboard(across)">
                                      <p:cBhvr>
                                        <p:cTn id="13" dur="1000"/>
                                        <p:tgtEl>
                                          <p:spTgt spid="56934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569347">
                                            <p:txEl>
                                              <p:pRg st="3" end="3"/>
                                            </p:txEl>
                                          </p:spTgt>
                                        </p:tgtEl>
                                        <p:attrNameLst>
                                          <p:attrName>style.visibility</p:attrName>
                                        </p:attrNameLst>
                                      </p:cBhvr>
                                      <p:to>
                                        <p:strVal val="visible"/>
                                      </p:to>
                                    </p:set>
                                    <p:animEffect transition="in" filter="checkerboard(across)">
                                      <p:cBhvr>
                                        <p:cTn id="18" dur="1000"/>
                                        <p:tgtEl>
                                          <p:spTgt spid="569347">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569347">
                                            <p:txEl>
                                              <p:pRg st="4" end="4"/>
                                            </p:txEl>
                                          </p:spTgt>
                                        </p:tgtEl>
                                        <p:attrNameLst>
                                          <p:attrName>style.visibility</p:attrName>
                                        </p:attrNameLst>
                                      </p:cBhvr>
                                      <p:to>
                                        <p:strVal val="visible"/>
                                      </p:to>
                                    </p:set>
                                    <p:animEffect transition="in" filter="checkerboard(across)">
                                      <p:cBhvr>
                                        <p:cTn id="21" dur="1000"/>
                                        <p:tgtEl>
                                          <p:spTgt spid="569347">
                                            <p:txEl>
                                              <p:pRg st="4" end="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569347">
                                            <p:txEl>
                                              <p:pRg st="5" end="5"/>
                                            </p:txEl>
                                          </p:spTgt>
                                        </p:tgtEl>
                                        <p:attrNameLst>
                                          <p:attrName>style.visibility</p:attrName>
                                        </p:attrNameLst>
                                      </p:cBhvr>
                                      <p:to>
                                        <p:strVal val="visible"/>
                                      </p:to>
                                    </p:set>
                                    <p:animEffect transition="in" filter="checkerboard(across)">
                                      <p:cBhvr>
                                        <p:cTn id="24" dur="1000"/>
                                        <p:tgtEl>
                                          <p:spTgt spid="5693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2"/>
          <p:cNvSpPr>
            <a:spLocks noGrp="1" noChangeArrowheads="1"/>
          </p:cNvSpPr>
          <p:nvPr>
            <p:ph type="title"/>
          </p:nvPr>
        </p:nvSpPr>
        <p:spPr/>
        <p:txBody>
          <a:bodyPr>
            <a:normAutofit fontScale="90000"/>
          </a:bodyPr>
          <a:lstStyle/>
          <a:p>
            <a:r>
              <a:rPr lang="fr-FR" altLang="zh-CN" b="1" dirty="0">
                <a:solidFill>
                  <a:srgbClr val="C00000"/>
                </a:solidFill>
                <a:ea typeface="SimSun" pitchFamily="2" charset="-122"/>
                <a:cs typeface="Times New Roman" charset="0"/>
              </a:rPr>
              <a:t>Description des dossiers partagés publiés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70371" name="Rectangle-3"/>
          <p:cNvSpPr>
            <a:spLocks noGrp="1" noChangeArrowheads="1"/>
          </p:cNvSpPr>
          <p:nvPr>
            <p:ph sz="quarter" idx="1"/>
          </p:nvPr>
        </p:nvSpPr>
        <p:spPr/>
        <p:txBody>
          <a:bodyPr>
            <a:normAutofit/>
          </a:bodyPr>
          <a:lstStyle/>
          <a:p>
            <a:pPr>
              <a:lnSpc>
                <a:spcPct val="150000"/>
              </a:lnSpc>
              <a:buClr>
                <a:schemeClr val="tx1"/>
              </a:buClr>
              <a:buFont typeface="Wingdings" pitchFamily="2" charset="2"/>
              <a:buChar char="q"/>
            </a:pPr>
            <a:r>
              <a:rPr lang="fr-FR" altLang="zh-CN" sz="2800" dirty="0">
                <a:solidFill>
                  <a:srgbClr val="000000"/>
                </a:solidFill>
                <a:ea typeface="SimSun" pitchFamily="2" charset="-122"/>
                <a:cs typeface="Times New Roman" charset="0"/>
              </a:rPr>
              <a:t>Un dossier partagé publié est un objet Dossier partagé dans Active Directory</a:t>
            </a:r>
            <a:r>
              <a:rPr lang="en-IE" altLang="zh-CN" sz="2800" dirty="0">
                <a:solidFill>
                  <a:srgbClr val="000000"/>
                </a:solidFill>
                <a:ea typeface="SimSun" pitchFamily="2" charset="-122"/>
                <a:cs typeface="Times New Roman" charset="0"/>
              </a:rPr>
              <a:t> </a:t>
            </a:r>
            <a:endParaRPr lang="en-US" sz="2800" dirty="0">
              <a:ea typeface="SimSun" pitchFamily="2" charset="-122"/>
              <a:cs typeface="Times New Roman" charset="0"/>
            </a:endParaRPr>
          </a:p>
          <a:p>
            <a:pPr>
              <a:lnSpc>
                <a:spcPct val="150000"/>
              </a:lnSpc>
              <a:buClr>
                <a:schemeClr val="tx1"/>
              </a:buClr>
              <a:buFont typeface="Wingdings" pitchFamily="2" charset="2"/>
              <a:buChar char="q"/>
            </a:pPr>
            <a:r>
              <a:rPr lang="fr-FR" altLang="zh-CN" sz="2800" dirty="0">
                <a:solidFill>
                  <a:srgbClr val="000000"/>
                </a:solidFill>
                <a:ea typeface="SimSun" pitchFamily="2" charset="-122"/>
                <a:cs typeface="Times New Roman" charset="0"/>
              </a:rPr>
              <a:t>Les clients peuvent rechercher dans Active Directory les dossiers partagés qui sont publiés</a:t>
            </a:r>
            <a:r>
              <a:rPr lang="en-IE" altLang="zh-CN" sz="2800" dirty="0">
                <a:solidFill>
                  <a:srgbClr val="000000"/>
                </a:solidFill>
                <a:ea typeface="SimSun" pitchFamily="2" charset="-122"/>
                <a:cs typeface="Times New Roman" charset="0"/>
              </a:rPr>
              <a:t> </a:t>
            </a:r>
            <a:endParaRPr lang="en-US" sz="2800" dirty="0">
              <a:ea typeface="SimSun" pitchFamily="2" charset="-122"/>
              <a:cs typeface="Times New Roman" charset="0"/>
            </a:endParaRPr>
          </a:p>
          <a:p>
            <a:pPr>
              <a:lnSpc>
                <a:spcPct val="150000"/>
              </a:lnSpc>
              <a:buClr>
                <a:schemeClr val="tx1"/>
              </a:buClr>
              <a:buFont typeface="Wingdings" pitchFamily="2" charset="2"/>
              <a:buChar char="q"/>
            </a:pPr>
            <a:r>
              <a:rPr lang="fr-FR" altLang="zh-CN" sz="2800" dirty="0">
                <a:solidFill>
                  <a:srgbClr val="000000"/>
                </a:solidFill>
                <a:ea typeface="SimSun" pitchFamily="2" charset="-122"/>
                <a:cs typeface="Times New Roman" charset="0"/>
              </a:rPr>
              <a:t>Les clients n'ont pas besoin de connaître le nom </a:t>
            </a:r>
            <a:br>
              <a:rPr lang="fr-FR" altLang="zh-CN" sz="2800" dirty="0">
                <a:solidFill>
                  <a:srgbClr val="000000"/>
                </a:solidFill>
                <a:ea typeface="SimSun" pitchFamily="2" charset="-122"/>
                <a:cs typeface="Times New Roman" charset="0"/>
              </a:rPr>
            </a:br>
            <a:r>
              <a:rPr lang="fr-FR" altLang="zh-CN" sz="2800" dirty="0">
                <a:solidFill>
                  <a:srgbClr val="000000"/>
                </a:solidFill>
                <a:ea typeface="SimSun" pitchFamily="2" charset="-122"/>
                <a:cs typeface="Times New Roman" charset="0"/>
              </a:rPr>
              <a:t>du serveur pour se connecter à un dossier partagé</a:t>
            </a:r>
            <a:r>
              <a:rPr lang="en-IE" altLang="zh-CN" sz="2800" dirty="0">
                <a:solidFill>
                  <a:srgbClr val="000000"/>
                </a:solidFill>
                <a:ea typeface="SimSun" pitchFamily="2" charset="-122"/>
                <a:cs typeface="Times New Roman" charset="0"/>
              </a:rPr>
              <a:t> </a:t>
            </a:r>
            <a:endParaRPr lang="en-US" sz="2800"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70371">
                                            <p:txEl>
                                              <p:pRg st="0" end="0"/>
                                            </p:txEl>
                                          </p:spTgt>
                                        </p:tgtEl>
                                        <p:attrNameLst>
                                          <p:attrName>style.visibility</p:attrName>
                                        </p:attrNameLst>
                                      </p:cBhvr>
                                      <p:to>
                                        <p:strVal val="visible"/>
                                      </p:to>
                                    </p:set>
                                    <p:animEffect transition="in" filter="checkerboard(across)">
                                      <p:cBhvr>
                                        <p:cTn id="7" dur="1000"/>
                                        <p:tgtEl>
                                          <p:spTgt spid="570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70371">
                                            <p:txEl>
                                              <p:pRg st="1" end="1"/>
                                            </p:txEl>
                                          </p:spTgt>
                                        </p:tgtEl>
                                        <p:attrNameLst>
                                          <p:attrName>style.visibility</p:attrName>
                                        </p:attrNameLst>
                                      </p:cBhvr>
                                      <p:to>
                                        <p:strVal val="visible"/>
                                      </p:to>
                                    </p:set>
                                    <p:animEffect transition="in" filter="checkerboard(across)">
                                      <p:cBhvr>
                                        <p:cTn id="12" dur="1000"/>
                                        <p:tgtEl>
                                          <p:spTgt spid="570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70371">
                                            <p:txEl>
                                              <p:pRg st="2" end="2"/>
                                            </p:txEl>
                                          </p:spTgt>
                                        </p:tgtEl>
                                        <p:attrNameLst>
                                          <p:attrName>style.visibility</p:attrName>
                                        </p:attrNameLst>
                                      </p:cBhvr>
                                      <p:to>
                                        <p:strVal val="visible"/>
                                      </p:to>
                                    </p:set>
                                    <p:animEffect transition="in" filter="checkerboard(across)">
                                      <p:cBhvr>
                                        <p:cTn id="17" dur="1000"/>
                                        <p:tgtEl>
                                          <p:spTgt spid="570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2"/>
          <p:cNvSpPr>
            <a:spLocks noGrp="1" noChangeArrowheads="1"/>
          </p:cNvSpPr>
          <p:nvPr>
            <p:ph type="title"/>
          </p:nvPr>
        </p:nvSpPr>
        <p:spPr>
          <a:xfrm>
            <a:off x="294189" y="553331"/>
            <a:ext cx="8687765" cy="684212"/>
          </a:xfrm>
        </p:spPr>
        <p:txBody>
          <a:bodyPr>
            <a:normAutofit/>
          </a:bodyPr>
          <a:lstStyle/>
          <a:p>
            <a:r>
              <a:rPr lang="fr-FR" altLang="zh-CN" b="1" dirty="0">
                <a:solidFill>
                  <a:srgbClr val="C00000"/>
                </a:solidFill>
                <a:ea typeface="SimSun" pitchFamily="2" charset="-122"/>
                <a:cs typeface="Times New Roman" charset="0"/>
              </a:rPr>
              <a:t>Autorisations sur les dossiers partagés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graphicFrame>
        <p:nvGraphicFramePr>
          <p:cNvPr id="363625" name="Group 105"/>
          <p:cNvGraphicFramePr>
            <a:graphicFrameLocks noGrp="1"/>
          </p:cNvGraphicFramePr>
          <p:nvPr>
            <p:ph type="tbl" idx="1"/>
            <p:extLst>
              <p:ext uri="{D42A27DB-BD31-4B8C-83A1-F6EECF244321}">
                <p14:modId xmlns:p14="http://schemas.microsoft.com/office/powerpoint/2010/main" val="2916017857"/>
              </p:ext>
            </p:extLst>
          </p:nvPr>
        </p:nvGraphicFramePr>
        <p:xfrm>
          <a:off x="196770" y="1366838"/>
          <a:ext cx="8785184" cy="5068686"/>
        </p:xfrm>
        <a:graphic>
          <a:graphicData uri="http://schemas.openxmlformats.org/drawingml/2006/table">
            <a:tbl>
              <a:tblPr/>
              <a:tblGrid>
                <a:gridCol w="2517855">
                  <a:extLst>
                    <a:ext uri="{9D8B030D-6E8A-4147-A177-3AD203B41FA5}">
                      <a16:colId xmlns:a16="http://schemas.microsoft.com/office/drawing/2014/main" val="20000"/>
                    </a:ext>
                  </a:extLst>
                </a:gridCol>
                <a:gridCol w="6267329">
                  <a:extLst>
                    <a:ext uri="{9D8B030D-6E8A-4147-A177-3AD203B41FA5}">
                      <a16:colId xmlns:a16="http://schemas.microsoft.com/office/drawing/2014/main" val="20001"/>
                    </a:ext>
                  </a:extLst>
                </a:gridCol>
              </a:tblGrid>
              <a:tr h="490095">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altLang="zh-CN" sz="2400" b="1" i="0" u="none" strike="noStrike" cap="none" normalizeH="0" baseline="0" dirty="0">
                          <a:ln>
                            <a:noFill/>
                          </a:ln>
                          <a:solidFill>
                            <a:srgbClr val="000000"/>
                          </a:solidFill>
                          <a:effectLst/>
                          <a:latin typeface="Arial Narrow" charset="0"/>
                          <a:ea typeface="SimSun" pitchFamily="2" charset="-122"/>
                          <a:cs typeface="Times New Roman" charset="0"/>
                        </a:rPr>
                        <a:t>Autorisation</a:t>
                      </a:r>
                      <a:r>
                        <a:rPr kumimoji="0" lang="en-IE" altLang="zh-CN" sz="24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altLang="zh-CN" sz="2400" b="1" i="0" u="none" strike="noStrike" cap="none" normalizeH="0" baseline="0" dirty="0">
                          <a:ln>
                            <a:noFill/>
                          </a:ln>
                          <a:solidFill>
                            <a:srgbClr val="000000"/>
                          </a:solidFill>
                          <a:effectLst/>
                          <a:latin typeface="Arial Narrow" charset="0"/>
                          <a:ea typeface="SimSun" pitchFamily="2" charset="-122"/>
                          <a:cs typeface="Times New Roman" charset="0"/>
                        </a:rPr>
                        <a:t>Action</a:t>
                      </a:r>
                      <a:r>
                        <a:rPr kumimoji="0" lang="en-IE" altLang="zh-CN" sz="24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1479209">
                <a:tc>
                  <a:txBody>
                    <a:bodyPr/>
                    <a:lstStyle/>
                    <a:p>
                      <a:pPr marL="0" marR="0" lvl="0" indent="0" algn="l" defTabSz="914400" rtl="0" eaLnBrk="0" fontAlgn="base" latinLnBrk="0" hangingPunct="0">
                        <a:lnSpc>
                          <a:spcPct val="85000"/>
                        </a:lnSpc>
                        <a:spcBef>
                          <a:spcPct val="40000"/>
                        </a:spcBef>
                        <a:spcAft>
                          <a:spcPct val="0"/>
                        </a:spcAft>
                        <a:buClr>
                          <a:srgbClr val="8DACD0"/>
                        </a:buClr>
                        <a:buSzPct val="70000"/>
                        <a:buFont typeface="Wingdings" charset="2"/>
                        <a:buNone/>
                        <a:tabLst/>
                      </a:pPr>
                      <a:r>
                        <a:rPr kumimoji="0" lang="fr-FR" altLang="zh-CN" sz="2400" b="1" i="0" u="none" strike="noStrike" cap="none" normalizeH="0" baseline="0" dirty="0">
                          <a:ln>
                            <a:noFill/>
                          </a:ln>
                          <a:solidFill>
                            <a:srgbClr val="000000"/>
                          </a:solidFill>
                          <a:effectLst/>
                          <a:latin typeface="Arial Narrow" charset="0"/>
                          <a:ea typeface="SimSun" pitchFamily="2" charset="-122"/>
                          <a:cs typeface="Times New Roman" charset="0"/>
                        </a:rPr>
                        <a:t>Lecture</a:t>
                      </a:r>
                      <a:r>
                        <a:rPr kumimoji="0" lang="en-IE" altLang="zh-CN" sz="2400" b="1" i="0" u="none" strike="noStrike" cap="none" normalizeH="0" baseline="0" dirty="0">
                          <a:ln>
                            <a:noFill/>
                          </a:ln>
                          <a:solidFill>
                            <a:srgbClr val="000000"/>
                          </a:solidFill>
                          <a:effectLst/>
                          <a:latin typeface="Arial Narrow" charset="0"/>
                          <a:ea typeface="SimSun" pitchFamily="2" charset="-122"/>
                          <a:cs typeface="Times New Roman" charset="0"/>
                        </a:rPr>
                        <a:t> </a:t>
                      </a:r>
                      <a:br>
                        <a:rPr kumimoji="0" lang="en-IE" altLang="zh-CN" sz="2400" b="1" i="0" u="none" strike="noStrike" cap="none" normalizeH="0" baseline="0" dirty="0">
                          <a:ln>
                            <a:noFill/>
                          </a:ln>
                          <a:solidFill>
                            <a:srgbClr val="000000"/>
                          </a:solidFill>
                          <a:effectLst/>
                          <a:latin typeface="Arial Narrow" charset="0"/>
                          <a:ea typeface="SimSun" pitchFamily="2" charset="-122"/>
                          <a:cs typeface="Times New Roman" charset="0"/>
                        </a:rPr>
                      </a:b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(par défaut, appliqué au groupe Tout le monde)</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Afficher les données des fichiers et les attributs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Afficher les noms des fichiers et des sous-dossiers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Exécuter des programmes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479209">
                <a:tc>
                  <a:txBody>
                    <a:bodyPr/>
                    <a:lstStyle/>
                    <a:p>
                      <a:pPr marL="0" marR="0" lvl="0" indent="0" algn="l" defTabSz="914400" rtl="0" eaLnBrk="0" fontAlgn="base" latinLnBrk="0" hangingPunct="0">
                        <a:lnSpc>
                          <a:spcPct val="85000"/>
                        </a:lnSpc>
                        <a:spcBef>
                          <a:spcPct val="0"/>
                        </a:spcBef>
                        <a:spcAft>
                          <a:spcPct val="0"/>
                        </a:spcAft>
                        <a:buClrTx/>
                        <a:buSzTx/>
                        <a:buFontTx/>
                        <a:buNone/>
                        <a:tabLst/>
                      </a:pPr>
                      <a:r>
                        <a:rPr kumimoji="0" lang="fr-FR" altLang="zh-CN" sz="2400" b="1" i="0" u="none" strike="noStrike" cap="none" normalizeH="0" baseline="0" dirty="0">
                          <a:ln>
                            <a:noFill/>
                          </a:ln>
                          <a:solidFill>
                            <a:srgbClr val="000000"/>
                          </a:solidFill>
                          <a:effectLst/>
                          <a:latin typeface="Arial Narrow" charset="0"/>
                          <a:ea typeface="SimSun" pitchFamily="2" charset="-122"/>
                          <a:cs typeface="Times New Roman" charset="0"/>
                        </a:rPr>
                        <a:t>Modification</a:t>
                      </a:r>
                      <a:r>
                        <a:rPr kumimoji="0" lang="en-IE" altLang="zh-CN" sz="24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1" i="0" u="none" strike="noStrike" cap="none" normalizeH="0" baseline="0" dirty="0">
                        <a:ln>
                          <a:noFill/>
                        </a:ln>
                        <a:solidFill>
                          <a:schemeClr val="tx1"/>
                        </a:solidFill>
                        <a:effectLst/>
                        <a:latin typeface="Arial Narrow" charset="0"/>
                        <a:ea typeface="SimSun" pitchFamily="2" charset="-122"/>
                        <a:cs typeface="Times New Roman" charset="0"/>
                      </a:endParaRPr>
                    </a:p>
                    <a:p>
                      <a:pPr marL="0" marR="0" lvl="0" indent="0" algn="l" defTabSz="914400" rtl="0" eaLnBrk="0" fontAlgn="base" latinLnBrk="0" hangingPunct="0">
                        <a:lnSpc>
                          <a:spcPct val="85000"/>
                        </a:lnSpc>
                        <a:spcBef>
                          <a:spcPct val="0"/>
                        </a:spcBef>
                        <a:spcAft>
                          <a:spcPct val="0"/>
                        </a:spcAft>
                        <a:buClrTx/>
                        <a:buSzTx/>
                        <a:buFontTx/>
                        <a:buNone/>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(inclut toutes les autorisations </a:t>
                      </a:r>
                      <a:b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b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de lecture)</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Ajouter des fichiers et des sous-dossiers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Modifier les données des fichiers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Supprimer des sous-dossiers et des fichiers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620173">
                <a:tc>
                  <a:txBody>
                    <a:bodyPr/>
                    <a:lstStyle/>
                    <a:p>
                      <a:pPr marL="0" marR="0" lvl="0" indent="0" algn="l" defTabSz="914400" rtl="0" eaLnBrk="0" fontAlgn="base" latinLnBrk="0" hangingPunct="0">
                        <a:lnSpc>
                          <a:spcPct val="85000"/>
                        </a:lnSpc>
                        <a:spcBef>
                          <a:spcPct val="40000"/>
                        </a:spcBef>
                        <a:spcAft>
                          <a:spcPct val="0"/>
                        </a:spcAft>
                        <a:buClr>
                          <a:srgbClr val="8DACD0"/>
                        </a:buClr>
                        <a:buSzPct val="70000"/>
                        <a:buFont typeface="Wingdings" charset="2"/>
                        <a:buNone/>
                        <a:tabLst/>
                      </a:pPr>
                      <a:r>
                        <a:rPr kumimoji="0" lang="fr-FR" altLang="zh-CN" sz="2400" b="1" i="0" u="none" strike="noStrike" cap="none" normalizeH="0" baseline="0" dirty="0">
                          <a:ln>
                            <a:noFill/>
                          </a:ln>
                          <a:solidFill>
                            <a:srgbClr val="000000"/>
                          </a:solidFill>
                          <a:effectLst/>
                          <a:latin typeface="Arial Narrow" charset="0"/>
                          <a:ea typeface="SimSun" pitchFamily="2" charset="-122"/>
                          <a:cs typeface="Times New Roman" charset="0"/>
                        </a:rPr>
                        <a:t>Contrôle total</a:t>
                      </a:r>
                      <a:r>
                        <a:rPr kumimoji="0" lang="en-IE" altLang="zh-CN" sz="24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Inclut toutes les autorisations de lecture et de modification</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5000"/>
                        </a:lnSpc>
                        <a:spcBef>
                          <a:spcPct val="35000"/>
                        </a:spcBef>
                        <a:spcAft>
                          <a:spcPct val="0"/>
                        </a:spcAft>
                        <a:buClrTx/>
                        <a:buSzPct val="70000"/>
                        <a:buFontTx/>
                        <a:buBlip>
                          <a:blip r:embed="rId3"/>
                        </a:buBlip>
                        <a:tabLst/>
                      </a:pPr>
                      <a:r>
                        <a:rPr kumimoji="0" lang="fr-FR" altLang="zh-CN" sz="2400" b="0" i="0" u="none" strike="noStrike" cap="none" normalizeH="0" baseline="0" dirty="0">
                          <a:ln>
                            <a:noFill/>
                          </a:ln>
                          <a:solidFill>
                            <a:srgbClr val="000000"/>
                          </a:solidFill>
                          <a:effectLst/>
                          <a:latin typeface="Arial Narrow" charset="0"/>
                          <a:ea typeface="SimSun" pitchFamily="2" charset="-122"/>
                          <a:cs typeface="Times New Roman" charset="0"/>
                        </a:rPr>
                        <a:t>Permet de modifier les autorisations NTFS sur les fichiers et dossiers</a:t>
                      </a:r>
                      <a:r>
                        <a:rPr kumimoji="0" lang="en-IE" altLang="zh-CN" sz="24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4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2"/>
          <p:cNvSpPr>
            <a:spLocks noGrp="1" noChangeArrowheads="1"/>
          </p:cNvSpPr>
          <p:nvPr>
            <p:ph type="title"/>
          </p:nvPr>
        </p:nvSpPr>
        <p:spPr>
          <a:xfrm>
            <a:off x="127321" y="278969"/>
            <a:ext cx="8785185" cy="1083106"/>
          </a:xfrm>
        </p:spPr>
        <p:txBody>
          <a:bodyPr>
            <a:noAutofit/>
          </a:bodyPr>
          <a:lstStyle/>
          <a:p>
            <a:r>
              <a:rPr lang="fr-FR" altLang="zh-CN" sz="2800" b="1" dirty="0">
                <a:solidFill>
                  <a:srgbClr val="000000"/>
                </a:solidFill>
                <a:ea typeface="SimSun" pitchFamily="2" charset="-122"/>
                <a:cs typeface="Times New Roman" charset="0"/>
              </a:rPr>
              <a:t>3. Administration des accès aux fichiers et aux dossiers en utilisant les autorisations NTFS</a:t>
            </a:r>
            <a:r>
              <a:rPr lang="en-IE" altLang="zh-CN" sz="2800" b="1" dirty="0">
                <a:solidFill>
                  <a:srgbClr val="000000"/>
                </a:solidFill>
                <a:ea typeface="SimSun" pitchFamily="2" charset="-122"/>
              </a:rPr>
              <a:t> </a:t>
            </a:r>
            <a:endParaRPr lang="en-US" sz="2800" b="1" dirty="0">
              <a:solidFill>
                <a:srgbClr val="000000"/>
              </a:solidFill>
            </a:endParaRPr>
          </a:p>
        </p:txBody>
      </p:sp>
      <p:sp>
        <p:nvSpPr>
          <p:cNvPr id="343043" name="Rectangle-3"/>
          <p:cNvSpPr>
            <a:spLocks noGrp="1" noChangeArrowheads="1"/>
          </p:cNvSpPr>
          <p:nvPr>
            <p:ph sz="quarter" idx="1"/>
          </p:nvPr>
        </p:nvSpPr>
        <p:spPr>
          <a:xfrm>
            <a:off x="231494" y="1362075"/>
            <a:ext cx="8669437" cy="4694238"/>
          </a:xfrm>
        </p:spPr>
        <p:txBody>
          <a:bodyPr>
            <a:normAutofit/>
          </a:bodyPr>
          <a:lstStyle/>
          <a:p>
            <a:r>
              <a:rPr lang="fr-FR" altLang="zh-CN" b="1" dirty="0">
                <a:solidFill>
                  <a:srgbClr val="C00000"/>
                </a:solidFill>
                <a:ea typeface="SimSun" pitchFamily="2" charset="-122"/>
                <a:cs typeface="Times New Roman" charset="0"/>
              </a:rPr>
              <a:t>Description de NTFS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a:p>
            <a:r>
              <a:rPr lang="fr-FR" altLang="zh-CN" b="1" dirty="0">
                <a:solidFill>
                  <a:srgbClr val="C00000"/>
                </a:solidFill>
                <a:ea typeface="SimSun" pitchFamily="2" charset="-122"/>
                <a:cs typeface="Times New Roman" charset="0"/>
              </a:rPr>
              <a:t>Autorisations sur les fichiers et les dossiers NTFS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a:p>
            <a:r>
              <a:rPr lang="fr-FR" altLang="zh-CN" b="1" dirty="0">
                <a:solidFill>
                  <a:srgbClr val="C00000"/>
                </a:solidFill>
                <a:ea typeface="SimSun" pitchFamily="2" charset="-122"/>
                <a:cs typeface="Times New Roman" charset="0"/>
              </a:rPr>
              <a:t>Les autorisations standard et spéciales</a:t>
            </a:r>
            <a:r>
              <a:rPr lang="en-IE" altLang="zh-CN" b="1" dirty="0">
                <a:solidFill>
                  <a:srgbClr val="C00000"/>
                </a:solidFill>
                <a:ea typeface="SimSun" pitchFamily="2" charset="-122"/>
                <a:cs typeface="Times New Roman" charset="0"/>
              </a:rPr>
              <a:t> </a:t>
            </a:r>
            <a:endParaRPr lang="fr-FR" altLang="zh-CN" b="1" dirty="0">
              <a:solidFill>
                <a:srgbClr val="C00000"/>
              </a:solidFill>
              <a:ea typeface="SimSun" pitchFamily="2" charset="-122"/>
              <a:cs typeface="Times New Roman" charset="0"/>
            </a:endParaRPr>
          </a:p>
          <a:p>
            <a:r>
              <a:rPr lang="fr-FR" altLang="zh-CN" b="1" dirty="0">
                <a:solidFill>
                  <a:srgbClr val="C00000"/>
                </a:solidFill>
                <a:ea typeface="SimSun" pitchFamily="2" charset="-122"/>
                <a:cs typeface="Times New Roman" charset="0"/>
              </a:rPr>
              <a:t>Impact des autorisations NTFS sur la copie et le déplacement des fichiers et des dossiers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a:p>
            <a:r>
              <a:rPr lang="fr-FR" altLang="zh-CN" b="1" dirty="0">
                <a:solidFill>
                  <a:srgbClr val="C00000"/>
                </a:solidFill>
                <a:ea typeface="SimSun" pitchFamily="2" charset="-122"/>
                <a:cs typeface="Times New Roman" charset="0"/>
              </a:rPr>
              <a:t>Description de l'héritage des autorisations NTFS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2"/>
          <p:cNvSpPr>
            <a:spLocks noGrp="1" noChangeArrowheads="1"/>
          </p:cNvSpPr>
          <p:nvPr>
            <p:ph type="title"/>
          </p:nvPr>
        </p:nvSpPr>
        <p:spPr/>
        <p:txBody>
          <a:bodyPr/>
          <a:lstStyle/>
          <a:p>
            <a:r>
              <a:rPr lang="fr-FR" altLang="zh-CN" b="1" dirty="0">
                <a:solidFill>
                  <a:srgbClr val="C00000"/>
                </a:solidFill>
                <a:ea typeface="SimSun" pitchFamily="2" charset="-122"/>
                <a:cs typeface="Times New Roman" charset="0"/>
              </a:rPr>
              <a:t>Description de NTFS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07907" name="Rectangle-3"/>
          <p:cNvSpPr>
            <a:spLocks noGrp="1" noChangeArrowheads="1"/>
          </p:cNvSpPr>
          <p:nvPr>
            <p:ph sz="quarter" idx="1"/>
          </p:nvPr>
        </p:nvSpPr>
        <p:spPr>
          <a:xfrm>
            <a:off x="234638" y="1369884"/>
            <a:ext cx="8668628" cy="5259515"/>
          </a:xfrm>
          <a:solidFill>
            <a:schemeClr val="bg1"/>
          </a:solidFill>
        </p:spPr>
        <p:txBody>
          <a:bodyPr>
            <a:noAutofit/>
          </a:bodyPr>
          <a:lstStyle/>
          <a:p>
            <a:r>
              <a:rPr lang="fr-FR" altLang="zh-CN" sz="2400" dirty="0">
                <a:solidFill>
                  <a:srgbClr val="000000"/>
                </a:solidFill>
                <a:ea typeface="SimSun" pitchFamily="2" charset="-122"/>
                <a:cs typeface="Times New Roman" charset="0"/>
              </a:rPr>
              <a:t>Fiabilité</a:t>
            </a:r>
            <a:r>
              <a:rPr lang="en-IE" altLang="zh-CN" sz="2400" dirty="0">
                <a:solidFill>
                  <a:srgbClr val="000000"/>
                </a:solidFill>
                <a:ea typeface="SimSun" pitchFamily="2" charset="-122"/>
              </a:rPr>
              <a:t> :</a:t>
            </a:r>
            <a:r>
              <a:rPr lang="fr-FR" sz="2400" dirty="0"/>
              <a:t> </a:t>
            </a:r>
          </a:p>
          <a:p>
            <a:pPr lvl="2"/>
            <a:r>
              <a:rPr lang="fr-FR" sz="2400" dirty="0"/>
              <a:t>En cas de secteur défectueux, NTFS reconfigure dynamiquement le cluster du secteur et alloue un nouveau cluster aux données.</a:t>
            </a:r>
          </a:p>
          <a:p>
            <a:pPr lvl="2"/>
            <a:r>
              <a:rPr lang="fr-FR" sz="2400" dirty="0"/>
              <a:t> NTFS marque aussi ce cluster comme étant inutilisable.</a:t>
            </a:r>
            <a:endParaRPr lang="en-IE" altLang="zh-CN" sz="2400" dirty="0">
              <a:solidFill>
                <a:srgbClr val="000000"/>
              </a:solidFill>
              <a:ea typeface="SimSun" pitchFamily="2" charset="-122"/>
            </a:endParaRPr>
          </a:p>
          <a:p>
            <a:r>
              <a:rPr lang="fr-FR" altLang="zh-CN" sz="2400" dirty="0">
                <a:solidFill>
                  <a:srgbClr val="000000"/>
                </a:solidFill>
                <a:ea typeface="SimSun" pitchFamily="2" charset="-122"/>
              </a:rPr>
              <a:t>Sécurité au niveau des fichiers et des dossiers:</a:t>
            </a:r>
          </a:p>
          <a:p>
            <a:pPr lvl="2"/>
            <a:r>
              <a:rPr lang="fr-FR" sz="2400" dirty="0"/>
              <a:t>NTFS utilisent le système de cryptage de fichiers EFS</a:t>
            </a:r>
          </a:p>
          <a:p>
            <a:pPr lvl="2"/>
            <a:r>
              <a:rPr lang="fr-FR" sz="2400" dirty="0"/>
              <a:t>Permet de définir des autorisations d’accès</a:t>
            </a:r>
          </a:p>
          <a:p>
            <a:r>
              <a:rPr lang="fr-FR" altLang="zh-CN" sz="2400" dirty="0">
                <a:solidFill>
                  <a:srgbClr val="000000"/>
                </a:solidFill>
                <a:ea typeface="SimSun" pitchFamily="2" charset="-122"/>
              </a:rPr>
              <a:t>Administration améliorée de la croissance du stockage:</a:t>
            </a:r>
          </a:p>
          <a:p>
            <a:pPr lvl="2"/>
            <a:r>
              <a:rPr lang="fr-FR" sz="2400" dirty="0"/>
              <a:t>NTFS prend en charge les quotas de disque</a:t>
            </a:r>
            <a:r>
              <a:rPr lang="en-IE" altLang="zh-CN" sz="2400" dirty="0">
                <a:solidFill>
                  <a:srgbClr val="000000"/>
                </a:solidFill>
                <a:ea typeface="SimSun" pitchFamily="2" charset="-122"/>
              </a:rPr>
              <a:t> </a:t>
            </a:r>
          </a:p>
          <a:p>
            <a:pPr lvl="2"/>
            <a:r>
              <a:rPr lang="fr-FR" sz="2400" dirty="0"/>
              <a:t>NTFS prend en charge des fichiers plus volumineux</a:t>
            </a:r>
          </a:p>
          <a:p>
            <a:r>
              <a:rPr lang="fr-FR" altLang="zh-CN" sz="2400" dirty="0">
                <a:solidFill>
                  <a:srgbClr val="000000"/>
                </a:solidFill>
                <a:ea typeface="SimSun" pitchFamily="2" charset="-122"/>
              </a:rPr>
              <a:t>Autorisations utilisateur multiples</a:t>
            </a:r>
            <a:r>
              <a:rPr lang="en-IE" altLang="zh-CN" sz="2400" dirty="0">
                <a:solidFill>
                  <a:srgbClr val="000000"/>
                </a:solidFill>
                <a:ea typeface="SimSun" pitchFamily="2" charset="-122"/>
              </a:rPr>
              <a:t> </a:t>
            </a:r>
            <a:endParaRPr lang="en-US"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 calcmode="lin" valueType="num">
                                      <p:cBhvr additive="base">
                                        <p:cTn id="7" dur="1000" fill="hold"/>
                                        <p:tgtEl>
                                          <p:spTgt spid="50790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5079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7907">
                                            <p:txEl>
                                              <p:pRg st="1" end="1"/>
                                            </p:txEl>
                                          </p:spTgt>
                                        </p:tgtEl>
                                        <p:attrNameLst>
                                          <p:attrName>style.visibility</p:attrName>
                                        </p:attrNameLst>
                                      </p:cBhvr>
                                      <p:to>
                                        <p:strVal val="visible"/>
                                      </p:to>
                                    </p:set>
                                    <p:anim calcmode="lin" valueType="num">
                                      <p:cBhvr additive="base">
                                        <p:cTn id="11" dur="1000" fill="hold"/>
                                        <p:tgtEl>
                                          <p:spTgt spid="507907">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50790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7907">
                                            <p:txEl>
                                              <p:pRg st="2" end="2"/>
                                            </p:txEl>
                                          </p:spTgt>
                                        </p:tgtEl>
                                        <p:attrNameLst>
                                          <p:attrName>style.visibility</p:attrName>
                                        </p:attrNameLst>
                                      </p:cBhvr>
                                      <p:to>
                                        <p:strVal val="visible"/>
                                      </p:to>
                                    </p:set>
                                    <p:anim calcmode="lin" valueType="num">
                                      <p:cBhvr additive="base">
                                        <p:cTn id="15" dur="1000" fill="hold"/>
                                        <p:tgtEl>
                                          <p:spTgt spid="507907">
                                            <p:txEl>
                                              <p:pRg st="2" end="2"/>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5079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07907">
                                            <p:txEl>
                                              <p:pRg st="3" end="3"/>
                                            </p:txEl>
                                          </p:spTgt>
                                        </p:tgtEl>
                                        <p:attrNameLst>
                                          <p:attrName>style.visibility</p:attrName>
                                        </p:attrNameLst>
                                      </p:cBhvr>
                                      <p:to>
                                        <p:strVal val="visible"/>
                                      </p:to>
                                    </p:set>
                                    <p:anim calcmode="lin" valueType="num">
                                      <p:cBhvr additive="base">
                                        <p:cTn id="21" dur="1000" fill="hold"/>
                                        <p:tgtEl>
                                          <p:spTgt spid="507907">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50790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7907">
                                            <p:txEl>
                                              <p:pRg st="4" end="4"/>
                                            </p:txEl>
                                          </p:spTgt>
                                        </p:tgtEl>
                                        <p:attrNameLst>
                                          <p:attrName>style.visibility</p:attrName>
                                        </p:attrNameLst>
                                      </p:cBhvr>
                                      <p:to>
                                        <p:strVal val="visible"/>
                                      </p:to>
                                    </p:set>
                                    <p:anim calcmode="lin" valueType="num">
                                      <p:cBhvr additive="base">
                                        <p:cTn id="25" dur="1000" fill="hold"/>
                                        <p:tgtEl>
                                          <p:spTgt spid="50790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50790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07907">
                                            <p:txEl>
                                              <p:pRg st="5" end="5"/>
                                            </p:txEl>
                                          </p:spTgt>
                                        </p:tgtEl>
                                        <p:attrNameLst>
                                          <p:attrName>style.visibility</p:attrName>
                                        </p:attrNameLst>
                                      </p:cBhvr>
                                      <p:to>
                                        <p:strVal val="visible"/>
                                      </p:to>
                                    </p:set>
                                    <p:anim calcmode="lin" valueType="num">
                                      <p:cBhvr additive="base">
                                        <p:cTn id="29" dur="1000" fill="hold"/>
                                        <p:tgtEl>
                                          <p:spTgt spid="507907">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5079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07907">
                                            <p:txEl>
                                              <p:pRg st="6" end="6"/>
                                            </p:txEl>
                                          </p:spTgt>
                                        </p:tgtEl>
                                        <p:attrNameLst>
                                          <p:attrName>style.visibility</p:attrName>
                                        </p:attrNameLst>
                                      </p:cBhvr>
                                      <p:to>
                                        <p:strVal val="visible"/>
                                      </p:to>
                                    </p:set>
                                    <p:anim calcmode="lin" valueType="num">
                                      <p:cBhvr additive="base">
                                        <p:cTn id="35" dur="1000" fill="hold"/>
                                        <p:tgtEl>
                                          <p:spTgt spid="507907">
                                            <p:txEl>
                                              <p:pRg st="6" end="6"/>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507907">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07907">
                                            <p:txEl>
                                              <p:pRg st="7" end="7"/>
                                            </p:txEl>
                                          </p:spTgt>
                                        </p:tgtEl>
                                        <p:attrNameLst>
                                          <p:attrName>style.visibility</p:attrName>
                                        </p:attrNameLst>
                                      </p:cBhvr>
                                      <p:to>
                                        <p:strVal val="visible"/>
                                      </p:to>
                                    </p:set>
                                    <p:anim calcmode="lin" valueType="num">
                                      <p:cBhvr additive="base">
                                        <p:cTn id="39" dur="1000" fill="hold"/>
                                        <p:tgtEl>
                                          <p:spTgt spid="507907">
                                            <p:txEl>
                                              <p:pRg st="7" end="7"/>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507907">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07907">
                                            <p:txEl>
                                              <p:pRg st="8" end="8"/>
                                            </p:txEl>
                                          </p:spTgt>
                                        </p:tgtEl>
                                        <p:attrNameLst>
                                          <p:attrName>style.visibility</p:attrName>
                                        </p:attrNameLst>
                                      </p:cBhvr>
                                      <p:to>
                                        <p:strVal val="visible"/>
                                      </p:to>
                                    </p:set>
                                    <p:anim calcmode="lin" valueType="num">
                                      <p:cBhvr additive="base">
                                        <p:cTn id="43" dur="1000" fill="hold"/>
                                        <p:tgtEl>
                                          <p:spTgt spid="507907">
                                            <p:txEl>
                                              <p:pRg st="8" end="8"/>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50790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07907">
                                            <p:txEl>
                                              <p:pRg st="9" end="9"/>
                                            </p:txEl>
                                          </p:spTgt>
                                        </p:tgtEl>
                                        <p:attrNameLst>
                                          <p:attrName>style.visibility</p:attrName>
                                        </p:attrNameLst>
                                      </p:cBhvr>
                                      <p:to>
                                        <p:strVal val="visible"/>
                                      </p:to>
                                    </p:set>
                                    <p:anim calcmode="lin" valueType="num">
                                      <p:cBhvr additive="base">
                                        <p:cTn id="49" dur="1000" fill="hold"/>
                                        <p:tgtEl>
                                          <p:spTgt spid="507907">
                                            <p:txEl>
                                              <p:pRg st="9" end="9"/>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50790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2"/>
          <p:cNvSpPr>
            <a:spLocks noGrp="1" noChangeArrowheads="1"/>
          </p:cNvSpPr>
          <p:nvPr>
            <p:ph type="title"/>
          </p:nvPr>
        </p:nvSpPr>
        <p:spPr>
          <a:xfrm>
            <a:off x="0" y="367500"/>
            <a:ext cx="9144000" cy="758952"/>
          </a:xfrm>
        </p:spPr>
        <p:txBody>
          <a:bodyPr>
            <a:normAutofit fontScale="90000"/>
          </a:bodyPr>
          <a:lstStyle/>
          <a:p>
            <a:r>
              <a:rPr lang="fr-FR" altLang="zh-CN" b="1" dirty="0">
                <a:solidFill>
                  <a:srgbClr val="C00000"/>
                </a:solidFill>
                <a:ea typeface="SimSun" pitchFamily="2" charset="-122"/>
                <a:cs typeface="Times New Roman" charset="0"/>
              </a:rPr>
              <a:t>Autorisations sur les fichiers et les dossiers NTFS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501842" name="AutoShape-82"/>
          <p:cNvSpPr>
            <a:spLocks noChangeArrowheads="1"/>
          </p:cNvSpPr>
          <p:nvPr/>
        </p:nvSpPr>
        <p:spPr bwMode="auto">
          <a:xfrm>
            <a:off x="173612" y="1296988"/>
            <a:ext cx="3904226" cy="480536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wrap="none"/>
          <a:lstStyle/>
          <a:p>
            <a:pPr>
              <a:lnSpc>
                <a:spcPct val="90000"/>
              </a:lnSpc>
            </a:pPr>
            <a:r>
              <a:rPr lang="fr-FR" altLang="zh-CN" sz="2400" dirty="0">
                <a:cs typeface="Times New Roman" charset="0"/>
              </a:rPr>
              <a:t>Autorisations sur les fichiers</a:t>
            </a:r>
            <a:r>
              <a:rPr lang="en-IE" altLang="zh-CN" sz="2200" dirty="0">
                <a:cs typeface="Times New Roman" charset="0"/>
              </a:rPr>
              <a:t> </a:t>
            </a:r>
            <a:endParaRPr lang="en-US" sz="2200" dirty="0">
              <a:cs typeface="Times New Roman" charset="0"/>
            </a:endParaRPr>
          </a:p>
        </p:txBody>
      </p:sp>
      <p:pic>
        <p:nvPicPr>
          <p:cNvPr id="501845" name="Picture-85" descr="Document_Writing01"/>
          <p:cNvPicPr>
            <a:picLocks noChangeAspect="1" noChangeArrowheads="1"/>
          </p:cNvPicPr>
          <p:nvPr/>
        </p:nvPicPr>
        <p:blipFill>
          <a:blip r:embed="rId3" cstate="print"/>
          <a:srcRect/>
          <a:stretch>
            <a:fillRect/>
          </a:stretch>
        </p:blipFill>
        <p:spPr bwMode="auto">
          <a:xfrm>
            <a:off x="1733100" y="4356100"/>
            <a:ext cx="949325" cy="1535113"/>
          </a:xfrm>
          <a:prstGeom prst="rect">
            <a:avLst/>
          </a:prstGeom>
          <a:noFill/>
        </p:spPr>
      </p:pic>
      <p:pic>
        <p:nvPicPr>
          <p:cNvPr id="501847" name="Picture-87" descr="Security_Permissions01"/>
          <p:cNvPicPr>
            <a:picLocks noChangeAspect="1" noChangeArrowheads="1"/>
          </p:cNvPicPr>
          <p:nvPr/>
        </p:nvPicPr>
        <p:blipFill>
          <a:blip r:embed="rId4"/>
          <a:srcRect/>
          <a:stretch>
            <a:fillRect/>
          </a:stretch>
        </p:blipFill>
        <p:spPr bwMode="auto">
          <a:xfrm>
            <a:off x="2280788" y="4848225"/>
            <a:ext cx="993775" cy="1401763"/>
          </a:xfrm>
          <a:prstGeom prst="rect">
            <a:avLst/>
          </a:prstGeom>
          <a:noFill/>
        </p:spPr>
      </p:pic>
      <p:sp>
        <p:nvSpPr>
          <p:cNvPr id="501848" name="AutoShape-88"/>
          <p:cNvSpPr>
            <a:spLocks noChangeArrowheads="1"/>
          </p:cNvSpPr>
          <p:nvPr/>
        </p:nvSpPr>
        <p:spPr bwMode="auto">
          <a:xfrm>
            <a:off x="4224760" y="1296988"/>
            <a:ext cx="4745620" cy="480536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wrap="none"/>
          <a:lstStyle/>
          <a:p>
            <a:pPr>
              <a:lnSpc>
                <a:spcPct val="90000"/>
              </a:lnSpc>
            </a:pPr>
            <a:r>
              <a:rPr lang="fr-FR" altLang="zh-CN" sz="2400" dirty="0">
                <a:cs typeface="Times New Roman" charset="0"/>
              </a:rPr>
              <a:t>Autorisations sur les dossiers</a:t>
            </a:r>
            <a:r>
              <a:rPr lang="en-IE" altLang="zh-CN" sz="2200" dirty="0">
                <a:cs typeface="Times New Roman" charset="0"/>
              </a:rPr>
              <a:t> </a:t>
            </a:r>
            <a:endParaRPr lang="en-US" sz="2200" dirty="0">
              <a:cs typeface="Times New Roman" charset="0"/>
            </a:endParaRPr>
          </a:p>
        </p:txBody>
      </p:sp>
      <p:sp>
        <p:nvSpPr>
          <p:cNvPr id="501849" name="AutoShape-89"/>
          <p:cNvSpPr>
            <a:spLocks noChangeArrowheads="1"/>
          </p:cNvSpPr>
          <p:nvPr/>
        </p:nvSpPr>
        <p:spPr bwMode="auto">
          <a:xfrm>
            <a:off x="4294207" y="2054225"/>
            <a:ext cx="4572000" cy="259873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70000"/>
              </a:lnSpc>
              <a:spcBef>
                <a:spcPct val="40000"/>
              </a:spcBef>
              <a:buSzPct val="80000"/>
              <a:buFontTx/>
              <a:buBlip>
                <a:blip r:embed="rId5"/>
              </a:buBlip>
            </a:pPr>
            <a:r>
              <a:rPr lang="fr-FR" altLang="zh-CN" sz="2400" dirty="0">
                <a:cs typeface="Times New Roman" charset="0"/>
              </a:rPr>
              <a:t>Contrôle total</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0000"/>
              </a:lnSpc>
              <a:spcBef>
                <a:spcPct val="40000"/>
              </a:spcBef>
              <a:buSzPct val="80000"/>
              <a:buFontTx/>
              <a:buBlip>
                <a:blip r:embed="rId5"/>
              </a:buBlip>
            </a:pPr>
            <a:r>
              <a:rPr lang="fr-FR" altLang="zh-CN" sz="2400" dirty="0">
                <a:cs typeface="Times New Roman" charset="0"/>
              </a:rPr>
              <a:t>Modification</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0000"/>
              </a:lnSpc>
              <a:spcBef>
                <a:spcPct val="40000"/>
              </a:spcBef>
              <a:buSzPct val="80000"/>
              <a:buFontTx/>
              <a:buBlip>
                <a:blip r:embed="rId5"/>
              </a:buBlip>
            </a:pPr>
            <a:r>
              <a:rPr lang="fr-FR" altLang="zh-CN" sz="2400" dirty="0">
                <a:cs typeface="Times New Roman" charset="0"/>
              </a:rPr>
              <a:t>Lecture et exécution</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0000"/>
              </a:lnSpc>
              <a:spcBef>
                <a:spcPct val="40000"/>
              </a:spcBef>
              <a:buSzPct val="80000"/>
              <a:buFontTx/>
              <a:buBlip>
                <a:blip r:embed="rId5"/>
              </a:buBlip>
            </a:pPr>
            <a:r>
              <a:rPr lang="fr-FR" altLang="zh-CN" sz="2400" dirty="0">
                <a:cs typeface="Times New Roman" charset="0"/>
              </a:rPr>
              <a:t>Écriture</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0000"/>
              </a:lnSpc>
              <a:spcBef>
                <a:spcPct val="40000"/>
              </a:spcBef>
              <a:buSzPct val="80000"/>
              <a:buFontTx/>
              <a:buBlip>
                <a:blip r:embed="rId5"/>
              </a:buBlip>
            </a:pPr>
            <a:r>
              <a:rPr lang="fr-FR" altLang="zh-CN" sz="2400" dirty="0">
                <a:cs typeface="Times New Roman" charset="0"/>
              </a:rPr>
              <a:t>Lecture</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0000"/>
              </a:lnSpc>
              <a:spcBef>
                <a:spcPct val="40000"/>
              </a:spcBef>
              <a:buSzPct val="80000"/>
              <a:buFontTx/>
              <a:buBlip>
                <a:blip r:embed="rId5"/>
              </a:buBlip>
            </a:pPr>
            <a:r>
              <a:rPr lang="fr-FR" altLang="zh-CN" sz="2400" dirty="0">
                <a:cs typeface="Times New Roman" charset="0"/>
              </a:rPr>
              <a:t>Affichage du contenu du dossier</a:t>
            </a:r>
            <a:r>
              <a:rPr lang="en-IE" altLang="zh-CN" sz="2400" dirty="0">
                <a:cs typeface="Times New Roman" charset="0"/>
              </a:rPr>
              <a:t> </a:t>
            </a:r>
            <a:endParaRPr lang="en-US" sz="2400" dirty="0">
              <a:cs typeface="Times New Roman" charset="0"/>
            </a:endParaRPr>
          </a:p>
        </p:txBody>
      </p:sp>
      <p:pic>
        <p:nvPicPr>
          <p:cNvPr id="501846" name="Picture-86" descr="Folder_FolderOpen01"/>
          <p:cNvPicPr>
            <a:picLocks noChangeAspect="1" noChangeArrowheads="1"/>
          </p:cNvPicPr>
          <p:nvPr/>
        </p:nvPicPr>
        <p:blipFill>
          <a:blip r:embed="rId6"/>
          <a:srcRect/>
          <a:stretch>
            <a:fillRect/>
          </a:stretch>
        </p:blipFill>
        <p:spPr bwMode="auto">
          <a:xfrm>
            <a:off x="5145088" y="4545013"/>
            <a:ext cx="1584325" cy="1417637"/>
          </a:xfrm>
          <a:prstGeom prst="rect">
            <a:avLst/>
          </a:prstGeom>
          <a:noFill/>
        </p:spPr>
      </p:pic>
      <p:pic>
        <p:nvPicPr>
          <p:cNvPr id="501850" name="Picture-90" descr="Security_Permissions01"/>
          <p:cNvPicPr>
            <a:picLocks noChangeAspect="1" noChangeArrowheads="1"/>
          </p:cNvPicPr>
          <p:nvPr/>
        </p:nvPicPr>
        <p:blipFill>
          <a:blip r:embed="rId4"/>
          <a:srcRect/>
          <a:stretch>
            <a:fillRect/>
          </a:stretch>
        </p:blipFill>
        <p:spPr bwMode="auto">
          <a:xfrm>
            <a:off x="6200775" y="4848225"/>
            <a:ext cx="993775" cy="1401763"/>
          </a:xfrm>
          <a:prstGeom prst="rect">
            <a:avLst/>
          </a:prstGeom>
          <a:noFill/>
        </p:spPr>
      </p:pic>
      <p:sp>
        <p:nvSpPr>
          <p:cNvPr id="501843" name="AutoShape-83"/>
          <p:cNvSpPr>
            <a:spLocks noChangeArrowheads="1"/>
          </p:cNvSpPr>
          <p:nvPr/>
        </p:nvSpPr>
        <p:spPr bwMode="auto">
          <a:xfrm>
            <a:off x="324091" y="2068513"/>
            <a:ext cx="3610872" cy="222408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75000"/>
              </a:lnSpc>
              <a:spcBef>
                <a:spcPct val="40000"/>
              </a:spcBef>
              <a:buSzPct val="80000"/>
              <a:buFontTx/>
              <a:buBlip>
                <a:blip r:embed="rId5"/>
              </a:buBlip>
            </a:pPr>
            <a:r>
              <a:rPr lang="fr-FR" altLang="zh-CN" sz="2400" dirty="0">
                <a:cs typeface="Times New Roman" charset="0"/>
              </a:rPr>
              <a:t>Contrôle total</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5000"/>
              </a:lnSpc>
              <a:spcBef>
                <a:spcPct val="40000"/>
              </a:spcBef>
              <a:buSzPct val="80000"/>
              <a:buFontTx/>
              <a:buBlip>
                <a:blip r:embed="rId5"/>
              </a:buBlip>
            </a:pPr>
            <a:r>
              <a:rPr lang="fr-FR" altLang="zh-CN" sz="2400" dirty="0">
                <a:cs typeface="Times New Roman" charset="0"/>
              </a:rPr>
              <a:t>Modification</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5000"/>
              </a:lnSpc>
              <a:spcBef>
                <a:spcPct val="40000"/>
              </a:spcBef>
              <a:buSzPct val="80000"/>
              <a:buFontTx/>
              <a:buBlip>
                <a:blip r:embed="rId5"/>
              </a:buBlip>
            </a:pPr>
            <a:r>
              <a:rPr lang="fr-FR" altLang="zh-CN" sz="2400" dirty="0">
                <a:cs typeface="Times New Roman" charset="0"/>
              </a:rPr>
              <a:t>Lecture et exécution</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5000"/>
              </a:lnSpc>
              <a:spcBef>
                <a:spcPct val="40000"/>
              </a:spcBef>
              <a:buSzPct val="80000"/>
              <a:buFontTx/>
              <a:buBlip>
                <a:blip r:embed="rId5"/>
              </a:buBlip>
            </a:pPr>
            <a:r>
              <a:rPr lang="fr-FR" altLang="zh-CN" sz="2400" dirty="0">
                <a:cs typeface="Times New Roman" charset="0"/>
              </a:rPr>
              <a:t>Écriture</a:t>
            </a:r>
            <a:r>
              <a:rPr lang="en-IE" altLang="zh-CN" sz="2400" dirty="0">
                <a:cs typeface="Times New Roman" charset="0"/>
              </a:rPr>
              <a:t> </a:t>
            </a:r>
            <a:endParaRPr lang="en-US" sz="2400" dirty="0">
              <a:solidFill>
                <a:schemeClr val="tx1"/>
              </a:solidFill>
              <a:cs typeface="Times New Roman" charset="0"/>
            </a:endParaRPr>
          </a:p>
          <a:p>
            <a:pPr marL="225425" indent="-225425" algn="l">
              <a:lnSpc>
                <a:spcPct val="75000"/>
              </a:lnSpc>
              <a:spcBef>
                <a:spcPct val="40000"/>
              </a:spcBef>
              <a:buSzPct val="80000"/>
              <a:buFontTx/>
              <a:buBlip>
                <a:blip r:embed="rId5"/>
              </a:buBlip>
            </a:pPr>
            <a:r>
              <a:rPr lang="fr-FR" altLang="zh-CN" sz="2400" dirty="0">
                <a:cs typeface="Times New Roman" charset="0"/>
              </a:rPr>
              <a:t>Lecture</a:t>
            </a:r>
            <a:r>
              <a:rPr lang="en-IE" altLang="zh-CN" sz="2400" dirty="0">
                <a:cs typeface="Times New Roman" charset="0"/>
              </a:rPr>
              <a:t> </a:t>
            </a:r>
            <a:endParaRPr lang="en-US" sz="2400" dirty="0">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01842"/>
                                        </p:tgtEl>
                                        <p:attrNameLst>
                                          <p:attrName>style.visibility</p:attrName>
                                        </p:attrNameLst>
                                      </p:cBhvr>
                                      <p:to>
                                        <p:strVal val="visible"/>
                                      </p:to>
                                    </p:set>
                                    <p:animEffect transition="in" filter="checkerboard(across)">
                                      <p:cBhvr>
                                        <p:cTn id="7" dur="1000"/>
                                        <p:tgtEl>
                                          <p:spTgt spid="501842"/>
                                        </p:tgtEl>
                                      </p:cBhvr>
                                    </p:animEffect>
                                  </p:childTnLst>
                                </p:cTn>
                              </p:par>
                              <p:par>
                                <p:cTn id="8" presetID="5" presetClass="entr" presetSubtype="10" fill="hold" nodeType="withEffect">
                                  <p:stCondLst>
                                    <p:cond delay="0"/>
                                  </p:stCondLst>
                                  <p:childTnLst>
                                    <p:set>
                                      <p:cBhvr>
                                        <p:cTn id="9" dur="1" fill="hold">
                                          <p:stCondLst>
                                            <p:cond delay="0"/>
                                          </p:stCondLst>
                                        </p:cTn>
                                        <p:tgtEl>
                                          <p:spTgt spid="501845"/>
                                        </p:tgtEl>
                                        <p:attrNameLst>
                                          <p:attrName>style.visibility</p:attrName>
                                        </p:attrNameLst>
                                      </p:cBhvr>
                                      <p:to>
                                        <p:strVal val="visible"/>
                                      </p:to>
                                    </p:set>
                                    <p:animEffect transition="in" filter="checkerboard(across)">
                                      <p:cBhvr>
                                        <p:cTn id="10" dur="1000"/>
                                        <p:tgtEl>
                                          <p:spTgt spid="501845"/>
                                        </p:tgtEl>
                                      </p:cBhvr>
                                    </p:animEffect>
                                  </p:childTnLst>
                                </p:cTn>
                              </p:par>
                              <p:par>
                                <p:cTn id="11" presetID="5" presetClass="entr" presetSubtype="10" fill="hold" nodeType="withEffect">
                                  <p:stCondLst>
                                    <p:cond delay="0"/>
                                  </p:stCondLst>
                                  <p:childTnLst>
                                    <p:set>
                                      <p:cBhvr>
                                        <p:cTn id="12" dur="1" fill="hold">
                                          <p:stCondLst>
                                            <p:cond delay="0"/>
                                          </p:stCondLst>
                                        </p:cTn>
                                        <p:tgtEl>
                                          <p:spTgt spid="501847"/>
                                        </p:tgtEl>
                                        <p:attrNameLst>
                                          <p:attrName>style.visibility</p:attrName>
                                        </p:attrNameLst>
                                      </p:cBhvr>
                                      <p:to>
                                        <p:strVal val="visible"/>
                                      </p:to>
                                    </p:set>
                                    <p:animEffect transition="in" filter="checkerboard(across)">
                                      <p:cBhvr>
                                        <p:cTn id="13" dur="1000"/>
                                        <p:tgtEl>
                                          <p:spTgt spid="501847"/>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01843"/>
                                        </p:tgtEl>
                                        <p:attrNameLst>
                                          <p:attrName>style.visibility</p:attrName>
                                        </p:attrNameLst>
                                      </p:cBhvr>
                                      <p:to>
                                        <p:strVal val="visible"/>
                                      </p:to>
                                    </p:set>
                                    <p:animEffect transition="in" filter="checkerboard(across)">
                                      <p:cBhvr>
                                        <p:cTn id="16" dur="1000"/>
                                        <p:tgtEl>
                                          <p:spTgt spid="501843"/>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501848"/>
                                        </p:tgtEl>
                                        <p:attrNameLst>
                                          <p:attrName>style.visibility</p:attrName>
                                        </p:attrNameLst>
                                      </p:cBhvr>
                                      <p:to>
                                        <p:strVal val="visible"/>
                                      </p:to>
                                    </p:set>
                                    <p:animEffect transition="in" filter="checkerboard(across)">
                                      <p:cBhvr>
                                        <p:cTn id="21" dur="500"/>
                                        <p:tgtEl>
                                          <p:spTgt spid="501848"/>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501849"/>
                                        </p:tgtEl>
                                        <p:attrNameLst>
                                          <p:attrName>style.visibility</p:attrName>
                                        </p:attrNameLst>
                                      </p:cBhvr>
                                      <p:to>
                                        <p:strVal val="visible"/>
                                      </p:to>
                                    </p:set>
                                    <p:animEffect transition="in" filter="checkerboard(across)">
                                      <p:cBhvr>
                                        <p:cTn id="24" dur="500"/>
                                        <p:tgtEl>
                                          <p:spTgt spid="501849"/>
                                        </p:tgtEl>
                                      </p:cBhvr>
                                    </p:animEffect>
                                  </p:childTnLst>
                                </p:cTn>
                              </p:par>
                              <p:par>
                                <p:cTn id="25" presetID="5" presetClass="entr" presetSubtype="10" fill="hold" nodeType="withEffect">
                                  <p:stCondLst>
                                    <p:cond delay="0"/>
                                  </p:stCondLst>
                                  <p:childTnLst>
                                    <p:set>
                                      <p:cBhvr>
                                        <p:cTn id="26" dur="1" fill="hold">
                                          <p:stCondLst>
                                            <p:cond delay="0"/>
                                          </p:stCondLst>
                                        </p:cTn>
                                        <p:tgtEl>
                                          <p:spTgt spid="501846"/>
                                        </p:tgtEl>
                                        <p:attrNameLst>
                                          <p:attrName>style.visibility</p:attrName>
                                        </p:attrNameLst>
                                      </p:cBhvr>
                                      <p:to>
                                        <p:strVal val="visible"/>
                                      </p:to>
                                    </p:set>
                                    <p:animEffect transition="in" filter="checkerboard(across)">
                                      <p:cBhvr>
                                        <p:cTn id="27" dur="500"/>
                                        <p:tgtEl>
                                          <p:spTgt spid="501846"/>
                                        </p:tgtEl>
                                      </p:cBhvr>
                                    </p:animEffect>
                                  </p:childTnLst>
                                </p:cTn>
                              </p:par>
                              <p:par>
                                <p:cTn id="28" presetID="5" presetClass="entr" presetSubtype="10" fill="hold" nodeType="withEffect">
                                  <p:stCondLst>
                                    <p:cond delay="0"/>
                                  </p:stCondLst>
                                  <p:childTnLst>
                                    <p:set>
                                      <p:cBhvr>
                                        <p:cTn id="29" dur="1" fill="hold">
                                          <p:stCondLst>
                                            <p:cond delay="0"/>
                                          </p:stCondLst>
                                        </p:cTn>
                                        <p:tgtEl>
                                          <p:spTgt spid="501850"/>
                                        </p:tgtEl>
                                        <p:attrNameLst>
                                          <p:attrName>style.visibility</p:attrName>
                                        </p:attrNameLst>
                                      </p:cBhvr>
                                      <p:to>
                                        <p:strVal val="visible"/>
                                      </p:to>
                                    </p:set>
                                    <p:animEffect transition="in" filter="checkerboard(across)">
                                      <p:cBhvr>
                                        <p:cTn id="30" dur="500"/>
                                        <p:tgtEl>
                                          <p:spTgt spid="501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2" grpId="0" animBg="1"/>
      <p:bldP spid="501848" grpId="0" animBg="1"/>
      <p:bldP spid="501849" grpId="0" animBg="1"/>
      <p:bldP spid="50184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2"/>
          <p:cNvSpPr>
            <a:spLocks noGrp="1" noChangeArrowheads="1"/>
          </p:cNvSpPr>
          <p:nvPr>
            <p:ph type="title"/>
          </p:nvPr>
        </p:nvSpPr>
        <p:spPr>
          <a:xfrm>
            <a:off x="162046" y="534981"/>
            <a:ext cx="8981954" cy="758952"/>
          </a:xfrm>
          <a:solidFill>
            <a:schemeClr val="bg1"/>
          </a:solidFill>
        </p:spPr>
        <p:txBody>
          <a:bodyPr>
            <a:normAutofit fontScale="90000"/>
          </a:bodyPr>
          <a:lstStyle/>
          <a:p>
            <a:r>
              <a:rPr lang="fr-FR" altLang="zh-CN" b="1" dirty="0">
                <a:solidFill>
                  <a:srgbClr val="C00000"/>
                </a:solidFill>
                <a:ea typeface="SimSun" pitchFamily="2" charset="-122"/>
                <a:cs typeface="Times New Roman" charset="0"/>
              </a:rPr>
              <a:t>Les autorisations standard </a:t>
            </a:r>
            <a:br>
              <a:rPr lang="fr-FR" altLang="zh-CN" b="1" dirty="0">
                <a:solidFill>
                  <a:srgbClr val="C00000"/>
                </a:solidFill>
                <a:ea typeface="SimSun" pitchFamily="2" charset="-122"/>
                <a:cs typeface="Times New Roman" charset="0"/>
              </a:rPr>
            </a:br>
            <a:r>
              <a:rPr lang="fr-FR" altLang="zh-CN" b="1" dirty="0">
                <a:solidFill>
                  <a:srgbClr val="C00000"/>
                </a:solidFill>
                <a:ea typeface="SimSun" pitchFamily="2" charset="-122"/>
                <a:cs typeface="Times New Roman" charset="0"/>
              </a:rPr>
              <a:t>et spéciales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pic>
        <p:nvPicPr>
          <p:cNvPr id="547866" name="Picture 26" descr="2144A0406a"/>
          <p:cNvPicPr>
            <a:picLocks noGrp="1" noChangeAspect="1" noChangeArrowheads="1"/>
          </p:cNvPicPr>
          <p:nvPr>
            <p:ph sz="half" idx="1"/>
          </p:nvPr>
        </p:nvPicPr>
        <p:blipFill>
          <a:blip r:embed="rId3"/>
          <a:srcRect/>
          <a:stretch>
            <a:fillRect/>
          </a:stretch>
        </p:blipFill>
        <p:spPr>
          <a:xfrm>
            <a:off x="115742" y="1597298"/>
            <a:ext cx="4475377" cy="4700427"/>
          </a:xfrm>
          <a:noFill/>
          <a:ln/>
        </p:spPr>
      </p:pic>
      <p:pic>
        <p:nvPicPr>
          <p:cNvPr id="547868" name="Picture 28" descr="2144A0406b"/>
          <p:cNvPicPr>
            <a:picLocks noGrp="1" noChangeAspect="1" noChangeArrowheads="1"/>
          </p:cNvPicPr>
          <p:nvPr>
            <p:ph sz="half" idx="2"/>
          </p:nvPr>
        </p:nvPicPr>
        <p:blipFill>
          <a:blip r:embed="rId4"/>
          <a:stretch>
            <a:fillRect/>
          </a:stretch>
        </p:blipFill>
        <p:spPr>
          <a:xfrm>
            <a:off x="4861362" y="1612099"/>
            <a:ext cx="3903384" cy="4626656"/>
          </a:xfrm>
          <a:noFill/>
          <a:ln/>
        </p:spPr>
      </p:pic>
      <p:sp>
        <p:nvSpPr>
          <p:cNvPr id="547854" name="Text-Box-14"/>
          <p:cNvSpPr txBox="1">
            <a:spLocks noChangeArrowheads="1"/>
          </p:cNvSpPr>
          <p:nvPr/>
        </p:nvSpPr>
        <p:spPr bwMode="auto">
          <a:xfrm>
            <a:off x="781634" y="1204450"/>
            <a:ext cx="3018776" cy="461665"/>
          </a:xfrm>
          <a:prstGeom prst="rect">
            <a:avLst/>
          </a:prstGeom>
          <a:noFill/>
          <a:ln w="9525" algn="ctr">
            <a:noFill/>
            <a:miter lim="800000"/>
            <a:headEnd/>
            <a:tailEnd/>
          </a:ln>
          <a:effectLst/>
        </p:spPr>
        <p:txBody>
          <a:bodyPr wrap="none">
            <a:spAutoFit/>
          </a:bodyPr>
          <a:lstStyle/>
          <a:p>
            <a:pPr>
              <a:lnSpc>
                <a:spcPct val="100000"/>
              </a:lnSpc>
            </a:pPr>
            <a:r>
              <a:rPr lang="fr-FR" altLang="zh-CN" sz="2400" dirty="0">
                <a:cs typeface="Times New Roman" charset="0"/>
              </a:rPr>
              <a:t>Autorisations standard</a:t>
            </a:r>
            <a:r>
              <a:rPr lang="en-IE" altLang="zh-CN" sz="2400" dirty="0">
                <a:cs typeface="Times New Roman" charset="0"/>
              </a:rPr>
              <a:t> </a:t>
            </a:r>
            <a:endParaRPr lang="en-US" sz="2400" dirty="0">
              <a:cs typeface="Times New Roman" charset="0"/>
            </a:endParaRPr>
          </a:p>
        </p:txBody>
      </p:sp>
      <p:sp>
        <p:nvSpPr>
          <p:cNvPr id="547855" name="Text-Box-15"/>
          <p:cNvSpPr txBox="1">
            <a:spLocks noChangeArrowheads="1"/>
          </p:cNvSpPr>
          <p:nvPr/>
        </p:nvSpPr>
        <p:spPr bwMode="auto">
          <a:xfrm>
            <a:off x="5254545" y="1216025"/>
            <a:ext cx="3094117" cy="461665"/>
          </a:xfrm>
          <a:prstGeom prst="rect">
            <a:avLst/>
          </a:prstGeom>
          <a:noFill/>
          <a:ln w="9525" algn="ctr">
            <a:noFill/>
            <a:miter lim="800000"/>
            <a:headEnd/>
            <a:tailEnd/>
          </a:ln>
          <a:effectLst/>
        </p:spPr>
        <p:txBody>
          <a:bodyPr wrap="none">
            <a:spAutoFit/>
          </a:bodyPr>
          <a:lstStyle/>
          <a:p>
            <a:pPr>
              <a:lnSpc>
                <a:spcPct val="100000"/>
              </a:lnSpc>
            </a:pPr>
            <a:r>
              <a:rPr lang="fr-FR" altLang="zh-CN" sz="2400" dirty="0">
                <a:cs typeface="Times New Roman" charset="0"/>
              </a:rPr>
              <a:t>Autorisations spéciales</a:t>
            </a:r>
            <a:r>
              <a:rPr lang="en-IE" altLang="zh-CN" sz="2400" dirty="0">
                <a:cs typeface="Times New Roman" charset="0"/>
              </a:rPr>
              <a:t> </a:t>
            </a:r>
            <a:endParaRPr lang="en-US" sz="2400" dirty="0">
              <a:cs typeface="Times New Roman" charset="0"/>
            </a:endParaRPr>
          </a:p>
        </p:txBody>
      </p:sp>
      <p:sp>
        <p:nvSpPr>
          <p:cNvPr id="547856" name="Freeform-16"/>
          <p:cNvSpPr>
            <a:spLocks/>
          </p:cNvSpPr>
          <p:nvPr/>
        </p:nvSpPr>
        <p:spPr bwMode="auto">
          <a:xfrm rot="5096975" flipH="1" flipV="1">
            <a:off x="2913856" y="3023394"/>
            <a:ext cx="2516188" cy="1485900"/>
          </a:xfrm>
          <a:custGeom>
            <a:avLst/>
            <a:gdLst/>
            <a:ahLst/>
            <a:cxnLst>
              <a:cxn ang="0">
                <a:pos x="13" y="26"/>
              </a:cxn>
              <a:cxn ang="0">
                <a:pos x="55" y="14"/>
              </a:cxn>
              <a:cxn ang="0">
                <a:pos x="98" y="7"/>
              </a:cxn>
              <a:cxn ang="0">
                <a:pos x="144" y="1"/>
              </a:cxn>
              <a:cxn ang="0">
                <a:pos x="176" y="0"/>
              </a:cxn>
              <a:cxn ang="0">
                <a:pos x="242" y="1"/>
              </a:cxn>
              <a:cxn ang="0">
                <a:pos x="310" y="5"/>
              </a:cxn>
              <a:cxn ang="0">
                <a:pos x="379" y="16"/>
              </a:cxn>
              <a:cxn ang="0">
                <a:pos x="450" y="30"/>
              </a:cxn>
              <a:cxn ang="0">
                <a:pos x="487" y="39"/>
              </a:cxn>
              <a:cxn ang="0">
                <a:pos x="558" y="59"/>
              </a:cxn>
              <a:cxn ang="0">
                <a:pos x="629" y="82"/>
              </a:cxn>
              <a:cxn ang="0">
                <a:pos x="697" y="108"/>
              </a:cxn>
              <a:cxn ang="0">
                <a:pos x="765" y="136"/>
              </a:cxn>
              <a:cxn ang="0">
                <a:pos x="830" y="168"/>
              </a:cxn>
              <a:cxn ang="0">
                <a:pos x="891" y="200"/>
              </a:cxn>
              <a:cxn ang="0">
                <a:pos x="949" y="234"/>
              </a:cxn>
              <a:cxn ang="0">
                <a:pos x="1001" y="271"/>
              </a:cxn>
              <a:cxn ang="0">
                <a:pos x="1029" y="279"/>
              </a:cxn>
              <a:cxn ang="0">
                <a:pos x="1047" y="232"/>
              </a:cxn>
              <a:cxn ang="0">
                <a:pos x="1181" y="443"/>
              </a:cxn>
              <a:cxn ang="0">
                <a:pos x="1162" y="469"/>
              </a:cxn>
              <a:cxn ang="0">
                <a:pos x="968" y="413"/>
              </a:cxn>
              <a:cxn ang="0">
                <a:pos x="950" y="379"/>
              </a:cxn>
              <a:cxn ang="0">
                <a:pos x="972" y="363"/>
              </a:cxn>
              <a:cxn ang="0">
                <a:pos x="955" y="347"/>
              </a:cxn>
              <a:cxn ang="0">
                <a:pos x="897" y="303"/>
              </a:cxn>
              <a:cxn ang="0">
                <a:pos x="858" y="275"/>
              </a:cxn>
              <a:cxn ang="0">
                <a:pos x="787" y="229"/>
              </a:cxn>
              <a:cxn ang="0">
                <a:pos x="731" y="195"/>
              </a:cxn>
              <a:cxn ang="0">
                <a:pos x="671" y="163"/>
              </a:cxn>
              <a:cxn ang="0">
                <a:pos x="605" y="133"/>
              </a:cxn>
              <a:cxn ang="0">
                <a:pos x="534" y="104"/>
              </a:cxn>
              <a:cxn ang="0">
                <a:pos x="460" y="78"/>
              </a:cxn>
              <a:cxn ang="0">
                <a:pos x="384" y="55"/>
              </a:cxn>
              <a:cxn ang="0">
                <a:pos x="302" y="37"/>
              </a:cxn>
              <a:cxn ang="0">
                <a:pos x="260" y="31"/>
              </a:cxn>
              <a:cxn ang="0">
                <a:pos x="218" y="27"/>
              </a:cxn>
              <a:cxn ang="0">
                <a:pos x="131" y="23"/>
              </a:cxn>
              <a:cxn ang="0">
                <a:pos x="88" y="23"/>
              </a:cxn>
              <a:cxn ang="0">
                <a:pos x="44" y="26"/>
              </a:cxn>
              <a:cxn ang="0">
                <a:pos x="0" y="30"/>
              </a:cxn>
            </a:cxnLst>
            <a:rect l="0" t="0" r="r" b="b"/>
            <a:pathLst>
              <a:path w="1205" h="482">
                <a:moveTo>
                  <a:pt x="0" y="30"/>
                </a:moveTo>
                <a:lnTo>
                  <a:pt x="13" y="26"/>
                </a:lnTo>
                <a:lnTo>
                  <a:pt x="26" y="21"/>
                </a:lnTo>
                <a:lnTo>
                  <a:pt x="55" y="14"/>
                </a:lnTo>
                <a:lnTo>
                  <a:pt x="84" y="8"/>
                </a:lnTo>
                <a:lnTo>
                  <a:pt x="98" y="7"/>
                </a:lnTo>
                <a:lnTo>
                  <a:pt x="113" y="4"/>
                </a:lnTo>
                <a:lnTo>
                  <a:pt x="144" y="1"/>
                </a:lnTo>
                <a:lnTo>
                  <a:pt x="160" y="1"/>
                </a:lnTo>
                <a:lnTo>
                  <a:pt x="176" y="0"/>
                </a:lnTo>
                <a:lnTo>
                  <a:pt x="208" y="0"/>
                </a:lnTo>
                <a:lnTo>
                  <a:pt x="242" y="1"/>
                </a:lnTo>
                <a:lnTo>
                  <a:pt x="275" y="2"/>
                </a:lnTo>
                <a:lnTo>
                  <a:pt x="310" y="5"/>
                </a:lnTo>
                <a:lnTo>
                  <a:pt x="344" y="11"/>
                </a:lnTo>
                <a:lnTo>
                  <a:pt x="379" y="16"/>
                </a:lnTo>
                <a:lnTo>
                  <a:pt x="416" y="23"/>
                </a:lnTo>
                <a:lnTo>
                  <a:pt x="450" y="30"/>
                </a:lnTo>
                <a:lnTo>
                  <a:pt x="469" y="34"/>
                </a:lnTo>
                <a:lnTo>
                  <a:pt x="487" y="39"/>
                </a:lnTo>
                <a:lnTo>
                  <a:pt x="521" y="49"/>
                </a:lnTo>
                <a:lnTo>
                  <a:pt x="558" y="59"/>
                </a:lnTo>
                <a:lnTo>
                  <a:pt x="592" y="69"/>
                </a:lnTo>
                <a:lnTo>
                  <a:pt x="629" y="82"/>
                </a:lnTo>
                <a:lnTo>
                  <a:pt x="663" y="94"/>
                </a:lnTo>
                <a:lnTo>
                  <a:pt x="697" y="108"/>
                </a:lnTo>
                <a:lnTo>
                  <a:pt x="731" y="121"/>
                </a:lnTo>
                <a:lnTo>
                  <a:pt x="765" y="136"/>
                </a:lnTo>
                <a:lnTo>
                  <a:pt x="798" y="152"/>
                </a:lnTo>
                <a:lnTo>
                  <a:pt x="830" y="168"/>
                </a:lnTo>
                <a:lnTo>
                  <a:pt x="860" y="184"/>
                </a:lnTo>
                <a:lnTo>
                  <a:pt x="891" y="200"/>
                </a:lnTo>
                <a:lnTo>
                  <a:pt x="920" y="217"/>
                </a:lnTo>
                <a:lnTo>
                  <a:pt x="949" y="234"/>
                </a:lnTo>
                <a:lnTo>
                  <a:pt x="975" y="252"/>
                </a:lnTo>
                <a:lnTo>
                  <a:pt x="1001" y="271"/>
                </a:lnTo>
                <a:lnTo>
                  <a:pt x="1026" y="288"/>
                </a:lnTo>
                <a:lnTo>
                  <a:pt x="1029" y="279"/>
                </a:lnTo>
                <a:lnTo>
                  <a:pt x="1036" y="259"/>
                </a:lnTo>
                <a:lnTo>
                  <a:pt x="1047" y="232"/>
                </a:lnTo>
                <a:lnTo>
                  <a:pt x="1127" y="358"/>
                </a:lnTo>
                <a:lnTo>
                  <a:pt x="1181" y="443"/>
                </a:lnTo>
                <a:lnTo>
                  <a:pt x="1205" y="482"/>
                </a:lnTo>
                <a:lnTo>
                  <a:pt x="1162" y="469"/>
                </a:lnTo>
                <a:lnTo>
                  <a:pt x="1065" y="442"/>
                </a:lnTo>
                <a:lnTo>
                  <a:pt x="968" y="413"/>
                </a:lnTo>
                <a:lnTo>
                  <a:pt x="923" y="400"/>
                </a:lnTo>
                <a:lnTo>
                  <a:pt x="950" y="379"/>
                </a:lnTo>
                <a:lnTo>
                  <a:pt x="966" y="369"/>
                </a:lnTo>
                <a:lnTo>
                  <a:pt x="972" y="363"/>
                </a:lnTo>
                <a:lnTo>
                  <a:pt x="965" y="356"/>
                </a:lnTo>
                <a:lnTo>
                  <a:pt x="955" y="347"/>
                </a:lnTo>
                <a:lnTo>
                  <a:pt x="930" y="327"/>
                </a:lnTo>
                <a:lnTo>
                  <a:pt x="897" y="303"/>
                </a:lnTo>
                <a:lnTo>
                  <a:pt x="878" y="289"/>
                </a:lnTo>
                <a:lnTo>
                  <a:pt x="858" y="275"/>
                </a:lnTo>
                <a:lnTo>
                  <a:pt x="811" y="243"/>
                </a:lnTo>
                <a:lnTo>
                  <a:pt x="787" y="229"/>
                </a:lnTo>
                <a:lnTo>
                  <a:pt x="759" y="211"/>
                </a:lnTo>
                <a:lnTo>
                  <a:pt x="731" y="195"/>
                </a:lnTo>
                <a:lnTo>
                  <a:pt x="701" y="179"/>
                </a:lnTo>
                <a:lnTo>
                  <a:pt x="671" y="163"/>
                </a:lnTo>
                <a:lnTo>
                  <a:pt x="639" y="147"/>
                </a:lnTo>
                <a:lnTo>
                  <a:pt x="605" y="133"/>
                </a:lnTo>
                <a:lnTo>
                  <a:pt x="571" y="117"/>
                </a:lnTo>
                <a:lnTo>
                  <a:pt x="534" y="104"/>
                </a:lnTo>
                <a:lnTo>
                  <a:pt x="498" y="89"/>
                </a:lnTo>
                <a:lnTo>
                  <a:pt x="460" y="78"/>
                </a:lnTo>
                <a:lnTo>
                  <a:pt x="423" y="66"/>
                </a:lnTo>
                <a:lnTo>
                  <a:pt x="384" y="55"/>
                </a:lnTo>
                <a:lnTo>
                  <a:pt x="343" y="46"/>
                </a:lnTo>
                <a:lnTo>
                  <a:pt x="302" y="37"/>
                </a:lnTo>
                <a:lnTo>
                  <a:pt x="281" y="34"/>
                </a:lnTo>
                <a:lnTo>
                  <a:pt x="260" y="31"/>
                </a:lnTo>
                <a:lnTo>
                  <a:pt x="239" y="29"/>
                </a:lnTo>
                <a:lnTo>
                  <a:pt x="218" y="27"/>
                </a:lnTo>
                <a:lnTo>
                  <a:pt x="175" y="24"/>
                </a:lnTo>
                <a:lnTo>
                  <a:pt x="131" y="23"/>
                </a:lnTo>
                <a:lnTo>
                  <a:pt x="110" y="23"/>
                </a:lnTo>
                <a:lnTo>
                  <a:pt x="88" y="23"/>
                </a:lnTo>
                <a:lnTo>
                  <a:pt x="66" y="24"/>
                </a:lnTo>
                <a:lnTo>
                  <a:pt x="44" y="26"/>
                </a:lnTo>
                <a:lnTo>
                  <a:pt x="21" y="27"/>
                </a:lnTo>
                <a:lnTo>
                  <a:pt x="0" y="30"/>
                </a:lnTo>
                <a:close/>
              </a:path>
            </a:pathLst>
          </a:custGeom>
          <a:solidFill>
            <a:srgbClr val="FF0000">
              <a:alpha val="75000"/>
            </a:srgbClr>
          </a:solidFill>
          <a:ln w="9525">
            <a:noFill/>
            <a:round/>
            <a:headEnd/>
            <a:tailEnd/>
          </a:ln>
        </p:spPr>
        <p:txBody>
          <a:bodyPr/>
          <a:lstStyle/>
          <a:p>
            <a:endParaRPr lang="fr-FR"/>
          </a:p>
        </p:txBody>
      </p:sp>
      <p:sp>
        <p:nvSpPr>
          <p:cNvPr id="8" name="Text-Box-14"/>
          <p:cNvSpPr txBox="1">
            <a:spLocks noChangeArrowheads="1"/>
          </p:cNvSpPr>
          <p:nvPr/>
        </p:nvSpPr>
        <p:spPr bwMode="auto">
          <a:xfrm>
            <a:off x="1072948" y="6252941"/>
            <a:ext cx="2124299" cy="461665"/>
          </a:xfrm>
          <a:prstGeom prst="rect">
            <a:avLst/>
          </a:prstGeom>
          <a:solidFill>
            <a:schemeClr val="bg1">
              <a:lumMod val="95000"/>
            </a:schemeClr>
          </a:solidFill>
          <a:ln w="9525" algn="ctr">
            <a:noFill/>
            <a:miter lim="800000"/>
            <a:headEnd/>
            <a:tailEnd/>
          </a:ln>
          <a:effectLst/>
        </p:spPr>
        <p:txBody>
          <a:bodyPr wrap="none">
            <a:spAutoFit/>
          </a:bodyPr>
          <a:lstStyle/>
          <a:p>
            <a:pPr>
              <a:lnSpc>
                <a:spcPct val="100000"/>
              </a:lnSpc>
            </a:pPr>
            <a:r>
              <a:rPr lang="fr-FR" altLang="zh-CN" sz="2400" dirty="0">
                <a:solidFill>
                  <a:srgbClr val="C00000"/>
                </a:solidFill>
                <a:cs typeface="Times New Roman" charset="0"/>
              </a:rPr>
              <a:t>Actions de base</a:t>
            </a:r>
            <a:endParaRPr lang="en-US" sz="2400" dirty="0">
              <a:solidFill>
                <a:srgbClr val="C00000"/>
              </a:solidFill>
              <a:cs typeface="Times New Roman" charset="0"/>
            </a:endParaRPr>
          </a:p>
        </p:txBody>
      </p:sp>
      <p:sp>
        <p:nvSpPr>
          <p:cNvPr id="9" name="Text-Box-14"/>
          <p:cNvSpPr txBox="1">
            <a:spLocks noChangeArrowheads="1"/>
          </p:cNvSpPr>
          <p:nvPr/>
        </p:nvSpPr>
        <p:spPr bwMode="auto">
          <a:xfrm>
            <a:off x="5670019" y="6199560"/>
            <a:ext cx="2799164" cy="461665"/>
          </a:xfrm>
          <a:prstGeom prst="rect">
            <a:avLst/>
          </a:prstGeom>
          <a:solidFill>
            <a:schemeClr val="bg1">
              <a:lumMod val="95000"/>
            </a:schemeClr>
          </a:solidFill>
          <a:ln w="9525" algn="ctr">
            <a:noFill/>
            <a:miter lim="800000"/>
            <a:headEnd/>
            <a:tailEnd/>
          </a:ln>
          <a:effectLst/>
        </p:spPr>
        <p:txBody>
          <a:bodyPr wrap="none">
            <a:spAutoFit/>
          </a:bodyPr>
          <a:lstStyle/>
          <a:p>
            <a:pPr>
              <a:lnSpc>
                <a:spcPct val="100000"/>
              </a:lnSpc>
            </a:pPr>
            <a:r>
              <a:rPr lang="fr-FR" altLang="zh-CN" sz="2400" dirty="0">
                <a:solidFill>
                  <a:srgbClr val="C00000"/>
                </a:solidFill>
                <a:cs typeface="Times New Roman" charset="0"/>
              </a:rPr>
              <a:t>Actions plus précises</a:t>
            </a:r>
            <a:endParaRPr lang="en-US" sz="2400" dirty="0">
              <a:solidFill>
                <a:srgbClr val="C00000"/>
              </a:solidFill>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47856"/>
                                        </p:tgtEl>
                                        <p:attrNameLst>
                                          <p:attrName>style.visibility</p:attrName>
                                        </p:attrNameLst>
                                      </p:cBhvr>
                                      <p:to>
                                        <p:strVal val="visible"/>
                                      </p:to>
                                    </p:set>
                                    <p:animEffect transition="in" filter="checkerboard(across)">
                                      <p:cBhvr>
                                        <p:cTn id="7" dur="1000"/>
                                        <p:tgtEl>
                                          <p:spTgt spid="547856"/>
                                        </p:tgtEl>
                                      </p:cBhvr>
                                    </p:animEffect>
                                  </p:childTnLst>
                                </p:cTn>
                              </p:par>
                              <p:par>
                                <p:cTn id="8" presetID="5" presetClass="entr" presetSubtype="10" fill="hold" nodeType="withEffect">
                                  <p:stCondLst>
                                    <p:cond delay="0"/>
                                  </p:stCondLst>
                                  <p:childTnLst>
                                    <p:set>
                                      <p:cBhvr>
                                        <p:cTn id="9" dur="1" fill="hold">
                                          <p:stCondLst>
                                            <p:cond delay="0"/>
                                          </p:stCondLst>
                                        </p:cTn>
                                        <p:tgtEl>
                                          <p:spTgt spid="547855"/>
                                        </p:tgtEl>
                                        <p:attrNameLst>
                                          <p:attrName>style.visibility</p:attrName>
                                        </p:attrNameLst>
                                      </p:cBhvr>
                                      <p:to>
                                        <p:strVal val="visible"/>
                                      </p:to>
                                    </p:set>
                                    <p:animEffect transition="in" filter="checkerboard(across)">
                                      <p:cBhvr>
                                        <p:cTn id="10" dur="1000"/>
                                        <p:tgtEl>
                                          <p:spTgt spid="547855"/>
                                        </p:tgtEl>
                                      </p:cBhvr>
                                    </p:animEffect>
                                  </p:childTnLst>
                                </p:cTn>
                              </p:par>
                              <p:par>
                                <p:cTn id="11" presetID="5" presetClass="entr" presetSubtype="10" fill="hold" nodeType="withEffect">
                                  <p:stCondLst>
                                    <p:cond delay="0"/>
                                  </p:stCondLst>
                                  <p:childTnLst>
                                    <p:set>
                                      <p:cBhvr>
                                        <p:cTn id="12" dur="1" fill="hold">
                                          <p:stCondLst>
                                            <p:cond delay="0"/>
                                          </p:stCondLst>
                                        </p:cTn>
                                        <p:tgtEl>
                                          <p:spTgt spid="547868"/>
                                        </p:tgtEl>
                                        <p:attrNameLst>
                                          <p:attrName>style.visibility</p:attrName>
                                        </p:attrNameLst>
                                      </p:cBhvr>
                                      <p:to>
                                        <p:strVal val="visible"/>
                                      </p:to>
                                    </p:set>
                                    <p:animEffect transition="in" filter="checkerboard(across)">
                                      <p:cBhvr>
                                        <p:cTn id="13" dur="1000"/>
                                        <p:tgtEl>
                                          <p:spTgt spid="547868"/>
                                        </p:tgtEl>
                                      </p:cBhvr>
                                    </p:animEffect>
                                  </p:childTnLst>
                                </p:cTn>
                              </p:par>
                              <p:par>
                                <p:cTn id="14" presetID="5" presetClass="entr" presetSubtype="1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heckerboard(across)">
                                      <p:cBhvr>
                                        <p:cTn id="1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vert="horz" anchor="b">
            <a:normAutofit/>
          </a:bodyPr>
          <a:lstStyle/>
          <a:p>
            <a:r>
              <a:rPr lang="fr-FR" altLang="zh-CN" sz="3000" b="1" dirty="0">
                <a:solidFill>
                  <a:srgbClr val="C00000"/>
                </a:solidFill>
                <a:ea typeface="SimSun" pitchFamily="2" charset="-122"/>
                <a:cs typeface="Times New Roman" charset="0"/>
              </a:rPr>
              <a:t>Questions</a:t>
            </a:r>
          </a:p>
        </p:txBody>
      </p:sp>
      <p:sp>
        <p:nvSpPr>
          <p:cNvPr id="3" name="Espace réservé du contenu 2"/>
          <p:cNvSpPr>
            <a:spLocks noGrp="1"/>
          </p:cNvSpPr>
          <p:nvPr>
            <p:ph sz="quarter" idx="1"/>
          </p:nvPr>
        </p:nvSpPr>
        <p:spPr/>
        <p:txBody>
          <a:bodyPr>
            <a:normAutofit/>
          </a:bodyPr>
          <a:lstStyle/>
          <a:p>
            <a:pPr>
              <a:buNone/>
            </a:pPr>
            <a:r>
              <a:rPr lang="fr-FR" dirty="0"/>
              <a:t>Q1. Devez-vous appliquer des autorisations afin d'empêcher d'autres personnes d'accéder à vos fichiers situés sur Mes documents?</a:t>
            </a:r>
          </a:p>
          <a:p>
            <a:pPr>
              <a:buNone/>
            </a:pPr>
            <a:r>
              <a:rPr lang="fr-FR" dirty="0"/>
              <a:t>Non. Les autorisations NTFS par défaut ne permettent pas aux utilisateurs standard de lire les documents que d'autres utilisateurs ont stockés dans leur dossier Mes documents. </a:t>
            </a:r>
          </a:p>
          <a:p>
            <a:pPr>
              <a:buNone/>
            </a:pPr>
            <a:r>
              <a:rPr lang="fr-FR" dirty="0"/>
              <a:t>Q2. Les administrateurs peuvent-ils accéder à tous les fichiers sur le système?</a:t>
            </a:r>
          </a:p>
          <a:p>
            <a:pPr>
              <a:buNone/>
            </a:pPr>
            <a:r>
              <a:rPr lang="fr-FR" dirty="0"/>
              <a:t>Oui</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2"/>
          <p:cNvSpPr>
            <a:spLocks noGrp="1" noChangeArrowheads="1"/>
          </p:cNvSpPr>
          <p:nvPr>
            <p:ph type="title"/>
          </p:nvPr>
        </p:nvSpPr>
        <p:spPr>
          <a:xfrm>
            <a:off x="0" y="476895"/>
            <a:ext cx="9144000" cy="758952"/>
          </a:xfrm>
        </p:spPr>
        <p:txBody>
          <a:bodyPr>
            <a:noAutofit/>
          </a:bodyPr>
          <a:lstStyle/>
          <a:p>
            <a:r>
              <a:rPr lang="fr-FR" altLang="zh-CN" sz="2800" b="1" dirty="0">
                <a:solidFill>
                  <a:srgbClr val="C00000"/>
                </a:solidFill>
                <a:ea typeface="SimSun" pitchFamily="2" charset="-122"/>
                <a:cs typeface="Times New Roman" charset="0"/>
              </a:rPr>
              <a:t>Impact des autorisations NTFS sur la copie et le déplacement des fichiers et des dossiers</a:t>
            </a:r>
            <a:r>
              <a:rPr lang="en-IE" altLang="zh-CN" sz="2800" b="1" dirty="0">
                <a:solidFill>
                  <a:srgbClr val="C00000"/>
                </a:solidFill>
                <a:ea typeface="SimSun" pitchFamily="2" charset="-122"/>
                <a:cs typeface="Times New Roman" charset="0"/>
              </a:rPr>
              <a:t> </a:t>
            </a:r>
            <a:endParaRPr lang="en-US" sz="2800" b="1" dirty="0">
              <a:solidFill>
                <a:srgbClr val="C00000"/>
              </a:solidFill>
              <a:ea typeface="SimSun" pitchFamily="2" charset="-122"/>
              <a:cs typeface="Times New Roman" charset="0"/>
            </a:endParaRPr>
          </a:p>
        </p:txBody>
      </p:sp>
      <p:sp>
        <p:nvSpPr>
          <p:cNvPr id="621574" name="Rectangle-6"/>
          <p:cNvSpPr>
            <a:spLocks noChangeArrowheads="1"/>
          </p:cNvSpPr>
          <p:nvPr/>
        </p:nvSpPr>
        <p:spPr bwMode="auto">
          <a:xfrm>
            <a:off x="150471" y="3894137"/>
            <a:ext cx="8808334" cy="2778125"/>
          </a:xfrm>
          <a:prstGeom prst="rect">
            <a:avLst/>
          </a:prstGeom>
          <a:solidFill>
            <a:schemeClr val="bg1"/>
          </a:solidFill>
          <a:ln w="9525" algn="ctr">
            <a:noFill/>
            <a:miter lim="800000"/>
            <a:headEnd/>
            <a:tailEnd/>
          </a:ln>
          <a:effectLst/>
        </p:spPr>
        <p:txBody>
          <a:bodyPr lIns="0" tIns="0" rIns="0" bIns="0"/>
          <a:lstStyle/>
          <a:p>
            <a:pPr marL="228600" indent="-228600" algn="l">
              <a:spcBef>
                <a:spcPct val="40000"/>
              </a:spcBef>
              <a:buClr>
                <a:srgbClr val="8DACD0"/>
              </a:buClr>
              <a:buSzPct val="70000"/>
              <a:buFont typeface="Wingdings" charset="2"/>
              <a:buBlip>
                <a:blip r:embed="rId3"/>
              </a:buBlip>
            </a:pPr>
            <a:r>
              <a:rPr lang="fr-FR" altLang="zh-CN" sz="2600" dirty="0">
                <a:cs typeface="Times New Roman" charset="0"/>
              </a:rPr>
              <a:t>Lorsque vous copiez des fichiers et des dossiers, ils héritent des autorisations du dossier de destination</a:t>
            </a:r>
            <a:r>
              <a:rPr lang="en-IE" altLang="zh-CN" sz="2600" dirty="0">
                <a:cs typeface="Times New Roman" charset="0"/>
              </a:rPr>
              <a:t> </a:t>
            </a:r>
            <a:endParaRPr lang="en-US" sz="2600" dirty="0">
              <a:solidFill>
                <a:schemeClr val="tx1"/>
              </a:solidFill>
              <a:cs typeface="Times New Roman" charset="0"/>
            </a:endParaRPr>
          </a:p>
          <a:p>
            <a:pPr marL="228600" indent="-228600" algn="l">
              <a:spcBef>
                <a:spcPct val="40000"/>
              </a:spcBef>
              <a:buClr>
                <a:srgbClr val="8DACD0"/>
              </a:buClr>
              <a:buSzPct val="70000"/>
              <a:buFont typeface="Wingdings" charset="2"/>
              <a:buBlip>
                <a:blip r:embed="rId3"/>
              </a:buBlip>
            </a:pPr>
            <a:r>
              <a:rPr lang="fr-FR" altLang="zh-CN" sz="2600" dirty="0">
                <a:cs typeface="Times New Roman" charset="0"/>
              </a:rPr>
              <a:t>Lorsque vous déplacez des fichiers et des dossiers dans la même partition, ils conservent leurs autorisations</a:t>
            </a:r>
            <a:r>
              <a:rPr lang="en-IE" altLang="zh-CN" sz="2600" dirty="0">
                <a:cs typeface="Times New Roman" charset="0"/>
              </a:rPr>
              <a:t> </a:t>
            </a:r>
            <a:endParaRPr lang="en-US" sz="2600" dirty="0">
              <a:solidFill>
                <a:schemeClr val="tx1"/>
              </a:solidFill>
              <a:cs typeface="Times New Roman" charset="0"/>
            </a:endParaRPr>
          </a:p>
          <a:p>
            <a:pPr marL="228600" indent="-228600" algn="l">
              <a:spcBef>
                <a:spcPct val="40000"/>
              </a:spcBef>
              <a:buClr>
                <a:srgbClr val="8DACD0"/>
              </a:buClr>
              <a:buSzPct val="70000"/>
              <a:buFont typeface="Wingdings" charset="2"/>
              <a:buBlip>
                <a:blip r:embed="rId3"/>
              </a:buBlip>
            </a:pPr>
            <a:r>
              <a:rPr lang="fr-FR" altLang="zh-CN" sz="2600" dirty="0">
                <a:cs typeface="Times New Roman" charset="0"/>
              </a:rPr>
              <a:t>Lorsque vous déplacez des fichiers et des dossiers dans une autre partition, ils héritent des autorisations du dossier de destination</a:t>
            </a:r>
            <a:r>
              <a:rPr lang="en-IE" altLang="zh-CN" sz="2600" dirty="0">
                <a:cs typeface="Times New Roman" charset="0"/>
              </a:rPr>
              <a:t> </a:t>
            </a:r>
            <a:endParaRPr lang="en-US" sz="2600" dirty="0">
              <a:cs typeface="Times New Roman" charset="0"/>
            </a:endParaRPr>
          </a:p>
        </p:txBody>
      </p:sp>
      <p:grpSp>
        <p:nvGrpSpPr>
          <p:cNvPr id="621581" name="Group 13"/>
          <p:cNvGrpSpPr>
            <a:grpSpLocks/>
          </p:cNvGrpSpPr>
          <p:nvPr/>
        </p:nvGrpSpPr>
        <p:grpSpPr bwMode="auto">
          <a:xfrm>
            <a:off x="1000125" y="1474788"/>
            <a:ext cx="2189163" cy="2054225"/>
            <a:chOff x="1449" y="1157"/>
            <a:chExt cx="910" cy="1125"/>
          </a:xfrm>
        </p:grpSpPr>
        <p:pic>
          <p:nvPicPr>
            <p:cNvPr id="621582" name="Picture-14" descr="Database01"/>
            <p:cNvPicPr>
              <a:picLocks noChangeAspect="1" noChangeArrowheads="1"/>
            </p:cNvPicPr>
            <p:nvPr/>
          </p:nvPicPr>
          <p:blipFill>
            <a:blip r:embed="rId4"/>
            <a:srcRect/>
            <a:stretch>
              <a:fillRect/>
            </a:stretch>
          </p:blipFill>
          <p:spPr bwMode="auto">
            <a:xfrm>
              <a:off x="1457" y="1558"/>
              <a:ext cx="897" cy="724"/>
            </a:xfrm>
            <a:prstGeom prst="rect">
              <a:avLst/>
            </a:prstGeom>
            <a:noFill/>
          </p:spPr>
        </p:pic>
        <p:pic>
          <p:nvPicPr>
            <p:cNvPr id="621583" name="Picture-15" descr="Volume01"/>
            <p:cNvPicPr>
              <a:picLocks noChangeAspect="1" noChangeArrowheads="1"/>
            </p:cNvPicPr>
            <p:nvPr/>
          </p:nvPicPr>
          <p:blipFill>
            <a:blip r:embed="rId5"/>
            <a:srcRect/>
            <a:stretch>
              <a:fillRect/>
            </a:stretch>
          </p:blipFill>
          <p:spPr bwMode="auto">
            <a:xfrm>
              <a:off x="1449" y="1157"/>
              <a:ext cx="910" cy="735"/>
            </a:xfrm>
            <a:prstGeom prst="rect">
              <a:avLst/>
            </a:prstGeom>
            <a:noFill/>
          </p:spPr>
        </p:pic>
      </p:grpSp>
      <p:pic>
        <p:nvPicPr>
          <p:cNvPr id="621584" name="Picture-16" descr="Database01"/>
          <p:cNvPicPr>
            <a:picLocks noChangeAspect="1" noChangeArrowheads="1"/>
          </p:cNvPicPr>
          <p:nvPr/>
        </p:nvPicPr>
        <p:blipFill>
          <a:blip r:embed="rId4"/>
          <a:srcRect/>
          <a:stretch>
            <a:fillRect/>
          </a:stretch>
        </p:blipFill>
        <p:spPr bwMode="auto">
          <a:xfrm>
            <a:off x="4752975" y="1471613"/>
            <a:ext cx="2157413" cy="2057400"/>
          </a:xfrm>
          <a:prstGeom prst="rect">
            <a:avLst/>
          </a:prstGeom>
          <a:noFill/>
        </p:spPr>
      </p:pic>
      <p:sp>
        <p:nvSpPr>
          <p:cNvPr id="621585" name="Text-Box-17"/>
          <p:cNvSpPr txBox="1">
            <a:spLocks noChangeArrowheads="1"/>
          </p:cNvSpPr>
          <p:nvPr/>
        </p:nvSpPr>
        <p:spPr bwMode="auto">
          <a:xfrm>
            <a:off x="1330325" y="2135188"/>
            <a:ext cx="1538288" cy="641350"/>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Partition NTFS</a:t>
            </a:r>
            <a:r>
              <a:rPr lang="en-IE" altLang="zh-CN" sz="1800">
                <a:cs typeface="Times New Roman" charset="0"/>
              </a:rPr>
              <a:t> </a:t>
            </a:r>
            <a:endParaRPr lang="en-US" sz="1800">
              <a:solidFill>
                <a:schemeClr val="tx1"/>
              </a:solidFill>
              <a:cs typeface="Times New Roman" charset="0"/>
            </a:endParaRPr>
          </a:p>
          <a:p>
            <a:pPr>
              <a:lnSpc>
                <a:spcPct val="100000"/>
              </a:lnSpc>
            </a:pPr>
            <a:r>
              <a:rPr lang="fr-FR" altLang="zh-CN" sz="1800">
                <a:cs typeface="Times New Roman" charset="0"/>
              </a:rPr>
              <a:t>C:\</a:t>
            </a:r>
            <a:r>
              <a:rPr lang="en-IE" altLang="zh-CN" sz="1800">
                <a:cs typeface="Times New Roman" charset="0"/>
              </a:rPr>
              <a:t> </a:t>
            </a:r>
            <a:endParaRPr lang="en-US" sz="1800">
              <a:cs typeface="Times New Roman" charset="0"/>
            </a:endParaRPr>
          </a:p>
        </p:txBody>
      </p:sp>
      <p:sp>
        <p:nvSpPr>
          <p:cNvPr id="621586" name="Text-Box-18"/>
          <p:cNvSpPr txBox="1">
            <a:spLocks noChangeArrowheads="1"/>
          </p:cNvSpPr>
          <p:nvPr/>
        </p:nvSpPr>
        <p:spPr bwMode="auto">
          <a:xfrm>
            <a:off x="5065713" y="1671638"/>
            <a:ext cx="1538287" cy="641350"/>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Partition NTFS</a:t>
            </a:r>
            <a:r>
              <a:rPr lang="en-IE" altLang="zh-CN" sz="1800">
                <a:cs typeface="Times New Roman" charset="0"/>
              </a:rPr>
              <a:t> </a:t>
            </a:r>
            <a:endParaRPr lang="en-US" sz="1800">
              <a:solidFill>
                <a:schemeClr val="tx1"/>
              </a:solidFill>
              <a:cs typeface="Times New Roman" charset="0"/>
            </a:endParaRPr>
          </a:p>
          <a:p>
            <a:pPr>
              <a:lnSpc>
                <a:spcPct val="100000"/>
              </a:lnSpc>
            </a:pPr>
            <a:r>
              <a:rPr lang="fr-FR" altLang="zh-CN" sz="1800">
                <a:cs typeface="Times New Roman" charset="0"/>
              </a:rPr>
              <a:t>E:\</a:t>
            </a:r>
            <a:r>
              <a:rPr lang="en-IE" altLang="zh-CN" sz="1600">
                <a:cs typeface="Times New Roman" charset="0"/>
              </a:rPr>
              <a:t> </a:t>
            </a:r>
            <a:endParaRPr lang="en-US" sz="1600">
              <a:cs typeface="Times New Roman" charset="0"/>
            </a:endParaRPr>
          </a:p>
        </p:txBody>
      </p:sp>
      <p:sp>
        <p:nvSpPr>
          <p:cNvPr id="621587" name="Text-Box-19"/>
          <p:cNvSpPr txBox="1">
            <a:spLocks noChangeArrowheads="1"/>
          </p:cNvSpPr>
          <p:nvPr/>
        </p:nvSpPr>
        <p:spPr bwMode="auto">
          <a:xfrm>
            <a:off x="1330325" y="2843213"/>
            <a:ext cx="1538288" cy="641350"/>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Partition NTFS</a:t>
            </a:r>
            <a:r>
              <a:rPr lang="en-IE" altLang="zh-CN" sz="1800">
                <a:cs typeface="Times New Roman" charset="0"/>
              </a:rPr>
              <a:t> </a:t>
            </a:r>
            <a:endParaRPr lang="en-US" sz="1800">
              <a:solidFill>
                <a:schemeClr val="tx1"/>
              </a:solidFill>
              <a:cs typeface="Times New Roman" charset="0"/>
            </a:endParaRPr>
          </a:p>
          <a:p>
            <a:pPr>
              <a:lnSpc>
                <a:spcPct val="100000"/>
              </a:lnSpc>
            </a:pPr>
            <a:r>
              <a:rPr lang="fr-FR" altLang="zh-CN" sz="1800">
                <a:cs typeface="Times New Roman" charset="0"/>
              </a:rPr>
              <a:t>D:\</a:t>
            </a:r>
            <a:r>
              <a:rPr lang="en-IE" altLang="zh-CN" sz="1800">
                <a:cs typeface="Times New Roman" charset="0"/>
              </a:rPr>
              <a:t> </a:t>
            </a:r>
            <a:endParaRPr lang="en-US" sz="1800">
              <a:cs typeface="Times New Roman" charset="0"/>
            </a:endParaRPr>
          </a:p>
        </p:txBody>
      </p:sp>
      <p:sp>
        <p:nvSpPr>
          <p:cNvPr id="621588" name="AutoShape-20"/>
          <p:cNvSpPr>
            <a:spLocks noChangeArrowheads="1"/>
          </p:cNvSpPr>
          <p:nvPr/>
        </p:nvSpPr>
        <p:spPr bwMode="auto">
          <a:xfrm>
            <a:off x="3206750" y="1852613"/>
            <a:ext cx="1674813" cy="517525"/>
          </a:xfrm>
          <a:custGeom>
            <a:avLst/>
            <a:gdLst>
              <a:gd name="G0" fmla="+- 13165 0 0"/>
              <a:gd name="G1" fmla="+- 4400 0 0"/>
              <a:gd name="G2" fmla="+- 21600 0 4400"/>
              <a:gd name="G3" fmla="+- 10800 0 4400"/>
              <a:gd name="G4" fmla="+- 21600 0 13165"/>
              <a:gd name="G5" fmla="*/ G4 G3 10800"/>
              <a:gd name="G6" fmla="+- 21600 0 G5"/>
              <a:gd name="T0" fmla="*/ 13165 w 21600"/>
              <a:gd name="T1" fmla="*/ 0 h 21600"/>
              <a:gd name="T2" fmla="*/ 0 w 21600"/>
              <a:gd name="T3" fmla="*/ 10800 h 21600"/>
              <a:gd name="T4" fmla="*/ 13165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3165" y="0"/>
                </a:moveTo>
                <a:lnTo>
                  <a:pt x="13165" y="4400"/>
                </a:lnTo>
                <a:lnTo>
                  <a:pt x="3375" y="4400"/>
                </a:lnTo>
                <a:lnTo>
                  <a:pt x="3375" y="17200"/>
                </a:lnTo>
                <a:lnTo>
                  <a:pt x="13165" y="17200"/>
                </a:lnTo>
                <a:lnTo>
                  <a:pt x="13165" y="21600"/>
                </a:lnTo>
                <a:lnTo>
                  <a:pt x="21600" y="10800"/>
                </a:lnTo>
                <a:close/>
              </a:path>
              <a:path w="21600" h="21600">
                <a:moveTo>
                  <a:pt x="1350" y="4400"/>
                </a:moveTo>
                <a:lnTo>
                  <a:pt x="1350" y="17200"/>
                </a:lnTo>
                <a:lnTo>
                  <a:pt x="2700" y="17200"/>
                </a:lnTo>
                <a:lnTo>
                  <a:pt x="2700" y="4400"/>
                </a:lnTo>
                <a:close/>
              </a:path>
              <a:path w="21600" h="21600">
                <a:moveTo>
                  <a:pt x="0" y="4400"/>
                </a:moveTo>
                <a:lnTo>
                  <a:pt x="0" y="17200"/>
                </a:lnTo>
                <a:lnTo>
                  <a:pt x="675" y="17200"/>
                </a:lnTo>
                <a:lnTo>
                  <a:pt x="675" y="4400"/>
                </a:lnTo>
                <a:close/>
              </a:path>
            </a:pathLst>
          </a:custGeom>
          <a:solidFill>
            <a:srgbClr val="FF0000">
              <a:alpha val="75000"/>
            </a:srgbClr>
          </a:solidFill>
          <a:ln w="9525" algn="ctr">
            <a:noFill/>
            <a:miter lim="800000"/>
            <a:headEnd/>
            <a:tailEnd/>
          </a:ln>
          <a:effectLst/>
        </p:spPr>
        <p:txBody>
          <a:bodyPr/>
          <a:lstStyle/>
          <a:p>
            <a:pPr>
              <a:lnSpc>
                <a:spcPct val="100000"/>
              </a:lnSpc>
            </a:pPr>
            <a:endParaRPr lang="en-IE" sz="1800">
              <a:solidFill>
                <a:srgbClr val="FFFFFF"/>
              </a:solidFill>
              <a:effectLst>
                <a:outerShdw blurRad="38100" dist="38100" dir="2700000" algn="tl">
                  <a:srgbClr val="000000"/>
                </a:outerShdw>
              </a:effectLst>
            </a:endParaRPr>
          </a:p>
        </p:txBody>
      </p:sp>
      <p:sp>
        <p:nvSpPr>
          <p:cNvPr id="621589" name="Text-Box-21"/>
          <p:cNvSpPr txBox="1">
            <a:spLocks noChangeArrowheads="1"/>
          </p:cNvSpPr>
          <p:nvPr/>
        </p:nvSpPr>
        <p:spPr bwMode="auto">
          <a:xfrm>
            <a:off x="3275013" y="2781300"/>
            <a:ext cx="996950" cy="366713"/>
          </a:xfrm>
          <a:prstGeom prst="rect">
            <a:avLst/>
          </a:prstGeom>
          <a:noFill/>
          <a:ln w="9525">
            <a:noFill/>
            <a:miter lim="800000"/>
            <a:headEnd/>
            <a:tailEnd/>
          </a:ln>
          <a:effectLst/>
        </p:spPr>
        <p:txBody>
          <a:bodyPr>
            <a:spAutoFit/>
          </a:bodyPr>
          <a:lstStyle/>
          <a:p>
            <a:pPr algn="l">
              <a:lnSpc>
                <a:spcPct val="100000"/>
              </a:lnSpc>
            </a:pPr>
            <a:r>
              <a:rPr lang="fr-FR" altLang="zh-CN" sz="1800">
                <a:cs typeface="Times New Roman" charset="0"/>
              </a:rPr>
              <a:t>Déplacer</a:t>
            </a:r>
            <a:r>
              <a:rPr lang="en-IE" altLang="zh-CN" sz="1600">
                <a:cs typeface="Times New Roman" charset="0"/>
              </a:rPr>
              <a:t> </a:t>
            </a:r>
            <a:endParaRPr lang="en-US" sz="1600">
              <a:cs typeface="Times New Roman" charset="0"/>
            </a:endParaRPr>
          </a:p>
        </p:txBody>
      </p:sp>
      <p:sp>
        <p:nvSpPr>
          <p:cNvPr id="621590" name="Freeform-22"/>
          <p:cNvSpPr>
            <a:spLocks/>
          </p:cNvSpPr>
          <p:nvPr/>
        </p:nvSpPr>
        <p:spPr bwMode="auto">
          <a:xfrm rot="20081414" flipV="1">
            <a:off x="3141663" y="2500313"/>
            <a:ext cx="1652587" cy="974725"/>
          </a:xfrm>
          <a:custGeom>
            <a:avLst/>
            <a:gdLst/>
            <a:ahLst/>
            <a:cxnLst>
              <a:cxn ang="0">
                <a:pos x="430" y="149"/>
              </a:cxn>
              <a:cxn ang="0">
                <a:pos x="427" y="165"/>
              </a:cxn>
              <a:cxn ang="0">
                <a:pos x="425" y="182"/>
              </a:cxn>
              <a:cxn ang="0">
                <a:pos x="422" y="204"/>
              </a:cxn>
              <a:cxn ang="0">
                <a:pos x="671" y="98"/>
              </a:cxn>
              <a:cxn ang="0">
                <a:pos x="422" y="0"/>
              </a:cxn>
              <a:cxn ang="0">
                <a:pos x="425" y="20"/>
              </a:cxn>
              <a:cxn ang="0">
                <a:pos x="427" y="37"/>
              </a:cxn>
              <a:cxn ang="0">
                <a:pos x="430" y="53"/>
              </a:cxn>
              <a:cxn ang="0">
                <a:pos x="414" y="55"/>
              </a:cxn>
              <a:cxn ang="0">
                <a:pos x="396" y="58"/>
              </a:cxn>
              <a:cxn ang="0">
                <a:pos x="372" y="62"/>
              </a:cxn>
              <a:cxn ang="0">
                <a:pos x="343" y="69"/>
              </a:cxn>
              <a:cxn ang="0">
                <a:pos x="311" y="78"/>
              </a:cxn>
              <a:cxn ang="0">
                <a:pos x="275" y="90"/>
              </a:cxn>
              <a:cxn ang="0">
                <a:pos x="258" y="97"/>
              </a:cxn>
              <a:cxn ang="0">
                <a:pos x="239" y="105"/>
              </a:cxn>
              <a:cxn ang="0">
                <a:pos x="220" y="114"/>
              </a:cxn>
              <a:cxn ang="0">
                <a:pos x="201" y="124"/>
              </a:cxn>
              <a:cxn ang="0">
                <a:pos x="182" y="136"/>
              </a:cxn>
              <a:cxn ang="0">
                <a:pos x="164" y="147"/>
              </a:cxn>
              <a:cxn ang="0">
                <a:pos x="146" y="161"/>
              </a:cxn>
              <a:cxn ang="0">
                <a:pos x="127" y="175"/>
              </a:cxn>
              <a:cxn ang="0">
                <a:pos x="111" y="191"/>
              </a:cxn>
              <a:cxn ang="0">
                <a:pos x="94" y="208"/>
              </a:cxn>
              <a:cxn ang="0">
                <a:pos x="78" y="226"/>
              </a:cxn>
              <a:cxn ang="0">
                <a:pos x="64" y="246"/>
              </a:cxn>
              <a:cxn ang="0">
                <a:pos x="49" y="268"/>
              </a:cxn>
              <a:cxn ang="0">
                <a:pos x="38" y="290"/>
              </a:cxn>
              <a:cxn ang="0">
                <a:pos x="32" y="301"/>
              </a:cxn>
              <a:cxn ang="0">
                <a:pos x="26" y="314"/>
              </a:cxn>
              <a:cxn ang="0">
                <a:pos x="20" y="326"/>
              </a:cxn>
              <a:cxn ang="0">
                <a:pos x="16" y="339"/>
              </a:cxn>
              <a:cxn ang="0">
                <a:pos x="7" y="366"/>
              </a:cxn>
              <a:cxn ang="0">
                <a:pos x="0" y="395"/>
              </a:cxn>
              <a:cxn ang="0">
                <a:pos x="7" y="382"/>
              </a:cxn>
              <a:cxn ang="0">
                <a:pos x="13" y="369"/>
              </a:cxn>
              <a:cxn ang="0">
                <a:pos x="27" y="345"/>
              </a:cxn>
              <a:cxn ang="0">
                <a:pos x="42" y="323"/>
              </a:cxn>
              <a:cxn ang="0">
                <a:pos x="56" y="301"/>
              </a:cxn>
              <a:cxn ang="0">
                <a:pos x="72" y="282"/>
              </a:cxn>
              <a:cxn ang="0">
                <a:pos x="90" y="265"/>
              </a:cxn>
              <a:cxn ang="0">
                <a:pos x="106" y="249"/>
              </a:cxn>
              <a:cxn ang="0">
                <a:pos x="123" y="234"/>
              </a:cxn>
              <a:cxn ang="0">
                <a:pos x="140" y="221"/>
              </a:cxn>
              <a:cxn ang="0">
                <a:pos x="159" y="210"/>
              </a:cxn>
              <a:cxn ang="0">
                <a:pos x="177" y="200"/>
              </a:cxn>
              <a:cxn ang="0">
                <a:pos x="194" y="190"/>
              </a:cxn>
              <a:cxn ang="0">
                <a:pos x="213" y="182"/>
              </a:cxn>
              <a:cxn ang="0">
                <a:pos x="230" y="175"/>
              </a:cxn>
              <a:cxn ang="0">
                <a:pos x="248" y="168"/>
              </a:cxn>
              <a:cxn ang="0">
                <a:pos x="265" y="163"/>
              </a:cxn>
              <a:cxn ang="0">
                <a:pos x="281" y="159"/>
              </a:cxn>
              <a:cxn ang="0">
                <a:pos x="298" y="156"/>
              </a:cxn>
              <a:cxn ang="0">
                <a:pos x="329" y="150"/>
              </a:cxn>
              <a:cxn ang="0">
                <a:pos x="343" y="149"/>
              </a:cxn>
              <a:cxn ang="0">
                <a:pos x="356" y="147"/>
              </a:cxn>
              <a:cxn ang="0">
                <a:pos x="381" y="147"/>
              </a:cxn>
              <a:cxn ang="0">
                <a:pos x="401" y="147"/>
              </a:cxn>
              <a:cxn ang="0">
                <a:pos x="417" y="147"/>
              </a:cxn>
              <a:cxn ang="0">
                <a:pos x="430" y="149"/>
              </a:cxn>
            </a:cxnLst>
            <a:rect l="0" t="0" r="r" b="b"/>
            <a:pathLst>
              <a:path w="671" h="395">
                <a:moveTo>
                  <a:pt x="430" y="149"/>
                </a:moveTo>
                <a:lnTo>
                  <a:pt x="427" y="165"/>
                </a:lnTo>
                <a:lnTo>
                  <a:pt x="425" y="182"/>
                </a:lnTo>
                <a:lnTo>
                  <a:pt x="422" y="204"/>
                </a:lnTo>
                <a:lnTo>
                  <a:pt x="671" y="98"/>
                </a:lnTo>
                <a:lnTo>
                  <a:pt x="422" y="0"/>
                </a:lnTo>
                <a:lnTo>
                  <a:pt x="425" y="20"/>
                </a:lnTo>
                <a:lnTo>
                  <a:pt x="427" y="37"/>
                </a:lnTo>
                <a:lnTo>
                  <a:pt x="430" y="53"/>
                </a:lnTo>
                <a:lnTo>
                  <a:pt x="414" y="55"/>
                </a:lnTo>
                <a:lnTo>
                  <a:pt x="396" y="58"/>
                </a:lnTo>
                <a:lnTo>
                  <a:pt x="372" y="62"/>
                </a:lnTo>
                <a:lnTo>
                  <a:pt x="343" y="69"/>
                </a:lnTo>
                <a:lnTo>
                  <a:pt x="311" y="78"/>
                </a:lnTo>
                <a:lnTo>
                  <a:pt x="275" y="90"/>
                </a:lnTo>
                <a:lnTo>
                  <a:pt x="258" y="97"/>
                </a:lnTo>
                <a:lnTo>
                  <a:pt x="239" y="105"/>
                </a:lnTo>
                <a:lnTo>
                  <a:pt x="220" y="114"/>
                </a:lnTo>
                <a:lnTo>
                  <a:pt x="201" y="124"/>
                </a:lnTo>
                <a:lnTo>
                  <a:pt x="182" y="136"/>
                </a:lnTo>
                <a:lnTo>
                  <a:pt x="164" y="147"/>
                </a:lnTo>
                <a:lnTo>
                  <a:pt x="146" y="161"/>
                </a:lnTo>
                <a:lnTo>
                  <a:pt x="127" y="175"/>
                </a:lnTo>
                <a:lnTo>
                  <a:pt x="111" y="191"/>
                </a:lnTo>
                <a:lnTo>
                  <a:pt x="94" y="208"/>
                </a:lnTo>
                <a:lnTo>
                  <a:pt x="78" y="226"/>
                </a:lnTo>
                <a:lnTo>
                  <a:pt x="64" y="246"/>
                </a:lnTo>
                <a:lnTo>
                  <a:pt x="49" y="268"/>
                </a:lnTo>
                <a:lnTo>
                  <a:pt x="38" y="290"/>
                </a:lnTo>
                <a:lnTo>
                  <a:pt x="32" y="301"/>
                </a:lnTo>
                <a:lnTo>
                  <a:pt x="26" y="314"/>
                </a:lnTo>
                <a:lnTo>
                  <a:pt x="20" y="326"/>
                </a:lnTo>
                <a:lnTo>
                  <a:pt x="16" y="339"/>
                </a:lnTo>
                <a:lnTo>
                  <a:pt x="7" y="366"/>
                </a:lnTo>
                <a:lnTo>
                  <a:pt x="0" y="395"/>
                </a:lnTo>
                <a:lnTo>
                  <a:pt x="7" y="382"/>
                </a:lnTo>
                <a:lnTo>
                  <a:pt x="13" y="369"/>
                </a:lnTo>
                <a:lnTo>
                  <a:pt x="27" y="345"/>
                </a:lnTo>
                <a:lnTo>
                  <a:pt x="42" y="323"/>
                </a:lnTo>
                <a:lnTo>
                  <a:pt x="56" y="301"/>
                </a:lnTo>
                <a:lnTo>
                  <a:pt x="72" y="282"/>
                </a:lnTo>
                <a:lnTo>
                  <a:pt x="90" y="265"/>
                </a:lnTo>
                <a:lnTo>
                  <a:pt x="106" y="249"/>
                </a:lnTo>
                <a:lnTo>
                  <a:pt x="123" y="234"/>
                </a:lnTo>
                <a:lnTo>
                  <a:pt x="140" y="221"/>
                </a:lnTo>
                <a:lnTo>
                  <a:pt x="159" y="210"/>
                </a:lnTo>
                <a:lnTo>
                  <a:pt x="177" y="200"/>
                </a:lnTo>
                <a:lnTo>
                  <a:pt x="194" y="190"/>
                </a:lnTo>
                <a:lnTo>
                  <a:pt x="213" y="182"/>
                </a:lnTo>
                <a:lnTo>
                  <a:pt x="230" y="175"/>
                </a:lnTo>
                <a:lnTo>
                  <a:pt x="248" y="168"/>
                </a:lnTo>
                <a:lnTo>
                  <a:pt x="265" y="163"/>
                </a:lnTo>
                <a:lnTo>
                  <a:pt x="281" y="159"/>
                </a:lnTo>
                <a:lnTo>
                  <a:pt x="298" y="156"/>
                </a:lnTo>
                <a:lnTo>
                  <a:pt x="329" y="150"/>
                </a:lnTo>
                <a:lnTo>
                  <a:pt x="343" y="149"/>
                </a:lnTo>
                <a:lnTo>
                  <a:pt x="356" y="147"/>
                </a:lnTo>
                <a:lnTo>
                  <a:pt x="381" y="147"/>
                </a:lnTo>
                <a:lnTo>
                  <a:pt x="401" y="147"/>
                </a:lnTo>
                <a:lnTo>
                  <a:pt x="417" y="147"/>
                </a:lnTo>
                <a:lnTo>
                  <a:pt x="430" y="149"/>
                </a:lnTo>
                <a:close/>
              </a:path>
            </a:pathLst>
          </a:custGeom>
          <a:solidFill>
            <a:srgbClr val="FF0000">
              <a:alpha val="75000"/>
            </a:srgbClr>
          </a:solidFill>
          <a:ln w="9525">
            <a:noFill/>
            <a:round/>
            <a:headEnd/>
            <a:tailEnd/>
          </a:ln>
        </p:spPr>
        <p:txBody>
          <a:bodyPr/>
          <a:lstStyle/>
          <a:p>
            <a:endParaRPr lang="fr-FR"/>
          </a:p>
        </p:txBody>
      </p:sp>
      <p:sp>
        <p:nvSpPr>
          <p:cNvPr id="621591" name="Text-Box-23"/>
          <p:cNvSpPr txBox="1">
            <a:spLocks noChangeArrowheads="1"/>
          </p:cNvSpPr>
          <p:nvPr/>
        </p:nvSpPr>
        <p:spPr bwMode="auto">
          <a:xfrm>
            <a:off x="3424238" y="1582738"/>
            <a:ext cx="846137" cy="366712"/>
          </a:xfrm>
          <a:prstGeom prst="rect">
            <a:avLst/>
          </a:prstGeom>
          <a:noFill/>
          <a:ln w="9525">
            <a:noFill/>
            <a:miter lim="800000"/>
            <a:headEnd/>
            <a:tailEnd/>
          </a:ln>
          <a:effectLst/>
        </p:spPr>
        <p:txBody>
          <a:bodyPr>
            <a:spAutoFit/>
          </a:bodyPr>
          <a:lstStyle/>
          <a:p>
            <a:pPr algn="l">
              <a:lnSpc>
                <a:spcPct val="100000"/>
              </a:lnSpc>
            </a:pPr>
            <a:r>
              <a:rPr lang="fr-FR" altLang="zh-CN" sz="1800">
                <a:cs typeface="Times New Roman" charset="0"/>
              </a:rPr>
              <a:t>Copier</a:t>
            </a:r>
            <a:r>
              <a:rPr lang="en-IE" altLang="zh-CN" sz="1600">
                <a:cs typeface="Times New Roman" charset="0"/>
              </a:rPr>
              <a:t> </a:t>
            </a:r>
            <a:endParaRPr lang="en-US" sz="1600">
              <a:cs typeface="Times New Roman" charset="0"/>
            </a:endParaRPr>
          </a:p>
        </p:txBody>
      </p:sp>
      <p:sp>
        <p:nvSpPr>
          <p:cNvPr id="621592" name="Freeform-24"/>
          <p:cNvSpPr>
            <a:spLocks/>
          </p:cNvSpPr>
          <p:nvPr/>
        </p:nvSpPr>
        <p:spPr bwMode="auto">
          <a:xfrm rot="-3513700" flipH="1" flipV="1">
            <a:off x="6463506" y="2093119"/>
            <a:ext cx="1208088" cy="939800"/>
          </a:xfrm>
          <a:custGeom>
            <a:avLst/>
            <a:gdLst/>
            <a:ahLst/>
            <a:cxnLst>
              <a:cxn ang="0">
                <a:pos x="430" y="149"/>
              </a:cxn>
              <a:cxn ang="0">
                <a:pos x="427" y="165"/>
              </a:cxn>
              <a:cxn ang="0">
                <a:pos x="425" y="182"/>
              </a:cxn>
              <a:cxn ang="0">
                <a:pos x="422" y="204"/>
              </a:cxn>
              <a:cxn ang="0">
                <a:pos x="671" y="98"/>
              </a:cxn>
              <a:cxn ang="0">
                <a:pos x="422" y="0"/>
              </a:cxn>
              <a:cxn ang="0">
                <a:pos x="425" y="20"/>
              </a:cxn>
              <a:cxn ang="0">
                <a:pos x="427" y="37"/>
              </a:cxn>
              <a:cxn ang="0">
                <a:pos x="430" y="53"/>
              </a:cxn>
              <a:cxn ang="0">
                <a:pos x="414" y="55"/>
              </a:cxn>
              <a:cxn ang="0">
                <a:pos x="396" y="58"/>
              </a:cxn>
              <a:cxn ang="0">
                <a:pos x="372" y="62"/>
              </a:cxn>
              <a:cxn ang="0">
                <a:pos x="343" y="69"/>
              </a:cxn>
              <a:cxn ang="0">
                <a:pos x="311" y="78"/>
              </a:cxn>
              <a:cxn ang="0">
                <a:pos x="275" y="90"/>
              </a:cxn>
              <a:cxn ang="0">
                <a:pos x="258" y="97"/>
              </a:cxn>
              <a:cxn ang="0">
                <a:pos x="239" y="105"/>
              </a:cxn>
              <a:cxn ang="0">
                <a:pos x="220" y="114"/>
              </a:cxn>
              <a:cxn ang="0">
                <a:pos x="201" y="124"/>
              </a:cxn>
              <a:cxn ang="0">
                <a:pos x="182" y="136"/>
              </a:cxn>
              <a:cxn ang="0">
                <a:pos x="164" y="147"/>
              </a:cxn>
              <a:cxn ang="0">
                <a:pos x="146" y="161"/>
              </a:cxn>
              <a:cxn ang="0">
                <a:pos x="127" y="175"/>
              </a:cxn>
              <a:cxn ang="0">
                <a:pos x="111" y="191"/>
              </a:cxn>
              <a:cxn ang="0">
                <a:pos x="94" y="208"/>
              </a:cxn>
              <a:cxn ang="0">
                <a:pos x="78" y="226"/>
              </a:cxn>
              <a:cxn ang="0">
                <a:pos x="64" y="246"/>
              </a:cxn>
              <a:cxn ang="0">
                <a:pos x="49" y="268"/>
              </a:cxn>
              <a:cxn ang="0">
                <a:pos x="38" y="290"/>
              </a:cxn>
              <a:cxn ang="0">
                <a:pos x="32" y="301"/>
              </a:cxn>
              <a:cxn ang="0">
                <a:pos x="26" y="314"/>
              </a:cxn>
              <a:cxn ang="0">
                <a:pos x="20" y="326"/>
              </a:cxn>
              <a:cxn ang="0">
                <a:pos x="16" y="339"/>
              </a:cxn>
              <a:cxn ang="0">
                <a:pos x="7" y="366"/>
              </a:cxn>
              <a:cxn ang="0">
                <a:pos x="0" y="395"/>
              </a:cxn>
              <a:cxn ang="0">
                <a:pos x="7" y="382"/>
              </a:cxn>
              <a:cxn ang="0">
                <a:pos x="13" y="369"/>
              </a:cxn>
              <a:cxn ang="0">
                <a:pos x="27" y="345"/>
              </a:cxn>
              <a:cxn ang="0">
                <a:pos x="42" y="323"/>
              </a:cxn>
              <a:cxn ang="0">
                <a:pos x="56" y="301"/>
              </a:cxn>
              <a:cxn ang="0">
                <a:pos x="72" y="282"/>
              </a:cxn>
              <a:cxn ang="0">
                <a:pos x="90" y="265"/>
              </a:cxn>
              <a:cxn ang="0">
                <a:pos x="106" y="249"/>
              </a:cxn>
              <a:cxn ang="0">
                <a:pos x="123" y="234"/>
              </a:cxn>
              <a:cxn ang="0">
                <a:pos x="140" y="221"/>
              </a:cxn>
              <a:cxn ang="0">
                <a:pos x="159" y="210"/>
              </a:cxn>
              <a:cxn ang="0">
                <a:pos x="177" y="200"/>
              </a:cxn>
              <a:cxn ang="0">
                <a:pos x="194" y="190"/>
              </a:cxn>
              <a:cxn ang="0">
                <a:pos x="213" y="182"/>
              </a:cxn>
              <a:cxn ang="0">
                <a:pos x="230" y="175"/>
              </a:cxn>
              <a:cxn ang="0">
                <a:pos x="248" y="168"/>
              </a:cxn>
              <a:cxn ang="0">
                <a:pos x="265" y="163"/>
              </a:cxn>
              <a:cxn ang="0">
                <a:pos x="281" y="159"/>
              </a:cxn>
              <a:cxn ang="0">
                <a:pos x="298" y="156"/>
              </a:cxn>
              <a:cxn ang="0">
                <a:pos x="329" y="150"/>
              </a:cxn>
              <a:cxn ang="0">
                <a:pos x="343" y="149"/>
              </a:cxn>
              <a:cxn ang="0">
                <a:pos x="356" y="147"/>
              </a:cxn>
              <a:cxn ang="0">
                <a:pos x="381" y="147"/>
              </a:cxn>
              <a:cxn ang="0">
                <a:pos x="401" y="147"/>
              </a:cxn>
              <a:cxn ang="0">
                <a:pos x="417" y="147"/>
              </a:cxn>
              <a:cxn ang="0">
                <a:pos x="430" y="149"/>
              </a:cxn>
            </a:cxnLst>
            <a:rect l="0" t="0" r="r" b="b"/>
            <a:pathLst>
              <a:path w="671" h="395">
                <a:moveTo>
                  <a:pt x="430" y="149"/>
                </a:moveTo>
                <a:lnTo>
                  <a:pt x="427" y="165"/>
                </a:lnTo>
                <a:lnTo>
                  <a:pt x="425" y="182"/>
                </a:lnTo>
                <a:lnTo>
                  <a:pt x="422" y="204"/>
                </a:lnTo>
                <a:lnTo>
                  <a:pt x="671" y="98"/>
                </a:lnTo>
                <a:lnTo>
                  <a:pt x="422" y="0"/>
                </a:lnTo>
                <a:lnTo>
                  <a:pt x="425" y="20"/>
                </a:lnTo>
                <a:lnTo>
                  <a:pt x="427" y="37"/>
                </a:lnTo>
                <a:lnTo>
                  <a:pt x="430" y="53"/>
                </a:lnTo>
                <a:lnTo>
                  <a:pt x="414" y="55"/>
                </a:lnTo>
                <a:lnTo>
                  <a:pt x="396" y="58"/>
                </a:lnTo>
                <a:lnTo>
                  <a:pt x="372" y="62"/>
                </a:lnTo>
                <a:lnTo>
                  <a:pt x="343" y="69"/>
                </a:lnTo>
                <a:lnTo>
                  <a:pt x="311" y="78"/>
                </a:lnTo>
                <a:lnTo>
                  <a:pt x="275" y="90"/>
                </a:lnTo>
                <a:lnTo>
                  <a:pt x="258" y="97"/>
                </a:lnTo>
                <a:lnTo>
                  <a:pt x="239" y="105"/>
                </a:lnTo>
                <a:lnTo>
                  <a:pt x="220" y="114"/>
                </a:lnTo>
                <a:lnTo>
                  <a:pt x="201" y="124"/>
                </a:lnTo>
                <a:lnTo>
                  <a:pt x="182" y="136"/>
                </a:lnTo>
                <a:lnTo>
                  <a:pt x="164" y="147"/>
                </a:lnTo>
                <a:lnTo>
                  <a:pt x="146" y="161"/>
                </a:lnTo>
                <a:lnTo>
                  <a:pt x="127" y="175"/>
                </a:lnTo>
                <a:lnTo>
                  <a:pt x="111" y="191"/>
                </a:lnTo>
                <a:lnTo>
                  <a:pt x="94" y="208"/>
                </a:lnTo>
                <a:lnTo>
                  <a:pt x="78" y="226"/>
                </a:lnTo>
                <a:lnTo>
                  <a:pt x="64" y="246"/>
                </a:lnTo>
                <a:lnTo>
                  <a:pt x="49" y="268"/>
                </a:lnTo>
                <a:lnTo>
                  <a:pt x="38" y="290"/>
                </a:lnTo>
                <a:lnTo>
                  <a:pt x="32" y="301"/>
                </a:lnTo>
                <a:lnTo>
                  <a:pt x="26" y="314"/>
                </a:lnTo>
                <a:lnTo>
                  <a:pt x="20" y="326"/>
                </a:lnTo>
                <a:lnTo>
                  <a:pt x="16" y="339"/>
                </a:lnTo>
                <a:lnTo>
                  <a:pt x="7" y="366"/>
                </a:lnTo>
                <a:lnTo>
                  <a:pt x="0" y="395"/>
                </a:lnTo>
                <a:lnTo>
                  <a:pt x="7" y="382"/>
                </a:lnTo>
                <a:lnTo>
                  <a:pt x="13" y="369"/>
                </a:lnTo>
                <a:lnTo>
                  <a:pt x="27" y="345"/>
                </a:lnTo>
                <a:lnTo>
                  <a:pt x="42" y="323"/>
                </a:lnTo>
                <a:lnTo>
                  <a:pt x="56" y="301"/>
                </a:lnTo>
                <a:lnTo>
                  <a:pt x="72" y="282"/>
                </a:lnTo>
                <a:lnTo>
                  <a:pt x="90" y="265"/>
                </a:lnTo>
                <a:lnTo>
                  <a:pt x="106" y="249"/>
                </a:lnTo>
                <a:lnTo>
                  <a:pt x="123" y="234"/>
                </a:lnTo>
                <a:lnTo>
                  <a:pt x="140" y="221"/>
                </a:lnTo>
                <a:lnTo>
                  <a:pt x="159" y="210"/>
                </a:lnTo>
                <a:lnTo>
                  <a:pt x="177" y="200"/>
                </a:lnTo>
                <a:lnTo>
                  <a:pt x="194" y="190"/>
                </a:lnTo>
                <a:lnTo>
                  <a:pt x="213" y="182"/>
                </a:lnTo>
                <a:lnTo>
                  <a:pt x="230" y="175"/>
                </a:lnTo>
                <a:lnTo>
                  <a:pt x="248" y="168"/>
                </a:lnTo>
                <a:lnTo>
                  <a:pt x="265" y="163"/>
                </a:lnTo>
                <a:lnTo>
                  <a:pt x="281" y="159"/>
                </a:lnTo>
                <a:lnTo>
                  <a:pt x="298" y="156"/>
                </a:lnTo>
                <a:lnTo>
                  <a:pt x="329" y="150"/>
                </a:lnTo>
                <a:lnTo>
                  <a:pt x="343" y="149"/>
                </a:lnTo>
                <a:lnTo>
                  <a:pt x="356" y="147"/>
                </a:lnTo>
                <a:lnTo>
                  <a:pt x="381" y="147"/>
                </a:lnTo>
                <a:lnTo>
                  <a:pt x="401" y="147"/>
                </a:lnTo>
                <a:lnTo>
                  <a:pt x="417" y="147"/>
                </a:lnTo>
                <a:lnTo>
                  <a:pt x="430" y="149"/>
                </a:lnTo>
                <a:close/>
              </a:path>
            </a:pathLst>
          </a:custGeom>
          <a:solidFill>
            <a:srgbClr val="FF0000">
              <a:alpha val="75000"/>
            </a:srgbClr>
          </a:solidFill>
          <a:ln w="9525">
            <a:noFill/>
            <a:round/>
            <a:headEnd/>
            <a:tailEnd/>
          </a:ln>
        </p:spPr>
        <p:txBody>
          <a:bodyPr/>
          <a:lstStyle/>
          <a:p>
            <a:endParaRPr lang="fr-FR"/>
          </a:p>
        </p:txBody>
      </p:sp>
      <p:sp>
        <p:nvSpPr>
          <p:cNvPr id="621593" name="Text-Box-25"/>
          <p:cNvSpPr txBox="1">
            <a:spLocks noChangeArrowheads="1"/>
          </p:cNvSpPr>
          <p:nvPr/>
        </p:nvSpPr>
        <p:spPr bwMode="auto">
          <a:xfrm>
            <a:off x="7270750" y="2084388"/>
            <a:ext cx="1039813" cy="915987"/>
          </a:xfrm>
          <a:prstGeom prst="rect">
            <a:avLst/>
          </a:prstGeom>
          <a:noFill/>
          <a:ln w="9525">
            <a:noFill/>
            <a:miter lim="800000"/>
            <a:headEnd/>
            <a:tailEnd/>
          </a:ln>
          <a:effectLst/>
        </p:spPr>
        <p:txBody>
          <a:bodyPr>
            <a:spAutoFit/>
          </a:bodyPr>
          <a:lstStyle/>
          <a:p>
            <a:pPr>
              <a:lnSpc>
                <a:spcPct val="100000"/>
              </a:lnSpc>
            </a:pPr>
            <a:r>
              <a:rPr lang="fr-FR" altLang="zh-CN" sz="1800">
                <a:cs typeface="Times New Roman" charset="0"/>
              </a:rPr>
              <a:t>Copier</a:t>
            </a:r>
            <a:r>
              <a:rPr lang="en-IE" altLang="zh-CN" sz="1800">
                <a:cs typeface="Times New Roman" charset="0"/>
              </a:rPr>
              <a:t> </a:t>
            </a:r>
            <a:endParaRPr lang="en-US" sz="1800">
              <a:solidFill>
                <a:schemeClr val="tx1"/>
              </a:solidFill>
              <a:cs typeface="Times New Roman" charset="0"/>
            </a:endParaRPr>
          </a:p>
          <a:p>
            <a:pPr>
              <a:lnSpc>
                <a:spcPct val="100000"/>
              </a:lnSpc>
            </a:pPr>
            <a:r>
              <a:rPr lang="fr-FR" altLang="zh-CN" sz="1800">
                <a:cs typeface="Times New Roman" charset="0"/>
              </a:rPr>
              <a:t>ou</a:t>
            </a:r>
            <a:r>
              <a:rPr lang="en-IE" altLang="zh-CN" sz="1800">
                <a:cs typeface="Times New Roman" charset="0"/>
              </a:rPr>
              <a:t> </a:t>
            </a:r>
            <a:endParaRPr lang="en-US" sz="1800">
              <a:solidFill>
                <a:schemeClr val="tx1"/>
              </a:solidFill>
              <a:cs typeface="Times New Roman" charset="0"/>
            </a:endParaRPr>
          </a:p>
          <a:p>
            <a:pPr>
              <a:lnSpc>
                <a:spcPct val="100000"/>
              </a:lnSpc>
            </a:pPr>
            <a:r>
              <a:rPr lang="fr-FR" altLang="zh-CN" sz="1800">
                <a:cs typeface="Times New Roman" charset="0"/>
              </a:rPr>
              <a:t>Déplacer</a:t>
            </a:r>
            <a:r>
              <a:rPr lang="en-IE" altLang="zh-CN" sz="1800">
                <a:cs typeface="Times New Roman" charset="0"/>
              </a:rPr>
              <a:t> </a:t>
            </a:r>
            <a:endParaRPr lang="en-US" sz="1800">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21574">
                                            <p:txEl>
                                              <p:pRg st="0" end="0"/>
                                            </p:txEl>
                                          </p:spTgt>
                                        </p:tgtEl>
                                        <p:attrNameLst>
                                          <p:attrName>style.visibility</p:attrName>
                                        </p:attrNameLst>
                                      </p:cBhvr>
                                      <p:to>
                                        <p:strVal val="visible"/>
                                      </p:to>
                                    </p:set>
                                    <p:animEffect transition="in" filter="checkerboard(across)">
                                      <p:cBhvr>
                                        <p:cTn id="7" dur="1000"/>
                                        <p:tgtEl>
                                          <p:spTgt spid="6215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21574">
                                            <p:txEl>
                                              <p:pRg st="1" end="1"/>
                                            </p:txEl>
                                          </p:spTgt>
                                        </p:tgtEl>
                                        <p:attrNameLst>
                                          <p:attrName>style.visibility</p:attrName>
                                        </p:attrNameLst>
                                      </p:cBhvr>
                                      <p:to>
                                        <p:strVal val="visible"/>
                                      </p:to>
                                    </p:set>
                                    <p:animEffect transition="in" filter="checkerboard(across)">
                                      <p:cBhvr>
                                        <p:cTn id="12" dur="1000"/>
                                        <p:tgtEl>
                                          <p:spTgt spid="6215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21574">
                                            <p:txEl>
                                              <p:pRg st="2" end="2"/>
                                            </p:txEl>
                                          </p:spTgt>
                                        </p:tgtEl>
                                        <p:attrNameLst>
                                          <p:attrName>style.visibility</p:attrName>
                                        </p:attrNameLst>
                                      </p:cBhvr>
                                      <p:to>
                                        <p:strVal val="visible"/>
                                      </p:to>
                                    </p:set>
                                    <p:animEffect transition="in" filter="checkerboard(across)">
                                      <p:cBhvr>
                                        <p:cTn id="17" dur="1000"/>
                                        <p:tgtEl>
                                          <p:spTgt spid="6215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2"/>
          <p:cNvSpPr>
            <a:spLocks noGrp="1" noChangeArrowheads="1"/>
          </p:cNvSpPr>
          <p:nvPr>
            <p:ph type="title"/>
          </p:nvPr>
        </p:nvSpPr>
        <p:spPr>
          <a:xfrm>
            <a:off x="173620" y="402225"/>
            <a:ext cx="8796760" cy="758952"/>
          </a:xfrm>
        </p:spPr>
        <p:txBody>
          <a:bodyPr>
            <a:normAutofit fontScale="90000"/>
          </a:bodyPr>
          <a:lstStyle/>
          <a:p>
            <a:r>
              <a:rPr lang="fr-FR" altLang="zh-CN" b="1" dirty="0">
                <a:solidFill>
                  <a:srgbClr val="C00000"/>
                </a:solidFill>
                <a:ea typeface="SimSun" pitchFamily="2" charset="-122"/>
                <a:cs typeface="Times New Roman" charset="0"/>
              </a:rPr>
              <a:t>Description de l'héritage des autorisations NTFS</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392263" name="AutoShape-71"/>
          <p:cNvSpPr>
            <a:spLocks noChangeArrowheads="1"/>
          </p:cNvSpPr>
          <p:nvPr/>
        </p:nvSpPr>
        <p:spPr bwMode="auto">
          <a:xfrm>
            <a:off x="666750" y="1481138"/>
            <a:ext cx="7737475" cy="2074862"/>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lnSpc>
                <a:spcPct val="100000"/>
              </a:lnSpc>
              <a:buSzPct val="85000"/>
            </a:pPr>
            <a:endParaRPr lang="en-IE" sz="1800">
              <a:solidFill>
                <a:schemeClr val="tx1"/>
              </a:solidFill>
            </a:endParaRPr>
          </a:p>
        </p:txBody>
      </p:sp>
      <p:sp>
        <p:nvSpPr>
          <p:cNvPr id="392267" name="Text-Box-75"/>
          <p:cNvSpPr txBox="1">
            <a:spLocks noChangeArrowheads="1"/>
          </p:cNvSpPr>
          <p:nvPr/>
        </p:nvSpPr>
        <p:spPr bwMode="auto">
          <a:xfrm>
            <a:off x="2795588" y="3157538"/>
            <a:ext cx="2095500" cy="300037"/>
          </a:xfrm>
          <a:prstGeom prst="rect">
            <a:avLst/>
          </a:prstGeom>
          <a:noFill/>
          <a:ln w="9525">
            <a:noFill/>
            <a:miter lim="800000"/>
            <a:headEnd/>
            <a:tailEnd/>
          </a:ln>
          <a:effectLst/>
        </p:spPr>
        <p:txBody>
          <a:bodyPr wrap="none" tIns="27432" bIns="27432" anchor="ctr"/>
          <a:lstStyle/>
          <a:p>
            <a:pPr>
              <a:lnSpc>
                <a:spcPct val="100000"/>
              </a:lnSpc>
            </a:pPr>
            <a:r>
              <a:rPr lang="fr-FR" altLang="zh-CN" sz="2200" dirty="0">
                <a:solidFill>
                  <a:srgbClr val="CC0000"/>
                </a:solidFill>
                <a:cs typeface="Times New Roman" charset="0"/>
              </a:rPr>
              <a:t>Accès à </a:t>
            </a:r>
            <a:r>
              <a:rPr lang="fr-FR" altLang="zh-CN" sz="2200" dirty="0" err="1">
                <a:solidFill>
                  <a:srgbClr val="CC0000"/>
                </a:solidFill>
                <a:cs typeface="Times New Roman" charset="0"/>
              </a:rPr>
              <a:t>DossierB</a:t>
            </a:r>
            <a:r>
              <a:rPr lang="en-IE" altLang="zh-CN" sz="2200" dirty="0">
                <a:cs typeface="Times New Roman" charset="0"/>
              </a:rPr>
              <a:t> </a:t>
            </a:r>
            <a:endParaRPr lang="en-US" sz="2200" dirty="0">
              <a:cs typeface="Times New Roman" charset="0"/>
            </a:endParaRPr>
          </a:p>
        </p:txBody>
      </p:sp>
      <p:sp>
        <p:nvSpPr>
          <p:cNvPr id="392268" name="Freeform-76"/>
          <p:cNvSpPr>
            <a:spLocks/>
          </p:cNvSpPr>
          <p:nvPr/>
        </p:nvSpPr>
        <p:spPr bwMode="auto">
          <a:xfrm>
            <a:off x="4872038" y="2243138"/>
            <a:ext cx="673100" cy="685800"/>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CC0000"/>
            </a:solidFill>
            <a:prstDash val="solid"/>
            <a:round/>
            <a:headEnd type="none" w="med" len="med"/>
            <a:tailEnd type="triangle" w="med" len="med"/>
          </a:ln>
          <a:effectLst/>
        </p:spPr>
        <p:txBody>
          <a:bodyPr anchor="ctr"/>
          <a:lstStyle/>
          <a:p>
            <a:endParaRPr lang="fr-FR"/>
          </a:p>
        </p:txBody>
      </p:sp>
      <p:pic>
        <p:nvPicPr>
          <p:cNvPr id="392269" name="Picture-77" descr="Folder_FolderOpen01"/>
          <p:cNvPicPr>
            <a:picLocks noChangeAspect="1" noChangeArrowheads="1"/>
          </p:cNvPicPr>
          <p:nvPr/>
        </p:nvPicPr>
        <p:blipFill>
          <a:blip r:embed="rId3" cstate="print"/>
          <a:srcRect/>
          <a:stretch>
            <a:fillRect/>
          </a:stretch>
        </p:blipFill>
        <p:spPr bwMode="auto">
          <a:xfrm>
            <a:off x="4422775" y="1695450"/>
            <a:ext cx="871538" cy="779463"/>
          </a:xfrm>
          <a:prstGeom prst="rect">
            <a:avLst/>
          </a:prstGeom>
          <a:noFill/>
        </p:spPr>
      </p:pic>
      <p:pic>
        <p:nvPicPr>
          <p:cNvPr id="392270" name="Picture-78" descr="Folder_FolderOpen01"/>
          <p:cNvPicPr>
            <a:picLocks noChangeAspect="1" noChangeArrowheads="1"/>
          </p:cNvPicPr>
          <p:nvPr/>
        </p:nvPicPr>
        <p:blipFill>
          <a:blip r:embed="rId3" cstate="print"/>
          <a:srcRect/>
          <a:stretch>
            <a:fillRect/>
          </a:stretch>
        </p:blipFill>
        <p:spPr bwMode="auto">
          <a:xfrm>
            <a:off x="5538788" y="2516188"/>
            <a:ext cx="871537" cy="779462"/>
          </a:xfrm>
          <a:prstGeom prst="rect">
            <a:avLst/>
          </a:prstGeom>
          <a:noFill/>
        </p:spPr>
      </p:pic>
      <p:sp>
        <p:nvSpPr>
          <p:cNvPr id="392271" name="Text-Box-79"/>
          <p:cNvSpPr txBox="1">
            <a:spLocks noChangeArrowheads="1"/>
          </p:cNvSpPr>
          <p:nvPr/>
        </p:nvSpPr>
        <p:spPr bwMode="auto">
          <a:xfrm>
            <a:off x="5272088" y="1943100"/>
            <a:ext cx="1060450" cy="366713"/>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DossierA</a:t>
            </a:r>
            <a:r>
              <a:rPr lang="en-IE" altLang="zh-CN" sz="1800">
                <a:cs typeface="Times New Roman" charset="0"/>
              </a:rPr>
              <a:t> </a:t>
            </a:r>
            <a:endParaRPr lang="en-US" sz="1800">
              <a:cs typeface="Times New Roman" charset="0"/>
            </a:endParaRPr>
          </a:p>
        </p:txBody>
      </p:sp>
      <p:sp>
        <p:nvSpPr>
          <p:cNvPr id="392272" name="Text-Box-80"/>
          <p:cNvSpPr txBox="1">
            <a:spLocks noChangeArrowheads="1"/>
          </p:cNvSpPr>
          <p:nvPr/>
        </p:nvSpPr>
        <p:spPr bwMode="auto">
          <a:xfrm>
            <a:off x="6364288" y="2778125"/>
            <a:ext cx="1060450" cy="366713"/>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DossierB</a:t>
            </a:r>
            <a:r>
              <a:rPr lang="en-IE" altLang="zh-CN" sz="1800">
                <a:cs typeface="Times New Roman" charset="0"/>
              </a:rPr>
              <a:t> </a:t>
            </a:r>
            <a:endParaRPr lang="en-US" sz="1800">
              <a:cs typeface="Times New Roman" charset="0"/>
            </a:endParaRPr>
          </a:p>
        </p:txBody>
      </p:sp>
      <p:sp>
        <p:nvSpPr>
          <p:cNvPr id="392273" name="AutoShape-81"/>
          <p:cNvSpPr>
            <a:spLocks noChangeArrowheads="1"/>
          </p:cNvSpPr>
          <p:nvPr/>
        </p:nvSpPr>
        <p:spPr bwMode="auto">
          <a:xfrm>
            <a:off x="911225" y="1308100"/>
            <a:ext cx="3316288" cy="49371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0000"/>
              </a:lnSpc>
            </a:pPr>
            <a:r>
              <a:rPr lang="fr-FR" altLang="zh-CN" sz="2200">
                <a:cs typeface="Times New Roman" charset="0"/>
              </a:rPr>
              <a:t>Héritage des autorisations</a:t>
            </a:r>
            <a:r>
              <a:rPr lang="en-IE" altLang="zh-CN" sz="2200">
                <a:cs typeface="Times New Roman" charset="0"/>
              </a:rPr>
              <a:t> </a:t>
            </a:r>
            <a:endParaRPr lang="en-US" sz="2200">
              <a:cs typeface="Times New Roman" charset="0"/>
            </a:endParaRPr>
          </a:p>
        </p:txBody>
      </p:sp>
      <p:pic>
        <p:nvPicPr>
          <p:cNvPr id="392287" name="Picture-95" descr="Collection_Group01"/>
          <p:cNvPicPr>
            <a:picLocks noChangeAspect="1" noChangeArrowheads="1"/>
          </p:cNvPicPr>
          <p:nvPr/>
        </p:nvPicPr>
        <p:blipFill>
          <a:blip r:embed="rId4"/>
          <a:srcRect/>
          <a:stretch>
            <a:fillRect/>
          </a:stretch>
        </p:blipFill>
        <p:spPr bwMode="auto">
          <a:xfrm>
            <a:off x="560388" y="1844675"/>
            <a:ext cx="1808162" cy="1308100"/>
          </a:xfrm>
          <a:prstGeom prst="rect">
            <a:avLst/>
          </a:prstGeom>
          <a:noFill/>
        </p:spPr>
      </p:pic>
      <p:pic>
        <p:nvPicPr>
          <p:cNvPr id="392265" name="Picture-73" descr="Security_Permissions01"/>
          <p:cNvPicPr>
            <a:picLocks noChangeAspect="1" noChangeArrowheads="1"/>
          </p:cNvPicPr>
          <p:nvPr/>
        </p:nvPicPr>
        <p:blipFill>
          <a:blip r:embed="rId5" cstate="print"/>
          <a:srcRect/>
          <a:stretch>
            <a:fillRect/>
          </a:stretch>
        </p:blipFill>
        <p:spPr bwMode="auto">
          <a:xfrm>
            <a:off x="2011363" y="1960563"/>
            <a:ext cx="782637" cy="1104900"/>
          </a:xfrm>
          <a:prstGeom prst="rect">
            <a:avLst/>
          </a:prstGeom>
          <a:noFill/>
        </p:spPr>
      </p:pic>
      <p:sp>
        <p:nvSpPr>
          <p:cNvPr id="392266" name="AutoShape-74"/>
          <p:cNvSpPr>
            <a:spLocks noChangeArrowheads="1"/>
          </p:cNvSpPr>
          <p:nvPr/>
        </p:nvSpPr>
        <p:spPr bwMode="auto">
          <a:xfrm>
            <a:off x="2442238" y="1969946"/>
            <a:ext cx="2233070" cy="439737"/>
          </a:xfrm>
          <a:prstGeom prst="rightArrowCallout">
            <a:avLst>
              <a:gd name="adj1" fmla="val 42963"/>
              <a:gd name="adj2" fmla="val 42074"/>
              <a:gd name="adj3" fmla="val 70855"/>
              <a:gd name="adj4" fmla="val 77611"/>
            </a:avLst>
          </a:prstGeom>
          <a:gradFill rotWithShape="1">
            <a:gsLst>
              <a:gs pos="0">
                <a:srgbClr val="ADE2A1"/>
              </a:gs>
              <a:gs pos="100000">
                <a:srgbClr val="E8F6E4"/>
              </a:gs>
            </a:gsLst>
            <a:lin ang="2700000" scaled="1"/>
          </a:gra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sz="1800" dirty="0">
                <a:cs typeface="Times New Roman" charset="0"/>
              </a:rPr>
              <a:t>Lecture/écriture</a:t>
            </a:r>
            <a:r>
              <a:rPr lang="en-IE" altLang="zh-CN" sz="1800" dirty="0">
                <a:cs typeface="Times New Roman" charset="0"/>
              </a:rPr>
              <a:t> </a:t>
            </a:r>
            <a:endParaRPr lang="en-US" sz="1800" dirty="0">
              <a:cs typeface="Times New Roman" charset="0"/>
            </a:endParaRPr>
          </a:p>
        </p:txBody>
      </p:sp>
      <p:sp>
        <p:nvSpPr>
          <p:cNvPr id="392261" name="AutoShape-69"/>
          <p:cNvSpPr>
            <a:spLocks noChangeArrowheads="1"/>
          </p:cNvSpPr>
          <p:nvPr/>
        </p:nvSpPr>
        <p:spPr bwMode="auto">
          <a:xfrm>
            <a:off x="666750" y="3913188"/>
            <a:ext cx="7737475" cy="2397125"/>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lnSpc>
                <a:spcPct val="100000"/>
              </a:lnSpc>
              <a:buSzPct val="85000"/>
            </a:pPr>
            <a:endParaRPr lang="en-IE" sz="1800">
              <a:solidFill>
                <a:schemeClr val="tx1"/>
              </a:solidFill>
            </a:endParaRPr>
          </a:p>
        </p:txBody>
      </p:sp>
      <p:sp>
        <p:nvSpPr>
          <p:cNvPr id="392262" name="AutoShape-70"/>
          <p:cNvSpPr>
            <a:spLocks noChangeArrowheads="1"/>
          </p:cNvSpPr>
          <p:nvPr/>
        </p:nvSpPr>
        <p:spPr bwMode="auto">
          <a:xfrm>
            <a:off x="914400" y="3643313"/>
            <a:ext cx="2720975" cy="463550"/>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r>
              <a:rPr lang="fr-FR" altLang="zh-CN" sz="2200">
                <a:cs typeface="Times New Roman" charset="0"/>
              </a:rPr>
              <a:t>Blocage de l'héritage</a:t>
            </a:r>
            <a:r>
              <a:rPr lang="en-IE" altLang="zh-CN" sz="2200">
                <a:cs typeface="Times New Roman" charset="0"/>
              </a:rPr>
              <a:t> </a:t>
            </a:r>
            <a:endParaRPr lang="en-US" sz="2200">
              <a:cs typeface="Times New Roman" charset="0"/>
            </a:endParaRPr>
          </a:p>
        </p:txBody>
      </p:sp>
      <p:sp>
        <p:nvSpPr>
          <p:cNvPr id="392275" name="Rectangle-83"/>
          <p:cNvSpPr>
            <a:spLocks noChangeArrowheads="1"/>
          </p:cNvSpPr>
          <p:nvPr/>
        </p:nvSpPr>
        <p:spPr bwMode="auto">
          <a:xfrm>
            <a:off x="2795588" y="5557838"/>
            <a:ext cx="2103437" cy="366712"/>
          </a:xfrm>
          <a:prstGeom prst="rect">
            <a:avLst/>
          </a:prstGeom>
          <a:noFill/>
          <a:ln w="9525" algn="ctr">
            <a:noFill/>
            <a:miter lim="800000"/>
            <a:headEnd/>
            <a:tailEnd/>
          </a:ln>
          <a:effectLst/>
        </p:spPr>
        <p:txBody>
          <a:bodyPr wrap="none" tIns="27432" bIns="27432" anchor="ctr"/>
          <a:lstStyle/>
          <a:p>
            <a:pPr>
              <a:lnSpc>
                <a:spcPct val="100000"/>
              </a:lnSpc>
            </a:pPr>
            <a:r>
              <a:rPr lang="fr-FR" altLang="zh-CN" sz="2200">
                <a:solidFill>
                  <a:srgbClr val="CC0000"/>
                </a:solidFill>
                <a:cs typeface="Times New Roman" charset="0"/>
              </a:rPr>
              <a:t>Accès à DossierB interdit</a:t>
            </a:r>
            <a:r>
              <a:rPr lang="en-IE" altLang="zh-CN" sz="2200">
                <a:cs typeface="Times New Roman" charset="0"/>
              </a:rPr>
              <a:t> </a:t>
            </a:r>
            <a:endParaRPr lang="en-US" sz="2200">
              <a:cs typeface="Times New Roman" charset="0"/>
            </a:endParaRPr>
          </a:p>
        </p:txBody>
      </p:sp>
      <p:sp>
        <p:nvSpPr>
          <p:cNvPr id="392278" name="Freeform-86"/>
          <p:cNvSpPr>
            <a:spLocks/>
          </p:cNvSpPr>
          <p:nvPr/>
        </p:nvSpPr>
        <p:spPr bwMode="auto">
          <a:xfrm>
            <a:off x="4872038" y="4356100"/>
            <a:ext cx="673100" cy="685800"/>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FF9999"/>
            </a:solidFill>
            <a:prstDash val="solid"/>
            <a:round/>
            <a:headEnd type="none" w="med" len="med"/>
            <a:tailEnd type="triangle" w="med" len="med"/>
          </a:ln>
          <a:effectLst/>
        </p:spPr>
        <p:txBody>
          <a:bodyPr anchor="ctr"/>
          <a:lstStyle/>
          <a:p>
            <a:endParaRPr lang="fr-FR"/>
          </a:p>
        </p:txBody>
      </p:sp>
      <p:pic>
        <p:nvPicPr>
          <p:cNvPr id="392279" name="Picture-87" descr="Folder_FolderOpen01"/>
          <p:cNvPicPr>
            <a:picLocks noChangeAspect="1" noChangeArrowheads="1"/>
          </p:cNvPicPr>
          <p:nvPr/>
        </p:nvPicPr>
        <p:blipFill>
          <a:blip r:embed="rId3" cstate="print"/>
          <a:srcRect/>
          <a:stretch>
            <a:fillRect/>
          </a:stretch>
        </p:blipFill>
        <p:spPr bwMode="auto">
          <a:xfrm>
            <a:off x="4422775" y="3808413"/>
            <a:ext cx="871538" cy="779462"/>
          </a:xfrm>
          <a:prstGeom prst="rect">
            <a:avLst/>
          </a:prstGeom>
          <a:noFill/>
        </p:spPr>
      </p:pic>
      <p:sp>
        <p:nvSpPr>
          <p:cNvPr id="392280" name="Text-Box-88"/>
          <p:cNvSpPr txBox="1">
            <a:spLocks noChangeArrowheads="1"/>
          </p:cNvSpPr>
          <p:nvPr/>
        </p:nvSpPr>
        <p:spPr bwMode="auto">
          <a:xfrm>
            <a:off x="5272088" y="4056063"/>
            <a:ext cx="1060450" cy="366712"/>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DossierA</a:t>
            </a:r>
            <a:r>
              <a:rPr lang="en-IE" altLang="zh-CN" sz="1800">
                <a:cs typeface="Times New Roman" charset="0"/>
              </a:rPr>
              <a:t> </a:t>
            </a:r>
            <a:endParaRPr lang="en-US" sz="1800">
              <a:cs typeface="Times New Roman" charset="0"/>
            </a:endParaRPr>
          </a:p>
        </p:txBody>
      </p:sp>
      <p:sp>
        <p:nvSpPr>
          <p:cNvPr id="392281" name="Text-Box-89"/>
          <p:cNvSpPr txBox="1">
            <a:spLocks noChangeArrowheads="1"/>
          </p:cNvSpPr>
          <p:nvPr/>
        </p:nvSpPr>
        <p:spPr bwMode="auto">
          <a:xfrm>
            <a:off x="6378575" y="4891088"/>
            <a:ext cx="1060450" cy="366712"/>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DossierB</a:t>
            </a:r>
            <a:r>
              <a:rPr lang="en-IE" altLang="zh-CN" sz="1800">
                <a:cs typeface="Times New Roman" charset="0"/>
              </a:rPr>
              <a:t> </a:t>
            </a:r>
            <a:endParaRPr lang="en-US" sz="1800">
              <a:cs typeface="Times New Roman" charset="0"/>
            </a:endParaRPr>
          </a:p>
        </p:txBody>
      </p:sp>
      <p:sp>
        <p:nvSpPr>
          <p:cNvPr id="392282" name="Freeform-90"/>
          <p:cNvSpPr>
            <a:spLocks/>
          </p:cNvSpPr>
          <p:nvPr/>
        </p:nvSpPr>
        <p:spPr bwMode="auto">
          <a:xfrm>
            <a:off x="5934075" y="5162550"/>
            <a:ext cx="673100" cy="685800"/>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CC0000"/>
            </a:solidFill>
            <a:prstDash val="solid"/>
            <a:round/>
            <a:headEnd type="none" w="med" len="med"/>
            <a:tailEnd type="triangle" w="med" len="med"/>
          </a:ln>
          <a:effectLst/>
        </p:spPr>
        <p:txBody>
          <a:bodyPr anchor="ctr"/>
          <a:lstStyle/>
          <a:p>
            <a:endParaRPr lang="fr-FR"/>
          </a:p>
        </p:txBody>
      </p:sp>
      <p:pic>
        <p:nvPicPr>
          <p:cNvPr id="392283" name="Picture-91" descr="Folder_FolderOpen01"/>
          <p:cNvPicPr>
            <a:picLocks noChangeAspect="1" noChangeArrowheads="1"/>
          </p:cNvPicPr>
          <p:nvPr/>
        </p:nvPicPr>
        <p:blipFill>
          <a:blip r:embed="rId3" cstate="print"/>
          <a:srcRect/>
          <a:stretch>
            <a:fillRect/>
          </a:stretch>
        </p:blipFill>
        <p:spPr bwMode="auto">
          <a:xfrm>
            <a:off x="6600825" y="5435600"/>
            <a:ext cx="871538" cy="779463"/>
          </a:xfrm>
          <a:prstGeom prst="rect">
            <a:avLst/>
          </a:prstGeom>
          <a:noFill/>
        </p:spPr>
      </p:pic>
      <p:sp>
        <p:nvSpPr>
          <p:cNvPr id="392284" name="Text-Box-92"/>
          <p:cNvSpPr txBox="1">
            <a:spLocks noChangeArrowheads="1"/>
          </p:cNvSpPr>
          <p:nvPr/>
        </p:nvSpPr>
        <p:spPr bwMode="auto">
          <a:xfrm>
            <a:off x="7426325" y="5697538"/>
            <a:ext cx="1060450" cy="366712"/>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DossierC</a:t>
            </a:r>
            <a:r>
              <a:rPr lang="en-IE" altLang="zh-CN" sz="1800">
                <a:cs typeface="Times New Roman" charset="0"/>
              </a:rPr>
              <a:t> </a:t>
            </a:r>
            <a:endParaRPr lang="en-US" sz="1800">
              <a:cs typeface="Times New Roman" charset="0"/>
            </a:endParaRPr>
          </a:p>
        </p:txBody>
      </p:sp>
      <p:pic>
        <p:nvPicPr>
          <p:cNvPr id="392285" name="Picture-93" descr="Folder_FolderOpen01"/>
          <p:cNvPicPr>
            <a:picLocks noChangeAspect="1" noChangeArrowheads="1"/>
          </p:cNvPicPr>
          <p:nvPr/>
        </p:nvPicPr>
        <p:blipFill>
          <a:blip r:embed="rId3" cstate="print"/>
          <a:srcRect/>
          <a:stretch>
            <a:fillRect/>
          </a:stretch>
        </p:blipFill>
        <p:spPr bwMode="auto">
          <a:xfrm>
            <a:off x="5538788" y="4629150"/>
            <a:ext cx="871537" cy="779463"/>
          </a:xfrm>
          <a:prstGeom prst="rect">
            <a:avLst/>
          </a:prstGeom>
          <a:noFill/>
        </p:spPr>
      </p:pic>
      <p:sp>
        <p:nvSpPr>
          <p:cNvPr id="392286" name="AutoShape-94"/>
          <p:cNvSpPr>
            <a:spLocks noChangeArrowheads="1"/>
          </p:cNvSpPr>
          <p:nvPr/>
        </p:nvSpPr>
        <p:spPr bwMode="auto">
          <a:xfrm>
            <a:off x="4613275" y="4532313"/>
            <a:ext cx="727075" cy="727075"/>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alpha val="75000"/>
            </a:srgbClr>
          </a:solidFill>
          <a:ln w="9525" algn="ctr">
            <a:noFill/>
            <a:miter lim="800000"/>
            <a:headEnd/>
            <a:tailEnd/>
          </a:ln>
          <a:effectLst/>
        </p:spPr>
        <p:txBody>
          <a:bodyPr wrap="none" anchor="ctr"/>
          <a:lstStyle/>
          <a:p>
            <a:endParaRPr lang="fr-FR"/>
          </a:p>
        </p:txBody>
      </p:sp>
      <p:pic>
        <p:nvPicPr>
          <p:cNvPr id="392288" name="Picture-96" descr="Collection_Group01"/>
          <p:cNvPicPr>
            <a:picLocks noChangeAspect="1" noChangeArrowheads="1"/>
          </p:cNvPicPr>
          <p:nvPr/>
        </p:nvPicPr>
        <p:blipFill>
          <a:blip r:embed="rId4"/>
          <a:srcRect/>
          <a:stretch>
            <a:fillRect/>
          </a:stretch>
        </p:blipFill>
        <p:spPr bwMode="auto">
          <a:xfrm>
            <a:off x="560388" y="4248150"/>
            <a:ext cx="1808162" cy="1308100"/>
          </a:xfrm>
          <a:prstGeom prst="rect">
            <a:avLst/>
          </a:prstGeom>
          <a:noFill/>
        </p:spPr>
      </p:pic>
      <p:pic>
        <p:nvPicPr>
          <p:cNvPr id="392289" name="Picture-97" descr="Security_Permissions01"/>
          <p:cNvPicPr>
            <a:picLocks noChangeAspect="1" noChangeArrowheads="1"/>
          </p:cNvPicPr>
          <p:nvPr/>
        </p:nvPicPr>
        <p:blipFill>
          <a:blip r:embed="rId5" cstate="print"/>
          <a:srcRect/>
          <a:stretch>
            <a:fillRect/>
          </a:stretch>
        </p:blipFill>
        <p:spPr bwMode="auto">
          <a:xfrm>
            <a:off x="2011363" y="4364038"/>
            <a:ext cx="782637" cy="1104900"/>
          </a:xfrm>
          <a:prstGeom prst="rect">
            <a:avLst/>
          </a:prstGeom>
          <a:noFill/>
        </p:spPr>
      </p:pic>
      <p:sp>
        <p:nvSpPr>
          <p:cNvPr id="392290" name="AutoShape-98"/>
          <p:cNvSpPr>
            <a:spLocks noChangeArrowheads="1"/>
          </p:cNvSpPr>
          <p:nvPr/>
        </p:nvSpPr>
        <p:spPr bwMode="auto">
          <a:xfrm>
            <a:off x="2387647" y="4196000"/>
            <a:ext cx="2198346" cy="439737"/>
          </a:xfrm>
          <a:prstGeom prst="rightArrowCallout">
            <a:avLst>
              <a:gd name="adj1" fmla="val 42963"/>
              <a:gd name="adj2" fmla="val 42074"/>
              <a:gd name="adj3" fmla="val 72077"/>
              <a:gd name="adj4" fmla="val 77611"/>
            </a:avLst>
          </a:prstGeom>
          <a:gradFill rotWithShape="1">
            <a:gsLst>
              <a:gs pos="0">
                <a:srgbClr val="ADE2A1"/>
              </a:gs>
              <a:gs pos="100000">
                <a:srgbClr val="E8F6E4"/>
              </a:gs>
            </a:gsLst>
            <a:lin ang="2700000" scaled="1"/>
          </a:gra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sz="1800" dirty="0">
                <a:cs typeface="Times New Roman" charset="0"/>
              </a:rPr>
              <a:t>Lecture/écriture</a:t>
            </a:r>
            <a:r>
              <a:rPr lang="en-IE" altLang="zh-CN" sz="1600" dirty="0">
                <a:cs typeface="Times New Roman" charset="0"/>
              </a:rPr>
              <a:t> </a:t>
            </a:r>
            <a:endParaRPr lang="en-US" sz="1600" dirty="0">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2268"/>
                                        </p:tgtEl>
                                        <p:attrNameLst>
                                          <p:attrName>style.visibility</p:attrName>
                                        </p:attrNameLst>
                                      </p:cBhvr>
                                      <p:to>
                                        <p:strVal val="visible"/>
                                      </p:to>
                                    </p:set>
                                    <p:animEffect transition="in" filter="checkerboard(across)">
                                      <p:cBhvr>
                                        <p:cTn id="7" dur="1000"/>
                                        <p:tgtEl>
                                          <p:spTgt spid="392268"/>
                                        </p:tgtEl>
                                      </p:cBhvr>
                                    </p:animEffect>
                                  </p:childTnLst>
                                </p:cTn>
                              </p:par>
                              <p:par>
                                <p:cTn id="8" presetID="5" presetClass="entr" presetSubtype="10" fill="hold" nodeType="withEffect">
                                  <p:stCondLst>
                                    <p:cond delay="0"/>
                                  </p:stCondLst>
                                  <p:childTnLst>
                                    <p:set>
                                      <p:cBhvr>
                                        <p:cTn id="9" dur="1" fill="hold">
                                          <p:stCondLst>
                                            <p:cond delay="0"/>
                                          </p:stCondLst>
                                        </p:cTn>
                                        <p:tgtEl>
                                          <p:spTgt spid="392269"/>
                                        </p:tgtEl>
                                        <p:attrNameLst>
                                          <p:attrName>style.visibility</p:attrName>
                                        </p:attrNameLst>
                                      </p:cBhvr>
                                      <p:to>
                                        <p:strVal val="visible"/>
                                      </p:to>
                                    </p:set>
                                    <p:animEffect transition="in" filter="checkerboard(across)">
                                      <p:cBhvr>
                                        <p:cTn id="10" dur="1000"/>
                                        <p:tgtEl>
                                          <p:spTgt spid="392269"/>
                                        </p:tgtEl>
                                      </p:cBhvr>
                                    </p:animEffect>
                                  </p:childTnLst>
                                </p:cTn>
                              </p:par>
                              <p:par>
                                <p:cTn id="11" presetID="5" presetClass="entr" presetSubtype="10" fill="hold" nodeType="withEffect">
                                  <p:stCondLst>
                                    <p:cond delay="0"/>
                                  </p:stCondLst>
                                  <p:childTnLst>
                                    <p:set>
                                      <p:cBhvr>
                                        <p:cTn id="12" dur="1" fill="hold">
                                          <p:stCondLst>
                                            <p:cond delay="0"/>
                                          </p:stCondLst>
                                        </p:cTn>
                                        <p:tgtEl>
                                          <p:spTgt spid="392270"/>
                                        </p:tgtEl>
                                        <p:attrNameLst>
                                          <p:attrName>style.visibility</p:attrName>
                                        </p:attrNameLst>
                                      </p:cBhvr>
                                      <p:to>
                                        <p:strVal val="visible"/>
                                      </p:to>
                                    </p:set>
                                    <p:animEffect transition="in" filter="checkerboard(across)">
                                      <p:cBhvr>
                                        <p:cTn id="13" dur="1000"/>
                                        <p:tgtEl>
                                          <p:spTgt spid="392270"/>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92271"/>
                                        </p:tgtEl>
                                        <p:attrNameLst>
                                          <p:attrName>style.visibility</p:attrName>
                                        </p:attrNameLst>
                                      </p:cBhvr>
                                      <p:to>
                                        <p:strVal val="visible"/>
                                      </p:to>
                                    </p:set>
                                    <p:animEffect transition="in" filter="checkerboard(across)">
                                      <p:cBhvr>
                                        <p:cTn id="16" dur="1000"/>
                                        <p:tgtEl>
                                          <p:spTgt spid="392271"/>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392272"/>
                                        </p:tgtEl>
                                        <p:attrNameLst>
                                          <p:attrName>style.visibility</p:attrName>
                                        </p:attrNameLst>
                                      </p:cBhvr>
                                      <p:to>
                                        <p:strVal val="visible"/>
                                      </p:to>
                                    </p:set>
                                    <p:animEffect transition="in" filter="checkerboard(across)">
                                      <p:cBhvr>
                                        <p:cTn id="19" dur="1000"/>
                                        <p:tgtEl>
                                          <p:spTgt spid="392272"/>
                                        </p:tgtEl>
                                      </p:cBhvr>
                                    </p:animEffect>
                                  </p:childTnLst>
                                </p:cTn>
                              </p:par>
                              <p:par>
                                <p:cTn id="20" presetID="5" presetClass="entr" presetSubtype="10" fill="hold" nodeType="withEffect">
                                  <p:stCondLst>
                                    <p:cond delay="0"/>
                                  </p:stCondLst>
                                  <p:childTnLst>
                                    <p:set>
                                      <p:cBhvr>
                                        <p:cTn id="21" dur="1" fill="hold">
                                          <p:stCondLst>
                                            <p:cond delay="0"/>
                                          </p:stCondLst>
                                        </p:cTn>
                                        <p:tgtEl>
                                          <p:spTgt spid="392287"/>
                                        </p:tgtEl>
                                        <p:attrNameLst>
                                          <p:attrName>style.visibility</p:attrName>
                                        </p:attrNameLst>
                                      </p:cBhvr>
                                      <p:to>
                                        <p:strVal val="visible"/>
                                      </p:to>
                                    </p:set>
                                    <p:animEffect transition="in" filter="checkerboard(across)">
                                      <p:cBhvr>
                                        <p:cTn id="22" dur="1000"/>
                                        <p:tgtEl>
                                          <p:spTgt spid="392287"/>
                                        </p:tgtEl>
                                      </p:cBhvr>
                                    </p:animEffect>
                                  </p:childTnLst>
                                </p:cTn>
                              </p:par>
                              <p:par>
                                <p:cTn id="23" presetID="5" presetClass="entr" presetSubtype="10" fill="hold" nodeType="withEffect">
                                  <p:stCondLst>
                                    <p:cond delay="0"/>
                                  </p:stCondLst>
                                  <p:childTnLst>
                                    <p:set>
                                      <p:cBhvr>
                                        <p:cTn id="24" dur="1" fill="hold">
                                          <p:stCondLst>
                                            <p:cond delay="0"/>
                                          </p:stCondLst>
                                        </p:cTn>
                                        <p:tgtEl>
                                          <p:spTgt spid="392265"/>
                                        </p:tgtEl>
                                        <p:attrNameLst>
                                          <p:attrName>style.visibility</p:attrName>
                                        </p:attrNameLst>
                                      </p:cBhvr>
                                      <p:to>
                                        <p:strVal val="visible"/>
                                      </p:to>
                                    </p:set>
                                    <p:animEffect transition="in" filter="checkerboard(across)">
                                      <p:cBhvr>
                                        <p:cTn id="25" dur="1000"/>
                                        <p:tgtEl>
                                          <p:spTgt spid="392265"/>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392266"/>
                                        </p:tgtEl>
                                        <p:attrNameLst>
                                          <p:attrName>style.visibility</p:attrName>
                                        </p:attrNameLst>
                                      </p:cBhvr>
                                      <p:to>
                                        <p:strVal val="visible"/>
                                      </p:to>
                                    </p:set>
                                    <p:animEffect transition="in" filter="checkerboard(across)">
                                      <p:cBhvr>
                                        <p:cTn id="28" dur="1000"/>
                                        <p:tgtEl>
                                          <p:spTgt spid="392266"/>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392267"/>
                                        </p:tgtEl>
                                        <p:attrNameLst>
                                          <p:attrName>style.visibility</p:attrName>
                                        </p:attrNameLst>
                                      </p:cBhvr>
                                      <p:to>
                                        <p:strVal val="visible"/>
                                      </p:to>
                                    </p:set>
                                    <p:animEffect transition="in" filter="checkerboard(across)">
                                      <p:cBhvr>
                                        <p:cTn id="33" dur="1000"/>
                                        <p:tgtEl>
                                          <p:spTgt spid="392267"/>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392261"/>
                                        </p:tgtEl>
                                        <p:attrNameLst>
                                          <p:attrName>style.visibility</p:attrName>
                                        </p:attrNameLst>
                                      </p:cBhvr>
                                      <p:to>
                                        <p:strVal val="visible"/>
                                      </p:to>
                                    </p:set>
                                    <p:animEffect transition="in" filter="checkerboard(across)">
                                      <p:cBhvr>
                                        <p:cTn id="38" dur="1000"/>
                                        <p:tgtEl>
                                          <p:spTgt spid="392261"/>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392262"/>
                                        </p:tgtEl>
                                        <p:attrNameLst>
                                          <p:attrName>style.visibility</p:attrName>
                                        </p:attrNameLst>
                                      </p:cBhvr>
                                      <p:to>
                                        <p:strVal val="visible"/>
                                      </p:to>
                                    </p:set>
                                    <p:animEffect transition="in" filter="checkerboard(across)">
                                      <p:cBhvr>
                                        <p:cTn id="41" dur="1000"/>
                                        <p:tgtEl>
                                          <p:spTgt spid="392262"/>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392278"/>
                                        </p:tgtEl>
                                        <p:attrNameLst>
                                          <p:attrName>style.visibility</p:attrName>
                                        </p:attrNameLst>
                                      </p:cBhvr>
                                      <p:to>
                                        <p:strVal val="visible"/>
                                      </p:to>
                                    </p:set>
                                    <p:animEffect transition="in" filter="checkerboard(across)">
                                      <p:cBhvr>
                                        <p:cTn id="44" dur="1000"/>
                                        <p:tgtEl>
                                          <p:spTgt spid="392278"/>
                                        </p:tgtEl>
                                      </p:cBhvr>
                                    </p:animEffect>
                                  </p:childTnLst>
                                </p:cTn>
                              </p:par>
                              <p:par>
                                <p:cTn id="45" presetID="5" presetClass="entr" presetSubtype="10" fill="hold" nodeType="withEffect">
                                  <p:stCondLst>
                                    <p:cond delay="0"/>
                                  </p:stCondLst>
                                  <p:childTnLst>
                                    <p:set>
                                      <p:cBhvr>
                                        <p:cTn id="46" dur="1" fill="hold">
                                          <p:stCondLst>
                                            <p:cond delay="0"/>
                                          </p:stCondLst>
                                        </p:cTn>
                                        <p:tgtEl>
                                          <p:spTgt spid="392279"/>
                                        </p:tgtEl>
                                        <p:attrNameLst>
                                          <p:attrName>style.visibility</p:attrName>
                                        </p:attrNameLst>
                                      </p:cBhvr>
                                      <p:to>
                                        <p:strVal val="visible"/>
                                      </p:to>
                                    </p:set>
                                    <p:animEffect transition="in" filter="checkerboard(across)">
                                      <p:cBhvr>
                                        <p:cTn id="47" dur="1000"/>
                                        <p:tgtEl>
                                          <p:spTgt spid="392279"/>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392280"/>
                                        </p:tgtEl>
                                        <p:attrNameLst>
                                          <p:attrName>style.visibility</p:attrName>
                                        </p:attrNameLst>
                                      </p:cBhvr>
                                      <p:to>
                                        <p:strVal val="visible"/>
                                      </p:to>
                                    </p:set>
                                    <p:animEffect transition="in" filter="checkerboard(across)">
                                      <p:cBhvr>
                                        <p:cTn id="50" dur="1000"/>
                                        <p:tgtEl>
                                          <p:spTgt spid="392280"/>
                                        </p:tgtEl>
                                      </p:cBhvr>
                                    </p:animEffect>
                                  </p:childTnLst>
                                </p:cTn>
                              </p:par>
                              <p:par>
                                <p:cTn id="51" presetID="5" presetClass="entr" presetSubtype="10" fill="hold" grpId="0" nodeType="withEffect">
                                  <p:stCondLst>
                                    <p:cond delay="0"/>
                                  </p:stCondLst>
                                  <p:childTnLst>
                                    <p:set>
                                      <p:cBhvr>
                                        <p:cTn id="52" dur="1" fill="hold">
                                          <p:stCondLst>
                                            <p:cond delay="0"/>
                                          </p:stCondLst>
                                        </p:cTn>
                                        <p:tgtEl>
                                          <p:spTgt spid="392281"/>
                                        </p:tgtEl>
                                        <p:attrNameLst>
                                          <p:attrName>style.visibility</p:attrName>
                                        </p:attrNameLst>
                                      </p:cBhvr>
                                      <p:to>
                                        <p:strVal val="visible"/>
                                      </p:to>
                                    </p:set>
                                    <p:animEffect transition="in" filter="checkerboard(across)">
                                      <p:cBhvr>
                                        <p:cTn id="53" dur="1000"/>
                                        <p:tgtEl>
                                          <p:spTgt spid="392281"/>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392282"/>
                                        </p:tgtEl>
                                        <p:attrNameLst>
                                          <p:attrName>style.visibility</p:attrName>
                                        </p:attrNameLst>
                                      </p:cBhvr>
                                      <p:to>
                                        <p:strVal val="visible"/>
                                      </p:to>
                                    </p:set>
                                    <p:animEffect transition="in" filter="checkerboard(across)">
                                      <p:cBhvr>
                                        <p:cTn id="56" dur="1000"/>
                                        <p:tgtEl>
                                          <p:spTgt spid="392282"/>
                                        </p:tgtEl>
                                      </p:cBhvr>
                                    </p:animEffect>
                                  </p:childTnLst>
                                </p:cTn>
                              </p:par>
                              <p:par>
                                <p:cTn id="57" presetID="5" presetClass="entr" presetSubtype="10" fill="hold" nodeType="withEffect">
                                  <p:stCondLst>
                                    <p:cond delay="0"/>
                                  </p:stCondLst>
                                  <p:childTnLst>
                                    <p:set>
                                      <p:cBhvr>
                                        <p:cTn id="58" dur="1" fill="hold">
                                          <p:stCondLst>
                                            <p:cond delay="0"/>
                                          </p:stCondLst>
                                        </p:cTn>
                                        <p:tgtEl>
                                          <p:spTgt spid="392283"/>
                                        </p:tgtEl>
                                        <p:attrNameLst>
                                          <p:attrName>style.visibility</p:attrName>
                                        </p:attrNameLst>
                                      </p:cBhvr>
                                      <p:to>
                                        <p:strVal val="visible"/>
                                      </p:to>
                                    </p:set>
                                    <p:animEffect transition="in" filter="checkerboard(across)">
                                      <p:cBhvr>
                                        <p:cTn id="59" dur="1000"/>
                                        <p:tgtEl>
                                          <p:spTgt spid="392283"/>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392284"/>
                                        </p:tgtEl>
                                        <p:attrNameLst>
                                          <p:attrName>style.visibility</p:attrName>
                                        </p:attrNameLst>
                                      </p:cBhvr>
                                      <p:to>
                                        <p:strVal val="visible"/>
                                      </p:to>
                                    </p:set>
                                    <p:animEffect transition="in" filter="checkerboard(across)">
                                      <p:cBhvr>
                                        <p:cTn id="62" dur="1000"/>
                                        <p:tgtEl>
                                          <p:spTgt spid="392284"/>
                                        </p:tgtEl>
                                      </p:cBhvr>
                                    </p:animEffect>
                                  </p:childTnLst>
                                </p:cTn>
                              </p:par>
                              <p:par>
                                <p:cTn id="63" presetID="5" presetClass="entr" presetSubtype="10" fill="hold" nodeType="withEffect">
                                  <p:stCondLst>
                                    <p:cond delay="0"/>
                                  </p:stCondLst>
                                  <p:childTnLst>
                                    <p:set>
                                      <p:cBhvr>
                                        <p:cTn id="64" dur="1" fill="hold">
                                          <p:stCondLst>
                                            <p:cond delay="0"/>
                                          </p:stCondLst>
                                        </p:cTn>
                                        <p:tgtEl>
                                          <p:spTgt spid="392285"/>
                                        </p:tgtEl>
                                        <p:attrNameLst>
                                          <p:attrName>style.visibility</p:attrName>
                                        </p:attrNameLst>
                                      </p:cBhvr>
                                      <p:to>
                                        <p:strVal val="visible"/>
                                      </p:to>
                                    </p:set>
                                    <p:animEffect transition="in" filter="checkerboard(across)">
                                      <p:cBhvr>
                                        <p:cTn id="65" dur="1000"/>
                                        <p:tgtEl>
                                          <p:spTgt spid="392285"/>
                                        </p:tgtEl>
                                      </p:cBhvr>
                                    </p:animEffect>
                                  </p:childTnLst>
                                </p:cTn>
                              </p:par>
                              <p:par>
                                <p:cTn id="66" presetID="5" presetClass="entr" presetSubtype="10" fill="hold" nodeType="withEffect">
                                  <p:stCondLst>
                                    <p:cond delay="0"/>
                                  </p:stCondLst>
                                  <p:childTnLst>
                                    <p:set>
                                      <p:cBhvr>
                                        <p:cTn id="67" dur="1" fill="hold">
                                          <p:stCondLst>
                                            <p:cond delay="0"/>
                                          </p:stCondLst>
                                        </p:cTn>
                                        <p:tgtEl>
                                          <p:spTgt spid="392288"/>
                                        </p:tgtEl>
                                        <p:attrNameLst>
                                          <p:attrName>style.visibility</p:attrName>
                                        </p:attrNameLst>
                                      </p:cBhvr>
                                      <p:to>
                                        <p:strVal val="visible"/>
                                      </p:to>
                                    </p:set>
                                    <p:animEffect transition="in" filter="checkerboard(across)">
                                      <p:cBhvr>
                                        <p:cTn id="68" dur="1000"/>
                                        <p:tgtEl>
                                          <p:spTgt spid="392288"/>
                                        </p:tgtEl>
                                      </p:cBhvr>
                                    </p:animEffect>
                                  </p:childTnLst>
                                </p:cTn>
                              </p:par>
                              <p:par>
                                <p:cTn id="69" presetID="5" presetClass="entr" presetSubtype="10" fill="hold" nodeType="withEffect">
                                  <p:stCondLst>
                                    <p:cond delay="0"/>
                                  </p:stCondLst>
                                  <p:childTnLst>
                                    <p:set>
                                      <p:cBhvr>
                                        <p:cTn id="70" dur="1" fill="hold">
                                          <p:stCondLst>
                                            <p:cond delay="0"/>
                                          </p:stCondLst>
                                        </p:cTn>
                                        <p:tgtEl>
                                          <p:spTgt spid="392289"/>
                                        </p:tgtEl>
                                        <p:attrNameLst>
                                          <p:attrName>style.visibility</p:attrName>
                                        </p:attrNameLst>
                                      </p:cBhvr>
                                      <p:to>
                                        <p:strVal val="visible"/>
                                      </p:to>
                                    </p:set>
                                    <p:animEffect transition="in" filter="checkerboard(across)">
                                      <p:cBhvr>
                                        <p:cTn id="71" dur="1000"/>
                                        <p:tgtEl>
                                          <p:spTgt spid="392289"/>
                                        </p:tgtEl>
                                      </p:cBhvr>
                                    </p:animEffect>
                                  </p:childTnLst>
                                </p:cTn>
                              </p:par>
                              <p:par>
                                <p:cTn id="72" presetID="5" presetClass="entr" presetSubtype="10" fill="hold" grpId="0" nodeType="withEffect">
                                  <p:stCondLst>
                                    <p:cond delay="0"/>
                                  </p:stCondLst>
                                  <p:childTnLst>
                                    <p:set>
                                      <p:cBhvr>
                                        <p:cTn id="73" dur="1" fill="hold">
                                          <p:stCondLst>
                                            <p:cond delay="0"/>
                                          </p:stCondLst>
                                        </p:cTn>
                                        <p:tgtEl>
                                          <p:spTgt spid="392290"/>
                                        </p:tgtEl>
                                        <p:attrNameLst>
                                          <p:attrName>style.visibility</p:attrName>
                                        </p:attrNameLst>
                                      </p:cBhvr>
                                      <p:to>
                                        <p:strVal val="visible"/>
                                      </p:to>
                                    </p:set>
                                    <p:animEffect transition="in" filter="checkerboard(across)">
                                      <p:cBhvr>
                                        <p:cTn id="74" dur="1000"/>
                                        <p:tgtEl>
                                          <p:spTgt spid="392290"/>
                                        </p:tgtEl>
                                      </p:cBhvr>
                                    </p:animEffect>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grpId="0" nodeType="clickEffect">
                                  <p:stCondLst>
                                    <p:cond delay="0"/>
                                  </p:stCondLst>
                                  <p:childTnLst>
                                    <p:set>
                                      <p:cBhvr>
                                        <p:cTn id="78" dur="1" fill="hold">
                                          <p:stCondLst>
                                            <p:cond delay="0"/>
                                          </p:stCondLst>
                                        </p:cTn>
                                        <p:tgtEl>
                                          <p:spTgt spid="392275"/>
                                        </p:tgtEl>
                                        <p:attrNameLst>
                                          <p:attrName>style.visibility</p:attrName>
                                        </p:attrNameLst>
                                      </p:cBhvr>
                                      <p:to>
                                        <p:strVal val="visible"/>
                                      </p:to>
                                    </p:set>
                                    <p:animEffect transition="in" filter="checkerboard(across)">
                                      <p:cBhvr>
                                        <p:cTn id="79" dur="1000"/>
                                        <p:tgtEl>
                                          <p:spTgt spid="392275"/>
                                        </p:tgtEl>
                                      </p:cBhvr>
                                    </p:animEffect>
                                  </p:childTnLst>
                                </p:cTn>
                              </p:par>
                              <p:par>
                                <p:cTn id="80" presetID="5" presetClass="entr" presetSubtype="10" fill="hold" grpId="0" nodeType="withEffect">
                                  <p:stCondLst>
                                    <p:cond delay="0"/>
                                  </p:stCondLst>
                                  <p:childTnLst>
                                    <p:set>
                                      <p:cBhvr>
                                        <p:cTn id="81" dur="1" fill="hold">
                                          <p:stCondLst>
                                            <p:cond delay="0"/>
                                          </p:stCondLst>
                                        </p:cTn>
                                        <p:tgtEl>
                                          <p:spTgt spid="392286"/>
                                        </p:tgtEl>
                                        <p:attrNameLst>
                                          <p:attrName>style.visibility</p:attrName>
                                        </p:attrNameLst>
                                      </p:cBhvr>
                                      <p:to>
                                        <p:strVal val="visible"/>
                                      </p:to>
                                    </p:set>
                                    <p:animEffect transition="in" filter="checkerboard(across)">
                                      <p:cBhvr>
                                        <p:cTn id="82" dur="1000"/>
                                        <p:tgtEl>
                                          <p:spTgt spid="392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67" grpId="0"/>
      <p:bldP spid="392268" grpId="0" animBg="1"/>
      <p:bldP spid="392271" grpId="0"/>
      <p:bldP spid="392272" grpId="0"/>
      <p:bldP spid="392266" grpId="0" animBg="1"/>
      <p:bldP spid="392261" grpId="0" animBg="1"/>
      <p:bldP spid="392262" grpId="0" animBg="1"/>
      <p:bldP spid="392275" grpId="0"/>
      <p:bldP spid="392278" grpId="0" animBg="1"/>
      <p:bldP spid="392280" grpId="0"/>
      <p:bldP spid="392281" grpId="0"/>
      <p:bldP spid="392282" grpId="0" animBg="1"/>
      <p:bldP spid="392284" grpId="0"/>
      <p:bldP spid="392286" grpId="0" animBg="1"/>
      <p:bldP spid="39229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2"/>
          <p:cNvSpPr>
            <a:spLocks noGrp="1" noChangeArrowheads="1"/>
          </p:cNvSpPr>
          <p:nvPr>
            <p:ph type="title"/>
          </p:nvPr>
        </p:nvSpPr>
        <p:spPr>
          <a:xfrm>
            <a:off x="0" y="490996"/>
            <a:ext cx="9144000" cy="758952"/>
          </a:xfrm>
        </p:spPr>
        <p:txBody>
          <a:bodyPr>
            <a:normAutofit fontScale="90000"/>
          </a:bodyPr>
          <a:lstStyle/>
          <a:p>
            <a:r>
              <a:rPr lang="fr-FR" altLang="zh-CN" b="1" dirty="0">
                <a:solidFill>
                  <a:srgbClr val="000000"/>
                </a:solidFill>
                <a:ea typeface="SimSun" pitchFamily="2" charset="-122"/>
                <a:cs typeface="Times New Roman" charset="0"/>
              </a:rPr>
              <a:t>4. Identification des autorisations effectives</a:t>
            </a:r>
            <a:r>
              <a:rPr lang="en-IE" altLang="zh-CN" b="1" dirty="0">
                <a:solidFill>
                  <a:srgbClr val="000000"/>
                </a:solidFill>
                <a:ea typeface="SimSun" pitchFamily="2" charset="-122"/>
              </a:rPr>
              <a:t> </a:t>
            </a:r>
            <a:endParaRPr lang="en-US" b="1" dirty="0">
              <a:solidFill>
                <a:srgbClr val="000000"/>
              </a:solidFill>
            </a:endParaRPr>
          </a:p>
        </p:txBody>
      </p:sp>
      <p:sp>
        <p:nvSpPr>
          <p:cNvPr id="349187" name="Rectangle-3"/>
          <p:cNvSpPr>
            <a:spLocks noGrp="1" noChangeArrowheads="1"/>
          </p:cNvSpPr>
          <p:nvPr>
            <p:ph sz="quarter" idx="1"/>
          </p:nvPr>
        </p:nvSpPr>
        <p:spPr>
          <a:xfrm>
            <a:off x="301752" y="1527048"/>
            <a:ext cx="8668628" cy="4572000"/>
          </a:xfrm>
        </p:spPr>
        <p:txBody>
          <a:bodyPr/>
          <a:lstStyle/>
          <a:p>
            <a:r>
              <a:rPr lang="fr-FR" altLang="zh-CN" dirty="0">
                <a:solidFill>
                  <a:srgbClr val="C00000"/>
                </a:solidFill>
                <a:ea typeface="SimSun" pitchFamily="2" charset="-122"/>
                <a:cs typeface="Times New Roman" charset="0"/>
              </a:rPr>
              <a:t>Description des autorisations effectives sur les fichiers et les dossiers NTFS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Procédure d'identification des autorisations effectives sur les fichiers et les dossiers NTFS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Impact de la combinaison des autorisations de dossier partagé et des autorisations NTFS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Procédure d'identification des autorisations effectives résultant de la combinaison des autorisations </a:t>
            </a:r>
            <a:br>
              <a:rPr lang="fr-FR" altLang="zh-CN" dirty="0">
                <a:solidFill>
                  <a:srgbClr val="C00000"/>
                </a:solidFill>
                <a:ea typeface="SimSun" pitchFamily="2" charset="-122"/>
                <a:cs typeface="Times New Roman" charset="0"/>
              </a:rPr>
            </a:br>
            <a:r>
              <a:rPr lang="fr-FR" altLang="zh-CN" dirty="0">
                <a:solidFill>
                  <a:srgbClr val="C00000"/>
                </a:solidFill>
                <a:ea typeface="SimSun" pitchFamily="2" charset="-122"/>
                <a:cs typeface="Times New Roman" charset="0"/>
              </a:rPr>
              <a:t>de dossier partagé et des autorisations NTFS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2"/>
          <p:cNvSpPr>
            <a:spLocks noGrp="1" noChangeArrowheads="1"/>
          </p:cNvSpPr>
          <p:nvPr>
            <p:ph type="title"/>
          </p:nvPr>
        </p:nvSpPr>
        <p:spPr>
          <a:xfrm>
            <a:off x="0" y="490996"/>
            <a:ext cx="9144000" cy="758952"/>
          </a:xfrm>
        </p:spPr>
        <p:txBody>
          <a:bodyPr>
            <a:noAutofit/>
          </a:bodyPr>
          <a:lstStyle/>
          <a:p>
            <a:r>
              <a:rPr lang="fr-FR" altLang="zh-CN" sz="3200" b="1" dirty="0">
                <a:solidFill>
                  <a:srgbClr val="C00000"/>
                </a:solidFill>
                <a:ea typeface="SimSun" pitchFamily="2" charset="-122"/>
                <a:cs typeface="Times New Roman" charset="0"/>
              </a:rPr>
              <a:t>Description des autorisations effectives sur les fichiers et les dossiers NTFS</a:t>
            </a:r>
            <a:r>
              <a:rPr lang="en-IE" altLang="zh-CN" sz="3200" b="1" dirty="0">
                <a:solidFill>
                  <a:srgbClr val="C00000"/>
                </a:solidFill>
                <a:ea typeface="SimSun" pitchFamily="2" charset="-122"/>
                <a:cs typeface="Times New Roman" charset="0"/>
              </a:rPr>
              <a:t> </a:t>
            </a:r>
            <a:endParaRPr lang="en-US" sz="3200" b="1" dirty="0">
              <a:solidFill>
                <a:srgbClr val="C00000"/>
              </a:solidFill>
              <a:ea typeface="SimSun" pitchFamily="2" charset="-122"/>
              <a:cs typeface="Times New Roman" charset="0"/>
            </a:endParaRPr>
          </a:p>
        </p:txBody>
      </p:sp>
      <p:sp>
        <p:nvSpPr>
          <p:cNvPr id="369776" name="Rectangle-112"/>
          <p:cNvSpPr>
            <a:spLocks noGrp="1" noChangeArrowheads="1"/>
          </p:cNvSpPr>
          <p:nvPr>
            <p:ph sz="quarter" idx="1"/>
          </p:nvPr>
        </p:nvSpPr>
        <p:spPr>
          <a:xfrm>
            <a:off x="64293" y="1349961"/>
            <a:ext cx="9015413" cy="5160355"/>
          </a:xfrm>
        </p:spPr>
        <p:txBody>
          <a:bodyPr>
            <a:noAutofit/>
          </a:bodyPr>
          <a:lstStyle/>
          <a:p>
            <a:r>
              <a:rPr lang="fr-FR" altLang="zh-CN" sz="2600" dirty="0">
                <a:solidFill>
                  <a:srgbClr val="000000"/>
                </a:solidFill>
                <a:ea typeface="SimSun" pitchFamily="2" charset="-122"/>
                <a:cs typeface="Times New Roman" charset="0"/>
              </a:rPr>
              <a:t>Les autorisations de même type sont cumulables</a:t>
            </a:r>
            <a:r>
              <a:rPr lang="en-IE" altLang="zh-CN" sz="2600" dirty="0">
                <a:solidFill>
                  <a:srgbClr val="000000"/>
                </a:solidFill>
                <a:ea typeface="SimSun" pitchFamily="2" charset="-122"/>
                <a:cs typeface="Times New Roman" charset="0"/>
              </a:rPr>
              <a:t> </a:t>
            </a:r>
          </a:p>
          <a:p>
            <a:r>
              <a:rPr lang="fr-FR" sz="2600" dirty="0"/>
              <a:t>Par défaut, le groupe Tout le monde dispose de l'autorisation de dossier partagé Lecture. </a:t>
            </a:r>
          </a:p>
          <a:p>
            <a:r>
              <a:rPr lang="fr-FR" sz="2600" dirty="0"/>
              <a:t>Les utilisateurs doivent avoir les autorisations NTFS appropriées sur chaque fichier et sous-dossier d'un dossier partagé — outre les autorisations du dossier partagé appropriées — pour pouvoir accéder à ces ressources. </a:t>
            </a:r>
          </a:p>
          <a:p>
            <a:r>
              <a:rPr lang="fr-FR" sz="2600" dirty="0"/>
              <a:t>Lorsque vous combinez des autorisations NTFS et des autorisations du dossier partagé, la plus restrictive de ces autorisations s'applique.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9776">
                                            <p:txEl>
                                              <p:pRg st="0" end="0"/>
                                            </p:txEl>
                                          </p:spTgt>
                                        </p:tgtEl>
                                        <p:attrNameLst>
                                          <p:attrName>style.visibility</p:attrName>
                                        </p:attrNameLst>
                                      </p:cBhvr>
                                      <p:to>
                                        <p:strVal val="visible"/>
                                      </p:to>
                                    </p:set>
                                    <p:anim calcmode="lin" valueType="num">
                                      <p:cBhvr additive="base">
                                        <p:cTn id="7" dur="1000" fill="hold"/>
                                        <p:tgtEl>
                                          <p:spTgt spid="369776">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697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9776">
                                            <p:txEl>
                                              <p:pRg st="1" end="1"/>
                                            </p:txEl>
                                          </p:spTgt>
                                        </p:tgtEl>
                                        <p:attrNameLst>
                                          <p:attrName>style.visibility</p:attrName>
                                        </p:attrNameLst>
                                      </p:cBhvr>
                                      <p:to>
                                        <p:strVal val="visible"/>
                                      </p:to>
                                    </p:set>
                                    <p:anim calcmode="lin" valueType="num">
                                      <p:cBhvr additive="base">
                                        <p:cTn id="13" dur="1000" fill="hold"/>
                                        <p:tgtEl>
                                          <p:spTgt spid="369776">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697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9776">
                                            <p:txEl>
                                              <p:pRg st="2" end="2"/>
                                            </p:txEl>
                                          </p:spTgt>
                                        </p:tgtEl>
                                        <p:attrNameLst>
                                          <p:attrName>style.visibility</p:attrName>
                                        </p:attrNameLst>
                                      </p:cBhvr>
                                      <p:to>
                                        <p:strVal val="visible"/>
                                      </p:to>
                                    </p:set>
                                    <p:anim calcmode="lin" valueType="num">
                                      <p:cBhvr additive="base">
                                        <p:cTn id="19" dur="1000" fill="hold"/>
                                        <p:tgtEl>
                                          <p:spTgt spid="369776">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697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9776">
                                            <p:txEl>
                                              <p:pRg st="3" end="3"/>
                                            </p:txEl>
                                          </p:spTgt>
                                        </p:tgtEl>
                                        <p:attrNameLst>
                                          <p:attrName>style.visibility</p:attrName>
                                        </p:attrNameLst>
                                      </p:cBhvr>
                                      <p:to>
                                        <p:strVal val="visible"/>
                                      </p:to>
                                    </p:set>
                                    <p:anim calcmode="lin" valueType="num">
                                      <p:cBhvr additive="base">
                                        <p:cTn id="25" dur="1000" fill="hold"/>
                                        <p:tgtEl>
                                          <p:spTgt spid="369776">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6977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9479D-2827-FB1B-667E-230353AE083C}"/>
            </a:ext>
          </a:extLst>
        </p:cNvPr>
        <p:cNvGrpSpPr/>
        <p:nvPr/>
      </p:nvGrpSpPr>
      <p:grpSpPr>
        <a:xfrm>
          <a:off x="0" y="0"/>
          <a:ext cx="0" cy="0"/>
          <a:chOff x="0" y="0"/>
          <a:chExt cx="0" cy="0"/>
        </a:xfrm>
      </p:grpSpPr>
      <p:sp>
        <p:nvSpPr>
          <p:cNvPr id="369666" name="Rectangle-2">
            <a:extLst>
              <a:ext uri="{FF2B5EF4-FFF2-40B4-BE49-F238E27FC236}">
                <a16:creationId xmlns:a16="http://schemas.microsoft.com/office/drawing/2014/main" id="{3F561AF6-E0DC-D4E1-88E0-0813D01CA28C}"/>
              </a:ext>
            </a:extLst>
          </p:cNvPr>
          <p:cNvSpPr>
            <a:spLocks noGrp="1" noChangeArrowheads="1"/>
          </p:cNvSpPr>
          <p:nvPr>
            <p:ph type="title"/>
          </p:nvPr>
        </p:nvSpPr>
        <p:spPr>
          <a:xfrm>
            <a:off x="0" y="490996"/>
            <a:ext cx="9144000" cy="758952"/>
          </a:xfrm>
        </p:spPr>
        <p:txBody>
          <a:bodyPr>
            <a:noAutofit/>
          </a:bodyPr>
          <a:lstStyle/>
          <a:p>
            <a:r>
              <a:rPr lang="fr-FR" altLang="zh-CN" sz="3200" b="1" dirty="0">
                <a:solidFill>
                  <a:srgbClr val="C00000"/>
                </a:solidFill>
                <a:ea typeface="SimSun" pitchFamily="2" charset="-122"/>
                <a:cs typeface="Times New Roman" charset="0"/>
              </a:rPr>
              <a:t>Description des autorisations effectives sur les fichiers et les dossiers NTFS</a:t>
            </a:r>
            <a:r>
              <a:rPr lang="en-IE" altLang="zh-CN" sz="3200" b="1" dirty="0">
                <a:solidFill>
                  <a:srgbClr val="C00000"/>
                </a:solidFill>
                <a:ea typeface="SimSun" pitchFamily="2" charset="-122"/>
                <a:cs typeface="Times New Roman" charset="0"/>
              </a:rPr>
              <a:t> </a:t>
            </a:r>
            <a:endParaRPr lang="en-US" sz="3200" b="1" dirty="0">
              <a:solidFill>
                <a:srgbClr val="C00000"/>
              </a:solidFill>
              <a:ea typeface="SimSun" pitchFamily="2" charset="-122"/>
              <a:cs typeface="Times New Roman" charset="0"/>
            </a:endParaRPr>
          </a:p>
        </p:txBody>
      </p:sp>
      <p:sp>
        <p:nvSpPr>
          <p:cNvPr id="369776" name="Rectangle-112">
            <a:extLst>
              <a:ext uri="{FF2B5EF4-FFF2-40B4-BE49-F238E27FC236}">
                <a16:creationId xmlns:a16="http://schemas.microsoft.com/office/drawing/2014/main" id="{9B8711BC-B917-B205-F21A-EBCF82BC9114}"/>
              </a:ext>
            </a:extLst>
          </p:cNvPr>
          <p:cNvSpPr>
            <a:spLocks noGrp="1" noChangeArrowheads="1"/>
          </p:cNvSpPr>
          <p:nvPr>
            <p:ph sz="quarter" idx="1"/>
          </p:nvPr>
        </p:nvSpPr>
        <p:spPr>
          <a:xfrm>
            <a:off x="64293" y="1635274"/>
            <a:ext cx="9015413" cy="3008164"/>
          </a:xfrm>
        </p:spPr>
        <p:txBody>
          <a:bodyPr>
            <a:noAutofit/>
          </a:bodyPr>
          <a:lstStyle/>
          <a:p>
            <a:r>
              <a:rPr lang="fr-FR" sz="2600" dirty="0"/>
              <a:t>Les autorisations de partage sur un dossier s'appliquent à ce dossier, à tous les fichiers qu'il contient, aux sous-dossiers et à tous les fichiers de ces sous-dossiers. </a:t>
            </a:r>
          </a:p>
          <a:p>
            <a:r>
              <a:rPr lang="fr-FR" sz="2600" dirty="0"/>
              <a:t>Les autorisations sur les fichiers NTFS sont prioritaires par rapport aux autorisations sur les dossiers. </a:t>
            </a:r>
          </a:p>
          <a:p>
            <a:r>
              <a:rPr lang="fr-FR" altLang="zh-CN" sz="2600" dirty="0">
                <a:solidFill>
                  <a:srgbClr val="000000"/>
                </a:solidFill>
                <a:ea typeface="SimSun" pitchFamily="2" charset="-122"/>
                <a:cs typeface="Times New Roman" charset="0"/>
              </a:rPr>
              <a:t>L'option Refuser remplace toutes les autorisations</a:t>
            </a:r>
            <a:r>
              <a:rPr lang="en-IE" altLang="zh-CN" sz="2600" dirty="0">
                <a:solidFill>
                  <a:srgbClr val="000000"/>
                </a:solidFill>
                <a:ea typeface="SimSun" pitchFamily="2" charset="-122"/>
                <a:cs typeface="Times New Roman" charset="0"/>
              </a:rPr>
              <a:t> </a:t>
            </a:r>
            <a:endParaRPr lang="en-US" sz="2600" dirty="0">
              <a:ea typeface="SimSun" pitchFamily="2" charset="-122"/>
              <a:cs typeface="Times New Roman" charset="0"/>
            </a:endParaRPr>
          </a:p>
        </p:txBody>
      </p:sp>
    </p:spTree>
    <p:extLst>
      <p:ext uri="{BB962C8B-B14F-4D97-AF65-F5344CB8AC3E}">
        <p14:creationId xmlns:p14="http://schemas.microsoft.com/office/powerpoint/2010/main" val="159985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9776">
                                            <p:txEl>
                                              <p:pRg st="0" end="0"/>
                                            </p:txEl>
                                          </p:spTgt>
                                        </p:tgtEl>
                                        <p:attrNameLst>
                                          <p:attrName>style.visibility</p:attrName>
                                        </p:attrNameLst>
                                      </p:cBhvr>
                                      <p:to>
                                        <p:strVal val="visible"/>
                                      </p:to>
                                    </p:set>
                                    <p:anim calcmode="lin" valueType="num">
                                      <p:cBhvr additive="base">
                                        <p:cTn id="7" dur="1000" fill="hold"/>
                                        <p:tgtEl>
                                          <p:spTgt spid="369776">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697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9776">
                                            <p:txEl>
                                              <p:pRg st="1" end="1"/>
                                            </p:txEl>
                                          </p:spTgt>
                                        </p:tgtEl>
                                        <p:attrNameLst>
                                          <p:attrName>style.visibility</p:attrName>
                                        </p:attrNameLst>
                                      </p:cBhvr>
                                      <p:to>
                                        <p:strVal val="visible"/>
                                      </p:to>
                                    </p:set>
                                    <p:anim calcmode="lin" valueType="num">
                                      <p:cBhvr additive="base">
                                        <p:cTn id="13" dur="1000" fill="hold"/>
                                        <p:tgtEl>
                                          <p:spTgt spid="369776">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697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9776">
                                            <p:txEl>
                                              <p:pRg st="2" end="2"/>
                                            </p:txEl>
                                          </p:spTgt>
                                        </p:tgtEl>
                                        <p:attrNameLst>
                                          <p:attrName>style.visibility</p:attrName>
                                        </p:attrNameLst>
                                      </p:cBhvr>
                                      <p:to>
                                        <p:strVal val="visible"/>
                                      </p:to>
                                    </p:set>
                                    <p:anim calcmode="lin" valueType="num">
                                      <p:cBhvr additive="base">
                                        <p:cTn id="19" dur="1000" fill="hold"/>
                                        <p:tgtEl>
                                          <p:spTgt spid="369776">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6977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2"/>
          <p:cNvSpPr>
            <a:spLocks noGrp="1" noChangeArrowheads="1"/>
          </p:cNvSpPr>
          <p:nvPr>
            <p:ph type="title"/>
          </p:nvPr>
        </p:nvSpPr>
        <p:spPr>
          <a:xfrm>
            <a:off x="97980" y="508451"/>
            <a:ext cx="9046019" cy="758952"/>
          </a:xfrm>
        </p:spPr>
        <p:txBody>
          <a:bodyPr>
            <a:normAutofit/>
          </a:bodyPr>
          <a:lstStyle/>
          <a:p>
            <a:r>
              <a:rPr lang="fr-FR" altLang="zh-CN" sz="3200" b="1" dirty="0">
                <a:solidFill>
                  <a:srgbClr val="C00000"/>
                </a:solidFill>
                <a:ea typeface="SimSun" pitchFamily="2" charset="-122"/>
                <a:cs typeface="Times New Roman" charset="0"/>
              </a:rPr>
              <a:t>Application des autorisations NTFS</a:t>
            </a:r>
            <a:r>
              <a:rPr lang="en-IE" altLang="zh-CN" sz="3200" b="1" dirty="0">
                <a:solidFill>
                  <a:srgbClr val="C00000"/>
                </a:solidFill>
                <a:ea typeface="SimSun" pitchFamily="2" charset="-122"/>
              </a:rPr>
              <a:t> </a:t>
            </a:r>
            <a:endParaRPr lang="en-US" sz="3200" b="1" dirty="0">
              <a:solidFill>
                <a:srgbClr val="C00000"/>
              </a:solidFill>
            </a:endParaRPr>
          </a:p>
        </p:txBody>
      </p:sp>
      <p:pic>
        <p:nvPicPr>
          <p:cNvPr id="437317" name="Picture-69" descr="Collection_Group01"/>
          <p:cNvPicPr>
            <a:picLocks noChangeAspect="1" noChangeArrowheads="1"/>
          </p:cNvPicPr>
          <p:nvPr/>
        </p:nvPicPr>
        <p:blipFill>
          <a:blip r:embed="rId3"/>
          <a:srcRect/>
          <a:stretch>
            <a:fillRect/>
          </a:stretch>
        </p:blipFill>
        <p:spPr bwMode="auto">
          <a:xfrm>
            <a:off x="3535713" y="1412875"/>
            <a:ext cx="1808162" cy="1308100"/>
          </a:xfrm>
          <a:prstGeom prst="rect">
            <a:avLst/>
          </a:prstGeom>
          <a:noFill/>
        </p:spPr>
      </p:pic>
      <p:pic>
        <p:nvPicPr>
          <p:cNvPr id="437318" name="Picture-70" descr="Collection_Group01"/>
          <p:cNvPicPr>
            <a:picLocks noChangeAspect="1" noChangeArrowheads="1"/>
          </p:cNvPicPr>
          <p:nvPr/>
        </p:nvPicPr>
        <p:blipFill>
          <a:blip r:embed="rId3"/>
          <a:srcRect/>
          <a:stretch>
            <a:fillRect/>
          </a:stretch>
        </p:blipFill>
        <p:spPr bwMode="auto">
          <a:xfrm>
            <a:off x="3535713" y="4303713"/>
            <a:ext cx="1808162" cy="1308100"/>
          </a:xfrm>
          <a:prstGeom prst="rect">
            <a:avLst/>
          </a:prstGeom>
          <a:noFill/>
        </p:spPr>
      </p:pic>
      <p:sp>
        <p:nvSpPr>
          <p:cNvPr id="437319" name="AutoShape-71"/>
          <p:cNvSpPr>
            <a:spLocks noChangeArrowheads="1"/>
          </p:cNvSpPr>
          <p:nvPr/>
        </p:nvSpPr>
        <p:spPr bwMode="auto">
          <a:xfrm>
            <a:off x="3724625" y="2651125"/>
            <a:ext cx="1281113" cy="55086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dirty="0">
                <a:cs typeface="Times New Roman" charset="0"/>
              </a:rPr>
              <a:t> </a:t>
            </a:r>
            <a:r>
              <a:rPr lang="fr-FR" altLang="zh-CN" sz="1800" dirty="0">
                <a:cs typeface="Times New Roman" charset="0"/>
              </a:rPr>
              <a:t>Groupe</a:t>
            </a:r>
            <a:br>
              <a:rPr lang="fr-FR" altLang="zh-CN" sz="1800" dirty="0">
                <a:cs typeface="Times New Roman" charset="0"/>
              </a:rPr>
            </a:br>
            <a:r>
              <a:rPr lang="fr-FR" altLang="zh-CN" sz="1800" dirty="0">
                <a:cs typeface="Times New Roman" charset="0"/>
              </a:rPr>
              <a:t>Utilisateurs</a:t>
            </a:r>
            <a:r>
              <a:rPr lang="en-IE" altLang="zh-CN" sz="1800" dirty="0">
                <a:cs typeface="Times New Roman" charset="0"/>
              </a:rPr>
              <a:t> </a:t>
            </a:r>
            <a:endParaRPr lang="en-US" sz="1800" dirty="0">
              <a:cs typeface="Times New Roman" charset="0"/>
            </a:endParaRPr>
          </a:p>
        </p:txBody>
      </p:sp>
      <p:sp>
        <p:nvSpPr>
          <p:cNvPr id="437320" name="AutoShape-72"/>
          <p:cNvSpPr>
            <a:spLocks noChangeArrowheads="1"/>
          </p:cNvSpPr>
          <p:nvPr/>
        </p:nvSpPr>
        <p:spPr bwMode="auto">
          <a:xfrm>
            <a:off x="3719863" y="5527675"/>
            <a:ext cx="1404937" cy="3810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sz="1800">
                <a:cs typeface="Times New Roman" charset="0"/>
              </a:rPr>
              <a:t> Groupe Ventes</a:t>
            </a:r>
            <a:r>
              <a:rPr lang="en-IE" altLang="zh-CN" sz="1800">
                <a:cs typeface="Times New Roman" charset="0"/>
              </a:rPr>
              <a:t> </a:t>
            </a:r>
            <a:endParaRPr lang="en-US" sz="1800">
              <a:cs typeface="Times New Roman" charset="0"/>
            </a:endParaRPr>
          </a:p>
        </p:txBody>
      </p:sp>
      <p:sp>
        <p:nvSpPr>
          <p:cNvPr id="437321" name="AutoShape-73"/>
          <p:cNvSpPr>
            <a:spLocks noChangeArrowheads="1"/>
          </p:cNvSpPr>
          <p:nvPr/>
        </p:nvSpPr>
        <p:spPr bwMode="auto">
          <a:xfrm>
            <a:off x="3956400" y="3644900"/>
            <a:ext cx="1112838" cy="36671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sz="1800">
                <a:cs typeface="Times New Roman" charset="0"/>
              </a:rPr>
              <a:t> Utilisateur1</a:t>
            </a:r>
            <a:r>
              <a:rPr lang="en-IE" altLang="zh-CN" sz="1600">
                <a:cs typeface="Times New Roman" charset="0"/>
              </a:rPr>
              <a:t> </a:t>
            </a:r>
            <a:endParaRPr lang="en-US" sz="1600">
              <a:cs typeface="Times New Roman" charset="0"/>
            </a:endParaRPr>
          </a:p>
        </p:txBody>
      </p:sp>
      <p:sp>
        <p:nvSpPr>
          <p:cNvPr id="437322" name="Freeform-74"/>
          <p:cNvSpPr>
            <a:spLocks/>
          </p:cNvSpPr>
          <p:nvPr/>
        </p:nvSpPr>
        <p:spPr bwMode="auto">
          <a:xfrm>
            <a:off x="5099400" y="2527300"/>
            <a:ext cx="631825" cy="2354263"/>
          </a:xfrm>
          <a:custGeom>
            <a:avLst/>
            <a:gdLst/>
            <a:ahLst/>
            <a:cxnLst>
              <a:cxn ang="0">
                <a:pos x="16" y="0"/>
              </a:cxn>
              <a:cxn ang="0">
                <a:pos x="398" y="754"/>
              </a:cxn>
              <a:cxn ang="0">
                <a:pos x="0" y="1483"/>
              </a:cxn>
            </a:cxnLst>
            <a:rect l="0" t="0" r="r" b="b"/>
            <a:pathLst>
              <a:path w="398" h="1483">
                <a:moveTo>
                  <a:pt x="16" y="0"/>
                </a:moveTo>
                <a:lnTo>
                  <a:pt x="398" y="754"/>
                </a:lnTo>
                <a:lnTo>
                  <a:pt x="0" y="1483"/>
                </a:lnTo>
              </a:path>
            </a:pathLst>
          </a:custGeom>
          <a:noFill/>
          <a:ln w="38100" cap="flat" cmpd="sng">
            <a:solidFill>
              <a:srgbClr val="333333"/>
            </a:solidFill>
            <a:prstDash val="sysDot"/>
            <a:round/>
            <a:headEnd/>
            <a:tailEnd/>
          </a:ln>
          <a:effectLst/>
        </p:spPr>
        <p:txBody>
          <a:bodyPr anchor="ctr"/>
          <a:lstStyle/>
          <a:p>
            <a:endParaRPr lang="fr-FR"/>
          </a:p>
        </p:txBody>
      </p:sp>
      <p:pic>
        <p:nvPicPr>
          <p:cNvPr id="437323" name="Picture-75" descr="User_UserE01"/>
          <p:cNvPicPr>
            <a:picLocks noChangeAspect="1" noChangeArrowheads="1"/>
          </p:cNvPicPr>
          <p:nvPr/>
        </p:nvPicPr>
        <p:blipFill>
          <a:blip r:embed="rId4"/>
          <a:srcRect/>
          <a:stretch>
            <a:fillRect/>
          </a:stretch>
        </p:blipFill>
        <p:spPr bwMode="auto">
          <a:xfrm>
            <a:off x="5120060" y="2925763"/>
            <a:ext cx="709613" cy="1612900"/>
          </a:xfrm>
          <a:prstGeom prst="rect">
            <a:avLst/>
          </a:prstGeom>
          <a:noFill/>
        </p:spPr>
      </p:pic>
      <p:sp>
        <p:nvSpPr>
          <p:cNvPr id="437328" name="AutoShape-80"/>
          <p:cNvSpPr>
            <a:spLocks noChangeArrowheads="1"/>
          </p:cNvSpPr>
          <p:nvPr/>
        </p:nvSpPr>
        <p:spPr bwMode="auto">
          <a:xfrm>
            <a:off x="273064" y="1333358"/>
            <a:ext cx="3185693" cy="551099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28600" tIns="91440" anchor="ctr"/>
          <a:lstStyle/>
          <a:p>
            <a:pPr marL="171450" indent="-171450" algn="l">
              <a:lnSpc>
                <a:spcPct val="100000"/>
              </a:lnSpc>
              <a:spcBef>
                <a:spcPct val="40000"/>
              </a:spcBef>
              <a:buSzPct val="80000"/>
              <a:buFontTx/>
              <a:buBlip>
                <a:blip r:embed="rId5"/>
              </a:buBlip>
            </a:pPr>
            <a:r>
              <a:rPr lang="fr-FR" altLang="zh-CN" sz="2200" b="0" dirty="0">
                <a:cs typeface="Times New Roman" charset="0"/>
              </a:rPr>
              <a:t>Groupe Utilisateurs</a:t>
            </a:r>
            <a:br>
              <a:rPr lang="fr-FR" altLang="zh-CN" sz="2200" b="0" dirty="0">
                <a:cs typeface="Times New Roman" charset="0"/>
              </a:rPr>
            </a:br>
            <a:r>
              <a:rPr lang="fr-FR" altLang="zh-CN" sz="2200" dirty="0">
                <a:cs typeface="Times New Roman" charset="0"/>
              </a:rPr>
              <a:t>Lecture</a:t>
            </a:r>
            <a:r>
              <a:rPr lang="fr-FR" altLang="zh-CN" sz="2200" b="0" dirty="0">
                <a:cs typeface="Times New Roman" charset="0"/>
              </a:rPr>
              <a:t> pour </a:t>
            </a:r>
            <a:r>
              <a:rPr lang="fr-FR" altLang="zh-CN" sz="2200" dirty="0">
                <a:cs typeface="Times New Roman" charset="0"/>
              </a:rPr>
              <a:t>Dossier1</a:t>
            </a:r>
            <a:r>
              <a:rPr lang="en-IE" altLang="zh-CN" sz="2200" dirty="0">
                <a:cs typeface="Times New Roman" charset="0"/>
              </a:rPr>
              <a:t> </a:t>
            </a:r>
            <a:endParaRPr lang="en-US" sz="2200" dirty="0">
              <a:solidFill>
                <a:schemeClr val="tx1"/>
              </a:solidFill>
              <a:cs typeface="Times New Roman" charset="0"/>
            </a:endParaRPr>
          </a:p>
          <a:p>
            <a:pPr marL="171450" indent="-171450" algn="l">
              <a:lnSpc>
                <a:spcPct val="100000"/>
              </a:lnSpc>
              <a:spcBef>
                <a:spcPct val="40000"/>
              </a:spcBef>
              <a:buSzPct val="80000"/>
              <a:buFontTx/>
              <a:buBlip>
                <a:blip r:embed="rId5"/>
              </a:buBlip>
            </a:pPr>
            <a:r>
              <a:rPr lang="fr-FR" altLang="zh-CN" sz="2200" b="0" dirty="0">
                <a:cs typeface="Times New Roman" charset="0"/>
              </a:rPr>
              <a:t>Groupe Ventes</a:t>
            </a:r>
            <a:br>
              <a:rPr lang="fr-FR" altLang="zh-CN" sz="2200" b="0" dirty="0">
                <a:cs typeface="Times New Roman" charset="0"/>
              </a:rPr>
            </a:br>
            <a:r>
              <a:rPr lang="fr-FR" altLang="zh-CN" sz="2200" dirty="0">
                <a:cs typeface="Times New Roman" charset="0"/>
              </a:rPr>
              <a:t>Écriture</a:t>
            </a:r>
            <a:r>
              <a:rPr lang="fr-FR" altLang="zh-CN" sz="2200" b="0" dirty="0">
                <a:cs typeface="Times New Roman" charset="0"/>
              </a:rPr>
              <a:t> pour </a:t>
            </a:r>
            <a:r>
              <a:rPr lang="fr-FR" altLang="zh-CN" sz="2200" dirty="0">
                <a:cs typeface="Times New Roman" charset="0"/>
              </a:rPr>
              <a:t>Dossier2</a:t>
            </a:r>
          </a:p>
          <a:p>
            <a:pPr marL="171450" indent="-171450" algn="l">
              <a:lnSpc>
                <a:spcPct val="100000"/>
              </a:lnSpc>
              <a:spcBef>
                <a:spcPct val="40000"/>
              </a:spcBef>
              <a:buSzPct val="80000"/>
              <a:buFontTx/>
              <a:buBlip>
                <a:blip r:embed="rId5"/>
              </a:buBlip>
            </a:pPr>
            <a:r>
              <a:rPr lang="fr-FR" altLang="zh-CN" sz="2200" dirty="0">
                <a:cs typeface="Times New Roman" charset="0"/>
              </a:rPr>
              <a:t>Q: Q</a:t>
            </a:r>
            <a:r>
              <a:rPr lang="fr-FR" sz="2200" dirty="0"/>
              <a:t>uelle autorisation Utilisateur1 dispose-t-il pour Fichier2 ?</a:t>
            </a:r>
            <a:r>
              <a:rPr lang="en-IE" altLang="zh-CN" sz="2200" dirty="0">
                <a:cs typeface="Times New Roman" charset="0"/>
              </a:rPr>
              <a:t> </a:t>
            </a:r>
          </a:p>
          <a:p>
            <a:pPr marL="171450" indent="-171450" algn="l">
              <a:lnSpc>
                <a:spcPct val="100000"/>
              </a:lnSpc>
              <a:spcBef>
                <a:spcPct val="40000"/>
              </a:spcBef>
              <a:buSzPct val="80000"/>
              <a:buFontTx/>
              <a:buBlip>
                <a:blip r:embed="rId5"/>
              </a:buBlip>
            </a:pPr>
            <a:r>
              <a:rPr lang="en-IE" sz="2200" dirty="0">
                <a:cs typeface="Times New Roman" charset="0"/>
              </a:rPr>
              <a:t>R: </a:t>
            </a:r>
            <a:r>
              <a:rPr lang="fr-FR" sz="2400" dirty="0"/>
              <a:t>Utilisateur1 dispose des autorisations de lecture et d'écriture sur Fichier2 </a:t>
            </a:r>
            <a:endParaRPr lang="en-US" sz="2200" dirty="0">
              <a:cs typeface="Times New Roman" charset="0"/>
            </a:endParaRPr>
          </a:p>
        </p:txBody>
      </p:sp>
      <p:sp>
        <p:nvSpPr>
          <p:cNvPr id="437329" name="AutoShape-81"/>
          <p:cNvSpPr>
            <a:spLocks noChangeArrowheads="1"/>
          </p:cNvSpPr>
          <p:nvPr/>
        </p:nvSpPr>
        <p:spPr bwMode="auto">
          <a:xfrm>
            <a:off x="-13648" y="1649991"/>
            <a:ext cx="484680" cy="42052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nSpc>
                <a:spcPct val="100000"/>
              </a:lnSpc>
            </a:pPr>
            <a:r>
              <a:rPr lang="fr-FR" altLang="zh-CN" sz="2400" dirty="0">
                <a:solidFill>
                  <a:srgbClr val="990033"/>
                </a:solidFill>
                <a:cs typeface="Arial Narrow" charset="0"/>
              </a:rPr>
              <a:t>2</a:t>
            </a:r>
            <a:r>
              <a:rPr lang="en-IE" altLang="zh-CN" sz="2400" dirty="0">
                <a:cs typeface="Arial Narrow" charset="0"/>
              </a:rPr>
              <a:t> </a:t>
            </a:r>
            <a:endParaRPr lang="en-US" sz="2400" dirty="0">
              <a:cs typeface="Arial Narrow" charset="0"/>
            </a:endParaRPr>
          </a:p>
        </p:txBody>
      </p:sp>
      <p:sp>
        <p:nvSpPr>
          <p:cNvPr id="437325" name="AutoShape-77"/>
          <p:cNvSpPr>
            <a:spLocks noChangeArrowheads="1"/>
          </p:cNvSpPr>
          <p:nvPr/>
        </p:nvSpPr>
        <p:spPr bwMode="auto">
          <a:xfrm>
            <a:off x="247136" y="1328407"/>
            <a:ext cx="3248073" cy="552959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lIns="228600" tIns="91440" anchor="ctr"/>
          <a:lstStyle/>
          <a:p>
            <a:pPr marL="171450" indent="-171450" algn="l">
              <a:lnSpc>
                <a:spcPct val="100000"/>
              </a:lnSpc>
              <a:spcBef>
                <a:spcPct val="40000"/>
              </a:spcBef>
              <a:buSzPct val="80000"/>
              <a:buFontTx/>
              <a:buBlip>
                <a:blip r:embed="rId5"/>
              </a:buBlip>
            </a:pPr>
            <a:r>
              <a:rPr lang="fr-FR" altLang="zh-CN" sz="2200" b="0" dirty="0">
                <a:cs typeface="Times New Roman" charset="0"/>
              </a:rPr>
              <a:t>Groupe Utilisateurs a l’autorisation NTFS</a:t>
            </a:r>
            <a:br>
              <a:rPr lang="fr-FR" altLang="zh-CN" sz="2200" b="0" dirty="0">
                <a:cs typeface="Times New Roman" charset="0"/>
              </a:rPr>
            </a:br>
            <a:r>
              <a:rPr lang="fr-FR" altLang="zh-CN" sz="2200" dirty="0">
                <a:cs typeface="Times New Roman" charset="0"/>
              </a:rPr>
              <a:t>Écriture</a:t>
            </a:r>
            <a:r>
              <a:rPr lang="fr-FR" altLang="zh-CN" sz="2200" b="0" dirty="0">
                <a:cs typeface="Times New Roman" charset="0"/>
              </a:rPr>
              <a:t> pour </a:t>
            </a:r>
            <a:r>
              <a:rPr lang="fr-FR" altLang="zh-CN" sz="2200" dirty="0">
                <a:cs typeface="Times New Roman" charset="0"/>
              </a:rPr>
              <a:t>Dossier1</a:t>
            </a:r>
            <a:r>
              <a:rPr lang="en-IE" altLang="zh-CN" sz="2200" dirty="0">
                <a:cs typeface="Times New Roman" charset="0"/>
              </a:rPr>
              <a:t> </a:t>
            </a:r>
            <a:endParaRPr lang="en-US" sz="2200" dirty="0">
              <a:solidFill>
                <a:schemeClr val="tx1"/>
              </a:solidFill>
              <a:cs typeface="Times New Roman" charset="0"/>
            </a:endParaRPr>
          </a:p>
          <a:p>
            <a:pPr marL="171450" indent="-171450" algn="l">
              <a:lnSpc>
                <a:spcPct val="100000"/>
              </a:lnSpc>
              <a:spcBef>
                <a:spcPct val="40000"/>
              </a:spcBef>
              <a:buSzPct val="80000"/>
              <a:buFontTx/>
              <a:buBlip>
                <a:blip r:embed="rId5"/>
              </a:buBlip>
            </a:pPr>
            <a:r>
              <a:rPr lang="fr-FR" altLang="zh-CN" sz="2200" b="0" dirty="0">
                <a:cs typeface="Times New Roman" charset="0"/>
              </a:rPr>
              <a:t>Groupe Ventes</a:t>
            </a:r>
            <a:br>
              <a:rPr lang="fr-FR" altLang="zh-CN" sz="2200" b="0" dirty="0">
                <a:cs typeface="Times New Roman" charset="0"/>
              </a:rPr>
            </a:br>
            <a:r>
              <a:rPr lang="fr-FR" altLang="zh-CN" sz="2200" dirty="0">
                <a:cs typeface="Times New Roman" charset="0"/>
              </a:rPr>
              <a:t>Lecture</a:t>
            </a:r>
            <a:r>
              <a:rPr lang="fr-FR" altLang="zh-CN" sz="2200" b="0" dirty="0">
                <a:cs typeface="Times New Roman" charset="0"/>
              </a:rPr>
              <a:t> pour </a:t>
            </a:r>
            <a:r>
              <a:rPr lang="fr-FR" altLang="zh-CN" sz="2200" dirty="0">
                <a:cs typeface="Times New Roman" charset="0"/>
              </a:rPr>
              <a:t>Dossier1</a:t>
            </a:r>
          </a:p>
          <a:p>
            <a:pPr algn="l">
              <a:lnSpc>
                <a:spcPct val="100000"/>
              </a:lnSpc>
              <a:spcBef>
                <a:spcPct val="40000"/>
              </a:spcBef>
              <a:buSzPct val="80000"/>
              <a:buFontTx/>
              <a:buBlip>
                <a:blip r:embed="rId5"/>
              </a:buBlip>
            </a:pPr>
            <a:r>
              <a:rPr lang="fr-FR" altLang="zh-CN" sz="2200" dirty="0">
                <a:cs typeface="Times New Roman" charset="0"/>
              </a:rPr>
              <a:t>Q: Q</a:t>
            </a:r>
            <a:r>
              <a:rPr lang="fr-FR" sz="2200" dirty="0"/>
              <a:t>uelle autorisation Utilisateur1 dispose-t-il sur Dossier1 ?</a:t>
            </a:r>
          </a:p>
          <a:p>
            <a:pPr algn="l">
              <a:lnSpc>
                <a:spcPct val="100000"/>
              </a:lnSpc>
              <a:spcBef>
                <a:spcPct val="40000"/>
              </a:spcBef>
              <a:buSzPct val="80000"/>
              <a:buFontTx/>
              <a:buBlip>
                <a:blip r:embed="rId5"/>
              </a:buBlip>
            </a:pPr>
            <a:r>
              <a:rPr lang="fr-FR" altLang="zh-CN" sz="2200" dirty="0">
                <a:cs typeface="Times New Roman" charset="0"/>
              </a:rPr>
              <a:t>R: </a:t>
            </a:r>
            <a:r>
              <a:rPr lang="fr-FR" sz="2400" dirty="0"/>
              <a:t>Utilisateur1 dispose de l’autorisation en écriture et en lecture sur Dossier1</a:t>
            </a:r>
            <a:r>
              <a:rPr lang="en-IE" altLang="zh-CN" sz="2200" dirty="0">
                <a:cs typeface="Times New Roman" charset="0"/>
              </a:rPr>
              <a:t> </a:t>
            </a:r>
            <a:endParaRPr lang="en-US" sz="2200" dirty="0">
              <a:cs typeface="Times New Roman" charset="0"/>
            </a:endParaRPr>
          </a:p>
        </p:txBody>
      </p:sp>
      <p:sp>
        <p:nvSpPr>
          <p:cNvPr id="437326" name="AutoShape-78"/>
          <p:cNvSpPr>
            <a:spLocks noChangeArrowheads="1"/>
          </p:cNvSpPr>
          <p:nvPr/>
        </p:nvSpPr>
        <p:spPr bwMode="auto">
          <a:xfrm>
            <a:off x="0" y="1644093"/>
            <a:ext cx="417778" cy="41671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nSpc>
                <a:spcPct val="100000"/>
              </a:lnSpc>
            </a:pPr>
            <a:r>
              <a:rPr lang="fr-FR" altLang="zh-CN" sz="2400" dirty="0">
                <a:solidFill>
                  <a:srgbClr val="990033"/>
                </a:solidFill>
                <a:cs typeface="Arial Narrow" charset="0"/>
              </a:rPr>
              <a:t>1</a:t>
            </a:r>
            <a:r>
              <a:rPr lang="en-IE" altLang="zh-CN" sz="2400" dirty="0">
                <a:cs typeface="Arial Narrow" charset="0"/>
              </a:rPr>
              <a:t> </a:t>
            </a:r>
            <a:endParaRPr lang="en-US" sz="2400" dirty="0">
              <a:cs typeface="Arial Narrow" charset="0"/>
            </a:endParaRPr>
          </a:p>
        </p:txBody>
      </p:sp>
      <p:sp>
        <p:nvSpPr>
          <p:cNvPr id="437331" name="AutoShape-83"/>
          <p:cNvSpPr>
            <a:spLocks noChangeArrowheads="1"/>
          </p:cNvSpPr>
          <p:nvPr/>
        </p:nvSpPr>
        <p:spPr bwMode="auto">
          <a:xfrm>
            <a:off x="251856" y="1326865"/>
            <a:ext cx="3302114" cy="553113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28600" tIns="91440" anchor="ctr"/>
          <a:lstStyle/>
          <a:p>
            <a:pPr marL="171450" indent="-171450" algn="l">
              <a:lnSpc>
                <a:spcPct val="100000"/>
              </a:lnSpc>
              <a:spcBef>
                <a:spcPct val="40000"/>
              </a:spcBef>
              <a:buSzPct val="80000"/>
              <a:buFontTx/>
              <a:buBlip>
                <a:blip r:embed="rId5"/>
              </a:buBlip>
            </a:pPr>
            <a:r>
              <a:rPr lang="fr-FR" altLang="zh-CN" sz="2200" b="0" dirty="0">
                <a:cs typeface="Times New Roman" charset="0"/>
              </a:rPr>
              <a:t>Groupe Utilisateurs</a:t>
            </a:r>
            <a:br>
              <a:rPr lang="fr-FR" altLang="zh-CN" sz="2200" b="0" dirty="0">
                <a:cs typeface="Times New Roman" charset="0"/>
              </a:rPr>
            </a:br>
            <a:r>
              <a:rPr lang="fr-FR" altLang="zh-CN" sz="2200" dirty="0">
                <a:cs typeface="Times New Roman" charset="0"/>
              </a:rPr>
              <a:t>Modifier</a:t>
            </a:r>
            <a:r>
              <a:rPr lang="fr-FR" altLang="zh-CN" sz="2200" b="0" dirty="0">
                <a:cs typeface="Times New Roman" charset="0"/>
              </a:rPr>
              <a:t> pour </a:t>
            </a:r>
            <a:r>
              <a:rPr lang="fr-FR" altLang="zh-CN" sz="2200" dirty="0">
                <a:cs typeface="Times New Roman" charset="0"/>
              </a:rPr>
              <a:t>Dossier1</a:t>
            </a:r>
            <a:r>
              <a:rPr lang="en-IE" altLang="zh-CN" sz="2200" dirty="0">
                <a:cs typeface="Times New Roman" charset="0"/>
              </a:rPr>
              <a:t> </a:t>
            </a:r>
            <a:endParaRPr lang="en-US" sz="2200" dirty="0">
              <a:solidFill>
                <a:schemeClr val="tx1"/>
              </a:solidFill>
              <a:cs typeface="Times New Roman" charset="0"/>
            </a:endParaRPr>
          </a:p>
          <a:p>
            <a:pPr algn="l">
              <a:lnSpc>
                <a:spcPct val="100000"/>
              </a:lnSpc>
              <a:spcBef>
                <a:spcPct val="40000"/>
              </a:spcBef>
              <a:buSzPct val="80000"/>
              <a:buFontTx/>
              <a:buBlip>
                <a:blip r:embed="rId5"/>
              </a:buBlip>
            </a:pPr>
            <a:r>
              <a:rPr lang="fr-FR" sz="2200" dirty="0"/>
              <a:t>Q: Quelles opérations devez-vous effectuer pour que uniquement le groupe Ventes bénéficie d'une autorisation en lecture sur Fichier2 ?</a:t>
            </a:r>
          </a:p>
          <a:p>
            <a:pPr algn="l">
              <a:lnSpc>
                <a:spcPct val="100000"/>
              </a:lnSpc>
              <a:spcBef>
                <a:spcPct val="40000"/>
              </a:spcBef>
              <a:buSzPct val="80000"/>
              <a:buBlip>
                <a:blip r:embed="rId5"/>
              </a:buBlip>
            </a:pPr>
            <a:r>
              <a:rPr lang="fr-FR" sz="2200" b="0" dirty="0">
                <a:cs typeface="Times New Roman" charset="0"/>
              </a:rPr>
              <a:t>R:</a:t>
            </a:r>
            <a:r>
              <a:rPr lang="fr-FR" sz="2200" dirty="0"/>
              <a:t> Désactiver l'héritage des autorisations pour Dossier2 ou Fichier2. </a:t>
            </a:r>
          </a:p>
          <a:p>
            <a:pPr algn="l">
              <a:lnSpc>
                <a:spcPct val="100000"/>
              </a:lnSpc>
              <a:spcBef>
                <a:spcPct val="40000"/>
              </a:spcBef>
              <a:buSzPct val="80000"/>
            </a:pPr>
            <a:r>
              <a:rPr lang="fr-FR" sz="2200" dirty="0"/>
              <a:t>Accorder au groupe Ventes l'autorisation en lecture seule sur Dossier2 ou Fichier2. </a:t>
            </a:r>
            <a:endParaRPr lang="en-US" sz="2200" b="0" dirty="0">
              <a:cs typeface="Times New Roman" charset="0"/>
            </a:endParaRPr>
          </a:p>
        </p:txBody>
      </p:sp>
      <p:sp>
        <p:nvSpPr>
          <p:cNvPr id="437332" name="AutoShape-84"/>
          <p:cNvSpPr>
            <a:spLocks noChangeArrowheads="1"/>
          </p:cNvSpPr>
          <p:nvPr/>
        </p:nvSpPr>
        <p:spPr bwMode="auto">
          <a:xfrm>
            <a:off x="-13648" y="1429768"/>
            <a:ext cx="425757" cy="386665"/>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nSpc>
                <a:spcPct val="100000"/>
              </a:lnSpc>
            </a:pPr>
            <a:r>
              <a:rPr lang="fr-FR" altLang="zh-CN" sz="2400">
                <a:solidFill>
                  <a:srgbClr val="990033"/>
                </a:solidFill>
                <a:cs typeface="Arial Narrow" charset="0"/>
              </a:rPr>
              <a:t>3</a:t>
            </a:r>
            <a:r>
              <a:rPr lang="en-IE" altLang="zh-CN" sz="2400">
                <a:cs typeface="Arial Narrow" charset="0"/>
              </a:rPr>
              <a:t> </a:t>
            </a:r>
            <a:endParaRPr lang="en-US" sz="2400">
              <a:cs typeface="Arial Narrow" charset="0"/>
            </a:endParaRPr>
          </a:p>
        </p:txBody>
      </p:sp>
      <p:grpSp>
        <p:nvGrpSpPr>
          <p:cNvPr id="437354" name="Group 106"/>
          <p:cNvGrpSpPr>
            <a:grpSpLocks/>
          </p:cNvGrpSpPr>
          <p:nvPr/>
        </p:nvGrpSpPr>
        <p:grpSpPr bwMode="auto">
          <a:xfrm>
            <a:off x="5930025" y="1630363"/>
            <a:ext cx="3095625" cy="4049712"/>
            <a:chOff x="3524" y="1027"/>
            <a:chExt cx="1950" cy="2551"/>
          </a:xfrm>
        </p:grpSpPr>
        <p:sp>
          <p:nvSpPr>
            <p:cNvPr id="437334" name="AutoShape-86"/>
            <p:cNvSpPr>
              <a:spLocks noChangeArrowheads="1"/>
            </p:cNvSpPr>
            <p:nvPr/>
          </p:nvSpPr>
          <p:spPr bwMode="auto">
            <a:xfrm>
              <a:off x="3589" y="1171"/>
              <a:ext cx="1821" cy="2407"/>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lnSpc>
                  <a:spcPct val="100000"/>
                </a:lnSpc>
                <a:buSzPct val="85000"/>
              </a:pPr>
              <a:endParaRPr lang="en-IE" sz="1800">
                <a:solidFill>
                  <a:schemeClr val="tx1"/>
                </a:solidFill>
              </a:endParaRPr>
            </a:p>
          </p:txBody>
        </p:sp>
        <p:sp>
          <p:nvSpPr>
            <p:cNvPr id="437335" name="AutoShape-87"/>
            <p:cNvSpPr>
              <a:spLocks noChangeArrowheads="1"/>
            </p:cNvSpPr>
            <p:nvPr/>
          </p:nvSpPr>
          <p:spPr bwMode="auto">
            <a:xfrm>
              <a:off x="3789" y="1027"/>
              <a:ext cx="1340" cy="240"/>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r>
                <a:rPr lang="fr-FR" altLang="zh-CN" sz="2200">
                  <a:cs typeface="Times New Roman" charset="0"/>
                </a:rPr>
                <a:t>Partition NTFS</a:t>
              </a:r>
              <a:r>
                <a:rPr lang="en-IE" altLang="zh-CN" sz="2200">
                  <a:cs typeface="Times New Roman" charset="0"/>
                </a:rPr>
                <a:t> </a:t>
              </a:r>
              <a:endParaRPr lang="en-US" sz="2200">
                <a:cs typeface="Times New Roman" charset="0"/>
              </a:endParaRPr>
            </a:p>
          </p:txBody>
        </p:sp>
        <p:sp>
          <p:nvSpPr>
            <p:cNvPr id="437336" name="Freeform-88"/>
            <p:cNvSpPr>
              <a:spLocks/>
            </p:cNvSpPr>
            <p:nvPr/>
          </p:nvSpPr>
          <p:spPr bwMode="auto">
            <a:xfrm>
              <a:off x="4327" y="2753"/>
              <a:ext cx="375" cy="382"/>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808080"/>
              </a:solidFill>
              <a:prstDash val="solid"/>
              <a:round/>
              <a:headEnd type="none" w="med" len="med"/>
              <a:tailEnd type="none" w="med" len="med"/>
            </a:ln>
            <a:effectLst/>
          </p:spPr>
          <p:txBody>
            <a:bodyPr anchor="ctr"/>
            <a:lstStyle/>
            <a:p>
              <a:endParaRPr lang="fr-FR"/>
            </a:p>
          </p:txBody>
        </p:sp>
        <p:pic>
          <p:nvPicPr>
            <p:cNvPr id="437337" name="Picture-89" descr="Document_Document01"/>
            <p:cNvPicPr>
              <a:picLocks noChangeAspect="1" noChangeArrowheads="1"/>
            </p:cNvPicPr>
            <p:nvPr/>
          </p:nvPicPr>
          <p:blipFill>
            <a:blip r:embed="rId6" cstate="print"/>
            <a:srcRect/>
            <a:stretch>
              <a:fillRect/>
            </a:stretch>
          </p:blipFill>
          <p:spPr bwMode="auto">
            <a:xfrm>
              <a:off x="4612" y="2876"/>
              <a:ext cx="313" cy="509"/>
            </a:xfrm>
            <a:prstGeom prst="rect">
              <a:avLst/>
            </a:prstGeom>
            <a:noFill/>
          </p:spPr>
        </p:pic>
        <p:sp>
          <p:nvSpPr>
            <p:cNvPr id="437338" name="Text-Box-90"/>
            <p:cNvSpPr txBox="1">
              <a:spLocks noChangeArrowheads="1"/>
            </p:cNvSpPr>
            <p:nvPr/>
          </p:nvSpPr>
          <p:spPr bwMode="auto">
            <a:xfrm>
              <a:off x="4871" y="3057"/>
              <a:ext cx="603" cy="231"/>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Fichier2</a:t>
              </a:r>
              <a:r>
                <a:rPr lang="en-IE" altLang="zh-CN" sz="1800">
                  <a:cs typeface="Times New Roman" charset="0"/>
                </a:rPr>
                <a:t> </a:t>
              </a:r>
              <a:endParaRPr lang="en-US" sz="1800">
                <a:cs typeface="Times New Roman" charset="0"/>
              </a:endParaRPr>
            </a:p>
          </p:txBody>
        </p:sp>
        <p:sp>
          <p:nvSpPr>
            <p:cNvPr id="437339" name="Freeform-91"/>
            <p:cNvSpPr>
              <a:spLocks/>
            </p:cNvSpPr>
            <p:nvPr/>
          </p:nvSpPr>
          <p:spPr bwMode="auto">
            <a:xfrm>
              <a:off x="3931" y="1705"/>
              <a:ext cx="375" cy="382"/>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808080"/>
              </a:solidFill>
              <a:prstDash val="solid"/>
              <a:round/>
              <a:headEnd type="none" w="med" len="med"/>
              <a:tailEnd type="none" w="med" len="med"/>
            </a:ln>
            <a:effectLst/>
          </p:spPr>
          <p:txBody>
            <a:bodyPr anchor="ctr"/>
            <a:lstStyle/>
            <a:p>
              <a:endParaRPr lang="fr-FR"/>
            </a:p>
          </p:txBody>
        </p:sp>
        <p:sp>
          <p:nvSpPr>
            <p:cNvPr id="437340" name="Text-Box-92"/>
            <p:cNvSpPr txBox="1">
              <a:spLocks noChangeArrowheads="1"/>
            </p:cNvSpPr>
            <p:nvPr/>
          </p:nvSpPr>
          <p:spPr bwMode="auto">
            <a:xfrm>
              <a:off x="4153" y="1537"/>
              <a:ext cx="649" cy="231"/>
            </a:xfrm>
            <a:prstGeom prst="rect">
              <a:avLst/>
            </a:prstGeom>
            <a:noFill/>
            <a:ln w="9525" algn="ctr">
              <a:noFill/>
              <a:miter lim="800000"/>
              <a:headEnd/>
              <a:tailEnd/>
            </a:ln>
            <a:effectLst/>
          </p:spPr>
          <p:txBody>
            <a:bodyPr wrap="none">
              <a:spAutoFit/>
            </a:bodyPr>
            <a:lstStyle/>
            <a:p>
              <a:pPr>
                <a:lnSpc>
                  <a:spcPct val="100000"/>
                </a:lnSpc>
              </a:pPr>
              <a:r>
                <a:rPr lang="fr-FR" altLang="zh-CN" sz="1800" dirty="0">
                  <a:cs typeface="Times New Roman" charset="0"/>
                </a:rPr>
                <a:t>Dossier1</a:t>
              </a:r>
              <a:r>
                <a:rPr lang="en-IE" altLang="zh-CN" sz="1800" dirty="0">
                  <a:cs typeface="Times New Roman" charset="0"/>
                </a:rPr>
                <a:t> </a:t>
              </a:r>
              <a:endParaRPr lang="en-US" sz="1800" dirty="0">
                <a:cs typeface="Times New Roman" charset="0"/>
              </a:endParaRPr>
            </a:p>
          </p:txBody>
        </p:sp>
        <p:sp>
          <p:nvSpPr>
            <p:cNvPr id="437341" name="Text-Box-93"/>
            <p:cNvSpPr txBox="1">
              <a:spLocks noChangeArrowheads="1"/>
            </p:cNvSpPr>
            <p:nvPr/>
          </p:nvSpPr>
          <p:spPr bwMode="auto">
            <a:xfrm>
              <a:off x="4511" y="2586"/>
              <a:ext cx="645" cy="231"/>
            </a:xfrm>
            <a:prstGeom prst="rect">
              <a:avLst/>
            </a:prstGeom>
            <a:noFill/>
            <a:ln w="9525" algn="ctr">
              <a:noFill/>
              <a:miter lim="800000"/>
              <a:headEnd/>
              <a:tailEnd/>
            </a:ln>
            <a:effectLst/>
          </p:spPr>
          <p:txBody>
            <a:bodyPr wrap="none">
              <a:spAutoFit/>
            </a:bodyPr>
            <a:lstStyle/>
            <a:p>
              <a:pPr>
                <a:lnSpc>
                  <a:spcPct val="100000"/>
                </a:lnSpc>
              </a:pPr>
              <a:r>
                <a:rPr lang="fr-FR" altLang="zh-CN" sz="1800" dirty="0">
                  <a:cs typeface="Times New Roman" charset="0"/>
                </a:rPr>
                <a:t>Dossier2</a:t>
              </a:r>
              <a:r>
                <a:rPr lang="en-IE" altLang="zh-CN" sz="1600" dirty="0">
                  <a:cs typeface="Times New Roman" charset="0"/>
                </a:rPr>
                <a:t> </a:t>
              </a:r>
              <a:endParaRPr lang="en-US" sz="1600" dirty="0">
                <a:cs typeface="Times New Roman" charset="0"/>
              </a:endParaRPr>
            </a:p>
          </p:txBody>
        </p:sp>
        <p:pic>
          <p:nvPicPr>
            <p:cNvPr id="437342" name="Picture-94" descr="Document_Document01"/>
            <p:cNvPicPr>
              <a:picLocks noChangeAspect="1" noChangeArrowheads="1"/>
            </p:cNvPicPr>
            <p:nvPr/>
          </p:nvPicPr>
          <p:blipFill>
            <a:blip r:embed="rId6" cstate="print"/>
            <a:srcRect/>
            <a:stretch>
              <a:fillRect/>
            </a:stretch>
          </p:blipFill>
          <p:spPr bwMode="auto">
            <a:xfrm>
              <a:off x="4216" y="1828"/>
              <a:ext cx="313" cy="508"/>
            </a:xfrm>
            <a:prstGeom prst="rect">
              <a:avLst/>
            </a:prstGeom>
            <a:noFill/>
          </p:spPr>
        </p:pic>
        <p:sp>
          <p:nvSpPr>
            <p:cNvPr id="437343" name="Text-Box-95"/>
            <p:cNvSpPr txBox="1">
              <a:spLocks noChangeArrowheads="1"/>
            </p:cNvSpPr>
            <p:nvPr/>
          </p:nvSpPr>
          <p:spPr bwMode="auto">
            <a:xfrm>
              <a:off x="4492" y="2009"/>
              <a:ext cx="599" cy="231"/>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Fichier1</a:t>
              </a:r>
              <a:r>
                <a:rPr lang="en-IE" altLang="zh-CN" sz="1600">
                  <a:cs typeface="Times New Roman" charset="0"/>
                </a:rPr>
                <a:t> </a:t>
              </a:r>
              <a:endParaRPr lang="en-US" sz="1600">
                <a:cs typeface="Times New Roman" charset="0"/>
              </a:endParaRPr>
            </a:p>
          </p:txBody>
        </p:sp>
        <p:sp>
          <p:nvSpPr>
            <p:cNvPr id="437344" name="Freeform-96"/>
            <p:cNvSpPr>
              <a:spLocks/>
            </p:cNvSpPr>
            <p:nvPr/>
          </p:nvSpPr>
          <p:spPr bwMode="auto">
            <a:xfrm>
              <a:off x="3931" y="2072"/>
              <a:ext cx="375" cy="591"/>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808080"/>
              </a:solidFill>
              <a:prstDash val="solid"/>
              <a:round/>
              <a:headEnd type="none" w="med" len="med"/>
              <a:tailEnd type="none" w="med" len="med"/>
            </a:ln>
            <a:effectLst/>
          </p:spPr>
          <p:txBody>
            <a:bodyPr anchor="ctr"/>
            <a:lstStyle/>
            <a:p>
              <a:endParaRPr lang="fr-FR"/>
            </a:p>
          </p:txBody>
        </p:sp>
        <p:pic>
          <p:nvPicPr>
            <p:cNvPr id="437345" name="Picture-97" descr="Folder_FolderOpen01"/>
            <p:cNvPicPr>
              <a:picLocks noChangeAspect="1" noChangeArrowheads="1"/>
            </p:cNvPicPr>
            <p:nvPr/>
          </p:nvPicPr>
          <p:blipFill>
            <a:blip r:embed="rId7" cstate="print"/>
            <a:srcRect/>
            <a:stretch>
              <a:fillRect/>
            </a:stretch>
          </p:blipFill>
          <p:spPr bwMode="auto">
            <a:xfrm>
              <a:off x="4062" y="2449"/>
              <a:ext cx="486" cy="434"/>
            </a:xfrm>
            <a:prstGeom prst="rect">
              <a:avLst/>
            </a:prstGeom>
            <a:noFill/>
          </p:spPr>
        </p:pic>
        <p:pic>
          <p:nvPicPr>
            <p:cNvPr id="437346" name="Picture-98" descr="Security_Permissions01"/>
            <p:cNvPicPr>
              <a:picLocks noChangeAspect="1" noChangeArrowheads="1"/>
            </p:cNvPicPr>
            <p:nvPr/>
          </p:nvPicPr>
          <p:blipFill>
            <a:blip r:embed="rId8" cstate="print"/>
            <a:srcRect/>
            <a:stretch>
              <a:fillRect/>
            </a:stretch>
          </p:blipFill>
          <p:spPr bwMode="auto">
            <a:xfrm>
              <a:off x="3944" y="2522"/>
              <a:ext cx="335" cy="473"/>
            </a:xfrm>
            <a:prstGeom prst="rect">
              <a:avLst/>
            </a:prstGeom>
            <a:noFill/>
          </p:spPr>
        </p:pic>
        <p:pic>
          <p:nvPicPr>
            <p:cNvPr id="437347" name="Picture-99" descr="Security_Permissions01"/>
            <p:cNvPicPr>
              <a:picLocks noChangeAspect="1" noChangeArrowheads="1"/>
            </p:cNvPicPr>
            <p:nvPr/>
          </p:nvPicPr>
          <p:blipFill>
            <a:blip r:embed="rId8" cstate="print"/>
            <a:srcRect/>
            <a:stretch>
              <a:fillRect/>
            </a:stretch>
          </p:blipFill>
          <p:spPr bwMode="auto">
            <a:xfrm>
              <a:off x="4453" y="2979"/>
              <a:ext cx="335" cy="473"/>
            </a:xfrm>
            <a:prstGeom prst="rect">
              <a:avLst/>
            </a:prstGeom>
            <a:noFill/>
          </p:spPr>
        </p:pic>
        <p:pic>
          <p:nvPicPr>
            <p:cNvPr id="437348" name="Picture-100" descr="Folder_FolderOpen01"/>
            <p:cNvPicPr>
              <a:picLocks noChangeAspect="1" noChangeArrowheads="1"/>
            </p:cNvPicPr>
            <p:nvPr/>
          </p:nvPicPr>
          <p:blipFill>
            <a:blip r:embed="rId9" cstate="print"/>
            <a:srcRect/>
            <a:stretch>
              <a:fillRect/>
            </a:stretch>
          </p:blipFill>
          <p:spPr bwMode="auto">
            <a:xfrm>
              <a:off x="3650" y="1390"/>
              <a:ext cx="549" cy="491"/>
            </a:xfrm>
            <a:prstGeom prst="rect">
              <a:avLst/>
            </a:prstGeom>
            <a:noFill/>
          </p:spPr>
        </p:pic>
        <p:pic>
          <p:nvPicPr>
            <p:cNvPr id="437349" name="Picture-101" descr="Security_Permissions01"/>
            <p:cNvPicPr>
              <a:picLocks noChangeAspect="1" noChangeArrowheads="1"/>
            </p:cNvPicPr>
            <p:nvPr/>
          </p:nvPicPr>
          <p:blipFill>
            <a:blip r:embed="rId8" cstate="print"/>
            <a:srcRect/>
            <a:stretch>
              <a:fillRect/>
            </a:stretch>
          </p:blipFill>
          <p:spPr bwMode="auto">
            <a:xfrm>
              <a:off x="3524" y="1473"/>
              <a:ext cx="335" cy="473"/>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37326"/>
                                        </p:tgtEl>
                                        <p:attrNameLst>
                                          <p:attrName>style.visibility</p:attrName>
                                        </p:attrNameLst>
                                      </p:cBhvr>
                                      <p:to>
                                        <p:strVal val="visible"/>
                                      </p:to>
                                    </p:set>
                                    <p:animEffect transition="in" filter="checkerboard(across)">
                                      <p:cBhvr>
                                        <p:cTn id="7" dur="500"/>
                                        <p:tgtEl>
                                          <p:spTgt spid="43732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37325">
                                            <p:bg/>
                                          </p:spTgt>
                                        </p:tgtEl>
                                        <p:attrNameLst>
                                          <p:attrName>style.visibility</p:attrName>
                                        </p:attrNameLst>
                                      </p:cBhvr>
                                      <p:to>
                                        <p:strVal val="visible"/>
                                      </p:to>
                                    </p:set>
                                    <p:animEffect transition="in" filter="checkerboard(across)">
                                      <p:cBhvr>
                                        <p:cTn id="10" dur="500"/>
                                        <p:tgtEl>
                                          <p:spTgt spid="437325">
                                            <p:bg/>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37325">
                                            <p:txEl>
                                              <p:pRg st="0" end="0"/>
                                            </p:txEl>
                                          </p:spTgt>
                                        </p:tgtEl>
                                        <p:attrNameLst>
                                          <p:attrName>style.visibility</p:attrName>
                                        </p:attrNameLst>
                                      </p:cBhvr>
                                      <p:to>
                                        <p:strVal val="visible"/>
                                      </p:to>
                                    </p:set>
                                    <p:animEffect transition="in" filter="checkerboard(across)">
                                      <p:cBhvr>
                                        <p:cTn id="13" dur="500"/>
                                        <p:tgtEl>
                                          <p:spTgt spid="437325">
                                            <p:txEl>
                                              <p:pRg st="0" end="0"/>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437325">
                                            <p:txEl>
                                              <p:pRg st="1" end="1"/>
                                            </p:txEl>
                                          </p:spTgt>
                                        </p:tgtEl>
                                        <p:attrNameLst>
                                          <p:attrName>style.visibility</p:attrName>
                                        </p:attrNameLst>
                                      </p:cBhvr>
                                      <p:to>
                                        <p:strVal val="visible"/>
                                      </p:to>
                                    </p:set>
                                    <p:animEffect transition="in" filter="checkerboard(across)">
                                      <p:cBhvr>
                                        <p:cTn id="16" dur="500"/>
                                        <p:tgtEl>
                                          <p:spTgt spid="437325">
                                            <p:txEl>
                                              <p:pRg st="1" end="1"/>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437325">
                                            <p:txEl>
                                              <p:pRg st="2" end="2"/>
                                            </p:txEl>
                                          </p:spTgt>
                                        </p:tgtEl>
                                        <p:attrNameLst>
                                          <p:attrName>style.visibility</p:attrName>
                                        </p:attrNameLst>
                                      </p:cBhvr>
                                      <p:to>
                                        <p:strVal val="visible"/>
                                      </p:to>
                                    </p:set>
                                    <p:animEffect transition="in" filter="checkerboard(across)">
                                      <p:cBhvr>
                                        <p:cTn id="19" dur="500"/>
                                        <p:tgtEl>
                                          <p:spTgt spid="43732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437325">
                                            <p:txEl>
                                              <p:pRg st="3" end="3"/>
                                            </p:txEl>
                                          </p:spTgt>
                                        </p:tgtEl>
                                        <p:attrNameLst>
                                          <p:attrName>style.visibility</p:attrName>
                                        </p:attrNameLst>
                                      </p:cBhvr>
                                      <p:to>
                                        <p:strVal val="visible"/>
                                      </p:to>
                                    </p:set>
                                    <p:animEffect transition="in" filter="checkerboard(across)">
                                      <p:cBhvr>
                                        <p:cTn id="24" dur="500"/>
                                        <p:tgtEl>
                                          <p:spTgt spid="43732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xit" presetSubtype="10" fill="hold" grpId="1" nodeType="clickEffect">
                                  <p:stCondLst>
                                    <p:cond delay="0"/>
                                  </p:stCondLst>
                                  <p:childTnLst>
                                    <p:animEffect transition="out" filter="checkerboard(across)">
                                      <p:cBhvr>
                                        <p:cTn id="28" dur="500"/>
                                        <p:tgtEl>
                                          <p:spTgt spid="437325">
                                            <p:txEl>
                                              <p:pRg st="0" end="0"/>
                                            </p:txEl>
                                          </p:spTgt>
                                        </p:tgtEl>
                                      </p:cBhvr>
                                    </p:animEffect>
                                    <p:set>
                                      <p:cBhvr>
                                        <p:cTn id="29" dur="1" fill="hold">
                                          <p:stCondLst>
                                            <p:cond delay="499"/>
                                          </p:stCondLst>
                                        </p:cTn>
                                        <p:tgtEl>
                                          <p:spTgt spid="437325">
                                            <p:txEl>
                                              <p:pRg st="0" end="0"/>
                                            </p:txEl>
                                          </p:spTgt>
                                        </p:tgtEl>
                                        <p:attrNameLst>
                                          <p:attrName>style.visibility</p:attrName>
                                        </p:attrNameLst>
                                      </p:cBhvr>
                                      <p:to>
                                        <p:strVal val="hidden"/>
                                      </p:to>
                                    </p:set>
                                  </p:childTnLst>
                                </p:cTn>
                              </p:par>
                              <p:par>
                                <p:cTn id="30" presetID="5" presetClass="exit" presetSubtype="10" fill="hold" grpId="1" nodeType="withEffect">
                                  <p:stCondLst>
                                    <p:cond delay="0"/>
                                  </p:stCondLst>
                                  <p:childTnLst>
                                    <p:animEffect transition="out" filter="checkerboard(across)">
                                      <p:cBhvr>
                                        <p:cTn id="31" dur="500"/>
                                        <p:tgtEl>
                                          <p:spTgt spid="437325">
                                            <p:txEl>
                                              <p:pRg st="1" end="1"/>
                                            </p:txEl>
                                          </p:spTgt>
                                        </p:tgtEl>
                                      </p:cBhvr>
                                    </p:animEffect>
                                    <p:set>
                                      <p:cBhvr>
                                        <p:cTn id="32" dur="1" fill="hold">
                                          <p:stCondLst>
                                            <p:cond delay="499"/>
                                          </p:stCondLst>
                                        </p:cTn>
                                        <p:tgtEl>
                                          <p:spTgt spid="437325">
                                            <p:txEl>
                                              <p:pRg st="1" end="1"/>
                                            </p:txEl>
                                          </p:spTgt>
                                        </p:tgtEl>
                                        <p:attrNameLst>
                                          <p:attrName>style.visibility</p:attrName>
                                        </p:attrNameLst>
                                      </p:cBhvr>
                                      <p:to>
                                        <p:strVal val="hidden"/>
                                      </p:to>
                                    </p:set>
                                  </p:childTnLst>
                                </p:cTn>
                              </p:par>
                              <p:par>
                                <p:cTn id="33" presetID="5" presetClass="exit" presetSubtype="10" fill="hold" grpId="1" nodeType="withEffect">
                                  <p:stCondLst>
                                    <p:cond delay="0"/>
                                  </p:stCondLst>
                                  <p:childTnLst>
                                    <p:animEffect transition="out" filter="checkerboard(across)">
                                      <p:cBhvr>
                                        <p:cTn id="34" dur="500"/>
                                        <p:tgtEl>
                                          <p:spTgt spid="437325">
                                            <p:txEl>
                                              <p:pRg st="2" end="2"/>
                                            </p:txEl>
                                          </p:spTgt>
                                        </p:tgtEl>
                                      </p:cBhvr>
                                    </p:animEffect>
                                    <p:set>
                                      <p:cBhvr>
                                        <p:cTn id="35" dur="1" fill="hold">
                                          <p:stCondLst>
                                            <p:cond delay="499"/>
                                          </p:stCondLst>
                                        </p:cTn>
                                        <p:tgtEl>
                                          <p:spTgt spid="437325">
                                            <p:txEl>
                                              <p:pRg st="2" end="2"/>
                                            </p:txEl>
                                          </p:spTgt>
                                        </p:tgtEl>
                                        <p:attrNameLst>
                                          <p:attrName>style.visibility</p:attrName>
                                        </p:attrNameLst>
                                      </p:cBhvr>
                                      <p:to>
                                        <p:strVal val="hidden"/>
                                      </p:to>
                                    </p:set>
                                  </p:childTnLst>
                                </p:cTn>
                              </p:par>
                              <p:par>
                                <p:cTn id="36" presetID="5" presetClass="exit" presetSubtype="10" fill="hold" grpId="1" nodeType="withEffect">
                                  <p:stCondLst>
                                    <p:cond delay="0"/>
                                  </p:stCondLst>
                                  <p:childTnLst>
                                    <p:animEffect transition="out" filter="checkerboard(across)">
                                      <p:cBhvr>
                                        <p:cTn id="37" dur="500"/>
                                        <p:tgtEl>
                                          <p:spTgt spid="437325">
                                            <p:txEl>
                                              <p:pRg st="3" end="3"/>
                                            </p:txEl>
                                          </p:spTgt>
                                        </p:tgtEl>
                                      </p:cBhvr>
                                    </p:animEffect>
                                    <p:set>
                                      <p:cBhvr>
                                        <p:cTn id="38" dur="1" fill="hold">
                                          <p:stCondLst>
                                            <p:cond delay="499"/>
                                          </p:stCondLst>
                                        </p:cTn>
                                        <p:tgtEl>
                                          <p:spTgt spid="437325">
                                            <p:txEl>
                                              <p:pRg st="3" end="3"/>
                                            </p:txEl>
                                          </p:spTgt>
                                        </p:tgtEl>
                                        <p:attrNameLst>
                                          <p:attrName>style.visibility</p:attrName>
                                        </p:attrNameLst>
                                      </p:cBhvr>
                                      <p:to>
                                        <p:strVal val="hidden"/>
                                      </p:to>
                                    </p:set>
                                  </p:childTnLst>
                                </p:cTn>
                              </p:par>
                              <p:par>
                                <p:cTn id="39" presetID="5" presetClass="exit" presetSubtype="10" fill="hold" grpId="1" nodeType="withEffect">
                                  <p:stCondLst>
                                    <p:cond delay="0"/>
                                  </p:stCondLst>
                                  <p:childTnLst>
                                    <p:animEffect transition="out" filter="checkerboard(across)">
                                      <p:cBhvr>
                                        <p:cTn id="40" dur="500"/>
                                        <p:tgtEl>
                                          <p:spTgt spid="437325">
                                            <p:bg/>
                                          </p:spTgt>
                                        </p:tgtEl>
                                      </p:cBhvr>
                                    </p:animEffect>
                                    <p:set>
                                      <p:cBhvr>
                                        <p:cTn id="41" dur="1" fill="hold">
                                          <p:stCondLst>
                                            <p:cond delay="499"/>
                                          </p:stCondLst>
                                        </p:cTn>
                                        <p:tgtEl>
                                          <p:spTgt spid="437325">
                                            <p:bg/>
                                          </p:spTgt>
                                        </p:tgtEl>
                                        <p:attrNameLst>
                                          <p:attrName>style.visibility</p:attrName>
                                        </p:attrNameLst>
                                      </p:cBhvr>
                                      <p:to>
                                        <p:strVal val="hidden"/>
                                      </p:to>
                                    </p:set>
                                  </p:childTnLst>
                                </p:cTn>
                              </p:par>
                              <p:par>
                                <p:cTn id="42" presetID="5" presetClass="exit" presetSubtype="10" fill="hold" grpId="1" nodeType="withEffect">
                                  <p:stCondLst>
                                    <p:cond delay="0"/>
                                  </p:stCondLst>
                                  <p:childTnLst>
                                    <p:animEffect transition="out" filter="checkerboard(across)">
                                      <p:cBhvr>
                                        <p:cTn id="43" dur="500"/>
                                        <p:tgtEl>
                                          <p:spTgt spid="437326"/>
                                        </p:tgtEl>
                                      </p:cBhvr>
                                    </p:animEffect>
                                    <p:set>
                                      <p:cBhvr>
                                        <p:cTn id="44" dur="1" fill="hold">
                                          <p:stCondLst>
                                            <p:cond delay="499"/>
                                          </p:stCondLst>
                                        </p:cTn>
                                        <p:tgtEl>
                                          <p:spTgt spid="437326"/>
                                        </p:tgtEl>
                                        <p:attrNameLst>
                                          <p:attrName>style.visibility</p:attrName>
                                        </p:attrNameLst>
                                      </p:cBhvr>
                                      <p:to>
                                        <p:strVal val="hidden"/>
                                      </p:to>
                                    </p:set>
                                  </p:childTnLst>
                                </p:cTn>
                              </p:par>
                            </p:childTnLst>
                          </p:cTn>
                        </p:par>
                        <p:par>
                          <p:cTn id="45" fill="hold">
                            <p:stCondLst>
                              <p:cond delay="500"/>
                            </p:stCondLst>
                            <p:childTnLst>
                              <p:par>
                                <p:cTn id="46" presetID="5" presetClass="entr" presetSubtype="10" fill="hold" grpId="0" nodeType="afterEffect">
                                  <p:stCondLst>
                                    <p:cond delay="0"/>
                                  </p:stCondLst>
                                  <p:childTnLst>
                                    <p:set>
                                      <p:cBhvr>
                                        <p:cTn id="47" dur="1" fill="hold">
                                          <p:stCondLst>
                                            <p:cond delay="0"/>
                                          </p:stCondLst>
                                        </p:cTn>
                                        <p:tgtEl>
                                          <p:spTgt spid="437329"/>
                                        </p:tgtEl>
                                        <p:attrNameLst>
                                          <p:attrName>style.visibility</p:attrName>
                                        </p:attrNameLst>
                                      </p:cBhvr>
                                      <p:to>
                                        <p:strVal val="visible"/>
                                      </p:to>
                                    </p:set>
                                    <p:animEffect transition="in" filter="checkerboard(across)">
                                      <p:cBhvr>
                                        <p:cTn id="48" dur="500"/>
                                        <p:tgtEl>
                                          <p:spTgt spid="437329"/>
                                        </p:tgtEl>
                                      </p:cBhvr>
                                    </p:animEffect>
                                  </p:childTnLst>
                                </p:cTn>
                              </p:par>
                              <p:par>
                                <p:cTn id="49" presetID="5" presetClass="entr" presetSubtype="10" fill="hold" grpId="0" nodeType="withEffect">
                                  <p:stCondLst>
                                    <p:cond delay="0"/>
                                  </p:stCondLst>
                                  <p:childTnLst>
                                    <p:set>
                                      <p:cBhvr>
                                        <p:cTn id="50" dur="1" fill="hold">
                                          <p:stCondLst>
                                            <p:cond delay="0"/>
                                          </p:stCondLst>
                                        </p:cTn>
                                        <p:tgtEl>
                                          <p:spTgt spid="437328">
                                            <p:bg/>
                                          </p:spTgt>
                                        </p:tgtEl>
                                        <p:attrNameLst>
                                          <p:attrName>style.visibility</p:attrName>
                                        </p:attrNameLst>
                                      </p:cBhvr>
                                      <p:to>
                                        <p:strVal val="visible"/>
                                      </p:to>
                                    </p:set>
                                    <p:animEffect transition="in" filter="checkerboard(across)">
                                      <p:cBhvr>
                                        <p:cTn id="51" dur="500"/>
                                        <p:tgtEl>
                                          <p:spTgt spid="437328">
                                            <p:bg/>
                                          </p:spTgt>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437328">
                                            <p:txEl>
                                              <p:pRg st="0" end="0"/>
                                            </p:txEl>
                                          </p:spTgt>
                                        </p:tgtEl>
                                        <p:attrNameLst>
                                          <p:attrName>style.visibility</p:attrName>
                                        </p:attrNameLst>
                                      </p:cBhvr>
                                      <p:to>
                                        <p:strVal val="visible"/>
                                      </p:to>
                                    </p:set>
                                    <p:animEffect transition="in" filter="checkerboard(across)">
                                      <p:cBhvr>
                                        <p:cTn id="54" dur="500"/>
                                        <p:tgtEl>
                                          <p:spTgt spid="437328">
                                            <p:txEl>
                                              <p:pRg st="0" end="0"/>
                                            </p:txEl>
                                          </p:spTgt>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437328">
                                            <p:txEl>
                                              <p:pRg st="1" end="1"/>
                                            </p:txEl>
                                          </p:spTgt>
                                        </p:tgtEl>
                                        <p:attrNameLst>
                                          <p:attrName>style.visibility</p:attrName>
                                        </p:attrNameLst>
                                      </p:cBhvr>
                                      <p:to>
                                        <p:strVal val="visible"/>
                                      </p:to>
                                    </p:set>
                                    <p:animEffect transition="in" filter="checkerboard(across)">
                                      <p:cBhvr>
                                        <p:cTn id="57" dur="500"/>
                                        <p:tgtEl>
                                          <p:spTgt spid="437328">
                                            <p:txEl>
                                              <p:pRg st="1" end="1"/>
                                            </p:txEl>
                                          </p:spTgt>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437328">
                                            <p:txEl>
                                              <p:pRg st="2" end="2"/>
                                            </p:txEl>
                                          </p:spTgt>
                                        </p:tgtEl>
                                        <p:attrNameLst>
                                          <p:attrName>style.visibility</p:attrName>
                                        </p:attrNameLst>
                                      </p:cBhvr>
                                      <p:to>
                                        <p:strVal val="visible"/>
                                      </p:to>
                                    </p:set>
                                    <p:animEffect transition="in" filter="checkerboard(across)">
                                      <p:cBhvr>
                                        <p:cTn id="60" dur="500"/>
                                        <p:tgtEl>
                                          <p:spTgt spid="437328">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5" presetClass="entr" presetSubtype="10" fill="hold" grpId="0" nodeType="clickEffect">
                                  <p:stCondLst>
                                    <p:cond delay="0"/>
                                  </p:stCondLst>
                                  <p:childTnLst>
                                    <p:set>
                                      <p:cBhvr>
                                        <p:cTn id="64" dur="1" fill="hold">
                                          <p:stCondLst>
                                            <p:cond delay="0"/>
                                          </p:stCondLst>
                                        </p:cTn>
                                        <p:tgtEl>
                                          <p:spTgt spid="437328">
                                            <p:txEl>
                                              <p:pRg st="3" end="3"/>
                                            </p:txEl>
                                          </p:spTgt>
                                        </p:tgtEl>
                                        <p:attrNameLst>
                                          <p:attrName>style.visibility</p:attrName>
                                        </p:attrNameLst>
                                      </p:cBhvr>
                                      <p:to>
                                        <p:strVal val="visible"/>
                                      </p:to>
                                    </p:set>
                                    <p:animEffect transition="in" filter="checkerboard(across)">
                                      <p:cBhvr>
                                        <p:cTn id="65" dur="500"/>
                                        <p:tgtEl>
                                          <p:spTgt spid="437328">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 presetClass="exit" presetSubtype="10" fill="hold" grpId="1" nodeType="clickEffect">
                                  <p:stCondLst>
                                    <p:cond delay="0"/>
                                  </p:stCondLst>
                                  <p:childTnLst>
                                    <p:animEffect transition="out" filter="checkerboard(across)">
                                      <p:cBhvr>
                                        <p:cTn id="69" dur="500"/>
                                        <p:tgtEl>
                                          <p:spTgt spid="437328">
                                            <p:txEl>
                                              <p:pRg st="0" end="0"/>
                                            </p:txEl>
                                          </p:spTgt>
                                        </p:tgtEl>
                                      </p:cBhvr>
                                    </p:animEffect>
                                    <p:set>
                                      <p:cBhvr>
                                        <p:cTn id="70" dur="1" fill="hold">
                                          <p:stCondLst>
                                            <p:cond delay="499"/>
                                          </p:stCondLst>
                                        </p:cTn>
                                        <p:tgtEl>
                                          <p:spTgt spid="437328">
                                            <p:txEl>
                                              <p:pRg st="0" end="0"/>
                                            </p:txEl>
                                          </p:spTgt>
                                        </p:tgtEl>
                                        <p:attrNameLst>
                                          <p:attrName>style.visibility</p:attrName>
                                        </p:attrNameLst>
                                      </p:cBhvr>
                                      <p:to>
                                        <p:strVal val="hidden"/>
                                      </p:to>
                                    </p:set>
                                  </p:childTnLst>
                                </p:cTn>
                              </p:par>
                              <p:par>
                                <p:cTn id="71" presetID="5" presetClass="exit" presetSubtype="10" fill="hold" grpId="1" nodeType="withEffect">
                                  <p:stCondLst>
                                    <p:cond delay="0"/>
                                  </p:stCondLst>
                                  <p:childTnLst>
                                    <p:animEffect transition="out" filter="checkerboard(across)">
                                      <p:cBhvr>
                                        <p:cTn id="72" dur="500"/>
                                        <p:tgtEl>
                                          <p:spTgt spid="437328">
                                            <p:txEl>
                                              <p:pRg st="1" end="1"/>
                                            </p:txEl>
                                          </p:spTgt>
                                        </p:tgtEl>
                                      </p:cBhvr>
                                    </p:animEffect>
                                    <p:set>
                                      <p:cBhvr>
                                        <p:cTn id="73" dur="1" fill="hold">
                                          <p:stCondLst>
                                            <p:cond delay="499"/>
                                          </p:stCondLst>
                                        </p:cTn>
                                        <p:tgtEl>
                                          <p:spTgt spid="437328">
                                            <p:txEl>
                                              <p:pRg st="1" end="1"/>
                                            </p:txEl>
                                          </p:spTgt>
                                        </p:tgtEl>
                                        <p:attrNameLst>
                                          <p:attrName>style.visibility</p:attrName>
                                        </p:attrNameLst>
                                      </p:cBhvr>
                                      <p:to>
                                        <p:strVal val="hidden"/>
                                      </p:to>
                                    </p:set>
                                  </p:childTnLst>
                                </p:cTn>
                              </p:par>
                              <p:par>
                                <p:cTn id="74" presetID="5" presetClass="exit" presetSubtype="10" fill="hold" grpId="1" nodeType="withEffect">
                                  <p:stCondLst>
                                    <p:cond delay="0"/>
                                  </p:stCondLst>
                                  <p:childTnLst>
                                    <p:animEffect transition="out" filter="checkerboard(across)">
                                      <p:cBhvr>
                                        <p:cTn id="75" dur="500"/>
                                        <p:tgtEl>
                                          <p:spTgt spid="437328">
                                            <p:txEl>
                                              <p:pRg st="2" end="2"/>
                                            </p:txEl>
                                          </p:spTgt>
                                        </p:tgtEl>
                                      </p:cBhvr>
                                    </p:animEffect>
                                    <p:set>
                                      <p:cBhvr>
                                        <p:cTn id="76" dur="1" fill="hold">
                                          <p:stCondLst>
                                            <p:cond delay="499"/>
                                          </p:stCondLst>
                                        </p:cTn>
                                        <p:tgtEl>
                                          <p:spTgt spid="437328">
                                            <p:txEl>
                                              <p:pRg st="2" end="2"/>
                                            </p:txEl>
                                          </p:spTgt>
                                        </p:tgtEl>
                                        <p:attrNameLst>
                                          <p:attrName>style.visibility</p:attrName>
                                        </p:attrNameLst>
                                      </p:cBhvr>
                                      <p:to>
                                        <p:strVal val="hidden"/>
                                      </p:to>
                                    </p:set>
                                  </p:childTnLst>
                                </p:cTn>
                              </p:par>
                              <p:par>
                                <p:cTn id="77" presetID="5" presetClass="exit" presetSubtype="10" fill="hold" grpId="1" nodeType="withEffect">
                                  <p:stCondLst>
                                    <p:cond delay="0"/>
                                  </p:stCondLst>
                                  <p:childTnLst>
                                    <p:animEffect transition="out" filter="checkerboard(across)">
                                      <p:cBhvr>
                                        <p:cTn id="78" dur="500"/>
                                        <p:tgtEl>
                                          <p:spTgt spid="437328">
                                            <p:txEl>
                                              <p:pRg st="3" end="3"/>
                                            </p:txEl>
                                          </p:spTgt>
                                        </p:tgtEl>
                                      </p:cBhvr>
                                    </p:animEffect>
                                    <p:set>
                                      <p:cBhvr>
                                        <p:cTn id="79" dur="1" fill="hold">
                                          <p:stCondLst>
                                            <p:cond delay="499"/>
                                          </p:stCondLst>
                                        </p:cTn>
                                        <p:tgtEl>
                                          <p:spTgt spid="437328">
                                            <p:txEl>
                                              <p:pRg st="3" end="3"/>
                                            </p:txEl>
                                          </p:spTgt>
                                        </p:tgtEl>
                                        <p:attrNameLst>
                                          <p:attrName>style.visibility</p:attrName>
                                        </p:attrNameLst>
                                      </p:cBhvr>
                                      <p:to>
                                        <p:strVal val="hidden"/>
                                      </p:to>
                                    </p:set>
                                  </p:childTnLst>
                                </p:cTn>
                              </p:par>
                              <p:par>
                                <p:cTn id="80" presetID="5" presetClass="exit" presetSubtype="10" fill="hold" grpId="1" nodeType="withEffect">
                                  <p:stCondLst>
                                    <p:cond delay="0"/>
                                  </p:stCondLst>
                                  <p:childTnLst>
                                    <p:animEffect transition="out" filter="checkerboard(across)">
                                      <p:cBhvr>
                                        <p:cTn id="81" dur="500"/>
                                        <p:tgtEl>
                                          <p:spTgt spid="437328">
                                            <p:bg/>
                                          </p:spTgt>
                                        </p:tgtEl>
                                      </p:cBhvr>
                                    </p:animEffect>
                                    <p:set>
                                      <p:cBhvr>
                                        <p:cTn id="82" dur="1" fill="hold">
                                          <p:stCondLst>
                                            <p:cond delay="499"/>
                                          </p:stCondLst>
                                        </p:cTn>
                                        <p:tgtEl>
                                          <p:spTgt spid="437328">
                                            <p:bg/>
                                          </p:spTgt>
                                        </p:tgtEl>
                                        <p:attrNameLst>
                                          <p:attrName>style.visibility</p:attrName>
                                        </p:attrNameLst>
                                      </p:cBhvr>
                                      <p:to>
                                        <p:strVal val="hidden"/>
                                      </p:to>
                                    </p:set>
                                  </p:childTnLst>
                                </p:cTn>
                              </p:par>
                              <p:par>
                                <p:cTn id="83" presetID="5" presetClass="exit" presetSubtype="10" fill="hold" grpId="1" nodeType="withEffect">
                                  <p:stCondLst>
                                    <p:cond delay="0"/>
                                  </p:stCondLst>
                                  <p:childTnLst>
                                    <p:animEffect transition="out" filter="checkerboard(across)">
                                      <p:cBhvr>
                                        <p:cTn id="84" dur="500"/>
                                        <p:tgtEl>
                                          <p:spTgt spid="437329"/>
                                        </p:tgtEl>
                                      </p:cBhvr>
                                    </p:animEffect>
                                    <p:set>
                                      <p:cBhvr>
                                        <p:cTn id="85" dur="1" fill="hold">
                                          <p:stCondLst>
                                            <p:cond delay="499"/>
                                          </p:stCondLst>
                                        </p:cTn>
                                        <p:tgtEl>
                                          <p:spTgt spid="437329"/>
                                        </p:tgtEl>
                                        <p:attrNameLst>
                                          <p:attrName>style.visibility</p:attrName>
                                        </p:attrNameLst>
                                      </p:cBhvr>
                                      <p:to>
                                        <p:strVal val="hidden"/>
                                      </p:to>
                                    </p:set>
                                  </p:childTnLst>
                                </p:cTn>
                              </p:par>
                            </p:childTnLst>
                          </p:cTn>
                        </p:par>
                        <p:par>
                          <p:cTn id="86" fill="hold">
                            <p:stCondLst>
                              <p:cond delay="500"/>
                            </p:stCondLst>
                            <p:childTnLst>
                              <p:par>
                                <p:cTn id="87" presetID="5" presetClass="entr" presetSubtype="10" fill="hold" grpId="0" nodeType="afterEffect">
                                  <p:stCondLst>
                                    <p:cond delay="0"/>
                                  </p:stCondLst>
                                  <p:childTnLst>
                                    <p:set>
                                      <p:cBhvr>
                                        <p:cTn id="88" dur="1" fill="hold">
                                          <p:stCondLst>
                                            <p:cond delay="0"/>
                                          </p:stCondLst>
                                        </p:cTn>
                                        <p:tgtEl>
                                          <p:spTgt spid="437332"/>
                                        </p:tgtEl>
                                        <p:attrNameLst>
                                          <p:attrName>style.visibility</p:attrName>
                                        </p:attrNameLst>
                                      </p:cBhvr>
                                      <p:to>
                                        <p:strVal val="visible"/>
                                      </p:to>
                                    </p:set>
                                    <p:animEffect transition="in" filter="checkerboard(across)">
                                      <p:cBhvr>
                                        <p:cTn id="89" dur="500"/>
                                        <p:tgtEl>
                                          <p:spTgt spid="437332"/>
                                        </p:tgtEl>
                                      </p:cBhvr>
                                    </p:animEffect>
                                  </p:childTnLst>
                                </p:cTn>
                              </p:par>
                              <p:par>
                                <p:cTn id="90" presetID="5" presetClass="entr" presetSubtype="10" fill="hold" grpId="0" nodeType="withEffect">
                                  <p:stCondLst>
                                    <p:cond delay="0"/>
                                  </p:stCondLst>
                                  <p:childTnLst>
                                    <p:set>
                                      <p:cBhvr>
                                        <p:cTn id="91" dur="1" fill="hold">
                                          <p:stCondLst>
                                            <p:cond delay="0"/>
                                          </p:stCondLst>
                                        </p:cTn>
                                        <p:tgtEl>
                                          <p:spTgt spid="437331">
                                            <p:bg/>
                                          </p:spTgt>
                                        </p:tgtEl>
                                        <p:attrNameLst>
                                          <p:attrName>style.visibility</p:attrName>
                                        </p:attrNameLst>
                                      </p:cBhvr>
                                      <p:to>
                                        <p:strVal val="visible"/>
                                      </p:to>
                                    </p:set>
                                    <p:animEffect transition="in" filter="checkerboard(across)">
                                      <p:cBhvr>
                                        <p:cTn id="92" dur="500"/>
                                        <p:tgtEl>
                                          <p:spTgt spid="437331">
                                            <p:bg/>
                                          </p:spTgt>
                                        </p:tgtEl>
                                      </p:cBhvr>
                                    </p:animEffect>
                                  </p:childTnLst>
                                </p:cTn>
                              </p:par>
                              <p:par>
                                <p:cTn id="93" presetID="5" presetClass="entr" presetSubtype="10" fill="hold" grpId="0" nodeType="withEffect">
                                  <p:stCondLst>
                                    <p:cond delay="0"/>
                                  </p:stCondLst>
                                  <p:childTnLst>
                                    <p:set>
                                      <p:cBhvr>
                                        <p:cTn id="94" dur="1" fill="hold">
                                          <p:stCondLst>
                                            <p:cond delay="0"/>
                                          </p:stCondLst>
                                        </p:cTn>
                                        <p:tgtEl>
                                          <p:spTgt spid="437331">
                                            <p:txEl>
                                              <p:pRg st="0" end="0"/>
                                            </p:txEl>
                                          </p:spTgt>
                                        </p:tgtEl>
                                        <p:attrNameLst>
                                          <p:attrName>style.visibility</p:attrName>
                                        </p:attrNameLst>
                                      </p:cBhvr>
                                      <p:to>
                                        <p:strVal val="visible"/>
                                      </p:to>
                                    </p:set>
                                    <p:animEffect transition="in" filter="checkerboard(across)">
                                      <p:cBhvr>
                                        <p:cTn id="95" dur="500"/>
                                        <p:tgtEl>
                                          <p:spTgt spid="437331">
                                            <p:txEl>
                                              <p:pRg st="0" end="0"/>
                                            </p:txEl>
                                          </p:spTgt>
                                        </p:tgtEl>
                                      </p:cBhvr>
                                    </p:animEffect>
                                  </p:childTnLst>
                                </p:cTn>
                              </p:par>
                              <p:par>
                                <p:cTn id="96" presetID="5" presetClass="entr" presetSubtype="10" fill="hold" grpId="0" nodeType="withEffect">
                                  <p:stCondLst>
                                    <p:cond delay="0"/>
                                  </p:stCondLst>
                                  <p:childTnLst>
                                    <p:set>
                                      <p:cBhvr>
                                        <p:cTn id="97" dur="1" fill="hold">
                                          <p:stCondLst>
                                            <p:cond delay="0"/>
                                          </p:stCondLst>
                                        </p:cTn>
                                        <p:tgtEl>
                                          <p:spTgt spid="437331">
                                            <p:txEl>
                                              <p:pRg st="1" end="1"/>
                                            </p:txEl>
                                          </p:spTgt>
                                        </p:tgtEl>
                                        <p:attrNameLst>
                                          <p:attrName>style.visibility</p:attrName>
                                        </p:attrNameLst>
                                      </p:cBhvr>
                                      <p:to>
                                        <p:strVal val="visible"/>
                                      </p:to>
                                    </p:set>
                                    <p:animEffect transition="in" filter="checkerboard(across)">
                                      <p:cBhvr>
                                        <p:cTn id="98" dur="500"/>
                                        <p:tgtEl>
                                          <p:spTgt spid="437331">
                                            <p:txEl>
                                              <p:pRg st="1" end="1"/>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5" presetClass="entr" presetSubtype="10" fill="hold" grpId="0" nodeType="clickEffect">
                                  <p:stCondLst>
                                    <p:cond delay="0"/>
                                  </p:stCondLst>
                                  <p:childTnLst>
                                    <p:set>
                                      <p:cBhvr>
                                        <p:cTn id="102" dur="1" fill="hold">
                                          <p:stCondLst>
                                            <p:cond delay="0"/>
                                          </p:stCondLst>
                                        </p:cTn>
                                        <p:tgtEl>
                                          <p:spTgt spid="437331">
                                            <p:txEl>
                                              <p:pRg st="2" end="2"/>
                                            </p:txEl>
                                          </p:spTgt>
                                        </p:tgtEl>
                                        <p:attrNameLst>
                                          <p:attrName>style.visibility</p:attrName>
                                        </p:attrNameLst>
                                      </p:cBhvr>
                                      <p:to>
                                        <p:strVal val="visible"/>
                                      </p:to>
                                    </p:set>
                                    <p:animEffect transition="in" filter="checkerboard(across)">
                                      <p:cBhvr>
                                        <p:cTn id="103" dur="500"/>
                                        <p:tgtEl>
                                          <p:spTgt spid="437331">
                                            <p:txEl>
                                              <p:pRg st="2" end="2"/>
                                            </p:txEl>
                                          </p:spTgt>
                                        </p:tgtEl>
                                      </p:cBhvr>
                                    </p:animEffect>
                                  </p:childTnLst>
                                </p:cTn>
                              </p:par>
                              <p:par>
                                <p:cTn id="104" presetID="5" presetClass="entr" presetSubtype="10" fill="hold" grpId="0" nodeType="withEffect">
                                  <p:stCondLst>
                                    <p:cond delay="0"/>
                                  </p:stCondLst>
                                  <p:childTnLst>
                                    <p:set>
                                      <p:cBhvr>
                                        <p:cTn id="105" dur="1" fill="hold">
                                          <p:stCondLst>
                                            <p:cond delay="0"/>
                                          </p:stCondLst>
                                        </p:cTn>
                                        <p:tgtEl>
                                          <p:spTgt spid="437331">
                                            <p:txEl>
                                              <p:pRg st="3" end="3"/>
                                            </p:txEl>
                                          </p:spTgt>
                                        </p:tgtEl>
                                        <p:attrNameLst>
                                          <p:attrName>style.visibility</p:attrName>
                                        </p:attrNameLst>
                                      </p:cBhvr>
                                      <p:to>
                                        <p:strVal val="visible"/>
                                      </p:to>
                                    </p:set>
                                    <p:animEffect transition="in" filter="checkerboard(across)">
                                      <p:cBhvr>
                                        <p:cTn id="106" dur="500"/>
                                        <p:tgtEl>
                                          <p:spTgt spid="4373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328" grpId="0" uiExpand="1" build="allAtOnce" animBg="1"/>
      <p:bldP spid="437328" grpId="1" build="allAtOnce" animBg="1"/>
      <p:bldP spid="437329" grpId="0" animBg="1"/>
      <p:bldP spid="437329" grpId="1" animBg="1"/>
      <p:bldP spid="437325" grpId="0" uiExpand="1" build="allAtOnce" animBg="1"/>
      <p:bldP spid="437325" grpId="1" build="allAtOnce" animBg="1"/>
      <p:bldP spid="437326" grpId="0" animBg="1"/>
      <p:bldP spid="437326" grpId="1" animBg="1"/>
      <p:bldP spid="437331" grpId="0" uiExpand="1" build="allAtOnce" animBg="1"/>
      <p:bldP spid="4373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vert="horz" anchor="b">
            <a:noAutofit/>
          </a:bodyPr>
          <a:lstStyle/>
          <a:p>
            <a:r>
              <a:rPr lang="fr-FR" altLang="zh-CN" sz="2600" b="1" dirty="0">
                <a:solidFill>
                  <a:srgbClr val="C00000"/>
                </a:solidFill>
                <a:ea typeface="SimSun" pitchFamily="2" charset="-122"/>
                <a:cs typeface="Times New Roman" charset="0"/>
              </a:rPr>
              <a:t>Question</a:t>
            </a:r>
          </a:p>
        </p:txBody>
      </p:sp>
      <p:sp>
        <p:nvSpPr>
          <p:cNvPr id="3" name="Espace réservé du contenu 2"/>
          <p:cNvSpPr>
            <a:spLocks noGrp="1"/>
          </p:cNvSpPr>
          <p:nvPr>
            <p:ph sz="quarter" idx="1"/>
          </p:nvPr>
        </p:nvSpPr>
        <p:spPr/>
        <p:txBody>
          <a:bodyPr/>
          <a:lstStyle/>
          <a:p>
            <a:pPr>
              <a:buNone/>
            </a:pPr>
            <a:r>
              <a:rPr lang="fr-FR" dirty="0"/>
              <a:t>Q1. Si un groupe reçoit l'autorisation Modifier pour un dossier et qu'un utilisateur membre de ce groupe se voit refuser l'autorisation Modifier pour le même dossier, quelle est l'autorisation effective de l'utilisateur pour le dossier ?</a:t>
            </a:r>
          </a:p>
          <a:p>
            <a:r>
              <a:rPr lang="fr-FR" dirty="0"/>
              <a:t>L'autorisation Refuser est prioritaire sur l'autorisation Autoriser ; par conséquent, l'utilisateur se voit refuser l'autorisation Modifier pour le dossier.</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fontScale="92500"/>
          </a:bodyPr>
          <a:lstStyle/>
          <a:p>
            <a:r>
              <a:rPr lang="fr-FR" b="1" dirty="0"/>
              <a:t>Q2</a:t>
            </a:r>
            <a:r>
              <a:rPr lang="fr-FR" dirty="0"/>
              <a:t>: Si un utilisateur possède l'autorisation NTFS de Contrôle total sur un fichier mais qu'il accède à ce fichier au moyen d'un partage avec autorisation de lecture, quelle sera l'autorisation effective de l'utilisateur sur ce fichier ?</a:t>
            </a:r>
          </a:p>
          <a:p>
            <a:r>
              <a:rPr lang="fr-FR" dirty="0"/>
              <a:t>L'utilisateur aura uniquement un accès en lecture au fichier lorsqu'il l'atteint sur le réseau au moyen du partage (car l'accès en lecture est plus restrictif que le contrôle total). Si l'utilisateur est connecté à la console de l'ordinateur où est stocké le fichier et s'il y accède localement, il bénéficie alors d'un contrôle total.</a:t>
            </a:r>
          </a:p>
          <a:p>
            <a:endParaRPr lang="fr-FR" dirty="0"/>
          </a:p>
        </p:txBody>
      </p:sp>
      <p:sp>
        <p:nvSpPr>
          <p:cNvPr id="4" name="Titre 1">
            <a:extLst>
              <a:ext uri="{FF2B5EF4-FFF2-40B4-BE49-F238E27FC236}">
                <a16:creationId xmlns:a16="http://schemas.microsoft.com/office/drawing/2014/main" id="{7BF364F8-DBED-4433-B728-77F8BD124743}"/>
              </a:ext>
            </a:extLst>
          </p:cNvPr>
          <p:cNvSpPr>
            <a:spLocks noGrp="1"/>
          </p:cNvSpPr>
          <p:nvPr>
            <p:ph type="title"/>
          </p:nvPr>
        </p:nvSpPr>
        <p:spPr>
          <a:xfrm>
            <a:off x="301752" y="228600"/>
            <a:ext cx="8534400" cy="758952"/>
          </a:xfrm>
        </p:spPr>
        <p:txBody>
          <a:bodyPr vert="horz" anchor="b">
            <a:noAutofit/>
          </a:bodyPr>
          <a:lstStyle/>
          <a:p>
            <a:r>
              <a:rPr lang="fr-FR" altLang="zh-CN" sz="2600" b="1" dirty="0">
                <a:solidFill>
                  <a:srgbClr val="C00000"/>
                </a:solidFill>
                <a:ea typeface="SimSun" pitchFamily="2" charset="-122"/>
                <a:cs typeface="Times New Roman" charset="0"/>
              </a:rPr>
              <a:t>Question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p:txBody>
          <a:bodyPr>
            <a:normAutofit fontScale="92500" lnSpcReduction="20000"/>
          </a:bodyPr>
          <a:lstStyle/>
          <a:p>
            <a:r>
              <a:rPr lang="fr-FR" b="1" dirty="0"/>
              <a:t>Q3</a:t>
            </a:r>
            <a:r>
              <a:rPr lang="fr-FR" dirty="0"/>
              <a:t>: Si vous souhaitez qu'un utilisateur ait accès à tous les fichiers d'un dossier partagé, mais qu'il puisse modifier uniquement certains fichiers du dossier, quelles autorisations lui donneriez-vous ?</a:t>
            </a:r>
          </a:p>
          <a:p>
            <a:r>
              <a:rPr lang="fr-FR" dirty="0"/>
              <a:t>Les autorisations de partage doivent permettre à l'utilisateur de modifier tous les fichiers (la fenêtre de dossier s'ouvre, mais elle est verrouillée avec les autorisations NTFS). Vous devez définir les autorisations NTFS pour le dossier afin d'octroyer à l'utilisateur l'accès en lecture seule (qui s'applique à tous les fichiers). Attribuez ensuite l'autorisation NTFS Modifier aux fichiers individuels du dossier que l'utilisateur pourra modifier.</a:t>
            </a:r>
          </a:p>
          <a:p>
            <a:endParaRPr lang="fr-FR" dirty="0"/>
          </a:p>
        </p:txBody>
      </p:sp>
      <p:sp>
        <p:nvSpPr>
          <p:cNvPr id="4" name="Titre 1">
            <a:extLst>
              <a:ext uri="{FF2B5EF4-FFF2-40B4-BE49-F238E27FC236}">
                <a16:creationId xmlns:a16="http://schemas.microsoft.com/office/drawing/2014/main" id="{07B44ACB-0B04-48E0-8CCF-74381769922B}"/>
              </a:ext>
            </a:extLst>
          </p:cNvPr>
          <p:cNvSpPr>
            <a:spLocks noGrp="1"/>
          </p:cNvSpPr>
          <p:nvPr>
            <p:ph type="title"/>
          </p:nvPr>
        </p:nvSpPr>
        <p:spPr>
          <a:xfrm>
            <a:off x="301752" y="228600"/>
            <a:ext cx="8534400" cy="758952"/>
          </a:xfrm>
        </p:spPr>
        <p:txBody>
          <a:bodyPr vert="horz" anchor="b">
            <a:noAutofit/>
          </a:bodyPr>
          <a:lstStyle/>
          <a:p>
            <a:r>
              <a:rPr lang="fr-FR" altLang="zh-CN" sz="2600" b="1" dirty="0">
                <a:solidFill>
                  <a:srgbClr val="C00000"/>
                </a:solidFill>
                <a:ea typeface="SimSun" pitchFamily="2" charset="-122"/>
                <a:cs typeface="Times New Roman" charset="0"/>
              </a:rPr>
              <a:t>Question</a:t>
            </a:r>
          </a:p>
        </p:txBody>
      </p:sp>
    </p:spTree>
    <p:extLst>
      <p:ext uri="{BB962C8B-B14F-4D97-AF65-F5344CB8AC3E}">
        <p14:creationId xmlns:p14="http://schemas.microsoft.com/office/powerpoint/2010/main" val="399748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2"/>
          <p:cNvSpPr>
            <a:spLocks noGrp="1" noChangeArrowheads="1"/>
          </p:cNvSpPr>
          <p:nvPr>
            <p:ph type="title"/>
          </p:nvPr>
        </p:nvSpPr>
        <p:spPr>
          <a:xfrm>
            <a:off x="0" y="574891"/>
            <a:ext cx="9144000" cy="684212"/>
          </a:xfrm>
        </p:spPr>
        <p:txBody>
          <a:bodyPr>
            <a:noAutofit/>
          </a:bodyPr>
          <a:lstStyle/>
          <a:p>
            <a:r>
              <a:rPr lang="fr-FR" altLang="zh-CN" sz="3000" b="1" dirty="0">
                <a:solidFill>
                  <a:srgbClr val="C00000"/>
                </a:solidFill>
                <a:ea typeface="SimSun" pitchFamily="2" charset="-122"/>
                <a:cs typeface="Times New Roman" charset="0"/>
              </a:rPr>
              <a:t>Impact de la combinaison des autorisations de  dossier partagé et des autorisations NTFS</a:t>
            </a:r>
            <a:r>
              <a:rPr lang="en-IE" altLang="zh-CN" sz="3000" b="1" dirty="0">
                <a:solidFill>
                  <a:srgbClr val="C00000"/>
                </a:solidFill>
                <a:ea typeface="SimSun" pitchFamily="2" charset="-122"/>
                <a:cs typeface="Times New Roman" charset="0"/>
              </a:rPr>
              <a:t> </a:t>
            </a:r>
            <a:endParaRPr lang="en-US" sz="3000" b="1" dirty="0">
              <a:solidFill>
                <a:srgbClr val="C00000"/>
              </a:solidFill>
              <a:ea typeface="SimSun" pitchFamily="2" charset="-122"/>
              <a:cs typeface="Times New Roman" charset="0"/>
            </a:endParaRPr>
          </a:p>
        </p:txBody>
      </p:sp>
      <p:sp>
        <p:nvSpPr>
          <p:cNvPr id="395326" name="AutoShape-62"/>
          <p:cNvSpPr>
            <a:spLocks noChangeArrowheads="1"/>
          </p:cNvSpPr>
          <p:nvPr/>
        </p:nvSpPr>
        <p:spPr bwMode="auto">
          <a:xfrm>
            <a:off x="6154413" y="1470025"/>
            <a:ext cx="2840037" cy="4506913"/>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lnSpc>
                <a:spcPct val="100000"/>
              </a:lnSpc>
              <a:buSzPct val="85000"/>
            </a:pPr>
            <a:endParaRPr lang="en-IE" sz="1800">
              <a:solidFill>
                <a:schemeClr val="tx1"/>
              </a:solidFill>
            </a:endParaRPr>
          </a:p>
        </p:txBody>
      </p:sp>
      <p:sp>
        <p:nvSpPr>
          <p:cNvPr id="395327" name="Freeform-63"/>
          <p:cNvSpPr>
            <a:spLocks/>
          </p:cNvSpPr>
          <p:nvPr/>
        </p:nvSpPr>
        <p:spPr bwMode="auto">
          <a:xfrm>
            <a:off x="7156125" y="2343150"/>
            <a:ext cx="595313" cy="1844675"/>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808080"/>
            </a:solidFill>
            <a:prstDash val="solid"/>
            <a:round/>
            <a:headEnd type="none" w="med" len="med"/>
            <a:tailEnd type="none" w="med" len="med"/>
          </a:ln>
          <a:effectLst/>
        </p:spPr>
        <p:txBody>
          <a:bodyPr anchor="ctr"/>
          <a:lstStyle/>
          <a:p>
            <a:endParaRPr lang="fr-FR"/>
          </a:p>
        </p:txBody>
      </p:sp>
      <p:pic>
        <p:nvPicPr>
          <p:cNvPr id="395328" name="Picture-64" descr="Document_Document01"/>
          <p:cNvPicPr>
            <a:picLocks noChangeAspect="1" noChangeArrowheads="1"/>
          </p:cNvPicPr>
          <p:nvPr/>
        </p:nvPicPr>
        <p:blipFill>
          <a:blip r:embed="rId3" cstate="print"/>
          <a:srcRect/>
          <a:stretch>
            <a:fillRect/>
          </a:stretch>
        </p:blipFill>
        <p:spPr bwMode="auto">
          <a:xfrm>
            <a:off x="7538713" y="3787775"/>
            <a:ext cx="631825" cy="1025525"/>
          </a:xfrm>
          <a:prstGeom prst="rect">
            <a:avLst/>
          </a:prstGeom>
          <a:noFill/>
        </p:spPr>
      </p:pic>
      <p:grpSp>
        <p:nvGrpSpPr>
          <p:cNvPr id="395329" name="Group 65"/>
          <p:cNvGrpSpPr>
            <a:grpSpLocks/>
          </p:cNvGrpSpPr>
          <p:nvPr/>
        </p:nvGrpSpPr>
        <p:grpSpPr bwMode="auto">
          <a:xfrm>
            <a:off x="6548113" y="1587500"/>
            <a:ext cx="1143000" cy="965200"/>
            <a:chOff x="4704" y="144"/>
            <a:chExt cx="720" cy="608"/>
          </a:xfrm>
        </p:grpSpPr>
        <p:pic>
          <p:nvPicPr>
            <p:cNvPr id="395330" name="Picture-66" descr="Folder_FolderOpen01"/>
            <p:cNvPicPr>
              <a:picLocks noChangeAspect="1" noChangeArrowheads="1"/>
            </p:cNvPicPr>
            <p:nvPr/>
          </p:nvPicPr>
          <p:blipFill>
            <a:blip r:embed="rId4" cstate="print"/>
            <a:srcRect/>
            <a:stretch>
              <a:fillRect/>
            </a:stretch>
          </p:blipFill>
          <p:spPr bwMode="auto">
            <a:xfrm>
              <a:off x="4800" y="144"/>
              <a:ext cx="624" cy="558"/>
            </a:xfrm>
            <a:prstGeom prst="rect">
              <a:avLst/>
            </a:prstGeom>
            <a:noFill/>
          </p:spPr>
        </p:pic>
        <p:pic>
          <p:nvPicPr>
            <p:cNvPr id="395331" name="Picture-67" descr="Shared Hand-3"/>
            <p:cNvPicPr>
              <a:picLocks noChangeAspect="1" noChangeArrowheads="1"/>
            </p:cNvPicPr>
            <p:nvPr/>
          </p:nvPicPr>
          <p:blipFill>
            <a:blip r:embed="rId5"/>
            <a:srcRect/>
            <a:stretch>
              <a:fillRect/>
            </a:stretch>
          </p:blipFill>
          <p:spPr bwMode="auto">
            <a:xfrm>
              <a:off x="4704" y="480"/>
              <a:ext cx="624" cy="272"/>
            </a:xfrm>
            <a:prstGeom prst="rect">
              <a:avLst/>
            </a:prstGeom>
            <a:noFill/>
          </p:spPr>
        </p:pic>
      </p:grpSp>
      <p:pic>
        <p:nvPicPr>
          <p:cNvPr id="395332" name="Picture-68" descr="Users01"/>
          <p:cNvPicPr>
            <a:picLocks noChangeAspect="1" noChangeArrowheads="1"/>
          </p:cNvPicPr>
          <p:nvPr/>
        </p:nvPicPr>
        <p:blipFill>
          <a:blip r:embed="rId6"/>
          <a:srcRect/>
          <a:stretch>
            <a:fillRect/>
          </a:stretch>
        </p:blipFill>
        <p:spPr bwMode="auto">
          <a:xfrm>
            <a:off x="2915913" y="1538288"/>
            <a:ext cx="1381125" cy="1684337"/>
          </a:xfrm>
          <a:prstGeom prst="rect">
            <a:avLst/>
          </a:prstGeom>
          <a:noFill/>
        </p:spPr>
      </p:pic>
      <p:sp>
        <p:nvSpPr>
          <p:cNvPr id="395333" name="AutoShape-69"/>
          <p:cNvSpPr>
            <a:spLocks noChangeArrowheads="1"/>
          </p:cNvSpPr>
          <p:nvPr/>
        </p:nvSpPr>
        <p:spPr bwMode="auto">
          <a:xfrm>
            <a:off x="2709538" y="3255963"/>
            <a:ext cx="1417637" cy="47783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sz="1800">
                <a:cs typeface="Times New Roman" charset="0"/>
              </a:rPr>
              <a:t>Groupe </a:t>
            </a:r>
            <a:br>
              <a:rPr lang="fr-FR" altLang="zh-CN" sz="1800">
                <a:cs typeface="Times New Roman" charset="0"/>
              </a:rPr>
            </a:br>
            <a:r>
              <a:rPr lang="fr-FR" altLang="zh-CN" sz="1800">
                <a:cs typeface="Times New Roman" charset="0"/>
              </a:rPr>
              <a:t>Utilisateurs</a:t>
            </a:r>
            <a:r>
              <a:rPr lang="en-IE" altLang="zh-CN" sz="1800">
                <a:cs typeface="Times New Roman" charset="0"/>
              </a:rPr>
              <a:t> </a:t>
            </a:r>
            <a:endParaRPr lang="en-US" sz="1800">
              <a:cs typeface="Times New Roman" charset="0"/>
            </a:endParaRPr>
          </a:p>
        </p:txBody>
      </p:sp>
      <p:pic>
        <p:nvPicPr>
          <p:cNvPr id="395334" name="Picture-70" descr="Database01"/>
          <p:cNvPicPr>
            <a:picLocks noChangeAspect="1" noChangeArrowheads="1"/>
          </p:cNvPicPr>
          <p:nvPr/>
        </p:nvPicPr>
        <p:blipFill>
          <a:blip r:embed="rId7"/>
          <a:srcRect/>
          <a:stretch>
            <a:fillRect/>
          </a:stretch>
        </p:blipFill>
        <p:spPr bwMode="auto">
          <a:xfrm>
            <a:off x="6316338" y="2857500"/>
            <a:ext cx="1695450" cy="738188"/>
          </a:xfrm>
          <a:prstGeom prst="rect">
            <a:avLst/>
          </a:prstGeom>
          <a:noFill/>
        </p:spPr>
      </p:pic>
      <p:sp>
        <p:nvSpPr>
          <p:cNvPr id="395335" name="Freeform-71"/>
          <p:cNvSpPr>
            <a:spLocks/>
          </p:cNvSpPr>
          <p:nvPr/>
        </p:nvSpPr>
        <p:spPr bwMode="auto">
          <a:xfrm>
            <a:off x="7156125" y="4224338"/>
            <a:ext cx="595313" cy="1106487"/>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57150" cap="flat" cmpd="sng">
            <a:solidFill>
              <a:srgbClr val="808080"/>
            </a:solidFill>
            <a:prstDash val="solid"/>
            <a:round/>
            <a:headEnd type="none" w="med" len="med"/>
            <a:tailEnd type="none" w="med" len="med"/>
          </a:ln>
          <a:effectLst/>
        </p:spPr>
        <p:txBody>
          <a:bodyPr anchor="ctr"/>
          <a:lstStyle/>
          <a:p>
            <a:endParaRPr lang="fr-FR"/>
          </a:p>
        </p:txBody>
      </p:sp>
      <p:pic>
        <p:nvPicPr>
          <p:cNvPr id="395336" name="Picture-72" descr="Document_Document01"/>
          <p:cNvPicPr>
            <a:picLocks noChangeAspect="1" noChangeArrowheads="1"/>
          </p:cNvPicPr>
          <p:nvPr/>
        </p:nvPicPr>
        <p:blipFill>
          <a:blip r:embed="rId3" cstate="print"/>
          <a:srcRect/>
          <a:stretch>
            <a:fillRect/>
          </a:stretch>
        </p:blipFill>
        <p:spPr bwMode="auto">
          <a:xfrm>
            <a:off x="7538713" y="4876800"/>
            <a:ext cx="631825" cy="1025525"/>
          </a:xfrm>
          <a:prstGeom prst="rect">
            <a:avLst/>
          </a:prstGeom>
          <a:noFill/>
        </p:spPr>
      </p:pic>
      <p:sp>
        <p:nvSpPr>
          <p:cNvPr id="395337" name="AutoShape-73"/>
          <p:cNvSpPr>
            <a:spLocks noChangeArrowheads="1"/>
          </p:cNvSpPr>
          <p:nvPr/>
        </p:nvSpPr>
        <p:spPr bwMode="auto">
          <a:xfrm>
            <a:off x="5589263" y="3994150"/>
            <a:ext cx="1820862" cy="403225"/>
          </a:xfrm>
          <a:prstGeom prst="rightArrowCallout">
            <a:avLst>
              <a:gd name="adj1" fmla="val 51694"/>
              <a:gd name="adj2" fmla="val 46056"/>
              <a:gd name="adj3" fmla="val 105200"/>
              <a:gd name="adj4" fmla="val 66667"/>
            </a:avLst>
          </a:prstGeom>
          <a:solidFill>
            <a:srgbClr val="FF9999"/>
          </a:soli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sz="1800">
                <a:cs typeface="Times New Roman" charset="0"/>
              </a:rPr>
              <a:t>Lecture</a:t>
            </a:r>
            <a:r>
              <a:rPr lang="en-IE" altLang="zh-CN">
                <a:cs typeface="Times New Roman" charset="0"/>
              </a:rPr>
              <a:t> </a:t>
            </a:r>
            <a:endParaRPr lang="en-US">
              <a:cs typeface="Times New Roman" charset="0"/>
            </a:endParaRPr>
          </a:p>
        </p:txBody>
      </p:sp>
      <p:sp>
        <p:nvSpPr>
          <p:cNvPr id="395338" name="AutoShape-74"/>
          <p:cNvSpPr>
            <a:spLocks noChangeArrowheads="1"/>
          </p:cNvSpPr>
          <p:nvPr/>
        </p:nvSpPr>
        <p:spPr bwMode="auto">
          <a:xfrm>
            <a:off x="5500363" y="5135563"/>
            <a:ext cx="2023218" cy="374650"/>
          </a:xfrm>
          <a:prstGeom prst="rightArrowCallout">
            <a:avLst>
              <a:gd name="adj1" fmla="val 51694"/>
              <a:gd name="adj2" fmla="val 46056"/>
              <a:gd name="adj3" fmla="val 115198"/>
              <a:gd name="adj4" fmla="val 66667"/>
            </a:avLst>
          </a:prstGeom>
          <a:solidFill>
            <a:srgbClr val="FF9999"/>
          </a:soli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sz="1800" dirty="0">
                <a:cs typeface="Times New Roman" charset="0"/>
              </a:rPr>
              <a:t>Modification</a:t>
            </a:r>
            <a:r>
              <a:rPr lang="en-IE" altLang="zh-CN" dirty="0">
                <a:cs typeface="Times New Roman" charset="0"/>
              </a:rPr>
              <a:t> </a:t>
            </a:r>
            <a:endParaRPr lang="en-US" dirty="0">
              <a:cs typeface="Times New Roman" charset="0"/>
            </a:endParaRPr>
          </a:p>
        </p:txBody>
      </p:sp>
      <p:sp>
        <p:nvSpPr>
          <p:cNvPr id="395339" name="AutoShape-75"/>
          <p:cNvSpPr>
            <a:spLocks noChangeArrowheads="1"/>
          </p:cNvSpPr>
          <p:nvPr/>
        </p:nvSpPr>
        <p:spPr bwMode="auto">
          <a:xfrm>
            <a:off x="5041575" y="2085975"/>
            <a:ext cx="1397000" cy="374650"/>
          </a:xfrm>
          <a:prstGeom prst="rightArrowCallout">
            <a:avLst>
              <a:gd name="adj1" fmla="val 51694"/>
              <a:gd name="adj2" fmla="val 46056"/>
              <a:gd name="adj3" fmla="val 86868"/>
              <a:gd name="adj4" fmla="val 66667"/>
            </a:avLst>
          </a:prstGeom>
          <a:gradFill rotWithShape="1">
            <a:gsLst>
              <a:gs pos="0">
                <a:srgbClr val="ADE2A1"/>
              </a:gs>
              <a:gs pos="100000">
                <a:srgbClr val="E8F6E4"/>
              </a:gs>
            </a:gsLst>
            <a:lin ang="2700000" scaled="1"/>
          </a:gra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sz="1800">
                <a:cs typeface="Times New Roman" charset="0"/>
              </a:rPr>
              <a:t>CT</a:t>
            </a:r>
            <a:r>
              <a:rPr lang="en-IE" altLang="zh-CN" sz="1800">
                <a:cs typeface="Times New Roman" charset="0"/>
              </a:rPr>
              <a:t> </a:t>
            </a:r>
            <a:endParaRPr lang="en-US" sz="1800">
              <a:cs typeface="Times New Roman" charset="0"/>
            </a:endParaRPr>
          </a:p>
        </p:txBody>
      </p:sp>
      <p:pic>
        <p:nvPicPr>
          <p:cNvPr id="395340" name="Picture-76" descr="Security_Permissions01"/>
          <p:cNvPicPr>
            <a:picLocks noChangeAspect="1" noChangeArrowheads="1"/>
          </p:cNvPicPr>
          <p:nvPr/>
        </p:nvPicPr>
        <p:blipFill>
          <a:blip r:embed="rId8" cstate="print"/>
          <a:srcRect/>
          <a:stretch>
            <a:fillRect/>
          </a:stretch>
        </p:blipFill>
        <p:spPr bwMode="auto">
          <a:xfrm>
            <a:off x="5159050" y="3844925"/>
            <a:ext cx="531813" cy="750888"/>
          </a:xfrm>
          <a:prstGeom prst="rect">
            <a:avLst/>
          </a:prstGeom>
          <a:noFill/>
        </p:spPr>
      </p:pic>
      <p:pic>
        <p:nvPicPr>
          <p:cNvPr id="395341" name="Picture-77" descr="Security_Permissions01"/>
          <p:cNvPicPr>
            <a:picLocks noChangeAspect="1" noChangeArrowheads="1"/>
          </p:cNvPicPr>
          <p:nvPr/>
        </p:nvPicPr>
        <p:blipFill>
          <a:blip r:embed="rId8" cstate="print"/>
          <a:srcRect/>
          <a:stretch>
            <a:fillRect/>
          </a:stretch>
        </p:blipFill>
        <p:spPr bwMode="auto">
          <a:xfrm>
            <a:off x="5073325" y="4970463"/>
            <a:ext cx="531813" cy="750887"/>
          </a:xfrm>
          <a:prstGeom prst="rect">
            <a:avLst/>
          </a:prstGeom>
          <a:noFill/>
        </p:spPr>
      </p:pic>
      <p:sp>
        <p:nvSpPr>
          <p:cNvPr id="395342" name="Text-Box-78"/>
          <p:cNvSpPr txBox="1">
            <a:spLocks noChangeArrowheads="1"/>
          </p:cNvSpPr>
          <p:nvPr/>
        </p:nvSpPr>
        <p:spPr bwMode="auto">
          <a:xfrm>
            <a:off x="8110213" y="4217988"/>
            <a:ext cx="950912" cy="366712"/>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Fichier1</a:t>
            </a:r>
            <a:r>
              <a:rPr lang="en-IE" altLang="zh-CN" sz="1600">
                <a:cs typeface="Times New Roman" charset="0"/>
              </a:rPr>
              <a:t> </a:t>
            </a:r>
            <a:endParaRPr lang="en-US" sz="1600">
              <a:cs typeface="Times New Roman" charset="0"/>
            </a:endParaRPr>
          </a:p>
        </p:txBody>
      </p:sp>
      <p:sp>
        <p:nvSpPr>
          <p:cNvPr id="395343" name="Text-Box-79"/>
          <p:cNvSpPr txBox="1">
            <a:spLocks noChangeArrowheads="1"/>
          </p:cNvSpPr>
          <p:nvPr/>
        </p:nvSpPr>
        <p:spPr bwMode="auto">
          <a:xfrm>
            <a:off x="8110213" y="5321300"/>
            <a:ext cx="950912" cy="366713"/>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Fichier2</a:t>
            </a:r>
            <a:r>
              <a:rPr lang="en-IE" altLang="zh-CN" sz="1600">
                <a:cs typeface="Times New Roman" charset="0"/>
              </a:rPr>
              <a:t> </a:t>
            </a:r>
            <a:endParaRPr lang="en-US" sz="1600">
              <a:cs typeface="Times New Roman" charset="0"/>
            </a:endParaRPr>
          </a:p>
        </p:txBody>
      </p:sp>
      <p:sp>
        <p:nvSpPr>
          <p:cNvPr id="395344" name="Text-Box-80"/>
          <p:cNvSpPr txBox="1">
            <a:spLocks noChangeArrowheads="1"/>
          </p:cNvSpPr>
          <p:nvPr/>
        </p:nvSpPr>
        <p:spPr bwMode="auto">
          <a:xfrm>
            <a:off x="7619675" y="1931988"/>
            <a:ext cx="788988" cy="366712"/>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Public</a:t>
            </a:r>
            <a:r>
              <a:rPr lang="en-IE" altLang="zh-CN">
                <a:cs typeface="Times New Roman" charset="0"/>
              </a:rPr>
              <a:t> </a:t>
            </a:r>
            <a:endParaRPr lang="en-US">
              <a:cs typeface="Times New Roman" charset="0"/>
            </a:endParaRPr>
          </a:p>
        </p:txBody>
      </p:sp>
      <p:sp>
        <p:nvSpPr>
          <p:cNvPr id="395345" name="Text-Box-81"/>
          <p:cNvSpPr txBox="1">
            <a:spLocks noChangeArrowheads="1"/>
          </p:cNvSpPr>
          <p:nvPr/>
        </p:nvSpPr>
        <p:spPr bwMode="auto">
          <a:xfrm>
            <a:off x="6419525" y="3182938"/>
            <a:ext cx="1455738" cy="366712"/>
          </a:xfrm>
          <a:prstGeom prst="rect">
            <a:avLst/>
          </a:prstGeom>
          <a:noFill/>
          <a:ln w="9525" algn="ctr">
            <a:noFill/>
            <a:miter lim="800000"/>
            <a:headEnd/>
            <a:tailEnd/>
          </a:ln>
          <a:effectLst/>
        </p:spPr>
        <p:txBody>
          <a:bodyPr wrap="none">
            <a:spAutoFit/>
          </a:bodyPr>
          <a:lstStyle/>
          <a:p>
            <a:pPr>
              <a:lnSpc>
                <a:spcPct val="100000"/>
              </a:lnSpc>
            </a:pPr>
            <a:r>
              <a:rPr lang="fr-FR" altLang="zh-CN" sz="1800">
                <a:cs typeface="Times New Roman" charset="0"/>
              </a:rPr>
              <a:t>Volume NTFS</a:t>
            </a:r>
            <a:r>
              <a:rPr lang="en-IE" altLang="zh-CN" sz="1800">
                <a:cs typeface="Times New Roman" charset="0"/>
              </a:rPr>
              <a:t> </a:t>
            </a:r>
            <a:endParaRPr lang="en-US" sz="1800">
              <a:cs typeface="Times New Roman" charset="0"/>
            </a:endParaRPr>
          </a:p>
        </p:txBody>
      </p:sp>
      <p:pic>
        <p:nvPicPr>
          <p:cNvPr id="395346" name="Picture-82" descr="Security_Permissions01"/>
          <p:cNvPicPr>
            <a:picLocks noChangeAspect="1" noChangeArrowheads="1"/>
          </p:cNvPicPr>
          <p:nvPr/>
        </p:nvPicPr>
        <p:blipFill>
          <a:blip r:embed="rId8" cstate="print"/>
          <a:srcRect/>
          <a:stretch>
            <a:fillRect/>
          </a:stretch>
        </p:blipFill>
        <p:spPr bwMode="auto">
          <a:xfrm>
            <a:off x="4654225" y="1947863"/>
            <a:ext cx="531813" cy="750887"/>
          </a:xfrm>
          <a:prstGeom prst="rect">
            <a:avLst/>
          </a:prstGeom>
          <a:noFill/>
        </p:spPr>
      </p:pic>
      <p:sp>
        <p:nvSpPr>
          <p:cNvPr id="24" name="Rectangle 23"/>
          <p:cNvSpPr/>
          <p:nvPr/>
        </p:nvSpPr>
        <p:spPr>
          <a:xfrm>
            <a:off x="491923" y="4198989"/>
            <a:ext cx="4415742" cy="2106731"/>
          </a:xfrm>
          <a:prstGeom prst="rect">
            <a:avLst/>
          </a:prstGeom>
        </p:spPr>
        <p:txBody>
          <a:bodyPr wrap="square">
            <a:spAutoFit/>
          </a:bodyPr>
          <a:lstStyle/>
          <a:p>
            <a:pPr algn="just"/>
            <a:r>
              <a:rPr lang="fr-FR" sz="2200" dirty="0">
                <a:solidFill>
                  <a:srgbClr val="C00000"/>
                </a:solidFill>
              </a:rPr>
              <a:t>Lorsque vous combinez les autorisations NTFS et les autorisations de dossier partagé, l’autorisation résultante correspond à l’autorisation la plus restrictive des autorisations de dossier partagé et des autorisations NTFS combinées.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1000" fill="hold"/>
                                        <p:tgtEl>
                                          <p:spTgt spid="24"/>
                                        </p:tgtEl>
                                        <p:attrNameLst>
                                          <p:attrName>ppt_x</p:attrName>
                                        </p:attrNameLst>
                                      </p:cBhvr>
                                      <p:tavLst>
                                        <p:tav tm="0">
                                          <p:val>
                                            <p:strVal val="#ppt_x"/>
                                          </p:val>
                                        </p:tav>
                                        <p:tav tm="100000">
                                          <p:val>
                                            <p:strVal val="#ppt_x"/>
                                          </p:val>
                                        </p:tav>
                                      </p:tavLst>
                                    </p:anim>
                                    <p:anim calcmode="lin" valueType="num">
                                      <p:cBhvr additive="base">
                                        <p:cTn id="8" dur="10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2"/>
          <p:cNvSpPr>
            <a:spLocks noGrp="1" noChangeArrowheads="1"/>
          </p:cNvSpPr>
          <p:nvPr>
            <p:ph type="title"/>
          </p:nvPr>
        </p:nvSpPr>
        <p:spPr>
          <a:xfrm>
            <a:off x="0" y="409827"/>
            <a:ext cx="9144000" cy="917634"/>
          </a:xfrm>
        </p:spPr>
        <p:txBody>
          <a:bodyPr>
            <a:noAutofit/>
          </a:bodyPr>
          <a:lstStyle/>
          <a:p>
            <a:r>
              <a:rPr lang="fr-FR" altLang="zh-CN" sz="2700" b="1" dirty="0">
                <a:solidFill>
                  <a:srgbClr val="C00000"/>
                </a:solidFill>
                <a:ea typeface="SimSun" pitchFamily="2" charset="-122"/>
                <a:cs typeface="Times New Roman" charset="0"/>
              </a:rPr>
              <a:t>Application pratique : Identification des autorisations NTFS et de dossier partagé effectives</a:t>
            </a:r>
            <a:endParaRPr lang="en-US" sz="2700" b="1" dirty="0">
              <a:solidFill>
                <a:srgbClr val="C00000"/>
              </a:solidFill>
              <a:ea typeface="SimSun" pitchFamily="2" charset="-122"/>
              <a:cs typeface="Times New Roman" charset="0"/>
            </a:endParaRPr>
          </a:p>
        </p:txBody>
      </p:sp>
      <p:sp>
        <p:nvSpPr>
          <p:cNvPr id="354313" name="AutoShape-9"/>
          <p:cNvSpPr>
            <a:spLocks noChangeArrowheads="1"/>
          </p:cNvSpPr>
          <p:nvPr/>
        </p:nvSpPr>
        <p:spPr bwMode="auto">
          <a:xfrm>
            <a:off x="234956" y="1430758"/>
            <a:ext cx="3712011" cy="5004765"/>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lstStyle/>
          <a:p>
            <a:pPr algn="r">
              <a:lnSpc>
                <a:spcPct val="100000"/>
              </a:lnSpc>
            </a:pPr>
            <a:r>
              <a:rPr lang="fr-FR" altLang="zh-CN">
                <a:cs typeface="Times New Roman" charset="0"/>
              </a:rPr>
              <a:t>Volume NTFS</a:t>
            </a:r>
            <a:r>
              <a:rPr lang="en-IE" altLang="zh-CN">
                <a:cs typeface="Times New Roman" charset="0"/>
              </a:rPr>
              <a:t> </a:t>
            </a:r>
            <a:endParaRPr lang="en-US">
              <a:solidFill>
                <a:schemeClr val="tx1"/>
              </a:solidFill>
              <a:cs typeface="Times New Roman" charset="0"/>
            </a:endParaRPr>
          </a:p>
          <a:p>
            <a:pPr algn="r">
              <a:lnSpc>
                <a:spcPct val="100000"/>
              </a:lnSpc>
              <a:buSzPct val="85000"/>
            </a:pPr>
            <a:endParaRPr lang="en-US">
              <a:solidFill>
                <a:schemeClr val="tx1"/>
              </a:solidFill>
              <a:cs typeface="Times New Roman" charset="0"/>
            </a:endParaRPr>
          </a:p>
        </p:txBody>
      </p:sp>
      <p:sp>
        <p:nvSpPr>
          <p:cNvPr id="354314" name="Freeform-10"/>
          <p:cNvSpPr>
            <a:spLocks/>
          </p:cNvSpPr>
          <p:nvPr/>
        </p:nvSpPr>
        <p:spPr bwMode="auto">
          <a:xfrm>
            <a:off x="2434666" y="3190958"/>
            <a:ext cx="878595" cy="1033212"/>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grpSp>
        <p:nvGrpSpPr>
          <p:cNvPr id="3" name="Group 11"/>
          <p:cNvGrpSpPr>
            <a:grpSpLocks/>
          </p:cNvGrpSpPr>
          <p:nvPr/>
        </p:nvGrpSpPr>
        <p:grpSpPr bwMode="auto">
          <a:xfrm>
            <a:off x="1931998" y="2716429"/>
            <a:ext cx="973114" cy="949059"/>
            <a:chOff x="4704" y="144"/>
            <a:chExt cx="720" cy="608"/>
          </a:xfrm>
        </p:grpSpPr>
        <p:pic>
          <p:nvPicPr>
            <p:cNvPr id="354316" name="Picture-12" descr="Folder_FolderOpen01"/>
            <p:cNvPicPr>
              <a:picLocks noChangeAspect="1" noChangeArrowheads="1"/>
            </p:cNvPicPr>
            <p:nvPr/>
          </p:nvPicPr>
          <p:blipFill>
            <a:blip r:embed="rId3" cstate="print"/>
            <a:srcRect/>
            <a:stretch>
              <a:fillRect/>
            </a:stretch>
          </p:blipFill>
          <p:spPr bwMode="auto">
            <a:xfrm>
              <a:off x="4800" y="144"/>
              <a:ext cx="624" cy="558"/>
            </a:xfrm>
            <a:prstGeom prst="rect">
              <a:avLst/>
            </a:prstGeom>
            <a:noFill/>
          </p:spPr>
        </p:pic>
        <p:pic>
          <p:nvPicPr>
            <p:cNvPr id="354317" name="Picture-13" descr="Shared Hand-3"/>
            <p:cNvPicPr>
              <a:picLocks noChangeAspect="1" noChangeArrowheads="1"/>
            </p:cNvPicPr>
            <p:nvPr/>
          </p:nvPicPr>
          <p:blipFill>
            <a:blip r:embed="rId4"/>
            <a:srcRect/>
            <a:stretch>
              <a:fillRect/>
            </a:stretch>
          </p:blipFill>
          <p:spPr bwMode="auto">
            <a:xfrm>
              <a:off x="4704" y="480"/>
              <a:ext cx="624" cy="272"/>
            </a:xfrm>
            <a:prstGeom prst="rect">
              <a:avLst/>
            </a:prstGeom>
            <a:noFill/>
          </p:spPr>
        </p:pic>
      </p:grpSp>
      <p:pic>
        <p:nvPicPr>
          <p:cNvPr id="354319" name="Picture-15" descr="Collection_Group01"/>
          <p:cNvPicPr>
            <a:picLocks noChangeAspect="1" noChangeArrowheads="1"/>
          </p:cNvPicPr>
          <p:nvPr/>
        </p:nvPicPr>
        <p:blipFill>
          <a:blip r:embed="rId5" cstate="print"/>
          <a:srcRect/>
          <a:stretch>
            <a:fillRect/>
          </a:stretch>
        </p:blipFill>
        <p:spPr bwMode="auto">
          <a:xfrm>
            <a:off x="606587" y="1503223"/>
            <a:ext cx="1351189" cy="1063600"/>
          </a:xfrm>
          <a:prstGeom prst="rect">
            <a:avLst/>
          </a:prstGeom>
          <a:noFill/>
        </p:spPr>
      </p:pic>
      <p:sp>
        <p:nvSpPr>
          <p:cNvPr id="354320" name="Freeform-16"/>
          <p:cNvSpPr>
            <a:spLocks/>
          </p:cNvSpPr>
          <p:nvPr/>
        </p:nvSpPr>
        <p:spPr bwMode="auto">
          <a:xfrm>
            <a:off x="1328367" y="2884735"/>
            <a:ext cx="633706" cy="490892"/>
          </a:xfrm>
          <a:custGeom>
            <a:avLst/>
            <a:gdLst/>
            <a:ahLst/>
            <a:cxnLst>
              <a:cxn ang="0">
                <a:pos x="0" y="0"/>
              </a:cxn>
              <a:cxn ang="0">
                <a:pos x="0" y="271"/>
              </a:cxn>
              <a:cxn ang="0">
                <a:pos x="364" y="271"/>
              </a:cxn>
            </a:cxnLst>
            <a:rect l="0" t="0" r="r" b="b"/>
            <a:pathLst>
              <a:path w="364" h="271">
                <a:moveTo>
                  <a:pt x="0" y="0"/>
                </a:moveTo>
                <a:lnTo>
                  <a:pt x="0" y="271"/>
                </a:lnTo>
                <a:lnTo>
                  <a:pt x="364" y="271"/>
                </a:lnTo>
              </a:path>
            </a:pathLst>
          </a:custGeom>
          <a:noFill/>
          <a:ln w="57150" cap="flat" cmpd="sng">
            <a:solidFill>
              <a:srgbClr val="CC0000"/>
            </a:solidFill>
            <a:prstDash val="solid"/>
            <a:round/>
            <a:headEnd type="none" w="med" len="med"/>
            <a:tailEnd type="triangle" w="med" len="med"/>
          </a:ln>
          <a:effectLst/>
        </p:spPr>
        <p:txBody>
          <a:bodyPr anchor="ctr"/>
          <a:lstStyle/>
          <a:p>
            <a:endParaRPr lang="fr-FR"/>
          </a:p>
        </p:txBody>
      </p:sp>
      <p:sp>
        <p:nvSpPr>
          <p:cNvPr id="354321" name="AutoShape-17"/>
          <p:cNvSpPr>
            <a:spLocks noChangeArrowheads="1"/>
          </p:cNvSpPr>
          <p:nvPr/>
        </p:nvSpPr>
        <p:spPr bwMode="auto">
          <a:xfrm>
            <a:off x="361697" y="2466307"/>
            <a:ext cx="1993487" cy="31323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a:cs typeface="Times New Roman" charset="0"/>
              </a:rPr>
              <a:t>Groupe Utilisateurs</a:t>
            </a:r>
            <a:r>
              <a:rPr lang="en-IE" altLang="zh-CN">
                <a:cs typeface="Times New Roman" charset="0"/>
              </a:rPr>
              <a:t> </a:t>
            </a:r>
            <a:endParaRPr lang="en-US">
              <a:cs typeface="Times New Roman" charset="0"/>
            </a:endParaRPr>
          </a:p>
        </p:txBody>
      </p:sp>
      <p:grpSp>
        <p:nvGrpSpPr>
          <p:cNvPr id="4" name="Group 18"/>
          <p:cNvGrpSpPr>
            <a:grpSpLocks/>
          </p:cNvGrpSpPr>
          <p:nvPr/>
        </p:nvGrpSpPr>
        <p:grpSpPr bwMode="auto">
          <a:xfrm>
            <a:off x="365994" y="3078754"/>
            <a:ext cx="1129929" cy="591408"/>
            <a:chOff x="3970" y="1564"/>
            <a:chExt cx="678" cy="326"/>
          </a:xfrm>
        </p:grpSpPr>
        <p:sp>
          <p:nvSpPr>
            <p:cNvPr id="354323" name="AutoShape-19"/>
            <p:cNvSpPr>
              <a:spLocks noChangeArrowheads="1"/>
            </p:cNvSpPr>
            <p:nvPr/>
          </p:nvSpPr>
          <p:spPr bwMode="auto">
            <a:xfrm>
              <a:off x="4132" y="1611"/>
              <a:ext cx="516" cy="204"/>
            </a:xfrm>
            <a:prstGeom prst="rightArrowCallout">
              <a:avLst>
                <a:gd name="adj1" fmla="val 40194"/>
                <a:gd name="adj2" fmla="val 46056"/>
                <a:gd name="adj3" fmla="val 70589"/>
                <a:gd name="adj4" fmla="val 58528"/>
              </a:avLst>
            </a:prstGeom>
            <a:gradFill rotWithShape="1">
              <a:gsLst>
                <a:gs pos="0">
                  <a:srgbClr val="ADE2A1"/>
                </a:gs>
                <a:gs pos="100000">
                  <a:srgbClr val="E8F6E4"/>
                </a:gs>
              </a:gsLst>
              <a:lin ang="2700000" scaled="1"/>
            </a:gra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a:cs typeface="Times New Roman" charset="0"/>
                </a:rPr>
                <a:t>CT</a:t>
              </a:r>
              <a:r>
                <a:rPr lang="en-IE" altLang="zh-CN">
                  <a:cs typeface="Times New Roman" charset="0"/>
                </a:rPr>
                <a:t> </a:t>
              </a:r>
              <a:endParaRPr lang="en-US">
                <a:cs typeface="Times New Roman" charset="0"/>
              </a:endParaRPr>
            </a:p>
          </p:txBody>
        </p:sp>
        <p:pic>
          <p:nvPicPr>
            <p:cNvPr id="354324" name="Picture-20" descr="Security_Permissions01"/>
            <p:cNvPicPr>
              <a:picLocks noChangeAspect="1" noChangeArrowheads="1"/>
            </p:cNvPicPr>
            <p:nvPr/>
          </p:nvPicPr>
          <p:blipFill>
            <a:blip r:embed="rId6" cstate="print"/>
            <a:srcRect/>
            <a:stretch>
              <a:fillRect/>
            </a:stretch>
          </p:blipFill>
          <p:spPr bwMode="auto">
            <a:xfrm>
              <a:off x="3970" y="1564"/>
              <a:ext cx="231" cy="326"/>
            </a:xfrm>
            <a:prstGeom prst="rect">
              <a:avLst/>
            </a:prstGeom>
            <a:noFill/>
          </p:spPr>
        </p:pic>
      </p:grpSp>
      <p:sp>
        <p:nvSpPr>
          <p:cNvPr id="354325" name="Freeform-21"/>
          <p:cNvSpPr>
            <a:spLocks/>
          </p:cNvSpPr>
          <p:nvPr/>
        </p:nvSpPr>
        <p:spPr bwMode="auto">
          <a:xfrm>
            <a:off x="2434666" y="4357412"/>
            <a:ext cx="878595" cy="741014"/>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sp>
        <p:nvSpPr>
          <p:cNvPr id="354326" name="Freeform-22"/>
          <p:cNvSpPr>
            <a:spLocks/>
          </p:cNvSpPr>
          <p:nvPr/>
        </p:nvSpPr>
        <p:spPr bwMode="auto">
          <a:xfrm>
            <a:off x="2434666" y="5236343"/>
            <a:ext cx="878595" cy="619459"/>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sp>
        <p:nvSpPr>
          <p:cNvPr id="354327" name="Line-23"/>
          <p:cNvSpPr>
            <a:spLocks noChangeShapeType="1"/>
          </p:cNvSpPr>
          <p:nvPr/>
        </p:nvSpPr>
        <p:spPr bwMode="auto">
          <a:xfrm>
            <a:off x="1313330" y="5862815"/>
            <a:ext cx="423186" cy="0"/>
          </a:xfrm>
          <a:prstGeom prst="line">
            <a:avLst/>
          </a:prstGeom>
          <a:noFill/>
          <a:ln w="57150">
            <a:solidFill>
              <a:srgbClr val="CC0000"/>
            </a:solidFill>
            <a:round/>
            <a:headEnd/>
            <a:tailEnd type="triangle" w="med" len="med"/>
          </a:ln>
          <a:effectLst/>
        </p:spPr>
        <p:txBody>
          <a:bodyPr anchor="ctr"/>
          <a:lstStyle/>
          <a:p>
            <a:endParaRPr lang="fr-FR"/>
          </a:p>
        </p:txBody>
      </p:sp>
      <p:pic>
        <p:nvPicPr>
          <p:cNvPr id="354329" name="Picture-25" descr="Folder_Closed01"/>
          <p:cNvPicPr>
            <a:picLocks noChangeAspect="1" noChangeArrowheads="1"/>
          </p:cNvPicPr>
          <p:nvPr/>
        </p:nvPicPr>
        <p:blipFill>
          <a:blip r:embed="rId7" cstate="print"/>
          <a:srcRect/>
          <a:stretch>
            <a:fillRect/>
          </a:stretch>
        </p:blipFill>
        <p:spPr bwMode="auto">
          <a:xfrm>
            <a:off x="2793408" y="5430362"/>
            <a:ext cx="1028966" cy="864906"/>
          </a:xfrm>
          <a:prstGeom prst="rect">
            <a:avLst/>
          </a:prstGeom>
          <a:noFill/>
        </p:spPr>
      </p:pic>
      <p:sp>
        <p:nvSpPr>
          <p:cNvPr id="354330" name="Text-Box-26"/>
          <p:cNvSpPr txBox="1">
            <a:spLocks noChangeArrowheads="1"/>
          </p:cNvSpPr>
          <p:nvPr/>
        </p:nvSpPr>
        <p:spPr bwMode="auto">
          <a:xfrm>
            <a:off x="2823482" y="5643082"/>
            <a:ext cx="882891" cy="308561"/>
          </a:xfrm>
          <a:prstGeom prst="rect">
            <a:avLst/>
          </a:prstGeom>
          <a:noFill/>
          <a:ln w="9525" algn="ctr">
            <a:noFill/>
            <a:miter lim="800000"/>
            <a:headEnd/>
            <a:tailEnd/>
          </a:ln>
          <a:effectLst/>
        </p:spPr>
        <p:txBody>
          <a:bodyPr wrap="none">
            <a:spAutoFit/>
          </a:bodyPr>
          <a:lstStyle/>
          <a:p>
            <a:pPr>
              <a:lnSpc>
                <a:spcPct val="100000"/>
              </a:lnSpc>
            </a:pPr>
            <a:r>
              <a:rPr lang="fr-FR" altLang="zh-CN" dirty="0">
                <a:cs typeface="Times New Roman" charset="0"/>
              </a:rPr>
              <a:t>Dossier 3</a:t>
            </a:r>
            <a:r>
              <a:rPr lang="en-IE" altLang="zh-CN" sz="1200" dirty="0">
                <a:cs typeface="Times New Roman" charset="0"/>
              </a:rPr>
              <a:t> </a:t>
            </a:r>
            <a:endParaRPr lang="en-US" sz="1200" dirty="0">
              <a:cs typeface="Times New Roman" charset="0"/>
            </a:endParaRPr>
          </a:p>
        </p:txBody>
      </p:sp>
      <p:grpSp>
        <p:nvGrpSpPr>
          <p:cNvPr id="5" name="Group 27"/>
          <p:cNvGrpSpPr>
            <a:grpSpLocks/>
          </p:cNvGrpSpPr>
          <p:nvPr/>
        </p:nvGrpSpPr>
        <p:grpSpPr bwMode="auto">
          <a:xfrm>
            <a:off x="1734368" y="5568280"/>
            <a:ext cx="1129929" cy="589071"/>
            <a:chOff x="3970" y="1564"/>
            <a:chExt cx="678" cy="326"/>
          </a:xfrm>
        </p:grpSpPr>
        <p:sp>
          <p:nvSpPr>
            <p:cNvPr id="354332" name="AutoShape-28"/>
            <p:cNvSpPr>
              <a:spLocks noChangeArrowheads="1"/>
            </p:cNvSpPr>
            <p:nvPr/>
          </p:nvSpPr>
          <p:spPr bwMode="auto">
            <a:xfrm>
              <a:off x="4132" y="1611"/>
              <a:ext cx="516" cy="204"/>
            </a:xfrm>
            <a:prstGeom prst="rightArrowCallout">
              <a:avLst>
                <a:gd name="adj1" fmla="val 40194"/>
                <a:gd name="adj2" fmla="val 46056"/>
                <a:gd name="adj3" fmla="val 70589"/>
                <a:gd name="adj4" fmla="val 58528"/>
              </a:avLst>
            </a:prstGeom>
            <a:solidFill>
              <a:srgbClr val="FF9999"/>
            </a:soli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a:cs typeface="Times New Roman" charset="0"/>
                </a:rPr>
                <a:t>CT</a:t>
              </a:r>
              <a:r>
                <a:rPr lang="en-IE" altLang="zh-CN">
                  <a:cs typeface="Times New Roman" charset="0"/>
                </a:rPr>
                <a:t> </a:t>
              </a:r>
              <a:endParaRPr lang="en-US">
                <a:cs typeface="Times New Roman" charset="0"/>
              </a:endParaRPr>
            </a:p>
          </p:txBody>
        </p:sp>
        <p:pic>
          <p:nvPicPr>
            <p:cNvPr id="354333" name="Picture-29" descr="Security_Permissions01"/>
            <p:cNvPicPr>
              <a:picLocks noChangeAspect="1" noChangeArrowheads="1"/>
            </p:cNvPicPr>
            <p:nvPr/>
          </p:nvPicPr>
          <p:blipFill>
            <a:blip r:embed="rId6" cstate="print"/>
            <a:srcRect/>
            <a:stretch>
              <a:fillRect/>
            </a:stretch>
          </p:blipFill>
          <p:spPr bwMode="auto">
            <a:xfrm>
              <a:off x="3970" y="1564"/>
              <a:ext cx="231" cy="326"/>
            </a:xfrm>
            <a:prstGeom prst="rect">
              <a:avLst/>
            </a:prstGeom>
            <a:noFill/>
          </p:spPr>
        </p:pic>
      </p:grpSp>
      <p:sp>
        <p:nvSpPr>
          <p:cNvPr id="354334" name="Line-30"/>
          <p:cNvSpPr>
            <a:spLocks noChangeShapeType="1"/>
          </p:cNvSpPr>
          <p:nvPr/>
        </p:nvSpPr>
        <p:spPr bwMode="auto">
          <a:xfrm>
            <a:off x="1313330" y="5046999"/>
            <a:ext cx="423186" cy="0"/>
          </a:xfrm>
          <a:prstGeom prst="line">
            <a:avLst/>
          </a:prstGeom>
          <a:noFill/>
          <a:ln w="57150">
            <a:solidFill>
              <a:srgbClr val="CC0000"/>
            </a:solidFill>
            <a:round/>
            <a:headEnd/>
            <a:tailEnd type="triangle" w="med" len="med"/>
          </a:ln>
          <a:effectLst/>
        </p:spPr>
        <p:txBody>
          <a:bodyPr anchor="ctr"/>
          <a:lstStyle/>
          <a:p>
            <a:endParaRPr lang="fr-FR"/>
          </a:p>
        </p:txBody>
      </p:sp>
      <p:pic>
        <p:nvPicPr>
          <p:cNvPr id="354336" name="Picture-32" descr="Folder_Closed01"/>
          <p:cNvPicPr>
            <a:picLocks noChangeAspect="1" noChangeArrowheads="1"/>
          </p:cNvPicPr>
          <p:nvPr/>
        </p:nvPicPr>
        <p:blipFill>
          <a:blip r:embed="rId7" cstate="print"/>
          <a:srcRect/>
          <a:stretch>
            <a:fillRect/>
          </a:stretch>
        </p:blipFill>
        <p:spPr bwMode="auto">
          <a:xfrm>
            <a:off x="2793408" y="4614546"/>
            <a:ext cx="1028966" cy="864906"/>
          </a:xfrm>
          <a:prstGeom prst="rect">
            <a:avLst/>
          </a:prstGeom>
          <a:noFill/>
        </p:spPr>
      </p:pic>
      <p:sp>
        <p:nvSpPr>
          <p:cNvPr id="354337" name="Text-Box-33"/>
          <p:cNvSpPr txBox="1">
            <a:spLocks noChangeArrowheads="1"/>
          </p:cNvSpPr>
          <p:nvPr/>
        </p:nvSpPr>
        <p:spPr bwMode="auto">
          <a:xfrm>
            <a:off x="2804149" y="4803890"/>
            <a:ext cx="882891" cy="308561"/>
          </a:xfrm>
          <a:prstGeom prst="rect">
            <a:avLst/>
          </a:prstGeom>
          <a:noFill/>
          <a:ln w="9525" algn="ctr">
            <a:noFill/>
            <a:miter lim="800000"/>
            <a:headEnd/>
            <a:tailEnd/>
          </a:ln>
          <a:effectLst/>
        </p:spPr>
        <p:txBody>
          <a:bodyPr wrap="none">
            <a:spAutoFit/>
          </a:bodyPr>
          <a:lstStyle/>
          <a:p>
            <a:pPr>
              <a:lnSpc>
                <a:spcPct val="100000"/>
              </a:lnSpc>
            </a:pPr>
            <a:r>
              <a:rPr lang="fr-FR" altLang="zh-CN" dirty="0">
                <a:cs typeface="Times New Roman" charset="0"/>
              </a:rPr>
              <a:t>Dossier 2</a:t>
            </a:r>
            <a:r>
              <a:rPr lang="en-IE" altLang="zh-CN" sz="1200" dirty="0">
                <a:cs typeface="Times New Roman" charset="0"/>
              </a:rPr>
              <a:t> </a:t>
            </a:r>
            <a:endParaRPr lang="en-US" sz="1200" dirty="0">
              <a:cs typeface="Times New Roman" charset="0"/>
            </a:endParaRPr>
          </a:p>
        </p:txBody>
      </p:sp>
      <p:grpSp>
        <p:nvGrpSpPr>
          <p:cNvPr id="6" name="Group 34"/>
          <p:cNvGrpSpPr>
            <a:grpSpLocks/>
          </p:cNvGrpSpPr>
          <p:nvPr/>
        </p:nvGrpSpPr>
        <p:grpSpPr bwMode="auto">
          <a:xfrm>
            <a:off x="1734368" y="4752463"/>
            <a:ext cx="1129929" cy="589071"/>
            <a:chOff x="3970" y="1564"/>
            <a:chExt cx="678" cy="326"/>
          </a:xfrm>
        </p:grpSpPr>
        <p:sp>
          <p:nvSpPr>
            <p:cNvPr id="354339" name="AutoShape-35"/>
            <p:cNvSpPr>
              <a:spLocks noChangeArrowheads="1"/>
            </p:cNvSpPr>
            <p:nvPr/>
          </p:nvSpPr>
          <p:spPr bwMode="auto">
            <a:xfrm>
              <a:off x="4132" y="1611"/>
              <a:ext cx="516" cy="204"/>
            </a:xfrm>
            <a:prstGeom prst="rightArrowCallout">
              <a:avLst>
                <a:gd name="adj1" fmla="val 40194"/>
                <a:gd name="adj2" fmla="val 46056"/>
                <a:gd name="adj3" fmla="val 70589"/>
                <a:gd name="adj4" fmla="val 58528"/>
              </a:avLst>
            </a:prstGeom>
            <a:solidFill>
              <a:srgbClr val="FF9999"/>
            </a:soli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a:cs typeface="Times New Roman" charset="0"/>
                </a:rPr>
                <a:t>CT</a:t>
              </a:r>
              <a:r>
                <a:rPr lang="en-IE" altLang="zh-CN" sz="1200">
                  <a:cs typeface="Times New Roman" charset="0"/>
                </a:rPr>
                <a:t> </a:t>
              </a:r>
              <a:endParaRPr lang="en-US" sz="1200">
                <a:cs typeface="Times New Roman" charset="0"/>
              </a:endParaRPr>
            </a:p>
          </p:txBody>
        </p:sp>
        <p:pic>
          <p:nvPicPr>
            <p:cNvPr id="354340" name="Picture-36" descr="Security_Permissions01"/>
            <p:cNvPicPr>
              <a:picLocks noChangeAspect="1" noChangeArrowheads="1"/>
            </p:cNvPicPr>
            <p:nvPr/>
          </p:nvPicPr>
          <p:blipFill>
            <a:blip r:embed="rId6" cstate="print"/>
            <a:srcRect/>
            <a:stretch>
              <a:fillRect/>
            </a:stretch>
          </p:blipFill>
          <p:spPr bwMode="auto">
            <a:xfrm>
              <a:off x="3970" y="1564"/>
              <a:ext cx="231" cy="326"/>
            </a:xfrm>
            <a:prstGeom prst="rect">
              <a:avLst/>
            </a:prstGeom>
            <a:noFill/>
          </p:spPr>
        </p:pic>
      </p:grpSp>
      <p:sp>
        <p:nvSpPr>
          <p:cNvPr id="354341" name="Line-37"/>
          <p:cNvSpPr>
            <a:spLocks noChangeShapeType="1"/>
          </p:cNvSpPr>
          <p:nvPr/>
        </p:nvSpPr>
        <p:spPr bwMode="auto">
          <a:xfrm>
            <a:off x="1313330" y="4233520"/>
            <a:ext cx="423186" cy="0"/>
          </a:xfrm>
          <a:prstGeom prst="line">
            <a:avLst/>
          </a:prstGeom>
          <a:noFill/>
          <a:ln w="57150">
            <a:solidFill>
              <a:srgbClr val="CC0000"/>
            </a:solidFill>
            <a:round/>
            <a:headEnd/>
            <a:tailEnd type="triangle" w="med" len="med"/>
          </a:ln>
          <a:effectLst/>
        </p:spPr>
        <p:txBody>
          <a:bodyPr anchor="ctr"/>
          <a:lstStyle/>
          <a:p>
            <a:endParaRPr lang="fr-FR"/>
          </a:p>
        </p:txBody>
      </p:sp>
      <p:pic>
        <p:nvPicPr>
          <p:cNvPr id="354343" name="Picture-39" descr="Folder_Closed01"/>
          <p:cNvPicPr>
            <a:picLocks noChangeAspect="1" noChangeArrowheads="1"/>
          </p:cNvPicPr>
          <p:nvPr/>
        </p:nvPicPr>
        <p:blipFill>
          <a:blip r:embed="rId8" cstate="print"/>
          <a:srcRect/>
          <a:stretch>
            <a:fillRect/>
          </a:stretch>
        </p:blipFill>
        <p:spPr bwMode="auto">
          <a:xfrm>
            <a:off x="2776223" y="3798729"/>
            <a:ext cx="1063336" cy="867243"/>
          </a:xfrm>
          <a:prstGeom prst="rect">
            <a:avLst/>
          </a:prstGeom>
          <a:noFill/>
        </p:spPr>
      </p:pic>
      <p:sp>
        <p:nvSpPr>
          <p:cNvPr id="354344" name="Text-Box-40"/>
          <p:cNvSpPr txBox="1">
            <a:spLocks noChangeArrowheads="1"/>
          </p:cNvSpPr>
          <p:nvPr/>
        </p:nvSpPr>
        <p:spPr bwMode="auto">
          <a:xfrm>
            <a:off x="2731112" y="4074564"/>
            <a:ext cx="1104151" cy="308561"/>
          </a:xfrm>
          <a:prstGeom prst="rect">
            <a:avLst/>
          </a:prstGeom>
          <a:noFill/>
          <a:ln w="9525" algn="ctr">
            <a:noFill/>
            <a:miter lim="800000"/>
            <a:headEnd/>
            <a:tailEnd/>
          </a:ln>
          <a:effectLst/>
        </p:spPr>
        <p:txBody>
          <a:bodyPr wrap="square">
            <a:spAutoFit/>
          </a:bodyPr>
          <a:lstStyle/>
          <a:p>
            <a:pPr>
              <a:lnSpc>
                <a:spcPct val="100000"/>
              </a:lnSpc>
            </a:pPr>
            <a:r>
              <a:rPr lang="fr-FR" altLang="zh-CN" dirty="0">
                <a:cs typeface="Times New Roman" charset="0"/>
              </a:rPr>
              <a:t>Dossier 1</a:t>
            </a:r>
            <a:r>
              <a:rPr lang="en-IE" altLang="zh-CN" dirty="0">
                <a:cs typeface="Times New Roman" charset="0"/>
              </a:rPr>
              <a:t> </a:t>
            </a:r>
            <a:endParaRPr lang="en-US" dirty="0">
              <a:cs typeface="Times New Roman" charset="0"/>
            </a:endParaRPr>
          </a:p>
        </p:txBody>
      </p:sp>
      <p:pic>
        <p:nvPicPr>
          <p:cNvPr id="43" name="Picture-75" descr="User_UserE01">
            <a:extLst>
              <a:ext uri="{FF2B5EF4-FFF2-40B4-BE49-F238E27FC236}">
                <a16:creationId xmlns:a16="http://schemas.microsoft.com/office/drawing/2014/main" id="{EC98361F-2322-495C-926E-A4C66D67C2C5}"/>
              </a:ext>
            </a:extLst>
          </p:cNvPr>
          <p:cNvPicPr>
            <a:picLocks noChangeAspect="1" noChangeArrowheads="1"/>
          </p:cNvPicPr>
          <p:nvPr/>
        </p:nvPicPr>
        <p:blipFill rotWithShape="1">
          <a:blip r:embed="rId9"/>
          <a:srcRect r="16776" b="37461"/>
          <a:stretch/>
        </p:blipFill>
        <p:spPr bwMode="auto">
          <a:xfrm>
            <a:off x="400314" y="3748578"/>
            <a:ext cx="384976" cy="657547"/>
          </a:xfrm>
          <a:prstGeom prst="rect">
            <a:avLst/>
          </a:prstGeom>
          <a:noFill/>
        </p:spPr>
      </p:pic>
      <p:sp>
        <p:nvSpPr>
          <p:cNvPr id="354342" name="AutoShape-38"/>
          <p:cNvSpPr>
            <a:spLocks noChangeArrowheads="1"/>
          </p:cNvSpPr>
          <p:nvPr/>
        </p:nvSpPr>
        <p:spPr bwMode="auto">
          <a:xfrm>
            <a:off x="264171" y="4246972"/>
            <a:ext cx="1022522" cy="250211"/>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0000"/>
              </a:lnSpc>
            </a:pPr>
            <a:r>
              <a:rPr lang="fr-FR" altLang="zh-CN" dirty="0">
                <a:cs typeface="Times New Roman" charset="0"/>
              </a:rPr>
              <a:t> Utilisateur1</a:t>
            </a:r>
            <a:r>
              <a:rPr lang="en-IE" altLang="zh-CN" dirty="0">
                <a:cs typeface="Times New Roman" charset="0"/>
              </a:rPr>
              <a:t> </a:t>
            </a:r>
            <a:endParaRPr lang="en-US" dirty="0">
              <a:cs typeface="Times New Roman" charset="0"/>
            </a:endParaRPr>
          </a:p>
        </p:txBody>
      </p:sp>
      <p:grpSp>
        <p:nvGrpSpPr>
          <p:cNvPr id="7" name="Group 41"/>
          <p:cNvGrpSpPr>
            <a:grpSpLocks/>
          </p:cNvGrpSpPr>
          <p:nvPr/>
        </p:nvGrpSpPr>
        <p:grpSpPr bwMode="auto">
          <a:xfrm>
            <a:off x="1734368" y="3936647"/>
            <a:ext cx="1129929" cy="591408"/>
            <a:chOff x="3970" y="1564"/>
            <a:chExt cx="678" cy="326"/>
          </a:xfrm>
        </p:grpSpPr>
        <p:sp>
          <p:nvSpPr>
            <p:cNvPr id="354346" name="AutoShape-42"/>
            <p:cNvSpPr>
              <a:spLocks noChangeArrowheads="1"/>
            </p:cNvSpPr>
            <p:nvPr/>
          </p:nvSpPr>
          <p:spPr bwMode="auto">
            <a:xfrm>
              <a:off x="4132" y="1611"/>
              <a:ext cx="516" cy="204"/>
            </a:xfrm>
            <a:prstGeom prst="rightArrowCallout">
              <a:avLst>
                <a:gd name="adj1" fmla="val 40194"/>
                <a:gd name="adj2" fmla="val 46056"/>
                <a:gd name="adj3" fmla="val 70589"/>
                <a:gd name="adj4" fmla="val 58528"/>
              </a:avLst>
            </a:prstGeom>
            <a:solidFill>
              <a:srgbClr val="FF9999"/>
            </a:soli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a:cs typeface="Times New Roman" charset="0"/>
                </a:rPr>
                <a:t>CT</a:t>
              </a:r>
              <a:r>
                <a:rPr lang="en-IE" altLang="zh-CN" sz="1200">
                  <a:cs typeface="Times New Roman" charset="0"/>
                </a:rPr>
                <a:t> </a:t>
              </a:r>
              <a:endParaRPr lang="en-US" sz="1200">
                <a:cs typeface="Times New Roman" charset="0"/>
              </a:endParaRPr>
            </a:p>
          </p:txBody>
        </p:sp>
        <p:pic>
          <p:nvPicPr>
            <p:cNvPr id="354347" name="Picture-43" descr="Security_Permissions01"/>
            <p:cNvPicPr>
              <a:picLocks noChangeAspect="1" noChangeArrowheads="1"/>
            </p:cNvPicPr>
            <p:nvPr/>
          </p:nvPicPr>
          <p:blipFill>
            <a:blip r:embed="rId6" cstate="print"/>
            <a:srcRect/>
            <a:stretch>
              <a:fillRect/>
            </a:stretch>
          </p:blipFill>
          <p:spPr bwMode="auto">
            <a:xfrm>
              <a:off x="3970" y="1564"/>
              <a:ext cx="231" cy="326"/>
            </a:xfrm>
            <a:prstGeom prst="rect">
              <a:avLst/>
            </a:prstGeom>
            <a:noFill/>
          </p:spPr>
        </p:pic>
      </p:grpSp>
      <p:sp>
        <p:nvSpPr>
          <p:cNvPr id="354348" name="AutoShape-44"/>
          <p:cNvSpPr>
            <a:spLocks noChangeArrowheads="1"/>
          </p:cNvSpPr>
          <p:nvPr/>
        </p:nvSpPr>
        <p:spPr bwMode="auto">
          <a:xfrm>
            <a:off x="219919" y="1526599"/>
            <a:ext cx="354445" cy="448816"/>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nSpc>
                <a:spcPct val="100000"/>
              </a:lnSpc>
            </a:pPr>
            <a:r>
              <a:rPr lang="fr-FR" altLang="zh-CN" sz="2000">
                <a:solidFill>
                  <a:srgbClr val="990033"/>
                </a:solidFill>
                <a:cs typeface="Arial Narrow" charset="0"/>
              </a:rPr>
              <a:t>1</a:t>
            </a:r>
            <a:r>
              <a:rPr lang="en-IE" altLang="zh-CN" sz="2000">
                <a:cs typeface="Arial Narrow" charset="0"/>
              </a:rPr>
              <a:t> </a:t>
            </a:r>
            <a:endParaRPr lang="en-US" sz="2000">
              <a:cs typeface="Arial Narrow" charset="0"/>
            </a:endParaRPr>
          </a:p>
        </p:txBody>
      </p:sp>
      <p:sp>
        <p:nvSpPr>
          <p:cNvPr id="70" name="Rectangle 69"/>
          <p:cNvSpPr/>
          <p:nvPr/>
        </p:nvSpPr>
        <p:spPr>
          <a:xfrm>
            <a:off x="4172673" y="1622246"/>
            <a:ext cx="4751407" cy="1531188"/>
          </a:xfrm>
          <a:prstGeom prst="rect">
            <a:avLst/>
          </a:prstGeom>
        </p:spPr>
        <p:txBody>
          <a:bodyPr wrap="square">
            <a:spAutoFit/>
          </a:bodyPr>
          <a:lstStyle/>
          <a:p>
            <a:pPr algn="l"/>
            <a:r>
              <a:rPr lang="fr-FR" sz="2200" dirty="0"/>
              <a:t>Les membres du groupe Utilisateurs disposent-ils de l’autorisation Contrôle</a:t>
            </a:r>
          </a:p>
          <a:p>
            <a:pPr algn="l"/>
            <a:r>
              <a:rPr lang="fr-FR" sz="2200" dirty="0"/>
              <a:t>total sur </a:t>
            </a:r>
            <a:r>
              <a:rPr lang="fr-FR" sz="2200" i="1" dirty="0"/>
              <a:t>tous les dossiers de base du dossier Utilisateurs dès qu’ils se</a:t>
            </a:r>
          </a:p>
          <a:p>
            <a:pPr algn="l"/>
            <a:r>
              <a:rPr lang="fr-FR" sz="2200" dirty="0"/>
              <a:t>connectent au dossier partagé?</a:t>
            </a:r>
          </a:p>
        </p:txBody>
      </p:sp>
      <p:sp>
        <p:nvSpPr>
          <p:cNvPr id="71" name="Rectangle 70"/>
          <p:cNvSpPr/>
          <p:nvPr/>
        </p:nvSpPr>
        <p:spPr>
          <a:xfrm>
            <a:off x="4195822" y="3908864"/>
            <a:ext cx="4572000" cy="1818959"/>
          </a:xfrm>
          <a:prstGeom prst="rect">
            <a:avLst/>
          </a:prstGeom>
        </p:spPr>
        <p:txBody>
          <a:bodyPr>
            <a:spAutoFit/>
          </a:bodyPr>
          <a:lstStyle/>
          <a:p>
            <a:pPr algn="l"/>
            <a:r>
              <a:rPr lang="fr-FR" sz="2200" dirty="0">
                <a:solidFill>
                  <a:srgbClr val="C00000"/>
                </a:solidFill>
              </a:rPr>
              <a:t>Non, parce que cette autorisation est accordée </a:t>
            </a:r>
            <a:r>
              <a:rPr lang="fr-FR" sz="2200" i="1" dirty="0">
                <a:solidFill>
                  <a:srgbClr val="C00000"/>
                </a:solidFill>
              </a:rPr>
              <a:t>seulement à l’utilisateur</a:t>
            </a:r>
          </a:p>
          <a:p>
            <a:pPr algn="l"/>
            <a:r>
              <a:rPr lang="fr-FR" sz="2200" dirty="0">
                <a:solidFill>
                  <a:srgbClr val="C00000"/>
                </a:solidFill>
              </a:rPr>
              <a:t>individuel sur son dossier de base. Donc, seul l’utilisateur individuel</a:t>
            </a:r>
          </a:p>
          <a:p>
            <a:pPr algn="l"/>
            <a:r>
              <a:rPr lang="fr-FR" sz="2200" dirty="0">
                <a:solidFill>
                  <a:srgbClr val="C00000"/>
                </a:solidFill>
              </a:rPr>
              <a:t>détient l’autorisation Contrôle total sur son dossier de base.</a:t>
            </a:r>
          </a:p>
        </p:txBody>
      </p:sp>
      <p:pic>
        <p:nvPicPr>
          <p:cNvPr id="41" name="Picture 9">
            <a:extLst>
              <a:ext uri="{FF2B5EF4-FFF2-40B4-BE49-F238E27FC236}">
                <a16:creationId xmlns:a16="http://schemas.microsoft.com/office/drawing/2014/main" id="{C1D107C7-15F8-4270-B624-72A3067FA64A}"/>
              </a:ext>
            </a:extLst>
          </p:cNvPr>
          <p:cNvPicPr>
            <a:picLocks noChangeAspect="1" noChangeArrowheads="1"/>
          </p:cNvPicPr>
          <p:nvPr/>
        </p:nvPicPr>
        <p:blipFill>
          <a:blip r:embed="rId10"/>
          <a:srcRect/>
          <a:stretch>
            <a:fillRect/>
          </a:stretch>
        </p:blipFill>
        <p:spPr bwMode="auto">
          <a:xfrm>
            <a:off x="378530" y="4517224"/>
            <a:ext cx="404088" cy="860826"/>
          </a:xfrm>
          <a:prstGeom prst="rect">
            <a:avLst/>
          </a:prstGeom>
          <a:noFill/>
          <a:ln w="19050" algn="ctr">
            <a:noFill/>
            <a:miter lim="800000"/>
            <a:headEnd/>
            <a:tailEnd/>
          </a:ln>
          <a:effectLst>
            <a:outerShdw dist="35921" dir="2700000" algn="ctr" rotWithShape="0">
              <a:srgbClr val="AFAFAF"/>
            </a:outerShdw>
          </a:effectLst>
        </p:spPr>
      </p:pic>
      <p:pic>
        <p:nvPicPr>
          <p:cNvPr id="42" name="Picture 10">
            <a:extLst>
              <a:ext uri="{FF2B5EF4-FFF2-40B4-BE49-F238E27FC236}">
                <a16:creationId xmlns:a16="http://schemas.microsoft.com/office/drawing/2014/main" id="{32A4F68A-78DC-4D8C-B535-44B4B31A06C5}"/>
              </a:ext>
            </a:extLst>
          </p:cNvPr>
          <p:cNvPicPr>
            <a:picLocks noChangeAspect="1" noChangeArrowheads="1"/>
          </p:cNvPicPr>
          <p:nvPr/>
        </p:nvPicPr>
        <p:blipFill>
          <a:blip r:embed="rId11"/>
          <a:srcRect/>
          <a:stretch>
            <a:fillRect/>
          </a:stretch>
        </p:blipFill>
        <p:spPr bwMode="auto">
          <a:xfrm>
            <a:off x="406387" y="5398091"/>
            <a:ext cx="378903" cy="785296"/>
          </a:xfrm>
          <a:prstGeom prst="rect">
            <a:avLst/>
          </a:prstGeom>
          <a:noFill/>
          <a:ln w="19050" algn="ctr">
            <a:noFill/>
            <a:miter lim="800000"/>
            <a:headEnd/>
            <a:tailEnd/>
          </a:ln>
          <a:effectLst>
            <a:outerShdw dist="35921" dir="2700000" algn="ctr" rotWithShape="0">
              <a:srgbClr val="AFAFAF"/>
            </a:outerShdw>
          </a:effectLst>
        </p:spPr>
      </p:pic>
      <p:sp>
        <p:nvSpPr>
          <p:cNvPr id="44" name="AutoShape-38">
            <a:extLst>
              <a:ext uri="{FF2B5EF4-FFF2-40B4-BE49-F238E27FC236}">
                <a16:creationId xmlns:a16="http://schemas.microsoft.com/office/drawing/2014/main" id="{5BC3B4CD-6FD3-4FAE-9C17-80001D511B5D}"/>
              </a:ext>
            </a:extLst>
          </p:cNvPr>
          <p:cNvSpPr>
            <a:spLocks noChangeArrowheads="1"/>
          </p:cNvSpPr>
          <p:nvPr/>
        </p:nvSpPr>
        <p:spPr bwMode="auto">
          <a:xfrm>
            <a:off x="261823" y="5057352"/>
            <a:ext cx="1022522" cy="250211"/>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0000"/>
              </a:lnSpc>
            </a:pPr>
            <a:r>
              <a:rPr lang="fr-FR" altLang="zh-CN" dirty="0">
                <a:cs typeface="Times New Roman" charset="0"/>
              </a:rPr>
              <a:t> Utilisateur2</a:t>
            </a:r>
            <a:r>
              <a:rPr lang="en-IE" altLang="zh-CN" dirty="0">
                <a:cs typeface="Times New Roman" charset="0"/>
              </a:rPr>
              <a:t> </a:t>
            </a:r>
            <a:endParaRPr lang="en-US" dirty="0">
              <a:cs typeface="Times New Roman" charset="0"/>
            </a:endParaRPr>
          </a:p>
        </p:txBody>
      </p:sp>
      <p:sp>
        <p:nvSpPr>
          <p:cNvPr id="45" name="AutoShape-38">
            <a:extLst>
              <a:ext uri="{FF2B5EF4-FFF2-40B4-BE49-F238E27FC236}">
                <a16:creationId xmlns:a16="http://schemas.microsoft.com/office/drawing/2014/main" id="{EE083B7C-59FE-46C7-84AA-34A69E872D19}"/>
              </a:ext>
            </a:extLst>
          </p:cNvPr>
          <p:cNvSpPr>
            <a:spLocks noChangeArrowheads="1"/>
          </p:cNvSpPr>
          <p:nvPr/>
        </p:nvSpPr>
        <p:spPr bwMode="auto">
          <a:xfrm>
            <a:off x="244209" y="5896722"/>
            <a:ext cx="1022522" cy="250211"/>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0000"/>
              </a:lnSpc>
            </a:pPr>
            <a:r>
              <a:rPr lang="fr-FR" altLang="zh-CN" dirty="0">
                <a:cs typeface="Times New Roman" charset="0"/>
              </a:rPr>
              <a:t> Utilisateur3</a:t>
            </a:r>
            <a:r>
              <a:rPr lang="en-IE" altLang="zh-CN" dirty="0">
                <a:cs typeface="Times New Roman" charset="0"/>
              </a:rPr>
              <a:t> </a:t>
            </a:r>
            <a:endParaRPr lang="en-US" dirty="0">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1000" fill="hold"/>
                                        <p:tgtEl>
                                          <p:spTgt spid="70"/>
                                        </p:tgtEl>
                                        <p:attrNameLst>
                                          <p:attrName>ppt_x</p:attrName>
                                        </p:attrNameLst>
                                      </p:cBhvr>
                                      <p:tavLst>
                                        <p:tav tm="0">
                                          <p:val>
                                            <p:strVal val="#ppt_x"/>
                                          </p:val>
                                        </p:tav>
                                        <p:tav tm="100000">
                                          <p:val>
                                            <p:strVal val="#ppt_x"/>
                                          </p:val>
                                        </p:tav>
                                      </p:tavLst>
                                    </p:anim>
                                    <p:anim calcmode="lin" valueType="num">
                                      <p:cBhvr additive="base">
                                        <p:cTn id="8" dur="10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
                                        </p:tgtEl>
                                        <p:attrNameLst>
                                          <p:attrName>style.visibility</p:attrName>
                                        </p:attrNameLst>
                                      </p:cBhvr>
                                      <p:to>
                                        <p:strVal val="visible"/>
                                      </p:to>
                                    </p:set>
                                    <p:anim calcmode="lin" valueType="num">
                                      <p:cBhvr additive="base">
                                        <p:cTn id="13" dur="1000" fill="hold"/>
                                        <p:tgtEl>
                                          <p:spTgt spid="71"/>
                                        </p:tgtEl>
                                        <p:attrNameLst>
                                          <p:attrName>ppt_x</p:attrName>
                                        </p:attrNameLst>
                                      </p:cBhvr>
                                      <p:tavLst>
                                        <p:tav tm="0">
                                          <p:val>
                                            <p:strVal val="#ppt_x"/>
                                          </p:val>
                                        </p:tav>
                                        <p:tav tm="100000">
                                          <p:val>
                                            <p:strVal val="#ppt_x"/>
                                          </p:val>
                                        </p:tav>
                                      </p:tavLst>
                                    </p:anim>
                                    <p:anim calcmode="lin" valueType="num">
                                      <p:cBhvr additive="base">
                                        <p:cTn id="14" dur="10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2"/>
          <p:cNvSpPr>
            <a:spLocks noGrp="1" noChangeArrowheads="1"/>
          </p:cNvSpPr>
          <p:nvPr>
            <p:ph type="title"/>
          </p:nvPr>
        </p:nvSpPr>
        <p:spPr>
          <a:xfrm>
            <a:off x="0" y="302290"/>
            <a:ext cx="9144000" cy="917634"/>
          </a:xfrm>
        </p:spPr>
        <p:txBody>
          <a:bodyPr>
            <a:normAutofit/>
          </a:bodyPr>
          <a:lstStyle/>
          <a:p>
            <a:r>
              <a:rPr lang="fr-FR" altLang="zh-CN" sz="2600" b="1" dirty="0">
                <a:solidFill>
                  <a:srgbClr val="C00000"/>
                </a:solidFill>
                <a:ea typeface="SimSun" pitchFamily="2" charset="-122"/>
                <a:cs typeface="Times New Roman" charset="0"/>
              </a:rPr>
              <a:t>Application pratique : Identification des autorisations NTFS et de dossier partagé effectives</a:t>
            </a:r>
            <a:endParaRPr lang="en-US" sz="2600" b="1" dirty="0">
              <a:solidFill>
                <a:srgbClr val="C00000"/>
              </a:solidFill>
              <a:ea typeface="SimSun" pitchFamily="2" charset="-122"/>
              <a:cs typeface="Times New Roman" charset="0"/>
            </a:endParaRPr>
          </a:p>
        </p:txBody>
      </p:sp>
      <p:grpSp>
        <p:nvGrpSpPr>
          <p:cNvPr id="8" name="Group 78"/>
          <p:cNvGrpSpPr>
            <a:grpSpLocks/>
          </p:cNvGrpSpPr>
          <p:nvPr/>
        </p:nvGrpSpPr>
        <p:grpSpPr bwMode="auto">
          <a:xfrm>
            <a:off x="221708" y="1326587"/>
            <a:ext cx="4188246" cy="5085788"/>
            <a:chOff x="3479" y="1696"/>
            <a:chExt cx="1943" cy="2141"/>
          </a:xfrm>
        </p:grpSpPr>
        <p:sp>
          <p:nvSpPr>
            <p:cNvPr id="354350" name="AutoShape-46"/>
            <p:cNvSpPr>
              <a:spLocks noChangeArrowheads="1"/>
            </p:cNvSpPr>
            <p:nvPr/>
          </p:nvSpPr>
          <p:spPr bwMode="auto">
            <a:xfrm>
              <a:off x="3495" y="1696"/>
              <a:ext cx="1862" cy="2141"/>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lstStyle/>
            <a:p>
              <a:pPr algn="r">
                <a:lnSpc>
                  <a:spcPct val="100000"/>
                </a:lnSpc>
              </a:pPr>
              <a:r>
                <a:rPr lang="fr-FR" altLang="zh-CN">
                  <a:cs typeface="Times New Roman" charset="0"/>
                </a:rPr>
                <a:t>Volume NTFS</a:t>
              </a:r>
              <a:r>
                <a:rPr lang="en-IE" altLang="zh-CN">
                  <a:cs typeface="Times New Roman" charset="0"/>
                </a:rPr>
                <a:t> </a:t>
              </a:r>
              <a:endParaRPr lang="en-US">
                <a:solidFill>
                  <a:schemeClr val="tx1"/>
                </a:solidFill>
                <a:cs typeface="Times New Roman" charset="0"/>
              </a:endParaRPr>
            </a:p>
            <a:p>
              <a:pPr algn="r">
                <a:lnSpc>
                  <a:spcPct val="100000"/>
                </a:lnSpc>
                <a:buSzPct val="85000"/>
              </a:pPr>
              <a:endParaRPr lang="en-US">
                <a:solidFill>
                  <a:schemeClr val="tx1"/>
                </a:solidFill>
                <a:cs typeface="Times New Roman" charset="0"/>
              </a:endParaRPr>
            </a:p>
          </p:txBody>
        </p:sp>
        <p:sp>
          <p:nvSpPr>
            <p:cNvPr id="354351" name="Freeform-47"/>
            <p:cNvSpPr>
              <a:spLocks/>
            </p:cNvSpPr>
            <p:nvPr/>
          </p:nvSpPr>
          <p:spPr bwMode="auto">
            <a:xfrm>
              <a:off x="4688" y="2449"/>
              <a:ext cx="409" cy="442"/>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grpSp>
          <p:nvGrpSpPr>
            <p:cNvPr id="9" name="Group 48"/>
            <p:cNvGrpSpPr>
              <a:grpSpLocks/>
            </p:cNvGrpSpPr>
            <p:nvPr/>
          </p:nvGrpSpPr>
          <p:grpSpPr bwMode="auto">
            <a:xfrm>
              <a:off x="4463" y="2246"/>
              <a:ext cx="480" cy="406"/>
              <a:chOff x="4704" y="144"/>
              <a:chExt cx="720" cy="608"/>
            </a:xfrm>
          </p:grpSpPr>
          <p:pic>
            <p:nvPicPr>
              <p:cNvPr id="354353" name="Picture-49" descr="Folder_FolderOpen01"/>
              <p:cNvPicPr>
                <a:picLocks noChangeAspect="1" noChangeArrowheads="1"/>
              </p:cNvPicPr>
              <p:nvPr/>
            </p:nvPicPr>
            <p:blipFill>
              <a:blip r:embed="rId3" cstate="print"/>
              <a:srcRect/>
              <a:stretch>
                <a:fillRect/>
              </a:stretch>
            </p:blipFill>
            <p:spPr bwMode="auto">
              <a:xfrm>
                <a:off x="4800" y="144"/>
                <a:ext cx="624" cy="558"/>
              </a:xfrm>
              <a:prstGeom prst="rect">
                <a:avLst/>
              </a:prstGeom>
              <a:noFill/>
            </p:spPr>
          </p:pic>
          <p:pic>
            <p:nvPicPr>
              <p:cNvPr id="354354" name="Picture-50" descr="Shared Hand-3"/>
              <p:cNvPicPr>
                <a:picLocks noChangeAspect="1" noChangeArrowheads="1"/>
              </p:cNvPicPr>
              <p:nvPr/>
            </p:nvPicPr>
            <p:blipFill>
              <a:blip r:embed="rId4"/>
              <a:srcRect/>
              <a:stretch>
                <a:fillRect/>
              </a:stretch>
            </p:blipFill>
            <p:spPr bwMode="auto">
              <a:xfrm>
                <a:off x="4704" y="480"/>
                <a:ext cx="624" cy="272"/>
              </a:xfrm>
              <a:prstGeom prst="rect">
                <a:avLst/>
              </a:prstGeom>
              <a:noFill/>
            </p:spPr>
          </p:pic>
        </p:grpSp>
        <p:sp>
          <p:nvSpPr>
            <p:cNvPr id="354355" name="Text-Box-51"/>
            <p:cNvSpPr txBox="1">
              <a:spLocks noChangeArrowheads="1"/>
            </p:cNvSpPr>
            <p:nvPr/>
          </p:nvSpPr>
          <p:spPr bwMode="auto">
            <a:xfrm>
              <a:off x="4897" y="2412"/>
              <a:ext cx="525" cy="192"/>
            </a:xfrm>
            <a:prstGeom prst="rect">
              <a:avLst/>
            </a:prstGeom>
            <a:noFill/>
            <a:ln w="9525" algn="ctr">
              <a:noFill/>
              <a:miter lim="800000"/>
              <a:headEnd/>
              <a:tailEnd/>
            </a:ln>
            <a:effectLst/>
          </p:spPr>
          <p:txBody>
            <a:bodyPr wrap="none">
              <a:spAutoFit/>
            </a:bodyPr>
            <a:lstStyle/>
            <a:p>
              <a:pPr>
                <a:lnSpc>
                  <a:spcPct val="100000"/>
                </a:lnSpc>
              </a:pPr>
              <a:r>
                <a:rPr lang="fr-FR" altLang="zh-CN">
                  <a:cs typeface="Times New Roman" charset="0"/>
                </a:rPr>
                <a:t>Données</a:t>
              </a:r>
              <a:r>
                <a:rPr lang="en-IE" altLang="zh-CN" sz="1200">
                  <a:cs typeface="Times New Roman" charset="0"/>
                </a:rPr>
                <a:t> </a:t>
              </a:r>
              <a:endParaRPr lang="en-US" sz="1200">
                <a:cs typeface="Times New Roman" charset="0"/>
              </a:endParaRPr>
            </a:p>
          </p:txBody>
        </p:sp>
        <p:pic>
          <p:nvPicPr>
            <p:cNvPr id="354356" name="Picture-52" descr="Collection_Group01"/>
            <p:cNvPicPr>
              <a:picLocks noChangeAspect="1" noChangeArrowheads="1"/>
            </p:cNvPicPr>
            <p:nvPr/>
          </p:nvPicPr>
          <p:blipFill>
            <a:blip r:embed="rId5" cstate="print"/>
            <a:srcRect/>
            <a:stretch>
              <a:fillRect/>
            </a:stretch>
          </p:blipFill>
          <p:spPr bwMode="auto">
            <a:xfrm>
              <a:off x="3837" y="1727"/>
              <a:ext cx="629" cy="455"/>
            </a:xfrm>
            <a:prstGeom prst="rect">
              <a:avLst/>
            </a:prstGeom>
            <a:noFill/>
          </p:spPr>
        </p:pic>
        <p:sp>
          <p:nvSpPr>
            <p:cNvPr id="354357" name="Freeform-53"/>
            <p:cNvSpPr>
              <a:spLocks/>
            </p:cNvSpPr>
            <p:nvPr/>
          </p:nvSpPr>
          <p:spPr bwMode="auto">
            <a:xfrm>
              <a:off x="4173" y="2318"/>
              <a:ext cx="295" cy="210"/>
            </a:xfrm>
            <a:custGeom>
              <a:avLst/>
              <a:gdLst/>
              <a:ahLst/>
              <a:cxnLst>
                <a:cxn ang="0">
                  <a:pos x="0" y="0"/>
                </a:cxn>
                <a:cxn ang="0">
                  <a:pos x="0" y="271"/>
                </a:cxn>
                <a:cxn ang="0">
                  <a:pos x="364" y="271"/>
                </a:cxn>
              </a:cxnLst>
              <a:rect l="0" t="0" r="r" b="b"/>
              <a:pathLst>
                <a:path w="364" h="271">
                  <a:moveTo>
                    <a:pt x="0" y="0"/>
                  </a:moveTo>
                  <a:lnTo>
                    <a:pt x="0" y="271"/>
                  </a:lnTo>
                  <a:lnTo>
                    <a:pt x="364" y="271"/>
                  </a:lnTo>
                </a:path>
              </a:pathLst>
            </a:custGeom>
            <a:noFill/>
            <a:ln w="57150" cap="flat" cmpd="sng">
              <a:solidFill>
                <a:srgbClr val="CC0000"/>
              </a:solidFill>
              <a:prstDash val="solid"/>
              <a:round/>
              <a:headEnd type="none" w="med" len="med"/>
              <a:tailEnd type="triangle" w="med" len="med"/>
            </a:ln>
            <a:effectLst/>
          </p:spPr>
          <p:txBody>
            <a:bodyPr anchor="ctr"/>
            <a:lstStyle/>
            <a:p>
              <a:endParaRPr lang="fr-FR"/>
            </a:p>
          </p:txBody>
        </p:sp>
        <p:sp>
          <p:nvSpPr>
            <p:cNvPr id="354358" name="AutoShape-54"/>
            <p:cNvSpPr>
              <a:spLocks noChangeArrowheads="1"/>
            </p:cNvSpPr>
            <p:nvPr/>
          </p:nvSpPr>
          <p:spPr bwMode="auto">
            <a:xfrm>
              <a:off x="3818" y="2139"/>
              <a:ext cx="670" cy="18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a:cs typeface="Times New Roman" charset="0"/>
                </a:rPr>
                <a:t>Groupe Ventes</a:t>
              </a:r>
              <a:r>
                <a:rPr lang="en-IE" altLang="zh-CN">
                  <a:cs typeface="Times New Roman" charset="0"/>
                </a:rPr>
                <a:t> </a:t>
              </a:r>
              <a:endParaRPr lang="en-US">
                <a:cs typeface="Times New Roman" charset="0"/>
              </a:endParaRPr>
            </a:p>
          </p:txBody>
        </p:sp>
        <p:grpSp>
          <p:nvGrpSpPr>
            <p:cNvPr id="10" name="Group 55"/>
            <p:cNvGrpSpPr>
              <a:grpSpLocks/>
            </p:cNvGrpSpPr>
            <p:nvPr/>
          </p:nvGrpSpPr>
          <p:grpSpPr bwMode="auto">
            <a:xfrm>
              <a:off x="3725" y="2401"/>
              <a:ext cx="526" cy="253"/>
              <a:chOff x="3970" y="1564"/>
              <a:chExt cx="678" cy="326"/>
            </a:xfrm>
          </p:grpSpPr>
          <p:sp>
            <p:nvSpPr>
              <p:cNvPr id="354360" name="AutoShape-56"/>
              <p:cNvSpPr>
                <a:spLocks noChangeArrowheads="1"/>
              </p:cNvSpPr>
              <p:nvPr/>
            </p:nvSpPr>
            <p:spPr bwMode="auto">
              <a:xfrm>
                <a:off x="4132" y="1611"/>
                <a:ext cx="516" cy="204"/>
              </a:xfrm>
              <a:prstGeom prst="rightArrowCallout">
                <a:avLst>
                  <a:gd name="adj1" fmla="val 40194"/>
                  <a:gd name="adj2" fmla="val 46056"/>
                  <a:gd name="adj3" fmla="val 70589"/>
                  <a:gd name="adj4" fmla="val 58528"/>
                </a:avLst>
              </a:prstGeom>
              <a:gradFill rotWithShape="1">
                <a:gsLst>
                  <a:gs pos="0">
                    <a:srgbClr val="ADE2A1"/>
                  </a:gs>
                  <a:gs pos="100000">
                    <a:srgbClr val="E8F6E4"/>
                  </a:gs>
                </a:gsLst>
                <a:lin ang="2700000" scaled="1"/>
              </a:gra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a:cs typeface="Times New Roman" charset="0"/>
                  </a:rPr>
                  <a:t>R</a:t>
                </a:r>
                <a:r>
                  <a:rPr lang="en-IE" altLang="zh-CN" sz="1200">
                    <a:cs typeface="Times New Roman" charset="0"/>
                  </a:rPr>
                  <a:t> </a:t>
                </a:r>
                <a:endParaRPr lang="en-US" sz="1200">
                  <a:cs typeface="Times New Roman" charset="0"/>
                </a:endParaRPr>
              </a:p>
            </p:txBody>
          </p:sp>
          <p:pic>
            <p:nvPicPr>
              <p:cNvPr id="354361" name="Picture-57" descr="Security_Permissions01"/>
              <p:cNvPicPr>
                <a:picLocks noChangeAspect="1" noChangeArrowheads="1"/>
              </p:cNvPicPr>
              <p:nvPr/>
            </p:nvPicPr>
            <p:blipFill>
              <a:blip r:embed="rId6" cstate="print"/>
              <a:srcRect/>
              <a:stretch>
                <a:fillRect/>
              </a:stretch>
            </p:blipFill>
            <p:spPr bwMode="auto">
              <a:xfrm>
                <a:off x="3970" y="1564"/>
                <a:ext cx="231" cy="326"/>
              </a:xfrm>
              <a:prstGeom prst="rect">
                <a:avLst/>
              </a:prstGeom>
              <a:noFill/>
            </p:spPr>
          </p:pic>
        </p:grpSp>
        <p:sp>
          <p:nvSpPr>
            <p:cNvPr id="354362" name="Freeform-58"/>
            <p:cNvSpPr>
              <a:spLocks/>
            </p:cNvSpPr>
            <p:nvPr/>
          </p:nvSpPr>
          <p:spPr bwMode="auto">
            <a:xfrm>
              <a:off x="4688" y="2948"/>
              <a:ext cx="409" cy="317"/>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sp>
          <p:nvSpPr>
            <p:cNvPr id="354363" name="Freeform-59"/>
            <p:cNvSpPr>
              <a:spLocks/>
            </p:cNvSpPr>
            <p:nvPr/>
          </p:nvSpPr>
          <p:spPr bwMode="auto">
            <a:xfrm>
              <a:off x="4686" y="3267"/>
              <a:ext cx="405" cy="322"/>
            </a:xfrm>
            <a:custGeom>
              <a:avLst/>
              <a:gdLst/>
              <a:ahLst/>
              <a:cxnLst>
                <a:cxn ang="0">
                  <a:pos x="0" y="0"/>
                </a:cxn>
                <a:cxn ang="0">
                  <a:pos x="0" y="432"/>
                </a:cxn>
                <a:cxn ang="0">
                  <a:pos x="424" y="432"/>
                </a:cxn>
              </a:cxnLst>
              <a:rect l="0" t="0" r="r" b="b"/>
              <a:pathLst>
                <a:path w="424" h="432">
                  <a:moveTo>
                    <a:pt x="0" y="0"/>
                  </a:moveTo>
                  <a:lnTo>
                    <a:pt x="0" y="432"/>
                  </a:lnTo>
                  <a:lnTo>
                    <a:pt x="424" y="432"/>
                  </a:lnTo>
                </a:path>
              </a:pathLst>
            </a:custGeom>
            <a:noFill/>
            <a:ln w="38100" cap="flat" cmpd="sng">
              <a:solidFill>
                <a:srgbClr val="808080"/>
              </a:solidFill>
              <a:prstDash val="solid"/>
              <a:round/>
              <a:headEnd type="none" w="med" len="med"/>
              <a:tailEnd type="none" w="med" len="med"/>
            </a:ln>
            <a:effectLst/>
          </p:spPr>
          <p:txBody>
            <a:bodyPr anchor="ctr"/>
            <a:lstStyle/>
            <a:p>
              <a:endParaRPr lang="fr-FR"/>
            </a:p>
          </p:txBody>
        </p:sp>
        <p:pic>
          <p:nvPicPr>
            <p:cNvPr id="354364" name="Picture-60" descr="Folder_Closed01"/>
            <p:cNvPicPr>
              <a:picLocks noChangeAspect="1" noChangeArrowheads="1"/>
            </p:cNvPicPr>
            <p:nvPr/>
          </p:nvPicPr>
          <p:blipFill>
            <a:blip r:embed="rId7" cstate="print"/>
            <a:srcRect/>
            <a:stretch>
              <a:fillRect/>
            </a:stretch>
          </p:blipFill>
          <p:spPr bwMode="auto">
            <a:xfrm>
              <a:off x="4950" y="3407"/>
              <a:ext cx="350" cy="370"/>
            </a:xfrm>
            <a:prstGeom prst="rect">
              <a:avLst/>
            </a:prstGeom>
            <a:noFill/>
          </p:spPr>
        </p:pic>
        <p:sp>
          <p:nvSpPr>
            <p:cNvPr id="354365" name="Text-Box-61"/>
            <p:cNvSpPr txBox="1">
              <a:spLocks noChangeArrowheads="1"/>
            </p:cNvSpPr>
            <p:nvPr/>
          </p:nvSpPr>
          <p:spPr bwMode="auto">
            <a:xfrm>
              <a:off x="4941" y="3494"/>
              <a:ext cx="362" cy="192"/>
            </a:xfrm>
            <a:prstGeom prst="rect">
              <a:avLst/>
            </a:prstGeom>
            <a:noFill/>
            <a:ln w="9525" algn="ctr">
              <a:noFill/>
              <a:miter lim="800000"/>
              <a:headEnd/>
              <a:tailEnd/>
            </a:ln>
            <a:effectLst/>
          </p:spPr>
          <p:txBody>
            <a:bodyPr wrap="none">
              <a:spAutoFit/>
            </a:bodyPr>
            <a:lstStyle/>
            <a:p>
              <a:pPr>
                <a:lnSpc>
                  <a:spcPct val="100000"/>
                </a:lnSpc>
              </a:pPr>
              <a:r>
                <a:rPr lang="fr-FR" altLang="zh-CN">
                  <a:cs typeface="Times New Roman" charset="0"/>
                </a:rPr>
                <a:t>Pubs</a:t>
              </a:r>
              <a:r>
                <a:rPr lang="en-IE" altLang="zh-CN" sz="1200">
                  <a:cs typeface="Times New Roman" charset="0"/>
                </a:rPr>
                <a:t> </a:t>
              </a:r>
              <a:endParaRPr lang="en-US" sz="1200">
                <a:cs typeface="Times New Roman" charset="0"/>
              </a:endParaRPr>
            </a:p>
          </p:txBody>
        </p:sp>
        <p:pic>
          <p:nvPicPr>
            <p:cNvPr id="354366" name="Picture-62" descr="Folder_Closed01"/>
            <p:cNvPicPr>
              <a:picLocks noChangeAspect="1" noChangeArrowheads="1"/>
            </p:cNvPicPr>
            <p:nvPr/>
          </p:nvPicPr>
          <p:blipFill>
            <a:blip r:embed="rId7" cstate="print"/>
            <a:srcRect/>
            <a:stretch>
              <a:fillRect/>
            </a:stretch>
          </p:blipFill>
          <p:spPr bwMode="auto">
            <a:xfrm>
              <a:off x="4950" y="3058"/>
              <a:ext cx="350" cy="370"/>
            </a:xfrm>
            <a:prstGeom prst="rect">
              <a:avLst/>
            </a:prstGeom>
            <a:noFill/>
          </p:spPr>
        </p:pic>
        <p:sp>
          <p:nvSpPr>
            <p:cNvPr id="354367" name="Text-Box-63"/>
            <p:cNvSpPr txBox="1">
              <a:spLocks noChangeArrowheads="1"/>
            </p:cNvSpPr>
            <p:nvPr/>
          </p:nvSpPr>
          <p:spPr bwMode="auto">
            <a:xfrm>
              <a:off x="4986" y="3135"/>
              <a:ext cx="270" cy="192"/>
            </a:xfrm>
            <a:prstGeom prst="rect">
              <a:avLst/>
            </a:prstGeom>
            <a:noFill/>
            <a:ln w="9525" algn="ctr">
              <a:noFill/>
              <a:miter lim="800000"/>
              <a:headEnd/>
              <a:tailEnd/>
            </a:ln>
            <a:effectLst/>
          </p:spPr>
          <p:txBody>
            <a:bodyPr wrap="none">
              <a:spAutoFit/>
            </a:bodyPr>
            <a:lstStyle/>
            <a:p>
              <a:pPr>
                <a:lnSpc>
                  <a:spcPct val="100000"/>
                </a:lnSpc>
              </a:pPr>
              <a:r>
                <a:rPr lang="fr-FR" altLang="zh-CN">
                  <a:cs typeface="Times New Roman" charset="0"/>
                </a:rPr>
                <a:t>HR</a:t>
              </a:r>
              <a:r>
                <a:rPr lang="en-IE" altLang="zh-CN" sz="1200">
                  <a:cs typeface="Times New Roman" charset="0"/>
                </a:rPr>
                <a:t> </a:t>
              </a:r>
              <a:endParaRPr lang="en-US" sz="1200">
                <a:cs typeface="Times New Roman" charset="0"/>
              </a:endParaRPr>
            </a:p>
          </p:txBody>
        </p:sp>
        <p:sp>
          <p:nvSpPr>
            <p:cNvPr id="354368" name="Line-64"/>
            <p:cNvSpPr>
              <a:spLocks noChangeShapeType="1"/>
            </p:cNvSpPr>
            <p:nvPr/>
          </p:nvSpPr>
          <p:spPr bwMode="auto">
            <a:xfrm>
              <a:off x="4182" y="2895"/>
              <a:ext cx="197" cy="0"/>
            </a:xfrm>
            <a:prstGeom prst="line">
              <a:avLst/>
            </a:prstGeom>
            <a:noFill/>
            <a:ln w="57150">
              <a:solidFill>
                <a:srgbClr val="CC0000"/>
              </a:solidFill>
              <a:round/>
              <a:headEnd/>
              <a:tailEnd type="triangle" w="med" len="med"/>
            </a:ln>
            <a:effectLst/>
          </p:spPr>
          <p:txBody>
            <a:bodyPr anchor="ctr"/>
            <a:lstStyle/>
            <a:p>
              <a:endParaRPr lang="fr-FR"/>
            </a:p>
          </p:txBody>
        </p:sp>
        <p:sp>
          <p:nvSpPr>
            <p:cNvPr id="354369" name="AutoShape-65"/>
            <p:cNvSpPr>
              <a:spLocks noChangeArrowheads="1"/>
            </p:cNvSpPr>
            <p:nvPr/>
          </p:nvSpPr>
          <p:spPr bwMode="auto">
            <a:xfrm>
              <a:off x="3512" y="2801"/>
              <a:ext cx="677" cy="18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fr-FR" altLang="zh-CN">
                  <a:cs typeface="Times New Roman" charset="0"/>
                </a:rPr>
                <a:t> Groupe Ventes</a:t>
              </a:r>
              <a:r>
                <a:rPr lang="en-IE" altLang="zh-CN">
                  <a:cs typeface="Times New Roman" charset="0"/>
                </a:rPr>
                <a:t> </a:t>
              </a:r>
              <a:endParaRPr lang="en-US">
                <a:cs typeface="Times New Roman" charset="0"/>
              </a:endParaRPr>
            </a:p>
          </p:txBody>
        </p:sp>
        <p:pic>
          <p:nvPicPr>
            <p:cNvPr id="354370" name="Picture-66" descr="Folder_Closed01"/>
            <p:cNvPicPr>
              <a:picLocks noChangeAspect="1" noChangeArrowheads="1"/>
            </p:cNvPicPr>
            <p:nvPr/>
          </p:nvPicPr>
          <p:blipFill>
            <a:blip r:embed="rId8" cstate="print"/>
            <a:srcRect/>
            <a:stretch>
              <a:fillRect/>
            </a:stretch>
          </p:blipFill>
          <p:spPr bwMode="auto">
            <a:xfrm>
              <a:off x="4950" y="2709"/>
              <a:ext cx="350" cy="371"/>
            </a:xfrm>
            <a:prstGeom prst="rect">
              <a:avLst/>
            </a:prstGeom>
            <a:noFill/>
          </p:spPr>
        </p:pic>
        <p:sp>
          <p:nvSpPr>
            <p:cNvPr id="354371" name="Text-Box-67"/>
            <p:cNvSpPr txBox="1">
              <a:spLocks noChangeArrowheads="1"/>
            </p:cNvSpPr>
            <p:nvPr/>
          </p:nvSpPr>
          <p:spPr bwMode="auto">
            <a:xfrm>
              <a:off x="4903" y="2788"/>
              <a:ext cx="439" cy="192"/>
            </a:xfrm>
            <a:prstGeom prst="rect">
              <a:avLst/>
            </a:prstGeom>
            <a:noFill/>
            <a:ln w="9525" algn="ctr">
              <a:noFill/>
              <a:miter lim="800000"/>
              <a:headEnd/>
              <a:tailEnd/>
            </a:ln>
            <a:effectLst/>
          </p:spPr>
          <p:txBody>
            <a:bodyPr wrap="none">
              <a:spAutoFit/>
            </a:bodyPr>
            <a:lstStyle/>
            <a:p>
              <a:pPr>
                <a:lnSpc>
                  <a:spcPct val="100000"/>
                </a:lnSpc>
              </a:pPr>
              <a:r>
                <a:rPr lang="fr-FR" altLang="zh-CN">
                  <a:cs typeface="Times New Roman" charset="0"/>
                </a:rPr>
                <a:t>Ventes</a:t>
              </a:r>
              <a:r>
                <a:rPr lang="en-IE" altLang="zh-CN" sz="1200">
                  <a:cs typeface="Times New Roman" charset="0"/>
                </a:rPr>
                <a:t> </a:t>
              </a:r>
              <a:endParaRPr lang="en-US" sz="1200">
                <a:cs typeface="Times New Roman" charset="0"/>
              </a:endParaRPr>
            </a:p>
          </p:txBody>
        </p:sp>
        <p:grpSp>
          <p:nvGrpSpPr>
            <p:cNvPr id="11" name="Group 68"/>
            <p:cNvGrpSpPr>
              <a:grpSpLocks/>
            </p:cNvGrpSpPr>
            <p:nvPr/>
          </p:nvGrpSpPr>
          <p:grpSpPr bwMode="auto">
            <a:xfrm>
              <a:off x="4362" y="2768"/>
              <a:ext cx="526" cy="253"/>
              <a:chOff x="3970" y="1564"/>
              <a:chExt cx="678" cy="326"/>
            </a:xfrm>
          </p:grpSpPr>
          <p:sp>
            <p:nvSpPr>
              <p:cNvPr id="354373" name="AutoShape-69"/>
              <p:cNvSpPr>
                <a:spLocks noChangeArrowheads="1"/>
              </p:cNvSpPr>
              <p:nvPr/>
            </p:nvSpPr>
            <p:spPr bwMode="auto">
              <a:xfrm>
                <a:off x="4132" y="1611"/>
                <a:ext cx="516" cy="204"/>
              </a:xfrm>
              <a:prstGeom prst="rightArrowCallout">
                <a:avLst>
                  <a:gd name="adj1" fmla="val 40194"/>
                  <a:gd name="adj2" fmla="val 46056"/>
                  <a:gd name="adj3" fmla="val 70589"/>
                  <a:gd name="adj4" fmla="val 58528"/>
                </a:avLst>
              </a:prstGeom>
              <a:solidFill>
                <a:srgbClr val="FF9999"/>
              </a:solidFill>
              <a:ln w="9525" algn="ctr">
                <a:solidFill>
                  <a:srgbClr val="4D4D4D"/>
                </a:solidFill>
                <a:miter lim="800000"/>
                <a:headEnd/>
                <a:tailEnd/>
              </a:ln>
              <a:effectLst>
                <a:outerShdw dist="35921" dir="2700000" algn="ctr" rotWithShape="0">
                  <a:srgbClr val="AFAFAF"/>
                </a:outerShdw>
              </a:effectLst>
            </p:spPr>
            <p:txBody>
              <a:bodyPr anchor="ctr"/>
              <a:lstStyle/>
              <a:p>
                <a:r>
                  <a:rPr lang="fr-FR" altLang="zh-CN">
                    <a:cs typeface="Times New Roman" charset="0"/>
                  </a:rPr>
                  <a:t>CT</a:t>
                </a:r>
                <a:r>
                  <a:rPr lang="en-IE" altLang="zh-CN" sz="1200">
                    <a:cs typeface="Times New Roman" charset="0"/>
                  </a:rPr>
                  <a:t> </a:t>
                </a:r>
                <a:endParaRPr lang="en-US" sz="1200">
                  <a:cs typeface="Times New Roman" charset="0"/>
                </a:endParaRPr>
              </a:p>
            </p:txBody>
          </p:sp>
          <p:pic>
            <p:nvPicPr>
              <p:cNvPr id="354374" name="Picture-70" descr="Security_Permissions01"/>
              <p:cNvPicPr>
                <a:picLocks noChangeAspect="1" noChangeArrowheads="1"/>
              </p:cNvPicPr>
              <p:nvPr/>
            </p:nvPicPr>
            <p:blipFill>
              <a:blip r:embed="rId6" cstate="print"/>
              <a:srcRect/>
              <a:stretch>
                <a:fillRect/>
              </a:stretch>
            </p:blipFill>
            <p:spPr bwMode="auto">
              <a:xfrm>
                <a:off x="3970" y="1564"/>
                <a:ext cx="231" cy="326"/>
              </a:xfrm>
              <a:prstGeom prst="rect">
                <a:avLst/>
              </a:prstGeom>
              <a:noFill/>
            </p:spPr>
          </p:pic>
        </p:grpSp>
        <p:sp>
          <p:nvSpPr>
            <p:cNvPr id="354375" name="AutoShape-71"/>
            <p:cNvSpPr>
              <a:spLocks noChangeArrowheads="1"/>
            </p:cNvSpPr>
            <p:nvPr/>
          </p:nvSpPr>
          <p:spPr bwMode="auto">
            <a:xfrm>
              <a:off x="3479" y="1737"/>
              <a:ext cx="165" cy="192"/>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nSpc>
                  <a:spcPct val="100000"/>
                </a:lnSpc>
              </a:pPr>
              <a:r>
                <a:rPr lang="fr-FR" altLang="zh-CN" sz="2000">
                  <a:solidFill>
                    <a:srgbClr val="990033"/>
                  </a:solidFill>
                  <a:cs typeface="Arial Narrow" charset="0"/>
                </a:rPr>
                <a:t>2</a:t>
              </a:r>
              <a:r>
                <a:rPr lang="en-IE" altLang="zh-CN" sz="2000">
                  <a:cs typeface="Arial Narrow" charset="0"/>
                </a:rPr>
                <a:t> </a:t>
              </a:r>
              <a:endParaRPr lang="en-US" sz="2000">
                <a:cs typeface="Arial Narrow" charset="0"/>
              </a:endParaRPr>
            </a:p>
          </p:txBody>
        </p:sp>
      </p:grpSp>
      <p:sp>
        <p:nvSpPr>
          <p:cNvPr id="67" name="Rectangle 66"/>
          <p:cNvSpPr/>
          <p:nvPr/>
        </p:nvSpPr>
        <p:spPr>
          <a:xfrm>
            <a:off x="4357869" y="1604469"/>
            <a:ext cx="4572000" cy="1243417"/>
          </a:xfrm>
          <a:prstGeom prst="rect">
            <a:avLst/>
          </a:prstGeom>
        </p:spPr>
        <p:txBody>
          <a:bodyPr>
            <a:spAutoFit/>
          </a:bodyPr>
          <a:lstStyle/>
          <a:p>
            <a:pPr algn="l"/>
            <a:r>
              <a:rPr lang="fr-FR" sz="2200" dirty="0"/>
              <a:t>Quelles sont les autorisations effectives du groupe Ventes lorsqu’il accède</a:t>
            </a:r>
          </a:p>
          <a:p>
            <a:pPr algn="l"/>
            <a:r>
              <a:rPr lang="fr-FR" sz="2200" dirty="0"/>
              <a:t>au dossier Ventes en se connectant au dossier partagé Données ?</a:t>
            </a:r>
          </a:p>
        </p:txBody>
      </p:sp>
      <p:sp>
        <p:nvSpPr>
          <p:cNvPr id="68" name="Rectangle 67"/>
          <p:cNvSpPr/>
          <p:nvPr/>
        </p:nvSpPr>
        <p:spPr>
          <a:xfrm>
            <a:off x="4572000" y="3294372"/>
            <a:ext cx="4572000" cy="1531188"/>
          </a:xfrm>
          <a:prstGeom prst="rect">
            <a:avLst/>
          </a:prstGeom>
        </p:spPr>
        <p:txBody>
          <a:bodyPr>
            <a:spAutoFit/>
          </a:bodyPr>
          <a:lstStyle/>
          <a:p>
            <a:pPr algn="l"/>
            <a:r>
              <a:rPr lang="fr-FR" sz="2200" dirty="0">
                <a:solidFill>
                  <a:srgbClr val="C00000"/>
                </a:solidFill>
              </a:rPr>
              <a:t>Il dispose de l’autorisation de lecture car lorsque les autorisations de</a:t>
            </a:r>
          </a:p>
          <a:p>
            <a:pPr algn="l"/>
            <a:r>
              <a:rPr lang="fr-FR" sz="2200" dirty="0">
                <a:solidFill>
                  <a:srgbClr val="C00000"/>
                </a:solidFill>
              </a:rPr>
              <a:t>dossier partagé sont combinées aux autorisations NTFS, c’est l’autorisation la plus restrictive qui s’applique.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1000" fill="hold"/>
                                        <p:tgtEl>
                                          <p:spTgt spid="67"/>
                                        </p:tgtEl>
                                        <p:attrNameLst>
                                          <p:attrName>ppt_x</p:attrName>
                                        </p:attrNameLst>
                                      </p:cBhvr>
                                      <p:tavLst>
                                        <p:tav tm="0">
                                          <p:val>
                                            <p:strVal val="#ppt_x"/>
                                          </p:val>
                                        </p:tav>
                                        <p:tav tm="100000">
                                          <p:val>
                                            <p:strVal val="#ppt_x"/>
                                          </p:val>
                                        </p:tav>
                                      </p:tavLst>
                                    </p:anim>
                                    <p:anim calcmode="lin" valueType="num">
                                      <p:cBhvr additive="base">
                                        <p:cTn id="8" dur="10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8"/>
                                        </p:tgtEl>
                                        <p:attrNameLst>
                                          <p:attrName>style.visibility</p:attrName>
                                        </p:attrNameLst>
                                      </p:cBhvr>
                                      <p:to>
                                        <p:strVal val="visible"/>
                                      </p:to>
                                    </p:set>
                                    <p:anim calcmode="lin" valueType="num">
                                      <p:cBhvr additive="base">
                                        <p:cTn id="13" dur="1000" fill="hold"/>
                                        <p:tgtEl>
                                          <p:spTgt spid="68"/>
                                        </p:tgtEl>
                                        <p:attrNameLst>
                                          <p:attrName>ppt_x</p:attrName>
                                        </p:attrNameLst>
                                      </p:cBhvr>
                                      <p:tavLst>
                                        <p:tav tm="0">
                                          <p:val>
                                            <p:strVal val="#ppt_x"/>
                                          </p:val>
                                        </p:tav>
                                        <p:tav tm="100000">
                                          <p:val>
                                            <p:strVal val="#ppt_x"/>
                                          </p:val>
                                        </p:tav>
                                      </p:tavLst>
                                    </p:anim>
                                    <p:anim calcmode="lin" valueType="num">
                                      <p:cBhvr additive="base">
                                        <p:cTn id="14" dur="10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C00000"/>
                </a:solidFill>
              </a:rPr>
              <a:t>Exercices</a:t>
            </a:r>
          </a:p>
        </p:txBody>
      </p:sp>
      <p:sp>
        <p:nvSpPr>
          <p:cNvPr id="6" name="ZoneTexte 5"/>
          <p:cNvSpPr txBox="1"/>
          <p:nvPr/>
        </p:nvSpPr>
        <p:spPr>
          <a:xfrm>
            <a:off x="164190" y="4080681"/>
            <a:ext cx="982639" cy="380104"/>
          </a:xfrm>
          <a:prstGeom prst="rect">
            <a:avLst/>
          </a:prstGeom>
          <a:noFill/>
        </p:spPr>
        <p:txBody>
          <a:bodyPr wrap="square" rtlCol="0">
            <a:spAutoFit/>
          </a:bodyPr>
          <a:lstStyle/>
          <a:p>
            <a:r>
              <a:rPr lang="fr-FR" sz="2200" dirty="0"/>
              <a:t>Ahmed</a:t>
            </a:r>
          </a:p>
        </p:txBody>
      </p:sp>
      <p:pic>
        <p:nvPicPr>
          <p:cNvPr id="7" name="Picture-69" descr="Collection_Group01"/>
          <p:cNvPicPr>
            <a:picLocks noChangeAspect="1" noChangeArrowheads="1"/>
          </p:cNvPicPr>
          <p:nvPr/>
        </p:nvPicPr>
        <p:blipFill>
          <a:blip r:embed="rId2"/>
          <a:srcRect/>
          <a:stretch>
            <a:fillRect/>
          </a:stretch>
        </p:blipFill>
        <p:spPr bwMode="auto">
          <a:xfrm>
            <a:off x="985797" y="1617593"/>
            <a:ext cx="1808162" cy="1308100"/>
          </a:xfrm>
          <a:prstGeom prst="rect">
            <a:avLst/>
          </a:prstGeom>
          <a:noFill/>
        </p:spPr>
      </p:pic>
      <p:pic>
        <p:nvPicPr>
          <p:cNvPr id="8" name="Picture-69" descr="Collection_Group01"/>
          <p:cNvPicPr>
            <a:picLocks noChangeAspect="1" noChangeArrowheads="1"/>
          </p:cNvPicPr>
          <p:nvPr/>
        </p:nvPicPr>
        <p:blipFill>
          <a:blip r:embed="rId2"/>
          <a:srcRect/>
          <a:stretch>
            <a:fillRect/>
          </a:stretch>
        </p:blipFill>
        <p:spPr bwMode="auto">
          <a:xfrm>
            <a:off x="985797" y="4294829"/>
            <a:ext cx="1808162" cy="1308100"/>
          </a:xfrm>
          <a:prstGeom prst="rect">
            <a:avLst/>
          </a:prstGeom>
          <a:noFill/>
        </p:spPr>
      </p:pic>
      <p:pic>
        <p:nvPicPr>
          <p:cNvPr id="9" name="Picture-94" descr="Document_Document01"/>
          <p:cNvPicPr>
            <a:picLocks noChangeAspect="1" noChangeArrowheads="1"/>
          </p:cNvPicPr>
          <p:nvPr/>
        </p:nvPicPr>
        <p:blipFill>
          <a:blip r:embed="rId3" cstate="print"/>
          <a:srcRect/>
          <a:stretch>
            <a:fillRect/>
          </a:stretch>
        </p:blipFill>
        <p:spPr bwMode="auto">
          <a:xfrm>
            <a:off x="4667513" y="3297735"/>
            <a:ext cx="496888" cy="806450"/>
          </a:xfrm>
          <a:prstGeom prst="rect">
            <a:avLst/>
          </a:prstGeom>
          <a:noFill/>
        </p:spPr>
      </p:pic>
      <p:sp>
        <p:nvSpPr>
          <p:cNvPr id="10" name="Line-37"/>
          <p:cNvSpPr>
            <a:spLocks noChangeShapeType="1"/>
          </p:cNvSpPr>
          <p:nvPr/>
        </p:nvSpPr>
        <p:spPr bwMode="auto">
          <a:xfrm flipV="1">
            <a:off x="903896" y="2797793"/>
            <a:ext cx="692891" cy="698750"/>
          </a:xfrm>
          <a:prstGeom prst="line">
            <a:avLst/>
          </a:prstGeom>
          <a:noFill/>
          <a:ln w="57150">
            <a:solidFill>
              <a:srgbClr val="CC0000"/>
            </a:solidFill>
            <a:round/>
            <a:headEnd/>
            <a:tailEnd type="triangle" w="med" len="med"/>
          </a:ln>
          <a:effectLst/>
        </p:spPr>
        <p:txBody>
          <a:bodyPr anchor="ctr"/>
          <a:lstStyle/>
          <a:p>
            <a:endParaRPr lang="fr-FR"/>
          </a:p>
        </p:txBody>
      </p:sp>
      <p:sp>
        <p:nvSpPr>
          <p:cNvPr id="11" name="Line-37"/>
          <p:cNvSpPr>
            <a:spLocks noChangeShapeType="1"/>
          </p:cNvSpPr>
          <p:nvPr/>
        </p:nvSpPr>
        <p:spPr bwMode="auto">
          <a:xfrm>
            <a:off x="723331" y="3589361"/>
            <a:ext cx="777923" cy="982641"/>
          </a:xfrm>
          <a:prstGeom prst="line">
            <a:avLst/>
          </a:prstGeom>
          <a:noFill/>
          <a:ln w="57150">
            <a:solidFill>
              <a:srgbClr val="CC0000"/>
            </a:solidFill>
            <a:round/>
            <a:headEnd/>
            <a:tailEnd type="triangle" w="med" len="med"/>
          </a:ln>
          <a:effectLst/>
        </p:spPr>
        <p:txBody>
          <a:bodyPr anchor="ctr"/>
          <a:lstStyle/>
          <a:p>
            <a:endParaRPr lang="fr-FR"/>
          </a:p>
        </p:txBody>
      </p:sp>
      <p:pic>
        <p:nvPicPr>
          <p:cNvPr id="5" name="Picture-75" descr="User_UserE01"/>
          <p:cNvPicPr>
            <a:picLocks noChangeAspect="1" noChangeArrowheads="1"/>
          </p:cNvPicPr>
          <p:nvPr/>
        </p:nvPicPr>
        <p:blipFill>
          <a:blip r:embed="rId4"/>
          <a:srcRect/>
          <a:stretch>
            <a:fillRect/>
          </a:stretch>
        </p:blipFill>
        <p:spPr bwMode="auto">
          <a:xfrm>
            <a:off x="377635" y="2755439"/>
            <a:ext cx="598410" cy="1360143"/>
          </a:xfrm>
          <a:prstGeom prst="rect">
            <a:avLst/>
          </a:prstGeom>
          <a:noFill/>
        </p:spPr>
      </p:pic>
      <p:sp>
        <p:nvSpPr>
          <p:cNvPr id="12" name="ZoneTexte 11"/>
          <p:cNvSpPr txBox="1"/>
          <p:nvPr/>
        </p:nvSpPr>
        <p:spPr>
          <a:xfrm>
            <a:off x="862081" y="5638799"/>
            <a:ext cx="1949357" cy="563231"/>
          </a:xfrm>
          <a:prstGeom prst="rect">
            <a:avLst/>
          </a:prstGeom>
          <a:noFill/>
        </p:spPr>
        <p:txBody>
          <a:bodyPr wrap="square" rtlCol="0">
            <a:spAutoFit/>
          </a:bodyPr>
          <a:lstStyle/>
          <a:p>
            <a:r>
              <a:rPr lang="fr-FR" sz="1800" dirty="0"/>
              <a:t>Groupe Recherche et Développement</a:t>
            </a:r>
          </a:p>
        </p:txBody>
      </p:sp>
      <p:sp>
        <p:nvSpPr>
          <p:cNvPr id="13" name="ZoneTexte 12"/>
          <p:cNvSpPr txBox="1"/>
          <p:nvPr/>
        </p:nvSpPr>
        <p:spPr>
          <a:xfrm>
            <a:off x="1314727" y="2993409"/>
            <a:ext cx="1373877" cy="563231"/>
          </a:xfrm>
          <a:prstGeom prst="rect">
            <a:avLst/>
          </a:prstGeom>
          <a:noFill/>
        </p:spPr>
        <p:txBody>
          <a:bodyPr wrap="square" rtlCol="0">
            <a:spAutoFit/>
          </a:bodyPr>
          <a:lstStyle/>
          <a:p>
            <a:r>
              <a:rPr lang="fr-FR" sz="1800" dirty="0"/>
              <a:t>Groupe Marketing</a:t>
            </a:r>
          </a:p>
        </p:txBody>
      </p:sp>
      <p:sp>
        <p:nvSpPr>
          <p:cNvPr id="14" name="ZoneTexte 13"/>
          <p:cNvSpPr txBox="1"/>
          <p:nvPr/>
        </p:nvSpPr>
        <p:spPr>
          <a:xfrm>
            <a:off x="4519676" y="4096602"/>
            <a:ext cx="994019" cy="667875"/>
          </a:xfrm>
          <a:prstGeom prst="rect">
            <a:avLst/>
          </a:prstGeom>
          <a:noFill/>
        </p:spPr>
        <p:txBody>
          <a:bodyPr wrap="square" rtlCol="0">
            <a:spAutoFit/>
          </a:bodyPr>
          <a:lstStyle/>
          <a:p>
            <a:r>
              <a:rPr lang="fr-FR" sz="2200" dirty="0"/>
              <a:t>Fichier.doc</a:t>
            </a:r>
          </a:p>
        </p:txBody>
      </p:sp>
      <p:sp>
        <p:nvSpPr>
          <p:cNvPr id="16" name="Line-37"/>
          <p:cNvSpPr>
            <a:spLocks noChangeShapeType="1"/>
          </p:cNvSpPr>
          <p:nvPr/>
        </p:nvSpPr>
        <p:spPr bwMode="auto">
          <a:xfrm>
            <a:off x="2612140" y="2775485"/>
            <a:ext cx="1877973" cy="827524"/>
          </a:xfrm>
          <a:prstGeom prst="line">
            <a:avLst/>
          </a:prstGeom>
          <a:noFill/>
          <a:ln w="57150">
            <a:solidFill>
              <a:srgbClr val="00B050"/>
            </a:solidFill>
            <a:round/>
            <a:headEnd/>
            <a:tailEnd type="triangle" w="med" len="med"/>
          </a:ln>
          <a:effectLst/>
        </p:spPr>
        <p:txBody>
          <a:bodyPr anchor="ctr"/>
          <a:lstStyle/>
          <a:p>
            <a:endParaRPr lang="fr-FR"/>
          </a:p>
        </p:txBody>
      </p:sp>
      <p:sp>
        <p:nvSpPr>
          <p:cNvPr id="17" name="Line-37"/>
          <p:cNvSpPr>
            <a:spLocks noChangeShapeType="1"/>
          </p:cNvSpPr>
          <p:nvPr/>
        </p:nvSpPr>
        <p:spPr bwMode="auto">
          <a:xfrm flipV="1">
            <a:off x="2625787" y="3766781"/>
            <a:ext cx="1905269" cy="1165051"/>
          </a:xfrm>
          <a:prstGeom prst="line">
            <a:avLst/>
          </a:prstGeom>
          <a:noFill/>
          <a:ln w="57150">
            <a:solidFill>
              <a:srgbClr val="00B050"/>
            </a:solidFill>
            <a:round/>
            <a:headEnd/>
            <a:tailEnd type="triangle" w="med" len="med"/>
          </a:ln>
          <a:effectLst/>
        </p:spPr>
        <p:txBody>
          <a:bodyPr anchor="ctr"/>
          <a:lstStyle/>
          <a:p>
            <a:endParaRPr lang="fr-FR"/>
          </a:p>
        </p:txBody>
      </p:sp>
      <p:sp>
        <p:nvSpPr>
          <p:cNvPr id="18" name="ZoneTexte 17"/>
          <p:cNvSpPr txBox="1"/>
          <p:nvPr/>
        </p:nvSpPr>
        <p:spPr>
          <a:xfrm rot="19713011">
            <a:off x="2115403" y="4476466"/>
            <a:ext cx="2825087" cy="275460"/>
          </a:xfrm>
          <a:prstGeom prst="rect">
            <a:avLst/>
          </a:prstGeom>
          <a:noFill/>
        </p:spPr>
        <p:txBody>
          <a:bodyPr wrap="square" rtlCol="0">
            <a:spAutoFit/>
          </a:bodyPr>
          <a:lstStyle/>
          <a:p>
            <a:r>
              <a:rPr lang="fr-FR" dirty="0"/>
              <a:t>A. NTFS: Lecture</a:t>
            </a:r>
          </a:p>
        </p:txBody>
      </p:sp>
      <p:sp>
        <p:nvSpPr>
          <p:cNvPr id="19" name="ZoneTexte 18"/>
          <p:cNvSpPr txBox="1"/>
          <p:nvPr/>
        </p:nvSpPr>
        <p:spPr>
          <a:xfrm rot="1485517">
            <a:off x="2445224" y="2950191"/>
            <a:ext cx="2825087" cy="275460"/>
          </a:xfrm>
          <a:prstGeom prst="rect">
            <a:avLst/>
          </a:prstGeom>
          <a:noFill/>
        </p:spPr>
        <p:txBody>
          <a:bodyPr wrap="square" rtlCol="0">
            <a:spAutoFit/>
          </a:bodyPr>
          <a:lstStyle/>
          <a:p>
            <a:r>
              <a:rPr lang="fr-FR" dirty="0"/>
              <a:t>A.NTFS: Modification</a:t>
            </a:r>
          </a:p>
        </p:txBody>
      </p:sp>
      <p:sp>
        <p:nvSpPr>
          <p:cNvPr id="20" name="Flèche droite 19"/>
          <p:cNvSpPr/>
          <p:nvPr/>
        </p:nvSpPr>
        <p:spPr>
          <a:xfrm>
            <a:off x="5240741" y="3589360"/>
            <a:ext cx="545909" cy="409433"/>
          </a:xfrm>
          <a:prstGeom prst="rightArrow">
            <a:avLst/>
          </a:prstGeom>
          <a:solidFill>
            <a:srgbClr val="C0000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5773003" y="3384644"/>
            <a:ext cx="3193576" cy="1531188"/>
          </a:xfrm>
          <a:prstGeom prst="rect">
            <a:avLst/>
          </a:prstGeom>
          <a:noFill/>
        </p:spPr>
        <p:txBody>
          <a:bodyPr wrap="square" rtlCol="0">
            <a:spAutoFit/>
          </a:bodyPr>
          <a:lstStyle/>
          <a:p>
            <a:r>
              <a:rPr lang="fr-FR" sz="2200" dirty="0"/>
              <a:t>Autorisation NTFS</a:t>
            </a:r>
          </a:p>
          <a:p>
            <a:r>
              <a:rPr lang="fr-FR" sz="2200" dirty="0"/>
              <a:t>= </a:t>
            </a:r>
          </a:p>
          <a:p>
            <a:r>
              <a:rPr lang="fr-FR" sz="2200" dirty="0"/>
              <a:t>Modification + Lecture </a:t>
            </a:r>
          </a:p>
          <a:p>
            <a:r>
              <a:rPr lang="fr-FR" sz="2200" dirty="0"/>
              <a:t>=  </a:t>
            </a:r>
          </a:p>
          <a:p>
            <a:r>
              <a:rPr lang="fr-FR" sz="2200" dirty="0">
                <a:solidFill>
                  <a:srgbClr val="C00000"/>
                </a:solidFill>
              </a:rPr>
              <a:t>Modification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1000"/>
                                        <p:tgtEl>
                                          <p:spTgt spid="8"/>
                                        </p:tgtEl>
                                      </p:cBhvr>
                                    </p:animEffect>
                                  </p:childTnLst>
                                </p:cTn>
                              </p:par>
                              <p:par>
                                <p:cTn id="16" presetID="5"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1000"/>
                                        <p:tgtEl>
                                          <p:spTgt spid="7"/>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checkerboard(across)">
                                      <p:cBhvr>
                                        <p:cTn id="21" dur="1000"/>
                                        <p:tgtEl>
                                          <p:spTgt spid="11"/>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checkerboard(across)">
                                      <p:cBhvr>
                                        <p:cTn id="24" dur="1000"/>
                                        <p:tgtEl>
                                          <p:spTgt spid="10"/>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checkerboard(across)">
                                      <p:cBhvr>
                                        <p:cTn id="27" dur="1000"/>
                                        <p:tgtEl>
                                          <p:spTgt spid="12"/>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checkerboard(across)">
                                      <p:cBhvr>
                                        <p:cTn id="30" dur="10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checkerboard(across)">
                                      <p:cBhvr>
                                        <p:cTn id="35" dur="1000"/>
                                        <p:tgtEl>
                                          <p:spTgt spid="9"/>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checkerboard(across)">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heckerboard(across)">
                                      <p:cBhvr>
                                        <p:cTn id="43" dur="1000"/>
                                        <p:tgtEl>
                                          <p:spTgt spid="16"/>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checkerboard(across)">
                                      <p:cBhvr>
                                        <p:cTn id="46" dur="1000"/>
                                        <p:tgtEl>
                                          <p:spTgt spid="17"/>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checkerboard(across)">
                                      <p:cBhvr>
                                        <p:cTn id="49" dur="1000"/>
                                        <p:tgtEl>
                                          <p:spTgt spid="18"/>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checkerboard(across)">
                                      <p:cBhvr>
                                        <p:cTn id="52" dur="10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checkerboard(across)">
                                      <p:cBhvr>
                                        <p:cTn id="57" dur="1000"/>
                                        <p:tgtEl>
                                          <p:spTgt spid="20"/>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checkerboard(across)">
                                      <p:cBhvr>
                                        <p:cTn id="60"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1" grpId="0" animBg="1"/>
      <p:bldP spid="12" grpId="0"/>
      <p:bldP spid="13" grpId="0"/>
      <p:bldP spid="14" grpId="0"/>
      <p:bldP spid="16" grpId="0" animBg="1"/>
      <p:bldP spid="17" grpId="0" animBg="1"/>
      <p:bldP spid="18" grpId="0"/>
      <p:bldP spid="19" grpId="0"/>
      <p:bldP spid="20" grpId="0" animBg="1"/>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C00000"/>
                </a:solidFill>
              </a:rPr>
              <a:t>Exercices</a:t>
            </a:r>
          </a:p>
        </p:txBody>
      </p:sp>
      <p:sp>
        <p:nvSpPr>
          <p:cNvPr id="6" name="ZoneTexte 5"/>
          <p:cNvSpPr txBox="1"/>
          <p:nvPr/>
        </p:nvSpPr>
        <p:spPr>
          <a:xfrm>
            <a:off x="81884" y="4285397"/>
            <a:ext cx="982639" cy="380104"/>
          </a:xfrm>
          <a:prstGeom prst="rect">
            <a:avLst/>
          </a:prstGeom>
          <a:noFill/>
        </p:spPr>
        <p:txBody>
          <a:bodyPr wrap="square" rtlCol="0">
            <a:spAutoFit/>
          </a:bodyPr>
          <a:lstStyle/>
          <a:p>
            <a:r>
              <a:rPr lang="fr-FR" sz="2200" dirty="0"/>
              <a:t>Mona</a:t>
            </a:r>
          </a:p>
        </p:txBody>
      </p:sp>
      <p:pic>
        <p:nvPicPr>
          <p:cNvPr id="7" name="Picture-69" descr="Collection_Group01"/>
          <p:cNvPicPr>
            <a:picLocks noChangeAspect="1" noChangeArrowheads="1"/>
          </p:cNvPicPr>
          <p:nvPr/>
        </p:nvPicPr>
        <p:blipFill>
          <a:blip r:embed="rId2" cstate="print"/>
          <a:srcRect/>
          <a:stretch>
            <a:fillRect/>
          </a:stretch>
        </p:blipFill>
        <p:spPr bwMode="auto">
          <a:xfrm>
            <a:off x="1397516" y="1262745"/>
            <a:ext cx="1194291" cy="864000"/>
          </a:xfrm>
          <a:prstGeom prst="rect">
            <a:avLst/>
          </a:prstGeom>
          <a:noFill/>
        </p:spPr>
      </p:pic>
      <p:pic>
        <p:nvPicPr>
          <p:cNvPr id="8" name="Picture-69" descr="Collection_Group01"/>
          <p:cNvPicPr>
            <a:picLocks noChangeAspect="1" noChangeArrowheads="1"/>
          </p:cNvPicPr>
          <p:nvPr/>
        </p:nvPicPr>
        <p:blipFill>
          <a:blip r:embed="rId2" cstate="print"/>
          <a:srcRect/>
          <a:stretch>
            <a:fillRect/>
          </a:stretch>
        </p:blipFill>
        <p:spPr bwMode="auto">
          <a:xfrm>
            <a:off x="1397515" y="3488684"/>
            <a:ext cx="1194292" cy="864000"/>
          </a:xfrm>
          <a:prstGeom prst="rect">
            <a:avLst/>
          </a:prstGeom>
          <a:noFill/>
        </p:spPr>
      </p:pic>
      <p:pic>
        <p:nvPicPr>
          <p:cNvPr id="9" name="Picture-94" descr="Document_Document01"/>
          <p:cNvPicPr>
            <a:picLocks noChangeAspect="1" noChangeArrowheads="1"/>
          </p:cNvPicPr>
          <p:nvPr/>
        </p:nvPicPr>
        <p:blipFill>
          <a:blip r:embed="rId3" cstate="print"/>
          <a:srcRect/>
          <a:stretch>
            <a:fillRect/>
          </a:stretch>
        </p:blipFill>
        <p:spPr bwMode="auto">
          <a:xfrm>
            <a:off x="4667513" y="3297735"/>
            <a:ext cx="496888" cy="806450"/>
          </a:xfrm>
          <a:prstGeom prst="rect">
            <a:avLst/>
          </a:prstGeom>
          <a:noFill/>
        </p:spPr>
      </p:pic>
      <p:sp>
        <p:nvSpPr>
          <p:cNvPr id="10" name="Line-37"/>
          <p:cNvSpPr>
            <a:spLocks noChangeShapeType="1"/>
          </p:cNvSpPr>
          <p:nvPr/>
        </p:nvSpPr>
        <p:spPr bwMode="auto">
          <a:xfrm flipV="1">
            <a:off x="903897" y="2115403"/>
            <a:ext cx="733834" cy="1176424"/>
          </a:xfrm>
          <a:prstGeom prst="line">
            <a:avLst/>
          </a:prstGeom>
          <a:noFill/>
          <a:ln w="57150">
            <a:solidFill>
              <a:srgbClr val="CC0000"/>
            </a:solidFill>
            <a:round/>
            <a:headEnd/>
            <a:tailEnd type="triangle" w="med" len="med"/>
          </a:ln>
          <a:effectLst/>
        </p:spPr>
        <p:txBody>
          <a:bodyPr anchor="ctr"/>
          <a:lstStyle/>
          <a:p>
            <a:endParaRPr lang="fr-FR"/>
          </a:p>
        </p:txBody>
      </p:sp>
      <p:sp>
        <p:nvSpPr>
          <p:cNvPr id="11" name="Line-37"/>
          <p:cNvSpPr>
            <a:spLocks noChangeShapeType="1"/>
          </p:cNvSpPr>
          <p:nvPr/>
        </p:nvSpPr>
        <p:spPr bwMode="auto">
          <a:xfrm>
            <a:off x="846161" y="3630304"/>
            <a:ext cx="545911" cy="286603"/>
          </a:xfrm>
          <a:prstGeom prst="line">
            <a:avLst/>
          </a:prstGeom>
          <a:noFill/>
          <a:ln w="57150">
            <a:solidFill>
              <a:srgbClr val="CC0000"/>
            </a:solidFill>
            <a:round/>
            <a:headEnd/>
            <a:tailEnd type="triangle" w="med" len="med"/>
          </a:ln>
          <a:effectLst/>
        </p:spPr>
        <p:txBody>
          <a:bodyPr anchor="ctr"/>
          <a:lstStyle/>
          <a:p>
            <a:endParaRPr lang="fr-FR"/>
          </a:p>
        </p:txBody>
      </p:sp>
      <p:sp>
        <p:nvSpPr>
          <p:cNvPr id="12" name="ZoneTexte 11"/>
          <p:cNvSpPr txBox="1"/>
          <p:nvPr/>
        </p:nvSpPr>
        <p:spPr>
          <a:xfrm>
            <a:off x="1039502" y="4342266"/>
            <a:ext cx="1949357" cy="563231"/>
          </a:xfrm>
          <a:prstGeom prst="rect">
            <a:avLst/>
          </a:prstGeom>
          <a:noFill/>
        </p:spPr>
        <p:txBody>
          <a:bodyPr wrap="square" rtlCol="0">
            <a:spAutoFit/>
          </a:bodyPr>
          <a:lstStyle/>
          <a:p>
            <a:r>
              <a:rPr lang="fr-FR" sz="1800" dirty="0"/>
              <a:t>Groupe Recherche et Développement</a:t>
            </a:r>
          </a:p>
        </p:txBody>
      </p:sp>
      <p:sp>
        <p:nvSpPr>
          <p:cNvPr id="13" name="ZoneTexte 12"/>
          <p:cNvSpPr txBox="1"/>
          <p:nvPr/>
        </p:nvSpPr>
        <p:spPr>
          <a:xfrm>
            <a:off x="1369317" y="2229135"/>
            <a:ext cx="1373877" cy="563231"/>
          </a:xfrm>
          <a:prstGeom prst="rect">
            <a:avLst/>
          </a:prstGeom>
          <a:noFill/>
        </p:spPr>
        <p:txBody>
          <a:bodyPr wrap="square" rtlCol="0">
            <a:spAutoFit/>
          </a:bodyPr>
          <a:lstStyle/>
          <a:p>
            <a:r>
              <a:rPr lang="fr-FR" sz="1800" dirty="0"/>
              <a:t>Groupe Marketing</a:t>
            </a:r>
          </a:p>
        </p:txBody>
      </p:sp>
      <p:sp>
        <p:nvSpPr>
          <p:cNvPr id="14" name="ZoneTexte 13"/>
          <p:cNvSpPr txBox="1"/>
          <p:nvPr/>
        </p:nvSpPr>
        <p:spPr>
          <a:xfrm>
            <a:off x="4519676" y="4096602"/>
            <a:ext cx="994019" cy="667875"/>
          </a:xfrm>
          <a:prstGeom prst="rect">
            <a:avLst/>
          </a:prstGeom>
          <a:noFill/>
        </p:spPr>
        <p:txBody>
          <a:bodyPr wrap="square" rtlCol="0">
            <a:spAutoFit/>
          </a:bodyPr>
          <a:lstStyle/>
          <a:p>
            <a:r>
              <a:rPr lang="fr-FR" sz="2200" dirty="0"/>
              <a:t>Fichier.doc</a:t>
            </a:r>
          </a:p>
        </p:txBody>
      </p:sp>
      <p:sp>
        <p:nvSpPr>
          <p:cNvPr id="16" name="Line-37"/>
          <p:cNvSpPr>
            <a:spLocks noChangeShapeType="1"/>
          </p:cNvSpPr>
          <p:nvPr/>
        </p:nvSpPr>
        <p:spPr bwMode="auto">
          <a:xfrm>
            <a:off x="2511188" y="2197290"/>
            <a:ext cx="1978925" cy="1405719"/>
          </a:xfrm>
          <a:prstGeom prst="line">
            <a:avLst/>
          </a:prstGeom>
          <a:noFill/>
          <a:ln w="57150">
            <a:solidFill>
              <a:srgbClr val="7030A0"/>
            </a:solidFill>
            <a:round/>
            <a:headEnd/>
            <a:tailEnd type="triangle" w="med" len="med"/>
          </a:ln>
          <a:effectLst/>
        </p:spPr>
        <p:txBody>
          <a:bodyPr anchor="ctr"/>
          <a:lstStyle/>
          <a:p>
            <a:endParaRPr lang="fr-FR"/>
          </a:p>
        </p:txBody>
      </p:sp>
      <p:sp>
        <p:nvSpPr>
          <p:cNvPr id="17" name="Line-37"/>
          <p:cNvSpPr>
            <a:spLocks noChangeShapeType="1"/>
          </p:cNvSpPr>
          <p:nvPr/>
        </p:nvSpPr>
        <p:spPr bwMode="auto">
          <a:xfrm flipV="1">
            <a:off x="2579427" y="3807725"/>
            <a:ext cx="2019869" cy="272956"/>
          </a:xfrm>
          <a:prstGeom prst="line">
            <a:avLst/>
          </a:prstGeom>
          <a:noFill/>
          <a:ln w="57150">
            <a:solidFill>
              <a:srgbClr val="00B050"/>
            </a:solidFill>
            <a:round/>
            <a:headEnd/>
            <a:tailEnd type="triangle" w="med" len="med"/>
          </a:ln>
          <a:effectLst/>
        </p:spPr>
        <p:txBody>
          <a:bodyPr anchor="ctr"/>
          <a:lstStyle/>
          <a:p>
            <a:endParaRPr lang="fr-FR"/>
          </a:p>
        </p:txBody>
      </p:sp>
      <p:sp>
        <p:nvSpPr>
          <p:cNvPr id="18" name="ZoneTexte 17"/>
          <p:cNvSpPr txBox="1"/>
          <p:nvPr/>
        </p:nvSpPr>
        <p:spPr>
          <a:xfrm rot="21061602">
            <a:off x="2169994" y="4012443"/>
            <a:ext cx="2825087" cy="275460"/>
          </a:xfrm>
          <a:prstGeom prst="rect">
            <a:avLst/>
          </a:prstGeom>
          <a:noFill/>
        </p:spPr>
        <p:txBody>
          <a:bodyPr wrap="square" rtlCol="0">
            <a:spAutoFit/>
          </a:bodyPr>
          <a:lstStyle/>
          <a:p>
            <a:r>
              <a:rPr lang="fr-FR" dirty="0"/>
              <a:t>A. NTFS: Lecture</a:t>
            </a:r>
          </a:p>
        </p:txBody>
      </p:sp>
      <p:sp>
        <p:nvSpPr>
          <p:cNvPr id="19" name="ZoneTexte 18"/>
          <p:cNvSpPr txBox="1"/>
          <p:nvPr/>
        </p:nvSpPr>
        <p:spPr>
          <a:xfrm rot="2302678">
            <a:off x="2185916" y="2677237"/>
            <a:ext cx="2825087" cy="275460"/>
          </a:xfrm>
          <a:prstGeom prst="rect">
            <a:avLst/>
          </a:prstGeom>
          <a:noFill/>
        </p:spPr>
        <p:txBody>
          <a:bodyPr wrap="square" rtlCol="0">
            <a:spAutoFit/>
          </a:bodyPr>
          <a:lstStyle/>
          <a:p>
            <a:r>
              <a:rPr lang="fr-FR" dirty="0"/>
              <a:t>A. NTFS héritée: Refuser en lecture</a:t>
            </a:r>
          </a:p>
        </p:txBody>
      </p:sp>
      <p:sp>
        <p:nvSpPr>
          <p:cNvPr id="20" name="Flèche droite 19"/>
          <p:cNvSpPr/>
          <p:nvPr/>
        </p:nvSpPr>
        <p:spPr>
          <a:xfrm>
            <a:off x="5308979" y="3589360"/>
            <a:ext cx="341191" cy="409433"/>
          </a:xfrm>
          <a:prstGeom prst="rightArrow">
            <a:avLst/>
          </a:prstGeom>
          <a:solidFill>
            <a:srgbClr val="C0000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5622877" y="1282888"/>
            <a:ext cx="3343701" cy="153118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200" b="0" dirty="0"/>
              <a:t>Autorisation NTFS</a:t>
            </a:r>
          </a:p>
          <a:p>
            <a:r>
              <a:rPr lang="fr-FR" sz="2200" b="0" dirty="0"/>
              <a:t>= </a:t>
            </a:r>
          </a:p>
          <a:p>
            <a:r>
              <a:rPr lang="fr-FR" sz="2200" b="0" dirty="0"/>
              <a:t>Modification </a:t>
            </a:r>
            <a:r>
              <a:rPr lang="fr-FR" sz="2200" dirty="0">
                <a:solidFill>
                  <a:srgbClr val="C00000"/>
                </a:solidFill>
              </a:rPr>
              <a:t>+</a:t>
            </a:r>
            <a:r>
              <a:rPr lang="fr-FR" sz="2200" b="0" dirty="0"/>
              <a:t> Lecture </a:t>
            </a:r>
          </a:p>
          <a:p>
            <a:r>
              <a:rPr lang="fr-FR" sz="2200" b="0" dirty="0"/>
              <a:t>=  </a:t>
            </a:r>
          </a:p>
          <a:p>
            <a:r>
              <a:rPr lang="fr-FR" sz="2200" dirty="0">
                <a:solidFill>
                  <a:srgbClr val="C00000"/>
                </a:solidFill>
              </a:rPr>
              <a:t>Modification</a:t>
            </a:r>
            <a:endParaRPr lang="fr-FR" sz="2200" dirty="0">
              <a:solidFill>
                <a:schemeClr val="tx1"/>
              </a:solidFill>
            </a:endParaRPr>
          </a:p>
        </p:txBody>
      </p:sp>
      <p:pic>
        <p:nvPicPr>
          <p:cNvPr id="22" name="Picture-69" descr="Collection_Group01"/>
          <p:cNvPicPr>
            <a:picLocks noChangeAspect="1" noChangeArrowheads="1"/>
          </p:cNvPicPr>
          <p:nvPr/>
        </p:nvPicPr>
        <p:blipFill>
          <a:blip r:embed="rId2" cstate="print"/>
          <a:srcRect/>
          <a:stretch>
            <a:fillRect/>
          </a:stretch>
        </p:blipFill>
        <p:spPr bwMode="auto">
          <a:xfrm>
            <a:off x="1397516" y="5196445"/>
            <a:ext cx="1194292" cy="864000"/>
          </a:xfrm>
          <a:prstGeom prst="rect">
            <a:avLst/>
          </a:prstGeom>
          <a:noFill/>
        </p:spPr>
      </p:pic>
      <p:sp>
        <p:nvSpPr>
          <p:cNvPr id="23" name="ZoneTexte 22"/>
          <p:cNvSpPr txBox="1"/>
          <p:nvPr/>
        </p:nvSpPr>
        <p:spPr>
          <a:xfrm>
            <a:off x="1276059" y="6108245"/>
            <a:ext cx="1373877" cy="563231"/>
          </a:xfrm>
          <a:prstGeom prst="rect">
            <a:avLst/>
          </a:prstGeom>
          <a:noFill/>
        </p:spPr>
        <p:txBody>
          <a:bodyPr wrap="square" rtlCol="0">
            <a:spAutoFit/>
          </a:bodyPr>
          <a:lstStyle/>
          <a:p>
            <a:r>
              <a:rPr lang="fr-FR" sz="1800" dirty="0"/>
              <a:t>Groupe Vente</a:t>
            </a:r>
          </a:p>
        </p:txBody>
      </p:sp>
      <p:sp>
        <p:nvSpPr>
          <p:cNvPr id="24" name="Line-37"/>
          <p:cNvSpPr>
            <a:spLocks noChangeShapeType="1"/>
          </p:cNvSpPr>
          <p:nvPr/>
        </p:nvSpPr>
        <p:spPr bwMode="auto">
          <a:xfrm>
            <a:off x="807493" y="3687171"/>
            <a:ext cx="721056" cy="1922059"/>
          </a:xfrm>
          <a:prstGeom prst="line">
            <a:avLst/>
          </a:prstGeom>
          <a:noFill/>
          <a:ln w="57150">
            <a:solidFill>
              <a:srgbClr val="CC0000"/>
            </a:solidFill>
            <a:round/>
            <a:headEnd/>
            <a:tailEnd type="triangle" w="med" len="med"/>
          </a:ln>
          <a:effectLst/>
        </p:spPr>
        <p:txBody>
          <a:bodyPr anchor="ctr"/>
          <a:lstStyle/>
          <a:p>
            <a:endParaRPr lang="fr-FR"/>
          </a:p>
        </p:txBody>
      </p:sp>
      <p:sp>
        <p:nvSpPr>
          <p:cNvPr id="25" name="Line-37"/>
          <p:cNvSpPr>
            <a:spLocks noChangeShapeType="1"/>
          </p:cNvSpPr>
          <p:nvPr/>
        </p:nvSpPr>
        <p:spPr bwMode="auto">
          <a:xfrm>
            <a:off x="881149" y="3378260"/>
            <a:ext cx="3581669" cy="320283"/>
          </a:xfrm>
          <a:prstGeom prst="line">
            <a:avLst/>
          </a:prstGeom>
          <a:noFill/>
          <a:ln w="57150">
            <a:solidFill>
              <a:srgbClr val="00B050"/>
            </a:solidFill>
            <a:round/>
            <a:headEnd/>
            <a:tailEnd type="triangle" w="med" len="med"/>
          </a:ln>
          <a:effectLst/>
        </p:spPr>
        <p:txBody>
          <a:bodyPr anchor="ctr"/>
          <a:lstStyle/>
          <a:p>
            <a:endParaRPr lang="fr-FR"/>
          </a:p>
        </p:txBody>
      </p:sp>
      <p:sp>
        <p:nvSpPr>
          <p:cNvPr id="26" name="ZoneTexte 25"/>
          <p:cNvSpPr txBox="1"/>
          <p:nvPr/>
        </p:nvSpPr>
        <p:spPr>
          <a:xfrm rot="319966">
            <a:off x="1178256" y="3252716"/>
            <a:ext cx="2825087" cy="275460"/>
          </a:xfrm>
          <a:prstGeom prst="rect">
            <a:avLst/>
          </a:prstGeom>
          <a:noFill/>
        </p:spPr>
        <p:txBody>
          <a:bodyPr wrap="square" rtlCol="0">
            <a:spAutoFit/>
          </a:bodyPr>
          <a:lstStyle/>
          <a:p>
            <a:r>
              <a:rPr lang="fr-FR" dirty="0"/>
              <a:t>A. NTFS: Modification</a:t>
            </a:r>
          </a:p>
        </p:txBody>
      </p:sp>
      <p:sp>
        <p:nvSpPr>
          <p:cNvPr id="27" name="Line-37"/>
          <p:cNvSpPr>
            <a:spLocks noChangeShapeType="1"/>
          </p:cNvSpPr>
          <p:nvPr/>
        </p:nvSpPr>
        <p:spPr bwMode="auto">
          <a:xfrm flipV="1">
            <a:off x="2606722" y="4148917"/>
            <a:ext cx="2019870" cy="1501255"/>
          </a:xfrm>
          <a:prstGeom prst="line">
            <a:avLst/>
          </a:prstGeom>
          <a:noFill/>
          <a:ln w="57150">
            <a:solidFill>
              <a:srgbClr val="7030A0"/>
            </a:solidFill>
            <a:round/>
            <a:headEnd/>
            <a:tailEnd type="triangle" w="med" len="med"/>
          </a:ln>
          <a:effectLst/>
        </p:spPr>
        <p:txBody>
          <a:bodyPr anchor="ctr"/>
          <a:lstStyle/>
          <a:p>
            <a:endParaRPr lang="fr-FR"/>
          </a:p>
        </p:txBody>
      </p:sp>
      <p:pic>
        <p:nvPicPr>
          <p:cNvPr id="5" name="Picture-75" descr="User_UserE01"/>
          <p:cNvPicPr>
            <a:picLocks noChangeAspect="1" noChangeArrowheads="1"/>
          </p:cNvPicPr>
          <p:nvPr/>
        </p:nvPicPr>
        <p:blipFill>
          <a:blip r:embed="rId4"/>
          <a:srcRect/>
          <a:stretch>
            <a:fillRect/>
          </a:stretch>
        </p:blipFill>
        <p:spPr bwMode="auto">
          <a:xfrm>
            <a:off x="398183" y="2755439"/>
            <a:ext cx="598410" cy="1360143"/>
          </a:xfrm>
          <a:prstGeom prst="rect">
            <a:avLst/>
          </a:prstGeom>
          <a:noFill/>
        </p:spPr>
      </p:pic>
      <p:sp>
        <p:nvSpPr>
          <p:cNvPr id="28" name="ZoneTexte 27"/>
          <p:cNvSpPr txBox="1"/>
          <p:nvPr/>
        </p:nvSpPr>
        <p:spPr>
          <a:xfrm rot="19291072">
            <a:off x="2420204" y="4890445"/>
            <a:ext cx="2825087" cy="275460"/>
          </a:xfrm>
          <a:prstGeom prst="rect">
            <a:avLst/>
          </a:prstGeom>
          <a:noFill/>
        </p:spPr>
        <p:txBody>
          <a:bodyPr wrap="square" rtlCol="0">
            <a:spAutoFit/>
          </a:bodyPr>
          <a:lstStyle/>
          <a:p>
            <a:r>
              <a:rPr lang="fr-FR" dirty="0"/>
              <a:t>A. NTFS héritée: Modification</a:t>
            </a:r>
          </a:p>
        </p:txBody>
      </p:sp>
      <p:sp>
        <p:nvSpPr>
          <p:cNvPr id="29" name="Rectangle 28"/>
          <p:cNvSpPr/>
          <p:nvPr/>
        </p:nvSpPr>
        <p:spPr>
          <a:xfrm>
            <a:off x="5595582" y="2843130"/>
            <a:ext cx="3357349" cy="1531188"/>
          </a:xfrm>
          <a:prstGeom prst="rect">
            <a:avLst/>
          </a:prstGeom>
          <a:solidFill>
            <a:srgbClr val="7030A0"/>
          </a:solidFill>
        </p:spPr>
        <p:style>
          <a:lnRef idx="2">
            <a:schemeClr val="dk1"/>
          </a:lnRef>
          <a:fillRef idx="1">
            <a:schemeClr val="lt1"/>
          </a:fillRef>
          <a:effectRef idx="0">
            <a:schemeClr val="dk1"/>
          </a:effectRef>
          <a:fontRef idx="minor">
            <a:schemeClr val="dk1"/>
          </a:fontRef>
        </p:style>
        <p:txBody>
          <a:bodyPr wrap="square">
            <a:spAutoFit/>
          </a:bodyPr>
          <a:lstStyle/>
          <a:p>
            <a:r>
              <a:rPr lang="fr-FR" sz="2200" b="0" dirty="0">
                <a:solidFill>
                  <a:schemeClr val="bg2"/>
                </a:solidFill>
              </a:rPr>
              <a:t>Autorisation héritée </a:t>
            </a:r>
          </a:p>
          <a:p>
            <a:r>
              <a:rPr lang="fr-FR" sz="2200" b="0" dirty="0">
                <a:solidFill>
                  <a:schemeClr val="bg2"/>
                </a:solidFill>
              </a:rPr>
              <a:t>=</a:t>
            </a:r>
          </a:p>
          <a:p>
            <a:r>
              <a:rPr lang="fr-FR" sz="2200" b="0" dirty="0">
                <a:solidFill>
                  <a:schemeClr val="bg2"/>
                </a:solidFill>
              </a:rPr>
              <a:t>R. lecture  </a:t>
            </a:r>
            <a:r>
              <a:rPr lang="fr-FR" sz="2200" dirty="0">
                <a:solidFill>
                  <a:srgbClr val="FFC000"/>
                </a:solidFill>
              </a:rPr>
              <a:t>+</a:t>
            </a:r>
            <a:r>
              <a:rPr lang="fr-FR" sz="2200" b="0" dirty="0">
                <a:solidFill>
                  <a:schemeClr val="bg2"/>
                </a:solidFill>
              </a:rPr>
              <a:t> Modification</a:t>
            </a:r>
          </a:p>
          <a:p>
            <a:r>
              <a:rPr lang="fr-FR" sz="2200" b="0" dirty="0">
                <a:solidFill>
                  <a:schemeClr val="bg2"/>
                </a:solidFill>
              </a:rPr>
              <a:t>=</a:t>
            </a:r>
          </a:p>
          <a:p>
            <a:r>
              <a:rPr lang="fr-FR" sz="2200" dirty="0">
                <a:solidFill>
                  <a:srgbClr val="FFC000"/>
                </a:solidFill>
              </a:rPr>
              <a:t>Refus en lecture</a:t>
            </a:r>
          </a:p>
        </p:txBody>
      </p:sp>
      <p:sp>
        <p:nvSpPr>
          <p:cNvPr id="30" name="Rectangle 29"/>
          <p:cNvSpPr/>
          <p:nvPr/>
        </p:nvSpPr>
        <p:spPr>
          <a:xfrm>
            <a:off x="5584210" y="4483136"/>
            <a:ext cx="3343700" cy="955646"/>
          </a:xfrm>
          <a:prstGeom prst="rect">
            <a:avLst/>
          </a:prstGeom>
          <a:solidFill>
            <a:srgbClr val="D5D69C"/>
          </a:solidFill>
        </p:spPr>
        <p:style>
          <a:lnRef idx="2">
            <a:schemeClr val="dk1"/>
          </a:lnRef>
          <a:fillRef idx="1">
            <a:schemeClr val="lt1"/>
          </a:fillRef>
          <a:effectRef idx="0">
            <a:schemeClr val="dk1"/>
          </a:effectRef>
          <a:fontRef idx="minor">
            <a:schemeClr val="dk1"/>
          </a:fontRef>
        </p:style>
        <p:txBody>
          <a:bodyPr wrap="square">
            <a:spAutoFit/>
          </a:bodyPr>
          <a:lstStyle/>
          <a:p>
            <a:r>
              <a:rPr lang="fr-FR" sz="2200" b="0" dirty="0">
                <a:solidFill>
                  <a:schemeClr val="tx2"/>
                </a:solidFill>
              </a:rPr>
              <a:t>Autorisation effective </a:t>
            </a:r>
          </a:p>
          <a:p>
            <a:r>
              <a:rPr lang="fr-FR" sz="2200" b="0" dirty="0">
                <a:solidFill>
                  <a:schemeClr val="tx2"/>
                </a:solidFill>
              </a:rPr>
              <a:t>=</a:t>
            </a:r>
          </a:p>
          <a:p>
            <a:r>
              <a:rPr lang="fr-FR" sz="2200" dirty="0">
                <a:solidFill>
                  <a:schemeClr val="tx2"/>
                </a:solidFill>
              </a:rPr>
              <a:t>Modification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1000"/>
                                        <p:tgtEl>
                                          <p:spTgt spid="8"/>
                                        </p:tgtEl>
                                      </p:cBhvr>
                                    </p:animEffect>
                                  </p:childTnLst>
                                </p:cTn>
                              </p:par>
                              <p:par>
                                <p:cTn id="16" presetID="5"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1000"/>
                                        <p:tgtEl>
                                          <p:spTgt spid="7"/>
                                        </p:tgtEl>
                                      </p:cBhvr>
                                    </p:animEffect>
                                  </p:childTnLst>
                                </p:cTn>
                              </p:par>
                              <p:par>
                                <p:cTn id="19" presetID="5" presetClass="entr" presetSubtype="1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checkerboard(across)">
                                      <p:cBhvr>
                                        <p:cTn id="21" dur="1000"/>
                                        <p:tgtEl>
                                          <p:spTgt spid="2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heckerboard(across)">
                                      <p:cBhvr>
                                        <p:cTn id="24" dur="1000"/>
                                        <p:tgtEl>
                                          <p:spTgt spid="11"/>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1000"/>
                                        <p:tgtEl>
                                          <p:spTgt spid="10"/>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checkerboard(across)">
                                      <p:cBhvr>
                                        <p:cTn id="30" dur="1000"/>
                                        <p:tgtEl>
                                          <p:spTgt spid="2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heckerboard(across)">
                                      <p:cBhvr>
                                        <p:cTn id="33" dur="1000"/>
                                        <p:tgtEl>
                                          <p:spTgt spid="12"/>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heckerboard(across)">
                                      <p:cBhvr>
                                        <p:cTn id="36" dur="1000"/>
                                        <p:tgtEl>
                                          <p:spTgt spid="13"/>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checkerboard(across)">
                                      <p:cBhvr>
                                        <p:cTn id="39" dur="10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checkerboard(across)">
                                      <p:cBhvr>
                                        <p:cTn id="44" dur="1000"/>
                                        <p:tgtEl>
                                          <p:spTgt spid="9"/>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checkerboard(across)">
                                      <p:cBhvr>
                                        <p:cTn id="47" dur="1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checkerboard(across)">
                                      <p:cBhvr>
                                        <p:cTn id="52" dur="1000"/>
                                        <p:tgtEl>
                                          <p:spTgt spid="16"/>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checkerboard(across)">
                                      <p:cBhvr>
                                        <p:cTn id="55" dur="1000"/>
                                        <p:tgtEl>
                                          <p:spTgt spid="17"/>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checkerboard(across)">
                                      <p:cBhvr>
                                        <p:cTn id="58" dur="1000"/>
                                        <p:tgtEl>
                                          <p:spTgt spid="27"/>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checkerboard(across)">
                                      <p:cBhvr>
                                        <p:cTn id="61" dur="1000"/>
                                        <p:tgtEl>
                                          <p:spTgt spid="25"/>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checkerboard(across)">
                                      <p:cBhvr>
                                        <p:cTn id="64" dur="1000"/>
                                        <p:tgtEl>
                                          <p:spTgt spid="26"/>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checkerboard(across)">
                                      <p:cBhvr>
                                        <p:cTn id="67" dur="1000"/>
                                        <p:tgtEl>
                                          <p:spTgt spid="18"/>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checkerboard(across)">
                                      <p:cBhvr>
                                        <p:cTn id="70" dur="1000"/>
                                        <p:tgtEl>
                                          <p:spTgt spid="19"/>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checkerboard(across)">
                                      <p:cBhvr>
                                        <p:cTn id="73" dur="10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5" presetClass="entr" presetSubtype="1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checkerboard(across)">
                                      <p:cBhvr>
                                        <p:cTn id="78" dur="1000"/>
                                        <p:tgtEl>
                                          <p:spTgt spid="20"/>
                                        </p:tgtEl>
                                      </p:cBhvr>
                                    </p:animEffect>
                                  </p:childTnLst>
                                </p:cTn>
                              </p:par>
                              <p:par>
                                <p:cTn id="79" presetID="5" presetClass="entr" presetSubtype="1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checkerboard(across)">
                                      <p:cBhvr>
                                        <p:cTn id="81" dur="1000"/>
                                        <p:tgtEl>
                                          <p:spTgt spid="21"/>
                                        </p:tgtEl>
                                      </p:cBhvr>
                                    </p:animEffect>
                                  </p:childTnLst>
                                </p:cTn>
                              </p:par>
                            </p:childTnLst>
                          </p:cTn>
                        </p:par>
                      </p:childTnLst>
                    </p:cTn>
                  </p:par>
                  <p:par>
                    <p:cTn id="82" fill="hold">
                      <p:stCondLst>
                        <p:cond delay="indefinite"/>
                      </p:stCondLst>
                      <p:childTnLst>
                        <p:par>
                          <p:cTn id="83" fill="hold">
                            <p:stCondLst>
                              <p:cond delay="0"/>
                            </p:stCondLst>
                            <p:childTnLst>
                              <p:par>
                                <p:cTn id="84" presetID="5" presetClass="entr" presetSubtype="10" fill="hold" grpId="0"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checkerboard(across)">
                                      <p:cBhvr>
                                        <p:cTn id="86" dur="1000"/>
                                        <p:tgtEl>
                                          <p:spTgt spid="29"/>
                                        </p:tgtEl>
                                      </p:cBhvr>
                                    </p:animEffect>
                                  </p:childTnLst>
                                </p:cTn>
                              </p:par>
                            </p:childTnLst>
                          </p:cTn>
                        </p:par>
                      </p:childTnLst>
                    </p:cTn>
                  </p:par>
                  <p:par>
                    <p:cTn id="87" fill="hold">
                      <p:stCondLst>
                        <p:cond delay="indefinite"/>
                      </p:stCondLst>
                      <p:childTnLst>
                        <p:par>
                          <p:cTn id="88" fill="hold">
                            <p:stCondLst>
                              <p:cond delay="0"/>
                            </p:stCondLst>
                            <p:childTnLst>
                              <p:par>
                                <p:cTn id="89" presetID="5" presetClass="entr" presetSubtype="1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checkerboard(across)">
                                      <p:cBhvr>
                                        <p:cTn id="9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1" grpId="0" animBg="1"/>
      <p:bldP spid="12" grpId="0"/>
      <p:bldP spid="13" grpId="0"/>
      <p:bldP spid="14" grpId="0"/>
      <p:bldP spid="16" grpId="0" animBg="1"/>
      <p:bldP spid="17" grpId="0" animBg="1"/>
      <p:bldP spid="18" grpId="0"/>
      <p:bldP spid="19" grpId="0"/>
      <p:bldP spid="20" grpId="0" animBg="1"/>
      <p:bldP spid="21" grpId="0" animBg="1"/>
      <p:bldP spid="23" grpId="0"/>
      <p:bldP spid="24" grpId="0" animBg="1"/>
      <p:bldP spid="25" grpId="0" animBg="1"/>
      <p:bldP spid="26" grpId="0"/>
      <p:bldP spid="27" grpId="0" animBg="1"/>
      <p:bldP spid="28" grpId="0"/>
      <p:bldP spid="29" grpId="0" animBg="1"/>
      <p:bldP spid="3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C00000"/>
                </a:solidFill>
              </a:rPr>
              <a:t>Exercices</a:t>
            </a:r>
          </a:p>
        </p:txBody>
      </p:sp>
      <p:pic>
        <p:nvPicPr>
          <p:cNvPr id="5" name="Picture-75" descr="User_UserE01"/>
          <p:cNvPicPr>
            <a:picLocks noChangeAspect="1" noChangeArrowheads="1"/>
          </p:cNvPicPr>
          <p:nvPr/>
        </p:nvPicPr>
        <p:blipFill>
          <a:blip r:embed="rId2" cstate="print"/>
          <a:srcRect/>
          <a:stretch>
            <a:fillRect/>
          </a:stretch>
        </p:blipFill>
        <p:spPr bwMode="auto">
          <a:xfrm>
            <a:off x="245664" y="3284994"/>
            <a:ext cx="474974" cy="1079582"/>
          </a:xfrm>
          <a:prstGeom prst="rect">
            <a:avLst/>
          </a:prstGeom>
          <a:noFill/>
        </p:spPr>
      </p:pic>
      <p:sp>
        <p:nvSpPr>
          <p:cNvPr id="6" name="ZoneTexte 5"/>
          <p:cNvSpPr txBox="1"/>
          <p:nvPr/>
        </p:nvSpPr>
        <p:spPr>
          <a:xfrm>
            <a:off x="0" y="4694829"/>
            <a:ext cx="1064523" cy="380104"/>
          </a:xfrm>
          <a:prstGeom prst="rect">
            <a:avLst/>
          </a:prstGeom>
          <a:noFill/>
        </p:spPr>
        <p:txBody>
          <a:bodyPr wrap="square" rtlCol="0">
            <a:spAutoFit/>
          </a:bodyPr>
          <a:lstStyle/>
          <a:p>
            <a:r>
              <a:rPr lang="fr-FR" sz="2200" dirty="0"/>
              <a:t>Hicham</a:t>
            </a:r>
          </a:p>
        </p:txBody>
      </p:sp>
      <p:pic>
        <p:nvPicPr>
          <p:cNvPr id="7" name="Picture-69" descr="Collection_Group01"/>
          <p:cNvPicPr>
            <a:picLocks noChangeAspect="1" noChangeArrowheads="1"/>
          </p:cNvPicPr>
          <p:nvPr/>
        </p:nvPicPr>
        <p:blipFill>
          <a:blip r:embed="rId3" cstate="print"/>
          <a:srcRect/>
          <a:stretch>
            <a:fillRect/>
          </a:stretch>
        </p:blipFill>
        <p:spPr bwMode="auto">
          <a:xfrm>
            <a:off x="1397516" y="1446663"/>
            <a:ext cx="995243" cy="720000"/>
          </a:xfrm>
          <a:prstGeom prst="rect">
            <a:avLst/>
          </a:prstGeom>
          <a:noFill/>
        </p:spPr>
      </p:pic>
      <p:pic>
        <p:nvPicPr>
          <p:cNvPr id="8" name="Picture-69" descr="Collection_Group01"/>
          <p:cNvPicPr>
            <a:picLocks noChangeAspect="1" noChangeArrowheads="1"/>
          </p:cNvPicPr>
          <p:nvPr/>
        </p:nvPicPr>
        <p:blipFill>
          <a:blip r:embed="rId3" cstate="print"/>
          <a:srcRect/>
          <a:stretch>
            <a:fillRect/>
          </a:stretch>
        </p:blipFill>
        <p:spPr bwMode="auto">
          <a:xfrm>
            <a:off x="1397516" y="2670737"/>
            <a:ext cx="995244" cy="720000"/>
          </a:xfrm>
          <a:prstGeom prst="rect">
            <a:avLst/>
          </a:prstGeom>
          <a:noFill/>
        </p:spPr>
      </p:pic>
      <p:pic>
        <p:nvPicPr>
          <p:cNvPr id="9" name="Picture-94" descr="Document_Document01"/>
          <p:cNvPicPr>
            <a:picLocks noChangeAspect="1" noChangeArrowheads="1"/>
          </p:cNvPicPr>
          <p:nvPr/>
        </p:nvPicPr>
        <p:blipFill>
          <a:blip r:embed="rId4" cstate="print"/>
          <a:srcRect/>
          <a:stretch>
            <a:fillRect/>
          </a:stretch>
        </p:blipFill>
        <p:spPr bwMode="auto">
          <a:xfrm>
            <a:off x="4667513" y="3625287"/>
            <a:ext cx="496888" cy="806450"/>
          </a:xfrm>
          <a:prstGeom prst="rect">
            <a:avLst/>
          </a:prstGeom>
          <a:noFill/>
        </p:spPr>
      </p:pic>
      <p:sp>
        <p:nvSpPr>
          <p:cNvPr id="10" name="Line-37"/>
          <p:cNvSpPr>
            <a:spLocks noChangeShapeType="1"/>
          </p:cNvSpPr>
          <p:nvPr/>
        </p:nvSpPr>
        <p:spPr bwMode="auto">
          <a:xfrm flipV="1">
            <a:off x="586854" y="2115402"/>
            <a:ext cx="1050877" cy="1214651"/>
          </a:xfrm>
          <a:prstGeom prst="line">
            <a:avLst/>
          </a:prstGeom>
          <a:noFill/>
          <a:ln w="57150">
            <a:solidFill>
              <a:srgbClr val="CC0000"/>
            </a:solidFill>
            <a:round/>
            <a:headEnd/>
            <a:tailEnd type="triangle" w="med" len="med"/>
          </a:ln>
          <a:effectLst/>
        </p:spPr>
        <p:txBody>
          <a:bodyPr anchor="ctr"/>
          <a:lstStyle/>
          <a:p>
            <a:endParaRPr lang="fr-FR"/>
          </a:p>
        </p:txBody>
      </p:sp>
      <p:sp>
        <p:nvSpPr>
          <p:cNvPr id="11" name="Line-37"/>
          <p:cNvSpPr>
            <a:spLocks noChangeShapeType="1"/>
          </p:cNvSpPr>
          <p:nvPr/>
        </p:nvSpPr>
        <p:spPr bwMode="auto">
          <a:xfrm flipV="1">
            <a:off x="545911" y="3193577"/>
            <a:ext cx="846162" cy="177420"/>
          </a:xfrm>
          <a:prstGeom prst="line">
            <a:avLst/>
          </a:prstGeom>
          <a:noFill/>
          <a:ln w="57150">
            <a:solidFill>
              <a:srgbClr val="CC0000"/>
            </a:solidFill>
            <a:round/>
            <a:headEnd/>
            <a:tailEnd type="triangle" w="med" len="med"/>
          </a:ln>
          <a:effectLst/>
        </p:spPr>
        <p:txBody>
          <a:bodyPr anchor="ctr"/>
          <a:lstStyle/>
          <a:p>
            <a:endParaRPr lang="fr-FR"/>
          </a:p>
        </p:txBody>
      </p:sp>
      <p:sp>
        <p:nvSpPr>
          <p:cNvPr id="12" name="ZoneTexte 11"/>
          <p:cNvSpPr txBox="1"/>
          <p:nvPr/>
        </p:nvSpPr>
        <p:spPr>
          <a:xfrm>
            <a:off x="1053151" y="3359626"/>
            <a:ext cx="1949357" cy="563231"/>
          </a:xfrm>
          <a:prstGeom prst="rect">
            <a:avLst/>
          </a:prstGeom>
          <a:noFill/>
        </p:spPr>
        <p:txBody>
          <a:bodyPr wrap="square" rtlCol="0">
            <a:spAutoFit/>
          </a:bodyPr>
          <a:lstStyle/>
          <a:p>
            <a:r>
              <a:rPr lang="fr-FR" sz="1800" dirty="0"/>
              <a:t>G. Recherche et Développement</a:t>
            </a:r>
          </a:p>
        </p:txBody>
      </p:sp>
      <p:sp>
        <p:nvSpPr>
          <p:cNvPr id="13" name="ZoneTexte 12"/>
          <p:cNvSpPr txBox="1"/>
          <p:nvPr/>
        </p:nvSpPr>
        <p:spPr>
          <a:xfrm>
            <a:off x="1191897" y="2174544"/>
            <a:ext cx="1373877" cy="563231"/>
          </a:xfrm>
          <a:prstGeom prst="rect">
            <a:avLst/>
          </a:prstGeom>
          <a:noFill/>
        </p:spPr>
        <p:txBody>
          <a:bodyPr wrap="square" rtlCol="0">
            <a:spAutoFit/>
          </a:bodyPr>
          <a:lstStyle/>
          <a:p>
            <a:r>
              <a:rPr lang="fr-FR" sz="1800" dirty="0"/>
              <a:t>Groupe Marketing</a:t>
            </a:r>
          </a:p>
        </p:txBody>
      </p:sp>
      <p:sp>
        <p:nvSpPr>
          <p:cNvPr id="14" name="ZoneTexte 13"/>
          <p:cNvSpPr txBox="1"/>
          <p:nvPr/>
        </p:nvSpPr>
        <p:spPr>
          <a:xfrm>
            <a:off x="4519676" y="4424154"/>
            <a:ext cx="994019" cy="667875"/>
          </a:xfrm>
          <a:prstGeom prst="rect">
            <a:avLst/>
          </a:prstGeom>
          <a:noFill/>
        </p:spPr>
        <p:txBody>
          <a:bodyPr wrap="square" rtlCol="0">
            <a:spAutoFit/>
          </a:bodyPr>
          <a:lstStyle/>
          <a:p>
            <a:r>
              <a:rPr lang="fr-FR" sz="2200" dirty="0"/>
              <a:t>Fichier.doc</a:t>
            </a:r>
          </a:p>
        </p:txBody>
      </p:sp>
      <p:sp>
        <p:nvSpPr>
          <p:cNvPr id="16" name="Line-37"/>
          <p:cNvSpPr>
            <a:spLocks noChangeShapeType="1"/>
          </p:cNvSpPr>
          <p:nvPr/>
        </p:nvSpPr>
        <p:spPr bwMode="auto">
          <a:xfrm>
            <a:off x="2347416" y="2088107"/>
            <a:ext cx="2142698" cy="1514902"/>
          </a:xfrm>
          <a:prstGeom prst="line">
            <a:avLst/>
          </a:prstGeom>
          <a:noFill/>
          <a:ln w="57150">
            <a:solidFill>
              <a:srgbClr val="7030A0"/>
            </a:solidFill>
            <a:round/>
            <a:headEnd/>
            <a:tailEnd type="triangle" w="med" len="med"/>
          </a:ln>
          <a:effectLst/>
        </p:spPr>
        <p:txBody>
          <a:bodyPr anchor="ctr"/>
          <a:lstStyle/>
          <a:p>
            <a:endParaRPr lang="fr-FR"/>
          </a:p>
        </p:txBody>
      </p:sp>
      <p:sp>
        <p:nvSpPr>
          <p:cNvPr id="17" name="Line-37"/>
          <p:cNvSpPr>
            <a:spLocks noChangeShapeType="1"/>
          </p:cNvSpPr>
          <p:nvPr/>
        </p:nvSpPr>
        <p:spPr bwMode="auto">
          <a:xfrm>
            <a:off x="2402007" y="3125337"/>
            <a:ext cx="2197290" cy="682388"/>
          </a:xfrm>
          <a:prstGeom prst="line">
            <a:avLst/>
          </a:prstGeom>
          <a:noFill/>
          <a:ln w="57150">
            <a:solidFill>
              <a:srgbClr val="00B050"/>
            </a:solidFill>
            <a:round/>
            <a:headEnd/>
            <a:tailEnd type="triangle" w="med" len="med"/>
          </a:ln>
          <a:effectLst/>
        </p:spPr>
        <p:txBody>
          <a:bodyPr anchor="ctr"/>
          <a:lstStyle/>
          <a:p>
            <a:endParaRPr lang="fr-FR"/>
          </a:p>
        </p:txBody>
      </p:sp>
      <p:sp>
        <p:nvSpPr>
          <p:cNvPr id="18" name="ZoneTexte 17"/>
          <p:cNvSpPr txBox="1"/>
          <p:nvPr/>
        </p:nvSpPr>
        <p:spPr>
          <a:xfrm rot="1171147">
            <a:off x="2047163" y="3166281"/>
            <a:ext cx="2825087" cy="275460"/>
          </a:xfrm>
          <a:prstGeom prst="rect">
            <a:avLst/>
          </a:prstGeom>
          <a:noFill/>
        </p:spPr>
        <p:txBody>
          <a:bodyPr wrap="square" rtlCol="0">
            <a:spAutoFit/>
          </a:bodyPr>
          <a:lstStyle/>
          <a:p>
            <a:r>
              <a:rPr lang="fr-FR" dirty="0"/>
              <a:t>A. NTFS: Lecture</a:t>
            </a:r>
          </a:p>
        </p:txBody>
      </p:sp>
      <p:sp>
        <p:nvSpPr>
          <p:cNvPr id="19" name="ZoneTexte 18"/>
          <p:cNvSpPr txBox="1"/>
          <p:nvPr/>
        </p:nvSpPr>
        <p:spPr>
          <a:xfrm rot="2031815">
            <a:off x="2076730" y="2581696"/>
            <a:ext cx="2825087" cy="275460"/>
          </a:xfrm>
          <a:prstGeom prst="rect">
            <a:avLst/>
          </a:prstGeom>
          <a:noFill/>
        </p:spPr>
        <p:txBody>
          <a:bodyPr wrap="square" rtlCol="0">
            <a:spAutoFit/>
          </a:bodyPr>
          <a:lstStyle/>
          <a:p>
            <a:r>
              <a:rPr lang="fr-FR" dirty="0"/>
              <a:t>A. NTFS héritée: Refuser en lecture</a:t>
            </a:r>
          </a:p>
        </p:txBody>
      </p:sp>
      <p:sp>
        <p:nvSpPr>
          <p:cNvPr id="20" name="Flèche droite 19"/>
          <p:cNvSpPr/>
          <p:nvPr/>
        </p:nvSpPr>
        <p:spPr>
          <a:xfrm>
            <a:off x="5104261" y="3916912"/>
            <a:ext cx="545909" cy="409433"/>
          </a:xfrm>
          <a:prstGeom prst="rightArrow">
            <a:avLst/>
          </a:prstGeom>
          <a:solidFill>
            <a:srgbClr val="C0000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5240741" y="1282888"/>
            <a:ext cx="3725838" cy="126957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1800" b="0" dirty="0"/>
              <a:t>Autorisation NTFS</a:t>
            </a:r>
          </a:p>
          <a:p>
            <a:r>
              <a:rPr lang="fr-FR" sz="1800" b="0" dirty="0"/>
              <a:t>= </a:t>
            </a:r>
          </a:p>
          <a:p>
            <a:r>
              <a:rPr lang="fr-FR" sz="1800" b="0" dirty="0"/>
              <a:t>Modification </a:t>
            </a:r>
            <a:r>
              <a:rPr lang="fr-FR" sz="1800" dirty="0">
                <a:solidFill>
                  <a:srgbClr val="C00000"/>
                </a:solidFill>
              </a:rPr>
              <a:t>+</a:t>
            </a:r>
            <a:r>
              <a:rPr lang="fr-FR" sz="1800" b="0" dirty="0"/>
              <a:t> Lecture </a:t>
            </a:r>
            <a:r>
              <a:rPr lang="fr-FR" sz="1800" dirty="0">
                <a:solidFill>
                  <a:srgbClr val="C00000"/>
                </a:solidFill>
              </a:rPr>
              <a:t>+ </a:t>
            </a:r>
            <a:r>
              <a:rPr lang="fr-FR" sz="1800" b="0" dirty="0">
                <a:solidFill>
                  <a:schemeClr val="tx1"/>
                </a:solidFill>
              </a:rPr>
              <a:t>R. en CT </a:t>
            </a:r>
          </a:p>
          <a:p>
            <a:r>
              <a:rPr lang="fr-FR" sz="1800" b="0" dirty="0"/>
              <a:t>=  </a:t>
            </a:r>
          </a:p>
          <a:p>
            <a:r>
              <a:rPr lang="fr-FR" sz="1800" dirty="0">
                <a:solidFill>
                  <a:srgbClr val="C00000"/>
                </a:solidFill>
              </a:rPr>
              <a:t>Refuser en CT</a:t>
            </a:r>
            <a:endParaRPr lang="fr-FR" sz="1800" dirty="0">
              <a:solidFill>
                <a:schemeClr val="tx1"/>
              </a:solidFill>
            </a:endParaRPr>
          </a:p>
        </p:txBody>
      </p:sp>
      <p:pic>
        <p:nvPicPr>
          <p:cNvPr id="22" name="Picture-69" descr="Collection_Group01"/>
          <p:cNvPicPr>
            <a:picLocks noChangeAspect="1" noChangeArrowheads="1"/>
          </p:cNvPicPr>
          <p:nvPr/>
        </p:nvPicPr>
        <p:blipFill>
          <a:blip r:embed="rId3" cstate="print"/>
          <a:srcRect/>
          <a:stretch>
            <a:fillRect/>
          </a:stretch>
        </p:blipFill>
        <p:spPr bwMode="auto">
          <a:xfrm>
            <a:off x="1506698" y="5646822"/>
            <a:ext cx="995244" cy="720000"/>
          </a:xfrm>
          <a:prstGeom prst="rect">
            <a:avLst/>
          </a:prstGeom>
          <a:noFill/>
        </p:spPr>
      </p:pic>
      <p:sp>
        <p:nvSpPr>
          <p:cNvPr id="23" name="ZoneTexte 22"/>
          <p:cNvSpPr txBox="1"/>
          <p:nvPr/>
        </p:nvSpPr>
        <p:spPr>
          <a:xfrm>
            <a:off x="1262411" y="5412215"/>
            <a:ext cx="1508084" cy="327782"/>
          </a:xfrm>
          <a:prstGeom prst="rect">
            <a:avLst/>
          </a:prstGeom>
          <a:noFill/>
        </p:spPr>
        <p:txBody>
          <a:bodyPr wrap="square" rtlCol="0">
            <a:spAutoFit/>
          </a:bodyPr>
          <a:lstStyle/>
          <a:p>
            <a:r>
              <a:rPr lang="fr-FR" sz="1800" dirty="0"/>
              <a:t>Groupe Vente</a:t>
            </a:r>
          </a:p>
        </p:txBody>
      </p:sp>
      <p:sp>
        <p:nvSpPr>
          <p:cNvPr id="24" name="Line-37"/>
          <p:cNvSpPr>
            <a:spLocks noChangeShapeType="1"/>
          </p:cNvSpPr>
          <p:nvPr/>
        </p:nvSpPr>
        <p:spPr bwMode="auto">
          <a:xfrm>
            <a:off x="627797" y="4148920"/>
            <a:ext cx="887104" cy="1037230"/>
          </a:xfrm>
          <a:prstGeom prst="line">
            <a:avLst/>
          </a:prstGeom>
          <a:noFill/>
          <a:ln w="57150">
            <a:solidFill>
              <a:srgbClr val="CC0000"/>
            </a:solidFill>
            <a:round/>
            <a:headEnd/>
            <a:tailEnd type="triangle" w="med" len="med"/>
          </a:ln>
          <a:effectLst/>
        </p:spPr>
        <p:txBody>
          <a:bodyPr anchor="ctr"/>
          <a:lstStyle/>
          <a:p>
            <a:endParaRPr lang="fr-FR"/>
          </a:p>
        </p:txBody>
      </p:sp>
      <p:sp>
        <p:nvSpPr>
          <p:cNvPr id="25" name="Line-37"/>
          <p:cNvSpPr>
            <a:spLocks noChangeShapeType="1"/>
          </p:cNvSpPr>
          <p:nvPr/>
        </p:nvSpPr>
        <p:spPr bwMode="auto">
          <a:xfrm>
            <a:off x="641444" y="3957850"/>
            <a:ext cx="4039737" cy="54592"/>
          </a:xfrm>
          <a:prstGeom prst="line">
            <a:avLst/>
          </a:prstGeom>
          <a:noFill/>
          <a:ln w="57150">
            <a:solidFill>
              <a:srgbClr val="00B050"/>
            </a:solidFill>
            <a:round/>
            <a:headEnd/>
            <a:tailEnd type="triangle" w="med" len="med"/>
          </a:ln>
          <a:effectLst/>
        </p:spPr>
        <p:txBody>
          <a:bodyPr anchor="ctr"/>
          <a:lstStyle/>
          <a:p>
            <a:endParaRPr lang="fr-FR"/>
          </a:p>
        </p:txBody>
      </p:sp>
      <p:sp>
        <p:nvSpPr>
          <p:cNvPr id="26" name="ZoneTexte 25"/>
          <p:cNvSpPr txBox="1"/>
          <p:nvPr/>
        </p:nvSpPr>
        <p:spPr>
          <a:xfrm>
            <a:off x="658433" y="3975414"/>
            <a:ext cx="2828221" cy="275460"/>
          </a:xfrm>
          <a:prstGeom prst="rect">
            <a:avLst/>
          </a:prstGeom>
          <a:noFill/>
        </p:spPr>
        <p:txBody>
          <a:bodyPr wrap="square" rtlCol="0">
            <a:spAutoFit/>
          </a:bodyPr>
          <a:lstStyle/>
          <a:p>
            <a:r>
              <a:rPr lang="fr-FR" dirty="0"/>
              <a:t>A. NTFS: Modification</a:t>
            </a:r>
          </a:p>
        </p:txBody>
      </p:sp>
      <p:sp>
        <p:nvSpPr>
          <p:cNvPr id="27" name="Line-37"/>
          <p:cNvSpPr>
            <a:spLocks noChangeShapeType="1"/>
          </p:cNvSpPr>
          <p:nvPr/>
        </p:nvSpPr>
        <p:spPr bwMode="auto">
          <a:xfrm flipV="1">
            <a:off x="2497540" y="4148917"/>
            <a:ext cx="2129052" cy="1992575"/>
          </a:xfrm>
          <a:prstGeom prst="line">
            <a:avLst/>
          </a:prstGeom>
          <a:noFill/>
          <a:ln w="57150">
            <a:solidFill>
              <a:srgbClr val="7030A0"/>
            </a:solidFill>
            <a:round/>
            <a:headEnd/>
            <a:tailEnd type="triangle" w="med" len="med"/>
          </a:ln>
          <a:effectLst/>
        </p:spPr>
        <p:txBody>
          <a:bodyPr anchor="ctr"/>
          <a:lstStyle/>
          <a:p>
            <a:endParaRPr lang="fr-FR"/>
          </a:p>
        </p:txBody>
      </p:sp>
      <p:sp>
        <p:nvSpPr>
          <p:cNvPr id="28" name="ZoneTexte 27"/>
          <p:cNvSpPr txBox="1"/>
          <p:nvPr/>
        </p:nvSpPr>
        <p:spPr>
          <a:xfrm rot="18968050">
            <a:off x="2392908" y="5026923"/>
            <a:ext cx="2825087" cy="275460"/>
          </a:xfrm>
          <a:prstGeom prst="rect">
            <a:avLst/>
          </a:prstGeom>
          <a:noFill/>
        </p:spPr>
        <p:txBody>
          <a:bodyPr wrap="square" rtlCol="0">
            <a:spAutoFit/>
          </a:bodyPr>
          <a:lstStyle/>
          <a:p>
            <a:r>
              <a:rPr lang="fr-FR" dirty="0"/>
              <a:t>A. NTFS héritée: Ecriture</a:t>
            </a:r>
          </a:p>
        </p:txBody>
      </p:sp>
      <p:sp>
        <p:nvSpPr>
          <p:cNvPr id="29" name="Rectangle 28"/>
          <p:cNvSpPr/>
          <p:nvPr/>
        </p:nvSpPr>
        <p:spPr>
          <a:xfrm>
            <a:off x="5595582" y="2624762"/>
            <a:ext cx="3357349" cy="1269578"/>
          </a:xfrm>
          <a:prstGeom prst="rect">
            <a:avLst/>
          </a:prstGeom>
          <a:solidFill>
            <a:srgbClr val="7030A0"/>
          </a:solidFill>
        </p:spPr>
        <p:style>
          <a:lnRef idx="2">
            <a:schemeClr val="dk1"/>
          </a:lnRef>
          <a:fillRef idx="1">
            <a:schemeClr val="lt1"/>
          </a:fillRef>
          <a:effectRef idx="0">
            <a:schemeClr val="dk1"/>
          </a:effectRef>
          <a:fontRef idx="minor">
            <a:schemeClr val="dk1"/>
          </a:fontRef>
        </p:style>
        <p:txBody>
          <a:bodyPr wrap="square">
            <a:spAutoFit/>
          </a:bodyPr>
          <a:lstStyle/>
          <a:p>
            <a:r>
              <a:rPr lang="fr-FR" sz="1800" b="0" dirty="0">
                <a:solidFill>
                  <a:schemeClr val="bg2"/>
                </a:solidFill>
              </a:rPr>
              <a:t>Autorisation héritée </a:t>
            </a:r>
          </a:p>
          <a:p>
            <a:r>
              <a:rPr lang="fr-FR" sz="1800" b="0" dirty="0">
                <a:solidFill>
                  <a:schemeClr val="bg2"/>
                </a:solidFill>
              </a:rPr>
              <a:t>=</a:t>
            </a:r>
          </a:p>
          <a:p>
            <a:r>
              <a:rPr lang="fr-FR" sz="1800" b="0" dirty="0">
                <a:solidFill>
                  <a:schemeClr val="bg2"/>
                </a:solidFill>
              </a:rPr>
              <a:t>R. lecture  </a:t>
            </a:r>
            <a:r>
              <a:rPr lang="fr-FR" sz="1800" dirty="0">
                <a:solidFill>
                  <a:srgbClr val="FFC000"/>
                </a:solidFill>
              </a:rPr>
              <a:t>+</a:t>
            </a:r>
            <a:r>
              <a:rPr lang="fr-FR" sz="1800" b="0" dirty="0">
                <a:solidFill>
                  <a:schemeClr val="bg2"/>
                </a:solidFill>
              </a:rPr>
              <a:t> Ecriture</a:t>
            </a:r>
          </a:p>
          <a:p>
            <a:r>
              <a:rPr lang="fr-FR" sz="1800" b="0" dirty="0">
                <a:solidFill>
                  <a:schemeClr val="bg2"/>
                </a:solidFill>
              </a:rPr>
              <a:t>=</a:t>
            </a:r>
          </a:p>
          <a:p>
            <a:r>
              <a:rPr lang="fr-FR" sz="1800" dirty="0">
                <a:solidFill>
                  <a:srgbClr val="FFC000"/>
                </a:solidFill>
              </a:rPr>
              <a:t>R. Lecture</a:t>
            </a:r>
          </a:p>
        </p:txBody>
      </p:sp>
      <p:sp>
        <p:nvSpPr>
          <p:cNvPr id="30" name="Rectangle 29"/>
          <p:cNvSpPr/>
          <p:nvPr/>
        </p:nvSpPr>
        <p:spPr>
          <a:xfrm>
            <a:off x="5584210" y="4483136"/>
            <a:ext cx="3343700" cy="877163"/>
          </a:xfrm>
          <a:prstGeom prst="rect">
            <a:avLst/>
          </a:prstGeom>
          <a:solidFill>
            <a:srgbClr val="D5D69C"/>
          </a:solidFill>
        </p:spPr>
        <p:style>
          <a:lnRef idx="2">
            <a:schemeClr val="dk1"/>
          </a:lnRef>
          <a:fillRef idx="1">
            <a:schemeClr val="lt1"/>
          </a:fillRef>
          <a:effectRef idx="0">
            <a:schemeClr val="dk1"/>
          </a:effectRef>
          <a:fontRef idx="minor">
            <a:schemeClr val="dk1"/>
          </a:fontRef>
        </p:style>
        <p:txBody>
          <a:bodyPr wrap="square">
            <a:spAutoFit/>
          </a:bodyPr>
          <a:lstStyle/>
          <a:p>
            <a:r>
              <a:rPr lang="fr-FR" sz="2000" b="0" dirty="0">
                <a:solidFill>
                  <a:schemeClr val="tx2"/>
                </a:solidFill>
              </a:rPr>
              <a:t>Autorisation effective </a:t>
            </a:r>
          </a:p>
          <a:p>
            <a:r>
              <a:rPr lang="fr-FR" sz="2000" b="0" dirty="0">
                <a:solidFill>
                  <a:schemeClr val="tx2"/>
                </a:solidFill>
              </a:rPr>
              <a:t>=</a:t>
            </a:r>
          </a:p>
          <a:p>
            <a:r>
              <a:rPr lang="fr-FR" sz="2000" dirty="0">
                <a:solidFill>
                  <a:schemeClr val="tx2"/>
                </a:solidFill>
              </a:rPr>
              <a:t>Refuser en CT</a:t>
            </a:r>
          </a:p>
        </p:txBody>
      </p:sp>
      <p:pic>
        <p:nvPicPr>
          <p:cNvPr id="31" name="Picture-69" descr="Collection_Group01"/>
          <p:cNvPicPr>
            <a:picLocks noChangeAspect="1" noChangeArrowheads="1"/>
          </p:cNvPicPr>
          <p:nvPr/>
        </p:nvPicPr>
        <p:blipFill>
          <a:blip r:embed="rId3" cstate="print"/>
          <a:srcRect/>
          <a:stretch>
            <a:fillRect/>
          </a:stretch>
        </p:blipFill>
        <p:spPr bwMode="auto">
          <a:xfrm>
            <a:off x="1481677" y="4720191"/>
            <a:ext cx="995244" cy="720000"/>
          </a:xfrm>
          <a:prstGeom prst="rect">
            <a:avLst/>
          </a:prstGeom>
          <a:noFill/>
        </p:spPr>
      </p:pic>
      <p:sp>
        <p:nvSpPr>
          <p:cNvPr id="32" name="ZoneTexte 31"/>
          <p:cNvSpPr txBox="1"/>
          <p:nvPr/>
        </p:nvSpPr>
        <p:spPr>
          <a:xfrm>
            <a:off x="1276059" y="6326613"/>
            <a:ext cx="1508084" cy="563231"/>
          </a:xfrm>
          <a:prstGeom prst="rect">
            <a:avLst/>
          </a:prstGeom>
          <a:noFill/>
        </p:spPr>
        <p:txBody>
          <a:bodyPr wrap="square" rtlCol="0">
            <a:spAutoFit/>
          </a:bodyPr>
          <a:lstStyle/>
          <a:p>
            <a:r>
              <a:rPr lang="fr-FR" sz="1800" dirty="0"/>
              <a:t>G. Support informatique</a:t>
            </a:r>
          </a:p>
        </p:txBody>
      </p:sp>
      <p:sp>
        <p:nvSpPr>
          <p:cNvPr id="33" name="Line-37"/>
          <p:cNvSpPr>
            <a:spLocks noChangeShapeType="1"/>
          </p:cNvSpPr>
          <p:nvPr/>
        </p:nvSpPr>
        <p:spPr bwMode="auto">
          <a:xfrm>
            <a:off x="616424" y="4192137"/>
            <a:ext cx="884830" cy="1922060"/>
          </a:xfrm>
          <a:prstGeom prst="line">
            <a:avLst/>
          </a:prstGeom>
          <a:noFill/>
          <a:ln w="57150">
            <a:solidFill>
              <a:srgbClr val="CC0000"/>
            </a:solidFill>
            <a:round/>
            <a:headEnd/>
            <a:tailEnd type="triangle" w="med" len="med"/>
          </a:ln>
          <a:effectLst/>
        </p:spPr>
        <p:txBody>
          <a:bodyPr anchor="ctr"/>
          <a:lstStyle/>
          <a:p>
            <a:endParaRPr lang="fr-FR"/>
          </a:p>
        </p:txBody>
      </p:sp>
      <p:sp>
        <p:nvSpPr>
          <p:cNvPr id="34" name="Line-37"/>
          <p:cNvSpPr>
            <a:spLocks noChangeShapeType="1"/>
          </p:cNvSpPr>
          <p:nvPr/>
        </p:nvSpPr>
        <p:spPr bwMode="auto">
          <a:xfrm flipV="1">
            <a:off x="2429301" y="4107975"/>
            <a:ext cx="2129051" cy="1009933"/>
          </a:xfrm>
          <a:prstGeom prst="line">
            <a:avLst/>
          </a:prstGeom>
          <a:noFill/>
          <a:ln w="57150">
            <a:solidFill>
              <a:srgbClr val="00B050"/>
            </a:solidFill>
            <a:round/>
            <a:headEnd/>
            <a:tailEnd type="triangle" w="med" len="med"/>
          </a:ln>
          <a:effectLst/>
        </p:spPr>
        <p:txBody>
          <a:bodyPr anchor="ctr"/>
          <a:lstStyle/>
          <a:p>
            <a:endParaRPr lang="fr-FR"/>
          </a:p>
        </p:txBody>
      </p:sp>
      <p:sp>
        <p:nvSpPr>
          <p:cNvPr id="35" name="ZoneTexte 34"/>
          <p:cNvSpPr txBox="1"/>
          <p:nvPr/>
        </p:nvSpPr>
        <p:spPr>
          <a:xfrm rot="20123470">
            <a:off x="1751458" y="4440065"/>
            <a:ext cx="2825087" cy="275460"/>
          </a:xfrm>
          <a:prstGeom prst="rect">
            <a:avLst/>
          </a:prstGeom>
          <a:noFill/>
        </p:spPr>
        <p:txBody>
          <a:bodyPr wrap="square" rtlCol="0">
            <a:spAutoFit/>
          </a:bodyPr>
          <a:lstStyle/>
          <a:p>
            <a:r>
              <a:rPr lang="fr-FR" dirty="0"/>
              <a:t>A. NTFS: Refuser en 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1000"/>
                                        <p:tgtEl>
                                          <p:spTgt spid="8"/>
                                        </p:tgtEl>
                                      </p:cBhvr>
                                    </p:animEffect>
                                  </p:childTnLst>
                                </p:cTn>
                              </p:par>
                              <p:par>
                                <p:cTn id="16" presetID="5"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1000"/>
                                        <p:tgtEl>
                                          <p:spTgt spid="7"/>
                                        </p:tgtEl>
                                      </p:cBhvr>
                                    </p:animEffect>
                                  </p:childTnLst>
                                </p:cTn>
                              </p:par>
                              <p:par>
                                <p:cTn id="19" presetID="5" presetClass="entr" presetSubtype="1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checkerboard(across)">
                                      <p:cBhvr>
                                        <p:cTn id="21" dur="1000"/>
                                        <p:tgtEl>
                                          <p:spTgt spid="2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heckerboard(across)">
                                      <p:cBhvr>
                                        <p:cTn id="24" dur="1000"/>
                                        <p:tgtEl>
                                          <p:spTgt spid="11"/>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1000"/>
                                        <p:tgtEl>
                                          <p:spTgt spid="10"/>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checkerboard(across)">
                                      <p:cBhvr>
                                        <p:cTn id="30" dur="1000"/>
                                        <p:tgtEl>
                                          <p:spTgt spid="2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heckerboard(across)">
                                      <p:cBhvr>
                                        <p:cTn id="33" dur="1000"/>
                                        <p:tgtEl>
                                          <p:spTgt spid="12"/>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heckerboard(across)">
                                      <p:cBhvr>
                                        <p:cTn id="36" dur="1000"/>
                                        <p:tgtEl>
                                          <p:spTgt spid="13"/>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checkerboard(across)">
                                      <p:cBhvr>
                                        <p:cTn id="39" dur="1000"/>
                                        <p:tgtEl>
                                          <p:spTgt spid="23"/>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checkerboard(across)">
                                      <p:cBhvr>
                                        <p:cTn id="42" dur="1000"/>
                                        <p:tgtEl>
                                          <p:spTgt spid="33"/>
                                        </p:tgtEl>
                                      </p:cBhvr>
                                    </p:animEffect>
                                  </p:childTnLst>
                                </p:cTn>
                              </p:par>
                              <p:par>
                                <p:cTn id="43" presetID="5" presetClass="entr" presetSubtype="1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checkerboard(across)">
                                      <p:cBhvr>
                                        <p:cTn id="45" dur="1000"/>
                                        <p:tgtEl>
                                          <p:spTgt spid="31"/>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checkerboard(across)">
                                      <p:cBhvr>
                                        <p:cTn id="48" dur="10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checkerboard(across)">
                                      <p:cBhvr>
                                        <p:cTn id="53" dur="1000"/>
                                        <p:tgtEl>
                                          <p:spTgt spid="9"/>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checkerboard(across)">
                                      <p:cBhvr>
                                        <p:cTn id="56" dur="10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checkerboard(across)">
                                      <p:cBhvr>
                                        <p:cTn id="61" dur="1000"/>
                                        <p:tgtEl>
                                          <p:spTgt spid="16"/>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checkerboard(across)">
                                      <p:cBhvr>
                                        <p:cTn id="64" dur="1000"/>
                                        <p:tgtEl>
                                          <p:spTgt spid="17"/>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checkerboard(across)">
                                      <p:cBhvr>
                                        <p:cTn id="67" dur="1000"/>
                                        <p:tgtEl>
                                          <p:spTgt spid="27"/>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heckerboard(across)">
                                      <p:cBhvr>
                                        <p:cTn id="70" dur="1000"/>
                                        <p:tgtEl>
                                          <p:spTgt spid="25"/>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checkerboard(across)">
                                      <p:cBhvr>
                                        <p:cTn id="73" dur="1000"/>
                                        <p:tgtEl>
                                          <p:spTgt spid="26"/>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checkerboard(across)">
                                      <p:cBhvr>
                                        <p:cTn id="76" dur="1000"/>
                                        <p:tgtEl>
                                          <p:spTgt spid="18"/>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checkerboard(across)">
                                      <p:cBhvr>
                                        <p:cTn id="79" dur="1000"/>
                                        <p:tgtEl>
                                          <p:spTgt spid="19"/>
                                        </p:tgtEl>
                                      </p:cBhvr>
                                    </p:animEffect>
                                  </p:childTnLst>
                                </p:cTn>
                              </p:par>
                              <p:par>
                                <p:cTn id="80" presetID="5" presetClass="entr" presetSubtype="1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checkerboard(across)">
                                      <p:cBhvr>
                                        <p:cTn id="82" dur="1000"/>
                                        <p:tgtEl>
                                          <p:spTgt spid="28"/>
                                        </p:tgtEl>
                                      </p:cBhvr>
                                    </p:animEffect>
                                  </p:childTnLst>
                                </p:cTn>
                              </p:par>
                              <p:par>
                                <p:cTn id="83" presetID="5" presetClass="entr" presetSubtype="1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checkerboard(across)">
                                      <p:cBhvr>
                                        <p:cTn id="85" dur="1000"/>
                                        <p:tgtEl>
                                          <p:spTgt spid="35"/>
                                        </p:tgtEl>
                                      </p:cBhvr>
                                    </p:animEffect>
                                  </p:childTnLst>
                                </p:cTn>
                              </p:par>
                              <p:par>
                                <p:cTn id="86" presetID="5" presetClass="entr" presetSubtype="1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checkerboard(across)">
                                      <p:cBhvr>
                                        <p:cTn id="88" dur="1000"/>
                                        <p:tgtEl>
                                          <p:spTgt spid="34"/>
                                        </p:tgtEl>
                                      </p:cBhvr>
                                    </p:animEffect>
                                  </p:childTnLst>
                                </p:cTn>
                              </p:par>
                            </p:childTnLst>
                          </p:cTn>
                        </p:par>
                      </p:childTnLst>
                    </p:cTn>
                  </p:par>
                  <p:par>
                    <p:cTn id="89" fill="hold">
                      <p:stCondLst>
                        <p:cond delay="indefinite"/>
                      </p:stCondLst>
                      <p:childTnLst>
                        <p:par>
                          <p:cTn id="90" fill="hold">
                            <p:stCondLst>
                              <p:cond delay="0"/>
                            </p:stCondLst>
                            <p:childTnLst>
                              <p:par>
                                <p:cTn id="91" presetID="5" presetClass="entr" presetSubtype="1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checkerboard(across)">
                                      <p:cBhvr>
                                        <p:cTn id="93" dur="1000"/>
                                        <p:tgtEl>
                                          <p:spTgt spid="20"/>
                                        </p:tgtEl>
                                      </p:cBhvr>
                                    </p:animEffect>
                                  </p:childTnLst>
                                </p:cTn>
                              </p:par>
                              <p:par>
                                <p:cTn id="94" presetID="5" presetClass="entr" presetSubtype="10" fill="hold" grpId="0" nodeType="with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checkerboard(across)">
                                      <p:cBhvr>
                                        <p:cTn id="96" dur="1000"/>
                                        <p:tgtEl>
                                          <p:spTgt spid="21"/>
                                        </p:tgtEl>
                                      </p:cBhvr>
                                    </p:animEffect>
                                  </p:childTnLst>
                                </p:cTn>
                              </p:par>
                            </p:childTnLst>
                          </p:cTn>
                        </p:par>
                      </p:childTnLst>
                    </p:cTn>
                  </p:par>
                  <p:par>
                    <p:cTn id="97" fill="hold">
                      <p:stCondLst>
                        <p:cond delay="indefinite"/>
                      </p:stCondLst>
                      <p:childTnLst>
                        <p:par>
                          <p:cTn id="98" fill="hold">
                            <p:stCondLst>
                              <p:cond delay="0"/>
                            </p:stCondLst>
                            <p:childTnLst>
                              <p:par>
                                <p:cTn id="99" presetID="5" presetClass="entr" presetSubtype="10" fill="hold" grpId="0" nodeType="click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checkerboard(across)">
                                      <p:cBhvr>
                                        <p:cTn id="101" dur="1000"/>
                                        <p:tgtEl>
                                          <p:spTgt spid="29"/>
                                        </p:tgtEl>
                                      </p:cBhvr>
                                    </p:animEffect>
                                  </p:childTnLst>
                                </p:cTn>
                              </p:par>
                            </p:childTnLst>
                          </p:cTn>
                        </p:par>
                      </p:childTnLst>
                    </p:cTn>
                  </p:par>
                  <p:par>
                    <p:cTn id="102" fill="hold">
                      <p:stCondLst>
                        <p:cond delay="indefinite"/>
                      </p:stCondLst>
                      <p:childTnLst>
                        <p:par>
                          <p:cTn id="103" fill="hold">
                            <p:stCondLst>
                              <p:cond delay="0"/>
                            </p:stCondLst>
                            <p:childTnLst>
                              <p:par>
                                <p:cTn id="104" presetID="5" presetClass="entr" presetSubtype="10" fill="hold" grpId="0" nodeType="click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checkerboard(across)">
                                      <p:cBhvr>
                                        <p:cTn id="106"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1" grpId="0" animBg="1"/>
      <p:bldP spid="12" grpId="0"/>
      <p:bldP spid="13" grpId="0"/>
      <p:bldP spid="14" grpId="0"/>
      <p:bldP spid="16" grpId="0" animBg="1"/>
      <p:bldP spid="17" grpId="0" animBg="1"/>
      <p:bldP spid="18" grpId="0"/>
      <p:bldP spid="19" grpId="0"/>
      <p:bldP spid="20" grpId="0" animBg="1"/>
      <p:bldP spid="21" grpId="0" animBg="1"/>
      <p:bldP spid="23" grpId="0"/>
      <p:bldP spid="24" grpId="0" animBg="1"/>
      <p:bldP spid="25" grpId="0" animBg="1"/>
      <p:bldP spid="26" grpId="0"/>
      <p:bldP spid="27" grpId="0" animBg="1"/>
      <p:bldP spid="28" grpId="0"/>
      <p:bldP spid="29" grpId="0" animBg="1"/>
      <p:bldP spid="30" grpId="0" animBg="1"/>
      <p:bldP spid="32" grpId="0"/>
      <p:bldP spid="33" grpId="0" animBg="1"/>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C00000"/>
                </a:solidFill>
              </a:rPr>
              <a:t>Exercices</a:t>
            </a:r>
          </a:p>
        </p:txBody>
      </p:sp>
      <p:pic>
        <p:nvPicPr>
          <p:cNvPr id="5" name="Picture-75" descr="User_UserE01"/>
          <p:cNvPicPr>
            <a:picLocks noChangeAspect="1" noChangeArrowheads="1"/>
          </p:cNvPicPr>
          <p:nvPr/>
        </p:nvPicPr>
        <p:blipFill>
          <a:blip r:embed="rId2" cstate="print"/>
          <a:srcRect/>
          <a:stretch>
            <a:fillRect/>
          </a:stretch>
        </p:blipFill>
        <p:spPr bwMode="auto">
          <a:xfrm>
            <a:off x="245664" y="3284994"/>
            <a:ext cx="474974" cy="1079582"/>
          </a:xfrm>
          <a:prstGeom prst="rect">
            <a:avLst/>
          </a:prstGeom>
          <a:noFill/>
        </p:spPr>
      </p:pic>
      <p:sp>
        <p:nvSpPr>
          <p:cNvPr id="6" name="ZoneTexte 5"/>
          <p:cNvSpPr txBox="1"/>
          <p:nvPr/>
        </p:nvSpPr>
        <p:spPr>
          <a:xfrm>
            <a:off x="0" y="4694829"/>
            <a:ext cx="1064523" cy="380104"/>
          </a:xfrm>
          <a:prstGeom prst="rect">
            <a:avLst/>
          </a:prstGeom>
          <a:noFill/>
        </p:spPr>
        <p:txBody>
          <a:bodyPr wrap="square" rtlCol="0">
            <a:spAutoFit/>
          </a:bodyPr>
          <a:lstStyle/>
          <a:p>
            <a:r>
              <a:rPr lang="fr-FR" sz="2200" dirty="0"/>
              <a:t>Hicham</a:t>
            </a:r>
          </a:p>
        </p:txBody>
      </p:sp>
      <p:pic>
        <p:nvPicPr>
          <p:cNvPr id="7" name="Picture-69" descr="Collection_Group01"/>
          <p:cNvPicPr>
            <a:picLocks noChangeAspect="1" noChangeArrowheads="1"/>
          </p:cNvPicPr>
          <p:nvPr/>
        </p:nvPicPr>
        <p:blipFill>
          <a:blip r:embed="rId3" cstate="print"/>
          <a:srcRect/>
          <a:stretch>
            <a:fillRect/>
          </a:stretch>
        </p:blipFill>
        <p:spPr bwMode="auto">
          <a:xfrm>
            <a:off x="1397516" y="1446663"/>
            <a:ext cx="995243" cy="720000"/>
          </a:xfrm>
          <a:prstGeom prst="rect">
            <a:avLst/>
          </a:prstGeom>
          <a:noFill/>
        </p:spPr>
      </p:pic>
      <p:pic>
        <p:nvPicPr>
          <p:cNvPr id="8" name="Picture-69" descr="Collection_Group01"/>
          <p:cNvPicPr>
            <a:picLocks noChangeAspect="1" noChangeArrowheads="1"/>
          </p:cNvPicPr>
          <p:nvPr/>
        </p:nvPicPr>
        <p:blipFill>
          <a:blip r:embed="rId3" cstate="print"/>
          <a:srcRect/>
          <a:stretch>
            <a:fillRect/>
          </a:stretch>
        </p:blipFill>
        <p:spPr bwMode="auto">
          <a:xfrm>
            <a:off x="1397516" y="2670737"/>
            <a:ext cx="995244" cy="720000"/>
          </a:xfrm>
          <a:prstGeom prst="rect">
            <a:avLst/>
          </a:prstGeom>
          <a:noFill/>
        </p:spPr>
      </p:pic>
      <p:pic>
        <p:nvPicPr>
          <p:cNvPr id="9" name="Picture-94" descr="Document_Document01"/>
          <p:cNvPicPr>
            <a:picLocks noChangeAspect="1" noChangeArrowheads="1"/>
          </p:cNvPicPr>
          <p:nvPr/>
        </p:nvPicPr>
        <p:blipFill>
          <a:blip r:embed="rId4" cstate="print"/>
          <a:srcRect/>
          <a:stretch>
            <a:fillRect/>
          </a:stretch>
        </p:blipFill>
        <p:spPr bwMode="auto">
          <a:xfrm>
            <a:off x="4667513" y="3625287"/>
            <a:ext cx="496888" cy="806450"/>
          </a:xfrm>
          <a:prstGeom prst="rect">
            <a:avLst/>
          </a:prstGeom>
          <a:noFill/>
        </p:spPr>
      </p:pic>
      <p:sp>
        <p:nvSpPr>
          <p:cNvPr id="10" name="Line-37"/>
          <p:cNvSpPr>
            <a:spLocks noChangeShapeType="1"/>
          </p:cNvSpPr>
          <p:nvPr/>
        </p:nvSpPr>
        <p:spPr bwMode="auto">
          <a:xfrm flipV="1">
            <a:off x="586854" y="2115402"/>
            <a:ext cx="1050877" cy="1214651"/>
          </a:xfrm>
          <a:prstGeom prst="line">
            <a:avLst/>
          </a:prstGeom>
          <a:noFill/>
          <a:ln w="57150">
            <a:solidFill>
              <a:srgbClr val="CC0000"/>
            </a:solidFill>
            <a:round/>
            <a:headEnd/>
            <a:tailEnd type="triangle" w="med" len="med"/>
          </a:ln>
          <a:effectLst/>
        </p:spPr>
        <p:txBody>
          <a:bodyPr anchor="ctr"/>
          <a:lstStyle/>
          <a:p>
            <a:endParaRPr lang="fr-FR"/>
          </a:p>
        </p:txBody>
      </p:sp>
      <p:sp>
        <p:nvSpPr>
          <p:cNvPr id="11" name="Line-37"/>
          <p:cNvSpPr>
            <a:spLocks noChangeShapeType="1"/>
          </p:cNvSpPr>
          <p:nvPr/>
        </p:nvSpPr>
        <p:spPr bwMode="auto">
          <a:xfrm flipV="1">
            <a:off x="545911" y="3193577"/>
            <a:ext cx="846162" cy="177420"/>
          </a:xfrm>
          <a:prstGeom prst="line">
            <a:avLst/>
          </a:prstGeom>
          <a:noFill/>
          <a:ln w="57150">
            <a:solidFill>
              <a:srgbClr val="CC0000"/>
            </a:solidFill>
            <a:round/>
            <a:headEnd/>
            <a:tailEnd type="triangle" w="med" len="med"/>
          </a:ln>
          <a:effectLst/>
        </p:spPr>
        <p:txBody>
          <a:bodyPr anchor="ctr"/>
          <a:lstStyle/>
          <a:p>
            <a:endParaRPr lang="fr-FR"/>
          </a:p>
        </p:txBody>
      </p:sp>
      <p:sp>
        <p:nvSpPr>
          <p:cNvPr id="12" name="ZoneTexte 11"/>
          <p:cNvSpPr txBox="1"/>
          <p:nvPr/>
        </p:nvSpPr>
        <p:spPr>
          <a:xfrm>
            <a:off x="1053151" y="3359626"/>
            <a:ext cx="1949357" cy="563231"/>
          </a:xfrm>
          <a:prstGeom prst="rect">
            <a:avLst/>
          </a:prstGeom>
          <a:noFill/>
        </p:spPr>
        <p:txBody>
          <a:bodyPr wrap="square" rtlCol="0">
            <a:spAutoFit/>
          </a:bodyPr>
          <a:lstStyle/>
          <a:p>
            <a:r>
              <a:rPr lang="fr-FR" sz="1800" dirty="0"/>
              <a:t>G. Recherche et Développement</a:t>
            </a:r>
          </a:p>
        </p:txBody>
      </p:sp>
      <p:sp>
        <p:nvSpPr>
          <p:cNvPr id="13" name="ZoneTexte 12"/>
          <p:cNvSpPr txBox="1"/>
          <p:nvPr/>
        </p:nvSpPr>
        <p:spPr>
          <a:xfrm>
            <a:off x="1191897" y="2174544"/>
            <a:ext cx="1373877" cy="563231"/>
          </a:xfrm>
          <a:prstGeom prst="rect">
            <a:avLst/>
          </a:prstGeom>
          <a:noFill/>
        </p:spPr>
        <p:txBody>
          <a:bodyPr wrap="square" rtlCol="0">
            <a:spAutoFit/>
          </a:bodyPr>
          <a:lstStyle/>
          <a:p>
            <a:r>
              <a:rPr lang="fr-FR" sz="1800" dirty="0"/>
              <a:t>Groupe Marketing</a:t>
            </a:r>
          </a:p>
        </p:txBody>
      </p:sp>
      <p:sp>
        <p:nvSpPr>
          <p:cNvPr id="14" name="ZoneTexte 13"/>
          <p:cNvSpPr txBox="1"/>
          <p:nvPr/>
        </p:nvSpPr>
        <p:spPr>
          <a:xfrm>
            <a:off x="4519676" y="4424154"/>
            <a:ext cx="994019" cy="667875"/>
          </a:xfrm>
          <a:prstGeom prst="rect">
            <a:avLst/>
          </a:prstGeom>
          <a:noFill/>
        </p:spPr>
        <p:txBody>
          <a:bodyPr wrap="square" rtlCol="0">
            <a:spAutoFit/>
          </a:bodyPr>
          <a:lstStyle/>
          <a:p>
            <a:r>
              <a:rPr lang="fr-FR" sz="2200" dirty="0"/>
              <a:t>Fichier.doc</a:t>
            </a:r>
          </a:p>
        </p:txBody>
      </p:sp>
      <p:sp>
        <p:nvSpPr>
          <p:cNvPr id="17" name="Line-37"/>
          <p:cNvSpPr>
            <a:spLocks noChangeShapeType="1"/>
          </p:cNvSpPr>
          <p:nvPr/>
        </p:nvSpPr>
        <p:spPr bwMode="auto">
          <a:xfrm>
            <a:off x="2402007" y="3125337"/>
            <a:ext cx="2197290" cy="682388"/>
          </a:xfrm>
          <a:prstGeom prst="line">
            <a:avLst/>
          </a:prstGeom>
          <a:noFill/>
          <a:ln w="57150">
            <a:solidFill>
              <a:srgbClr val="00B050"/>
            </a:solidFill>
            <a:round/>
            <a:headEnd/>
            <a:tailEnd type="triangle" w="med" len="med"/>
          </a:ln>
          <a:effectLst/>
        </p:spPr>
        <p:txBody>
          <a:bodyPr anchor="ctr"/>
          <a:lstStyle/>
          <a:p>
            <a:endParaRPr lang="fr-FR"/>
          </a:p>
        </p:txBody>
      </p:sp>
      <p:sp>
        <p:nvSpPr>
          <p:cNvPr id="18" name="ZoneTexte 17"/>
          <p:cNvSpPr txBox="1"/>
          <p:nvPr/>
        </p:nvSpPr>
        <p:spPr>
          <a:xfrm rot="1171147">
            <a:off x="2047163" y="3166281"/>
            <a:ext cx="2825087" cy="275460"/>
          </a:xfrm>
          <a:prstGeom prst="rect">
            <a:avLst/>
          </a:prstGeom>
          <a:noFill/>
        </p:spPr>
        <p:txBody>
          <a:bodyPr wrap="square" rtlCol="0">
            <a:spAutoFit/>
          </a:bodyPr>
          <a:lstStyle/>
          <a:p>
            <a:r>
              <a:rPr lang="fr-FR" dirty="0"/>
              <a:t>A. NTFS: CT</a:t>
            </a:r>
          </a:p>
        </p:txBody>
      </p:sp>
      <p:sp>
        <p:nvSpPr>
          <p:cNvPr id="20" name="Flèche droite 19"/>
          <p:cNvSpPr/>
          <p:nvPr/>
        </p:nvSpPr>
        <p:spPr>
          <a:xfrm>
            <a:off x="5104261" y="3916912"/>
            <a:ext cx="545909" cy="409433"/>
          </a:xfrm>
          <a:prstGeom prst="rightArrow">
            <a:avLst/>
          </a:prstGeom>
          <a:solidFill>
            <a:srgbClr val="C0000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5254389" y="1760559"/>
            <a:ext cx="3725838" cy="126957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1800" b="0" dirty="0"/>
              <a:t>Autorisation NTFS</a:t>
            </a:r>
          </a:p>
          <a:p>
            <a:r>
              <a:rPr lang="fr-FR" sz="1800" b="0" dirty="0"/>
              <a:t>= </a:t>
            </a:r>
          </a:p>
          <a:p>
            <a:r>
              <a:rPr lang="fr-FR" sz="1800" b="0" dirty="0"/>
              <a:t>Modification </a:t>
            </a:r>
            <a:r>
              <a:rPr lang="fr-FR" sz="1800" dirty="0">
                <a:solidFill>
                  <a:srgbClr val="C00000"/>
                </a:solidFill>
              </a:rPr>
              <a:t>+</a:t>
            </a:r>
            <a:r>
              <a:rPr lang="fr-FR" sz="1800" b="0" dirty="0"/>
              <a:t> Ec</a:t>
            </a:r>
            <a:r>
              <a:rPr lang="fr-FR" sz="1800" b="0" dirty="0">
                <a:solidFill>
                  <a:schemeClr val="tx1"/>
                </a:solidFill>
              </a:rPr>
              <a:t>riture</a:t>
            </a:r>
            <a:r>
              <a:rPr lang="fr-FR" sz="1800" dirty="0">
                <a:solidFill>
                  <a:srgbClr val="C00000"/>
                </a:solidFill>
              </a:rPr>
              <a:t>  + </a:t>
            </a:r>
            <a:r>
              <a:rPr lang="fr-FR" sz="1800" b="0" dirty="0">
                <a:solidFill>
                  <a:schemeClr val="tx1"/>
                </a:solidFill>
              </a:rPr>
              <a:t>CT </a:t>
            </a:r>
          </a:p>
          <a:p>
            <a:r>
              <a:rPr lang="fr-FR" sz="1800" b="0" dirty="0"/>
              <a:t>=  </a:t>
            </a:r>
          </a:p>
          <a:p>
            <a:r>
              <a:rPr lang="fr-FR" sz="1800" dirty="0">
                <a:solidFill>
                  <a:srgbClr val="C00000"/>
                </a:solidFill>
              </a:rPr>
              <a:t>CT</a:t>
            </a:r>
            <a:endParaRPr lang="fr-FR" sz="1800" dirty="0">
              <a:solidFill>
                <a:schemeClr val="tx1"/>
              </a:solidFill>
            </a:endParaRPr>
          </a:p>
        </p:txBody>
      </p:sp>
      <p:pic>
        <p:nvPicPr>
          <p:cNvPr id="22" name="Picture-69" descr="Collection_Group01"/>
          <p:cNvPicPr>
            <a:picLocks noChangeAspect="1" noChangeArrowheads="1"/>
          </p:cNvPicPr>
          <p:nvPr/>
        </p:nvPicPr>
        <p:blipFill>
          <a:blip r:embed="rId3" cstate="print"/>
          <a:srcRect/>
          <a:stretch>
            <a:fillRect/>
          </a:stretch>
        </p:blipFill>
        <p:spPr bwMode="auto">
          <a:xfrm>
            <a:off x="1506698" y="5646822"/>
            <a:ext cx="995244" cy="720000"/>
          </a:xfrm>
          <a:prstGeom prst="rect">
            <a:avLst/>
          </a:prstGeom>
          <a:noFill/>
        </p:spPr>
      </p:pic>
      <p:sp>
        <p:nvSpPr>
          <p:cNvPr id="23" name="ZoneTexte 22"/>
          <p:cNvSpPr txBox="1"/>
          <p:nvPr/>
        </p:nvSpPr>
        <p:spPr>
          <a:xfrm>
            <a:off x="1262411" y="6340263"/>
            <a:ext cx="1508084" cy="563231"/>
          </a:xfrm>
          <a:prstGeom prst="rect">
            <a:avLst/>
          </a:prstGeom>
          <a:noFill/>
        </p:spPr>
        <p:txBody>
          <a:bodyPr wrap="square" rtlCol="0">
            <a:spAutoFit/>
          </a:bodyPr>
          <a:lstStyle/>
          <a:p>
            <a:r>
              <a:rPr lang="fr-FR" sz="1800" dirty="0"/>
              <a:t>Utilisateurs authentifiés</a:t>
            </a:r>
          </a:p>
        </p:txBody>
      </p:sp>
      <p:sp>
        <p:nvSpPr>
          <p:cNvPr id="24" name="Line-37"/>
          <p:cNvSpPr>
            <a:spLocks noChangeShapeType="1"/>
          </p:cNvSpPr>
          <p:nvPr/>
        </p:nvSpPr>
        <p:spPr bwMode="auto">
          <a:xfrm>
            <a:off x="627797" y="4148920"/>
            <a:ext cx="887104" cy="1037230"/>
          </a:xfrm>
          <a:prstGeom prst="line">
            <a:avLst/>
          </a:prstGeom>
          <a:noFill/>
          <a:ln w="57150">
            <a:solidFill>
              <a:srgbClr val="CC0000"/>
            </a:solidFill>
            <a:round/>
            <a:headEnd/>
            <a:tailEnd type="triangle" w="med" len="med"/>
          </a:ln>
          <a:effectLst/>
        </p:spPr>
        <p:txBody>
          <a:bodyPr anchor="ctr"/>
          <a:lstStyle/>
          <a:p>
            <a:endParaRPr lang="fr-FR"/>
          </a:p>
        </p:txBody>
      </p:sp>
      <p:sp>
        <p:nvSpPr>
          <p:cNvPr id="25" name="Line-37"/>
          <p:cNvSpPr>
            <a:spLocks noChangeShapeType="1"/>
          </p:cNvSpPr>
          <p:nvPr/>
        </p:nvSpPr>
        <p:spPr bwMode="auto">
          <a:xfrm>
            <a:off x="641444" y="3957850"/>
            <a:ext cx="4039737" cy="54592"/>
          </a:xfrm>
          <a:prstGeom prst="line">
            <a:avLst/>
          </a:prstGeom>
          <a:noFill/>
          <a:ln w="57150">
            <a:solidFill>
              <a:srgbClr val="00B050"/>
            </a:solidFill>
            <a:round/>
            <a:headEnd/>
            <a:tailEnd type="triangle" w="med" len="med"/>
          </a:ln>
          <a:effectLst/>
        </p:spPr>
        <p:txBody>
          <a:bodyPr anchor="ctr"/>
          <a:lstStyle/>
          <a:p>
            <a:endParaRPr lang="fr-FR"/>
          </a:p>
        </p:txBody>
      </p:sp>
      <p:sp>
        <p:nvSpPr>
          <p:cNvPr id="26" name="ZoneTexte 25"/>
          <p:cNvSpPr txBox="1"/>
          <p:nvPr/>
        </p:nvSpPr>
        <p:spPr>
          <a:xfrm>
            <a:off x="658433" y="3975414"/>
            <a:ext cx="2828221" cy="275460"/>
          </a:xfrm>
          <a:prstGeom prst="rect">
            <a:avLst/>
          </a:prstGeom>
          <a:noFill/>
        </p:spPr>
        <p:txBody>
          <a:bodyPr wrap="square" rtlCol="0">
            <a:spAutoFit/>
          </a:bodyPr>
          <a:lstStyle/>
          <a:p>
            <a:r>
              <a:rPr lang="fr-FR" dirty="0"/>
              <a:t>A. NTFS: Modification</a:t>
            </a:r>
          </a:p>
        </p:txBody>
      </p:sp>
      <p:sp>
        <p:nvSpPr>
          <p:cNvPr id="27" name="Line-37"/>
          <p:cNvSpPr>
            <a:spLocks noChangeShapeType="1"/>
          </p:cNvSpPr>
          <p:nvPr/>
        </p:nvSpPr>
        <p:spPr bwMode="auto">
          <a:xfrm flipV="1">
            <a:off x="2497540" y="4148917"/>
            <a:ext cx="2129052" cy="1992575"/>
          </a:xfrm>
          <a:prstGeom prst="line">
            <a:avLst/>
          </a:prstGeom>
          <a:noFill/>
          <a:ln w="57150">
            <a:solidFill>
              <a:srgbClr val="7030A0"/>
            </a:solidFill>
            <a:round/>
            <a:headEnd/>
            <a:tailEnd type="triangle" w="med" len="med"/>
          </a:ln>
          <a:effectLst/>
        </p:spPr>
        <p:txBody>
          <a:bodyPr anchor="ctr"/>
          <a:lstStyle/>
          <a:p>
            <a:endParaRPr lang="fr-FR"/>
          </a:p>
        </p:txBody>
      </p:sp>
      <p:sp>
        <p:nvSpPr>
          <p:cNvPr id="28" name="ZoneTexte 27"/>
          <p:cNvSpPr txBox="1"/>
          <p:nvPr/>
        </p:nvSpPr>
        <p:spPr>
          <a:xfrm rot="18968050">
            <a:off x="2392908" y="5026923"/>
            <a:ext cx="2825087" cy="275460"/>
          </a:xfrm>
          <a:prstGeom prst="rect">
            <a:avLst/>
          </a:prstGeom>
          <a:noFill/>
        </p:spPr>
        <p:txBody>
          <a:bodyPr wrap="square" rtlCol="0">
            <a:spAutoFit/>
          </a:bodyPr>
          <a:lstStyle/>
          <a:p>
            <a:r>
              <a:rPr lang="fr-FR" dirty="0"/>
              <a:t>A. Partage héritée: Modification</a:t>
            </a:r>
          </a:p>
        </p:txBody>
      </p:sp>
      <p:sp>
        <p:nvSpPr>
          <p:cNvPr id="29" name="Rectangle 28"/>
          <p:cNvSpPr/>
          <p:nvPr/>
        </p:nvSpPr>
        <p:spPr>
          <a:xfrm>
            <a:off x="5554639" y="3088786"/>
            <a:ext cx="3357349" cy="798680"/>
          </a:xfrm>
          <a:prstGeom prst="rect">
            <a:avLst/>
          </a:prstGeom>
          <a:solidFill>
            <a:srgbClr val="7030A0"/>
          </a:solidFill>
        </p:spPr>
        <p:style>
          <a:lnRef idx="2">
            <a:schemeClr val="dk1"/>
          </a:lnRef>
          <a:fillRef idx="1">
            <a:schemeClr val="lt1"/>
          </a:fillRef>
          <a:effectRef idx="0">
            <a:schemeClr val="dk1"/>
          </a:effectRef>
          <a:fontRef idx="minor">
            <a:schemeClr val="dk1"/>
          </a:fontRef>
        </p:style>
        <p:txBody>
          <a:bodyPr wrap="square">
            <a:spAutoFit/>
          </a:bodyPr>
          <a:lstStyle/>
          <a:p>
            <a:r>
              <a:rPr lang="fr-FR" sz="1800" b="0" dirty="0">
                <a:solidFill>
                  <a:schemeClr val="bg2"/>
                </a:solidFill>
              </a:rPr>
              <a:t>Autorisation partage </a:t>
            </a:r>
          </a:p>
          <a:p>
            <a:r>
              <a:rPr lang="fr-FR" sz="1800" b="0" dirty="0">
                <a:solidFill>
                  <a:schemeClr val="bg2"/>
                </a:solidFill>
              </a:rPr>
              <a:t>=</a:t>
            </a:r>
          </a:p>
          <a:p>
            <a:r>
              <a:rPr lang="fr-FR" sz="1800" dirty="0">
                <a:solidFill>
                  <a:srgbClr val="FFC000"/>
                </a:solidFill>
              </a:rPr>
              <a:t>Modification</a:t>
            </a:r>
          </a:p>
        </p:txBody>
      </p:sp>
      <p:sp>
        <p:nvSpPr>
          <p:cNvPr id="30" name="Rectangle 29"/>
          <p:cNvSpPr/>
          <p:nvPr/>
        </p:nvSpPr>
        <p:spPr>
          <a:xfrm>
            <a:off x="5584210" y="4483136"/>
            <a:ext cx="3343700" cy="1400383"/>
          </a:xfrm>
          <a:prstGeom prst="rect">
            <a:avLst/>
          </a:prstGeom>
          <a:solidFill>
            <a:srgbClr val="D5D69C"/>
          </a:solidFill>
        </p:spPr>
        <p:style>
          <a:lnRef idx="2">
            <a:schemeClr val="dk1"/>
          </a:lnRef>
          <a:fillRef idx="1">
            <a:schemeClr val="lt1"/>
          </a:fillRef>
          <a:effectRef idx="0">
            <a:schemeClr val="dk1"/>
          </a:effectRef>
          <a:fontRef idx="minor">
            <a:schemeClr val="dk1"/>
          </a:fontRef>
        </p:style>
        <p:txBody>
          <a:bodyPr wrap="square">
            <a:spAutoFit/>
          </a:bodyPr>
          <a:lstStyle/>
          <a:p>
            <a:r>
              <a:rPr lang="fr-FR" sz="2000" b="0" dirty="0">
                <a:solidFill>
                  <a:schemeClr val="tx2"/>
                </a:solidFill>
              </a:rPr>
              <a:t>Autorisation effective </a:t>
            </a:r>
          </a:p>
          <a:p>
            <a:r>
              <a:rPr lang="fr-FR" sz="2000" b="0" dirty="0">
                <a:solidFill>
                  <a:schemeClr val="tx2"/>
                </a:solidFill>
              </a:rPr>
              <a:t>=</a:t>
            </a:r>
          </a:p>
          <a:p>
            <a:r>
              <a:rPr lang="fr-FR" sz="2000" b="0" dirty="0">
                <a:solidFill>
                  <a:schemeClr val="tx2"/>
                </a:solidFill>
              </a:rPr>
              <a:t>CT + Modification</a:t>
            </a:r>
          </a:p>
          <a:p>
            <a:r>
              <a:rPr lang="fr-FR" sz="2000" b="0" dirty="0">
                <a:solidFill>
                  <a:schemeClr val="tx2"/>
                </a:solidFill>
              </a:rPr>
              <a:t>=</a:t>
            </a:r>
          </a:p>
          <a:p>
            <a:r>
              <a:rPr lang="fr-FR" sz="2000" dirty="0">
                <a:solidFill>
                  <a:schemeClr val="tx2"/>
                </a:solidFill>
              </a:rPr>
              <a:t>Modification</a:t>
            </a:r>
          </a:p>
        </p:txBody>
      </p:sp>
      <p:pic>
        <p:nvPicPr>
          <p:cNvPr id="31" name="Picture-69" descr="Collection_Group01"/>
          <p:cNvPicPr>
            <a:picLocks noChangeAspect="1" noChangeArrowheads="1"/>
          </p:cNvPicPr>
          <p:nvPr/>
        </p:nvPicPr>
        <p:blipFill>
          <a:blip r:embed="rId3" cstate="print"/>
          <a:srcRect/>
          <a:stretch>
            <a:fillRect/>
          </a:stretch>
        </p:blipFill>
        <p:spPr bwMode="auto">
          <a:xfrm>
            <a:off x="1481677" y="4720191"/>
            <a:ext cx="995244" cy="720000"/>
          </a:xfrm>
          <a:prstGeom prst="rect">
            <a:avLst/>
          </a:prstGeom>
          <a:noFill/>
        </p:spPr>
      </p:pic>
      <p:sp>
        <p:nvSpPr>
          <p:cNvPr id="32" name="ZoneTexte 31"/>
          <p:cNvSpPr txBox="1"/>
          <p:nvPr/>
        </p:nvSpPr>
        <p:spPr>
          <a:xfrm>
            <a:off x="1262411" y="5371272"/>
            <a:ext cx="1508084" cy="510909"/>
          </a:xfrm>
          <a:prstGeom prst="rect">
            <a:avLst/>
          </a:prstGeom>
          <a:noFill/>
        </p:spPr>
        <p:txBody>
          <a:bodyPr wrap="square" rtlCol="0">
            <a:spAutoFit/>
          </a:bodyPr>
          <a:lstStyle/>
          <a:p>
            <a:r>
              <a:rPr lang="fr-FR" sz="1600" dirty="0"/>
              <a:t>G. Support informatique</a:t>
            </a:r>
          </a:p>
        </p:txBody>
      </p:sp>
      <p:sp>
        <p:nvSpPr>
          <p:cNvPr id="33" name="Line-37"/>
          <p:cNvSpPr>
            <a:spLocks noChangeShapeType="1"/>
          </p:cNvSpPr>
          <p:nvPr/>
        </p:nvSpPr>
        <p:spPr bwMode="auto">
          <a:xfrm>
            <a:off x="616424" y="4192137"/>
            <a:ext cx="884830" cy="1922060"/>
          </a:xfrm>
          <a:prstGeom prst="line">
            <a:avLst/>
          </a:prstGeom>
          <a:noFill/>
          <a:ln w="57150">
            <a:solidFill>
              <a:srgbClr val="CC0000"/>
            </a:solidFill>
            <a:prstDash val="sysDash"/>
            <a:round/>
            <a:headEnd/>
            <a:tailEnd type="triangle" w="med" len="med"/>
          </a:ln>
          <a:effectLst/>
        </p:spPr>
        <p:txBody>
          <a:bodyPr anchor="ctr"/>
          <a:lstStyle/>
          <a:p>
            <a:endParaRPr lang="fr-FR"/>
          </a:p>
        </p:txBody>
      </p:sp>
      <p:sp>
        <p:nvSpPr>
          <p:cNvPr id="34" name="Line-37"/>
          <p:cNvSpPr>
            <a:spLocks noChangeShapeType="1"/>
          </p:cNvSpPr>
          <p:nvPr/>
        </p:nvSpPr>
        <p:spPr bwMode="auto">
          <a:xfrm flipV="1">
            <a:off x="2429301" y="4107975"/>
            <a:ext cx="2129051" cy="1009933"/>
          </a:xfrm>
          <a:prstGeom prst="line">
            <a:avLst/>
          </a:prstGeom>
          <a:noFill/>
          <a:ln w="57150">
            <a:solidFill>
              <a:srgbClr val="00B050"/>
            </a:solidFill>
            <a:round/>
            <a:headEnd/>
            <a:tailEnd type="triangle" w="med" len="med"/>
          </a:ln>
          <a:effectLst/>
        </p:spPr>
        <p:txBody>
          <a:bodyPr anchor="ctr"/>
          <a:lstStyle/>
          <a:p>
            <a:endParaRPr lang="fr-FR"/>
          </a:p>
        </p:txBody>
      </p:sp>
      <p:sp>
        <p:nvSpPr>
          <p:cNvPr id="35" name="ZoneTexte 34"/>
          <p:cNvSpPr txBox="1"/>
          <p:nvPr/>
        </p:nvSpPr>
        <p:spPr>
          <a:xfrm rot="20123470">
            <a:off x="1751458" y="4440065"/>
            <a:ext cx="2825087" cy="275460"/>
          </a:xfrm>
          <a:prstGeom prst="rect">
            <a:avLst/>
          </a:prstGeom>
          <a:noFill/>
        </p:spPr>
        <p:txBody>
          <a:bodyPr wrap="square" rtlCol="0">
            <a:spAutoFit/>
          </a:bodyPr>
          <a:lstStyle/>
          <a:p>
            <a:r>
              <a:rPr lang="fr-FR" dirty="0"/>
              <a:t>A. NTFS: Ecriture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1000"/>
                                        <p:tgtEl>
                                          <p:spTgt spid="8"/>
                                        </p:tgtEl>
                                      </p:cBhvr>
                                    </p:animEffect>
                                  </p:childTnLst>
                                </p:cTn>
                              </p:par>
                              <p:par>
                                <p:cTn id="16" presetID="5"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1000"/>
                                        <p:tgtEl>
                                          <p:spTgt spid="7"/>
                                        </p:tgtEl>
                                      </p:cBhvr>
                                    </p:animEffect>
                                  </p:childTnLst>
                                </p:cTn>
                              </p:par>
                              <p:par>
                                <p:cTn id="19" presetID="5" presetClass="entr" presetSubtype="1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checkerboard(across)">
                                      <p:cBhvr>
                                        <p:cTn id="21" dur="1000"/>
                                        <p:tgtEl>
                                          <p:spTgt spid="2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checkerboard(across)">
                                      <p:cBhvr>
                                        <p:cTn id="24" dur="1000"/>
                                        <p:tgtEl>
                                          <p:spTgt spid="11"/>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1000"/>
                                        <p:tgtEl>
                                          <p:spTgt spid="10"/>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checkerboard(across)">
                                      <p:cBhvr>
                                        <p:cTn id="30" dur="1000"/>
                                        <p:tgtEl>
                                          <p:spTgt spid="2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heckerboard(across)">
                                      <p:cBhvr>
                                        <p:cTn id="33" dur="1000"/>
                                        <p:tgtEl>
                                          <p:spTgt spid="12"/>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heckerboard(across)">
                                      <p:cBhvr>
                                        <p:cTn id="36" dur="1000"/>
                                        <p:tgtEl>
                                          <p:spTgt spid="13"/>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checkerboard(across)">
                                      <p:cBhvr>
                                        <p:cTn id="39" dur="1000"/>
                                        <p:tgtEl>
                                          <p:spTgt spid="23"/>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checkerboard(across)">
                                      <p:cBhvr>
                                        <p:cTn id="42" dur="1000"/>
                                        <p:tgtEl>
                                          <p:spTgt spid="33"/>
                                        </p:tgtEl>
                                      </p:cBhvr>
                                    </p:animEffect>
                                  </p:childTnLst>
                                </p:cTn>
                              </p:par>
                              <p:par>
                                <p:cTn id="43" presetID="5" presetClass="entr" presetSubtype="1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checkerboard(across)">
                                      <p:cBhvr>
                                        <p:cTn id="45" dur="1000"/>
                                        <p:tgtEl>
                                          <p:spTgt spid="31"/>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checkerboard(across)">
                                      <p:cBhvr>
                                        <p:cTn id="48" dur="10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checkerboard(across)">
                                      <p:cBhvr>
                                        <p:cTn id="53" dur="1000"/>
                                        <p:tgtEl>
                                          <p:spTgt spid="9"/>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checkerboard(across)">
                                      <p:cBhvr>
                                        <p:cTn id="56" dur="1000"/>
                                        <p:tgtEl>
                                          <p:spTgt spid="14"/>
                                        </p:tgtEl>
                                      </p:cBhvr>
                                    </p:animEffect>
                                  </p:childTnLst>
                                </p:cTn>
                              </p:par>
                              <p:par>
                                <p:cTn id="57" presetID="5" presetClass="entr" presetSubtype="1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checkerboard(across)">
                                      <p:cBhvr>
                                        <p:cTn id="59" dur="1000"/>
                                        <p:tgtEl>
                                          <p:spTgt spid="17"/>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checkerboard(across)">
                                      <p:cBhvr>
                                        <p:cTn id="62" dur="1000"/>
                                        <p:tgtEl>
                                          <p:spTgt spid="27"/>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checkerboard(across)">
                                      <p:cBhvr>
                                        <p:cTn id="65" dur="1000"/>
                                        <p:tgtEl>
                                          <p:spTgt spid="25"/>
                                        </p:tgtEl>
                                      </p:cBhvr>
                                    </p:animEffect>
                                  </p:childTnLst>
                                </p:cTn>
                              </p:par>
                              <p:par>
                                <p:cTn id="66" presetID="5" presetClass="entr" presetSubtype="1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checkerboard(across)">
                                      <p:cBhvr>
                                        <p:cTn id="68" dur="1000"/>
                                        <p:tgtEl>
                                          <p:spTgt spid="26"/>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checkerboard(across)">
                                      <p:cBhvr>
                                        <p:cTn id="71" dur="1000"/>
                                        <p:tgtEl>
                                          <p:spTgt spid="18"/>
                                        </p:tgtEl>
                                      </p:cBhvr>
                                    </p:animEffect>
                                  </p:childTnLst>
                                </p:cTn>
                              </p:par>
                              <p:par>
                                <p:cTn id="72" presetID="5" presetClass="entr" presetSubtype="1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checkerboard(across)">
                                      <p:cBhvr>
                                        <p:cTn id="74" dur="1000"/>
                                        <p:tgtEl>
                                          <p:spTgt spid="28"/>
                                        </p:tgtEl>
                                      </p:cBhvr>
                                    </p:animEffect>
                                  </p:childTnLst>
                                </p:cTn>
                              </p:par>
                              <p:par>
                                <p:cTn id="75" presetID="5" presetClass="entr" presetSubtype="1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checkerboard(across)">
                                      <p:cBhvr>
                                        <p:cTn id="77" dur="1000"/>
                                        <p:tgtEl>
                                          <p:spTgt spid="35"/>
                                        </p:tgtEl>
                                      </p:cBhvr>
                                    </p:animEffect>
                                  </p:childTnLst>
                                </p:cTn>
                              </p:par>
                              <p:par>
                                <p:cTn id="78" presetID="5" presetClass="entr" presetSubtype="10" fill="hold" grpId="0"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checkerboard(across)">
                                      <p:cBhvr>
                                        <p:cTn id="80" dur="1000"/>
                                        <p:tgtEl>
                                          <p:spTgt spid="34"/>
                                        </p:tgtEl>
                                      </p:cBhvr>
                                    </p:animEffect>
                                  </p:childTnLst>
                                </p:cTn>
                              </p:par>
                            </p:childTnLst>
                          </p:cTn>
                        </p:par>
                      </p:childTnLst>
                    </p:cTn>
                  </p:par>
                  <p:par>
                    <p:cTn id="81" fill="hold">
                      <p:stCondLst>
                        <p:cond delay="indefinite"/>
                      </p:stCondLst>
                      <p:childTnLst>
                        <p:par>
                          <p:cTn id="82" fill="hold">
                            <p:stCondLst>
                              <p:cond delay="0"/>
                            </p:stCondLst>
                            <p:childTnLst>
                              <p:par>
                                <p:cTn id="83" presetID="5" presetClass="entr" presetSubtype="10"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checkerboard(across)">
                                      <p:cBhvr>
                                        <p:cTn id="85" dur="1000"/>
                                        <p:tgtEl>
                                          <p:spTgt spid="20"/>
                                        </p:tgtEl>
                                      </p:cBhvr>
                                    </p:animEffect>
                                  </p:childTnLst>
                                </p:cTn>
                              </p:par>
                              <p:par>
                                <p:cTn id="86" presetID="5" presetClass="entr" presetSubtype="1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checkerboard(across)">
                                      <p:cBhvr>
                                        <p:cTn id="88" dur="10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5" presetClass="entr" presetSubtype="10" fill="hold" grpId="0" nodeType="click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checkerboard(across)">
                                      <p:cBhvr>
                                        <p:cTn id="93" dur="1000"/>
                                        <p:tgtEl>
                                          <p:spTgt spid="29"/>
                                        </p:tgtEl>
                                      </p:cBhvr>
                                    </p:animEffect>
                                  </p:childTnLst>
                                </p:cTn>
                              </p:par>
                            </p:childTnLst>
                          </p:cTn>
                        </p:par>
                      </p:childTnLst>
                    </p:cTn>
                  </p:par>
                  <p:par>
                    <p:cTn id="94" fill="hold">
                      <p:stCondLst>
                        <p:cond delay="indefinite"/>
                      </p:stCondLst>
                      <p:childTnLst>
                        <p:par>
                          <p:cTn id="95" fill="hold">
                            <p:stCondLst>
                              <p:cond delay="0"/>
                            </p:stCondLst>
                            <p:childTnLst>
                              <p:par>
                                <p:cTn id="96" presetID="5" presetClass="entr" presetSubtype="10" fill="hold" grpId="0" nodeType="click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checkerboard(across)">
                                      <p:cBhvr>
                                        <p:cTn id="98"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1" grpId="0" animBg="1"/>
      <p:bldP spid="12" grpId="0"/>
      <p:bldP spid="13" grpId="0"/>
      <p:bldP spid="14" grpId="0"/>
      <p:bldP spid="17" grpId="0" animBg="1"/>
      <p:bldP spid="18" grpId="0"/>
      <p:bldP spid="20" grpId="0" animBg="1"/>
      <p:bldP spid="21" grpId="0" animBg="1"/>
      <p:bldP spid="23" grpId="0"/>
      <p:bldP spid="24" grpId="0" animBg="1"/>
      <p:bldP spid="25" grpId="0" animBg="1"/>
      <p:bldP spid="26" grpId="0"/>
      <p:bldP spid="27" grpId="0" animBg="1"/>
      <p:bldP spid="28" grpId="0"/>
      <p:bldP spid="29" grpId="0" animBg="1"/>
      <p:bldP spid="30" grpId="0" animBg="1"/>
      <p:bldP spid="32" grpId="0"/>
      <p:bldP spid="33" grpId="0" animBg="1"/>
      <p:bldP spid="34" grpId="0" animBg="1"/>
      <p:bldP spid="35"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Master_Template</Template>
  <TotalTime>16419</TotalTime>
  <Words>2623</Words>
  <Application>Microsoft Office PowerPoint</Application>
  <PresentationFormat>Affichage à l'écran (4:3)</PresentationFormat>
  <Paragraphs>389</Paragraphs>
  <Slides>34</Slides>
  <Notes>27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34</vt:i4>
      </vt:variant>
    </vt:vector>
  </HeadingPairs>
  <TitlesOfParts>
    <vt:vector size="43" baseType="lpstr">
      <vt:lpstr>SimSun</vt:lpstr>
      <vt:lpstr>Arial</vt:lpstr>
      <vt:lpstr>Arial Narrow</vt:lpstr>
      <vt:lpstr>Georgia</vt:lpstr>
      <vt:lpstr>Times New Roman</vt:lpstr>
      <vt:lpstr>Verdana</vt:lpstr>
      <vt:lpstr>Wingdings</vt:lpstr>
      <vt:lpstr>Wingdings 2</vt:lpstr>
      <vt:lpstr>Civil</vt:lpstr>
      <vt:lpstr>Chapitre 3  Administration des accès aux ressources  </vt:lpstr>
      <vt:lpstr>Plan du cours</vt:lpstr>
      <vt:lpstr>1. Vue d'ensemble de l'administration des accès aux ressources </vt:lpstr>
      <vt:lpstr>C’est quoi l’Authentication et l’ Authorisation?</vt:lpstr>
      <vt:lpstr>Description des autorisations  </vt:lpstr>
      <vt:lpstr>Le contrôle d'accès</vt:lpstr>
      <vt:lpstr>2. Administration des accès aux dossiers partagés </vt:lpstr>
      <vt:lpstr>Que sont les dossiers partagés ?</vt:lpstr>
      <vt:lpstr>Procédure de création d'un dossier partagé </vt:lpstr>
      <vt:lpstr>Opérations sur des dossiers partagés</vt:lpstr>
      <vt:lpstr>Qui peut créer des dossiers partagés ? </vt:lpstr>
      <vt:lpstr>Description des dossiers partagés publiés </vt:lpstr>
      <vt:lpstr>Autorisations sur les dossiers partagés </vt:lpstr>
      <vt:lpstr>3. Administration des accès aux fichiers et aux dossiers en utilisant les autorisations NTFS </vt:lpstr>
      <vt:lpstr>Description de NTFS </vt:lpstr>
      <vt:lpstr>Autorisations sur les fichiers et les dossiers NTFS </vt:lpstr>
      <vt:lpstr>Les autorisations standard  et spéciales </vt:lpstr>
      <vt:lpstr>Questions</vt:lpstr>
      <vt:lpstr>Impact des autorisations NTFS sur la copie et le déplacement des fichiers et des dossiers </vt:lpstr>
      <vt:lpstr>Description de l'héritage des autorisations NTFS </vt:lpstr>
      <vt:lpstr>4. Identification des autorisations effectives </vt:lpstr>
      <vt:lpstr>Description des autorisations effectives sur les fichiers et les dossiers NTFS </vt:lpstr>
      <vt:lpstr>Description des autorisations effectives sur les fichiers et les dossiers NTFS </vt:lpstr>
      <vt:lpstr>Application des autorisations NTFS </vt:lpstr>
      <vt:lpstr>Question</vt:lpstr>
      <vt:lpstr>Question</vt:lpstr>
      <vt:lpstr>Question</vt:lpstr>
      <vt:lpstr>Impact de la combinaison des autorisations de  dossier partagé et des autorisations NTFS </vt:lpstr>
      <vt:lpstr>Application pratique : Identification des autorisations NTFS et de dossier partagé effectives</vt:lpstr>
      <vt:lpstr>Application pratique : Identification des autorisations NTFS et de dossier partagé effectives</vt:lpstr>
      <vt:lpstr>Exercices</vt:lpstr>
      <vt:lpstr>Exercices</vt:lpstr>
      <vt:lpstr>Exercices</vt:lpstr>
      <vt:lpstr>Exercices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HALIMA.HOUSNY</cp:lastModifiedBy>
  <cp:revision>655</cp:revision>
  <dcterms:created xsi:type="dcterms:W3CDTF">2002-08-07T17:51:12Z</dcterms:created>
  <dcterms:modified xsi:type="dcterms:W3CDTF">2025-02-16T21:38:21Z</dcterms:modified>
</cp:coreProperties>
</file>