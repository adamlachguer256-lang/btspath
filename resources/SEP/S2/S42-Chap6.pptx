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handoutMasterIdLst>
    <p:handoutMasterId r:id="rId30"/>
  </p:handoutMasterIdLst>
  <p:sldIdLst>
    <p:sldId id="551" r:id="rId2"/>
    <p:sldId id="522" r:id="rId3"/>
    <p:sldId id="524" r:id="rId4"/>
    <p:sldId id="573" r:id="rId5"/>
    <p:sldId id="560" r:id="rId6"/>
    <p:sldId id="526" r:id="rId7"/>
    <p:sldId id="530" r:id="rId8"/>
    <p:sldId id="537" r:id="rId9"/>
    <p:sldId id="534" r:id="rId10"/>
    <p:sldId id="574" r:id="rId11"/>
    <p:sldId id="559" r:id="rId12"/>
    <p:sldId id="563" r:id="rId13"/>
    <p:sldId id="564" r:id="rId14"/>
    <p:sldId id="565" r:id="rId15"/>
    <p:sldId id="566" r:id="rId16"/>
    <p:sldId id="539" r:id="rId17"/>
    <p:sldId id="541" r:id="rId18"/>
    <p:sldId id="542" r:id="rId19"/>
    <p:sldId id="568" r:id="rId20"/>
    <p:sldId id="569" r:id="rId21"/>
    <p:sldId id="544" r:id="rId22"/>
    <p:sldId id="547" r:id="rId23"/>
    <p:sldId id="567" r:id="rId24"/>
    <p:sldId id="570" r:id="rId25"/>
    <p:sldId id="571" r:id="rId26"/>
    <p:sldId id="546" r:id="rId27"/>
    <p:sldId id="561" r:id="rId28"/>
  </p:sldIdLst>
  <p:sldSz cx="9144000" cy="6858000" type="screen4x3"/>
  <p:notesSz cx="6858000" cy="9199563"/>
  <p:defaultTextStyle>
    <a:defPPr>
      <a:defRPr lang="en-US"/>
    </a:defPPr>
    <a:lvl1pPr algn="ctr" rtl="0" eaLnBrk="0" fontAlgn="base" hangingPunct="0">
      <a:lnSpc>
        <a:spcPct val="85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lnSpc>
        <a:spcPct val="85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lnSpc>
        <a:spcPct val="85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lnSpc>
        <a:spcPct val="85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lnSpc>
        <a:spcPct val="85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Jim Toland" initials="" lastIdx="9" clrIdx="1"/>
  <p:cmAuthor id="2" name="Jeff Johnson" initials="" lastIdx="15" clrIdx="2"/>
  <p:cmAuthor id="3" name="Diana Jahrling" initials="" lastIdx="7" clrIdx="3"/>
  <p:cmAuthor id="4" name="Misty Shock" initials="" lastIdx="25" clrIdx="4"/>
  <p:cmAuthor id="5" name="jimcla" initials="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8DACD0"/>
    <a:srgbClr val="8080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snapVertSplitter="1" vertBarState="minimized" horzBarState="maximized">
    <p:restoredLeft sz="1562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-128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468"/>
    </p:cViewPr>
  </p:sorterViewPr>
  <p:notesViewPr>
    <p:cSldViewPr snapToGrid="0">
      <p:cViewPr varScale="1">
        <p:scale>
          <a:sx n="56" d="100"/>
          <a:sy n="56" d="100"/>
        </p:scale>
        <p:origin x="-1806" y="-78"/>
      </p:cViewPr>
      <p:guideLst>
        <p:guide orient="horz" pos="289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7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fld id="{FED7BB7D-415B-4BBC-9C2A-CD53F1011DE8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8988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70388"/>
            <a:ext cx="54864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latin typeface="Arial" charset="0"/>
              </a:defRPr>
            </a:lvl1pPr>
          </a:lstStyle>
          <a:p>
            <a:fld id="{DB9C9A58-9B06-4E3C-A3F7-BC90EAB5D72F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52FE9B-66BC-4E78-98E8-BC7A8E3AC165}" type="slidenum">
              <a:rPr lang="en-US"/>
              <a:pPr/>
              <a:t>1</a:t>
            </a:fld>
            <a:endParaRPr lang="en-US"/>
          </a:p>
        </p:txBody>
      </p:sp>
      <p:sp>
        <p:nvSpPr>
          <p:cNvPr id="53248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032EC5-ADF7-49D8-8200-94B930A52621}" type="slidenum">
              <a:rPr lang="en-US"/>
              <a:pPr/>
              <a:t>2</a:t>
            </a:fld>
            <a:endParaRPr lang="en-US"/>
          </a:p>
        </p:txBody>
      </p:sp>
      <p:sp>
        <p:nvSpPr>
          <p:cNvPr id="47206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E486B9-1431-449A-80EC-E79930D2C01F}" type="slidenum">
              <a:rPr lang="en-US"/>
              <a:pPr/>
              <a:t>3</a:t>
            </a:fld>
            <a:endParaRPr lang="en-US"/>
          </a:p>
        </p:txBody>
      </p:sp>
      <p:sp>
        <p:nvSpPr>
          <p:cNvPr id="47513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78B1BB-D3C0-4261-86B3-E6AEB2B1920F}" type="slidenum">
              <a:rPr lang="en-US"/>
              <a:pPr/>
              <a:t>4</a:t>
            </a:fld>
            <a:endParaRPr lang="en-US"/>
          </a:p>
        </p:txBody>
      </p:sp>
      <p:sp>
        <p:nvSpPr>
          <p:cNvPr id="534530" name="Rectangle-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F9CF01-6498-48EB-9535-17CBEF7FE8ED}" type="slidenum">
              <a:rPr lang="en-US"/>
              <a:pPr/>
              <a:t>5</a:t>
            </a:fld>
            <a:endParaRPr lang="en-US"/>
          </a:p>
        </p:txBody>
      </p:sp>
      <p:sp>
        <p:nvSpPr>
          <p:cNvPr id="5345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9DD05A-7B93-4B81-B948-167EB9FE78B7}" type="slidenum">
              <a:rPr lang="en-US"/>
              <a:pPr/>
              <a:t>6</a:t>
            </a:fld>
            <a:endParaRPr lang="en-US"/>
          </a:p>
        </p:txBody>
      </p:sp>
      <p:sp>
        <p:nvSpPr>
          <p:cNvPr id="47821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IE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6D8F8E-0528-4F97-A5AC-FC7C558EA30F}" type="slidenum">
              <a:rPr lang="en-US"/>
              <a:pPr/>
              <a:t>7</a:t>
            </a:fld>
            <a:endParaRPr lang="en-US"/>
          </a:p>
        </p:txBody>
      </p:sp>
      <p:sp>
        <p:nvSpPr>
          <p:cNvPr id="53760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60D3A-7BA2-4297-B723-159C542610F1}" type="slidenum">
              <a:rPr lang="en-US"/>
              <a:pPr/>
              <a:t>8</a:t>
            </a:fld>
            <a:endParaRPr lang="en-US"/>
          </a:p>
        </p:txBody>
      </p:sp>
      <p:sp>
        <p:nvSpPr>
          <p:cNvPr id="5437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35DC77-32A2-4BD4-AAAE-410C3E6213FE}" type="slidenum">
              <a:rPr lang="en-US"/>
              <a:pPr/>
              <a:t>9</a:t>
            </a:fld>
            <a:endParaRPr lang="en-US"/>
          </a:p>
        </p:txBody>
      </p:sp>
      <p:sp>
        <p:nvSpPr>
          <p:cNvPr id="4894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indent="-190500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35DC77-32A2-4BD4-AAAE-410C3E6213FE}" type="slidenum">
              <a:rPr lang="en-US"/>
              <a:pPr/>
              <a:t>10</a:t>
            </a:fld>
            <a:endParaRPr lang="en-US"/>
          </a:p>
        </p:txBody>
      </p:sp>
      <p:sp>
        <p:nvSpPr>
          <p:cNvPr id="4894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indent="-190500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8E23A7-155A-451F-9BF9-BB5943CC8408}" type="slidenum">
              <a:rPr lang="en-US"/>
              <a:pPr/>
              <a:t>11</a:t>
            </a:fld>
            <a:endParaRPr lang="en-US"/>
          </a:p>
        </p:txBody>
      </p:sp>
      <p:sp>
        <p:nvSpPr>
          <p:cNvPr id="54272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2C542-8B65-4E2A-8F01-8893061981E3}" type="slidenum">
              <a:rPr lang="en-US"/>
              <a:pPr/>
              <a:t>16</a:t>
            </a:fld>
            <a:endParaRPr lang="en-US"/>
          </a:p>
        </p:txBody>
      </p:sp>
      <p:sp>
        <p:nvSpPr>
          <p:cNvPr id="49664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7D0F89-AAA2-433D-A8A6-28338C3A2449}" type="slidenum">
              <a:rPr lang="en-US"/>
              <a:pPr/>
              <a:t>17</a:t>
            </a:fld>
            <a:endParaRPr lang="en-US"/>
          </a:p>
        </p:txBody>
      </p:sp>
      <p:sp>
        <p:nvSpPr>
          <p:cNvPr id="49971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10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B0BF1-62A8-4A8A-AE52-5EB0DD77E8EC}" type="slidenum">
              <a:rPr lang="en-US"/>
              <a:pPr/>
              <a:t>18</a:t>
            </a:fld>
            <a:endParaRPr lang="en-US"/>
          </a:p>
        </p:txBody>
      </p:sp>
      <p:sp>
        <p:nvSpPr>
          <p:cNvPr id="5017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914400" y="4368800"/>
            <a:ext cx="5029200" cy="4140200"/>
          </a:xfrm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FA80FB-01DC-41B7-8869-2166B35679FE}" type="slidenum">
              <a:rPr lang="en-US"/>
              <a:pPr/>
              <a:t>21</a:t>
            </a:fld>
            <a:endParaRPr lang="en-US"/>
          </a:p>
        </p:txBody>
      </p:sp>
      <p:sp>
        <p:nvSpPr>
          <p:cNvPr id="50483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787CD5-4380-4036-99F2-2E28E0CCB72D}" type="slidenum">
              <a:rPr lang="en-US"/>
              <a:pPr/>
              <a:t>22</a:t>
            </a:fld>
            <a:endParaRPr lang="en-US"/>
          </a:p>
        </p:txBody>
      </p:sp>
      <p:sp>
        <p:nvSpPr>
          <p:cNvPr id="51097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914400" y="4368800"/>
            <a:ext cx="5029200" cy="4140200"/>
          </a:xfrm>
        </p:spPr>
        <p:txBody>
          <a:bodyPr lIns="89255" tIns="44627" rIns="89255" bIns="44627"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787CD5-4380-4036-99F2-2E28E0CCB72D}" type="slidenum">
              <a:rPr lang="en-US"/>
              <a:pPr/>
              <a:t>23</a:t>
            </a:fld>
            <a:endParaRPr lang="en-US"/>
          </a:p>
        </p:txBody>
      </p:sp>
      <p:sp>
        <p:nvSpPr>
          <p:cNvPr id="51097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914400" y="4368800"/>
            <a:ext cx="5029200" cy="4140200"/>
          </a:xfrm>
        </p:spPr>
        <p:txBody>
          <a:bodyPr lIns="89255" tIns="44627" rIns="89255" bIns="44627"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1F28FC-492C-478D-8DD5-BD333BCB7097}" type="slidenum">
              <a:rPr lang="en-US"/>
              <a:pPr/>
              <a:t>26</a:t>
            </a:fld>
            <a:endParaRPr lang="en-US"/>
          </a:p>
        </p:txBody>
      </p:sp>
      <p:sp>
        <p:nvSpPr>
          <p:cNvPr id="5089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1F28FC-492C-478D-8DD5-BD333BCB7097}" type="slidenum">
              <a:rPr lang="en-US"/>
              <a:pPr/>
              <a:t>27</a:t>
            </a:fld>
            <a:endParaRPr lang="en-US"/>
          </a:p>
        </p:txBody>
      </p:sp>
      <p:sp>
        <p:nvSpPr>
          <p:cNvPr id="5089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3/22/2016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3/22/2016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1" Type="http://schemas.openxmlformats.org/officeDocument/2006/relationships/image" Target="../media/image1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7.png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-2"/>
          <p:cNvSpPr>
            <a:spLocks noGrp="1" noChangeArrowheads="1"/>
          </p:cNvSpPr>
          <p:nvPr>
            <p:ph type="ctrTitle"/>
          </p:nvPr>
        </p:nvSpPr>
        <p:spPr>
          <a:xfrm>
            <a:off x="678873" y="2962564"/>
            <a:ext cx="7924800" cy="2359025"/>
          </a:xfrm>
        </p:spPr>
        <p:txBody>
          <a:bodyPr>
            <a:noAutofit/>
          </a:bodyPr>
          <a:lstStyle/>
          <a:p>
            <a:r>
              <a:rPr lang="fr-FR" altLang="zh-CN" sz="4800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Chapitre 6</a:t>
            </a:r>
            <a:br>
              <a:rPr lang="fr-FR" altLang="zh-CN" sz="4800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4800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 </a:t>
            </a:r>
            <a:r>
              <a:rPr lang="fr-FR" altLang="zh-CN" sz="4800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4800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Implémentation d'une stratégie de groupe</a:t>
            </a:r>
            <a:r>
              <a:rPr lang="en-IE" altLang="zh-CN" sz="48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sz="4800" b="1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867891" y="729727"/>
            <a:ext cx="3408218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Module S44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Plan du cours</a:t>
            </a:r>
            <a:endParaRPr lang="en-US" b="1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71043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1776438"/>
            <a:ext cx="8503920" cy="3668407"/>
          </a:xfrm>
        </p:spPr>
        <p:txBody>
          <a:bodyPr/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Implémentation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d'objets de stratégie de groupe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Implémentation d'objets de stratégie de groupe dans </a:t>
            </a:r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un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domaine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Administration du déploiement d'une stratégie de groupe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rgbClr val="0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-2"/>
          <p:cNvSpPr>
            <a:spLocks noGrp="1" noChangeArrowheads="1"/>
          </p:cNvSpPr>
          <p:nvPr>
            <p:ph type="title"/>
          </p:nvPr>
        </p:nvSpPr>
        <p:spPr>
          <a:xfrm>
            <a:off x="207817" y="228600"/>
            <a:ext cx="8769927" cy="935182"/>
          </a:xfrm>
        </p:spPr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1. Implémentation </a:t>
            </a:r>
            <a: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d'objets de stratégie </a:t>
            </a:r>
            <a:b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b="1" dirty="0">
                <a:solidFill>
                  <a:schemeClr val="tx1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74115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15606" y="2593865"/>
            <a:ext cx="8503920" cy="1645626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d'une stratégie de groupe 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configuration des utilisateurs et des ordinateurs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d'une stratégie de groupe 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76166" name="Picture 6" descr="2144A08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697" y="1222368"/>
            <a:ext cx="7922251" cy="4527261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66255" y="5750126"/>
            <a:ext cx="8700654" cy="66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Une stratégie de groupes est un objet Active Directory qui va contenir un ensemble de paramètres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d'une stratégie de groupe 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 l="26103" t="24188" r="26710" b="47679"/>
          <a:stretch>
            <a:fillRect/>
          </a:stretch>
        </p:blipFill>
        <p:spPr bwMode="auto">
          <a:xfrm>
            <a:off x="1955512" y="2179100"/>
            <a:ext cx="5320109" cy="178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AutoShape 24"/>
          <p:cNvSpPr>
            <a:spLocks noChangeArrowheads="1"/>
          </p:cNvSpPr>
          <p:nvPr/>
        </p:nvSpPr>
        <p:spPr bwMode="auto">
          <a:xfrm>
            <a:off x="2988658" y="1772382"/>
            <a:ext cx="2889664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Stratégie </a:t>
            </a:r>
            <a:r>
              <a:rPr lang="fr-FR" sz="2200" dirty="0">
                <a:solidFill>
                  <a:srgbClr val="000000"/>
                </a:solidFill>
              </a:rPr>
              <a:t>de groupe</a:t>
            </a:r>
            <a:endParaRPr lang="en-US" sz="2200" dirty="0"/>
          </a:p>
        </p:txBody>
      </p:sp>
      <p:sp>
        <p:nvSpPr>
          <p:cNvPr id="7" name="AutoShape 24"/>
          <p:cNvSpPr>
            <a:spLocks noChangeArrowheads="1"/>
          </p:cNvSpPr>
          <p:nvPr/>
        </p:nvSpPr>
        <p:spPr bwMode="auto">
          <a:xfrm>
            <a:off x="5282577" y="5473523"/>
            <a:ext cx="2092036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Ordinateurs</a:t>
            </a:r>
            <a:endParaRPr lang="en-US" sz="2200" dirty="0"/>
          </a:p>
        </p:txBody>
      </p:sp>
      <p:sp>
        <p:nvSpPr>
          <p:cNvPr id="8" name="AutoShape 24"/>
          <p:cNvSpPr>
            <a:spLocks noChangeArrowheads="1"/>
          </p:cNvSpPr>
          <p:nvPr/>
        </p:nvSpPr>
        <p:spPr bwMode="auto">
          <a:xfrm>
            <a:off x="1654666" y="5487378"/>
            <a:ext cx="1939636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Utilisateurs</a:t>
            </a:r>
            <a:endParaRPr lang="en-US" sz="22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 l="26103" t="52977" r="52656" b="23539"/>
          <a:stretch>
            <a:fillRect/>
          </a:stretch>
        </p:blipFill>
        <p:spPr bwMode="auto">
          <a:xfrm>
            <a:off x="1969366" y="3962401"/>
            <a:ext cx="2394816" cy="148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 l="47590" t="52977" r="26710" b="23539"/>
          <a:stretch>
            <a:fillRect/>
          </a:stretch>
        </p:blipFill>
        <p:spPr bwMode="auto">
          <a:xfrm>
            <a:off x="4350327" y="3948545"/>
            <a:ext cx="2897583" cy="148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374" name="Rectangle-190"/>
          <p:cNvSpPr>
            <a:spLocks noChangeArrowheads="1"/>
          </p:cNvSpPr>
          <p:nvPr/>
        </p:nvSpPr>
        <p:spPr bwMode="auto">
          <a:xfrm>
            <a:off x="193964" y="1490089"/>
            <a:ext cx="8686799" cy="2125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Paramètres de stratégie de groupe pour les utilisateurs :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ea typeface="SimSun" pitchFamily="2" charset="-122"/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Paramètres du Bureau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b="0" dirty="0"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</a:rPr>
              <a:t>Paramètres du logiciel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b="0" dirty="0"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</a:rPr>
              <a:t>Paramètres Windows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b="0" dirty="0"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</a:rPr>
              <a:t>Paramètres de sécurité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b="0" dirty="0"/>
          </a:p>
          <a:p>
            <a:pPr marL="228600" indent="-228600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endParaRPr lang="en-US" sz="2400" b="0" dirty="0">
              <a:cs typeface="Times New Roman" charset="0"/>
            </a:endParaRPr>
          </a:p>
        </p:txBody>
      </p:sp>
      <p:pic>
        <p:nvPicPr>
          <p:cNvPr id="477372" name="Picture-188" descr="Enabled_user_icon"/>
          <p:cNvPicPr>
            <a:picLocks noChangeAspect="1" noChangeArrowheads="1"/>
          </p:cNvPicPr>
          <p:nvPr/>
        </p:nvPicPr>
        <p:blipFill>
          <a:blip r:embed="rId4"/>
          <a:srcRect l="27541" t="5423" r="21724" b="37038"/>
          <a:stretch>
            <a:fillRect/>
          </a:stretch>
        </p:blipFill>
        <p:spPr bwMode="auto">
          <a:xfrm>
            <a:off x="4460875" y="2400300"/>
            <a:ext cx="677863" cy="744538"/>
          </a:xfrm>
          <a:prstGeom prst="rect">
            <a:avLst/>
          </a:prstGeom>
          <a:noFill/>
        </p:spPr>
      </p:pic>
      <p:sp>
        <p:nvSpPr>
          <p:cNvPr id="477186" name="Rectangle-2"/>
          <p:cNvSpPr>
            <a:spLocks noGrp="1" noChangeArrowheads="1"/>
          </p:cNvSpPr>
          <p:nvPr>
            <p:ph type="title"/>
          </p:nvPr>
        </p:nvSpPr>
        <p:spPr>
          <a:xfrm>
            <a:off x="193963" y="228600"/>
            <a:ext cx="8769927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configuration des utilisateurs et des ordinateurs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77370" name="Picture-186" descr="GroupPolicy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78425" y="1806575"/>
            <a:ext cx="2651125" cy="1544638"/>
          </a:xfrm>
          <a:prstGeom prst="rect">
            <a:avLst/>
          </a:prstGeom>
          <a:noFill/>
        </p:spPr>
      </p:pic>
      <p:pic>
        <p:nvPicPr>
          <p:cNvPr id="477371" name="Picture-187" descr="Lan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03875" y="4033838"/>
            <a:ext cx="2274888" cy="1927225"/>
          </a:xfrm>
          <a:prstGeom prst="rect">
            <a:avLst/>
          </a:prstGeom>
          <a:noFill/>
        </p:spPr>
      </p:pic>
      <p:pic>
        <p:nvPicPr>
          <p:cNvPr id="477368" name="Picture-184" descr="Policy_Writing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45363" y="4054475"/>
            <a:ext cx="996950" cy="1387475"/>
          </a:xfrm>
          <a:prstGeom prst="rect">
            <a:avLst/>
          </a:prstGeom>
          <a:noFill/>
        </p:spPr>
      </p:pic>
      <p:pic>
        <p:nvPicPr>
          <p:cNvPr id="477373" name="Picture-189" descr="Computer_icon"/>
          <p:cNvPicPr>
            <a:picLocks noChangeAspect="1" noChangeArrowheads="1"/>
          </p:cNvPicPr>
          <p:nvPr/>
        </p:nvPicPr>
        <p:blipFill>
          <a:blip r:embed="rId8"/>
          <a:srcRect l="15240" t="7492" r="15240" b="17885"/>
          <a:stretch>
            <a:fillRect/>
          </a:stretch>
        </p:blipFill>
        <p:spPr bwMode="auto">
          <a:xfrm>
            <a:off x="4840288" y="4873625"/>
            <a:ext cx="663575" cy="671513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180108" y="3724974"/>
            <a:ext cx="8506691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</a:rPr>
              <a:t>Paramètres de stratégie de groupe pour les ordinateurs :</a:t>
            </a:r>
            <a:r>
              <a:rPr lang="en-IE" altLang="zh-CN" sz="240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dirty="0" smtClean="0"/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 smtClean="0">
                <a:solidFill>
                  <a:srgbClr val="000000"/>
                </a:solidFill>
                <a:ea typeface="SimSun" pitchFamily="2" charset="-122"/>
              </a:rPr>
              <a:t>Comportement du Bureau</a:t>
            </a:r>
            <a:r>
              <a:rPr lang="en-IE" altLang="zh-CN" sz="2400" b="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sz="2400" b="0" dirty="0" smtClean="0">
                <a:cs typeface="Times New Roman" charset="0"/>
              </a:rPr>
              <a:t> </a:t>
            </a: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 smtClean="0">
                <a:solidFill>
                  <a:srgbClr val="000000"/>
                </a:solidFill>
                <a:ea typeface="SimSun" pitchFamily="2" charset="-122"/>
              </a:rPr>
              <a:t>Paramètres du logiciel</a:t>
            </a:r>
            <a:r>
              <a:rPr lang="en-IE" altLang="zh-CN" sz="2400" b="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b="0" dirty="0" smtClean="0"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 smtClean="0">
                <a:solidFill>
                  <a:srgbClr val="000000"/>
                </a:solidFill>
                <a:ea typeface="SimSun" pitchFamily="2" charset="-122"/>
              </a:rPr>
              <a:t>Paramètres Windows</a:t>
            </a:r>
            <a:r>
              <a:rPr lang="en-IE" altLang="zh-CN" sz="2400" b="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b="0" dirty="0" smtClean="0">
              <a:cs typeface="Times New Roman" charset="0"/>
            </a:endParaRPr>
          </a:p>
          <a:p>
            <a:pPr marL="631825" lvl="1" indent="-174625" algn="l">
              <a:lnSpc>
                <a:spcPct val="80000"/>
              </a:lnSpc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400" b="0" dirty="0" smtClean="0">
                <a:solidFill>
                  <a:srgbClr val="000000"/>
                </a:solidFill>
                <a:ea typeface="SimSun" pitchFamily="2" charset="-122"/>
              </a:rPr>
              <a:t>Paramètres de sécurité</a:t>
            </a:r>
            <a:r>
              <a:rPr lang="en-IE" altLang="zh-CN" sz="2400" b="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77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77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7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7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7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77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77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77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7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7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77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77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77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77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-2"/>
          <p:cNvSpPr>
            <a:spLocks noGrp="1" noChangeArrowheads="1"/>
          </p:cNvSpPr>
          <p:nvPr>
            <p:ph type="title"/>
          </p:nvPr>
        </p:nvSpPr>
        <p:spPr>
          <a:xfrm>
            <a:off x="193963" y="311730"/>
            <a:ext cx="8769927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2. Implémentation </a:t>
            </a:r>
            <a: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d'objets de stratégie </a:t>
            </a:r>
            <a:b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de groupe dans un domaine</a:t>
            </a:r>
            <a:r>
              <a:rPr lang="en-IE" altLang="zh-CN" b="1" dirty="0">
                <a:solidFill>
                  <a:schemeClr val="tx1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8333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46334" y="2192066"/>
            <a:ext cx="8503920" cy="3141934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Outils de création d'objets de stratégie de groupe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</a:t>
            </a: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d'un lien d'objet de stratégie de groupe 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Héritage </a:t>
            </a: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l'autorisation de stratégie de groupe dans Active Directory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-2"/>
          <p:cNvSpPr>
            <a:spLocks noGrp="1" noChangeArrowheads="1"/>
          </p:cNvSpPr>
          <p:nvPr>
            <p:ph type="title"/>
          </p:nvPr>
        </p:nvSpPr>
        <p:spPr>
          <a:xfrm>
            <a:off x="221673" y="325585"/>
            <a:ext cx="8756072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Outils de création d'objets de stratégie </a:t>
            </a:r>
            <a:b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9357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193964" y="1524872"/>
            <a:ext cx="8756071" cy="4694238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Outils de stratégie de groupe par défaut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lvl="1">
              <a:lnSpc>
                <a:spcPct val="85000"/>
              </a:lnSpc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Utilisateurs et ordinateurs Active Directory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 lvl="2"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Objets de stratégie de groupe d'un domaine et d'une unité d'organisation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dirty="0"/>
          </a:p>
          <a:p>
            <a:pPr lvl="1">
              <a:lnSpc>
                <a:spcPct val="85000"/>
              </a:lnSpc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</a:rPr>
              <a:t>Sites et services Active Directory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dirty="0">
              <a:solidFill>
                <a:srgbClr val="C00000"/>
              </a:solidFill>
            </a:endParaRPr>
          </a:p>
          <a:p>
            <a:pPr lvl="2"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Objets de stratégie de groupe d'un site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dirty="0"/>
          </a:p>
          <a:p>
            <a:pPr lvl="1">
              <a:lnSpc>
                <a:spcPct val="85000"/>
              </a:lnSpc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</a:rPr>
              <a:t>Stratégie de sécurité locale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dirty="0">
              <a:solidFill>
                <a:srgbClr val="C00000"/>
              </a:solidFill>
            </a:endParaRPr>
          </a:p>
          <a:p>
            <a:pPr lvl="2"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Paramètres de sécurité d'un ordinateur local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dirty="0"/>
          </a:p>
          <a:p>
            <a:pPr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Outils complémentaires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>
              <a:lnSpc>
                <a:spcPct val="85000"/>
              </a:lnSpc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</a:rPr>
              <a:t>Gestion de stratégie de groupe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2">
              <a:lnSpc>
                <a:spcPct val="85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Objets de stratégie de groupe d'un domaine, d'une unité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</a:rPr>
              <a:t>d'organisation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et d'un site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9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9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9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9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9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9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9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9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9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9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93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93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9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9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93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93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-2"/>
          <p:cNvSpPr>
            <a:spLocks noGrp="1" noChangeArrowheads="1"/>
          </p:cNvSpPr>
          <p:nvPr>
            <p:ph type="title"/>
          </p:nvPr>
        </p:nvSpPr>
        <p:spPr>
          <a:xfrm>
            <a:off x="207818" y="311730"/>
            <a:ext cx="8742218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 lien d'objet de stratégie </a:t>
            </a:r>
            <a:b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 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84" name="Line-336"/>
          <p:cNvSpPr>
            <a:spLocks noChangeShapeType="1"/>
          </p:cNvSpPr>
          <p:nvPr/>
        </p:nvSpPr>
        <p:spPr bwMode="auto">
          <a:xfrm>
            <a:off x="5809681" y="2931253"/>
            <a:ext cx="857250" cy="0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8785" name="Line-337"/>
          <p:cNvSpPr>
            <a:spLocks noChangeShapeType="1"/>
          </p:cNvSpPr>
          <p:nvPr/>
        </p:nvSpPr>
        <p:spPr bwMode="auto">
          <a:xfrm>
            <a:off x="2390206" y="2550253"/>
            <a:ext cx="2065338" cy="0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88786" name="Picture-338" descr="Collection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7431" y="2721703"/>
            <a:ext cx="3390900" cy="1628775"/>
          </a:xfrm>
          <a:prstGeom prst="rect">
            <a:avLst/>
          </a:prstGeom>
          <a:noFill/>
        </p:spPr>
      </p:pic>
      <p:pic>
        <p:nvPicPr>
          <p:cNvPr id="488787" name="Picture-339" descr="2DomainWithOus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5443" y="2124803"/>
            <a:ext cx="2263775" cy="2000250"/>
          </a:xfrm>
          <a:prstGeom prst="rect">
            <a:avLst/>
          </a:prstGeom>
          <a:noFill/>
        </p:spPr>
      </p:pic>
      <p:sp>
        <p:nvSpPr>
          <p:cNvPr id="488788" name="AutoShape-340"/>
          <p:cNvSpPr>
            <a:spLocks noChangeArrowheads="1"/>
          </p:cNvSpPr>
          <p:nvPr/>
        </p:nvSpPr>
        <p:spPr bwMode="auto">
          <a:xfrm>
            <a:off x="1626618" y="4656865"/>
            <a:ext cx="1519238" cy="5699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GPO d'OU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89" name="AutoShape-341"/>
          <p:cNvSpPr>
            <a:spLocks noChangeArrowheads="1"/>
          </p:cNvSpPr>
          <p:nvPr/>
        </p:nvSpPr>
        <p:spPr bwMode="auto">
          <a:xfrm>
            <a:off x="6085906" y="4656865"/>
            <a:ext cx="1519238" cy="5699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GPO d'OU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0" name="AutoShape-342"/>
          <p:cNvSpPr>
            <a:spLocks noChangeArrowheads="1"/>
          </p:cNvSpPr>
          <p:nvPr/>
        </p:nvSpPr>
        <p:spPr bwMode="auto">
          <a:xfrm>
            <a:off x="6811394" y="3472590"/>
            <a:ext cx="1390650" cy="365125"/>
          </a:xfrm>
          <a:prstGeom prst="roundRect">
            <a:avLst>
              <a:gd name="adj" fmla="val 11398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GPO de site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1" name="AutoShape-343"/>
          <p:cNvSpPr>
            <a:spLocks noChangeArrowheads="1"/>
          </p:cNvSpPr>
          <p:nvPr/>
        </p:nvSpPr>
        <p:spPr bwMode="auto">
          <a:xfrm>
            <a:off x="804293" y="3094765"/>
            <a:ext cx="1951038" cy="38258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GPO de domaine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2" name="Text-Box-344"/>
          <p:cNvSpPr txBox="1">
            <a:spLocks noChangeArrowheads="1"/>
          </p:cNvSpPr>
          <p:nvPr/>
        </p:nvSpPr>
        <p:spPr bwMode="auto">
          <a:xfrm>
            <a:off x="5776344" y="3340828"/>
            <a:ext cx="5349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6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Site</a:t>
            </a:r>
            <a:r>
              <a:rPr lang="en-IE" altLang="zh-CN" sz="16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6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3" name="Text-Box-345"/>
          <p:cNvSpPr txBox="1">
            <a:spLocks noChangeArrowheads="1"/>
          </p:cNvSpPr>
          <p:nvPr/>
        </p:nvSpPr>
        <p:spPr bwMode="auto">
          <a:xfrm>
            <a:off x="4974656" y="2134328"/>
            <a:ext cx="9318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Domaine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4" name="Text-Box-346"/>
          <p:cNvSpPr txBox="1">
            <a:spLocks noChangeArrowheads="1"/>
          </p:cNvSpPr>
          <p:nvPr/>
        </p:nvSpPr>
        <p:spPr bwMode="auto">
          <a:xfrm>
            <a:off x="5141344" y="3591653"/>
            <a:ext cx="4810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5" name="Text-Box-347"/>
          <p:cNvSpPr txBox="1">
            <a:spLocks noChangeArrowheads="1"/>
          </p:cNvSpPr>
          <p:nvPr/>
        </p:nvSpPr>
        <p:spPr bwMode="auto">
          <a:xfrm>
            <a:off x="3944368" y="3591653"/>
            <a:ext cx="4810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6" name="Text-Box-348"/>
          <p:cNvSpPr txBox="1">
            <a:spLocks noChangeArrowheads="1"/>
          </p:cNvSpPr>
          <p:nvPr/>
        </p:nvSpPr>
        <p:spPr bwMode="auto">
          <a:xfrm>
            <a:off x="4553969" y="2547078"/>
            <a:ext cx="4810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6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16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6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88797" name="Freeform-349"/>
          <p:cNvSpPr>
            <a:spLocks/>
          </p:cNvSpPr>
          <p:nvPr/>
        </p:nvSpPr>
        <p:spPr bwMode="auto">
          <a:xfrm>
            <a:off x="4241231" y="4017103"/>
            <a:ext cx="503238" cy="9683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84"/>
              </a:cxn>
              <a:cxn ang="0">
                <a:pos x="1056" y="384"/>
              </a:cxn>
            </a:cxnLst>
            <a:rect l="0" t="0" r="r" b="b"/>
            <a:pathLst>
              <a:path w="1056" h="384">
                <a:moveTo>
                  <a:pt x="0" y="0"/>
                </a:moveTo>
                <a:lnTo>
                  <a:pt x="0" y="384"/>
                </a:lnTo>
                <a:lnTo>
                  <a:pt x="1056" y="384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8798" name="Line-350"/>
          <p:cNvSpPr>
            <a:spLocks noChangeShapeType="1"/>
          </p:cNvSpPr>
          <p:nvPr/>
        </p:nvSpPr>
        <p:spPr bwMode="auto">
          <a:xfrm flipV="1">
            <a:off x="5365181" y="3994878"/>
            <a:ext cx="0" cy="631825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8799" name="Line-351"/>
          <p:cNvSpPr>
            <a:spLocks noChangeShapeType="1"/>
          </p:cNvSpPr>
          <p:nvPr/>
        </p:nvSpPr>
        <p:spPr bwMode="auto">
          <a:xfrm>
            <a:off x="2804543" y="3867878"/>
            <a:ext cx="1182688" cy="0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88800" name="Picture-352" descr="GroupPolicyObject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67843" y="2178778"/>
            <a:ext cx="1416050" cy="839787"/>
          </a:xfrm>
          <a:prstGeom prst="rect">
            <a:avLst/>
          </a:prstGeom>
          <a:noFill/>
        </p:spPr>
      </p:pic>
      <p:pic>
        <p:nvPicPr>
          <p:cNvPr id="488801" name="Picture-353" descr="GroupPolicyObject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11381" y="2559778"/>
            <a:ext cx="1416050" cy="839787"/>
          </a:xfrm>
          <a:prstGeom prst="rect">
            <a:avLst/>
          </a:prstGeom>
          <a:noFill/>
        </p:spPr>
      </p:pic>
      <p:pic>
        <p:nvPicPr>
          <p:cNvPr id="488802" name="Picture-354" descr="GroupPolicyObject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00006" y="4442553"/>
            <a:ext cx="1416050" cy="839787"/>
          </a:xfrm>
          <a:prstGeom prst="rect">
            <a:avLst/>
          </a:prstGeom>
          <a:noFill/>
        </p:spPr>
      </p:pic>
      <p:pic>
        <p:nvPicPr>
          <p:cNvPr id="488803" name="Picture-355" descr="GroupPolicyObject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1068" y="3712303"/>
            <a:ext cx="1416050" cy="8397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8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8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48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8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8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8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8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8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48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48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48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1000"/>
                                        <p:tgtEl>
                                          <p:spTgt spid="48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1000"/>
                                        <p:tgtEl>
                                          <p:spTgt spid="48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1000"/>
                                        <p:tgtEl>
                                          <p:spTgt spid="48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48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1000"/>
                                        <p:tgtEl>
                                          <p:spTgt spid="48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1000"/>
                                        <p:tgtEl>
                                          <p:spTgt spid="48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1000"/>
                                        <p:tgtEl>
                                          <p:spTgt spid="48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1000"/>
                                        <p:tgtEl>
                                          <p:spTgt spid="48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48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784" grpId="0" animBg="1"/>
      <p:bldP spid="488785" grpId="0" animBg="1"/>
      <p:bldP spid="488788" grpId="0" animBg="1"/>
      <p:bldP spid="488789" grpId="0" animBg="1"/>
      <p:bldP spid="488790" grpId="0" animBg="1"/>
      <p:bldP spid="488791" grpId="0" animBg="1"/>
      <p:bldP spid="488792" grpId="0"/>
      <p:bldP spid="488793" grpId="0"/>
      <p:bldP spid="488794" grpId="0"/>
      <p:bldP spid="488795" grpId="0"/>
      <p:bldP spid="488796" grpId="0"/>
      <p:bldP spid="488797" grpId="0" animBg="1"/>
      <p:bldP spid="488798" grpId="0" animBg="1"/>
      <p:bldP spid="4887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-2"/>
          <p:cNvSpPr>
            <a:spLocks noGrp="1" noChangeArrowheads="1"/>
          </p:cNvSpPr>
          <p:nvPr>
            <p:ph type="title"/>
          </p:nvPr>
        </p:nvSpPr>
        <p:spPr>
          <a:xfrm>
            <a:off x="207818" y="311730"/>
            <a:ext cx="8742218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 lien d'objet de stratégie </a:t>
            </a:r>
            <a:b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 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23" name="Groupe 22"/>
          <p:cNvGrpSpPr/>
          <p:nvPr/>
        </p:nvGrpSpPr>
        <p:grpSpPr>
          <a:xfrm>
            <a:off x="140150" y="1884203"/>
            <a:ext cx="4514977" cy="3835111"/>
            <a:chOff x="140150" y="1349375"/>
            <a:chExt cx="4767263" cy="4813300"/>
          </a:xfrm>
        </p:grpSpPr>
        <p:sp>
          <p:nvSpPr>
            <p:cNvPr id="24" name="AutoShape 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40150" y="1812925"/>
              <a:ext cx="898525" cy="1487488"/>
            </a:xfrm>
            <a:prstGeom prst="curvedRightArrow">
              <a:avLst>
                <a:gd name="adj1" fmla="val 30320"/>
                <a:gd name="adj2" fmla="val 63429"/>
                <a:gd name="adj3" fmla="val 33333"/>
              </a:avLst>
            </a:prstGeom>
            <a:solidFill>
              <a:srgbClr val="FF0000">
                <a:alpha val="75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AutoShape 4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86263" y="3449638"/>
              <a:ext cx="898525" cy="1487487"/>
            </a:xfrm>
            <a:prstGeom prst="curvedRightArrow">
              <a:avLst>
                <a:gd name="adj1" fmla="val 33110"/>
                <a:gd name="adj2" fmla="val 66219"/>
                <a:gd name="adj3" fmla="val 33333"/>
              </a:avLst>
            </a:prstGeom>
            <a:solidFill>
              <a:srgbClr val="FF0000">
                <a:alpha val="75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42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889700" y="4730750"/>
              <a:ext cx="1004888" cy="0"/>
            </a:xfrm>
            <a:prstGeom prst="line">
              <a:avLst/>
            </a:prstGeom>
            <a:noFill/>
            <a:ln w="76200" cap="rnd">
              <a:solidFill>
                <a:srgbClr val="CC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Line 40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2194375" y="3327400"/>
              <a:ext cx="1004888" cy="0"/>
            </a:xfrm>
            <a:prstGeom prst="line">
              <a:avLst/>
            </a:prstGeom>
            <a:noFill/>
            <a:ln w="76200" cap="rnd">
              <a:solidFill>
                <a:srgbClr val="CC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" name="Line 5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1295850" y="2332038"/>
              <a:ext cx="1316038" cy="213995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Line 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2195963" y="1949450"/>
              <a:ext cx="708025" cy="0"/>
            </a:xfrm>
            <a:prstGeom prst="line">
              <a:avLst/>
            </a:prstGeom>
            <a:noFill/>
            <a:ln w="76200" cap="rnd">
              <a:solidFill>
                <a:srgbClr val="CC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Oval 4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54488" y="1560513"/>
              <a:ext cx="1519237" cy="809625"/>
            </a:xfrm>
            <a:prstGeom prst="ellipse">
              <a:avLst/>
            </a:prstGeom>
            <a:solidFill>
              <a:srgbClr val="FFFFFF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31" name="Picture 22" descr="Collection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481463" y="1560513"/>
              <a:ext cx="1666875" cy="81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991050" y="1782763"/>
              <a:ext cx="64928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fr-FR">
                  <a:solidFill>
                    <a:srgbClr val="000000"/>
                  </a:solidFill>
                </a:rPr>
                <a:t>Site</a:t>
              </a:r>
              <a:endParaRPr lang="en-US"/>
            </a:p>
          </p:txBody>
        </p:sp>
        <p:pic>
          <p:nvPicPr>
            <p:cNvPr id="33" name="Picture 31" descr="2Domain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1106938" y="2757488"/>
              <a:ext cx="1506537" cy="1328737"/>
            </a:xfrm>
            <a:prstGeom prst="rect">
              <a:avLst/>
            </a:prstGeom>
            <a:noFill/>
          </p:spPr>
        </p:pic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1335538" y="3463925"/>
              <a:ext cx="1050925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fr-FR">
                  <a:solidFill>
                    <a:srgbClr val="000000"/>
                  </a:solidFill>
                </a:rPr>
                <a:t>Domaine</a:t>
              </a:r>
              <a:endParaRPr lang="en-US"/>
            </a:p>
          </p:txBody>
        </p:sp>
        <p:sp>
          <p:nvSpPr>
            <p:cNvPr id="35" name="Line 17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1973713" y="4819650"/>
              <a:ext cx="685800" cy="99060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Line 18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 flipV="1">
              <a:off x="2735713" y="4819650"/>
              <a:ext cx="685800" cy="99060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Oval 19"/>
            <p:cNvSpPr>
              <a:spLocks noChangeArrowheads="1"/>
            </p:cNvSpPr>
            <p:nvPr/>
          </p:nvSpPr>
          <p:spPr bwMode="auto">
            <a:xfrm>
              <a:off x="3123063" y="5570538"/>
              <a:ext cx="633412" cy="592137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006666"/>
                </a:gs>
              </a:gsLst>
              <a:path path="rect">
                <a:fillToRect r="100000" b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>
              <a:outerShdw dist="63500" dir="3187806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fr-FR">
                  <a:solidFill>
                    <a:srgbClr val="000000"/>
                  </a:solidFill>
                </a:rPr>
                <a:t>OU</a:t>
              </a:r>
              <a:endParaRPr lang="en-US"/>
            </a:p>
          </p:txBody>
        </p:sp>
        <p:sp>
          <p:nvSpPr>
            <p:cNvPr id="38" name="Oval 20"/>
            <p:cNvSpPr>
              <a:spLocks noChangeArrowheads="1"/>
            </p:cNvSpPr>
            <p:nvPr/>
          </p:nvSpPr>
          <p:spPr bwMode="auto">
            <a:xfrm>
              <a:off x="1675263" y="5570538"/>
              <a:ext cx="633412" cy="592137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006666"/>
                </a:gs>
              </a:gsLst>
              <a:path path="rect">
                <a:fillToRect r="100000" b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>
              <a:outerShdw dist="63500" dir="3187806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fr-FR">
                  <a:solidFill>
                    <a:srgbClr val="000000"/>
                  </a:solidFill>
                </a:rPr>
                <a:t>OU</a:t>
              </a:r>
              <a:endParaRPr lang="en-US"/>
            </a:p>
          </p:txBody>
        </p:sp>
        <p:sp>
          <p:nvSpPr>
            <p:cNvPr id="39" name="AutoShape 4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905450" y="4598988"/>
              <a:ext cx="679450" cy="1123950"/>
            </a:xfrm>
            <a:prstGeom prst="curvedRightArrow">
              <a:avLst>
                <a:gd name="adj1" fmla="val 33084"/>
                <a:gd name="adj2" fmla="val 66168"/>
                <a:gd name="adj3" fmla="val 33333"/>
              </a:avLst>
            </a:prstGeom>
            <a:solidFill>
              <a:srgbClr val="FF0000">
                <a:alpha val="75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pic>
          <p:nvPicPr>
            <p:cNvPr id="40" name="Picture 23" descr="2Ou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332488" y="4406900"/>
              <a:ext cx="750887" cy="750888"/>
            </a:xfrm>
            <a:prstGeom prst="rect">
              <a:avLst/>
            </a:prstGeom>
            <a:noFill/>
          </p:spPr>
        </p:pic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2349950" y="4597400"/>
              <a:ext cx="7175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fr-FR">
                  <a:solidFill>
                    <a:srgbClr val="000000"/>
                  </a:solidFill>
                </a:rPr>
                <a:t>OU</a:t>
              </a:r>
              <a:endParaRPr lang="en-US"/>
            </a:p>
          </p:txBody>
        </p:sp>
        <p:sp>
          <p:nvSpPr>
            <p:cNvPr id="42" name="AutoShape 52"/>
            <p:cNvSpPr>
              <a:spLocks noChangeArrowheads="1"/>
            </p:cNvSpPr>
            <p:nvPr/>
          </p:nvSpPr>
          <p:spPr bwMode="auto">
            <a:xfrm>
              <a:off x="2619825" y="1349375"/>
              <a:ext cx="746125" cy="276225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GPO1</a:t>
              </a:r>
              <a:endParaRPr lang="en-US"/>
            </a:p>
          </p:txBody>
        </p:sp>
        <p:pic>
          <p:nvPicPr>
            <p:cNvPr id="43" name="Picture 29" descr="GroupPolicyObject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2619825" y="1625600"/>
              <a:ext cx="1090613" cy="646113"/>
            </a:xfrm>
            <a:prstGeom prst="rect">
              <a:avLst/>
            </a:prstGeom>
            <a:noFill/>
          </p:spPr>
        </p:pic>
        <p:sp>
          <p:nvSpPr>
            <p:cNvPr id="44" name="AutoShape 53"/>
            <p:cNvSpPr>
              <a:spLocks noChangeArrowheads="1"/>
            </p:cNvSpPr>
            <p:nvPr/>
          </p:nvSpPr>
          <p:spPr bwMode="auto">
            <a:xfrm>
              <a:off x="3045275" y="2635250"/>
              <a:ext cx="746125" cy="276225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GPO2</a:t>
              </a:r>
              <a:endParaRPr lang="en-US"/>
            </a:p>
          </p:txBody>
        </p:sp>
        <p:pic>
          <p:nvPicPr>
            <p:cNvPr id="45" name="Picture 54" descr="GroupPolicyObject01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045275" y="2911475"/>
              <a:ext cx="1090613" cy="646113"/>
            </a:xfrm>
            <a:prstGeom prst="rect">
              <a:avLst/>
            </a:prstGeom>
            <a:noFill/>
          </p:spPr>
        </p:pic>
        <p:sp>
          <p:nvSpPr>
            <p:cNvPr id="46" name="AutoShape 55"/>
            <p:cNvSpPr>
              <a:spLocks noChangeArrowheads="1"/>
            </p:cNvSpPr>
            <p:nvPr/>
          </p:nvSpPr>
          <p:spPr bwMode="auto">
            <a:xfrm>
              <a:off x="3331025" y="3111500"/>
              <a:ext cx="746125" cy="276225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GPO3</a:t>
              </a:r>
              <a:endParaRPr lang="en-US"/>
            </a:p>
          </p:txBody>
        </p:sp>
        <p:pic>
          <p:nvPicPr>
            <p:cNvPr id="47" name="Picture 56" descr="GroupPolicyObject01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331025" y="3387725"/>
              <a:ext cx="1090613" cy="646113"/>
            </a:xfrm>
            <a:prstGeom prst="rect">
              <a:avLst/>
            </a:prstGeom>
            <a:noFill/>
          </p:spPr>
        </p:pic>
        <p:sp>
          <p:nvSpPr>
            <p:cNvPr id="48" name="AutoShape 57"/>
            <p:cNvSpPr>
              <a:spLocks noChangeArrowheads="1"/>
            </p:cNvSpPr>
            <p:nvPr/>
          </p:nvSpPr>
          <p:spPr bwMode="auto">
            <a:xfrm>
              <a:off x="3816800" y="4321175"/>
              <a:ext cx="746125" cy="276225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GPO4</a:t>
              </a:r>
              <a:endParaRPr lang="en-US"/>
            </a:p>
          </p:txBody>
        </p:sp>
        <p:pic>
          <p:nvPicPr>
            <p:cNvPr id="49" name="Picture 58" descr="GroupPolicyObject01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816800" y="4597400"/>
              <a:ext cx="1090613" cy="646113"/>
            </a:xfrm>
            <a:prstGeom prst="rect">
              <a:avLst/>
            </a:prstGeom>
            <a:noFill/>
          </p:spPr>
        </p:pic>
      </p:grpSp>
      <p:sp>
        <p:nvSpPr>
          <p:cNvPr id="50" name="ZoneTexte 49"/>
          <p:cNvSpPr txBox="1"/>
          <p:nvPr/>
        </p:nvSpPr>
        <p:spPr>
          <a:xfrm>
            <a:off x="4940135" y="2026708"/>
            <a:ext cx="382385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Vous pouvez lier un GPO à un site, un domaine ou un OU.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Un GPO peut être associé à plusieurs conteneurs et vice-versa.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L’ordre de priorité par défaut est site, domaine puis OU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-2"/>
          <p:cNvSpPr>
            <a:spLocks noGrp="1" noChangeArrowheads="1"/>
          </p:cNvSpPr>
          <p:nvPr>
            <p:ph type="title"/>
          </p:nvPr>
        </p:nvSpPr>
        <p:spPr>
          <a:xfrm>
            <a:off x="193964" y="228600"/>
            <a:ext cx="8642188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Héritage de l'autorisation de stratégie de groupe dans Active Directory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43" name="AutoShape-7"/>
          <p:cNvSpPr>
            <a:spLocks noChangeArrowheads="1"/>
          </p:cNvSpPr>
          <p:nvPr/>
        </p:nvSpPr>
        <p:spPr bwMode="auto">
          <a:xfrm>
            <a:off x="1034474" y="1828799"/>
            <a:ext cx="4881418" cy="3579813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CCFFFF"/>
              </a:gs>
              <a:gs pos="100000">
                <a:srgbClr val="99CCFF"/>
              </a:gs>
            </a:gsLst>
            <a:lin ang="5400000" scaled="1"/>
          </a:gradFill>
          <a:ln w="19050">
            <a:solidFill>
              <a:srgbClr val="333399"/>
            </a:solidFill>
            <a:miter lim="800000"/>
            <a:headEnd/>
            <a:tailEnd/>
          </a:ln>
          <a:effectLst>
            <a:outerShdw dist="71842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Domaine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44" name="Line-8"/>
          <p:cNvSpPr>
            <a:spLocks noChangeShapeType="1"/>
          </p:cNvSpPr>
          <p:nvPr/>
        </p:nvSpPr>
        <p:spPr bwMode="auto">
          <a:xfrm flipV="1">
            <a:off x="4260850" y="2460625"/>
            <a:ext cx="1981200" cy="1020763"/>
          </a:xfrm>
          <a:prstGeom prst="line">
            <a:avLst/>
          </a:prstGeom>
          <a:noFill/>
          <a:ln w="76200" cap="rnd">
            <a:solidFill>
              <a:srgbClr val="CE007B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526345" name="Line-9"/>
          <p:cNvSpPr>
            <a:spLocks noChangeShapeType="1"/>
          </p:cNvSpPr>
          <p:nvPr/>
        </p:nvSpPr>
        <p:spPr bwMode="auto">
          <a:xfrm>
            <a:off x="3630613" y="3035300"/>
            <a:ext cx="1447800" cy="2033588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26346" name="Oval-10"/>
          <p:cNvSpPr>
            <a:spLocks noChangeArrowheads="1"/>
          </p:cNvSpPr>
          <p:nvPr/>
        </p:nvSpPr>
        <p:spPr bwMode="auto">
          <a:xfrm>
            <a:off x="3711575" y="3328988"/>
            <a:ext cx="668338" cy="569912"/>
          </a:xfrm>
          <a:prstGeom prst="ellipse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47" name="Line-11"/>
          <p:cNvSpPr>
            <a:spLocks noChangeShapeType="1"/>
          </p:cNvSpPr>
          <p:nvPr/>
        </p:nvSpPr>
        <p:spPr bwMode="auto">
          <a:xfrm flipH="1">
            <a:off x="2682875" y="3036888"/>
            <a:ext cx="790575" cy="61277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26348" name="Oval-12"/>
          <p:cNvSpPr>
            <a:spLocks noChangeArrowheads="1"/>
          </p:cNvSpPr>
          <p:nvPr/>
        </p:nvSpPr>
        <p:spPr bwMode="auto">
          <a:xfrm>
            <a:off x="2400300" y="3319463"/>
            <a:ext cx="668338" cy="569912"/>
          </a:xfrm>
          <a:prstGeom prst="ellipse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49" name="Oval-13"/>
          <p:cNvSpPr>
            <a:spLocks noChangeArrowheads="1"/>
          </p:cNvSpPr>
          <p:nvPr/>
        </p:nvSpPr>
        <p:spPr bwMode="auto">
          <a:xfrm>
            <a:off x="3130550" y="2744788"/>
            <a:ext cx="666750" cy="568325"/>
          </a:xfrm>
          <a:prstGeom prst="ellipse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50" name="Line-14"/>
          <p:cNvSpPr>
            <a:spLocks noChangeShapeType="1"/>
          </p:cNvSpPr>
          <p:nvPr/>
        </p:nvSpPr>
        <p:spPr bwMode="auto">
          <a:xfrm flipH="1">
            <a:off x="4213225" y="1820863"/>
            <a:ext cx="577850" cy="1554162"/>
          </a:xfrm>
          <a:prstGeom prst="line">
            <a:avLst/>
          </a:prstGeom>
          <a:noFill/>
          <a:ln w="76200" cap="rnd">
            <a:solidFill>
              <a:srgbClr val="CE007B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526351" name="Line-15"/>
          <p:cNvSpPr>
            <a:spLocks noChangeShapeType="1"/>
          </p:cNvSpPr>
          <p:nvPr/>
        </p:nvSpPr>
        <p:spPr bwMode="auto">
          <a:xfrm flipV="1">
            <a:off x="4732338" y="3568700"/>
            <a:ext cx="1536700" cy="598488"/>
          </a:xfrm>
          <a:prstGeom prst="line">
            <a:avLst/>
          </a:prstGeom>
          <a:noFill/>
          <a:ln w="76200" cap="rnd">
            <a:solidFill>
              <a:srgbClr val="CE007B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526352" name="Oval-16"/>
          <p:cNvSpPr>
            <a:spLocks noChangeArrowheads="1"/>
          </p:cNvSpPr>
          <p:nvPr/>
        </p:nvSpPr>
        <p:spPr bwMode="auto">
          <a:xfrm>
            <a:off x="4210050" y="4030663"/>
            <a:ext cx="668338" cy="569912"/>
          </a:xfrm>
          <a:prstGeom prst="ellipse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53" name="Oval-17"/>
          <p:cNvSpPr>
            <a:spLocks noChangeArrowheads="1"/>
          </p:cNvSpPr>
          <p:nvPr/>
        </p:nvSpPr>
        <p:spPr bwMode="auto">
          <a:xfrm>
            <a:off x="4710113" y="4724400"/>
            <a:ext cx="668337" cy="569913"/>
          </a:xfrm>
          <a:prstGeom prst="ellipse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26354" name="Line-18"/>
          <p:cNvSpPr>
            <a:spLocks noChangeShapeType="1"/>
          </p:cNvSpPr>
          <p:nvPr/>
        </p:nvSpPr>
        <p:spPr bwMode="auto">
          <a:xfrm>
            <a:off x="3514725" y="5051425"/>
            <a:ext cx="1189038" cy="952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26355" name="Text-Box-19"/>
          <p:cNvSpPr txBox="1">
            <a:spLocks noChangeArrowheads="1"/>
          </p:cNvSpPr>
          <p:nvPr/>
        </p:nvSpPr>
        <p:spPr bwMode="auto">
          <a:xfrm>
            <a:off x="2379663" y="4662488"/>
            <a:ext cx="1371600" cy="730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altLang="zh-CN" sz="1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Comptes </a:t>
            </a:r>
            <a:endParaRPr lang="en-US" sz="1400">
              <a:ea typeface="SimSun" pitchFamily="2" charset="-122"/>
              <a:cs typeface="Times New Roman" charset="0"/>
            </a:endParaRPr>
          </a:p>
          <a:p>
            <a:pPr>
              <a:lnSpc>
                <a:spcPct val="100000"/>
              </a:lnSpc>
            </a:pPr>
            <a:r>
              <a:rPr lang="fr-FR" altLang="zh-CN" sz="1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d'utilisateurs </a:t>
            </a:r>
            <a:endParaRPr lang="en-US" sz="1400">
              <a:ea typeface="SimSun" pitchFamily="2" charset="-122"/>
              <a:cs typeface="Times New Roman" charset="0"/>
            </a:endParaRPr>
          </a:p>
          <a:p>
            <a:pPr>
              <a:lnSpc>
                <a:spcPct val="100000"/>
              </a:lnSpc>
            </a:pPr>
            <a:r>
              <a:rPr lang="fr-FR" altLang="zh-CN" sz="1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ou d'ordinateurs</a:t>
            </a:r>
            <a:r>
              <a:rPr lang="en-IE" altLang="zh-CN" sz="1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14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254" name="Picture-353" descr="GroupPolicyObject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018" y="1160469"/>
            <a:ext cx="1416050" cy="839787"/>
          </a:xfrm>
          <a:prstGeom prst="rect">
            <a:avLst/>
          </a:prstGeom>
          <a:noFill/>
        </p:spPr>
      </p:pic>
      <p:pic>
        <p:nvPicPr>
          <p:cNvPr id="255" name="Picture-353" descr="GroupPolicyObject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7200" y="2019451"/>
            <a:ext cx="1416050" cy="839787"/>
          </a:xfrm>
          <a:prstGeom prst="rect">
            <a:avLst/>
          </a:prstGeom>
          <a:noFill/>
        </p:spPr>
      </p:pic>
      <p:pic>
        <p:nvPicPr>
          <p:cNvPr id="256" name="Picture-353" descr="GroupPolicyObject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84908" y="3086251"/>
            <a:ext cx="1416050" cy="839787"/>
          </a:xfrm>
          <a:prstGeom prst="rect">
            <a:avLst/>
          </a:prstGeom>
          <a:noFill/>
        </p:spPr>
      </p:pic>
      <p:sp>
        <p:nvSpPr>
          <p:cNvPr id="257" name="AutoShape-342"/>
          <p:cNvSpPr>
            <a:spLocks noChangeArrowheads="1"/>
          </p:cNvSpPr>
          <p:nvPr/>
        </p:nvSpPr>
        <p:spPr bwMode="auto">
          <a:xfrm>
            <a:off x="6257213" y="1435972"/>
            <a:ext cx="1390650" cy="365125"/>
          </a:xfrm>
          <a:prstGeom prst="roundRect">
            <a:avLst>
              <a:gd name="adj" fmla="val 11398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GPO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1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258" name="AutoShape-342"/>
          <p:cNvSpPr>
            <a:spLocks noChangeArrowheads="1"/>
          </p:cNvSpPr>
          <p:nvPr/>
        </p:nvSpPr>
        <p:spPr bwMode="auto">
          <a:xfrm>
            <a:off x="7573394" y="2322663"/>
            <a:ext cx="1390650" cy="365125"/>
          </a:xfrm>
          <a:prstGeom prst="roundRect">
            <a:avLst>
              <a:gd name="adj" fmla="val 11398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GPO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2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259" name="AutoShape-342"/>
          <p:cNvSpPr>
            <a:spLocks noChangeArrowheads="1"/>
          </p:cNvSpPr>
          <p:nvPr/>
        </p:nvSpPr>
        <p:spPr bwMode="auto">
          <a:xfrm>
            <a:off x="7614800" y="3375608"/>
            <a:ext cx="1390650" cy="365125"/>
          </a:xfrm>
          <a:prstGeom prst="roundRect">
            <a:avLst>
              <a:gd name="adj" fmla="val 11398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GPO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3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207818" y="5657928"/>
            <a:ext cx="8742218" cy="720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Un conteneur enfant hérite des objets de stratégie de groupe du conteneur parent. 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66255" y="5745153"/>
            <a:ext cx="8742218" cy="4062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Les objets de stratégie de groupe sont cumulatifs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0" y="5630219"/>
            <a:ext cx="8742218" cy="10341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Si plusieurs objets de stratégie de groupe ont la même valeur, le dernier objet de stratégie de groupe appliqué prime par défaut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4" grpId="0" animBg="1"/>
      <p:bldP spid="526350" grpId="0" animBg="1"/>
      <p:bldP spid="526351" grpId="0" animBg="1"/>
      <p:bldP spid="257" grpId="0" animBg="1"/>
      <p:bldP spid="258" grpId="0" animBg="1"/>
      <p:bldP spid="259" grpId="0" animBg="1"/>
      <p:bldP spid="260" grpId="0" animBg="1"/>
      <p:bldP spid="260" grpId="1" animBg="1"/>
      <p:bldP spid="262" grpId="0" animBg="1"/>
      <p:bldP spid="262" grpId="1" animBg="1"/>
      <p:bldP spid="2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24169" t="23828" r="24048" b="42750"/>
          <a:stretch>
            <a:fillRect/>
          </a:stretch>
        </p:blipFill>
        <p:spPr bwMode="auto">
          <a:xfrm>
            <a:off x="221673" y="1369001"/>
            <a:ext cx="8700654" cy="3171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 l="22668" t="70872" r="28551" b="25806"/>
          <a:stretch>
            <a:fillRect/>
          </a:stretch>
        </p:blipFill>
        <p:spPr bwMode="auto">
          <a:xfrm>
            <a:off x="235527" y="5361709"/>
            <a:ext cx="8645206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152405" y="4655128"/>
            <a:ext cx="8797636" cy="66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200" dirty="0" smtClean="0"/>
              <a:t>Quels sont les paramètres de stratégie de groupe résultants pour un utilisateur dans l'OU?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24481" t="30303" r="22463" b="60606"/>
          <a:stretch>
            <a:fillRect/>
          </a:stretch>
        </p:blipFill>
        <p:spPr bwMode="auto">
          <a:xfrm>
            <a:off x="180109" y="1371599"/>
            <a:ext cx="8881084" cy="123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 l="22567" t="39583" r="22463" b="26704"/>
          <a:stretch>
            <a:fillRect/>
          </a:stretch>
        </p:blipFill>
        <p:spPr bwMode="auto">
          <a:xfrm>
            <a:off x="109030" y="2826327"/>
            <a:ext cx="8841000" cy="3061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Connecteur droit 9"/>
          <p:cNvCxnSpPr/>
          <p:nvPr/>
        </p:nvCxnSpPr>
        <p:spPr>
          <a:xfrm rot="10800000">
            <a:off x="872836" y="3283528"/>
            <a:ext cx="2119746" cy="6927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rot="10800000">
            <a:off x="1385455" y="3962401"/>
            <a:ext cx="1593272" cy="27709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rot="10800000" flipV="1">
            <a:off x="1413164" y="4364183"/>
            <a:ext cx="1593272" cy="29094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rot="10800000">
            <a:off x="1399310" y="4017819"/>
            <a:ext cx="1593273" cy="1330039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l="22719" t="39583" r="22904" b="27462"/>
          <a:stretch>
            <a:fillRect/>
          </a:stretch>
        </p:blipFill>
        <p:spPr bwMode="auto">
          <a:xfrm>
            <a:off x="166251" y="2826327"/>
            <a:ext cx="8890291" cy="304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 l="30056" t="30078" r="24630" b="64086"/>
          <a:stretch>
            <a:fillRect/>
          </a:stretch>
        </p:blipFill>
        <p:spPr bwMode="auto">
          <a:xfrm>
            <a:off x="166253" y="1410567"/>
            <a:ext cx="8797422" cy="639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Connecteur droit 13"/>
          <p:cNvCxnSpPr/>
          <p:nvPr/>
        </p:nvCxnSpPr>
        <p:spPr>
          <a:xfrm rot="10800000" flipV="1">
            <a:off x="1911927" y="4378039"/>
            <a:ext cx="1149928" cy="94210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rot="10800000">
            <a:off x="1496292" y="4031673"/>
            <a:ext cx="1593273" cy="1371602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rot="10800000">
            <a:off x="1510146" y="4765965"/>
            <a:ext cx="1537855" cy="623457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rot="10800000">
            <a:off x="1039092" y="3325092"/>
            <a:ext cx="1953491" cy="27711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22674" t="39583" r="22904" b="27273"/>
          <a:stretch>
            <a:fillRect/>
          </a:stretch>
        </p:blipFill>
        <p:spPr bwMode="auto">
          <a:xfrm>
            <a:off x="180100" y="3325092"/>
            <a:ext cx="8822329" cy="3034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 l="29840" t="30273" r="28276" b="60228"/>
          <a:stretch>
            <a:fillRect/>
          </a:stretch>
        </p:blipFill>
        <p:spPr bwMode="auto">
          <a:xfrm>
            <a:off x="180108" y="1591109"/>
            <a:ext cx="8779004" cy="112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Connecteur droit 10"/>
          <p:cNvCxnSpPr/>
          <p:nvPr/>
        </p:nvCxnSpPr>
        <p:spPr>
          <a:xfrm rot="10800000">
            <a:off x="969818" y="3796146"/>
            <a:ext cx="2064330" cy="2771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rot="10800000" flipV="1">
            <a:off x="1981201" y="5888185"/>
            <a:ext cx="1094513" cy="2770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rot="10800000" flipV="1">
            <a:off x="1468582" y="4862949"/>
            <a:ext cx="1579420" cy="33250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-2"/>
          <p:cNvSpPr>
            <a:spLocks noGrp="1" noChangeArrowheads="1"/>
          </p:cNvSpPr>
          <p:nvPr>
            <p:ph type="title"/>
          </p:nvPr>
        </p:nvSpPr>
        <p:spPr>
          <a:xfrm>
            <a:off x="173182" y="410297"/>
            <a:ext cx="8763000" cy="684212"/>
          </a:xfrm>
        </p:spPr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3. Administration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du déploiement d'une stratégie de groupe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561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35527" y="1496291"/>
            <a:ext cx="8645237" cy="4932217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Impact de l'existence d'objets de stratégie de groupe conflictuels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Blocage du déploiement d'un objet de stratégie </a:t>
            </a:r>
            <a:b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Procédure de blocage du déploiement d'un objet </a:t>
            </a:r>
            <a:b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stratégie 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Attributs d'un lien d'objet de stratégie 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Procédure de configuration de l'application d'une stratégie 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Filtrage du déploiement d'un objet de stratégie </a:t>
            </a:r>
            <a:b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Procédure de configuration du filtrage d'une stratégie </a:t>
            </a:r>
            <a:b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-2"/>
          <p:cNvSpPr>
            <a:spLocks noGrp="1" noChangeArrowheads="1"/>
          </p:cNvSpPr>
          <p:nvPr>
            <p:ph type="title"/>
          </p:nvPr>
        </p:nvSpPr>
        <p:spPr>
          <a:xfrm>
            <a:off x="193963" y="228600"/>
            <a:ext cx="8769927" cy="758952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Impact de l'existence d'objets de stratégie </a:t>
            </a:r>
            <a:b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groupe conflictuels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9869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7"/>
            <a:ext cx="8503920" cy="5040007"/>
          </a:xfrm>
        </p:spPr>
        <p:txBody>
          <a:bodyPr>
            <a:normAutofit lnSpcReduction="10000"/>
          </a:bodyPr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Procédure de résolution des conflits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Lorsque les paramètres de stratégie de groupe dans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la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hiérarchie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AD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sont en conflit, ceux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l'objet </a:t>
            </a: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du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conteneur enfant prévalent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Options de modification de l'héritage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b="1" u="sng" dirty="0">
                <a:solidFill>
                  <a:srgbClr val="000000"/>
                </a:solidFill>
                <a:ea typeface="SimSun" pitchFamily="2" charset="-122"/>
              </a:rPr>
              <a:t>Ne pas passer outre</a:t>
            </a:r>
            <a:r>
              <a:rPr lang="en-IE" altLang="zh-CN" b="1" u="sng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b="1" u="sng" dirty="0" smtClean="0">
              <a:solidFill>
                <a:srgbClr val="000000"/>
              </a:solidFill>
              <a:ea typeface="SimSun" pitchFamily="2" charset="-122"/>
            </a:endParaRPr>
          </a:p>
          <a:p>
            <a:pPr marL="273050" indent="-9525">
              <a:buNone/>
            </a:pPr>
            <a:r>
              <a:rPr lang="fr-FR" sz="2200" dirty="0" smtClean="0"/>
              <a:t>Permet d’empêcher les conteneurs enfants de remplacer un objet de stratégie de groupe avec un paramètre de priorité supérieure</a:t>
            </a:r>
            <a:endParaRPr lang="en-US" sz="2200" dirty="0"/>
          </a:p>
          <a:p>
            <a:pPr lvl="1"/>
            <a:r>
              <a:rPr lang="fr-FR" altLang="zh-CN" b="1" u="sng" dirty="0">
                <a:solidFill>
                  <a:srgbClr val="000000"/>
                </a:solidFill>
                <a:ea typeface="SimSun" pitchFamily="2" charset="-122"/>
              </a:rPr>
              <a:t>Bloquer l'héritage de stratégies</a:t>
            </a:r>
            <a:r>
              <a:rPr lang="en-IE" altLang="zh-CN" b="1" u="sng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b="1" u="sng" dirty="0" smtClean="0">
              <a:solidFill>
                <a:srgbClr val="000000"/>
              </a:solidFill>
              <a:ea typeface="SimSun" pitchFamily="2" charset="-122"/>
            </a:endParaRPr>
          </a:p>
          <a:p>
            <a:pPr marL="273050" indent="-9525">
              <a:buNone/>
            </a:pPr>
            <a:r>
              <a:rPr lang="fr-FR" sz="2200" dirty="0" smtClean="0"/>
              <a:t>Permet de forcer un conteneur enfant à bloquer l’héritage de tous les conteneurs parents</a:t>
            </a:r>
          </a:p>
          <a:p>
            <a:pPr marL="273050" indent="-9525">
              <a:buNone/>
            </a:pPr>
            <a:r>
              <a:rPr lang="fr-FR" sz="2200" dirty="0" smtClean="0"/>
              <a:t>En cas de conflit, l’option Ne pas passer outre est toujours prioritaire par rapport à l’option Bloquer l’héritage de stratégies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9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Blocage du déploiement d'un objet de stratégie 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1216" name="AutoShape-480"/>
          <p:cNvSpPr>
            <a:spLocks noChangeArrowheads="1"/>
          </p:cNvSpPr>
          <p:nvPr/>
        </p:nvSpPr>
        <p:spPr bwMode="auto">
          <a:xfrm>
            <a:off x="4098925" y="1477963"/>
            <a:ext cx="2557463" cy="4625975"/>
          </a:xfrm>
          <a:prstGeom prst="roundRect">
            <a:avLst>
              <a:gd name="adj" fmla="val 3995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501217" name="Line-481"/>
          <p:cNvSpPr>
            <a:spLocks noChangeShapeType="1"/>
          </p:cNvSpPr>
          <p:nvPr/>
        </p:nvSpPr>
        <p:spPr bwMode="auto">
          <a:xfrm>
            <a:off x="4035425" y="3719513"/>
            <a:ext cx="2538413" cy="0"/>
          </a:xfrm>
          <a:prstGeom prst="line">
            <a:avLst/>
          </a:prstGeom>
          <a:noFill/>
          <a:ln w="7620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01218" name="AutoShape-482"/>
          <p:cNvSpPr>
            <a:spLocks/>
          </p:cNvSpPr>
          <p:nvPr/>
        </p:nvSpPr>
        <p:spPr bwMode="auto">
          <a:xfrm>
            <a:off x="4189413" y="4562475"/>
            <a:ext cx="915987" cy="1196975"/>
          </a:xfrm>
          <a:prstGeom prst="leftBrace">
            <a:avLst>
              <a:gd name="adj1" fmla="val 11960"/>
              <a:gd name="adj2" fmla="val 50000"/>
            </a:avLst>
          </a:prstGeom>
          <a:noFill/>
          <a:ln w="38100">
            <a:solidFill>
              <a:srgbClr val="3399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01219" name="Freeform-483"/>
          <p:cNvSpPr>
            <a:spLocks/>
          </p:cNvSpPr>
          <p:nvPr/>
        </p:nvSpPr>
        <p:spPr bwMode="auto">
          <a:xfrm>
            <a:off x="5157788" y="2471738"/>
            <a:ext cx="458787" cy="7508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01220" name="Text-Box-484"/>
          <p:cNvSpPr txBox="1">
            <a:spLocks noChangeArrowheads="1"/>
          </p:cNvSpPr>
          <p:nvPr/>
        </p:nvSpPr>
        <p:spPr bwMode="auto">
          <a:xfrm>
            <a:off x="5376863" y="3897313"/>
            <a:ext cx="654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Sales</a:t>
            </a:r>
          </a:p>
        </p:txBody>
      </p:sp>
      <p:grpSp>
        <p:nvGrpSpPr>
          <p:cNvPr id="501221" name="Group-485"/>
          <p:cNvGrpSpPr>
            <a:grpSpLocks/>
          </p:cNvGrpSpPr>
          <p:nvPr/>
        </p:nvGrpSpPr>
        <p:grpSpPr bwMode="auto">
          <a:xfrm>
            <a:off x="5648325" y="2987675"/>
            <a:ext cx="423863" cy="412750"/>
            <a:chOff x="2371" y="1690"/>
            <a:chExt cx="278" cy="269"/>
          </a:xfrm>
        </p:grpSpPr>
        <p:sp>
          <p:nvSpPr>
            <p:cNvPr id="501222" name="Freeform-486"/>
            <p:cNvSpPr>
              <a:spLocks/>
            </p:cNvSpPr>
            <p:nvPr/>
          </p:nvSpPr>
          <p:spPr bwMode="auto">
            <a:xfrm>
              <a:off x="2382" y="1851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223" name="Freeform-487"/>
            <p:cNvSpPr>
              <a:spLocks/>
            </p:cNvSpPr>
            <p:nvPr/>
          </p:nvSpPr>
          <p:spPr bwMode="auto">
            <a:xfrm>
              <a:off x="2371" y="1839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224" name="Rectangle-488"/>
            <p:cNvSpPr>
              <a:spLocks noChangeArrowheads="1"/>
            </p:cNvSpPr>
            <p:nvPr/>
          </p:nvSpPr>
          <p:spPr bwMode="auto">
            <a:xfrm>
              <a:off x="2384" y="1881"/>
              <a:ext cx="205" cy="53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25" name="Rectangle-489"/>
            <p:cNvSpPr>
              <a:spLocks noChangeArrowheads="1"/>
            </p:cNvSpPr>
            <p:nvPr/>
          </p:nvSpPr>
          <p:spPr bwMode="auto">
            <a:xfrm>
              <a:off x="2395" y="1890"/>
              <a:ext cx="194" cy="44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26" name="Rectangle-490"/>
            <p:cNvSpPr>
              <a:spLocks noChangeArrowheads="1"/>
            </p:cNvSpPr>
            <p:nvPr/>
          </p:nvSpPr>
          <p:spPr bwMode="auto">
            <a:xfrm>
              <a:off x="2512" y="1901"/>
              <a:ext cx="68" cy="10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27" name="Rectangle-491"/>
            <p:cNvSpPr>
              <a:spLocks noChangeArrowheads="1"/>
            </p:cNvSpPr>
            <p:nvPr/>
          </p:nvSpPr>
          <p:spPr bwMode="auto">
            <a:xfrm>
              <a:off x="2400" y="1900"/>
              <a:ext cx="24" cy="14"/>
            </a:xfrm>
            <a:prstGeom prst="rect">
              <a:avLst/>
            </a:prstGeom>
            <a:solidFill>
              <a:srgbClr val="037C03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28" name="Freeform-492"/>
            <p:cNvSpPr>
              <a:spLocks/>
            </p:cNvSpPr>
            <p:nvPr/>
          </p:nvSpPr>
          <p:spPr bwMode="auto">
            <a:xfrm>
              <a:off x="2407" y="1701"/>
              <a:ext cx="215" cy="170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501229" name="Group 493"/>
            <p:cNvGrpSpPr>
              <a:grpSpLocks/>
            </p:cNvGrpSpPr>
            <p:nvPr/>
          </p:nvGrpSpPr>
          <p:grpSpPr bwMode="auto">
            <a:xfrm>
              <a:off x="2395" y="1690"/>
              <a:ext cx="215" cy="170"/>
              <a:chOff x="2395" y="1690"/>
              <a:chExt cx="215" cy="170"/>
            </a:xfrm>
          </p:grpSpPr>
          <p:sp>
            <p:nvSpPr>
              <p:cNvPr id="501230" name="Freeform-494"/>
              <p:cNvSpPr>
                <a:spLocks/>
              </p:cNvSpPr>
              <p:nvPr/>
            </p:nvSpPr>
            <p:spPr bwMode="auto">
              <a:xfrm>
                <a:off x="2395" y="1690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231" name="Rectangle-495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61" cy="132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32" name="Rectangle-496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50" cy="1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33" name="Rectangle-497"/>
              <p:cNvSpPr>
                <a:spLocks noChangeArrowheads="1"/>
              </p:cNvSpPr>
              <p:nvPr/>
            </p:nvSpPr>
            <p:spPr bwMode="auto">
              <a:xfrm>
                <a:off x="2427" y="1701"/>
                <a:ext cx="154" cy="13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34" name="Rectangle-498"/>
              <p:cNvSpPr>
                <a:spLocks noChangeArrowheads="1"/>
              </p:cNvSpPr>
              <p:nvPr/>
            </p:nvSpPr>
            <p:spPr bwMode="auto">
              <a:xfrm>
                <a:off x="2415" y="1727"/>
                <a:ext cx="130" cy="100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35" name="Rectangle-499"/>
              <p:cNvSpPr>
                <a:spLocks noChangeArrowheads="1"/>
              </p:cNvSpPr>
              <p:nvPr/>
            </p:nvSpPr>
            <p:spPr bwMode="auto">
              <a:xfrm>
                <a:off x="2423" y="1735"/>
                <a:ext cx="113" cy="83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36" name="Rectangle-500"/>
              <p:cNvSpPr>
                <a:spLocks noChangeArrowheads="1"/>
              </p:cNvSpPr>
              <p:nvPr/>
            </p:nvSpPr>
            <p:spPr bwMode="auto">
              <a:xfrm>
                <a:off x="2432" y="1745"/>
                <a:ext cx="104" cy="73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501237" name="Group-501"/>
          <p:cNvGrpSpPr>
            <a:grpSpLocks/>
          </p:cNvGrpSpPr>
          <p:nvPr/>
        </p:nvGrpSpPr>
        <p:grpSpPr bwMode="auto">
          <a:xfrm>
            <a:off x="4932363" y="2173288"/>
            <a:ext cx="428625" cy="344487"/>
            <a:chOff x="4267" y="1108"/>
            <a:chExt cx="290" cy="233"/>
          </a:xfrm>
        </p:grpSpPr>
        <p:sp>
          <p:nvSpPr>
            <p:cNvPr id="501238" name="Freeform-502"/>
            <p:cNvSpPr>
              <a:spLocks/>
            </p:cNvSpPr>
            <p:nvPr/>
          </p:nvSpPr>
          <p:spPr bwMode="auto">
            <a:xfrm>
              <a:off x="4267" y="1108"/>
              <a:ext cx="290" cy="233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01239" name="Group 503"/>
            <p:cNvGrpSpPr>
              <a:grpSpLocks/>
            </p:cNvGrpSpPr>
            <p:nvPr/>
          </p:nvGrpSpPr>
          <p:grpSpPr bwMode="auto">
            <a:xfrm>
              <a:off x="4300" y="1145"/>
              <a:ext cx="210" cy="183"/>
              <a:chOff x="762" y="1114"/>
              <a:chExt cx="980" cy="855"/>
            </a:xfrm>
          </p:grpSpPr>
          <p:sp>
            <p:nvSpPr>
              <p:cNvPr id="501240" name="Freeform-504"/>
              <p:cNvSpPr>
                <a:spLocks/>
              </p:cNvSpPr>
              <p:nvPr/>
            </p:nvSpPr>
            <p:spPr bwMode="auto">
              <a:xfrm>
                <a:off x="762" y="1192"/>
                <a:ext cx="980" cy="777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41" name="Freeform-505"/>
              <p:cNvSpPr>
                <a:spLocks/>
              </p:cNvSpPr>
              <p:nvPr/>
            </p:nvSpPr>
            <p:spPr bwMode="auto">
              <a:xfrm>
                <a:off x="808" y="1205"/>
                <a:ext cx="893" cy="727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42" name="Freeform-506"/>
              <p:cNvSpPr>
                <a:spLocks/>
              </p:cNvSpPr>
              <p:nvPr/>
            </p:nvSpPr>
            <p:spPr bwMode="auto">
              <a:xfrm>
                <a:off x="763" y="1114"/>
                <a:ext cx="883" cy="410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43" name="Freeform-507"/>
              <p:cNvSpPr>
                <a:spLocks/>
              </p:cNvSpPr>
              <p:nvPr/>
            </p:nvSpPr>
            <p:spPr bwMode="auto">
              <a:xfrm>
                <a:off x="840" y="1412"/>
                <a:ext cx="854" cy="33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</p:grpSp>
      <p:grpSp>
        <p:nvGrpSpPr>
          <p:cNvPr id="501244" name="Group-508"/>
          <p:cNvGrpSpPr>
            <a:grpSpLocks/>
          </p:cNvGrpSpPr>
          <p:nvPr/>
        </p:nvGrpSpPr>
        <p:grpSpPr bwMode="auto">
          <a:xfrm>
            <a:off x="5648325" y="2501900"/>
            <a:ext cx="346075" cy="420688"/>
            <a:chOff x="847" y="1168"/>
            <a:chExt cx="747" cy="909"/>
          </a:xfrm>
        </p:grpSpPr>
        <p:sp>
          <p:nvSpPr>
            <p:cNvPr id="501245" name="Freeform-509"/>
            <p:cNvSpPr>
              <a:spLocks/>
            </p:cNvSpPr>
            <p:nvPr/>
          </p:nvSpPr>
          <p:spPr bwMode="auto">
            <a:xfrm>
              <a:off x="986" y="1290"/>
              <a:ext cx="489" cy="733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246" name="Rectangle-510"/>
            <p:cNvSpPr>
              <a:spLocks noChangeArrowheads="1"/>
            </p:cNvSpPr>
            <p:nvPr/>
          </p:nvSpPr>
          <p:spPr bwMode="auto">
            <a:xfrm>
              <a:off x="1282" y="1853"/>
              <a:ext cx="84" cy="184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47" name="Rectangle-511"/>
            <p:cNvSpPr>
              <a:spLocks noChangeArrowheads="1"/>
            </p:cNvSpPr>
            <p:nvPr/>
          </p:nvSpPr>
          <p:spPr bwMode="auto">
            <a:xfrm>
              <a:off x="1494" y="1590"/>
              <a:ext cx="53" cy="54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48" name="Rectangle-512"/>
            <p:cNvSpPr>
              <a:spLocks noChangeArrowheads="1"/>
            </p:cNvSpPr>
            <p:nvPr/>
          </p:nvSpPr>
          <p:spPr bwMode="auto">
            <a:xfrm>
              <a:off x="1456" y="1339"/>
              <a:ext cx="48" cy="30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49" name="Rectangle-513"/>
            <p:cNvSpPr>
              <a:spLocks noChangeArrowheads="1"/>
            </p:cNvSpPr>
            <p:nvPr/>
          </p:nvSpPr>
          <p:spPr bwMode="auto">
            <a:xfrm>
              <a:off x="936" y="1929"/>
              <a:ext cx="197" cy="104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0" name="Freeform-514"/>
            <p:cNvSpPr>
              <a:spLocks/>
            </p:cNvSpPr>
            <p:nvPr/>
          </p:nvSpPr>
          <p:spPr bwMode="auto">
            <a:xfrm>
              <a:off x="847" y="1168"/>
              <a:ext cx="747" cy="740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251" name="Rectangle-515"/>
            <p:cNvSpPr>
              <a:spLocks noChangeArrowheads="1"/>
            </p:cNvSpPr>
            <p:nvPr/>
          </p:nvSpPr>
          <p:spPr bwMode="auto">
            <a:xfrm>
              <a:off x="1460" y="1419"/>
              <a:ext cx="47" cy="79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2" name="Rectangle-516"/>
            <p:cNvSpPr>
              <a:spLocks noChangeArrowheads="1"/>
            </p:cNvSpPr>
            <p:nvPr/>
          </p:nvSpPr>
          <p:spPr bwMode="auto">
            <a:xfrm flipH="1">
              <a:off x="1376" y="1495"/>
              <a:ext cx="47" cy="4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3" name="Rectangle-517"/>
            <p:cNvSpPr>
              <a:spLocks noChangeArrowheads="1"/>
            </p:cNvSpPr>
            <p:nvPr/>
          </p:nvSpPr>
          <p:spPr bwMode="auto">
            <a:xfrm flipH="1">
              <a:off x="1502" y="1499"/>
              <a:ext cx="47" cy="94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4" name="Rectangle-518"/>
            <p:cNvSpPr>
              <a:spLocks noChangeArrowheads="1"/>
            </p:cNvSpPr>
            <p:nvPr/>
          </p:nvSpPr>
          <p:spPr bwMode="auto">
            <a:xfrm>
              <a:off x="1545" y="1593"/>
              <a:ext cx="47" cy="48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5" name="Rectangle-519"/>
            <p:cNvSpPr>
              <a:spLocks noChangeArrowheads="1"/>
            </p:cNvSpPr>
            <p:nvPr/>
          </p:nvSpPr>
          <p:spPr bwMode="auto">
            <a:xfrm>
              <a:off x="935" y="1902"/>
              <a:ext cx="125" cy="3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6" name="Rectangle-520"/>
            <p:cNvSpPr>
              <a:spLocks noChangeArrowheads="1"/>
            </p:cNvSpPr>
            <p:nvPr/>
          </p:nvSpPr>
          <p:spPr bwMode="auto">
            <a:xfrm>
              <a:off x="1058" y="1929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7" name="Rectangle-521"/>
            <p:cNvSpPr>
              <a:spLocks noChangeArrowheads="1"/>
            </p:cNvSpPr>
            <p:nvPr/>
          </p:nvSpPr>
          <p:spPr bwMode="auto">
            <a:xfrm>
              <a:off x="1132" y="1974"/>
              <a:ext cx="77" cy="6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8" name="Rectangle-522"/>
            <p:cNvSpPr>
              <a:spLocks noChangeArrowheads="1"/>
            </p:cNvSpPr>
            <p:nvPr/>
          </p:nvSpPr>
          <p:spPr bwMode="auto">
            <a:xfrm>
              <a:off x="935" y="1931"/>
              <a:ext cx="34" cy="3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59" name="Rectangle-523"/>
            <p:cNvSpPr>
              <a:spLocks noChangeArrowheads="1"/>
            </p:cNvSpPr>
            <p:nvPr/>
          </p:nvSpPr>
          <p:spPr bwMode="auto">
            <a:xfrm>
              <a:off x="893" y="1962"/>
              <a:ext cx="47" cy="7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0" name="Rectangle-524"/>
            <p:cNvSpPr>
              <a:spLocks noChangeArrowheads="1"/>
            </p:cNvSpPr>
            <p:nvPr/>
          </p:nvSpPr>
          <p:spPr bwMode="auto">
            <a:xfrm>
              <a:off x="1375" y="1451"/>
              <a:ext cx="119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1" name="Rectangle-525"/>
            <p:cNvSpPr>
              <a:spLocks noChangeArrowheads="1"/>
            </p:cNvSpPr>
            <p:nvPr/>
          </p:nvSpPr>
          <p:spPr bwMode="auto">
            <a:xfrm>
              <a:off x="1412" y="1639"/>
              <a:ext cx="47" cy="18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2" name="Rectangle-526"/>
            <p:cNvSpPr>
              <a:spLocks noChangeArrowheads="1"/>
            </p:cNvSpPr>
            <p:nvPr/>
          </p:nvSpPr>
          <p:spPr bwMode="auto">
            <a:xfrm>
              <a:off x="1196" y="1777"/>
              <a:ext cx="231" cy="47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3" name="Rectangle-527"/>
            <p:cNvSpPr>
              <a:spLocks noChangeArrowheads="1"/>
            </p:cNvSpPr>
            <p:nvPr/>
          </p:nvSpPr>
          <p:spPr bwMode="auto">
            <a:xfrm>
              <a:off x="1240" y="1853"/>
              <a:ext cx="42" cy="176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4" name="Rectangle-528"/>
            <p:cNvSpPr>
              <a:spLocks noChangeArrowheads="1"/>
            </p:cNvSpPr>
            <p:nvPr/>
          </p:nvSpPr>
          <p:spPr bwMode="auto">
            <a:xfrm>
              <a:off x="1208" y="2007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5" name="Rectangle-529"/>
            <p:cNvSpPr>
              <a:spLocks noChangeArrowheads="1"/>
            </p:cNvSpPr>
            <p:nvPr/>
          </p:nvSpPr>
          <p:spPr bwMode="auto">
            <a:xfrm>
              <a:off x="1348" y="1943"/>
              <a:ext cx="169" cy="90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6" name="Rectangle-530"/>
            <p:cNvSpPr>
              <a:spLocks noChangeArrowheads="1"/>
            </p:cNvSpPr>
            <p:nvPr/>
          </p:nvSpPr>
          <p:spPr bwMode="auto">
            <a:xfrm>
              <a:off x="935" y="2030"/>
              <a:ext cx="57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7" name="Rectangle-531"/>
            <p:cNvSpPr>
              <a:spLocks noChangeArrowheads="1"/>
            </p:cNvSpPr>
            <p:nvPr/>
          </p:nvSpPr>
          <p:spPr bwMode="auto">
            <a:xfrm>
              <a:off x="1276" y="1932"/>
              <a:ext cx="77" cy="10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8" name="Rectangle-532"/>
            <p:cNvSpPr>
              <a:spLocks noChangeArrowheads="1"/>
            </p:cNvSpPr>
            <p:nvPr/>
          </p:nvSpPr>
          <p:spPr bwMode="auto">
            <a:xfrm flipH="1">
              <a:off x="1349" y="1825"/>
              <a:ext cx="47" cy="12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69" name="Rectangle-533"/>
            <p:cNvSpPr>
              <a:spLocks noChangeArrowheads="1"/>
            </p:cNvSpPr>
            <p:nvPr/>
          </p:nvSpPr>
          <p:spPr bwMode="auto">
            <a:xfrm>
              <a:off x="1237" y="1811"/>
              <a:ext cx="113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0" name="Rectangle-534"/>
            <p:cNvSpPr>
              <a:spLocks noChangeArrowheads="1"/>
            </p:cNvSpPr>
            <p:nvPr/>
          </p:nvSpPr>
          <p:spPr bwMode="auto">
            <a:xfrm flipV="1">
              <a:off x="1393" y="1903"/>
              <a:ext cx="8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1" name="Rectangle-535"/>
            <p:cNvSpPr>
              <a:spLocks noChangeArrowheads="1"/>
            </p:cNvSpPr>
            <p:nvPr/>
          </p:nvSpPr>
          <p:spPr bwMode="auto">
            <a:xfrm flipV="1">
              <a:off x="1471" y="1945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2" name="Rectangle-536"/>
            <p:cNvSpPr>
              <a:spLocks noChangeArrowheads="1"/>
            </p:cNvSpPr>
            <p:nvPr/>
          </p:nvSpPr>
          <p:spPr bwMode="auto">
            <a:xfrm flipV="1">
              <a:off x="1509" y="1987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3" name="Rectangle-537"/>
            <p:cNvSpPr>
              <a:spLocks noChangeArrowheads="1"/>
            </p:cNvSpPr>
            <p:nvPr/>
          </p:nvSpPr>
          <p:spPr bwMode="auto">
            <a:xfrm>
              <a:off x="1445" y="1663"/>
              <a:ext cx="49" cy="156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4" name="Rectangle-538"/>
            <p:cNvSpPr>
              <a:spLocks noChangeArrowheads="1"/>
            </p:cNvSpPr>
            <p:nvPr/>
          </p:nvSpPr>
          <p:spPr bwMode="auto">
            <a:xfrm>
              <a:off x="1445" y="1627"/>
              <a:ext cx="101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275" name="Rectangle-539"/>
            <p:cNvSpPr>
              <a:spLocks noChangeArrowheads="1"/>
            </p:cNvSpPr>
            <p:nvPr/>
          </p:nvSpPr>
          <p:spPr bwMode="auto">
            <a:xfrm flipV="1">
              <a:off x="1347" y="1811"/>
              <a:ext cx="99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01276" name="Text-Box-540"/>
          <p:cNvSpPr txBox="1">
            <a:spLocks noChangeArrowheads="1"/>
          </p:cNvSpPr>
          <p:nvPr/>
        </p:nvSpPr>
        <p:spPr bwMode="auto">
          <a:xfrm>
            <a:off x="5376863" y="2181225"/>
            <a:ext cx="11350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Production</a:t>
            </a:r>
            <a:r>
              <a:rPr lang="en-IE" altLang="zh-CN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1277" name="Text-Box-541"/>
          <p:cNvSpPr txBox="1">
            <a:spLocks noChangeArrowheads="1"/>
          </p:cNvSpPr>
          <p:nvPr/>
        </p:nvSpPr>
        <p:spPr bwMode="auto">
          <a:xfrm>
            <a:off x="4816475" y="1690688"/>
            <a:ext cx="987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Domaine</a:t>
            </a:r>
            <a:r>
              <a:rPr lang="en-IE" altLang="zh-CN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501278" name="Group-542"/>
          <p:cNvGrpSpPr>
            <a:grpSpLocks/>
          </p:cNvGrpSpPr>
          <p:nvPr/>
        </p:nvGrpSpPr>
        <p:grpSpPr bwMode="auto">
          <a:xfrm>
            <a:off x="4932363" y="3935413"/>
            <a:ext cx="428625" cy="342900"/>
            <a:chOff x="4267" y="2088"/>
            <a:chExt cx="290" cy="232"/>
          </a:xfrm>
        </p:grpSpPr>
        <p:sp>
          <p:nvSpPr>
            <p:cNvPr id="501279" name="Freeform-543"/>
            <p:cNvSpPr>
              <a:spLocks/>
            </p:cNvSpPr>
            <p:nvPr/>
          </p:nvSpPr>
          <p:spPr bwMode="auto">
            <a:xfrm>
              <a:off x="4267" y="2088"/>
              <a:ext cx="290" cy="23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01280" name="Group 544"/>
            <p:cNvGrpSpPr>
              <a:grpSpLocks/>
            </p:cNvGrpSpPr>
            <p:nvPr/>
          </p:nvGrpSpPr>
          <p:grpSpPr bwMode="auto">
            <a:xfrm>
              <a:off x="4300" y="2123"/>
              <a:ext cx="210" cy="184"/>
              <a:chOff x="762" y="1114"/>
              <a:chExt cx="980" cy="855"/>
            </a:xfrm>
          </p:grpSpPr>
          <p:sp>
            <p:nvSpPr>
              <p:cNvPr id="501281" name="Freeform-545"/>
              <p:cNvSpPr>
                <a:spLocks/>
              </p:cNvSpPr>
              <p:nvPr/>
            </p:nvSpPr>
            <p:spPr bwMode="auto">
              <a:xfrm>
                <a:off x="762" y="1192"/>
                <a:ext cx="980" cy="777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82" name="Freeform-546"/>
              <p:cNvSpPr>
                <a:spLocks/>
              </p:cNvSpPr>
              <p:nvPr/>
            </p:nvSpPr>
            <p:spPr bwMode="auto">
              <a:xfrm>
                <a:off x="808" y="1205"/>
                <a:ext cx="893" cy="727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83" name="Freeform-547"/>
              <p:cNvSpPr>
                <a:spLocks/>
              </p:cNvSpPr>
              <p:nvPr/>
            </p:nvSpPr>
            <p:spPr bwMode="auto">
              <a:xfrm>
                <a:off x="763" y="1114"/>
                <a:ext cx="883" cy="410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01284" name="Freeform-548"/>
              <p:cNvSpPr>
                <a:spLocks/>
              </p:cNvSpPr>
              <p:nvPr/>
            </p:nvSpPr>
            <p:spPr bwMode="auto">
              <a:xfrm>
                <a:off x="840" y="1412"/>
                <a:ext cx="854" cy="33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</p:grpSp>
      <p:grpSp>
        <p:nvGrpSpPr>
          <p:cNvPr id="501285" name="Group-549"/>
          <p:cNvGrpSpPr>
            <a:grpSpLocks/>
          </p:cNvGrpSpPr>
          <p:nvPr/>
        </p:nvGrpSpPr>
        <p:grpSpPr bwMode="auto">
          <a:xfrm>
            <a:off x="5616575" y="5418138"/>
            <a:ext cx="498475" cy="496887"/>
            <a:chOff x="4464" y="3120"/>
            <a:chExt cx="314" cy="313"/>
          </a:xfrm>
        </p:grpSpPr>
        <p:grpSp>
          <p:nvGrpSpPr>
            <p:cNvPr id="501286" name="Group 550"/>
            <p:cNvGrpSpPr>
              <a:grpSpLocks/>
            </p:cNvGrpSpPr>
            <p:nvPr/>
          </p:nvGrpSpPr>
          <p:grpSpPr bwMode="auto">
            <a:xfrm>
              <a:off x="4560" y="3120"/>
              <a:ext cx="218" cy="265"/>
              <a:chOff x="847" y="1168"/>
              <a:chExt cx="747" cy="909"/>
            </a:xfrm>
          </p:grpSpPr>
          <p:sp>
            <p:nvSpPr>
              <p:cNvPr id="501287" name="Freeform-551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288" name="Rectangle-552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89" name="Rectangle-553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0" name="Rectangle-554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1" name="Rectangle-555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2" name="Freeform-556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293" name="Rectangle-557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4" name="Rectangle-558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5" name="Rectangle-559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6" name="Rectangle-560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7" name="Rectangle-561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8" name="Rectangle-562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299" name="Rectangle-563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0" name="Rectangle-564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1" name="Rectangle-565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2" name="Rectangle-566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3" name="Rectangle-567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4" name="Rectangle-568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5" name="Rectangle-569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6" name="Rectangle-570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7" name="Rectangle-571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8" name="Rectangle-572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09" name="Rectangle-573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0" name="Rectangle-574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1" name="Rectangle-575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2" name="Rectangle-576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3" name="Rectangle-577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4" name="Rectangle-578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5" name="Rectangle-579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6" name="Rectangle-580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17" name="Rectangle-581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1318" name="Group 582"/>
            <p:cNvGrpSpPr>
              <a:grpSpLocks/>
            </p:cNvGrpSpPr>
            <p:nvPr/>
          </p:nvGrpSpPr>
          <p:grpSpPr bwMode="auto">
            <a:xfrm>
              <a:off x="4464" y="3168"/>
              <a:ext cx="218" cy="265"/>
              <a:chOff x="847" y="1168"/>
              <a:chExt cx="747" cy="909"/>
            </a:xfrm>
          </p:grpSpPr>
          <p:sp>
            <p:nvSpPr>
              <p:cNvPr id="501319" name="Freeform-583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320" name="Rectangle-584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1" name="Rectangle-585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2" name="Rectangle-586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3" name="Rectangle-587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4" name="Freeform-588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325" name="Rectangle-589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6" name="Rectangle-590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7" name="Rectangle-591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8" name="Rectangle-592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29" name="Rectangle-593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0" name="Rectangle-594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1" name="Rectangle-595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2" name="Rectangle-596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3" name="Rectangle-597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4" name="Rectangle-598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5" name="Rectangle-599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6" name="Rectangle-600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7" name="Rectangle-601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8" name="Rectangle-602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39" name="Rectangle-603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0" name="Rectangle-604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1" name="Rectangle-605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2" name="Rectangle-606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3" name="Rectangle-607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4" name="Rectangle-608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5" name="Rectangle-609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6" name="Rectangle-610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7" name="Rectangle-611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8" name="Rectangle-612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349" name="Rectangle-613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501350" name="Line-614"/>
          <p:cNvSpPr>
            <a:spLocks noChangeShapeType="1"/>
          </p:cNvSpPr>
          <p:nvPr/>
        </p:nvSpPr>
        <p:spPr bwMode="auto">
          <a:xfrm>
            <a:off x="4462463" y="2373313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01351" name="Line-615"/>
          <p:cNvSpPr>
            <a:spLocks noChangeShapeType="1"/>
          </p:cNvSpPr>
          <p:nvPr/>
        </p:nvSpPr>
        <p:spPr bwMode="auto">
          <a:xfrm>
            <a:off x="5159375" y="2732088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01352" name="Freeform-616"/>
          <p:cNvSpPr>
            <a:spLocks/>
          </p:cNvSpPr>
          <p:nvPr/>
        </p:nvSpPr>
        <p:spPr bwMode="auto">
          <a:xfrm>
            <a:off x="4475163" y="3609975"/>
            <a:ext cx="442912" cy="5159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44"/>
              </a:cxn>
              <a:cxn ang="0">
                <a:pos x="400" y="244"/>
              </a:cxn>
            </a:cxnLst>
            <a:rect l="0" t="0" r="r" b="b"/>
            <a:pathLst>
              <a:path w="400" h="244">
                <a:moveTo>
                  <a:pt x="0" y="0"/>
                </a:moveTo>
                <a:lnTo>
                  <a:pt x="0" y="244"/>
                </a:lnTo>
                <a:lnTo>
                  <a:pt x="400" y="24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353" name="AutoShape-617"/>
          <p:cNvSpPr>
            <a:spLocks noChangeArrowheads="1"/>
          </p:cNvSpPr>
          <p:nvPr/>
        </p:nvSpPr>
        <p:spPr bwMode="auto">
          <a:xfrm>
            <a:off x="4832784" y="3804084"/>
            <a:ext cx="600075" cy="600075"/>
          </a:xfrm>
          <a:custGeom>
            <a:avLst/>
            <a:gdLst>
              <a:gd name="G0" fmla="+- 2286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73" y="15957"/>
                </a:moveTo>
                <a:cubicBezTo>
                  <a:pt x="18702" y="14475"/>
                  <a:pt x="19314" y="12663"/>
                  <a:pt x="19314" y="10800"/>
                </a:cubicBezTo>
                <a:cubicBezTo>
                  <a:pt x="19314" y="6097"/>
                  <a:pt x="15502" y="2286"/>
                  <a:pt x="10800" y="2286"/>
                </a:cubicBezTo>
                <a:cubicBezTo>
                  <a:pt x="8936" y="2285"/>
                  <a:pt x="7124" y="2897"/>
                  <a:pt x="5642" y="4026"/>
                </a:cubicBezTo>
                <a:close/>
                <a:moveTo>
                  <a:pt x="4026" y="5642"/>
                </a:moveTo>
                <a:cubicBezTo>
                  <a:pt x="2897" y="7124"/>
                  <a:pt x="2286" y="8936"/>
                  <a:pt x="2286" y="10799"/>
                </a:cubicBezTo>
                <a:cubicBezTo>
                  <a:pt x="2286" y="15502"/>
                  <a:pt x="6097" y="19314"/>
                  <a:pt x="10800" y="19314"/>
                </a:cubicBezTo>
                <a:cubicBezTo>
                  <a:pt x="12663" y="19314"/>
                  <a:pt x="14475" y="18702"/>
                  <a:pt x="15957" y="17573"/>
                </a:cubicBezTo>
                <a:close/>
              </a:path>
            </a:pathLst>
          </a:cu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354" name="Freeform-618"/>
          <p:cNvSpPr>
            <a:spLocks/>
          </p:cNvSpPr>
          <p:nvPr/>
        </p:nvSpPr>
        <p:spPr bwMode="auto">
          <a:xfrm>
            <a:off x="5160963" y="4256088"/>
            <a:ext cx="446087" cy="15033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47"/>
              </a:cxn>
              <a:cxn ang="0">
                <a:pos x="281" y="947"/>
              </a:cxn>
            </a:cxnLst>
            <a:rect l="0" t="0" r="r" b="b"/>
            <a:pathLst>
              <a:path w="281" h="947">
                <a:moveTo>
                  <a:pt x="0" y="0"/>
                </a:moveTo>
                <a:lnTo>
                  <a:pt x="0" y="947"/>
                </a:lnTo>
                <a:lnTo>
                  <a:pt x="281" y="947"/>
                </a:lnTo>
              </a:path>
            </a:pathLst>
          </a:custGeom>
          <a:noFill/>
          <a:ln w="19050" cap="flat" cmpd="sng">
            <a:solidFill>
              <a:srgbClr val="333333"/>
            </a:solidFill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01355" name="Line-619"/>
          <p:cNvSpPr>
            <a:spLocks noChangeShapeType="1"/>
          </p:cNvSpPr>
          <p:nvPr/>
        </p:nvSpPr>
        <p:spPr bwMode="auto">
          <a:xfrm>
            <a:off x="5160963" y="5127625"/>
            <a:ext cx="4572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01356" name="Line-620"/>
          <p:cNvSpPr>
            <a:spLocks noChangeShapeType="1"/>
          </p:cNvSpPr>
          <p:nvPr/>
        </p:nvSpPr>
        <p:spPr bwMode="auto">
          <a:xfrm>
            <a:off x="5160963" y="4594225"/>
            <a:ext cx="4572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01357" name="Line-621"/>
          <p:cNvSpPr>
            <a:spLocks noChangeShapeType="1"/>
          </p:cNvSpPr>
          <p:nvPr/>
        </p:nvSpPr>
        <p:spPr bwMode="auto">
          <a:xfrm>
            <a:off x="4467224" y="2169390"/>
            <a:ext cx="0" cy="198697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501358" name="Group-622"/>
          <p:cNvGrpSpPr>
            <a:grpSpLocks/>
          </p:cNvGrpSpPr>
          <p:nvPr/>
        </p:nvGrpSpPr>
        <p:grpSpPr bwMode="auto">
          <a:xfrm>
            <a:off x="5614988" y="4930775"/>
            <a:ext cx="346075" cy="420688"/>
            <a:chOff x="847" y="1168"/>
            <a:chExt cx="747" cy="909"/>
          </a:xfrm>
        </p:grpSpPr>
        <p:sp>
          <p:nvSpPr>
            <p:cNvPr id="501359" name="Freeform-623"/>
            <p:cNvSpPr>
              <a:spLocks/>
            </p:cNvSpPr>
            <p:nvPr/>
          </p:nvSpPr>
          <p:spPr bwMode="auto">
            <a:xfrm>
              <a:off x="986" y="1290"/>
              <a:ext cx="489" cy="733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360" name="Rectangle-624"/>
            <p:cNvSpPr>
              <a:spLocks noChangeArrowheads="1"/>
            </p:cNvSpPr>
            <p:nvPr/>
          </p:nvSpPr>
          <p:spPr bwMode="auto">
            <a:xfrm>
              <a:off x="1282" y="1853"/>
              <a:ext cx="84" cy="184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1" name="Rectangle-625"/>
            <p:cNvSpPr>
              <a:spLocks noChangeArrowheads="1"/>
            </p:cNvSpPr>
            <p:nvPr/>
          </p:nvSpPr>
          <p:spPr bwMode="auto">
            <a:xfrm>
              <a:off x="1494" y="1590"/>
              <a:ext cx="53" cy="54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2" name="Rectangle-626"/>
            <p:cNvSpPr>
              <a:spLocks noChangeArrowheads="1"/>
            </p:cNvSpPr>
            <p:nvPr/>
          </p:nvSpPr>
          <p:spPr bwMode="auto">
            <a:xfrm>
              <a:off x="1456" y="1339"/>
              <a:ext cx="48" cy="30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3" name="Rectangle-627"/>
            <p:cNvSpPr>
              <a:spLocks noChangeArrowheads="1"/>
            </p:cNvSpPr>
            <p:nvPr/>
          </p:nvSpPr>
          <p:spPr bwMode="auto">
            <a:xfrm>
              <a:off x="936" y="1929"/>
              <a:ext cx="197" cy="104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4" name="Freeform-628"/>
            <p:cNvSpPr>
              <a:spLocks/>
            </p:cNvSpPr>
            <p:nvPr/>
          </p:nvSpPr>
          <p:spPr bwMode="auto">
            <a:xfrm>
              <a:off x="847" y="1168"/>
              <a:ext cx="747" cy="740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365" name="Rectangle-629"/>
            <p:cNvSpPr>
              <a:spLocks noChangeArrowheads="1"/>
            </p:cNvSpPr>
            <p:nvPr/>
          </p:nvSpPr>
          <p:spPr bwMode="auto">
            <a:xfrm>
              <a:off x="1460" y="1419"/>
              <a:ext cx="47" cy="79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6" name="Rectangle-630"/>
            <p:cNvSpPr>
              <a:spLocks noChangeArrowheads="1"/>
            </p:cNvSpPr>
            <p:nvPr/>
          </p:nvSpPr>
          <p:spPr bwMode="auto">
            <a:xfrm flipH="1">
              <a:off x="1376" y="1495"/>
              <a:ext cx="47" cy="4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7" name="Rectangle-631"/>
            <p:cNvSpPr>
              <a:spLocks noChangeArrowheads="1"/>
            </p:cNvSpPr>
            <p:nvPr/>
          </p:nvSpPr>
          <p:spPr bwMode="auto">
            <a:xfrm flipH="1">
              <a:off x="1502" y="1499"/>
              <a:ext cx="47" cy="94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8" name="Rectangle-632"/>
            <p:cNvSpPr>
              <a:spLocks noChangeArrowheads="1"/>
            </p:cNvSpPr>
            <p:nvPr/>
          </p:nvSpPr>
          <p:spPr bwMode="auto">
            <a:xfrm>
              <a:off x="1545" y="1593"/>
              <a:ext cx="47" cy="48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69" name="Rectangle-633"/>
            <p:cNvSpPr>
              <a:spLocks noChangeArrowheads="1"/>
            </p:cNvSpPr>
            <p:nvPr/>
          </p:nvSpPr>
          <p:spPr bwMode="auto">
            <a:xfrm>
              <a:off x="935" y="1902"/>
              <a:ext cx="125" cy="3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0" name="Rectangle-634"/>
            <p:cNvSpPr>
              <a:spLocks noChangeArrowheads="1"/>
            </p:cNvSpPr>
            <p:nvPr/>
          </p:nvSpPr>
          <p:spPr bwMode="auto">
            <a:xfrm>
              <a:off x="1058" y="1929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1" name="Rectangle-635"/>
            <p:cNvSpPr>
              <a:spLocks noChangeArrowheads="1"/>
            </p:cNvSpPr>
            <p:nvPr/>
          </p:nvSpPr>
          <p:spPr bwMode="auto">
            <a:xfrm>
              <a:off x="1132" y="1974"/>
              <a:ext cx="77" cy="6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2" name="Rectangle-636"/>
            <p:cNvSpPr>
              <a:spLocks noChangeArrowheads="1"/>
            </p:cNvSpPr>
            <p:nvPr/>
          </p:nvSpPr>
          <p:spPr bwMode="auto">
            <a:xfrm>
              <a:off x="935" y="1931"/>
              <a:ext cx="34" cy="3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3" name="Rectangle-637"/>
            <p:cNvSpPr>
              <a:spLocks noChangeArrowheads="1"/>
            </p:cNvSpPr>
            <p:nvPr/>
          </p:nvSpPr>
          <p:spPr bwMode="auto">
            <a:xfrm>
              <a:off x="893" y="1962"/>
              <a:ext cx="47" cy="7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4" name="Rectangle-638"/>
            <p:cNvSpPr>
              <a:spLocks noChangeArrowheads="1"/>
            </p:cNvSpPr>
            <p:nvPr/>
          </p:nvSpPr>
          <p:spPr bwMode="auto">
            <a:xfrm>
              <a:off x="1375" y="1451"/>
              <a:ext cx="119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5" name="Rectangle-639"/>
            <p:cNvSpPr>
              <a:spLocks noChangeArrowheads="1"/>
            </p:cNvSpPr>
            <p:nvPr/>
          </p:nvSpPr>
          <p:spPr bwMode="auto">
            <a:xfrm>
              <a:off x="1412" y="1639"/>
              <a:ext cx="47" cy="18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6" name="Rectangle-640"/>
            <p:cNvSpPr>
              <a:spLocks noChangeArrowheads="1"/>
            </p:cNvSpPr>
            <p:nvPr/>
          </p:nvSpPr>
          <p:spPr bwMode="auto">
            <a:xfrm>
              <a:off x="1196" y="1777"/>
              <a:ext cx="231" cy="47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7" name="Rectangle-641"/>
            <p:cNvSpPr>
              <a:spLocks noChangeArrowheads="1"/>
            </p:cNvSpPr>
            <p:nvPr/>
          </p:nvSpPr>
          <p:spPr bwMode="auto">
            <a:xfrm>
              <a:off x="1240" y="1853"/>
              <a:ext cx="42" cy="176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8" name="Rectangle-642"/>
            <p:cNvSpPr>
              <a:spLocks noChangeArrowheads="1"/>
            </p:cNvSpPr>
            <p:nvPr/>
          </p:nvSpPr>
          <p:spPr bwMode="auto">
            <a:xfrm>
              <a:off x="1208" y="2007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79" name="Rectangle-643"/>
            <p:cNvSpPr>
              <a:spLocks noChangeArrowheads="1"/>
            </p:cNvSpPr>
            <p:nvPr/>
          </p:nvSpPr>
          <p:spPr bwMode="auto">
            <a:xfrm>
              <a:off x="1348" y="1943"/>
              <a:ext cx="169" cy="90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0" name="Rectangle-644"/>
            <p:cNvSpPr>
              <a:spLocks noChangeArrowheads="1"/>
            </p:cNvSpPr>
            <p:nvPr/>
          </p:nvSpPr>
          <p:spPr bwMode="auto">
            <a:xfrm>
              <a:off x="935" y="2030"/>
              <a:ext cx="57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1" name="Rectangle-645"/>
            <p:cNvSpPr>
              <a:spLocks noChangeArrowheads="1"/>
            </p:cNvSpPr>
            <p:nvPr/>
          </p:nvSpPr>
          <p:spPr bwMode="auto">
            <a:xfrm>
              <a:off x="1276" y="1932"/>
              <a:ext cx="77" cy="10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2" name="Rectangle-646"/>
            <p:cNvSpPr>
              <a:spLocks noChangeArrowheads="1"/>
            </p:cNvSpPr>
            <p:nvPr/>
          </p:nvSpPr>
          <p:spPr bwMode="auto">
            <a:xfrm flipH="1">
              <a:off x="1349" y="1825"/>
              <a:ext cx="47" cy="12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3" name="Rectangle-647"/>
            <p:cNvSpPr>
              <a:spLocks noChangeArrowheads="1"/>
            </p:cNvSpPr>
            <p:nvPr/>
          </p:nvSpPr>
          <p:spPr bwMode="auto">
            <a:xfrm>
              <a:off x="1237" y="1811"/>
              <a:ext cx="113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4" name="Rectangle-648"/>
            <p:cNvSpPr>
              <a:spLocks noChangeArrowheads="1"/>
            </p:cNvSpPr>
            <p:nvPr/>
          </p:nvSpPr>
          <p:spPr bwMode="auto">
            <a:xfrm flipV="1">
              <a:off x="1393" y="1903"/>
              <a:ext cx="8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5" name="Rectangle-649"/>
            <p:cNvSpPr>
              <a:spLocks noChangeArrowheads="1"/>
            </p:cNvSpPr>
            <p:nvPr/>
          </p:nvSpPr>
          <p:spPr bwMode="auto">
            <a:xfrm flipV="1">
              <a:off x="1471" y="1945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6" name="Rectangle-650"/>
            <p:cNvSpPr>
              <a:spLocks noChangeArrowheads="1"/>
            </p:cNvSpPr>
            <p:nvPr/>
          </p:nvSpPr>
          <p:spPr bwMode="auto">
            <a:xfrm flipV="1">
              <a:off x="1509" y="1987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7" name="Rectangle-651"/>
            <p:cNvSpPr>
              <a:spLocks noChangeArrowheads="1"/>
            </p:cNvSpPr>
            <p:nvPr/>
          </p:nvSpPr>
          <p:spPr bwMode="auto">
            <a:xfrm>
              <a:off x="1445" y="1663"/>
              <a:ext cx="49" cy="156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8" name="Rectangle-652"/>
            <p:cNvSpPr>
              <a:spLocks noChangeArrowheads="1"/>
            </p:cNvSpPr>
            <p:nvPr/>
          </p:nvSpPr>
          <p:spPr bwMode="auto">
            <a:xfrm>
              <a:off x="1445" y="1627"/>
              <a:ext cx="101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89" name="Rectangle-653"/>
            <p:cNvSpPr>
              <a:spLocks noChangeArrowheads="1"/>
            </p:cNvSpPr>
            <p:nvPr/>
          </p:nvSpPr>
          <p:spPr bwMode="auto">
            <a:xfrm flipV="1">
              <a:off x="1347" y="1811"/>
              <a:ext cx="99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501390" name="Group-654"/>
          <p:cNvGrpSpPr>
            <a:grpSpLocks/>
          </p:cNvGrpSpPr>
          <p:nvPr/>
        </p:nvGrpSpPr>
        <p:grpSpPr bwMode="auto">
          <a:xfrm>
            <a:off x="5614988" y="4352925"/>
            <a:ext cx="423862" cy="411163"/>
            <a:chOff x="2371" y="1690"/>
            <a:chExt cx="278" cy="269"/>
          </a:xfrm>
        </p:grpSpPr>
        <p:sp>
          <p:nvSpPr>
            <p:cNvPr id="501391" name="Freeform-655"/>
            <p:cNvSpPr>
              <a:spLocks/>
            </p:cNvSpPr>
            <p:nvPr/>
          </p:nvSpPr>
          <p:spPr bwMode="auto">
            <a:xfrm>
              <a:off x="2382" y="1851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392" name="Freeform-656"/>
            <p:cNvSpPr>
              <a:spLocks/>
            </p:cNvSpPr>
            <p:nvPr/>
          </p:nvSpPr>
          <p:spPr bwMode="auto">
            <a:xfrm>
              <a:off x="2371" y="1839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01393" name="Rectangle-657"/>
            <p:cNvSpPr>
              <a:spLocks noChangeArrowheads="1"/>
            </p:cNvSpPr>
            <p:nvPr/>
          </p:nvSpPr>
          <p:spPr bwMode="auto">
            <a:xfrm>
              <a:off x="2384" y="1881"/>
              <a:ext cx="205" cy="53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94" name="Rectangle-658"/>
            <p:cNvSpPr>
              <a:spLocks noChangeArrowheads="1"/>
            </p:cNvSpPr>
            <p:nvPr/>
          </p:nvSpPr>
          <p:spPr bwMode="auto">
            <a:xfrm>
              <a:off x="2395" y="1890"/>
              <a:ext cx="194" cy="44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95" name="Rectangle-659"/>
            <p:cNvSpPr>
              <a:spLocks noChangeArrowheads="1"/>
            </p:cNvSpPr>
            <p:nvPr/>
          </p:nvSpPr>
          <p:spPr bwMode="auto">
            <a:xfrm>
              <a:off x="2512" y="1901"/>
              <a:ext cx="68" cy="10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96" name="Rectangle-660"/>
            <p:cNvSpPr>
              <a:spLocks noChangeArrowheads="1"/>
            </p:cNvSpPr>
            <p:nvPr/>
          </p:nvSpPr>
          <p:spPr bwMode="auto">
            <a:xfrm>
              <a:off x="2400" y="1900"/>
              <a:ext cx="24" cy="14"/>
            </a:xfrm>
            <a:prstGeom prst="rect">
              <a:avLst/>
            </a:prstGeom>
            <a:solidFill>
              <a:srgbClr val="037C03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397" name="Freeform-661"/>
            <p:cNvSpPr>
              <a:spLocks/>
            </p:cNvSpPr>
            <p:nvPr/>
          </p:nvSpPr>
          <p:spPr bwMode="auto">
            <a:xfrm>
              <a:off x="2407" y="1701"/>
              <a:ext cx="215" cy="170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501398" name="Group 662"/>
            <p:cNvGrpSpPr>
              <a:grpSpLocks/>
            </p:cNvGrpSpPr>
            <p:nvPr/>
          </p:nvGrpSpPr>
          <p:grpSpPr bwMode="auto">
            <a:xfrm>
              <a:off x="2395" y="1690"/>
              <a:ext cx="215" cy="170"/>
              <a:chOff x="2395" y="1690"/>
              <a:chExt cx="215" cy="170"/>
            </a:xfrm>
          </p:grpSpPr>
          <p:sp>
            <p:nvSpPr>
              <p:cNvPr id="501399" name="Freeform-663"/>
              <p:cNvSpPr>
                <a:spLocks/>
              </p:cNvSpPr>
              <p:nvPr/>
            </p:nvSpPr>
            <p:spPr bwMode="auto">
              <a:xfrm>
                <a:off x="2395" y="1690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1400" name="Rectangle-664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61" cy="132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01" name="Rectangle-665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50" cy="1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02" name="Rectangle-666"/>
              <p:cNvSpPr>
                <a:spLocks noChangeArrowheads="1"/>
              </p:cNvSpPr>
              <p:nvPr/>
            </p:nvSpPr>
            <p:spPr bwMode="auto">
              <a:xfrm>
                <a:off x="2427" y="1701"/>
                <a:ext cx="154" cy="13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03" name="Rectangle-667"/>
              <p:cNvSpPr>
                <a:spLocks noChangeArrowheads="1"/>
              </p:cNvSpPr>
              <p:nvPr/>
            </p:nvSpPr>
            <p:spPr bwMode="auto">
              <a:xfrm>
                <a:off x="2415" y="1727"/>
                <a:ext cx="130" cy="100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04" name="Rectangle-668"/>
              <p:cNvSpPr>
                <a:spLocks noChangeArrowheads="1"/>
              </p:cNvSpPr>
              <p:nvPr/>
            </p:nvSpPr>
            <p:spPr bwMode="auto">
              <a:xfrm>
                <a:off x="2423" y="1735"/>
                <a:ext cx="113" cy="83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05" name="Rectangle-669"/>
              <p:cNvSpPr>
                <a:spLocks noChangeArrowheads="1"/>
              </p:cNvSpPr>
              <p:nvPr/>
            </p:nvSpPr>
            <p:spPr bwMode="auto">
              <a:xfrm>
                <a:off x="2432" y="1745"/>
                <a:ext cx="104" cy="73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501406" name="Line-670"/>
          <p:cNvSpPr>
            <a:spLocks noChangeShapeType="1"/>
          </p:cNvSpPr>
          <p:nvPr/>
        </p:nvSpPr>
        <p:spPr bwMode="auto">
          <a:xfrm>
            <a:off x="3198813" y="1958975"/>
            <a:ext cx="1143000" cy="0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01407" name="AutoShape-671"/>
          <p:cNvSpPr>
            <a:spLocks noChangeArrowheads="1"/>
          </p:cNvSpPr>
          <p:nvPr/>
        </p:nvSpPr>
        <p:spPr bwMode="auto">
          <a:xfrm>
            <a:off x="925513" y="2490788"/>
            <a:ext cx="2754312" cy="381000"/>
          </a:xfrm>
          <a:prstGeom prst="roundRect">
            <a:avLst>
              <a:gd name="adj" fmla="val 9583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Objets de stratégie de groupe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501408" name="Group-672"/>
          <p:cNvGrpSpPr>
            <a:grpSpLocks/>
          </p:cNvGrpSpPr>
          <p:nvPr/>
        </p:nvGrpSpPr>
        <p:grpSpPr bwMode="auto">
          <a:xfrm>
            <a:off x="4235450" y="1614488"/>
            <a:ext cx="557213" cy="569912"/>
            <a:chOff x="3084" y="1449"/>
            <a:chExt cx="387" cy="397"/>
          </a:xfrm>
        </p:grpSpPr>
        <p:grpSp>
          <p:nvGrpSpPr>
            <p:cNvPr id="501409" name="Group 673"/>
            <p:cNvGrpSpPr>
              <a:grpSpLocks/>
            </p:cNvGrpSpPr>
            <p:nvPr/>
          </p:nvGrpSpPr>
          <p:grpSpPr bwMode="auto">
            <a:xfrm>
              <a:off x="3276" y="1449"/>
              <a:ext cx="195" cy="325"/>
              <a:chOff x="3276" y="1449"/>
              <a:chExt cx="195" cy="325"/>
            </a:xfrm>
          </p:grpSpPr>
          <p:sp>
            <p:nvSpPr>
              <p:cNvPr id="501410" name="Freeform-674"/>
              <p:cNvSpPr>
                <a:spLocks/>
              </p:cNvSpPr>
              <p:nvPr/>
            </p:nvSpPr>
            <p:spPr bwMode="auto">
              <a:xfrm>
                <a:off x="3285" y="1458"/>
                <a:ext cx="186" cy="316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1" name="Freeform-675"/>
              <p:cNvSpPr>
                <a:spLocks/>
              </p:cNvSpPr>
              <p:nvPr/>
            </p:nvSpPr>
            <p:spPr bwMode="auto">
              <a:xfrm>
                <a:off x="3276" y="1449"/>
                <a:ext cx="182" cy="314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2" name="Rectangle-676"/>
              <p:cNvSpPr>
                <a:spLocks noChangeArrowheads="1"/>
              </p:cNvSpPr>
              <p:nvPr/>
            </p:nvSpPr>
            <p:spPr bwMode="auto">
              <a:xfrm>
                <a:off x="3279" y="1495"/>
                <a:ext cx="127" cy="261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3" name="Freeform-677"/>
              <p:cNvSpPr>
                <a:spLocks/>
              </p:cNvSpPr>
              <p:nvPr/>
            </p:nvSpPr>
            <p:spPr bwMode="auto">
              <a:xfrm>
                <a:off x="3278" y="1454"/>
                <a:ext cx="175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4" name="Freeform-678"/>
              <p:cNvSpPr>
                <a:spLocks/>
              </p:cNvSpPr>
              <p:nvPr/>
            </p:nvSpPr>
            <p:spPr bwMode="auto">
              <a:xfrm>
                <a:off x="3278" y="1546"/>
                <a:ext cx="175" cy="39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5" name="Line-679"/>
              <p:cNvSpPr>
                <a:spLocks noChangeShapeType="1"/>
              </p:cNvSpPr>
              <p:nvPr/>
            </p:nvSpPr>
            <p:spPr bwMode="auto">
              <a:xfrm>
                <a:off x="3354" y="1732"/>
                <a:ext cx="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1416" name="Group 680"/>
            <p:cNvGrpSpPr>
              <a:grpSpLocks/>
            </p:cNvGrpSpPr>
            <p:nvPr/>
          </p:nvGrpSpPr>
          <p:grpSpPr bwMode="auto">
            <a:xfrm>
              <a:off x="3084" y="1473"/>
              <a:ext cx="195" cy="325"/>
              <a:chOff x="3276" y="1449"/>
              <a:chExt cx="195" cy="325"/>
            </a:xfrm>
          </p:grpSpPr>
          <p:sp>
            <p:nvSpPr>
              <p:cNvPr id="501417" name="Freeform-681"/>
              <p:cNvSpPr>
                <a:spLocks/>
              </p:cNvSpPr>
              <p:nvPr/>
            </p:nvSpPr>
            <p:spPr bwMode="auto">
              <a:xfrm>
                <a:off x="3285" y="1458"/>
                <a:ext cx="186" cy="316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8" name="Freeform-682"/>
              <p:cNvSpPr>
                <a:spLocks/>
              </p:cNvSpPr>
              <p:nvPr/>
            </p:nvSpPr>
            <p:spPr bwMode="auto">
              <a:xfrm>
                <a:off x="3276" y="1449"/>
                <a:ext cx="182" cy="314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19" name="Rectangle-683"/>
              <p:cNvSpPr>
                <a:spLocks noChangeArrowheads="1"/>
              </p:cNvSpPr>
              <p:nvPr/>
            </p:nvSpPr>
            <p:spPr bwMode="auto">
              <a:xfrm>
                <a:off x="3279" y="1495"/>
                <a:ext cx="127" cy="261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0" name="Freeform-684"/>
              <p:cNvSpPr>
                <a:spLocks/>
              </p:cNvSpPr>
              <p:nvPr/>
            </p:nvSpPr>
            <p:spPr bwMode="auto">
              <a:xfrm>
                <a:off x="3278" y="1454"/>
                <a:ext cx="175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1" name="Freeform-685"/>
              <p:cNvSpPr>
                <a:spLocks/>
              </p:cNvSpPr>
              <p:nvPr/>
            </p:nvSpPr>
            <p:spPr bwMode="auto">
              <a:xfrm>
                <a:off x="3278" y="1546"/>
                <a:ext cx="175" cy="39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2" name="Line-686"/>
              <p:cNvSpPr>
                <a:spLocks noChangeShapeType="1"/>
              </p:cNvSpPr>
              <p:nvPr/>
            </p:nvSpPr>
            <p:spPr bwMode="auto">
              <a:xfrm>
                <a:off x="3354" y="1732"/>
                <a:ext cx="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1423" name="Group 687"/>
            <p:cNvGrpSpPr>
              <a:grpSpLocks/>
            </p:cNvGrpSpPr>
            <p:nvPr/>
          </p:nvGrpSpPr>
          <p:grpSpPr bwMode="auto">
            <a:xfrm>
              <a:off x="3195" y="1561"/>
              <a:ext cx="166" cy="285"/>
              <a:chOff x="2808" y="1601"/>
              <a:chExt cx="159" cy="270"/>
            </a:xfrm>
          </p:grpSpPr>
          <p:sp>
            <p:nvSpPr>
              <p:cNvPr id="501424" name="Freeform-688"/>
              <p:cNvSpPr>
                <a:spLocks/>
              </p:cNvSpPr>
              <p:nvPr/>
            </p:nvSpPr>
            <p:spPr bwMode="auto">
              <a:xfrm>
                <a:off x="2814" y="1610"/>
                <a:ext cx="153" cy="261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5" name="Freeform-689"/>
              <p:cNvSpPr>
                <a:spLocks/>
              </p:cNvSpPr>
              <p:nvPr/>
            </p:nvSpPr>
            <p:spPr bwMode="auto">
              <a:xfrm>
                <a:off x="2808" y="1601"/>
                <a:ext cx="150" cy="259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6" name="Rectangle-690"/>
              <p:cNvSpPr>
                <a:spLocks noChangeArrowheads="1"/>
              </p:cNvSpPr>
              <p:nvPr/>
            </p:nvSpPr>
            <p:spPr bwMode="auto">
              <a:xfrm>
                <a:off x="2810" y="1639"/>
                <a:ext cx="105" cy="216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7" name="Freeform-691"/>
              <p:cNvSpPr>
                <a:spLocks/>
              </p:cNvSpPr>
              <p:nvPr/>
            </p:nvSpPr>
            <p:spPr bwMode="auto">
              <a:xfrm>
                <a:off x="2810" y="1605"/>
                <a:ext cx="144" cy="33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1428" name="Freeform-692"/>
              <p:cNvSpPr>
                <a:spLocks/>
              </p:cNvSpPr>
              <p:nvPr/>
            </p:nvSpPr>
            <p:spPr bwMode="auto">
              <a:xfrm>
                <a:off x="2810" y="1681"/>
                <a:ext cx="144" cy="33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501429" name="AutoShape-693"/>
          <p:cNvSpPr>
            <a:spLocks noChangeArrowheads="1"/>
          </p:cNvSpPr>
          <p:nvPr/>
        </p:nvSpPr>
        <p:spPr bwMode="auto">
          <a:xfrm>
            <a:off x="900545" y="4754563"/>
            <a:ext cx="3412693" cy="787400"/>
          </a:xfrm>
          <a:prstGeom prst="rightArrowCallout">
            <a:avLst>
              <a:gd name="adj1" fmla="val 40167"/>
              <a:gd name="adj2" fmla="val 39755"/>
              <a:gd name="adj3" fmla="val 53605"/>
              <a:gd name="adj4" fmla="val 73176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Aucun paramètre de GPO ne s'applique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501430" name="Picture-694" descr="GroupPolicyObject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6438" y="1512888"/>
            <a:ext cx="1566862" cy="928687"/>
          </a:xfrm>
          <a:prstGeom prst="rect">
            <a:avLst/>
          </a:prstGeom>
          <a:noFill/>
        </p:spPr>
      </p:pic>
      <p:sp>
        <p:nvSpPr>
          <p:cNvPr id="218" name="Line-614"/>
          <p:cNvSpPr>
            <a:spLocks noChangeShapeType="1"/>
          </p:cNvSpPr>
          <p:nvPr/>
        </p:nvSpPr>
        <p:spPr bwMode="auto">
          <a:xfrm>
            <a:off x="4462458" y="4132893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0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217" grpId="0" animBg="1"/>
      <p:bldP spid="501218" grpId="0" animBg="1"/>
      <p:bldP spid="501353" grpId="0" animBg="1"/>
      <p:bldP spid="501429" grpId="0" animBg="1"/>
      <p:bldP spid="2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l="22567" t="39394" r="22904" b="28409"/>
          <a:stretch>
            <a:fillRect/>
          </a:stretch>
        </p:blipFill>
        <p:spPr bwMode="auto">
          <a:xfrm>
            <a:off x="166255" y="3394364"/>
            <a:ext cx="8891894" cy="2964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29947" t="33008" r="35615" b="60795"/>
          <a:stretch>
            <a:fillRect/>
          </a:stretch>
        </p:blipFill>
        <p:spPr bwMode="auto">
          <a:xfrm>
            <a:off x="86335" y="1749570"/>
            <a:ext cx="8960680" cy="910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Connecteur droit 5"/>
          <p:cNvCxnSpPr/>
          <p:nvPr/>
        </p:nvCxnSpPr>
        <p:spPr>
          <a:xfrm rot="10800000">
            <a:off x="983672" y="3879273"/>
            <a:ext cx="2064330" cy="2771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rot="10800000">
            <a:off x="1496292" y="4613565"/>
            <a:ext cx="1607129" cy="1371605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rot="10800000" flipV="1">
            <a:off x="1995055" y="5985168"/>
            <a:ext cx="1080656" cy="13849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rot="10800000" flipV="1">
            <a:off x="1496291" y="4973786"/>
            <a:ext cx="1607130" cy="249377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l="22610" t="39258" r="23015" b="28125"/>
          <a:stretch>
            <a:fillRect/>
          </a:stretch>
        </p:blipFill>
        <p:spPr bwMode="auto">
          <a:xfrm>
            <a:off x="214313" y="2957496"/>
            <a:ext cx="877304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 l="29816" t="32813" r="25515" b="61262"/>
          <a:stretch>
            <a:fillRect/>
          </a:stretch>
        </p:blipFill>
        <p:spPr bwMode="auto">
          <a:xfrm>
            <a:off x="128584" y="1423987"/>
            <a:ext cx="8920973" cy="933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Connecteur droit 11"/>
          <p:cNvCxnSpPr/>
          <p:nvPr/>
        </p:nvCxnSpPr>
        <p:spPr>
          <a:xfrm rot="10800000">
            <a:off x="1011382" y="3491346"/>
            <a:ext cx="2064330" cy="27713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rot="5400000">
            <a:off x="1648695" y="3906983"/>
            <a:ext cx="1773377" cy="116378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rot="10800000">
            <a:off x="1565565" y="4862945"/>
            <a:ext cx="1551711" cy="66502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rot="10800000" flipV="1">
            <a:off x="1551710" y="4502731"/>
            <a:ext cx="1551711" cy="290941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rot="10800000">
            <a:off x="1995056" y="5500255"/>
            <a:ext cx="1108365" cy="2771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-2"/>
          <p:cNvSpPr>
            <a:spLocks noGrp="1" noChangeArrowheads="1"/>
          </p:cNvSpPr>
          <p:nvPr>
            <p:ph type="title"/>
          </p:nvPr>
        </p:nvSpPr>
        <p:spPr>
          <a:xfrm>
            <a:off x="193963" y="284020"/>
            <a:ext cx="8769927" cy="758952"/>
          </a:xfrm>
        </p:spPr>
        <p:txBody>
          <a:bodyPr vert="horz" anchor="b">
            <a:noAutofit/>
          </a:bodyPr>
          <a:lstStyle/>
          <a:p>
            <a:r>
              <a:rPr lang="fr-FR" altLang="zh-CN" sz="2600" b="1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Attributs d'un lien d'objet de stratégie de groupe</a:t>
            </a:r>
            <a:r>
              <a:rPr lang="en-IE" altLang="zh-CN" sz="2600" b="1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3820" name="AutoShape-12"/>
          <p:cNvSpPr>
            <a:spLocks noChangeArrowheads="1"/>
          </p:cNvSpPr>
          <p:nvPr/>
        </p:nvSpPr>
        <p:spPr bwMode="auto">
          <a:xfrm>
            <a:off x="73713" y="1711752"/>
            <a:ext cx="4290378" cy="4979987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  <a:buSzPct val="85000"/>
            </a:pPr>
            <a:endParaRPr lang="en-IE"/>
          </a:p>
        </p:txBody>
      </p:sp>
      <p:sp>
        <p:nvSpPr>
          <p:cNvPr id="503821" name="AutoShape-13"/>
          <p:cNvSpPr>
            <a:spLocks noChangeArrowheads="1"/>
          </p:cNvSpPr>
          <p:nvPr/>
        </p:nvSpPr>
        <p:spPr bwMode="auto">
          <a:xfrm>
            <a:off x="320940" y="1275190"/>
            <a:ext cx="3430588" cy="595313"/>
          </a:xfrm>
          <a:prstGeom prst="roundRect">
            <a:avLst>
              <a:gd name="adj" fmla="val 19935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Appliqué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503836" name="Picture 28" descr="2144A082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213" y="1932414"/>
            <a:ext cx="4039860" cy="4580145"/>
          </a:xfrm>
          <a:prstGeom prst="rect">
            <a:avLst/>
          </a:prstGeom>
          <a:noFill/>
        </p:spPr>
      </p:pic>
      <p:sp>
        <p:nvSpPr>
          <p:cNvPr id="6" name="AutoShape-14"/>
          <p:cNvSpPr>
            <a:spLocks noChangeArrowheads="1"/>
          </p:cNvSpPr>
          <p:nvPr/>
        </p:nvSpPr>
        <p:spPr bwMode="auto">
          <a:xfrm>
            <a:off x="4655126" y="1717964"/>
            <a:ext cx="4308765" cy="4959927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  <a:buSzPct val="85000"/>
            </a:pPr>
            <a:endParaRPr lang="en-IE"/>
          </a:p>
        </p:txBody>
      </p:sp>
      <p:sp>
        <p:nvSpPr>
          <p:cNvPr id="7" name="AutoShape-15"/>
          <p:cNvSpPr>
            <a:spLocks noChangeArrowheads="1"/>
          </p:cNvSpPr>
          <p:nvPr/>
        </p:nvSpPr>
        <p:spPr bwMode="auto">
          <a:xfrm>
            <a:off x="5307879" y="1302904"/>
            <a:ext cx="3430587" cy="595313"/>
          </a:xfrm>
          <a:prstGeom prst="roundRect">
            <a:avLst>
              <a:gd name="adj" fmla="val 19935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Liens conflictuels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8" name="Picture 30" descr="2144A0822b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4722695" y="1953490"/>
            <a:ext cx="4226970" cy="4558145"/>
          </a:xfrm>
          <a:noFill/>
          <a:ln/>
        </p:spPr>
      </p:pic>
      <p:sp>
        <p:nvSpPr>
          <p:cNvPr id="9" name="Rectangle 8"/>
          <p:cNvSpPr/>
          <p:nvPr/>
        </p:nvSpPr>
        <p:spPr>
          <a:xfrm>
            <a:off x="207818" y="5662022"/>
            <a:ext cx="4239491" cy="9556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200" dirty="0" smtClean="0"/>
              <a:t>L’option Appliqué est un attribut de lien d’objet de stratégie de groupe</a:t>
            </a:r>
            <a:endParaRPr lang="fr-FR" sz="2200" dirty="0"/>
          </a:p>
        </p:txBody>
      </p:sp>
      <p:sp>
        <p:nvSpPr>
          <p:cNvPr id="10" name="Rectangle 9"/>
          <p:cNvSpPr/>
          <p:nvPr/>
        </p:nvSpPr>
        <p:spPr>
          <a:xfrm>
            <a:off x="4668981" y="5675878"/>
            <a:ext cx="4239491" cy="10341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 smtClean="0"/>
              <a:t>En cas de conflit, c’est le dernier paramètre appliqué qui prime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0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0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20" grpId="0" animBg="1"/>
      <p:bldP spid="503821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Filtrage du déploiement d'un objet de stratégie 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221673" y="1401791"/>
            <a:ext cx="8756072" cy="520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Font typeface="Wingdings" pitchFamily="2" charset="2"/>
              <a:buChar char="q"/>
            </a:pPr>
            <a:r>
              <a:rPr lang="fr-FR" sz="2400" dirty="0" smtClean="0"/>
              <a:t> Grâce à la fonction de filtrage, vous pouvez déterminer les paramètres appliqués aux utilisateurs et aux ordinateurs dans un conteneur donné </a:t>
            </a:r>
          </a:p>
          <a:p>
            <a:pPr algn="l">
              <a:lnSpc>
                <a:spcPct val="100000"/>
              </a:lnSpc>
              <a:buFont typeface="Wingdings" pitchFamily="2" charset="2"/>
              <a:buChar char="q"/>
            </a:pPr>
            <a:r>
              <a:rPr lang="fr-FR" sz="2400" dirty="0" smtClean="0"/>
              <a:t> Vous pouvez filtrer le déploiement d’un objet de stratégie de groupe en définissant des autorisations sur le lien de l’objet de stratégie de groupe </a:t>
            </a:r>
          </a:p>
          <a:p>
            <a:pPr algn="l">
              <a:lnSpc>
                <a:spcPct val="100000"/>
              </a:lnSpc>
              <a:buFont typeface="Wingdings" pitchFamily="2" charset="2"/>
              <a:buChar char="q"/>
            </a:pPr>
            <a:r>
              <a:rPr lang="fr-FR" sz="2400" dirty="0" smtClean="0"/>
              <a:t> Pour appliquer les paramètres de stratégie de groupe à un compte d’utilisateur ou un compte d’ordinateur, le compte doit avoir au moins l’autorisation Lecture sur un objet de stratégie de groupe. </a:t>
            </a:r>
          </a:p>
          <a:p>
            <a:pPr algn="l">
              <a:lnSpc>
                <a:spcPct val="100000"/>
              </a:lnSpc>
              <a:buFont typeface="Wingdings" pitchFamily="2" charset="2"/>
              <a:buChar char="q"/>
            </a:pPr>
            <a:r>
              <a:rPr lang="fr-FR" sz="2400" dirty="0" smtClean="0"/>
              <a:t> Vous pouvez utiliser les méthodes de filtrage suivantes :</a:t>
            </a:r>
          </a:p>
          <a:p>
            <a:pPr lvl="1" algn="l">
              <a:lnSpc>
                <a:spcPct val="100000"/>
              </a:lnSpc>
              <a:buFont typeface="Wingdings" pitchFamily="2" charset="2"/>
              <a:buChar char="Ø"/>
            </a:pPr>
            <a:r>
              <a:rPr lang="fr-FR" sz="2400" dirty="0" smtClean="0"/>
              <a:t>Refuser explicitement</a:t>
            </a:r>
          </a:p>
          <a:p>
            <a:pPr lvl="1" algn="l">
              <a:lnSpc>
                <a:spcPct val="100000"/>
              </a:lnSpc>
              <a:buFont typeface="Wingdings" pitchFamily="2" charset="2"/>
              <a:buChar char="Ø"/>
            </a:pPr>
            <a:r>
              <a:rPr lang="fr-FR" sz="2400" dirty="0" smtClean="0"/>
              <a:t>Supprimer les utilisateurs authentifiés</a:t>
            </a:r>
          </a:p>
          <a:p>
            <a:pPr lvl="1" algn="l">
              <a:lnSpc>
                <a:spcPct val="100000"/>
              </a:lnSpc>
              <a:buFont typeface="Wingdings" pitchFamily="2" charset="2"/>
              <a:buChar char="Ø"/>
            </a:pPr>
            <a:r>
              <a:rPr lang="fr-FR" sz="2400" dirty="0" smtClean="0"/>
              <a:t>Filtrage WMI</a:t>
            </a:r>
          </a:p>
          <a:p>
            <a:pPr algn="l"/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Filtrage du déploiement d'un objet de stratégie 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318" name="AutoShape-366"/>
          <p:cNvSpPr>
            <a:spLocks noChangeArrowheads="1"/>
          </p:cNvSpPr>
          <p:nvPr/>
        </p:nvSpPr>
        <p:spPr bwMode="auto">
          <a:xfrm>
            <a:off x="2514600" y="1430338"/>
            <a:ext cx="3048000" cy="4625975"/>
          </a:xfrm>
          <a:prstGeom prst="roundRect">
            <a:avLst>
              <a:gd name="adj" fmla="val 3995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510319" name="Freeform-367"/>
          <p:cNvSpPr>
            <a:spLocks/>
          </p:cNvSpPr>
          <p:nvPr/>
        </p:nvSpPr>
        <p:spPr bwMode="auto">
          <a:xfrm>
            <a:off x="3602038" y="2398713"/>
            <a:ext cx="458787" cy="7508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320" name="Freeform-368"/>
          <p:cNvSpPr>
            <a:spLocks/>
          </p:cNvSpPr>
          <p:nvPr/>
        </p:nvSpPr>
        <p:spPr bwMode="auto">
          <a:xfrm>
            <a:off x="3602038" y="3848100"/>
            <a:ext cx="458787" cy="18494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2" name="Group 369"/>
          <p:cNvGrpSpPr>
            <a:grpSpLocks/>
          </p:cNvGrpSpPr>
          <p:nvPr/>
        </p:nvGrpSpPr>
        <p:grpSpPr bwMode="auto">
          <a:xfrm>
            <a:off x="4092575" y="4470400"/>
            <a:ext cx="346075" cy="420688"/>
            <a:chOff x="847" y="1168"/>
            <a:chExt cx="747" cy="909"/>
          </a:xfrm>
        </p:grpSpPr>
        <p:sp>
          <p:nvSpPr>
            <p:cNvPr id="510322" name="Freeform-370"/>
            <p:cNvSpPr>
              <a:spLocks/>
            </p:cNvSpPr>
            <p:nvPr/>
          </p:nvSpPr>
          <p:spPr bwMode="auto">
            <a:xfrm>
              <a:off x="986" y="1290"/>
              <a:ext cx="489" cy="733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23" name="Rectangle-371"/>
            <p:cNvSpPr>
              <a:spLocks noChangeArrowheads="1"/>
            </p:cNvSpPr>
            <p:nvPr/>
          </p:nvSpPr>
          <p:spPr bwMode="auto">
            <a:xfrm>
              <a:off x="1282" y="1853"/>
              <a:ext cx="84" cy="184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24" name="Rectangle-372"/>
            <p:cNvSpPr>
              <a:spLocks noChangeArrowheads="1"/>
            </p:cNvSpPr>
            <p:nvPr/>
          </p:nvSpPr>
          <p:spPr bwMode="auto">
            <a:xfrm>
              <a:off x="1494" y="1590"/>
              <a:ext cx="53" cy="54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25" name="Rectangle-373"/>
            <p:cNvSpPr>
              <a:spLocks noChangeArrowheads="1"/>
            </p:cNvSpPr>
            <p:nvPr/>
          </p:nvSpPr>
          <p:spPr bwMode="auto">
            <a:xfrm>
              <a:off x="1456" y="1339"/>
              <a:ext cx="48" cy="30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26" name="Rectangle-374"/>
            <p:cNvSpPr>
              <a:spLocks noChangeArrowheads="1"/>
            </p:cNvSpPr>
            <p:nvPr/>
          </p:nvSpPr>
          <p:spPr bwMode="auto">
            <a:xfrm>
              <a:off x="936" y="1929"/>
              <a:ext cx="197" cy="104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27" name="Freeform-375"/>
            <p:cNvSpPr>
              <a:spLocks/>
            </p:cNvSpPr>
            <p:nvPr/>
          </p:nvSpPr>
          <p:spPr bwMode="auto">
            <a:xfrm>
              <a:off x="847" y="1168"/>
              <a:ext cx="747" cy="740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28" name="Rectangle-376"/>
            <p:cNvSpPr>
              <a:spLocks noChangeArrowheads="1"/>
            </p:cNvSpPr>
            <p:nvPr/>
          </p:nvSpPr>
          <p:spPr bwMode="auto">
            <a:xfrm>
              <a:off x="1460" y="1419"/>
              <a:ext cx="47" cy="79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29" name="Rectangle-377"/>
            <p:cNvSpPr>
              <a:spLocks noChangeArrowheads="1"/>
            </p:cNvSpPr>
            <p:nvPr/>
          </p:nvSpPr>
          <p:spPr bwMode="auto">
            <a:xfrm flipH="1">
              <a:off x="1376" y="1495"/>
              <a:ext cx="47" cy="4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0" name="Rectangle-378"/>
            <p:cNvSpPr>
              <a:spLocks noChangeArrowheads="1"/>
            </p:cNvSpPr>
            <p:nvPr/>
          </p:nvSpPr>
          <p:spPr bwMode="auto">
            <a:xfrm flipH="1">
              <a:off x="1502" y="1499"/>
              <a:ext cx="47" cy="94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1" name="Rectangle-379"/>
            <p:cNvSpPr>
              <a:spLocks noChangeArrowheads="1"/>
            </p:cNvSpPr>
            <p:nvPr/>
          </p:nvSpPr>
          <p:spPr bwMode="auto">
            <a:xfrm>
              <a:off x="1545" y="1593"/>
              <a:ext cx="47" cy="48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2" name="Rectangle-380"/>
            <p:cNvSpPr>
              <a:spLocks noChangeArrowheads="1"/>
            </p:cNvSpPr>
            <p:nvPr/>
          </p:nvSpPr>
          <p:spPr bwMode="auto">
            <a:xfrm>
              <a:off x="935" y="1902"/>
              <a:ext cx="125" cy="3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3" name="Rectangle-381"/>
            <p:cNvSpPr>
              <a:spLocks noChangeArrowheads="1"/>
            </p:cNvSpPr>
            <p:nvPr/>
          </p:nvSpPr>
          <p:spPr bwMode="auto">
            <a:xfrm>
              <a:off x="1058" y="1929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4" name="Rectangle-382"/>
            <p:cNvSpPr>
              <a:spLocks noChangeArrowheads="1"/>
            </p:cNvSpPr>
            <p:nvPr/>
          </p:nvSpPr>
          <p:spPr bwMode="auto">
            <a:xfrm>
              <a:off x="1132" y="1974"/>
              <a:ext cx="77" cy="6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5" name="Rectangle-383"/>
            <p:cNvSpPr>
              <a:spLocks noChangeArrowheads="1"/>
            </p:cNvSpPr>
            <p:nvPr/>
          </p:nvSpPr>
          <p:spPr bwMode="auto">
            <a:xfrm>
              <a:off x="935" y="1931"/>
              <a:ext cx="34" cy="3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6" name="Rectangle-384"/>
            <p:cNvSpPr>
              <a:spLocks noChangeArrowheads="1"/>
            </p:cNvSpPr>
            <p:nvPr/>
          </p:nvSpPr>
          <p:spPr bwMode="auto">
            <a:xfrm>
              <a:off x="893" y="1962"/>
              <a:ext cx="47" cy="7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7" name="Rectangle-385"/>
            <p:cNvSpPr>
              <a:spLocks noChangeArrowheads="1"/>
            </p:cNvSpPr>
            <p:nvPr/>
          </p:nvSpPr>
          <p:spPr bwMode="auto">
            <a:xfrm>
              <a:off x="1375" y="1451"/>
              <a:ext cx="119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8" name="Rectangle-386"/>
            <p:cNvSpPr>
              <a:spLocks noChangeArrowheads="1"/>
            </p:cNvSpPr>
            <p:nvPr/>
          </p:nvSpPr>
          <p:spPr bwMode="auto">
            <a:xfrm>
              <a:off x="1412" y="1639"/>
              <a:ext cx="47" cy="18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39" name="Rectangle-387"/>
            <p:cNvSpPr>
              <a:spLocks noChangeArrowheads="1"/>
            </p:cNvSpPr>
            <p:nvPr/>
          </p:nvSpPr>
          <p:spPr bwMode="auto">
            <a:xfrm>
              <a:off x="1196" y="1777"/>
              <a:ext cx="231" cy="47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0" name="Rectangle-388"/>
            <p:cNvSpPr>
              <a:spLocks noChangeArrowheads="1"/>
            </p:cNvSpPr>
            <p:nvPr/>
          </p:nvSpPr>
          <p:spPr bwMode="auto">
            <a:xfrm>
              <a:off x="1240" y="1853"/>
              <a:ext cx="42" cy="176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1" name="Rectangle-389"/>
            <p:cNvSpPr>
              <a:spLocks noChangeArrowheads="1"/>
            </p:cNvSpPr>
            <p:nvPr/>
          </p:nvSpPr>
          <p:spPr bwMode="auto">
            <a:xfrm>
              <a:off x="1208" y="2007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2" name="Rectangle-390"/>
            <p:cNvSpPr>
              <a:spLocks noChangeArrowheads="1"/>
            </p:cNvSpPr>
            <p:nvPr/>
          </p:nvSpPr>
          <p:spPr bwMode="auto">
            <a:xfrm>
              <a:off x="1348" y="1943"/>
              <a:ext cx="169" cy="90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3" name="Rectangle-391"/>
            <p:cNvSpPr>
              <a:spLocks noChangeArrowheads="1"/>
            </p:cNvSpPr>
            <p:nvPr/>
          </p:nvSpPr>
          <p:spPr bwMode="auto">
            <a:xfrm>
              <a:off x="935" y="2030"/>
              <a:ext cx="57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4" name="Rectangle-392"/>
            <p:cNvSpPr>
              <a:spLocks noChangeArrowheads="1"/>
            </p:cNvSpPr>
            <p:nvPr/>
          </p:nvSpPr>
          <p:spPr bwMode="auto">
            <a:xfrm>
              <a:off x="1276" y="1932"/>
              <a:ext cx="77" cy="10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5" name="Rectangle-393"/>
            <p:cNvSpPr>
              <a:spLocks noChangeArrowheads="1"/>
            </p:cNvSpPr>
            <p:nvPr/>
          </p:nvSpPr>
          <p:spPr bwMode="auto">
            <a:xfrm flipH="1">
              <a:off x="1349" y="1825"/>
              <a:ext cx="47" cy="12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6" name="Rectangle-394"/>
            <p:cNvSpPr>
              <a:spLocks noChangeArrowheads="1"/>
            </p:cNvSpPr>
            <p:nvPr/>
          </p:nvSpPr>
          <p:spPr bwMode="auto">
            <a:xfrm>
              <a:off x="1237" y="1811"/>
              <a:ext cx="113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7" name="Rectangle-395"/>
            <p:cNvSpPr>
              <a:spLocks noChangeArrowheads="1"/>
            </p:cNvSpPr>
            <p:nvPr/>
          </p:nvSpPr>
          <p:spPr bwMode="auto">
            <a:xfrm flipV="1">
              <a:off x="1393" y="1903"/>
              <a:ext cx="8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8" name="Rectangle-396"/>
            <p:cNvSpPr>
              <a:spLocks noChangeArrowheads="1"/>
            </p:cNvSpPr>
            <p:nvPr/>
          </p:nvSpPr>
          <p:spPr bwMode="auto">
            <a:xfrm flipV="1">
              <a:off x="1471" y="1945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49" name="Rectangle-397"/>
            <p:cNvSpPr>
              <a:spLocks noChangeArrowheads="1"/>
            </p:cNvSpPr>
            <p:nvPr/>
          </p:nvSpPr>
          <p:spPr bwMode="auto">
            <a:xfrm flipV="1">
              <a:off x="1509" y="1987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50" name="Rectangle-398"/>
            <p:cNvSpPr>
              <a:spLocks noChangeArrowheads="1"/>
            </p:cNvSpPr>
            <p:nvPr/>
          </p:nvSpPr>
          <p:spPr bwMode="auto">
            <a:xfrm>
              <a:off x="1445" y="1663"/>
              <a:ext cx="49" cy="156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51" name="Rectangle-399"/>
            <p:cNvSpPr>
              <a:spLocks noChangeArrowheads="1"/>
            </p:cNvSpPr>
            <p:nvPr/>
          </p:nvSpPr>
          <p:spPr bwMode="auto">
            <a:xfrm>
              <a:off x="1445" y="1627"/>
              <a:ext cx="101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52" name="Rectangle-400"/>
            <p:cNvSpPr>
              <a:spLocks noChangeArrowheads="1"/>
            </p:cNvSpPr>
            <p:nvPr/>
          </p:nvSpPr>
          <p:spPr bwMode="auto">
            <a:xfrm flipV="1">
              <a:off x="1347" y="1811"/>
              <a:ext cx="99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0353" name="Text-Box-401"/>
          <p:cNvSpPr txBox="1">
            <a:spLocks noChangeArrowheads="1"/>
          </p:cNvSpPr>
          <p:nvPr/>
        </p:nvSpPr>
        <p:spPr bwMode="auto">
          <a:xfrm>
            <a:off x="3821113" y="3524250"/>
            <a:ext cx="82586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E" altLang="zh-CN" sz="2200" b="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Sales </a:t>
            </a:r>
            <a:endParaRPr lang="en-US" sz="2200" b="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3" name="Group 402"/>
          <p:cNvGrpSpPr>
            <a:grpSpLocks/>
          </p:cNvGrpSpPr>
          <p:nvPr/>
        </p:nvGrpSpPr>
        <p:grpSpPr bwMode="auto">
          <a:xfrm>
            <a:off x="4092575" y="2914650"/>
            <a:ext cx="423863" cy="412750"/>
            <a:chOff x="2371" y="1690"/>
            <a:chExt cx="278" cy="269"/>
          </a:xfrm>
        </p:grpSpPr>
        <p:sp>
          <p:nvSpPr>
            <p:cNvPr id="510355" name="Freeform-403"/>
            <p:cNvSpPr>
              <a:spLocks/>
            </p:cNvSpPr>
            <p:nvPr/>
          </p:nvSpPr>
          <p:spPr bwMode="auto">
            <a:xfrm>
              <a:off x="2382" y="1851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56" name="Freeform-404"/>
            <p:cNvSpPr>
              <a:spLocks/>
            </p:cNvSpPr>
            <p:nvPr/>
          </p:nvSpPr>
          <p:spPr bwMode="auto">
            <a:xfrm>
              <a:off x="2371" y="1839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57" name="Rectangle-405"/>
            <p:cNvSpPr>
              <a:spLocks noChangeArrowheads="1"/>
            </p:cNvSpPr>
            <p:nvPr/>
          </p:nvSpPr>
          <p:spPr bwMode="auto">
            <a:xfrm>
              <a:off x="2384" y="1881"/>
              <a:ext cx="205" cy="53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58" name="Rectangle-406"/>
            <p:cNvSpPr>
              <a:spLocks noChangeArrowheads="1"/>
            </p:cNvSpPr>
            <p:nvPr/>
          </p:nvSpPr>
          <p:spPr bwMode="auto">
            <a:xfrm>
              <a:off x="2395" y="1890"/>
              <a:ext cx="194" cy="44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59" name="Rectangle-407"/>
            <p:cNvSpPr>
              <a:spLocks noChangeArrowheads="1"/>
            </p:cNvSpPr>
            <p:nvPr/>
          </p:nvSpPr>
          <p:spPr bwMode="auto">
            <a:xfrm>
              <a:off x="2512" y="1901"/>
              <a:ext cx="68" cy="10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60" name="Rectangle-408"/>
            <p:cNvSpPr>
              <a:spLocks noChangeArrowheads="1"/>
            </p:cNvSpPr>
            <p:nvPr/>
          </p:nvSpPr>
          <p:spPr bwMode="auto">
            <a:xfrm>
              <a:off x="2400" y="1900"/>
              <a:ext cx="24" cy="14"/>
            </a:xfrm>
            <a:prstGeom prst="rect">
              <a:avLst/>
            </a:prstGeom>
            <a:solidFill>
              <a:srgbClr val="037C03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61" name="Freeform-409"/>
            <p:cNvSpPr>
              <a:spLocks/>
            </p:cNvSpPr>
            <p:nvPr/>
          </p:nvSpPr>
          <p:spPr bwMode="auto">
            <a:xfrm>
              <a:off x="2407" y="1701"/>
              <a:ext cx="215" cy="170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4" name="Group 410"/>
            <p:cNvGrpSpPr>
              <a:grpSpLocks/>
            </p:cNvGrpSpPr>
            <p:nvPr/>
          </p:nvGrpSpPr>
          <p:grpSpPr bwMode="auto">
            <a:xfrm>
              <a:off x="2395" y="1690"/>
              <a:ext cx="215" cy="170"/>
              <a:chOff x="2395" y="1690"/>
              <a:chExt cx="215" cy="170"/>
            </a:xfrm>
          </p:grpSpPr>
          <p:sp>
            <p:nvSpPr>
              <p:cNvPr id="510363" name="Freeform-411"/>
              <p:cNvSpPr>
                <a:spLocks/>
              </p:cNvSpPr>
              <p:nvPr/>
            </p:nvSpPr>
            <p:spPr bwMode="auto">
              <a:xfrm>
                <a:off x="2395" y="1690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364" name="Rectangle-412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61" cy="132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65" name="Rectangle-413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50" cy="1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66" name="Rectangle-414"/>
              <p:cNvSpPr>
                <a:spLocks noChangeArrowheads="1"/>
              </p:cNvSpPr>
              <p:nvPr/>
            </p:nvSpPr>
            <p:spPr bwMode="auto">
              <a:xfrm>
                <a:off x="2427" y="1701"/>
                <a:ext cx="154" cy="13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67" name="Rectangle-415"/>
              <p:cNvSpPr>
                <a:spLocks noChangeArrowheads="1"/>
              </p:cNvSpPr>
              <p:nvPr/>
            </p:nvSpPr>
            <p:spPr bwMode="auto">
              <a:xfrm>
                <a:off x="2415" y="1727"/>
                <a:ext cx="130" cy="100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68" name="Rectangle-416"/>
              <p:cNvSpPr>
                <a:spLocks noChangeArrowheads="1"/>
              </p:cNvSpPr>
              <p:nvPr/>
            </p:nvSpPr>
            <p:spPr bwMode="auto">
              <a:xfrm>
                <a:off x="2423" y="1735"/>
                <a:ext cx="113" cy="83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69" name="Rectangle-417"/>
              <p:cNvSpPr>
                <a:spLocks noChangeArrowheads="1"/>
              </p:cNvSpPr>
              <p:nvPr/>
            </p:nvSpPr>
            <p:spPr bwMode="auto">
              <a:xfrm>
                <a:off x="2432" y="1745"/>
                <a:ext cx="104" cy="73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5" name="Group 418"/>
          <p:cNvGrpSpPr>
            <a:grpSpLocks/>
          </p:cNvGrpSpPr>
          <p:nvPr/>
        </p:nvGrpSpPr>
        <p:grpSpPr bwMode="auto">
          <a:xfrm>
            <a:off x="3376613" y="2100263"/>
            <a:ext cx="428625" cy="344487"/>
            <a:chOff x="4267" y="1108"/>
            <a:chExt cx="290" cy="233"/>
          </a:xfrm>
        </p:grpSpPr>
        <p:sp>
          <p:nvSpPr>
            <p:cNvPr id="510371" name="Freeform-419"/>
            <p:cNvSpPr>
              <a:spLocks/>
            </p:cNvSpPr>
            <p:nvPr/>
          </p:nvSpPr>
          <p:spPr bwMode="auto">
            <a:xfrm>
              <a:off x="4267" y="1108"/>
              <a:ext cx="290" cy="233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6" name="Group 420"/>
            <p:cNvGrpSpPr>
              <a:grpSpLocks/>
            </p:cNvGrpSpPr>
            <p:nvPr/>
          </p:nvGrpSpPr>
          <p:grpSpPr bwMode="auto">
            <a:xfrm>
              <a:off x="4300" y="1145"/>
              <a:ext cx="210" cy="183"/>
              <a:chOff x="762" y="1114"/>
              <a:chExt cx="980" cy="855"/>
            </a:xfrm>
          </p:grpSpPr>
          <p:sp>
            <p:nvSpPr>
              <p:cNvPr id="510373" name="Freeform-421"/>
              <p:cNvSpPr>
                <a:spLocks/>
              </p:cNvSpPr>
              <p:nvPr/>
            </p:nvSpPr>
            <p:spPr bwMode="auto">
              <a:xfrm>
                <a:off x="762" y="1192"/>
                <a:ext cx="980" cy="777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374" name="Freeform-422"/>
              <p:cNvSpPr>
                <a:spLocks/>
              </p:cNvSpPr>
              <p:nvPr/>
            </p:nvSpPr>
            <p:spPr bwMode="auto">
              <a:xfrm>
                <a:off x="808" y="1205"/>
                <a:ext cx="893" cy="727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375" name="Freeform-423"/>
              <p:cNvSpPr>
                <a:spLocks/>
              </p:cNvSpPr>
              <p:nvPr/>
            </p:nvSpPr>
            <p:spPr bwMode="auto">
              <a:xfrm>
                <a:off x="763" y="1114"/>
                <a:ext cx="883" cy="410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376" name="Freeform-424"/>
              <p:cNvSpPr>
                <a:spLocks/>
              </p:cNvSpPr>
              <p:nvPr/>
            </p:nvSpPr>
            <p:spPr bwMode="auto">
              <a:xfrm>
                <a:off x="840" y="1412"/>
                <a:ext cx="854" cy="33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</p:grpSp>
      <p:grpSp>
        <p:nvGrpSpPr>
          <p:cNvPr id="7" name="Group 425"/>
          <p:cNvGrpSpPr>
            <a:grpSpLocks/>
          </p:cNvGrpSpPr>
          <p:nvPr/>
        </p:nvGrpSpPr>
        <p:grpSpPr bwMode="auto">
          <a:xfrm>
            <a:off x="4092575" y="3979863"/>
            <a:ext cx="423863" cy="411162"/>
            <a:chOff x="2371" y="1690"/>
            <a:chExt cx="278" cy="269"/>
          </a:xfrm>
        </p:grpSpPr>
        <p:sp>
          <p:nvSpPr>
            <p:cNvPr id="510378" name="Freeform-426"/>
            <p:cNvSpPr>
              <a:spLocks/>
            </p:cNvSpPr>
            <p:nvPr/>
          </p:nvSpPr>
          <p:spPr bwMode="auto">
            <a:xfrm>
              <a:off x="2382" y="1851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79" name="Freeform-427"/>
            <p:cNvSpPr>
              <a:spLocks/>
            </p:cNvSpPr>
            <p:nvPr/>
          </p:nvSpPr>
          <p:spPr bwMode="auto">
            <a:xfrm>
              <a:off x="2371" y="1839"/>
              <a:ext cx="267" cy="108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80" name="Rectangle-428"/>
            <p:cNvSpPr>
              <a:spLocks noChangeArrowheads="1"/>
            </p:cNvSpPr>
            <p:nvPr/>
          </p:nvSpPr>
          <p:spPr bwMode="auto">
            <a:xfrm>
              <a:off x="2384" y="1881"/>
              <a:ext cx="205" cy="53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81" name="Rectangle-429"/>
            <p:cNvSpPr>
              <a:spLocks noChangeArrowheads="1"/>
            </p:cNvSpPr>
            <p:nvPr/>
          </p:nvSpPr>
          <p:spPr bwMode="auto">
            <a:xfrm>
              <a:off x="2395" y="1890"/>
              <a:ext cx="194" cy="44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82" name="Rectangle-430"/>
            <p:cNvSpPr>
              <a:spLocks noChangeArrowheads="1"/>
            </p:cNvSpPr>
            <p:nvPr/>
          </p:nvSpPr>
          <p:spPr bwMode="auto">
            <a:xfrm>
              <a:off x="2512" y="1901"/>
              <a:ext cx="68" cy="10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83" name="Rectangle-431"/>
            <p:cNvSpPr>
              <a:spLocks noChangeArrowheads="1"/>
            </p:cNvSpPr>
            <p:nvPr/>
          </p:nvSpPr>
          <p:spPr bwMode="auto">
            <a:xfrm>
              <a:off x="2400" y="1900"/>
              <a:ext cx="24" cy="14"/>
            </a:xfrm>
            <a:prstGeom prst="rect">
              <a:avLst/>
            </a:prstGeom>
            <a:solidFill>
              <a:srgbClr val="037C03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84" name="Freeform-432"/>
            <p:cNvSpPr>
              <a:spLocks/>
            </p:cNvSpPr>
            <p:nvPr/>
          </p:nvSpPr>
          <p:spPr bwMode="auto">
            <a:xfrm>
              <a:off x="2407" y="1701"/>
              <a:ext cx="215" cy="170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433"/>
            <p:cNvGrpSpPr>
              <a:grpSpLocks/>
            </p:cNvGrpSpPr>
            <p:nvPr/>
          </p:nvGrpSpPr>
          <p:grpSpPr bwMode="auto">
            <a:xfrm>
              <a:off x="2395" y="1690"/>
              <a:ext cx="215" cy="170"/>
              <a:chOff x="2395" y="1690"/>
              <a:chExt cx="215" cy="170"/>
            </a:xfrm>
          </p:grpSpPr>
          <p:sp>
            <p:nvSpPr>
              <p:cNvPr id="510386" name="Freeform-434"/>
              <p:cNvSpPr>
                <a:spLocks/>
              </p:cNvSpPr>
              <p:nvPr/>
            </p:nvSpPr>
            <p:spPr bwMode="auto">
              <a:xfrm>
                <a:off x="2395" y="1690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387" name="Rectangle-435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61" cy="132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88" name="Rectangle-436"/>
              <p:cNvSpPr>
                <a:spLocks noChangeArrowheads="1"/>
              </p:cNvSpPr>
              <p:nvPr/>
            </p:nvSpPr>
            <p:spPr bwMode="auto">
              <a:xfrm>
                <a:off x="2407" y="1716"/>
                <a:ext cx="150" cy="1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89" name="Rectangle-437"/>
              <p:cNvSpPr>
                <a:spLocks noChangeArrowheads="1"/>
              </p:cNvSpPr>
              <p:nvPr/>
            </p:nvSpPr>
            <p:spPr bwMode="auto">
              <a:xfrm>
                <a:off x="2427" y="1701"/>
                <a:ext cx="154" cy="13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90" name="Rectangle-438"/>
              <p:cNvSpPr>
                <a:spLocks noChangeArrowheads="1"/>
              </p:cNvSpPr>
              <p:nvPr/>
            </p:nvSpPr>
            <p:spPr bwMode="auto">
              <a:xfrm>
                <a:off x="2415" y="1727"/>
                <a:ext cx="130" cy="100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91" name="Rectangle-439"/>
              <p:cNvSpPr>
                <a:spLocks noChangeArrowheads="1"/>
              </p:cNvSpPr>
              <p:nvPr/>
            </p:nvSpPr>
            <p:spPr bwMode="auto">
              <a:xfrm>
                <a:off x="2423" y="1735"/>
                <a:ext cx="113" cy="83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392" name="Rectangle-440"/>
              <p:cNvSpPr>
                <a:spLocks noChangeArrowheads="1"/>
              </p:cNvSpPr>
              <p:nvPr/>
            </p:nvSpPr>
            <p:spPr bwMode="auto">
              <a:xfrm>
                <a:off x="2432" y="1745"/>
                <a:ext cx="104" cy="73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9" name="Group 441"/>
          <p:cNvGrpSpPr>
            <a:grpSpLocks/>
          </p:cNvGrpSpPr>
          <p:nvPr/>
        </p:nvGrpSpPr>
        <p:grpSpPr bwMode="auto">
          <a:xfrm>
            <a:off x="4092575" y="2428875"/>
            <a:ext cx="346075" cy="420688"/>
            <a:chOff x="847" y="1168"/>
            <a:chExt cx="747" cy="909"/>
          </a:xfrm>
        </p:grpSpPr>
        <p:sp>
          <p:nvSpPr>
            <p:cNvPr id="510394" name="Freeform-442"/>
            <p:cNvSpPr>
              <a:spLocks/>
            </p:cNvSpPr>
            <p:nvPr/>
          </p:nvSpPr>
          <p:spPr bwMode="auto">
            <a:xfrm>
              <a:off x="986" y="1290"/>
              <a:ext cx="489" cy="733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395" name="Rectangle-443"/>
            <p:cNvSpPr>
              <a:spLocks noChangeArrowheads="1"/>
            </p:cNvSpPr>
            <p:nvPr/>
          </p:nvSpPr>
          <p:spPr bwMode="auto">
            <a:xfrm>
              <a:off x="1282" y="1853"/>
              <a:ext cx="84" cy="184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96" name="Rectangle-444"/>
            <p:cNvSpPr>
              <a:spLocks noChangeArrowheads="1"/>
            </p:cNvSpPr>
            <p:nvPr/>
          </p:nvSpPr>
          <p:spPr bwMode="auto">
            <a:xfrm>
              <a:off x="1494" y="1590"/>
              <a:ext cx="53" cy="54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97" name="Rectangle-445"/>
            <p:cNvSpPr>
              <a:spLocks noChangeArrowheads="1"/>
            </p:cNvSpPr>
            <p:nvPr/>
          </p:nvSpPr>
          <p:spPr bwMode="auto">
            <a:xfrm>
              <a:off x="1456" y="1339"/>
              <a:ext cx="48" cy="30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98" name="Rectangle-446"/>
            <p:cNvSpPr>
              <a:spLocks noChangeArrowheads="1"/>
            </p:cNvSpPr>
            <p:nvPr/>
          </p:nvSpPr>
          <p:spPr bwMode="auto">
            <a:xfrm>
              <a:off x="936" y="1929"/>
              <a:ext cx="197" cy="104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399" name="Freeform-447"/>
            <p:cNvSpPr>
              <a:spLocks/>
            </p:cNvSpPr>
            <p:nvPr/>
          </p:nvSpPr>
          <p:spPr bwMode="auto">
            <a:xfrm>
              <a:off x="847" y="1168"/>
              <a:ext cx="747" cy="740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400" name="Rectangle-448"/>
            <p:cNvSpPr>
              <a:spLocks noChangeArrowheads="1"/>
            </p:cNvSpPr>
            <p:nvPr/>
          </p:nvSpPr>
          <p:spPr bwMode="auto">
            <a:xfrm>
              <a:off x="1460" y="1419"/>
              <a:ext cx="47" cy="79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1" name="Rectangle-449"/>
            <p:cNvSpPr>
              <a:spLocks noChangeArrowheads="1"/>
            </p:cNvSpPr>
            <p:nvPr/>
          </p:nvSpPr>
          <p:spPr bwMode="auto">
            <a:xfrm flipH="1">
              <a:off x="1376" y="1495"/>
              <a:ext cx="47" cy="4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2" name="Rectangle-450"/>
            <p:cNvSpPr>
              <a:spLocks noChangeArrowheads="1"/>
            </p:cNvSpPr>
            <p:nvPr/>
          </p:nvSpPr>
          <p:spPr bwMode="auto">
            <a:xfrm flipH="1">
              <a:off x="1502" y="1499"/>
              <a:ext cx="47" cy="94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3" name="Rectangle-451"/>
            <p:cNvSpPr>
              <a:spLocks noChangeArrowheads="1"/>
            </p:cNvSpPr>
            <p:nvPr/>
          </p:nvSpPr>
          <p:spPr bwMode="auto">
            <a:xfrm>
              <a:off x="1545" y="1593"/>
              <a:ext cx="47" cy="48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4" name="Rectangle-452"/>
            <p:cNvSpPr>
              <a:spLocks noChangeArrowheads="1"/>
            </p:cNvSpPr>
            <p:nvPr/>
          </p:nvSpPr>
          <p:spPr bwMode="auto">
            <a:xfrm>
              <a:off x="935" y="1902"/>
              <a:ext cx="125" cy="3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5" name="Rectangle-453"/>
            <p:cNvSpPr>
              <a:spLocks noChangeArrowheads="1"/>
            </p:cNvSpPr>
            <p:nvPr/>
          </p:nvSpPr>
          <p:spPr bwMode="auto">
            <a:xfrm>
              <a:off x="1058" y="1929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6" name="Rectangle-454"/>
            <p:cNvSpPr>
              <a:spLocks noChangeArrowheads="1"/>
            </p:cNvSpPr>
            <p:nvPr/>
          </p:nvSpPr>
          <p:spPr bwMode="auto">
            <a:xfrm>
              <a:off x="1132" y="1974"/>
              <a:ext cx="77" cy="6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7" name="Rectangle-455"/>
            <p:cNvSpPr>
              <a:spLocks noChangeArrowheads="1"/>
            </p:cNvSpPr>
            <p:nvPr/>
          </p:nvSpPr>
          <p:spPr bwMode="auto">
            <a:xfrm>
              <a:off x="935" y="1931"/>
              <a:ext cx="34" cy="3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8" name="Rectangle-456"/>
            <p:cNvSpPr>
              <a:spLocks noChangeArrowheads="1"/>
            </p:cNvSpPr>
            <p:nvPr/>
          </p:nvSpPr>
          <p:spPr bwMode="auto">
            <a:xfrm>
              <a:off x="893" y="1962"/>
              <a:ext cx="47" cy="7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09" name="Rectangle-457"/>
            <p:cNvSpPr>
              <a:spLocks noChangeArrowheads="1"/>
            </p:cNvSpPr>
            <p:nvPr/>
          </p:nvSpPr>
          <p:spPr bwMode="auto">
            <a:xfrm>
              <a:off x="1375" y="1451"/>
              <a:ext cx="119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0" name="Rectangle-458"/>
            <p:cNvSpPr>
              <a:spLocks noChangeArrowheads="1"/>
            </p:cNvSpPr>
            <p:nvPr/>
          </p:nvSpPr>
          <p:spPr bwMode="auto">
            <a:xfrm>
              <a:off x="1412" y="1639"/>
              <a:ext cx="47" cy="18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1" name="Rectangle-459"/>
            <p:cNvSpPr>
              <a:spLocks noChangeArrowheads="1"/>
            </p:cNvSpPr>
            <p:nvPr/>
          </p:nvSpPr>
          <p:spPr bwMode="auto">
            <a:xfrm>
              <a:off x="1196" y="1777"/>
              <a:ext cx="231" cy="47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2" name="Rectangle-460"/>
            <p:cNvSpPr>
              <a:spLocks noChangeArrowheads="1"/>
            </p:cNvSpPr>
            <p:nvPr/>
          </p:nvSpPr>
          <p:spPr bwMode="auto">
            <a:xfrm>
              <a:off x="1240" y="1853"/>
              <a:ext cx="42" cy="176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3" name="Rectangle-461"/>
            <p:cNvSpPr>
              <a:spLocks noChangeArrowheads="1"/>
            </p:cNvSpPr>
            <p:nvPr/>
          </p:nvSpPr>
          <p:spPr bwMode="auto">
            <a:xfrm>
              <a:off x="1208" y="2007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4" name="Rectangle-462"/>
            <p:cNvSpPr>
              <a:spLocks noChangeArrowheads="1"/>
            </p:cNvSpPr>
            <p:nvPr/>
          </p:nvSpPr>
          <p:spPr bwMode="auto">
            <a:xfrm>
              <a:off x="1348" y="1943"/>
              <a:ext cx="169" cy="90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5" name="Rectangle-463"/>
            <p:cNvSpPr>
              <a:spLocks noChangeArrowheads="1"/>
            </p:cNvSpPr>
            <p:nvPr/>
          </p:nvSpPr>
          <p:spPr bwMode="auto">
            <a:xfrm>
              <a:off x="935" y="2030"/>
              <a:ext cx="57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6" name="Rectangle-464"/>
            <p:cNvSpPr>
              <a:spLocks noChangeArrowheads="1"/>
            </p:cNvSpPr>
            <p:nvPr/>
          </p:nvSpPr>
          <p:spPr bwMode="auto">
            <a:xfrm>
              <a:off x="1276" y="1932"/>
              <a:ext cx="77" cy="10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7" name="Rectangle-465"/>
            <p:cNvSpPr>
              <a:spLocks noChangeArrowheads="1"/>
            </p:cNvSpPr>
            <p:nvPr/>
          </p:nvSpPr>
          <p:spPr bwMode="auto">
            <a:xfrm flipH="1">
              <a:off x="1349" y="1825"/>
              <a:ext cx="47" cy="12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8" name="Rectangle-466"/>
            <p:cNvSpPr>
              <a:spLocks noChangeArrowheads="1"/>
            </p:cNvSpPr>
            <p:nvPr/>
          </p:nvSpPr>
          <p:spPr bwMode="auto">
            <a:xfrm>
              <a:off x="1237" y="1811"/>
              <a:ext cx="113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19" name="Rectangle-467"/>
            <p:cNvSpPr>
              <a:spLocks noChangeArrowheads="1"/>
            </p:cNvSpPr>
            <p:nvPr/>
          </p:nvSpPr>
          <p:spPr bwMode="auto">
            <a:xfrm flipV="1">
              <a:off x="1393" y="1903"/>
              <a:ext cx="8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20" name="Rectangle-468"/>
            <p:cNvSpPr>
              <a:spLocks noChangeArrowheads="1"/>
            </p:cNvSpPr>
            <p:nvPr/>
          </p:nvSpPr>
          <p:spPr bwMode="auto">
            <a:xfrm flipV="1">
              <a:off x="1471" y="1945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21" name="Rectangle-469"/>
            <p:cNvSpPr>
              <a:spLocks noChangeArrowheads="1"/>
            </p:cNvSpPr>
            <p:nvPr/>
          </p:nvSpPr>
          <p:spPr bwMode="auto">
            <a:xfrm flipV="1">
              <a:off x="1509" y="1987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22" name="Rectangle-470"/>
            <p:cNvSpPr>
              <a:spLocks noChangeArrowheads="1"/>
            </p:cNvSpPr>
            <p:nvPr/>
          </p:nvSpPr>
          <p:spPr bwMode="auto">
            <a:xfrm>
              <a:off x="1445" y="1663"/>
              <a:ext cx="49" cy="156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23" name="Rectangle-471"/>
            <p:cNvSpPr>
              <a:spLocks noChangeArrowheads="1"/>
            </p:cNvSpPr>
            <p:nvPr/>
          </p:nvSpPr>
          <p:spPr bwMode="auto">
            <a:xfrm>
              <a:off x="1445" y="1627"/>
              <a:ext cx="101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424" name="Rectangle-472"/>
            <p:cNvSpPr>
              <a:spLocks noChangeArrowheads="1"/>
            </p:cNvSpPr>
            <p:nvPr/>
          </p:nvSpPr>
          <p:spPr bwMode="auto">
            <a:xfrm flipV="1">
              <a:off x="1347" y="1811"/>
              <a:ext cx="99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0425" name="Text-Box-473"/>
          <p:cNvSpPr txBox="1">
            <a:spLocks noChangeArrowheads="1"/>
          </p:cNvSpPr>
          <p:nvPr/>
        </p:nvSpPr>
        <p:spPr bwMode="auto">
          <a:xfrm>
            <a:off x="3821113" y="2108200"/>
            <a:ext cx="135165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Production</a:t>
            </a:r>
            <a:r>
              <a:rPr lang="en-IE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426" name="Text-Box-474"/>
          <p:cNvSpPr txBox="1">
            <a:spLocks noChangeArrowheads="1"/>
          </p:cNvSpPr>
          <p:nvPr/>
        </p:nvSpPr>
        <p:spPr bwMode="auto">
          <a:xfrm>
            <a:off x="3260725" y="1617663"/>
            <a:ext cx="117211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Domaine</a:t>
            </a:r>
            <a:r>
              <a:rPr lang="en-IE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10" name="Group 475"/>
          <p:cNvGrpSpPr>
            <a:grpSpLocks/>
          </p:cNvGrpSpPr>
          <p:nvPr/>
        </p:nvGrpSpPr>
        <p:grpSpPr bwMode="auto">
          <a:xfrm>
            <a:off x="3376613" y="3562350"/>
            <a:ext cx="428625" cy="342900"/>
            <a:chOff x="4267" y="2088"/>
            <a:chExt cx="290" cy="232"/>
          </a:xfrm>
        </p:grpSpPr>
        <p:sp>
          <p:nvSpPr>
            <p:cNvPr id="510428" name="Freeform-476"/>
            <p:cNvSpPr>
              <a:spLocks/>
            </p:cNvSpPr>
            <p:nvPr/>
          </p:nvSpPr>
          <p:spPr bwMode="auto">
            <a:xfrm>
              <a:off x="4267" y="2088"/>
              <a:ext cx="290" cy="23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" name="Group 477"/>
            <p:cNvGrpSpPr>
              <a:grpSpLocks/>
            </p:cNvGrpSpPr>
            <p:nvPr/>
          </p:nvGrpSpPr>
          <p:grpSpPr bwMode="auto">
            <a:xfrm>
              <a:off x="4300" y="2123"/>
              <a:ext cx="210" cy="184"/>
              <a:chOff x="762" y="1114"/>
              <a:chExt cx="980" cy="855"/>
            </a:xfrm>
          </p:grpSpPr>
          <p:sp>
            <p:nvSpPr>
              <p:cNvPr id="510430" name="Freeform-478"/>
              <p:cNvSpPr>
                <a:spLocks/>
              </p:cNvSpPr>
              <p:nvPr/>
            </p:nvSpPr>
            <p:spPr bwMode="auto">
              <a:xfrm>
                <a:off x="762" y="1192"/>
                <a:ext cx="980" cy="777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431" name="Freeform-479"/>
              <p:cNvSpPr>
                <a:spLocks/>
              </p:cNvSpPr>
              <p:nvPr/>
            </p:nvSpPr>
            <p:spPr bwMode="auto">
              <a:xfrm>
                <a:off x="808" y="1205"/>
                <a:ext cx="893" cy="727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432" name="Freeform-480"/>
              <p:cNvSpPr>
                <a:spLocks/>
              </p:cNvSpPr>
              <p:nvPr/>
            </p:nvSpPr>
            <p:spPr bwMode="auto">
              <a:xfrm>
                <a:off x="763" y="1114"/>
                <a:ext cx="883" cy="410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510433" name="Freeform-481"/>
              <p:cNvSpPr>
                <a:spLocks/>
              </p:cNvSpPr>
              <p:nvPr/>
            </p:nvSpPr>
            <p:spPr bwMode="auto">
              <a:xfrm>
                <a:off x="840" y="1412"/>
                <a:ext cx="854" cy="33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</p:grpSp>
      <p:grpSp>
        <p:nvGrpSpPr>
          <p:cNvPr id="12" name="Group 482"/>
          <p:cNvGrpSpPr>
            <a:grpSpLocks/>
          </p:cNvGrpSpPr>
          <p:nvPr/>
        </p:nvGrpSpPr>
        <p:grpSpPr bwMode="auto">
          <a:xfrm>
            <a:off x="4092575" y="5470525"/>
            <a:ext cx="498475" cy="496888"/>
            <a:chOff x="4464" y="3120"/>
            <a:chExt cx="314" cy="313"/>
          </a:xfrm>
        </p:grpSpPr>
        <p:grpSp>
          <p:nvGrpSpPr>
            <p:cNvPr id="13" name="Group 483"/>
            <p:cNvGrpSpPr>
              <a:grpSpLocks/>
            </p:cNvGrpSpPr>
            <p:nvPr/>
          </p:nvGrpSpPr>
          <p:grpSpPr bwMode="auto">
            <a:xfrm>
              <a:off x="4560" y="3120"/>
              <a:ext cx="218" cy="265"/>
              <a:chOff x="847" y="1168"/>
              <a:chExt cx="747" cy="909"/>
            </a:xfrm>
          </p:grpSpPr>
          <p:sp>
            <p:nvSpPr>
              <p:cNvPr id="510436" name="Freeform-484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437" name="Rectangle-485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38" name="Rectangle-486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39" name="Rectangle-487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0" name="Rectangle-488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1" name="Freeform-489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442" name="Rectangle-490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3" name="Rectangle-491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4" name="Rectangle-492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5" name="Rectangle-493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6" name="Rectangle-494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7" name="Rectangle-495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8" name="Rectangle-496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49" name="Rectangle-497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0" name="Rectangle-498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1" name="Rectangle-499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2" name="Rectangle-500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3" name="Rectangle-501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4" name="Rectangle-502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5" name="Rectangle-503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6" name="Rectangle-504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7" name="Rectangle-505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8" name="Rectangle-506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59" name="Rectangle-507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0" name="Rectangle-508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1" name="Rectangle-509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2" name="Rectangle-510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3" name="Rectangle-511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4" name="Rectangle-512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5" name="Rectangle-513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66" name="Rectangle-514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" name="Group 515"/>
            <p:cNvGrpSpPr>
              <a:grpSpLocks/>
            </p:cNvGrpSpPr>
            <p:nvPr/>
          </p:nvGrpSpPr>
          <p:grpSpPr bwMode="auto">
            <a:xfrm>
              <a:off x="4464" y="3168"/>
              <a:ext cx="218" cy="265"/>
              <a:chOff x="847" y="1168"/>
              <a:chExt cx="747" cy="909"/>
            </a:xfrm>
          </p:grpSpPr>
          <p:sp>
            <p:nvSpPr>
              <p:cNvPr id="510468" name="Freeform-516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469" name="Rectangle-517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0" name="Rectangle-518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1" name="Rectangle-519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2" name="Rectangle-520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3" name="Freeform-521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0474" name="Rectangle-522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5" name="Rectangle-523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6" name="Rectangle-524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7" name="Rectangle-525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8" name="Rectangle-526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79" name="Rectangle-527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0" name="Rectangle-528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1" name="Rectangle-529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2" name="Rectangle-530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3" name="Rectangle-531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4" name="Rectangle-532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5" name="Rectangle-533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6" name="Rectangle-534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7" name="Rectangle-535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8" name="Rectangle-536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89" name="Rectangle-537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0" name="Rectangle-538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1" name="Rectangle-539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2" name="Rectangle-540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3" name="Rectangle-541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4" name="Rectangle-542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5" name="Rectangle-543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6" name="Rectangle-544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7" name="Rectangle-545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498" name="Rectangle-546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510499" name="Line-547"/>
          <p:cNvSpPr>
            <a:spLocks noChangeShapeType="1"/>
          </p:cNvSpPr>
          <p:nvPr/>
        </p:nvSpPr>
        <p:spPr bwMode="auto">
          <a:xfrm>
            <a:off x="2906713" y="2300288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00" name="Freeform-548"/>
          <p:cNvSpPr>
            <a:spLocks/>
          </p:cNvSpPr>
          <p:nvPr/>
        </p:nvSpPr>
        <p:spPr bwMode="auto">
          <a:xfrm>
            <a:off x="2927350" y="2093913"/>
            <a:ext cx="392113" cy="1654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15" name="Group 549"/>
          <p:cNvGrpSpPr>
            <a:grpSpLocks/>
          </p:cNvGrpSpPr>
          <p:nvPr/>
        </p:nvGrpSpPr>
        <p:grpSpPr bwMode="auto">
          <a:xfrm>
            <a:off x="4092575" y="4957763"/>
            <a:ext cx="346075" cy="420687"/>
            <a:chOff x="847" y="1168"/>
            <a:chExt cx="747" cy="909"/>
          </a:xfrm>
        </p:grpSpPr>
        <p:sp>
          <p:nvSpPr>
            <p:cNvPr id="510502" name="Freeform-550"/>
            <p:cNvSpPr>
              <a:spLocks/>
            </p:cNvSpPr>
            <p:nvPr/>
          </p:nvSpPr>
          <p:spPr bwMode="auto">
            <a:xfrm>
              <a:off x="986" y="1290"/>
              <a:ext cx="489" cy="733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503" name="Rectangle-551"/>
            <p:cNvSpPr>
              <a:spLocks noChangeArrowheads="1"/>
            </p:cNvSpPr>
            <p:nvPr/>
          </p:nvSpPr>
          <p:spPr bwMode="auto">
            <a:xfrm>
              <a:off x="1282" y="1853"/>
              <a:ext cx="84" cy="184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04" name="Rectangle-552"/>
            <p:cNvSpPr>
              <a:spLocks noChangeArrowheads="1"/>
            </p:cNvSpPr>
            <p:nvPr/>
          </p:nvSpPr>
          <p:spPr bwMode="auto">
            <a:xfrm>
              <a:off x="1494" y="1590"/>
              <a:ext cx="53" cy="54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05" name="Rectangle-553"/>
            <p:cNvSpPr>
              <a:spLocks noChangeArrowheads="1"/>
            </p:cNvSpPr>
            <p:nvPr/>
          </p:nvSpPr>
          <p:spPr bwMode="auto">
            <a:xfrm>
              <a:off x="1456" y="1339"/>
              <a:ext cx="48" cy="30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06" name="Rectangle-554"/>
            <p:cNvSpPr>
              <a:spLocks noChangeArrowheads="1"/>
            </p:cNvSpPr>
            <p:nvPr/>
          </p:nvSpPr>
          <p:spPr bwMode="auto">
            <a:xfrm>
              <a:off x="936" y="1929"/>
              <a:ext cx="197" cy="104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07" name="Freeform-555"/>
            <p:cNvSpPr>
              <a:spLocks/>
            </p:cNvSpPr>
            <p:nvPr/>
          </p:nvSpPr>
          <p:spPr bwMode="auto">
            <a:xfrm>
              <a:off x="847" y="1168"/>
              <a:ext cx="747" cy="740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10508" name="Rectangle-556"/>
            <p:cNvSpPr>
              <a:spLocks noChangeArrowheads="1"/>
            </p:cNvSpPr>
            <p:nvPr/>
          </p:nvSpPr>
          <p:spPr bwMode="auto">
            <a:xfrm>
              <a:off x="1460" y="1419"/>
              <a:ext cx="47" cy="79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09" name="Rectangle-557"/>
            <p:cNvSpPr>
              <a:spLocks noChangeArrowheads="1"/>
            </p:cNvSpPr>
            <p:nvPr/>
          </p:nvSpPr>
          <p:spPr bwMode="auto">
            <a:xfrm flipH="1">
              <a:off x="1376" y="1495"/>
              <a:ext cx="47" cy="4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0" name="Rectangle-558"/>
            <p:cNvSpPr>
              <a:spLocks noChangeArrowheads="1"/>
            </p:cNvSpPr>
            <p:nvPr/>
          </p:nvSpPr>
          <p:spPr bwMode="auto">
            <a:xfrm flipH="1">
              <a:off x="1502" y="1499"/>
              <a:ext cx="47" cy="94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1" name="Rectangle-559"/>
            <p:cNvSpPr>
              <a:spLocks noChangeArrowheads="1"/>
            </p:cNvSpPr>
            <p:nvPr/>
          </p:nvSpPr>
          <p:spPr bwMode="auto">
            <a:xfrm>
              <a:off x="1545" y="1593"/>
              <a:ext cx="47" cy="48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2" name="Rectangle-560"/>
            <p:cNvSpPr>
              <a:spLocks noChangeArrowheads="1"/>
            </p:cNvSpPr>
            <p:nvPr/>
          </p:nvSpPr>
          <p:spPr bwMode="auto">
            <a:xfrm>
              <a:off x="935" y="1902"/>
              <a:ext cx="125" cy="3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3" name="Rectangle-561"/>
            <p:cNvSpPr>
              <a:spLocks noChangeArrowheads="1"/>
            </p:cNvSpPr>
            <p:nvPr/>
          </p:nvSpPr>
          <p:spPr bwMode="auto">
            <a:xfrm>
              <a:off x="1058" y="1929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4" name="Rectangle-562"/>
            <p:cNvSpPr>
              <a:spLocks noChangeArrowheads="1"/>
            </p:cNvSpPr>
            <p:nvPr/>
          </p:nvSpPr>
          <p:spPr bwMode="auto">
            <a:xfrm>
              <a:off x="1132" y="1974"/>
              <a:ext cx="77" cy="61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5" name="Rectangle-563"/>
            <p:cNvSpPr>
              <a:spLocks noChangeArrowheads="1"/>
            </p:cNvSpPr>
            <p:nvPr/>
          </p:nvSpPr>
          <p:spPr bwMode="auto">
            <a:xfrm>
              <a:off x="935" y="1931"/>
              <a:ext cx="34" cy="3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6" name="Rectangle-564"/>
            <p:cNvSpPr>
              <a:spLocks noChangeArrowheads="1"/>
            </p:cNvSpPr>
            <p:nvPr/>
          </p:nvSpPr>
          <p:spPr bwMode="auto">
            <a:xfrm>
              <a:off x="893" y="1962"/>
              <a:ext cx="47" cy="7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7" name="Rectangle-565"/>
            <p:cNvSpPr>
              <a:spLocks noChangeArrowheads="1"/>
            </p:cNvSpPr>
            <p:nvPr/>
          </p:nvSpPr>
          <p:spPr bwMode="auto">
            <a:xfrm>
              <a:off x="1375" y="1451"/>
              <a:ext cx="119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8" name="Rectangle-566"/>
            <p:cNvSpPr>
              <a:spLocks noChangeArrowheads="1"/>
            </p:cNvSpPr>
            <p:nvPr/>
          </p:nvSpPr>
          <p:spPr bwMode="auto">
            <a:xfrm>
              <a:off x="1412" y="1639"/>
              <a:ext cx="47" cy="18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19" name="Rectangle-567"/>
            <p:cNvSpPr>
              <a:spLocks noChangeArrowheads="1"/>
            </p:cNvSpPr>
            <p:nvPr/>
          </p:nvSpPr>
          <p:spPr bwMode="auto">
            <a:xfrm>
              <a:off x="1196" y="1777"/>
              <a:ext cx="231" cy="47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0" name="Rectangle-568"/>
            <p:cNvSpPr>
              <a:spLocks noChangeArrowheads="1"/>
            </p:cNvSpPr>
            <p:nvPr/>
          </p:nvSpPr>
          <p:spPr bwMode="auto">
            <a:xfrm>
              <a:off x="1240" y="1853"/>
              <a:ext cx="42" cy="176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1" name="Rectangle-569"/>
            <p:cNvSpPr>
              <a:spLocks noChangeArrowheads="1"/>
            </p:cNvSpPr>
            <p:nvPr/>
          </p:nvSpPr>
          <p:spPr bwMode="auto">
            <a:xfrm>
              <a:off x="1208" y="2007"/>
              <a:ext cx="7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2" name="Rectangle-570"/>
            <p:cNvSpPr>
              <a:spLocks noChangeArrowheads="1"/>
            </p:cNvSpPr>
            <p:nvPr/>
          </p:nvSpPr>
          <p:spPr bwMode="auto">
            <a:xfrm>
              <a:off x="1348" y="1943"/>
              <a:ext cx="169" cy="90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3" name="Rectangle-571"/>
            <p:cNvSpPr>
              <a:spLocks noChangeArrowheads="1"/>
            </p:cNvSpPr>
            <p:nvPr/>
          </p:nvSpPr>
          <p:spPr bwMode="auto">
            <a:xfrm>
              <a:off x="935" y="2030"/>
              <a:ext cx="57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4" name="Rectangle-572"/>
            <p:cNvSpPr>
              <a:spLocks noChangeArrowheads="1"/>
            </p:cNvSpPr>
            <p:nvPr/>
          </p:nvSpPr>
          <p:spPr bwMode="auto">
            <a:xfrm>
              <a:off x="1276" y="1932"/>
              <a:ext cx="77" cy="10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5" name="Rectangle-573"/>
            <p:cNvSpPr>
              <a:spLocks noChangeArrowheads="1"/>
            </p:cNvSpPr>
            <p:nvPr/>
          </p:nvSpPr>
          <p:spPr bwMode="auto">
            <a:xfrm flipH="1">
              <a:off x="1349" y="1825"/>
              <a:ext cx="47" cy="12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6" name="Rectangle-574"/>
            <p:cNvSpPr>
              <a:spLocks noChangeArrowheads="1"/>
            </p:cNvSpPr>
            <p:nvPr/>
          </p:nvSpPr>
          <p:spPr bwMode="auto">
            <a:xfrm>
              <a:off x="1237" y="1811"/>
              <a:ext cx="113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7" name="Rectangle-575"/>
            <p:cNvSpPr>
              <a:spLocks noChangeArrowheads="1"/>
            </p:cNvSpPr>
            <p:nvPr/>
          </p:nvSpPr>
          <p:spPr bwMode="auto">
            <a:xfrm flipV="1">
              <a:off x="1393" y="1903"/>
              <a:ext cx="83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8" name="Rectangle-576"/>
            <p:cNvSpPr>
              <a:spLocks noChangeArrowheads="1"/>
            </p:cNvSpPr>
            <p:nvPr/>
          </p:nvSpPr>
          <p:spPr bwMode="auto">
            <a:xfrm flipV="1">
              <a:off x="1471" y="1945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29" name="Rectangle-577"/>
            <p:cNvSpPr>
              <a:spLocks noChangeArrowheads="1"/>
            </p:cNvSpPr>
            <p:nvPr/>
          </p:nvSpPr>
          <p:spPr bwMode="auto">
            <a:xfrm flipV="1">
              <a:off x="1509" y="1987"/>
              <a:ext cx="47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30" name="Rectangle-578"/>
            <p:cNvSpPr>
              <a:spLocks noChangeArrowheads="1"/>
            </p:cNvSpPr>
            <p:nvPr/>
          </p:nvSpPr>
          <p:spPr bwMode="auto">
            <a:xfrm>
              <a:off x="1445" y="1663"/>
              <a:ext cx="49" cy="156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31" name="Rectangle-579"/>
            <p:cNvSpPr>
              <a:spLocks noChangeArrowheads="1"/>
            </p:cNvSpPr>
            <p:nvPr/>
          </p:nvSpPr>
          <p:spPr bwMode="auto">
            <a:xfrm>
              <a:off x="1445" y="1627"/>
              <a:ext cx="101" cy="47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0532" name="Rectangle-580"/>
            <p:cNvSpPr>
              <a:spLocks noChangeArrowheads="1"/>
            </p:cNvSpPr>
            <p:nvPr/>
          </p:nvSpPr>
          <p:spPr bwMode="auto">
            <a:xfrm flipV="1">
              <a:off x="1347" y="1811"/>
              <a:ext cx="99" cy="4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0533" name="Text-Box-581"/>
          <p:cNvSpPr txBox="1">
            <a:spLocks noChangeArrowheads="1"/>
          </p:cNvSpPr>
          <p:nvPr/>
        </p:nvSpPr>
        <p:spPr bwMode="auto">
          <a:xfrm>
            <a:off x="4419600" y="4519613"/>
            <a:ext cx="108234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Mengph</a:t>
            </a:r>
            <a:r>
              <a:rPr lang="en-IE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34" name="Text-Box-582"/>
          <p:cNvSpPr txBox="1">
            <a:spLocks noChangeArrowheads="1"/>
          </p:cNvSpPr>
          <p:nvPr/>
        </p:nvSpPr>
        <p:spPr bwMode="auto">
          <a:xfrm>
            <a:off x="4419600" y="4954588"/>
            <a:ext cx="88998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Kimyo</a:t>
            </a:r>
            <a:r>
              <a:rPr lang="en-IE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35" name="Text-Box-583"/>
          <p:cNvSpPr txBox="1">
            <a:spLocks noChangeArrowheads="1"/>
          </p:cNvSpPr>
          <p:nvPr/>
        </p:nvSpPr>
        <p:spPr bwMode="auto">
          <a:xfrm>
            <a:off x="4605338" y="5489575"/>
            <a:ext cx="101822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Groupe</a:t>
            </a:r>
            <a:r>
              <a:rPr lang="en-IE" altLang="zh-CN" sz="2200" b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b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36" name="Line-584"/>
          <p:cNvSpPr>
            <a:spLocks noChangeShapeType="1"/>
          </p:cNvSpPr>
          <p:nvPr/>
        </p:nvSpPr>
        <p:spPr bwMode="auto">
          <a:xfrm>
            <a:off x="3603625" y="2659063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37" name="Line-585"/>
          <p:cNvSpPr>
            <a:spLocks noChangeShapeType="1"/>
          </p:cNvSpPr>
          <p:nvPr/>
        </p:nvSpPr>
        <p:spPr bwMode="auto">
          <a:xfrm>
            <a:off x="3603625" y="4162425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38" name="Line-586"/>
          <p:cNvSpPr>
            <a:spLocks noChangeShapeType="1"/>
          </p:cNvSpPr>
          <p:nvPr/>
        </p:nvSpPr>
        <p:spPr bwMode="auto">
          <a:xfrm>
            <a:off x="3603625" y="4684713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39" name="Line-587"/>
          <p:cNvSpPr>
            <a:spLocks noChangeShapeType="1"/>
          </p:cNvSpPr>
          <p:nvPr/>
        </p:nvSpPr>
        <p:spPr bwMode="auto">
          <a:xfrm>
            <a:off x="3603625" y="5184775"/>
            <a:ext cx="4572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40" name="Freeform-588"/>
          <p:cNvSpPr>
            <a:spLocks/>
          </p:cNvSpPr>
          <p:nvPr/>
        </p:nvSpPr>
        <p:spPr bwMode="auto">
          <a:xfrm>
            <a:off x="5051425" y="4719638"/>
            <a:ext cx="425450" cy="466725"/>
          </a:xfrm>
          <a:custGeom>
            <a:avLst/>
            <a:gdLst/>
            <a:ahLst/>
            <a:cxnLst>
              <a:cxn ang="0">
                <a:pos x="115" y="0"/>
              </a:cxn>
              <a:cxn ang="0">
                <a:pos x="268" y="0"/>
              </a:cxn>
              <a:cxn ang="0">
                <a:pos x="268" y="294"/>
              </a:cxn>
              <a:cxn ang="0">
                <a:pos x="0" y="294"/>
              </a:cxn>
            </a:cxnLst>
            <a:rect l="0" t="0" r="r" b="b"/>
            <a:pathLst>
              <a:path w="268" h="294">
                <a:moveTo>
                  <a:pt x="115" y="0"/>
                </a:moveTo>
                <a:lnTo>
                  <a:pt x="268" y="0"/>
                </a:lnTo>
                <a:lnTo>
                  <a:pt x="268" y="294"/>
                </a:lnTo>
                <a:lnTo>
                  <a:pt x="0" y="294"/>
                </a:lnTo>
              </a:path>
            </a:pathLst>
          </a:custGeom>
          <a:noFill/>
          <a:ln w="38100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10541" name="AutoShape-589"/>
          <p:cNvSpPr>
            <a:spLocks noChangeArrowheads="1"/>
          </p:cNvSpPr>
          <p:nvPr/>
        </p:nvSpPr>
        <p:spPr bwMode="auto">
          <a:xfrm flipH="1">
            <a:off x="5410198" y="5360987"/>
            <a:ext cx="3553691" cy="804285"/>
          </a:xfrm>
          <a:prstGeom prst="rightArrowCallout">
            <a:avLst>
              <a:gd name="adj1" fmla="val 51657"/>
              <a:gd name="adj2" fmla="val 50000"/>
              <a:gd name="adj3" fmla="val 67728"/>
              <a:gd name="adj4" fmla="val 79093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rIns="90000" anchor="ctr"/>
          <a:lstStyle/>
          <a:p>
            <a:pPr algn="r">
              <a:lnSpc>
                <a:spcPct val="80000"/>
              </a:lnSpc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Appliquer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la stratégie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42" name="AutoShape-590"/>
          <p:cNvSpPr>
            <a:spLocks noChangeArrowheads="1"/>
          </p:cNvSpPr>
          <p:nvPr/>
        </p:nvSpPr>
        <p:spPr bwMode="auto">
          <a:xfrm>
            <a:off x="5674456" y="5584682"/>
            <a:ext cx="795337" cy="3476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Refuser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43" name="AutoShape-591"/>
          <p:cNvSpPr>
            <a:spLocks noChangeArrowheads="1"/>
          </p:cNvSpPr>
          <p:nvPr/>
        </p:nvSpPr>
        <p:spPr bwMode="auto">
          <a:xfrm flipH="1">
            <a:off x="5410199" y="4446588"/>
            <a:ext cx="3553691" cy="869950"/>
          </a:xfrm>
          <a:prstGeom prst="rightArrowCallout">
            <a:avLst>
              <a:gd name="adj1" fmla="val 51657"/>
              <a:gd name="adj2" fmla="val 50000"/>
              <a:gd name="adj3" fmla="val 56606"/>
              <a:gd name="adj4" fmla="val 79093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rIns="90000" anchor="ctr"/>
          <a:lstStyle/>
          <a:p>
            <a:pPr marL="360363" algn="r">
              <a:lnSpc>
                <a:spcPct val="70000"/>
              </a:lnSpc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Lecture et Appliquer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la stratégie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44" name="AutoShape-592"/>
          <p:cNvSpPr>
            <a:spLocks noChangeArrowheads="1"/>
          </p:cNvSpPr>
          <p:nvPr/>
        </p:nvSpPr>
        <p:spPr bwMode="auto">
          <a:xfrm>
            <a:off x="5758738" y="4692222"/>
            <a:ext cx="881062" cy="3476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Autoriser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10545" name="Line-593"/>
          <p:cNvSpPr>
            <a:spLocks noChangeShapeType="1"/>
          </p:cNvSpPr>
          <p:nvPr/>
        </p:nvSpPr>
        <p:spPr bwMode="auto">
          <a:xfrm>
            <a:off x="1795463" y="1855788"/>
            <a:ext cx="1143000" cy="0"/>
          </a:xfrm>
          <a:prstGeom prst="line">
            <a:avLst/>
          </a:prstGeom>
          <a:noFill/>
          <a:ln w="57150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0546" name="AutoShape-594"/>
          <p:cNvSpPr>
            <a:spLocks noChangeArrowheads="1"/>
          </p:cNvSpPr>
          <p:nvPr/>
        </p:nvSpPr>
        <p:spPr bwMode="auto">
          <a:xfrm>
            <a:off x="911225" y="2384425"/>
            <a:ext cx="1474788" cy="60801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Objet stratégie</a:t>
            </a:r>
            <a:b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groupe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510547" name="Picture-595" descr="GroupPolicyObject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125" y="1398588"/>
            <a:ext cx="1566863" cy="928687"/>
          </a:xfrm>
          <a:prstGeom prst="rect">
            <a:avLst/>
          </a:prstGeom>
          <a:noFill/>
        </p:spPr>
      </p:pic>
      <p:grpSp>
        <p:nvGrpSpPr>
          <p:cNvPr id="16" name="Group 596"/>
          <p:cNvGrpSpPr>
            <a:grpSpLocks/>
          </p:cNvGrpSpPr>
          <p:nvPr/>
        </p:nvGrpSpPr>
        <p:grpSpPr bwMode="auto">
          <a:xfrm>
            <a:off x="2713038" y="1530350"/>
            <a:ext cx="557212" cy="569913"/>
            <a:chOff x="3084" y="1449"/>
            <a:chExt cx="387" cy="397"/>
          </a:xfrm>
        </p:grpSpPr>
        <p:grpSp>
          <p:nvGrpSpPr>
            <p:cNvPr id="17" name="Group 597"/>
            <p:cNvGrpSpPr>
              <a:grpSpLocks/>
            </p:cNvGrpSpPr>
            <p:nvPr/>
          </p:nvGrpSpPr>
          <p:grpSpPr bwMode="auto">
            <a:xfrm>
              <a:off x="3276" y="1449"/>
              <a:ext cx="195" cy="325"/>
              <a:chOff x="3276" y="1449"/>
              <a:chExt cx="195" cy="325"/>
            </a:xfrm>
          </p:grpSpPr>
          <p:sp>
            <p:nvSpPr>
              <p:cNvPr id="510550" name="Freeform-598"/>
              <p:cNvSpPr>
                <a:spLocks/>
              </p:cNvSpPr>
              <p:nvPr/>
            </p:nvSpPr>
            <p:spPr bwMode="auto">
              <a:xfrm>
                <a:off x="3285" y="1458"/>
                <a:ext cx="186" cy="316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1" name="Freeform-599"/>
              <p:cNvSpPr>
                <a:spLocks/>
              </p:cNvSpPr>
              <p:nvPr/>
            </p:nvSpPr>
            <p:spPr bwMode="auto">
              <a:xfrm>
                <a:off x="3276" y="1449"/>
                <a:ext cx="182" cy="314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2" name="Rectangle-600"/>
              <p:cNvSpPr>
                <a:spLocks noChangeArrowheads="1"/>
              </p:cNvSpPr>
              <p:nvPr/>
            </p:nvSpPr>
            <p:spPr bwMode="auto">
              <a:xfrm>
                <a:off x="3279" y="1495"/>
                <a:ext cx="127" cy="261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3" name="Freeform-601"/>
              <p:cNvSpPr>
                <a:spLocks/>
              </p:cNvSpPr>
              <p:nvPr/>
            </p:nvSpPr>
            <p:spPr bwMode="auto">
              <a:xfrm>
                <a:off x="3278" y="1454"/>
                <a:ext cx="175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4" name="Freeform-602"/>
              <p:cNvSpPr>
                <a:spLocks/>
              </p:cNvSpPr>
              <p:nvPr/>
            </p:nvSpPr>
            <p:spPr bwMode="auto">
              <a:xfrm>
                <a:off x="3278" y="1546"/>
                <a:ext cx="175" cy="39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5" name="Line-603"/>
              <p:cNvSpPr>
                <a:spLocks noChangeShapeType="1"/>
              </p:cNvSpPr>
              <p:nvPr/>
            </p:nvSpPr>
            <p:spPr bwMode="auto">
              <a:xfrm>
                <a:off x="3354" y="1732"/>
                <a:ext cx="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" name="Group 604"/>
            <p:cNvGrpSpPr>
              <a:grpSpLocks/>
            </p:cNvGrpSpPr>
            <p:nvPr/>
          </p:nvGrpSpPr>
          <p:grpSpPr bwMode="auto">
            <a:xfrm>
              <a:off x="3084" y="1473"/>
              <a:ext cx="195" cy="325"/>
              <a:chOff x="3276" y="1449"/>
              <a:chExt cx="195" cy="325"/>
            </a:xfrm>
          </p:grpSpPr>
          <p:sp>
            <p:nvSpPr>
              <p:cNvPr id="510557" name="Freeform-605"/>
              <p:cNvSpPr>
                <a:spLocks/>
              </p:cNvSpPr>
              <p:nvPr/>
            </p:nvSpPr>
            <p:spPr bwMode="auto">
              <a:xfrm>
                <a:off x="3285" y="1458"/>
                <a:ext cx="186" cy="316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8" name="Freeform-606"/>
              <p:cNvSpPr>
                <a:spLocks/>
              </p:cNvSpPr>
              <p:nvPr/>
            </p:nvSpPr>
            <p:spPr bwMode="auto">
              <a:xfrm>
                <a:off x="3276" y="1449"/>
                <a:ext cx="182" cy="314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59" name="Rectangle-607"/>
              <p:cNvSpPr>
                <a:spLocks noChangeArrowheads="1"/>
              </p:cNvSpPr>
              <p:nvPr/>
            </p:nvSpPr>
            <p:spPr bwMode="auto">
              <a:xfrm>
                <a:off x="3279" y="1495"/>
                <a:ext cx="127" cy="261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0" name="Freeform-608"/>
              <p:cNvSpPr>
                <a:spLocks/>
              </p:cNvSpPr>
              <p:nvPr/>
            </p:nvSpPr>
            <p:spPr bwMode="auto">
              <a:xfrm>
                <a:off x="3278" y="1454"/>
                <a:ext cx="175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1" name="Freeform-609"/>
              <p:cNvSpPr>
                <a:spLocks/>
              </p:cNvSpPr>
              <p:nvPr/>
            </p:nvSpPr>
            <p:spPr bwMode="auto">
              <a:xfrm>
                <a:off x="3278" y="1546"/>
                <a:ext cx="175" cy="39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2" name="Line-610"/>
              <p:cNvSpPr>
                <a:spLocks noChangeShapeType="1"/>
              </p:cNvSpPr>
              <p:nvPr/>
            </p:nvSpPr>
            <p:spPr bwMode="auto">
              <a:xfrm>
                <a:off x="3354" y="1732"/>
                <a:ext cx="3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" name="Group 611"/>
            <p:cNvGrpSpPr>
              <a:grpSpLocks/>
            </p:cNvGrpSpPr>
            <p:nvPr/>
          </p:nvGrpSpPr>
          <p:grpSpPr bwMode="auto">
            <a:xfrm>
              <a:off x="3195" y="1561"/>
              <a:ext cx="166" cy="285"/>
              <a:chOff x="2808" y="1601"/>
              <a:chExt cx="159" cy="270"/>
            </a:xfrm>
          </p:grpSpPr>
          <p:sp>
            <p:nvSpPr>
              <p:cNvPr id="510564" name="Freeform-612"/>
              <p:cNvSpPr>
                <a:spLocks/>
              </p:cNvSpPr>
              <p:nvPr/>
            </p:nvSpPr>
            <p:spPr bwMode="auto">
              <a:xfrm>
                <a:off x="2814" y="1610"/>
                <a:ext cx="153" cy="261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5" name="Freeform-613"/>
              <p:cNvSpPr>
                <a:spLocks/>
              </p:cNvSpPr>
              <p:nvPr/>
            </p:nvSpPr>
            <p:spPr bwMode="auto">
              <a:xfrm>
                <a:off x="2808" y="1601"/>
                <a:ext cx="150" cy="259"/>
              </a:xfrm>
              <a:custGeom>
                <a:avLst/>
                <a:gdLst/>
                <a:ahLst/>
                <a:cxnLst>
                  <a:cxn ang="0">
                    <a:pos x="46" y="1"/>
                  </a:cxn>
                  <a:cxn ang="0">
                    <a:pos x="0" y="43"/>
                  </a:cxn>
                  <a:cxn ang="0">
                    <a:pos x="0" y="318"/>
                  </a:cxn>
                  <a:cxn ang="0">
                    <a:pos x="133" y="318"/>
                  </a:cxn>
                  <a:cxn ang="0">
                    <a:pos x="184" y="267"/>
                  </a:cxn>
                  <a:cxn ang="0">
                    <a:pos x="184" y="0"/>
                  </a:cxn>
                  <a:cxn ang="0">
                    <a:pos x="46" y="1"/>
                  </a:cxn>
                </a:cxnLst>
                <a:rect l="0" t="0" r="r" b="b"/>
                <a:pathLst>
                  <a:path w="184" h="318">
                    <a:moveTo>
                      <a:pt x="46" y="1"/>
                    </a:moveTo>
                    <a:lnTo>
                      <a:pt x="0" y="43"/>
                    </a:lnTo>
                    <a:lnTo>
                      <a:pt x="0" y="318"/>
                    </a:lnTo>
                    <a:lnTo>
                      <a:pt x="133" y="318"/>
                    </a:lnTo>
                    <a:lnTo>
                      <a:pt x="184" y="267"/>
                    </a:lnTo>
                    <a:lnTo>
                      <a:pt x="184" y="0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6" name="Rectangle-614"/>
              <p:cNvSpPr>
                <a:spLocks noChangeArrowheads="1"/>
              </p:cNvSpPr>
              <p:nvPr/>
            </p:nvSpPr>
            <p:spPr bwMode="auto">
              <a:xfrm>
                <a:off x="2810" y="1639"/>
                <a:ext cx="105" cy="216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7" name="Freeform-615"/>
              <p:cNvSpPr>
                <a:spLocks/>
              </p:cNvSpPr>
              <p:nvPr/>
            </p:nvSpPr>
            <p:spPr bwMode="auto">
              <a:xfrm>
                <a:off x="2810" y="1605"/>
                <a:ext cx="144" cy="33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10568" name="Freeform-616"/>
              <p:cNvSpPr>
                <a:spLocks/>
              </p:cNvSpPr>
              <p:nvPr/>
            </p:nvSpPr>
            <p:spPr bwMode="auto">
              <a:xfrm>
                <a:off x="2810" y="1681"/>
                <a:ext cx="144" cy="33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31" y="40"/>
                  </a:cxn>
                  <a:cxn ang="0">
                    <a:pos x="177" y="0"/>
                  </a:cxn>
                </a:cxnLst>
                <a:rect l="0" t="0" r="r" b="b"/>
                <a:pathLst>
                  <a:path w="177" h="40">
                    <a:moveTo>
                      <a:pt x="0" y="40"/>
                    </a:moveTo>
                    <a:lnTo>
                      <a:pt x="131" y="40"/>
                    </a:lnTo>
                    <a:lnTo>
                      <a:pt x="177" y="0"/>
                    </a:lnTo>
                  </a:path>
                </a:pathLst>
              </a:cu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>
                <a:outerShdw dist="12700" dir="54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l="27684" t="26758" r="51802" b="53320"/>
          <a:stretch>
            <a:fillRect/>
          </a:stretch>
        </p:blipFill>
        <p:spPr bwMode="auto">
          <a:xfrm>
            <a:off x="180114" y="1953488"/>
            <a:ext cx="3638045" cy="1995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49836" t="47893" r="24890" b="32031"/>
          <a:stretch>
            <a:fillRect/>
          </a:stretch>
        </p:blipFill>
        <p:spPr bwMode="auto">
          <a:xfrm>
            <a:off x="4499159" y="3990110"/>
            <a:ext cx="4478585" cy="200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 l="28018" t="21289" r="28239" b="73130"/>
          <a:stretch>
            <a:fillRect/>
          </a:stretch>
        </p:blipFill>
        <p:spPr bwMode="auto">
          <a:xfrm>
            <a:off x="290946" y="1365106"/>
            <a:ext cx="7973987" cy="57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l="49943" t="26870" r="29843" b="53243"/>
          <a:stretch>
            <a:fillRect/>
          </a:stretch>
        </p:blipFill>
        <p:spPr bwMode="auto">
          <a:xfrm>
            <a:off x="5153886" y="1870364"/>
            <a:ext cx="3837709" cy="213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 l="22831" t="47514" r="51661" b="32031"/>
          <a:stretch>
            <a:fillRect/>
          </a:stretch>
        </p:blipFill>
        <p:spPr bwMode="auto">
          <a:xfrm>
            <a:off x="200889" y="3948544"/>
            <a:ext cx="4191580" cy="1898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180115" y="5846618"/>
            <a:ext cx="8936182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A quels groupes l'objet GPO ne s'applique-t-il pas?</a:t>
            </a:r>
            <a:endParaRPr lang="fr-FR" sz="2400" dirty="0"/>
          </a:p>
        </p:txBody>
      </p:sp>
      <p:sp>
        <p:nvSpPr>
          <p:cNvPr id="10" name="ZoneTexte 9"/>
          <p:cNvSpPr txBox="1"/>
          <p:nvPr/>
        </p:nvSpPr>
        <p:spPr>
          <a:xfrm>
            <a:off x="207818" y="6359240"/>
            <a:ext cx="8936182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Ventes et utilisateurs authentifiés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Application</a:t>
            </a:r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 l="28018" t="21289" r="28239" b="73130"/>
          <a:stretch>
            <a:fillRect/>
          </a:stretch>
        </p:blipFill>
        <p:spPr bwMode="auto">
          <a:xfrm>
            <a:off x="290946" y="1365106"/>
            <a:ext cx="7973987" cy="57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484908" y="6359240"/>
            <a:ext cx="410094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NON</a:t>
            </a:r>
            <a:endParaRPr lang="fr-FR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49" y="1874257"/>
            <a:ext cx="3725141" cy="2011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06710" y="1661679"/>
            <a:ext cx="3701761" cy="2026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6783" y="3832513"/>
            <a:ext cx="4283371" cy="18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06204" y="3805238"/>
            <a:ext cx="4316123" cy="1846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207818" y="5652656"/>
            <a:ext cx="8936182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Un utilisateur est membre des groupes Ventes et Formation. Cet objet GPO s'applique-t-il à cet utilisateur ?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Application : </a:t>
            </a: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Modification de l'héritage d'une stratégie 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7909" name="AutoShape-5"/>
          <p:cNvSpPr>
            <a:spLocks noChangeArrowheads="1"/>
          </p:cNvSpPr>
          <p:nvPr/>
        </p:nvSpPr>
        <p:spPr bwMode="auto">
          <a:xfrm>
            <a:off x="152405" y="5728850"/>
            <a:ext cx="5237013" cy="990600"/>
          </a:xfrm>
          <a:prstGeom prst="roundRect">
            <a:avLst>
              <a:gd name="adj" fmla="val 12819"/>
            </a:avLst>
          </a:prstGeom>
          <a:gradFill rotWithShape="1">
            <a:gsLst>
              <a:gs pos="0">
                <a:srgbClr val="B395D8"/>
              </a:gs>
              <a:gs pos="100000">
                <a:srgbClr val="DFD2EE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Comment définir vos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objets de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stratégie de groupe ?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grpSp>
        <p:nvGrpSpPr>
          <p:cNvPr id="508103" name="Group-199"/>
          <p:cNvGrpSpPr>
            <a:grpSpLocks/>
          </p:cNvGrpSpPr>
          <p:nvPr/>
        </p:nvGrpSpPr>
        <p:grpSpPr bwMode="auto">
          <a:xfrm>
            <a:off x="5491163" y="1238250"/>
            <a:ext cx="3024187" cy="4935538"/>
            <a:chOff x="628" y="853"/>
            <a:chExt cx="1905" cy="3109"/>
          </a:xfrm>
        </p:grpSpPr>
        <p:sp>
          <p:nvSpPr>
            <p:cNvPr id="508104" name="AutoShape-200"/>
            <p:cNvSpPr>
              <a:spLocks noChangeArrowheads="1"/>
            </p:cNvSpPr>
            <p:nvPr/>
          </p:nvSpPr>
          <p:spPr bwMode="auto">
            <a:xfrm>
              <a:off x="628" y="853"/>
              <a:ext cx="1905" cy="3109"/>
            </a:xfrm>
            <a:prstGeom prst="roundRect">
              <a:avLst>
                <a:gd name="adj" fmla="val 3995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508105" name="Freeform-201"/>
            <p:cNvSpPr>
              <a:spLocks/>
            </p:cNvSpPr>
            <p:nvPr/>
          </p:nvSpPr>
          <p:spPr bwMode="auto">
            <a:xfrm>
              <a:off x="1346" y="1539"/>
              <a:ext cx="300" cy="4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4"/>
                </a:cxn>
                <a:cxn ang="0">
                  <a:pos x="400" y="244"/>
                </a:cxn>
              </a:cxnLst>
              <a:rect l="0" t="0" r="r" b="b"/>
              <a:pathLst>
                <a:path w="400" h="244">
                  <a:moveTo>
                    <a:pt x="0" y="0"/>
                  </a:moveTo>
                  <a:lnTo>
                    <a:pt x="0" y="244"/>
                  </a:lnTo>
                  <a:lnTo>
                    <a:pt x="400" y="24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8106" name="Line-202"/>
            <p:cNvSpPr>
              <a:spLocks noChangeShapeType="1"/>
            </p:cNvSpPr>
            <p:nvPr/>
          </p:nvSpPr>
          <p:spPr bwMode="auto">
            <a:xfrm>
              <a:off x="1409" y="1714"/>
              <a:ext cx="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107" name="Group 203"/>
            <p:cNvGrpSpPr>
              <a:grpSpLocks/>
            </p:cNvGrpSpPr>
            <p:nvPr/>
          </p:nvGrpSpPr>
          <p:grpSpPr bwMode="auto">
            <a:xfrm>
              <a:off x="1274" y="1648"/>
              <a:ext cx="141" cy="141"/>
              <a:chOff x="1964" y="1584"/>
              <a:chExt cx="188" cy="188"/>
            </a:xfrm>
          </p:grpSpPr>
          <p:sp>
            <p:nvSpPr>
              <p:cNvPr id="508108" name="Rectangle-204"/>
              <p:cNvSpPr>
                <a:spLocks noChangeArrowheads="1"/>
              </p:cNvSpPr>
              <p:nvPr/>
            </p:nvSpPr>
            <p:spPr bwMode="auto">
              <a:xfrm>
                <a:off x="1964" y="1584"/>
                <a:ext cx="188" cy="1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09" name="AutoShape-205"/>
              <p:cNvSpPr>
                <a:spLocks noChangeArrowheads="1"/>
              </p:cNvSpPr>
              <p:nvPr/>
            </p:nvSpPr>
            <p:spPr bwMode="auto">
              <a:xfrm>
                <a:off x="1985" y="1605"/>
                <a:ext cx="146" cy="146"/>
              </a:xfrm>
              <a:prstGeom prst="plus">
                <a:avLst>
                  <a:gd name="adj" fmla="val 39042"/>
                </a:avLst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08110" name="Line-206"/>
            <p:cNvSpPr>
              <a:spLocks noChangeShapeType="1"/>
            </p:cNvSpPr>
            <p:nvPr/>
          </p:nvSpPr>
          <p:spPr bwMode="auto">
            <a:xfrm>
              <a:off x="1409" y="3061"/>
              <a:ext cx="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8111" name="Line-207"/>
            <p:cNvSpPr>
              <a:spLocks noChangeShapeType="1"/>
            </p:cNvSpPr>
            <p:nvPr/>
          </p:nvSpPr>
          <p:spPr bwMode="auto">
            <a:xfrm>
              <a:off x="1350" y="2509"/>
              <a:ext cx="0" cy="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112" name="Group 208"/>
            <p:cNvGrpSpPr>
              <a:grpSpLocks/>
            </p:cNvGrpSpPr>
            <p:nvPr/>
          </p:nvGrpSpPr>
          <p:grpSpPr bwMode="auto">
            <a:xfrm>
              <a:off x="1593" y="2894"/>
              <a:ext cx="234" cy="285"/>
              <a:chOff x="847" y="1168"/>
              <a:chExt cx="747" cy="909"/>
            </a:xfrm>
          </p:grpSpPr>
          <p:sp>
            <p:nvSpPr>
              <p:cNvPr id="508113" name="Freeform-209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114" name="Rectangle-210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15" name="Rectangle-211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16" name="Rectangle-212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17" name="Rectangle-213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18" name="Freeform-214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119" name="Rectangle-215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0" name="Rectangle-216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1" name="Rectangle-217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2" name="Rectangle-218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3" name="Rectangle-219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4" name="Rectangle-220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5" name="Rectangle-221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6" name="Rectangle-222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7" name="Rectangle-223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8" name="Rectangle-224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29" name="Rectangle-225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0" name="Rectangle-226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1" name="Rectangle-227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2" name="Rectangle-228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3" name="Rectangle-229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4" name="Rectangle-230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5" name="Rectangle-231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6" name="Rectangle-232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7" name="Rectangle-233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8" name="Rectangle-234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39" name="Rectangle-235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40" name="Rectangle-236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41" name="Rectangle-237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42" name="Rectangle-238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43" name="Rectangle-239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08144" name="Text-Box-240"/>
            <p:cNvSpPr txBox="1">
              <a:spLocks noChangeArrowheads="1"/>
            </p:cNvSpPr>
            <p:nvPr/>
          </p:nvSpPr>
          <p:spPr bwMode="auto">
            <a:xfrm>
              <a:off x="1506" y="2256"/>
              <a:ext cx="47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fr-FR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Payroll</a:t>
              </a:r>
              <a:endParaRPr lang="en-US" b="0">
                <a:solidFill>
                  <a:srgbClr val="000000"/>
                </a:solidFill>
                <a:ea typeface="SimSun" pitchFamily="2" charset="-122"/>
                <a:cs typeface="Times New Roman" charset="0"/>
              </a:endParaRPr>
            </a:p>
          </p:txBody>
        </p:sp>
        <p:grpSp>
          <p:nvGrpSpPr>
            <p:cNvPr id="508145" name="Group 241"/>
            <p:cNvGrpSpPr>
              <a:grpSpLocks/>
            </p:cNvGrpSpPr>
            <p:nvPr/>
          </p:nvGrpSpPr>
          <p:grpSpPr bwMode="auto">
            <a:xfrm>
              <a:off x="1274" y="1955"/>
              <a:ext cx="141" cy="141"/>
              <a:chOff x="1964" y="1584"/>
              <a:chExt cx="188" cy="188"/>
            </a:xfrm>
          </p:grpSpPr>
          <p:sp>
            <p:nvSpPr>
              <p:cNvPr id="508146" name="Rectangle-242"/>
              <p:cNvSpPr>
                <a:spLocks noChangeArrowheads="1"/>
              </p:cNvSpPr>
              <p:nvPr/>
            </p:nvSpPr>
            <p:spPr bwMode="auto">
              <a:xfrm>
                <a:off x="1964" y="1584"/>
                <a:ext cx="188" cy="1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47" name="AutoShape-243"/>
              <p:cNvSpPr>
                <a:spLocks noChangeArrowheads="1"/>
              </p:cNvSpPr>
              <p:nvPr/>
            </p:nvSpPr>
            <p:spPr bwMode="auto">
              <a:xfrm>
                <a:off x="1985" y="1605"/>
                <a:ext cx="146" cy="146"/>
              </a:xfrm>
              <a:prstGeom prst="plus">
                <a:avLst>
                  <a:gd name="adj" fmla="val 39042"/>
                </a:avLst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8148" name="Group 244"/>
            <p:cNvGrpSpPr>
              <a:grpSpLocks/>
            </p:cNvGrpSpPr>
            <p:nvPr/>
          </p:nvGrpSpPr>
          <p:grpSpPr bwMode="auto">
            <a:xfrm>
              <a:off x="1274" y="3001"/>
              <a:ext cx="141" cy="141"/>
              <a:chOff x="1964" y="1584"/>
              <a:chExt cx="188" cy="188"/>
            </a:xfrm>
          </p:grpSpPr>
          <p:sp>
            <p:nvSpPr>
              <p:cNvPr id="508149" name="Rectangle-245"/>
              <p:cNvSpPr>
                <a:spLocks noChangeArrowheads="1"/>
              </p:cNvSpPr>
              <p:nvPr/>
            </p:nvSpPr>
            <p:spPr bwMode="auto">
              <a:xfrm>
                <a:off x="1964" y="1584"/>
                <a:ext cx="188" cy="1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50" name="AutoShape-246"/>
              <p:cNvSpPr>
                <a:spLocks noChangeArrowheads="1"/>
              </p:cNvSpPr>
              <p:nvPr/>
            </p:nvSpPr>
            <p:spPr bwMode="auto">
              <a:xfrm>
                <a:off x="1985" y="1605"/>
                <a:ext cx="146" cy="146"/>
              </a:xfrm>
              <a:prstGeom prst="plus">
                <a:avLst>
                  <a:gd name="adj" fmla="val 39042"/>
                </a:avLst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08151" name="Freeform-247"/>
            <p:cNvSpPr>
              <a:spLocks/>
            </p:cNvSpPr>
            <p:nvPr/>
          </p:nvSpPr>
          <p:spPr bwMode="auto">
            <a:xfrm>
              <a:off x="944" y="1188"/>
              <a:ext cx="299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4"/>
                </a:cxn>
                <a:cxn ang="0">
                  <a:pos x="400" y="244"/>
                </a:cxn>
              </a:cxnLst>
              <a:rect l="0" t="0" r="r" b="b"/>
              <a:pathLst>
                <a:path w="400" h="244">
                  <a:moveTo>
                    <a:pt x="0" y="0"/>
                  </a:moveTo>
                  <a:lnTo>
                    <a:pt x="0" y="244"/>
                  </a:lnTo>
                  <a:lnTo>
                    <a:pt x="400" y="24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152" name="Group 248"/>
            <p:cNvGrpSpPr>
              <a:grpSpLocks/>
            </p:cNvGrpSpPr>
            <p:nvPr/>
          </p:nvGrpSpPr>
          <p:grpSpPr bwMode="auto">
            <a:xfrm>
              <a:off x="757" y="909"/>
              <a:ext cx="377" cy="384"/>
              <a:chOff x="3084" y="1449"/>
              <a:chExt cx="387" cy="397"/>
            </a:xfrm>
          </p:grpSpPr>
          <p:grpSp>
            <p:nvGrpSpPr>
              <p:cNvPr id="508153" name="Group 249"/>
              <p:cNvGrpSpPr>
                <a:grpSpLocks/>
              </p:cNvGrpSpPr>
              <p:nvPr/>
            </p:nvGrpSpPr>
            <p:grpSpPr bwMode="auto">
              <a:xfrm>
                <a:off x="3276" y="1449"/>
                <a:ext cx="195" cy="325"/>
                <a:chOff x="3276" y="1449"/>
                <a:chExt cx="195" cy="325"/>
              </a:xfrm>
            </p:grpSpPr>
            <p:sp>
              <p:nvSpPr>
                <p:cNvPr id="508154" name="Freeform-250"/>
                <p:cNvSpPr>
                  <a:spLocks/>
                </p:cNvSpPr>
                <p:nvPr/>
              </p:nvSpPr>
              <p:spPr bwMode="auto">
                <a:xfrm>
                  <a:off x="3285" y="1458"/>
                  <a:ext cx="186" cy="316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55" name="Freeform-251"/>
                <p:cNvSpPr>
                  <a:spLocks/>
                </p:cNvSpPr>
                <p:nvPr/>
              </p:nvSpPr>
              <p:spPr bwMode="auto">
                <a:xfrm>
                  <a:off x="3276" y="1449"/>
                  <a:ext cx="182" cy="314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56" name="Rectangle-252"/>
                <p:cNvSpPr>
                  <a:spLocks noChangeArrowheads="1"/>
                </p:cNvSpPr>
                <p:nvPr/>
              </p:nvSpPr>
              <p:spPr bwMode="auto">
                <a:xfrm>
                  <a:off x="3279" y="1495"/>
                  <a:ext cx="127" cy="261"/>
                </a:xfrm>
                <a:prstGeom prst="rect">
                  <a:avLst/>
                </a:prstGeom>
                <a:solidFill>
                  <a:srgbClr val="EAEAEA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57" name="Freeform-253"/>
                <p:cNvSpPr>
                  <a:spLocks/>
                </p:cNvSpPr>
                <p:nvPr/>
              </p:nvSpPr>
              <p:spPr bwMode="auto">
                <a:xfrm>
                  <a:off x="3278" y="1454"/>
                  <a:ext cx="175" cy="40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58" name="Freeform-254"/>
                <p:cNvSpPr>
                  <a:spLocks/>
                </p:cNvSpPr>
                <p:nvPr/>
              </p:nvSpPr>
              <p:spPr bwMode="auto">
                <a:xfrm>
                  <a:off x="3278" y="1546"/>
                  <a:ext cx="175" cy="39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>
                  <a:outerShdw dist="12700" dir="54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59" name="Line-255"/>
                <p:cNvSpPr>
                  <a:spLocks noChangeShapeType="1"/>
                </p:cNvSpPr>
                <p:nvPr/>
              </p:nvSpPr>
              <p:spPr bwMode="auto">
                <a:xfrm>
                  <a:off x="3354" y="1732"/>
                  <a:ext cx="3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508160" name="Group 256"/>
              <p:cNvGrpSpPr>
                <a:grpSpLocks/>
              </p:cNvGrpSpPr>
              <p:nvPr/>
            </p:nvGrpSpPr>
            <p:grpSpPr bwMode="auto">
              <a:xfrm>
                <a:off x="3084" y="1473"/>
                <a:ext cx="195" cy="325"/>
                <a:chOff x="3276" y="1449"/>
                <a:chExt cx="195" cy="325"/>
              </a:xfrm>
            </p:grpSpPr>
            <p:sp>
              <p:nvSpPr>
                <p:cNvPr id="508161" name="Freeform-257"/>
                <p:cNvSpPr>
                  <a:spLocks/>
                </p:cNvSpPr>
                <p:nvPr/>
              </p:nvSpPr>
              <p:spPr bwMode="auto">
                <a:xfrm>
                  <a:off x="3285" y="1458"/>
                  <a:ext cx="186" cy="316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2" name="Freeform-258"/>
                <p:cNvSpPr>
                  <a:spLocks/>
                </p:cNvSpPr>
                <p:nvPr/>
              </p:nvSpPr>
              <p:spPr bwMode="auto">
                <a:xfrm>
                  <a:off x="3276" y="1449"/>
                  <a:ext cx="182" cy="314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3" name="Rectangle-259"/>
                <p:cNvSpPr>
                  <a:spLocks noChangeArrowheads="1"/>
                </p:cNvSpPr>
                <p:nvPr/>
              </p:nvSpPr>
              <p:spPr bwMode="auto">
                <a:xfrm>
                  <a:off x="3279" y="1495"/>
                  <a:ext cx="127" cy="261"/>
                </a:xfrm>
                <a:prstGeom prst="rect">
                  <a:avLst/>
                </a:prstGeom>
                <a:solidFill>
                  <a:srgbClr val="EAEAEA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4" name="Freeform-260"/>
                <p:cNvSpPr>
                  <a:spLocks/>
                </p:cNvSpPr>
                <p:nvPr/>
              </p:nvSpPr>
              <p:spPr bwMode="auto">
                <a:xfrm>
                  <a:off x="3278" y="1454"/>
                  <a:ext cx="175" cy="40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5" name="Freeform-261"/>
                <p:cNvSpPr>
                  <a:spLocks/>
                </p:cNvSpPr>
                <p:nvPr/>
              </p:nvSpPr>
              <p:spPr bwMode="auto">
                <a:xfrm>
                  <a:off x="3278" y="1546"/>
                  <a:ext cx="175" cy="39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>
                  <a:outerShdw dist="12700" dir="54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6" name="Line-262"/>
                <p:cNvSpPr>
                  <a:spLocks noChangeShapeType="1"/>
                </p:cNvSpPr>
                <p:nvPr/>
              </p:nvSpPr>
              <p:spPr bwMode="auto">
                <a:xfrm>
                  <a:off x="3354" y="1732"/>
                  <a:ext cx="3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508167" name="Group 263"/>
              <p:cNvGrpSpPr>
                <a:grpSpLocks/>
              </p:cNvGrpSpPr>
              <p:nvPr/>
            </p:nvGrpSpPr>
            <p:grpSpPr bwMode="auto">
              <a:xfrm>
                <a:off x="3195" y="1561"/>
                <a:ext cx="166" cy="285"/>
                <a:chOff x="2808" y="1601"/>
                <a:chExt cx="159" cy="270"/>
              </a:xfrm>
            </p:grpSpPr>
            <p:sp>
              <p:nvSpPr>
                <p:cNvPr id="508168" name="Freeform-264"/>
                <p:cNvSpPr>
                  <a:spLocks/>
                </p:cNvSpPr>
                <p:nvPr/>
              </p:nvSpPr>
              <p:spPr bwMode="auto">
                <a:xfrm>
                  <a:off x="2814" y="1610"/>
                  <a:ext cx="153" cy="261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69" name="Freeform-265"/>
                <p:cNvSpPr>
                  <a:spLocks/>
                </p:cNvSpPr>
                <p:nvPr/>
              </p:nvSpPr>
              <p:spPr bwMode="auto">
                <a:xfrm>
                  <a:off x="2808" y="1601"/>
                  <a:ext cx="150" cy="259"/>
                </a:xfrm>
                <a:custGeom>
                  <a:avLst/>
                  <a:gdLst/>
                  <a:ahLst/>
                  <a:cxnLst>
                    <a:cxn ang="0">
                      <a:pos x="46" y="1"/>
                    </a:cxn>
                    <a:cxn ang="0">
                      <a:pos x="0" y="43"/>
                    </a:cxn>
                    <a:cxn ang="0">
                      <a:pos x="0" y="318"/>
                    </a:cxn>
                    <a:cxn ang="0">
                      <a:pos x="133" y="318"/>
                    </a:cxn>
                    <a:cxn ang="0">
                      <a:pos x="184" y="267"/>
                    </a:cxn>
                    <a:cxn ang="0">
                      <a:pos x="184" y="0"/>
                    </a:cxn>
                    <a:cxn ang="0">
                      <a:pos x="46" y="1"/>
                    </a:cxn>
                  </a:cxnLst>
                  <a:rect l="0" t="0" r="r" b="b"/>
                  <a:pathLst>
                    <a:path w="184" h="318">
                      <a:moveTo>
                        <a:pt x="46" y="1"/>
                      </a:moveTo>
                      <a:lnTo>
                        <a:pt x="0" y="43"/>
                      </a:lnTo>
                      <a:lnTo>
                        <a:pt x="0" y="318"/>
                      </a:lnTo>
                      <a:lnTo>
                        <a:pt x="133" y="318"/>
                      </a:lnTo>
                      <a:lnTo>
                        <a:pt x="184" y="267"/>
                      </a:lnTo>
                      <a:lnTo>
                        <a:pt x="184" y="0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70" name="Rectangle-266"/>
                <p:cNvSpPr>
                  <a:spLocks noChangeArrowheads="1"/>
                </p:cNvSpPr>
                <p:nvPr/>
              </p:nvSpPr>
              <p:spPr bwMode="auto">
                <a:xfrm>
                  <a:off x="2810" y="1639"/>
                  <a:ext cx="105" cy="216"/>
                </a:xfrm>
                <a:prstGeom prst="rect">
                  <a:avLst/>
                </a:prstGeom>
                <a:solidFill>
                  <a:srgbClr val="EAEAEA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71" name="Freeform-267"/>
                <p:cNvSpPr>
                  <a:spLocks/>
                </p:cNvSpPr>
                <p:nvPr/>
              </p:nvSpPr>
              <p:spPr bwMode="auto">
                <a:xfrm>
                  <a:off x="2810" y="1605"/>
                  <a:ext cx="144" cy="33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72" name="Freeform-268"/>
                <p:cNvSpPr>
                  <a:spLocks/>
                </p:cNvSpPr>
                <p:nvPr/>
              </p:nvSpPr>
              <p:spPr bwMode="auto">
                <a:xfrm>
                  <a:off x="2810" y="1681"/>
                  <a:ext cx="144" cy="33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31" y="40"/>
                    </a:cxn>
                    <a:cxn ang="0">
                      <a:pos x="177" y="0"/>
                    </a:cxn>
                  </a:cxnLst>
                  <a:rect l="0" t="0" r="r" b="b"/>
                  <a:pathLst>
                    <a:path w="177" h="40">
                      <a:moveTo>
                        <a:pt x="0" y="40"/>
                      </a:moveTo>
                      <a:lnTo>
                        <a:pt x="131" y="40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/>
                  <a:tailEnd/>
                </a:ln>
                <a:effectLst>
                  <a:outerShdw dist="12700" dir="54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sp>
          <p:nvSpPr>
            <p:cNvPr id="508173" name="Freeform-269"/>
            <p:cNvSpPr>
              <a:spLocks/>
            </p:cNvSpPr>
            <p:nvPr/>
          </p:nvSpPr>
          <p:spPr bwMode="auto">
            <a:xfrm>
              <a:off x="944" y="1447"/>
              <a:ext cx="299" cy="9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4"/>
                </a:cxn>
                <a:cxn ang="0">
                  <a:pos x="400" y="244"/>
                </a:cxn>
              </a:cxnLst>
              <a:rect l="0" t="0" r="r" b="b"/>
              <a:pathLst>
                <a:path w="400" h="244">
                  <a:moveTo>
                    <a:pt x="0" y="0"/>
                  </a:moveTo>
                  <a:lnTo>
                    <a:pt x="0" y="244"/>
                  </a:lnTo>
                  <a:lnTo>
                    <a:pt x="400" y="24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174" name="Group 270"/>
            <p:cNvGrpSpPr>
              <a:grpSpLocks/>
            </p:cNvGrpSpPr>
            <p:nvPr/>
          </p:nvGrpSpPr>
          <p:grpSpPr bwMode="auto">
            <a:xfrm>
              <a:off x="1607" y="1874"/>
              <a:ext cx="287" cy="278"/>
              <a:chOff x="2371" y="1690"/>
              <a:chExt cx="278" cy="269"/>
            </a:xfrm>
          </p:grpSpPr>
          <p:sp>
            <p:nvSpPr>
              <p:cNvPr id="508175" name="Freeform-271"/>
              <p:cNvSpPr>
                <a:spLocks/>
              </p:cNvSpPr>
              <p:nvPr/>
            </p:nvSpPr>
            <p:spPr bwMode="auto">
              <a:xfrm>
                <a:off x="2382" y="1851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176" name="Freeform-272"/>
              <p:cNvSpPr>
                <a:spLocks/>
              </p:cNvSpPr>
              <p:nvPr/>
            </p:nvSpPr>
            <p:spPr bwMode="auto">
              <a:xfrm>
                <a:off x="2371" y="1839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177" name="Rectangle-273"/>
              <p:cNvSpPr>
                <a:spLocks noChangeArrowheads="1"/>
              </p:cNvSpPr>
              <p:nvPr/>
            </p:nvSpPr>
            <p:spPr bwMode="auto">
              <a:xfrm>
                <a:off x="2384" y="1881"/>
                <a:ext cx="205" cy="5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78" name="Rectangle-274"/>
              <p:cNvSpPr>
                <a:spLocks noChangeArrowheads="1"/>
              </p:cNvSpPr>
              <p:nvPr/>
            </p:nvSpPr>
            <p:spPr bwMode="auto">
              <a:xfrm>
                <a:off x="2395" y="1890"/>
                <a:ext cx="194" cy="44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79" name="Rectangle-275"/>
              <p:cNvSpPr>
                <a:spLocks noChangeArrowheads="1"/>
              </p:cNvSpPr>
              <p:nvPr/>
            </p:nvSpPr>
            <p:spPr bwMode="auto">
              <a:xfrm>
                <a:off x="2512" y="1901"/>
                <a:ext cx="68" cy="1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80" name="Rectangle-276"/>
              <p:cNvSpPr>
                <a:spLocks noChangeArrowheads="1"/>
              </p:cNvSpPr>
              <p:nvPr/>
            </p:nvSpPr>
            <p:spPr bwMode="auto">
              <a:xfrm>
                <a:off x="2400" y="1900"/>
                <a:ext cx="24" cy="14"/>
              </a:xfrm>
              <a:prstGeom prst="rect">
                <a:avLst/>
              </a:prstGeom>
              <a:solidFill>
                <a:srgbClr val="037C03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181" name="Freeform-277"/>
              <p:cNvSpPr>
                <a:spLocks/>
              </p:cNvSpPr>
              <p:nvPr/>
            </p:nvSpPr>
            <p:spPr bwMode="auto">
              <a:xfrm>
                <a:off x="2407" y="1701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182" name="Group 278"/>
              <p:cNvGrpSpPr>
                <a:grpSpLocks/>
              </p:cNvGrpSpPr>
              <p:nvPr/>
            </p:nvGrpSpPr>
            <p:grpSpPr bwMode="auto">
              <a:xfrm>
                <a:off x="2395" y="1690"/>
                <a:ext cx="215" cy="170"/>
                <a:chOff x="2395" y="1690"/>
                <a:chExt cx="215" cy="170"/>
              </a:xfrm>
            </p:grpSpPr>
            <p:sp>
              <p:nvSpPr>
                <p:cNvPr id="508183" name="Freeform-279"/>
                <p:cNvSpPr>
                  <a:spLocks/>
                </p:cNvSpPr>
                <p:nvPr/>
              </p:nvSpPr>
              <p:spPr bwMode="auto">
                <a:xfrm>
                  <a:off x="2395" y="1690"/>
                  <a:ext cx="215" cy="170"/>
                </a:xfrm>
                <a:custGeom>
                  <a:avLst/>
                  <a:gdLst/>
                  <a:ahLst/>
                  <a:cxnLst>
                    <a:cxn ang="0">
                      <a:pos x="0" y="708"/>
                    </a:cxn>
                    <a:cxn ang="0">
                      <a:pos x="740" y="708"/>
                    </a:cxn>
                    <a:cxn ang="0">
                      <a:pos x="898" y="598"/>
                    </a:cxn>
                    <a:cxn ang="0">
                      <a:pos x="898" y="0"/>
                    </a:cxn>
                    <a:cxn ang="0">
                      <a:pos x="126" y="0"/>
                    </a:cxn>
                    <a:cxn ang="0">
                      <a:pos x="0" y="94"/>
                    </a:cxn>
                    <a:cxn ang="0">
                      <a:pos x="0" y="708"/>
                    </a:cxn>
                  </a:cxnLst>
                  <a:rect l="0" t="0" r="r" b="b"/>
                  <a:pathLst>
                    <a:path w="899" h="709">
                      <a:moveTo>
                        <a:pt x="0" y="708"/>
                      </a:moveTo>
                      <a:lnTo>
                        <a:pt x="740" y="708"/>
                      </a:lnTo>
                      <a:lnTo>
                        <a:pt x="898" y="598"/>
                      </a:lnTo>
                      <a:lnTo>
                        <a:pt x="898" y="0"/>
                      </a:lnTo>
                      <a:lnTo>
                        <a:pt x="126" y="0"/>
                      </a:lnTo>
                      <a:lnTo>
                        <a:pt x="0" y="94"/>
                      </a:lnTo>
                      <a:lnTo>
                        <a:pt x="0" y="708"/>
                      </a:lnTo>
                    </a:path>
                  </a:pathLst>
                </a:custGeom>
                <a:solidFill>
                  <a:srgbClr val="91919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08184" name="Rectangle-280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61" cy="132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85" name="Rectangle-281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50" cy="12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86" name="Rectangle-282"/>
                <p:cNvSpPr>
                  <a:spLocks noChangeArrowheads="1"/>
                </p:cNvSpPr>
                <p:nvPr/>
              </p:nvSpPr>
              <p:spPr bwMode="auto">
                <a:xfrm>
                  <a:off x="2427" y="1701"/>
                  <a:ext cx="154" cy="13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87" name="Rectangle-283"/>
                <p:cNvSpPr>
                  <a:spLocks noChangeArrowheads="1"/>
                </p:cNvSpPr>
                <p:nvPr/>
              </p:nvSpPr>
              <p:spPr bwMode="auto">
                <a:xfrm>
                  <a:off x="2415" y="1727"/>
                  <a:ext cx="130" cy="100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88" name="Rectangle-284"/>
                <p:cNvSpPr>
                  <a:spLocks noChangeArrowheads="1"/>
                </p:cNvSpPr>
                <p:nvPr/>
              </p:nvSpPr>
              <p:spPr bwMode="auto">
                <a:xfrm>
                  <a:off x="2423" y="1735"/>
                  <a:ext cx="113" cy="83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189" name="Rectangle-285"/>
                <p:cNvSpPr>
                  <a:spLocks noChangeArrowheads="1"/>
                </p:cNvSpPr>
                <p:nvPr/>
              </p:nvSpPr>
              <p:spPr bwMode="auto">
                <a:xfrm>
                  <a:off x="2432" y="1745"/>
                  <a:ext cx="104" cy="73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508190" name="Group 286"/>
            <p:cNvGrpSpPr>
              <a:grpSpLocks/>
            </p:cNvGrpSpPr>
            <p:nvPr/>
          </p:nvGrpSpPr>
          <p:grpSpPr bwMode="auto">
            <a:xfrm>
              <a:off x="1205" y="1301"/>
              <a:ext cx="290" cy="233"/>
              <a:chOff x="4267" y="1108"/>
              <a:chExt cx="290" cy="233"/>
            </a:xfrm>
          </p:grpSpPr>
          <p:sp>
            <p:nvSpPr>
              <p:cNvPr id="508191" name="Freeform-287"/>
              <p:cNvSpPr>
                <a:spLocks/>
              </p:cNvSpPr>
              <p:nvPr/>
            </p:nvSpPr>
            <p:spPr bwMode="auto">
              <a:xfrm>
                <a:off x="4267" y="1108"/>
                <a:ext cx="290" cy="233"/>
              </a:xfrm>
              <a:custGeom>
                <a:avLst/>
                <a:gdLst/>
                <a:ahLst/>
                <a:cxnLst>
                  <a:cxn ang="0">
                    <a:pos x="0" y="996"/>
                  </a:cxn>
                  <a:cxn ang="0">
                    <a:pos x="0" y="94"/>
                  </a:cxn>
                  <a:cxn ang="0">
                    <a:pos x="79" y="0"/>
                  </a:cxn>
                  <a:cxn ang="0">
                    <a:pos x="467" y="0"/>
                  </a:cxn>
                  <a:cxn ang="0">
                    <a:pos x="526" y="93"/>
                  </a:cxn>
                  <a:cxn ang="0">
                    <a:pos x="1248" y="94"/>
                  </a:cxn>
                  <a:cxn ang="0">
                    <a:pos x="1248" y="996"/>
                  </a:cxn>
                  <a:cxn ang="0">
                    <a:pos x="0" y="996"/>
                  </a:cxn>
                </a:cxnLst>
                <a:rect l="0" t="0" r="r" b="b"/>
                <a:pathLst>
                  <a:path w="1248" h="996">
                    <a:moveTo>
                      <a:pt x="0" y="996"/>
                    </a:moveTo>
                    <a:lnTo>
                      <a:pt x="0" y="94"/>
                    </a:lnTo>
                    <a:lnTo>
                      <a:pt x="79" y="0"/>
                    </a:lnTo>
                    <a:lnTo>
                      <a:pt x="467" y="0"/>
                    </a:lnTo>
                    <a:lnTo>
                      <a:pt x="526" y="93"/>
                    </a:lnTo>
                    <a:lnTo>
                      <a:pt x="1248" y="94"/>
                    </a:lnTo>
                    <a:lnTo>
                      <a:pt x="1248" y="996"/>
                    </a:lnTo>
                    <a:lnTo>
                      <a:pt x="0" y="996"/>
                    </a:lnTo>
                    <a:close/>
                  </a:path>
                </a:pathLst>
              </a:custGeom>
              <a:solidFill>
                <a:srgbClr val="FFFF99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192" name="Group 288"/>
              <p:cNvGrpSpPr>
                <a:grpSpLocks/>
              </p:cNvGrpSpPr>
              <p:nvPr/>
            </p:nvGrpSpPr>
            <p:grpSpPr bwMode="auto">
              <a:xfrm>
                <a:off x="4300" y="1145"/>
                <a:ext cx="210" cy="183"/>
                <a:chOff x="762" y="1114"/>
                <a:chExt cx="980" cy="855"/>
              </a:xfrm>
            </p:grpSpPr>
            <p:sp>
              <p:nvSpPr>
                <p:cNvPr id="508193" name="Freeform-289"/>
                <p:cNvSpPr>
                  <a:spLocks/>
                </p:cNvSpPr>
                <p:nvPr/>
              </p:nvSpPr>
              <p:spPr bwMode="auto">
                <a:xfrm>
                  <a:off x="762" y="1192"/>
                  <a:ext cx="980" cy="777"/>
                </a:xfrm>
                <a:custGeom>
                  <a:avLst/>
                  <a:gdLst/>
                  <a:ahLst/>
                  <a:cxnLst>
                    <a:cxn ang="0">
                      <a:pos x="0" y="307"/>
                    </a:cxn>
                    <a:cxn ang="0">
                      <a:pos x="0" y="433"/>
                    </a:cxn>
                    <a:cxn ang="0">
                      <a:pos x="534" y="713"/>
                    </a:cxn>
                    <a:cxn ang="0">
                      <a:pos x="900" y="387"/>
                    </a:cxn>
                    <a:cxn ang="0">
                      <a:pos x="792" y="321"/>
                    </a:cxn>
                    <a:cxn ang="0">
                      <a:pos x="359" y="0"/>
                    </a:cxn>
                  </a:cxnLst>
                  <a:rect l="0" t="0" r="r" b="b"/>
                  <a:pathLst>
                    <a:path w="900" h="713">
                      <a:moveTo>
                        <a:pt x="0" y="307"/>
                      </a:moveTo>
                      <a:lnTo>
                        <a:pt x="0" y="433"/>
                      </a:lnTo>
                      <a:lnTo>
                        <a:pt x="534" y="713"/>
                      </a:lnTo>
                      <a:lnTo>
                        <a:pt x="900" y="387"/>
                      </a:lnTo>
                      <a:lnTo>
                        <a:pt x="792" y="321"/>
                      </a:lnTo>
                      <a:lnTo>
                        <a:pt x="359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194" name="Freeform-290"/>
                <p:cNvSpPr>
                  <a:spLocks/>
                </p:cNvSpPr>
                <p:nvPr/>
              </p:nvSpPr>
              <p:spPr bwMode="auto">
                <a:xfrm>
                  <a:off x="808" y="1205"/>
                  <a:ext cx="893" cy="727"/>
                </a:xfrm>
                <a:custGeom>
                  <a:avLst/>
                  <a:gdLst/>
                  <a:ahLst/>
                  <a:cxnLst>
                    <a:cxn ang="0">
                      <a:pos x="0" y="288"/>
                    </a:cxn>
                    <a:cxn ang="0">
                      <a:pos x="0" y="409"/>
                    </a:cxn>
                    <a:cxn ang="0">
                      <a:pos x="498" y="667"/>
                    </a:cxn>
                    <a:cxn ang="0">
                      <a:pos x="820" y="379"/>
                    </a:cxn>
                    <a:cxn ang="0">
                      <a:pos x="812" y="327"/>
                    </a:cxn>
                    <a:cxn ang="0">
                      <a:pos x="810" y="285"/>
                    </a:cxn>
                    <a:cxn ang="0">
                      <a:pos x="812" y="235"/>
                    </a:cxn>
                    <a:cxn ang="0">
                      <a:pos x="820" y="187"/>
                    </a:cxn>
                    <a:cxn ang="0">
                      <a:pos x="341" y="0"/>
                    </a:cxn>
                    <a:cxn ang="0">
                      <a:pos x="0" y="288"/>
                    </a:cxn>
                  </a:cxnLst>
                  <a:rect l="0" t="0" r="r" b="b"/>
                  <a:pathLst>
                    <a:path w="820" h="667">
                      <a:moveTo>
                        <a:pt x="0" y="288"/>
                      </a:moveTo>
                      <a:lnTo>
                        <a:pt x="0" y="409"/>
                      </a:lnTo>
                      <a:lnTo>
                        <a:pt x="498" y="667"/>
                      </a:lnTo>
                      <a:lnTo>
                        <a:pt x="820" y="379"/>
                      </a:lnTo>
                      <a:lnTo>
                        <a:pt x="812" y="327"/>
                      </a:lnTo>
                      <a:lnTo>
                        <a:pt x="810" y="285"/>
                      </a:lnTo>
                      <a:lnTo>
                        <a:pt x="812" y="235"/>
                      </a:lnTo>
                      <a:lnTo>
                        <a:pt x="820" y="187"/>
                      </a:lnTo>
                      <a:lnTo>
                        <a:pt x="341" y="0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/>
                    </a:gs>
                    <a:gs pos="100000">
                      <a:srgbClr val="FFFF66"/>
                    </a:gs>
                  </a:gsLst>
                  <a:lin ang="54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195" name="Freeform-291"/>
                <p:cNvSpPr>
                  <a:spLocks/>
                </p:cNvSpPr>
                <p:nvPr/>
              </p:nvSpPr>
              <p:spPr bwMode="auto">
                <a:xfrm>
                  <a:off x="763" y="1114"/>
                  <a:ext cx="883" cy="410"/>
                </a:xfrm>
                <a:custGeom>
                  <a:avLst/>
                  <a:gdLst/>
                  <a:ahLst/>
                  <a:cxnLst>
                    <a:cxn ang="0">
                      <a:pos x="367" y="66"/>
                    </a:cxn>
                    <a:cxn ang="0">
                      <a:pos x="0" y="376"/>
                    </a:cxn>
                    <a:cxn ang="0">
                      <a:pos x="432" y="358"/>
                    </a:cxn>
                    <a:cxn ang="0">
                      <a:pos x="811" y="0"/>
                    </a:cxn>
                    <a:cxn ang="0">
                      <a:pos x="367" y="66"/>
                    </a:cxn>
                  </a:cxnLst>
                  <a:rect l="0" t="0" r="r" b="b"/>
                  <a:pathLst>
                    <a:path w="811" h="376">
                      <a:moveTo>
                        <a:pt x="367" y="66"/>
                      </a:moveTo>
                      <a:lnTo>
                        <a:pt x="0" y="376"/>
                      </a:lnTo>
                      <a:lnTo>
                        <a:pt x="432" y="358"/>
                      </a:lnTo>
                      <a:lnTo>
                        <a:pt x="811" y="0"/>
                      </a:lnTo>
                      <a:lnTo>
                        <a:pt x="367" y="6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196" name="Freeform-292"/>
                <p:cNvSpPr>
                  <a:spLocks/>
                </p:cNvSpPr>
                <p:nvPr/>
              </p:nvSpPr>
              <p:spPr bwMode="auto">
                <a:xfrm>
                  <a:off x="840" y="1412"/>
                  <a:ext cx="854" cy="337"/>
                </a:xfrm>
                <a:custGeom>
                  <a:avLst/>
                  <a:gdLst/>
                  <a:ahLst/>
                  <a:cxnLst>
                    <a:cxn ang="0">
                      <a:pos x="784" y="0"/>
                    </a:cxn>
                    <a:cxn ang="0">
                      <a:pos x="463" y="309"/>
                    </a:cxn>
                    <a:cxn ang="0">
                      <a:pos x="0" y="100"/>
                    </a:cxn>
                  </a:cxnLst>
                  <a:rect l="0" t="0" r="r" b="b"/>
                  <a:pathLst>
                    <a:path w="784" h="309">
                      <a:moveTo>
                        <a:pt x="784" y="0"/>
                      </a:moveTo>
                      <a:lnTo>
                        <a:pt x="463" y="309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</p:grpSp>
        <p:sp>
          <p:nvSpPr>
            <p:cNvPr id="508197" name="Line-293"/>
            <p:cNvSpPr>
              <a:spLocks noChangeShapeType="1"/>
            </p:cNvSpPr>
            <p:nvPr/>
          </p:nvSpPr>
          <p:spPr bwMode="auto">
            <a:xfrm>
              <a:off x="1409" y="2716"/>
              <a:ext cx="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198" name="Group 294"/>
            <p:cNvGrpSpPr>
              <a:grpSpLocks/>
            </p:cNvGrpSpPr>
            <p:nvPr/>
          </p:nvGrpSpPr>
          <p:grpSpPr bwMode="auto">
            <a:xfrm>
              <a:off x="1274" y="2643"/>
              <a:ext cx="141" cy="143"/>
              <a:chOff x="1964" y="1584"/>
              <a:chExt cx="188" cy="188"/>
            </a:xfrm>
          </p:grpSpPr>
          <p:sp>
            <p:nvSpPr>
              <p:cNvPr id="508199" name="Rectangle-295"/>
              <p:cNvSpPr>
                <a:spLocks noChangeArrowheads="1"/>
              </p:cNvSpPr>
              <p:nvPr/>
            </p:nvSpPr>
            <p:spPr bwMode="auto">
              <a:xfrm>
                <a:off x="1964" y="1584"/>
                <a:ext cx="188" cy="1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00" name="AutoShape-296"/>
              <p:cNvSpPr>
                <a:spLocks noChangeArrowheads="1"/>
              </p:cNvSpPr>
              <p:nvPr/>
            </p:nvSpPr>
            <p:spPr bwMode="auto">
              <a:xfrm>
                <a:off x="1985" y="1605"/>
                <a:ext cx="146" cy="146"/>
              </a:xfrm>
              <a:prstGeom prst="plus">
                <a:avLst>
                  <a:gd name="adj" fmla="val 39042"/>
                </a:avLst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8201" name="Group 297"/>
            <p:cNvGrpSpPr>
              <a:grpSpLocks/>
            </p:cNvGrpSpPr>
            <p:nvPr/>
          </p:nvGrpSpPr>
          <p:grpSpPr bwMode="auto">
            <a:xfrm>
              <a:off x="1607" y="2563"/>
              <a:ext cx="287" cy="278"/>
              <a:chOff x="2371" y="1690"/>
              <a:chExt cx="278" cy="269"/>
            </a:xfrm>
          </p:grpSpPr>
          <p:sp>
            <p:nvSpPr>
              <p:cNvPr id="508202" name="Freeform-298"/>
              <p:cNvSpPr>
                <a:spLocks/>
              </p:cNvSpPr>
              <p:nvPr/>
            </p:nvSpPr>
            <p:spPr bwMode="auto">
              <a:xfrm>
                <a:off x="2382" y="1851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03" name="Freeform-299"/>
              <p:cNvSpPr>
                <a:spLocks/>
              </p:cNvSpPr>
              <p:nvPr/>
            </p:nvSpPr>
            <p:spPr bwMode="auto">
              <a:xfrm>
                <a:off x="2371" y="1839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04" name="Rectangle-300"/>
              <p:cNvSpPr>
                <a:spLocks noChangeArrowheads="1"/>
              </p:cNvSpPr>
              <p:nvPr/>
            </p:nvSpPr>
            <p:spPr bwMode="auto">
              <a:xfrm>
                <a:off x="2384" y="1881"/>
                <a:ext cx="205" cy="5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05" name="Rectangle-301"/>
              <p:cNvSpPr>
                <a:spLocks noChangeArrowheads="1"/>
              </p:cNvSpPr>
              <p:nvPr/>
            </p:nvSpPr>
            <p:spPr bwMode="auto">
              <a:xfrm>
                <a:off x="2395" y="1890"/>
                <a:ext cx="194" cy="44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06" name="Rectangle-302"/>
              <p:cNvSpPr>
                <a:spLocks noChangeArrowheads="1"/>
              </p:cNvSpPr>
              <p:nvPr/>
            </p:nvSpPr>
            <p:spPr bwMode="auto">
              <a:xfrm>
                <a:off x="2512" y="1901"/>
                <a:ext cx="68" cy="1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07" name="Rectangle-303"/>
              <p:cNvSpPr>
                <a:spLocks noChangeArrowheads="1"/>
              </p:cNvSpPr>
              <p:nvPr/>
            </p:nvSpPr>
            <p:spPr bwMode="auto">
              <a:xfrm>
                <a:off x="2400" y="1900"/>
                <a:ext cx="24" cy="14"/>
              </a:xfrm>
              <a:prstGeom prst="rect">
                <a:avLst/>
              </a:prstGeom>
              <a:solidFill>
                <a:srgbClr val="037C03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08" name="Freeform-304"/>
              <p:cNvSpPr>
                <a:spLocks/>
              </p:cNvSpPr>
              <p:nvPr/>
            </p:nvSpPr>
            <p:spPr bwMode="auto">
              <a:xfrm>
                <a:off x="2407" y="1701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209" name="Group 305"/>
              <p:cNvGrpSpPr>
                <a:grpSpLocks/>
              </p:cNvGrpSpPr>
              <p:nvPr/>
            </p:nvGrpSpPr>
            <p:grpSpPr bwMode="auto">
              <a:xfrm>
                <a:off x="2395" y="1690"/>
                <a:ext cx="215" cy="170"/>
                <a:chOff x="2395" y="1690"/>
                <a:chExt cx="215" cy="170"/>
              </a:xfrm>
            </p:grpSpPr>
            <p:sp>
              <p:nvSpPr>
                <p:cNvPr id="508210" name="Freeform-306"/>
                <p:cNvSpPr>
                  <a:spLocks/>
                </p:cNvSpPr>
                <p:nvPr/>
              </p:nvSpPr>
              <p:spPr bwMode="auto">
                <a:xfrm>
                  <a:off x="2395" y="1690"/>
                  <a:ext cx="215" cy="170"/>
                </a:xfrm>
                <a:custGeom>
                  <a:avLst/>
                  <a:gdLst/>
                  <a:ahLst/>
                  <a:cxnLst>
                    <a:cxn ang="0">
                      <a:pos x="0" y="708"/>
                    </a:cxn>
                    <a:cxn ang="0">
                      <a:pos x="740" y="708"/>
                    </a:cxn>
                    <a:cxn ang="0">
                      <a:pos x="898" y="598"/>
                    </a:cxn>
                    <a:cxn ang="0">
                      <a:pos x="898" y="0"/>
                    </a:cxn>
                    <a:cxn ang="0">
                      <a:pos x="126" y="0"/>
                    </a:cxn>
                    <a:cxn ang="0">
                      <a:pos x="0" y="94"/>
                    </a:cxn>
                    <a:cxn ang="0">
                      <a:pos x="0" y="708"/>
                    </a:cxn>
                  </a:cxnLst>
                  <a:rect l="0" t="0" r="r" b="b"/>
                  <a:pathLst>
                    <a:path w="899" h="709">
                      <a:moveTo>
                        <a:pt x="0" y="708"/>
                      </a:moveTo>
                      <a:lnTo>
                        <a:pt x="740" y="708"/>
                      </a:lnTo>
                      <a:lnTo>
                        <a:pt x="898" y="598"/>
                      </a:lnTo>
                      <a:lnTo>
                        <a:pt x="898" y="0"/>
                      </a:lnTo>
                      <a:lnTo>
                        <a:pt x="126" y="0"/>
                      </a:lnTo>
                      <a:lnTo>
                        <a:pt x="0" y="94"/>
                      </a:lnTo>
                      <a:lnTo>
                        <a:pt x="0" y="708"/>
                      </a:lnTo>
                    </a:path>
                  </a:pathLst>
                </a:custGeom>
                <a:solidFill>
                  <a:srgbClr val="91919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08211" name="Rectangle-307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61" cy="132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12" name="Rectangle-308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50" cy="12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13" name="Rectangle-309"/>
                <p:cNvSpPr>
                  <a:spLocks noChangeArrowheads="1"/>
                </p:cNvSpPr>
                <p:nvPr/>
              </p:nvSpPr>
              <p:spPr bwMode="auto">
                <a:xfrm>
                  <a:off x="2427" y="1701"/>
                  <a:ext cx="154" cy="13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14" name="Rectangle-310"/>
                <p:cNvSpPr>
                  <a:spLocks noChangeArrowheads="1"/>
                </p:cNvSpPr>
                <p:nvPr/>
              </p:nvSpPr>
              <p:spPr bwMode="auto">
                <a:xfrm>
                  <a:off x="2415" y="1727"/>
                  <a:ext cx="130" cy="100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15" name="Rectangle-311"/>
                <p:cNvSpPr>
                  <a:spLocks noChangeArrowheads="1"/>
                </p:cNvSpPr>
                <p:nvPr/>
              </p:nvSpPr>
              <p:spPr bwMode="auto">
                <a:xfrm>
                  <a:off x="2423" y="1735"/>
                  <a:ext cx="113" cy="83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16" name="Rectangle-312"/>
                <p:cNvSpPr>
                  <a:spLocks noChangeArrowheads="1"/>
                </p:cNvSpPr>
                <p:nvPr/>
              </p:nvSpPr>
              <p:spPr bwMode="auto">
                <a:xfrm>
                  <a:off x="2432" y="1745"/>
                  <a:ext cx="104" cy="73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508217" name="Group 313"/>
            <p:cNvGrpSpPr>
              <a:grpSpLocks/>
            </p:cNvGrpSpPr>
            <p:nvPr/>
          </p:nvGrpSpPr>
          <p:grpSpPr bwMode="auto">
            <a:xfrm>
              <a:off x="1593" y="1545"/>
              <a:ext cx="234" cy="285"/>
              <a:chOff x="847" y="1168"/>
              <a:chExt cx="747" cy="909"/>
            </a:xfrm>
          </p:grpSpPr>
          <p:sp>
            <p:nvSpPr>
              <p:cNvPr id="508218" name="Freeform-314"/>
              <p:cNvSpPr>
                <a:spLocks/>
              </p:cNvSpPr>
              <p:nvPr/>
            </p:nvSpPr>
            <p:spPr bwMode="auto">
              <a:xfrm>
                <a:off x="986" y="1290"/>
                <a:ext cx="489" cy="733"/>
              </a:xfrm>
              <a:custGeom>
                <a:avLst/>
                <a:gdLst/>
                <a:ahLst/>
                <a:cxnLst>
                  <a:cxn ang="0">
                    <a:pos x="488" y="14"/>
                  </a:cxn>
                  <a:cxn ang="0">
                    <a:pos x="488" y="497"/>
                  </a:cxn>
                  <a:cxn ang="0">
                    <a:pos x="285" y="497"/>
                  </a:cxn>
                  <a:cxn ang="0">
                    <a:pos x="285" y="732"/>
                  </a:cxn>
                  <a:cxn ang="0">
                    <a:pos x="0" y="732"/>
                  </a:cxn>
                  <a:cxn ang="0">
                    <a:pos x="0" y="0"/>
                  </a:cxn>
                  <a:cxn ang="0">
                    <a:pos x="488" y="14"/>
                  </a:cxn>
                </a:cxnLst>
                <a:rect l="0" t="0" r="r" b="b"/>
                <a:pathLst>
                  <a:path w="489" h="733">
                    <a:moveTo>
                      <a:pt x="488" y="14"/>
                    </a:moveTo>
                    <a:lnTo>
                      <a:pt x="488" y="497"/>
                    </a:lnTo>
                    <a:lnTo>
                      <a:pt x="285" y="497"/>
                    </a:lnTo>
                    <a:lnTo>
                      <a:pt x="285" y="732"/>
                    </a:lnTo>
                    <a:lnTo>
                      <a:pt x="0" y="732"/>
                    </a:lnTo>
                    <a:lnTo>
                      <a:pt x="0" y="0"/>
                    </a:lnTo>
                    <a:lnTo>
                      <a:pt x="488" y="14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19" name="Rectangle-315"/>
              <p:cNvSpPr>
                <a:spLocks noChangeArrowheads="1"/>
              </p:cNvSpPr>
              <p:nvPr/>
            </p:nvSpPr>
            <p:spPr bwMode="auto">
              <a:xfrm>
                <a:off x="1282" y="1853"/>
                <a:ext cx="84" cy="184"/>
              </a:xfrm>
              <a:prstGeom prst="rect">
                <a:avLst/>
              </a:prstGeom>
              <a:solidFill>
                <a:srgbClr val="91919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0" name="Rectangle-316"/>
              <p:cNvSpPr>
                <a:spLocks noChangeArrowheads="1"/>
              </p:cNvSpPr>
              <p:nvPr/>
            </p:nvSpPr>
            <p:spPr bwMode="auto">
              <a:xfrm>
                <a:off x="1494" y="1590"/>
                <a:ext cx="53" cy="54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1" name="Rectangle-317"/>
              <p:cNvSpPr>
                <a:spLocks noChangeArrowheads="1"/>
              </p:cNvSpPr>
              <p:nvPr/>
            </p:nvSpPr>
            <p:spPr bwMode="auto">
              <a:xfrm>
                <a:off x="1456" y="1339"/>
                <a:ext cx="48" cy="30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2" name="Rectangle-318"/>
              <p:cNvSpPr>
                <a:spLocks noChangeArrowheads="1"/>
              </p:cNvSpPr>
              <p:nvPr/>
            </p:nvSpPr>
            <p:spPr bwMode="auto">
              <a:xfrm>
                <a:off x="936" y="1929"/>
                <a:ext cx="197" cy="104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3" name="Freeform-319"/>
              <p:cNvSpPr>
                <a:spLocks/>
              </p:cNvSpPr>
              <p:nvPr/>
            </p:nvSpPr>
            <p:spPr bwMode="auto">
              <a:xfrm>
                <a:off x="847" y="1168"/>
                <a:ext cx="747" cy="740"/>
              </a:xfrm>
              <a:custGeom>
                <a:avLst/>
                <a:gdLst/>
                <a:ahLst/>
                <a:cxnLst>
                  <a:cxn ang="0">
                    <a:pos x="706" y="214"/>
                  </a:cxn>
                  <a:cxn ang="0">
                    <a:pos x="747" y="214"/>
                  </a:cxn>
                  <a:cxn ang="0">
                    <a:pos x="747" y="83"/>
                  </a:cxn>
                  <a:cxn ang="0">
                    <a:pos x="702" y="83"/>
                  </a:cxn>
                  <a:cxn ang="0">
                    <a:pos x="702" y="42"/>
                  </a:cxn>
                  <a:cxn ang="0">
                    <a:pos x="606" y="42"/>
                  </a:cxn>
                  <a:cxn ang="0">
                    <a:pos x="606" y="0"/>
                  </a:cxn>
                  <a:cxn ang="0">
                    <a:pos x="217" y="0"/>
                  </a:cxn>
                  <a:cxn ang="0">
                    <a:pos x="217" y="38"/>
                  </a:cxn>
                  <a:cxn ang="0">
                    <a:pos x="128" y="38"/>
                  </a:cxn>
                  <a:cxn ang="0">
                    <a:pos x="128" y="86"/>
                  </a:cxn>
                  <a:cxn ang="0">
                    <a:pos x="83" y="86"/>
                  </a:cxn>
                  <a:cxn ang="0">
                    <a:pos x="83" y="126"/>
                  </a:cxn>
                  <a:cxn ang="0">
                    <a:pos x="42" y="126"/>
                  </a:cxn>
                  <a:cxn ang="0">
                    <a:pos x="42" y="216"/>
                  </a:cxn>
                  <a:cxn ang="0">
                    <a:pos x="0" y="216"/>
                  </a:cxn>
                  <a:cxn ang="0">
                    <a:pos x="0" y="521"/>
                  </a:cxn>
                  <a:cxn ang="0">
                    <a:pos x="45" y="521"/>
                  </a:cxn>
                  <a:cxn ang="0">
                    <a:pos x="45" y="611"/>
                  </a:cxn>
                  <a:cxn ang="0">
                    <a:pos x="86" y="611"/>
                  </a:cxn>
                  <a:cxn ang="0">
                    <a:pos x="86" y="690"/>
                  </a:cxn>
                  <a:cxn ang="0">
                    <a:pos x="133" y="690"/>
                  </a:cxn>
                  <a:cxn ang="0">
                    <a:pos x="133" y="740"/>
                  </a:cxn>
                  <a:cxn ang="0">
                    <a:pos x="174" y="740"/>
                  </a:cxn>
                  <a:cxn ang="0">
                    <a:pos x="174" y="692"/>
                  </a:cxn>
                  <a:cxn ang="0">
                    <a:pos x="257" y="692"/>
                  </a:cxn>
                  <a:cxn ang="0">
                    <a:pos x="257" y="605"/>
                  </a:cxn>
                  <a:cxn ang="0">
                    <a:pos x="303" y="605"/>
                  </a:cxn>
                  <a:cxn ang="0">
                    <a:pos x="303" y="561"/>
                  </a:cxn>
                  <a:cxn ang="0">
                    <a:pos x="337" y="560"/>
                  </a:cxn>
                  <a:cxn ang="0">
                    <a:pos x="337" y="522"/>
                  </a:cxn>
                  <a:cxn ang="0">
                    <a:pos x="303" y="523"/>
                  </a:cxn>
                  <a:cxn ang="0">
                    <a:pos x="303" y="480"/>
                  </a:cxn>
                  <a:cxn ang="0">
                    <a:pos x="260" y="480"/>
                  </a:cxn>
                  <a:cxn ang="0">
                    <a:pos x="260" y="395"/>
                  </a:cxn>
                  <a:cxn ang="0">
                    <a:pos x="303" y="395"/>
                  </a:cxn>
                  <a:cxn ang="0">
                    <a:pos x="303" y="347"/>
                  </a:cxn>
                  <a:cxn ang="0">
                    <a:pos x="391" y="347"/>
                  </a:cxn>
                  <a:cxn ang="0">
                    <a:pos x="391" y="302"/>
                  </a:cxn>
                  <a:cxn ang="0">
                    <a:pos x="437" y="302"/>
                  </a:cxn>
                  <a:cxn ang="0">
                    <a:pos x="437" y="263"/>
                  </a:cxn>
                  <a:cxn ang="0">
                    <a:pos x="489" y="263"/>
                  </a:cxn>
                  <a:cxn ang="0">
                    <a:pos x="489" y="214"/>
                  </a:cxn>
                  <a:cxn ang="0">
                    <a:pos x="532" y="214"/>
                  </a:cxn>
                  <a:cxn ang="0">
                    <a:pos x="532" y="178"/>
                  </a:cxn>
                  <a:cxn ang="0">
                    <a:pos x="656" y="178"/>
                  </a:cxn>
                  <a:cxn ang="0">
                    <a:pos x="656" y="250"/>
                  </a:cxn>
                  <a:cxn ang="0">
                    <a:pos x="706" y="252"/>
                  </a:cxn>
                  <a:cxn ang="0">
                    <a:pos x="706" y="214"/>
                  </a:cxn>
                </a:cxnLst>
                <a:rect l="0" t="0" r="r" b="b"/>
                <a:pathLst>
                  <a:path w="747" h="740">
                    <a:moveTo>
                      <a:pt x="706" y="214"/>
                    </a:moveTo>
                    <a:lnTo>
                      <a:pt x="747" y="214"/>
                    </a:lnTo>
                    <a:lnTo>
                      <a:pt x="747" y="83"/>
                    </a:lnTo>
                    <a:lnTo>
                      <a:pt x="702" y="83"/>
                    </a:lnTo>
                    <a:lnTo>
                      <a:pt x="702" y="42"/>
                    </a:lnTo>
                    <a:lnTo>
                      <a:pt x="606" y="42"/>
                    </a:lnTo>
                    <a:lnTo>
                      <a:pt x="606" y="0"/>
                    </a:lnTo>
                    <a:lnTo>
                      <a:pt x="217" y="0"/>
                    </a:lnTo>
                    <a:lnTo>
                      <a:pt x="217" y="38"/>
                    </a:lnTo>
                    <a:lnTo>
                      <a:pt x="128" y="38"/>
                    </a:lnTo>
                    <a:lnTo>
                      <a:pt x="128" y="86"/>
                    </a:lnTo>
                    <a:lnTo>
                      <a:pt x="83" y="86"/>
                    </a:lnTo>
                    <a:lnTo>
                      <a:pt x="83" y="126"/>
                    </a:lnTo>
                    <a:lnTo>
                      <a:pt x="42" y="126"/>
                    </a:lnTo>
                    <a:lnTo>
                      <a:pt x="42" y="216"/>
                    </a:lnTo>
                    <a:lnTo>
                      <a:pt x="0" y="216"/>
                    </a:lnTo>
                    <a:lnTo>
                      <a:pt x="0" y="521"/>
                    </a:lnTo>
                    <a:lnTo>
                      <a:pt x="45" y="521"/>
                    </a:lnTo>
                    <a:lnTo>
                      <a:pt x="45" y="611"/>
                    </a:lnTo>
                    <a:lnTo>
                      <a:pt x="86" y="611"/>
                    </a:lnTo>
                    <a:lnTo>
                      <a:pt x="86" y="690"/>
                    </a:lnTo>
                    <a:lnTo>
                      <a:pt x="133" y="690"/>
                    </a:lnTo>
                    <a:lnTo>
                      <a:pt x="133" y="740"/>
                    </a:lnTo>
                    <a:lnTo>
                      <a:pt x="174" y="740"/>
                    </a:lnTo>
                    <a:lnTo>
                      <a:pt x="174" y="692"/>
                    </a:lnTo>
                    <a:lnTo>
                      <a:pt x="257" y="692"/>
                    </a:lnTo>
                    <a:lnTo>
                      <a:pt x="257" y="605"/>
                    </a:lnTo>
                    <a:lnTo>
                      <a:pt x="303" y="605"/>
                    </a:lnTo>
                    <a:lnTo>
                      <a:pt x="303" y="561"/>
                    </a:lnTo>
                    <a:lnTo>
                      <a:pt x="337" y="560"/>
                    </a:lnTo>
                    <a:lnTo>
                      <a:pt x="337" y="522"/>
                    </a:lnTo>
                    <a:lnTo>
                      <a:pt x="303" y="523"/>
                    </a:lnTo>
                    <a:lnTo>
                      <a:pt x="303" y="480"/>
                    </a:lnTo>
                    <a:lnTo>
                      <a:pt x="260" y="480"/>
                    </a:lnTo>
                    <a:lnTo>
                      <a:pt x="260" y="395"/>
                    </a:lnTo>
                    <a:lnTo>
                      <a:pt x="303" y="395"/>
                    </a:lnTo>
                    <a:lnTo>
                      <a:pt x="303" y="347"/>
                    </a:lnTo>
                    <a:lnTo>
                      <a:pt x="391" y="347"/>
                    </a:lnTo>
                    <a:lnTo>
                      <a:pt x="391" y="302"/>
                    </a:lnTo>
                    <a:lnTo>
                      <a:pt x="437" y="302"/>
                    </a:lnTo>
                    <a:lnTo>
                      <a:pt x="437" y="263"/>
                    </a:lnTo>
                    <a:lnTo>
                      <a:pt x="489" y="263"/>
                    </a:lnTo>
                    <a:lnTo>
                      <a:pt x="489" y="214"/>
                    </a:lnTo>
                    <a:lnTo>
                      <a:pt x="532" y="214"/>
                    </a:lnTo>
                    <a:lnTo>
                      <a:pt x="532" y="178"/>
                    </a:lnTo>
                    <a:lnTo>
                      <a:pt x="656" y="178"/>
                    </a:lnTo>
                    <a:lnTo>
                      <a:pt x="656" y="250"/>
                    </a:lnTo>
                    <a:lnTo>
                      <a:pt x="706" y="252"/>
                    </a:lnTo>
                    <a:lnTo>
                      <a:pt x="706" y="21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24" name="Rectangle-320"/>
              <p:cNvSpPr>
                <a:spLocks noChangeArrowheads="1"/>
              </p:cNvSpPr>
              <p:nvPr/>
            </p:nvSpPr>
            <p:spPr bwMode="auto">
              <a:xfrm>
                <a:off x="1460" y="1419"/>
                <a:ext cx="47" cy="79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5" name="Rectangle-321"/>
              <p:cNvSpPr>
                <a:spLocks noChangeArrowheads="1"/>
              </p:cNvSpPr>
              <p:nvPr/>
            </p:nvSpPr>
            <p:spPr bwMode="auto">
              <a:xfrm flipH="1">
                <a:off x="1376" y="1495"/>
                <a:ext cx="47" cy="47"/>
              </a:xfrm>
              <a:prstGeom prst="rect">
                <a:avLst/>
              </a:prstGeom>
              <a:solidFill>
                <a:srgbClr val="063DE8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6" name="Rectangle-322"/>
              <p:cNvSpPr>
                <a:spLocks noChangeArrowheads="1"/>
              </p:cNvSpPr>
              <p:nvPr/>
            </p:nvSpPr>
            <p:spPr bwMode="auto">
              <a:xfrm flipH="1">
                <a:off x="1502" y="1499"/>
                <a:ext cx="47" cy="94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7" name="Rectangle-323"/>
              <p:cNvSpPr>
                <a:spLocks noChangeArrowheads="1"/>
              </p:cNvSpPr>
              <p:nvPr/>
            </p:nvSpPr>
            <p:spPr bwMode="auto">
              <a:xfrm>
                <a:off x="1545" y="1593"/>
                <a:ext cx="47" cy="48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8" name="Rectangle-324"/>
              <p:cNvSpPr>
                <a:spLocks noChangeArrowheads="1"/>
              </p:cNvSpPr>
              <p:nvPr/>
            </p:nvSpPr>
            <p:spPr bwMode="auto">
              <a:xfrm>
                <a:off x="935" y="1902"/>
                <a:ext cx="125" cy="3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29" name="Rectangle-325"/>
              <p:cNvSpPr>
                <a:spLocks noChangeArrowheads="1"/>
              </p:cNvSpPr>
              <p:nvPr/>
            </p:nvSpPr>
            <p:spPr bwMode="auto">
              <a:xfrm>
                <a:off x="1058" y="1929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0" name="Rectangle-326"/>
              <p:cNvSpPr>
                <a:spLocks noChangeArrowheads="1"/>
              </p:cNvSpPr>
              <p:nvPr/>
            </p:nvSpPr>
            <p:spPr bwMode="auto">
              <a:xfrm>
                <a:off x="1132" y="1974"/>
                <a:ext cx="77" cy="61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1" name="Rectangle-327"/>
              <p:cNvSpPr>
                <a:spLocks noChangeArrowheads="1"/>
              </p:cNvSpPr>
              <p:nvPr/>
            </p:nvSpPr>
            <p:spPr bwMode="auto">
              <a:xfrm>
                <a:off x="935" y="1931"/>
                <a:ext cx="34" cy="3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2" name="Rectangle-328"/>
              <p:cNvSpPr>
                <a:spLocks noChangeArrowheads="1"/>
              </p:cNvSpPr>
              <p:nvPr/>
            </p:nvSpPr>
            <p:spPr bwMode="auto">
              <a:xfrm>
                <a:off x="893" y="1962"/>
                <a:ext cx="47" cy="7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3" name="Rectangle-329"/>
              <p:cNvSpPr>
                <a:spLocks noChangeArrowheads="1"/>
              </p:cNvSpPr>
              <p:nvPr/>
            </p:nvSpPr>
            <p:spPr bwMode="auto">
              <a:xfrm>
                <a:off x="1375" y="1451"/>
                <a:ext cx="119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4" name="Rectangle-330"/>
              <p:cNvSpPr>
                <a:spLocks noChangeArrowheads="1"/>
              </p:cNvSpPr>
              <p:nvPr/>
            </p:nvSpPr>
            <p:spPr bwMode="auto">
              <a:xfrm>
                <a:off x="1412" y="1639"/>
                <a:ext cx="47" cy="185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5" name="Rectangle-331"/>
              <p:cNvSpPr>
                <a:spLocks noChangeArrowheads="1"/>
              </p:cNvSpPr>
              <p:nvPr/>
            </p:nvSpPr>
            <p:spPr bwMode="auto">
              <a:xfrm>
                <a:off x="1196" y="1777"/>
                <a:ext cx="231" cy="47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6" name="Rectangle-332"/>
              <p:cNvSpPr>
                <a:spLocks noChangeArrowheads="1"/>
              </p:cNvSpPr>
              <p:nvPr/>
            </p:nvSpPr>
            <p:spPr bwMode="auto">
              <a:xfrm>
                <a:off x="1240" y="1853"/>
                <a:ext cx="42" cy="176"/>
              </a:xfrm>
              <a:prstGeom prst="rect">
                <a:avLst/>
              </a:prstGeom>
              <a:solidFill>
                <a:srgbClr val="DADADA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7" name="Rectangle-333"/>
              <p:cNvSpPr>
                <a:spLocks noChangeArrowheads="1"/>
              </p:cNvSpPr>
              <p:nvPr/>
            </p:nvSpPr>
            <p:spPr bwMode="auto">
              <a:xfrm>
                <a:off x="1208" y="2007"/>
                <a:ext cx="7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8" name="Rectangle-334"/>
              <p:cNvSpPr>
                <a:spLocks noChangeArrowheads="1"/>
              </p:cNvSpPr>
              <p:nvPr/>
            </p:nvSpPr>
            <p:spPr bwMode="auto">
              <a:xfrm>
                <a:off x="1348" y="1943"/>
                <a:ext cx="169" cy="90"/>
              </a:xfrm>
              <a:prstGeom prst="rect">
                <a:avLst/>
              </a:prstGeom>
              <a:solidFill>
                <a:srgbClr val="3366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39" name="Rectangle-335"/>
              <p:cNvSpPr>
                <a:spLocks noChangeArrowheads="1"/>
              </p:cNvSpPr>
              <p:nvPr/>
            </p:nvSpPr>
            <p:spPr bwMode="auto">
              <a:xfrm>
                <a:off x="935" y="2030"/>
                <a:ext cx="57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0" name="Rectangle-336"/>
              <p:cNvSpPr>
                <a:spLocks noChangeArrowheads="1"/>
              </p:cNvSpPr>
              <p:nvPr/>
            </p:nvSpPr>
            <p:spPr bwMode="auto">
              <a:xfrm>
                <a:off x="1276" y="1932"/>
                <a:ext cx="77" cy="103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1" name="Rectangle-337"/>
              <p:cNvSpPr>
                <a:spLocks noChangeArrowheads="1"/>
              </p:cNvSpPr>
              <p:nvPr/>
            </p:nvSpPr>
            <p:spPr bwMode="auto">
              <a:xfrm flipH="1">
                <a:off x="1349" y="1825"/>
                <a:ext cx="47" cy="125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2" name="Rectangle-338"/>
              <p:cNvSpPr>
                <a:spLocks noChangeArrowheads="1"/>
              </p:cNvSpPr>
              <p:nvPr/>
            </p:nvSpPr>
            <p:spPr bwMode="auto">
              <a:xfrm>
                <a:off x="1237" y="1811"/>
                <a:ext cx="113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3" name="Rectangle-339"/>
              <p:cNvSpPr>
                <a:spLocks noChangeArrowheads="1"/>
              </p:cNvSpPr>
              <p:nvPr/>
            </p:nvSpPr>
            <p:spPr bwMode="auto">
              <a:xfrm flipV="1">
                <a:off x="1393" y="1903"/>
                <a:ext cx="83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4" name="Rectangle-340"/>
              <p:cNvSpPr>
                <a:spLocks noChangeArrowheads="1"/>
              </p:cNvSpPr>
              <p:nvPr/>
            </p:nvSpPr>
            <p:spPr bwMode="auto">
              <a:xfrm flipV="1">
                <a:off x="1471" y="1945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5" name="Rectangle-341"/>
              <p:cNvSpPr>
                <a:spLocks noChangeArrowheads="1"/>
              </p:cNvSpPr>
              <p:nvPr/>
            </p:nvSpPr>
            <p:spPr bwMode="auto">
              <a:xfrm flipV="1">
                <a:off x="1509" y="1987"/>
                <a:ext cx="47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6" name="Rectangle-342"/>
              <p:cNvSpPr>
                <a:spLocks noChangeArrowheads="1"/>
              </p:cNvSpPr>
              <p:nvPr/>
            </p:nvSpPr>
            <p:spPr bwMode="auto">
              <a:xfrm>
                <a:off x="1445" y="1663"/>
                <a:ext cx="49" cy="156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7" name="Rectangle-343"/>
              <p:cNvSpPr>
                <a:spLocks noChangeArrowheads="1"/>
              </p:cNvSpPr>
              <p:nvPr/>
            </p:nvSpPr>
            <p:spPr bwMode="auto">
              <a:xfrm>
                <a:off x="1445" y="1627"/>
                <a:ext cx="101" cy="47"/>
              </a:xfrm>
              <a:prstGeom prst="rect">
                <a:avLst/>
              </a:prstGeom>
              <a:solidFill>
                <a:srgbClr val="00000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48" name="Rectangle-344"/>
              <p:cNvSpPr>
                <a:spLocks noChangeArrowheads="1"/>
              </p:cNvSpPr>
              <p:nvPr/>
            </p:nvSpPr>
            <p:spPr bwMode="auto">
              <a:xfrm flipV="1">
                <a:off x="1347" y="1811"/>
                <a:ext cx="99" cy="47"/>
              </a:xfrm>
              <a:prstGeom prst="rect">
                <a:avLst/>
              </a:prstGeom>
              <a:solidFill>
                <a:srgbClr val="0000FF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08249" name="Text-Box-345"/>
            <p:cNvSpPr txBox="1">
              <a:spLocks noChangeArrowheads="1"/>
            </p:cNvSpPr>
            <p:nvPr/>
          </p:nvSpPr>
          <p:spPr bwMode="auto">
            <a:xfrm>
              <a:off x="1506" y="1307"/>
              <a:ext cx="44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fr-FR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Sales</a:t>
              </a:r>
              <a:r>
                <a:rPr lang="en-IE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 </a:t>
              </a:r>
              <a:endParaRPr lang="en-US" b="0">
                <a:solidFill>
                  <a:srgbClr val="000000"/>
                </a:solidFill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508250" name="Text-Box-346"/>
            <p:cNvSpPr txBox="1">
              <a:spLocks noChangeArrowheads="1"/>
            </p:cNvSpPr>
            <p:nvPr/>
          </p:nvSpPr>
          <p:spPr bwMode="auto">
            <a:xfrm>
              <a:off x="1127" y="968"/>
              <a:ext cx="84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fr-FR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Contoso.msft</a:t>
              </a:r>
              <a:r>
                <a:rPr lang="en-IE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 </a:t>
              </a:r>
              <a:endParaRPr lang="en-US" b="0">
                <a:solidFill>
                  <a:srgbClr val="000000"/>
                </a:solidFill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508251" name="Text-Box-347"/>
            <p:cNvSpPr txBox="1">
              <a:spLocks noChangeArrowheads="1"/>
            </p:cNvSpPr>
            <p:nvPr/>
          </p:nvSpPr>
          <p:spPr bwMode="auto">
            <a:xfrm>
              <a:off x="1890" y="3320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IE" altLang="zh-CN" b="0">
                  <a:solidFill>
                    <a:srgbClr val="000000"/>
                  </a:solidFill>
                  <a:ea typeface="SimSun" pitchFamily="2" charset="-122"/>
                  <a:cs typeface="Times New Roman" charset="0"/>
                </a:rPr>
                <a:t>Training </a:t>
              </a:r>
              <a:endParaRPr lang="en-US" b="0">
                <a:solidFill>
                  <a:srgbClr val="000000"/>
                </a:solidFill>
                <a:ea typeface="SimSun" pitchFamily="2" charset="-122"/>
                <a:cs typeface="Times New Roman" charset="0"/>
              </a:endParaRPr>
            </a:p>
          </p:txBody>
        </p:sp>
        <p:grpSp>
          <p:nvGrpSpPr>
            <p:cNvPr id="508252" name="Group 348"/>
            <p:cNvGrpSpPr>
              <a:grpSpLocks/>
            </p:cNvGrpSpPr>
            <p:nvPr/>
          </p:nvGrpSpPr>
          <p:grpSpPr bwMode="auto">
            <a:xfrm>
              <a:off x="1205" y="2281"/>
              <a:ext cx="290" cy="232"/>
              <a:chOff x="4267" y="2088"/>
              <a:chExt cx="290" cy="232"/>
            </a:xfrm>
          </p:grpSpPr>
          <p:sp>
            <p:nvSpPr>
              <p:cNvPr id="508253" name="Freeform-349"/>
              <p:cNvSpPr>
                <a:spLocks/>
              </p:cNvSpPr>
              <p:nvPr/>
            </p:nvSpPr>
            <p:spPr bwMode="auto">
              <a:xfrm>
                <a:off x="4267" y="2088"/>
                <a:ext cx="290" cy="232"/>
              </a:xfrm>
              <a:custGeom>
                <a:avLst/>
                <a:gdLst/>
                <a:ahLst/>
                <a:cxnLst>
                  <a:cxn ang="0">
                    <a:pos x="0" y="996"/>
                  </a:cxn>
                  <a:cxn ang="0">
                    <a:pos x="0" y="94"/>
                  </a:cxn>
                  <a:cxn ang="0">
                    <a:pos x="79" y="0"/>
                  </a:cxn>
                  <a:cxn ang="0">
                    <a:pos x="467" y="0"/>
                  </a:cxn>
                  <a:cxn ang="0">
                    <a:pos x="526" y="93"/>
                  </a:cxn>
                  <a:cxn ang="0">
                    <a:pos x="1248" y="94"/>
                  </a:cxn>
                  <a:cxn ang="0">
                    <a:pos x="1248" y="996"/>
                  </a:cxn>
                  <a:cxn ang="0">
                    <a:pos x="0" y="996"/>
                  </a:cxn>
                </a:cxnLst>
                <a:rect l="0" t="0" r="r" b="b"/>
                <a:pathLst>
                  <a:path w="1248" h="996">
                    <a:moveTo>
                      <a:pt x="0" y="996"/>
                    </a:moveTo>
                    <a:lnTo>
                      <a:pt x="0" y="94"/>
                    </a:lnTo>
                    <a:lnTo>
                      <a:pt x="79" y="0"/>
                    </a:lnTo>
                    <a:lnTo>
                      <a:pt x="467" y="0"/>
                    </a:lnTo>
                    <a:lnTo>
                      <a:pt x="526" y="93"/>
                    </a:lnTo>
                    <a:lnTo>
                      <a:pt x="1248" y="94"/>
                    </a:lnTo>
                    <a:lnTo>
                      <a:pt x="1248" y="996"/>
                    </a:lnTo>
                    <a:lnTo>
                      <a:pt x="0" y="996"/>
                    </a:lnTo>
                    <a:close/>
                  </a:path>
                </a:pathLst>
              </a:custGeom>
              <a:solidFill>
                <a:srgbClr val="FFFF99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254" name="Group 350"/>
              <p:cNvGrpSpPr>
                <a:grpSpLocks/>
              </p:cNvGrpSpPr>
              <p:nvPr/>
            </p:nvGrpSpPr>
            <p:grpSpPr bwMode="auto">
              <a:xfrm>
                <a:off x="4300" y="2123"/>
                <a:ext cx="210" cy="184"/>
                <a:chOff x="762" y="1114"/>
                <a:chExt cx="980" cy="855"/>
              </a:xfrm>
            </p:grpSpPr>
            <p:sp>
              <p:nvSpPr>
                <p:cNvPr id="508255" name="Freeform-351"/>
                <p:cNvSpPr>
                  <a:spLocks/>
                </p:cNvSpPr>
                <p:nvPr/>
              </p:nvSpPr>
              <p:spPr bwMode="auto">
                <a:xfrm>
                  <a:off x="762" y="1192"/>
                  <a:ext cx="980" cy="777"/>
                </a:xfrm>
                <a:custGeom>
                  <a:avLst/>
                  <a:gdLst/>
                  <a:ahLst/>
                  <a:cxnLst>
                    <a:cxn ang="0">
                      <a:pos x="0" y="307"/>
                    </a:cxn>
                    <a:cxn ang="0">
                      <a:pos x="0" y="433"/>
                    </a:cxn>
                    <a:cxn ang="0">
                      <a:pos x="534" y="713"/>
                    </a:cxn>
                    <a:cxn ang="0">
                      <a:pos x="900" y="387"/>
                    </a:cxn>
                    <a:cxn ang="0">
                      <a:pos x="792" y="321"/>
                    </a:cxn>
                    <a:cxn ang="0">
                      <a:pos x="359" y="0"/>
                    </a:cxn>
                  </a:cxnLst>
                  <a:rect l="0" t="0" r="r" b="b"/>
                  <a:pathLst>
                    <a:path w="900" h="713">
                      <a:moveTo>
                        <a:pt x="0" y="307"/>
                      </a:moveTo>
                      <a:lnTo>
                        <a:pt x="0" y="433"/>
                      </a:lnTo>
                      <a:lnTo>
                        <a:pt x="534" y="713"/>
                      </a:lnTo>
                      <a:lnTo>
                        <a:pt x="900" y="387"/>
                      </a:lnTo>
                      <a:lnTo>
                        <a:pt x="792" y="321"/>
                      </a:lnTo>
                      <a:lnTo>
                        <a:pt x="359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56" name="Freeform-352"/>
                <p:cNvSpPr>
                  <a:spLocks/>
                </p:cNvSpPr>
                <p:nvPr/>
              </p:nvSpPr>
              <p:spPr bwMode="auto">
                <a:xfrm>
                  <a:off x="808" y="1205"/>
                  <a:ext cx="893" cy="727"/>
                </a:xfrm>
                <a:custGeom>
                  <a:avLst/>
                  <a:gdLst/>
                  <a:ahLst/>
                  <a:cxnLst>
                    <a:cxn ang="0">
                      <a:pos x="0" y="288"/>
                    </a:cxn>
                    <a:cxn ang="0">
                      <a:pos x="0" y="409"/>
                    </a:cxn>
                    <a:cxn ang="0">
                      <a:pos x="498" y="667"/>
                    </a:cxn>
                    <a:cxn ang="0">
                      <a:pos x="820" y="379"/>
                    </a:cxn>
                    <a:cxn ang="0">
                      <a:pos x="812" y="327"/>
                    </a:cxn>
                    <a:cxn ang="0">
                      <a:pos x="810" y="285"/>
                    </a:cxn>
                    <a:cxn ang="0">
                      <a:pos x="812" y="235"/>
                    </a:cxn>
                    <a:cxn ang="0">
                      <a:pos x="820" y="187"/>
                    </a:cxn>
                    <a:cxn ang="0">
                      <a:pos x="341" y="0"/>
                    </a:cxn>
                    <a:cxn ang="0">
                      <a:pos x="0" y="288"/>
                    </a:cxn>
                  </a:cxnLst>
                  <a:rect l="0" t="0" r="r" b="b"/>
                  <a:pathLst>
                    <a:path w="820" h="667">
                      <a:moveTo>
                        <a:pt x="0" y="288"/>
                      </a:moveTo>
                      <a:lnTo>
                        <a:pt x="0" y="409"/>
                      </a:lnTo>
                      <a:lnTo>
                        <a:pt x="498" y="667"/>
                      </a:lnTo>
                      <a:lnTo>
                        <a:pt x="820" y="379"/>
                      </a:lnTo>
                      <a:lnTo>
                        <a:pt x="812" y="327"/>
                      </a:lnTo>
                      <a:lnTo>
                        <a:pt x="810" y="285"/>
                      </a:lnTo>
                      <a:lnTo>
                        <a:pt x="812" y="235"/>
                      </a:lnTo>
                      <a:lnTo>
                        <a:pt x="820" y="187"/>
                      </a:lnTo>
                      <a:lnTo>
                        <a:pt x="341" y="0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/>
                    </a:gs>
                    <a:gs pos="100000">
                      <a:srgbClr val="FFFF66"/>
                    </a:gs>
                  </a:gsLst>
                  <a:lin ang="54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57" name="Freeform-353"/>
                <p:cNvSpPr>
                  <a:spLocks/>
                </p:cNvSpPr>
                <p:nvPr/>
              </p:nvSpPr>
              <p:spPr bwMode="auto">
                <a:xfrm>
                  <a:off x="763" y="1114"/>
                  <a:ext cx="883" cy="410"/>
                </a:xfrm>
                <a:custGeom>
                  <a:avLst/>
                  <a:gdLst/>
                  <a:ahLst/>
                  <a:cxnLst>
                    <a:cxn ang="0">
                      <a:pos x="367" y="66"/>
                    </a:cxn>
                    <a:cxn ang="0">
                      <a:pos x="0" y="376"/>
                    </a:cxn>
                    <a:cxn ang="0">
                      <a:pos x="432" y="358"/>
                    </a:cxn>
                    <a:cxn ang="0">
                      <a:pos x="811" y="0"/>
                    </a:cxn>
                    <a:cxn ang="0">
                      <a:pos x="367" y="66"/>
                    </a:cxn>
                  </a:cxnLst>
                  <a:rect l="0" t="0" r="r" b="b"/>
                  <a:pathLst>
                    <a:path w="811" h="376">
                      <a:moveTo>
                        <a:pt x="367" y="66"/>
                      </a:moveTo>
                      <a:lnTo>
                        <a:pt x="0" y="376"/>
                      </a:lnTo>
                      <a:lnTo>
                        <a:pt x="432" y="358"/>
                      </a:lnTo>
                      <a:lnTo>
                        <a:pt x="811" y="0"/>
                      </a:lnTo>
                      <a:lnTo>
                        <a:pt x="367" y="6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58" name="Freeform-354"/>
                <p:cNvSpPr>
                  <a:spLocks/>
                </p:cNvSpPr>
                <p:nvPr/>
              </p:nvSpPr>
              <p:spPr bwMode="auto">
                <a:xfrm>
                  <a:off x="840" y="1412"/>
                  <a:ext cx="854" cy="337"/>
                </a:xfrm>
                <a:custGeom>
                  <a:avLst/>
                  <a:gdLst/>
                  <a:ahLst/>
                  <a:cxnLst>
                    <a:cxn ang="0">
                      <a:pos x="784" y="0"/>
                    </a:cxn>
                    <a:cxn ang="0">
                      <a:pos x="463" y="309"/>
                    </a:cxn>
                    <a:cxn ang="0">
                      <a:pos x="0" y="100"/>
                    </a:cxn>
                  </a:cxnLst>
                  <a:rect l="0" t="0" r="r" b="b"/>
                  <a:pathLst>
                    <a:path w="784" h="309">
                      <a:moveTo>
                        <a:pt x="784" y="0"/>
                      </a:moveTo>
                      <a:lnTo>
                        <a:pt x="463" y="309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</p:grpSp>
        <p:sp>
          <p:nvSpPr>
            <p:cNvPr id="508259" name="Line-355"/>
            <p:cNvSpPr>
              <a:spLocks noChangeShapeType="1"/>
            </p:cNvSpPr>
            <p:nvPr/>
          </p:nvSpPr>
          <p:spPr bwMode="auto">
            <a:xfrm>
              <a:off x="1409" y="3433"/>
              <a:ext cx="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260" name="Group 356"/>
            <p:cNvGrpSpPr>
              <a:grpSpLocks/>
            </p:cNvGrpSpPr>
            <p:nvPr/>
          </p:nvGrpSpPr>
          <p:grpSpPr bwMode="auto">
            <a:xfrm>
              <a:off x="887" y="1369"/>
              <a:ext cx="141" cy="141"/>
              <a:chOff x="3757" y="1088"/>
              <a:chExt cx="141" cy="141"/>
            </a:xfrm>
          </p:grpSpPr>
          <p:sp>
            <p:nvSpPr>
              <p:cNvPr id="508261" name="Rectangle-357"/>
              <p:cNvSpPr>
                <a:spLocks noChangeArrowheads="1"/>
              </p:cNvSpPr>
              <p:nvPr/>
            </p:nvSpPr>
            <p:spPr bwMode="auto">
              <a:xfrm>
                <a:off x="3757" y="1088"/>
                <a:ext cx="141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62" name="Rectangle-358"/>
              <p:cNvSpPr>
                <a:spLocks noChangeArrowheads="1"/>
              </p:cNvSpPr>
              <p:nvPr/>
            </p:nvSpPr>
            <p:spPr bwMode="auto">
              <a:xfrm>
                <a:off x="3776" y="1147"/>
                <a:ext cx="103" cy="2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8263" name="Group 359"/>
            <p:cNvGrpSpPr>
              <a:grpSpLocks/>
            </p:cNvGrpSpPr>
            <p:nvPr/>
          </p:nvGrpSpPr>
          <p:grpSpPr bwMode="auto">
            <a:xfrm>
              <a:off x="887" y="2329"/>
              <a:ext cx="141" cy="141"/>
              <a:chOff x="3757" y="1088"/>
              <a:chExt cx="141" cy="141"/>
            </a:xfrm>
          </p:grpSpPr>
          <p:sp>
            <p:nvSpPr>
              <p:cNvPr id="508264" name="Rectangle-360"/>
              <p:cNvSpPr>
                <a:spLocks noChangeArrowheads="1"/>
              </p:cNvSpPr>
              <p:nvPr/>
            </p:nvSpPr>
            <p:spPr bwMode="auto">
              <a:xfrm>
                <a:off x="3757" y="1088"/>
                <a:ext cx="141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65" name="Rectangle-361"/>
              <p:cNvSpPr>
                <a:spLocks noChangeArrowheads="1"/>
              </p:cNvSpPr>
              <p:nvPr/>
            </p:nvSpPr>
            <p:spPr bwMode="auto">
              <a:xfrm>
                <a:off x="3776" y="1147"/>
                <a:ext cx="103" cy="2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8266" name="Group 362"/>
            <p:cNvGrpSpPr>
              <a:grpSpLocks/>
            </p:cNvGrpSpPr>
            <p:nvPr/>
          </p:nvGrpSpPr>
          <p:grpSpPr bwMode="auto">
            <a:xfrm>
              <a:off x="1274" y="3357"/>
              <a:ext cx="141" cy="141"/>
              <a:chOff x="1964" y="1584"/>
              <a:chExt cx="188" cy="188"/>
            </a:xfrm>
          </p:grpSpPr>
          <p:sp>
            <p:nvSpPr>
              <p:cNvPr id="508267" name="Rectangle-363"/>
              <p:cNvSpPr>
                <a:spLocks noChangeArrowheads="1"/>
              </p:cNvSpPr>
              <p:nvPr/>
            </p:nvSpPr>
            <p:spPr bwMode="auto">
              <a:xfrm>
                <a:off x="1964" y="1584"/>
                <a:ext cx="188" cy="1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68" name="AutoShape-364"/>
              <p:cNvSpPr>
                <a:spLocks noChangeArrowheads="1"/>
              </p:cNvSpPr>
              <p:nvPr/>
            </p:nvSpPr>
            <p:spPr bwMode="auto">
              <a:xfrm>
                <a:off x="1985" y="1605"/>
                <a:ext cx="146" cy="146"/>
              </a:xfrm>
              <a:prstGeom prst="plus">
                <a:avLst>
                  <a:gd name="adj" fmla="val 39042"/>
                </a:avLst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08269" name="Freeform-365"/>
            <p:cNvSpPr>
              <a:spLocks/>
            </p:cNvSpPr>
            <p:nvPr/>
          </p:nvSpPr>
          <p:spPr bwMode="auto">
            <a:xfrm>
              <a:off x="1744" y="3543"/>
              <a:ext cx="279" cy="2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37"/>
                </a:cxn>
                <a:cxn ang="0">
                  <a:pos x="279" y="237"/>
                </a:cxn>
              </a:cxnLst>
              <a:rect l="0" t="0" r="r" b="b"/>
              <a:pathLst>
                <a:path w="279" h="237">
                  <a:moveTo>
                    <a:pt x="0" y="0"/>
                  </a:moveTo>
                  <a:lnTo>
                    <a:pt x="0" y="237"/>
                  </a:lnTo>
                  <a:lnTo>
                    <a:pt x="279" y="23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08270" name="Group 366"/>
            <p:cNvGrpSpPr>
              <a:grpSpLocks/>
            </p:cNvGrpSpPr>
            <p:nvPr/>
          </p:nvGrpSpPr>
          <p:grpSpPr bwMode="auto">
            <a:xfrm>
              <a:off x="1991" y="3636"/>
              <a:ext cx="287" cy="278"/>
              <a:chOff x="2371" y="1690"/>
              <a:chExt cx="278" cy="269"/>
            </a:xfrm>
          </p:grpSpPr>
          <p:sp>
            <p:nvSpPr>
              <p:cNvPr id="508271" name="Freeform-367"/>
              <p:cNvSpPr>
                <a:spLocks/>
              </p:cNvSpPr>
              <p:nvPr/>
            </p:nvSpPr>
            <p:spPr bwMode="auto">
              <a:xfrm>
                <a:off x="2382" y="1851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72" name="Freeform-368"/>
              <p:cNvSpPr>
                <a:spLocks/>
              </p:cNvSpPr>
              <p:nvPr/>
            </p:nvSpPr>
            <p:spPr bwMode="auto">
              <a:xfrm>
                <a:off x="2371" y="1839"/>
                <a:ext cx="267" cy="108"/>
              </a:xfrm>
              <a:custGeom>
                <a:avLst/>
                <a:gdLst/>
                <a:ahLst/>
                <a:cxnLst>
                  <a:cxn ang="0">
                    <a:pos x="0" y="157"/>
                  </a:cxn>
                  <a:cxn ang="0">
                    <a:pos x="0" y="448"/>
                  </a:cxn>
                  <a:cxn ang="0">
                    <a:pos x="938" y="448"/>
                  </a:cxn>
                  <a:cxn ang="0">
                    <a:pos x="1116" y="322"/>
                  </a:cxn>
                  <a:cxn ang="0">
                    <a:pos x="1116" y="0"/>
                  </a:cxn>
                  <a:cxn ang="0">
                    <a:pos x="211" y="0"/>
                  </a:cxn>
                  <a:cxn ang="0">
                    <a:pos x="0" y="157"/>
                  </a:cxn>
                </a:cxnLst>
                <a:rect l="0" t="0" r="r" b="b"/>
                <a:pathLst>
                  <a:path w="1117" h="449">
                    <a:moveTo>
                      <a:pt x="0" y="157"/>
                    </a:moveTo>
                    <a:lnTo>
                      <a:pt x="0" y="448"/>
                    </a:lnTo>
                    <a:lnTo>
                      <a:pt x="938" y="448"/>
                    </a:lnTo>
                    <a:lnTo>
                      <a:pt x="1116" y="322"/>
                    </a:lnTo>
                    <a:lnTo>
                      <a:pt x="1116" y="0"/>
                    </a:lnTo>
                    <a:lnTo>
                      <a:pt x="211" y="0"/>
                    </a:lnTo>
                    <a:lnTo>
                      <a:pt x="0" y="157"/>
                    </a:lnTo>
                  </a:path>
                </a:pathLst>
              </a:custGeom>
              <a:solidFill>
                <a:srgbClr val="91919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8273" name="Rectangle-369"/>
              <p:cNvSpPr>
                <a:spLocks noChangeArrowheads="1"/>
              </p:cNvSpPr>
              <p:nvPr/>
            </p:nvSpPr>
            <p:spPr bwMode="auto">
              <a:xfrm>
                <a:off x="2384" y="1881"/>
                <a:ext cx="205" cy="5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74" name="Rectangle-370"/>
              <p:cNvSpPr>
                <a:spLocks noChangeArrowheads="1"/>
              </p:cNvSpPr>
              <p:nvPr/>
            </p:nvSpPr>
            <p:spPr bwMode="auto">
              <a:xfrm>
                <a:off x="2395" y="1890"/>
                <a:ext cx="194" cy="44"/>
              </a:xfrm>
              <a:prstGeom prst="rect">
                <a:avLst/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75" name="Rectangle-371"/>
              <p:cNvSpPr>
                <a:spLocks noChangeArrowheads="1"/>
              </p:cNvSpPr>
              <p:nvPr/>
            </p:nvSpPr>
            <p:spPr bwMode="auto">
              <a:xfrm>
                <a:off x="2512" y="1901"/>
                <a:ext cx="68" cy="1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76" name="Rectangle-372"/>
              <p:cNvSpPr>
                <a:spLocks noChangeArrowheads="1"/>
              </p:cNvSpPr>
              <p:nvPr/>
            </p:nvSpPr>
            <p:spPr bwMode="auto">
              <a:xfrm>
                <a:off x="2400" y="1900"/>
                <a:ext cx="24" cy="14"/>
              </a:xfrm>
              <a:prstGeom prst="rect">
                <a:avLst/>
              </a:prstGeom>
              <a:solidFill>
                <a:srgbClr val="037C03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77" name="Freeform-373"/>
              <p:cNvSpPr>
                <a:spLocks/>
              </p:cNvSpPr>
              <p:nvPr/>
            </p:nvSpPr>
            <p:spPr bwMode="auto">
              <a:xfrm>
                <a:off x="2407" y="1701"/>
                <a:ext cx="215" cy="170"/>
              </a:xfrm>
              <a:custGeom>
                <a:avLst/>
                <a:gdLst/>
                <a:ahLst/>
                <a:cxnLst>
                  <a:cxn ang="0">
                    <a:pos x="0" y="708"/>
                  </a:cxn>
                  <a:cxn ang="0">
                    <a:pos x="740" y="708"/>
                  </a:cxn>
                  <a:cxn ang="0">
                    <a:pos x="898" y="598"/>
                  </a:cxn>
                  <a:cxn ang="0">
                    <a:pos x="898" y="0"/>
                  </a:cxn>
                  <a:cxn ang="0">
                    <a:pos x="126" y="0"/>
                  </a:cxn>
                  <a:cxn ang="0">
                    <a:pos x="0" y="94"/>
                  </a:cxn>
                  <a:cxn ang="0">
                    <a:pos x="0" y="708"/>
                  </a:cxn>
                </a:cxnLst>
                <a:rect l="0" t="0" r="r" b="b"/>
                <a:pathLst>
                  <a:path w="899" h="709">
                    <a:moveTo>
                      <a:pt x="0" y="708"/>
                    </a:moveTo>
                    <a:lnTo>
                      <a:pt x="740" y="708"/>
                    </a:lnTo>
                    <a:lnTo>
                      <a:pt x="898" y="598"/>
                    </a:lnTo>
                    <a:lnTo>
                      <a:pt x="898" y="0"/>
                    </a:lnTo>
                    <a:lnTo>
                      <a:pt x="126" y="0"/>
                    </a:lnTo>
                    <a:lnTo>
                      <a:pt x="0" y="94"/>
                    </a:lnTo>
                    <a:lnTo>
                      <a:pt x="0" y="708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278" name="Group 374"/>
              <p:cNvGrpSpPr>
                <a:grpSpLocks/>
              </p:cNvGrpSpPr>
              <p:nvPr/>
            </p:nvGrpSpPr>
            <p:grpSpPr bwMode="auto">
              <a:xfrm>
                <a:off x="2395" y="1690"/>
                <a:ext cx="215" cy="170"/>
                <a:chOff x="2395" y="1690"/>
                <a:chExt cx="215" cy="170"/>
              </a:xfrm>
            </p:grpSpPr>
            <p:sp>
              <p:nvSpPr>
                <p:cNvPr id="508279" name="Freeform-375"/>
                <p:cNvSpPr>
                  <a:spLocks/>
                </p:cNvSpPr>
                <p:nvPr/>
              </p:nvSpPr>
              <p:spPr bwMode="auto">
                <a:xfrm>
                  <a:off x="2395" y="1690"/>
                  <a:ext cx="215" cy="170"/>
                </a:xfrm>
                <a:custGeom>
                  <a:avLst/>
                  <a:gdLst/>
                  <a:ahLst/>
                  <a:cxnLst>
                    <a:cxn ang="0">
                      <a:pos x="0" y="708"/>
                    </a:cxn>
                    <a:cxn ang="0">
                      <a:pos x="740" y="708"/>
                    </a:cxn>
                    <a:cxn ang="0">
                      <a:pos x="898" y="598"/>
                    </a:cxn>
                    <a:cxn ang="0">
                      <a:pos x="898" y="0"/>
                    </a:cxn>
                    <a:cxn ang="0">
                      <a:pos x="126" y="0"/>
                    </a:cxn>
                    <a:cxn ang="0">
                      <a:pos x="0" y="94"/>
                    </a:cxn>
                    <a:cxn ang="0">
                      <a:pos x="0" y="708"/>
                    </a:cxn>
                  </a:cxnLst>
                  <a:rect l="0" t="0" r="r" b="b"/>
                  <a:pathLst>
                    <a:path w="899" h="709">
                      <a:moveTo>
                        <a:pt x="0" y="708"/>
                      </a:moveTo>
                      <a:lnTo>
                        <a:pt x="740" y="708"/>
                      </a:lnTo>
                      <a:lnTo>
                        <a:pt x="898" y="598"/>
                      </a:lnTo>
                      <a:lnTo>
                        <a:pt x="898" y="0"/>
                      </a:lnTo>
                      <a:lnTo>
                        <a:pt x="126" y="0"/>
                      </a:lnTo>
                      <a:lnTo>
                        <a:pt x="0" y="94"/>
                      </a:lnTo>
                      <a:lnTo>
                        <a:pt x="0" y="708"/>
                      </a:lnTo>
                    </a:path>
                  </a:pathLst>
                </a:custGeom>
                <a:solidFill>
                  <a:srgbClr val="91919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08280" name="Rectangle-376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61" cy="132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81" name="Rectangle-377"/>
                <p:cNvSpPr>
                  <a:spLocks noChangeArrowheads="1"/>
                </p:cNvSpPr>
                <p:nvPr/>
              </p:nvSpPr>
              <p:spPr bwMode="auto">
                <a:xfrm>
                  <a:off x="2407" y="1716"/>
                  <a:ext cx="150" cy="12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82" name="Rectangle-378"/>
                <p:cNvSpPr>
                  <a:spLocks noChangeArrowheads="1"/>
                </p:cNvSpPr>
                <p:nvPr/>
              </p:nvSpPr>
              <p:spPr bwMode="auto">
                <a:xfrm>
                  <a:off x="2427" y="1701"/>
                  <a:ext cx="154" cy="13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83" name="Rectangle-379"/>
                <p:cNvSpPr>
                  <a:spLocks noChangeArrowheads="1"/>
                </p:cNvSpPr>
                <p:nvPr/>
              </p:nvSpPr>
              <p:spPr bwMode="auto">
                <a:xfrm>
                  <a:off x="2415" y="1727"/>
                  <a:ext cx="130" cy="100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84" name="Rectangle-380"/>
                <p:cNvSpPr>
                  <a:spLocks noChangeArrowheads="1"/>
                </p:cNvSpPr>
                <p:nvPr/>
              </p:nvSpPr>
              <p:spPr bwMode="auto">
                <a:xfrm>
                  <a:off x="2423" y="1735"/>
                  <a:ext cx="113" cy="83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08285" name="Rectangle-381"/>
                <p:cNvSpPr>
                  <a:spLocks noChangeArrowheads="1"/>
                </p:cNvSpPr>
                <p:nvPr/>
              </p:nvSpPr>
              <p:spPr bwMode="auto">
                <a:xfrm>
                  <a:off x="2432" y="1745"/>
                  <a:ext cx="104" cy="73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508286" name="Group 382"/>
            <p:cNvGrpSpPr>
              <a:grpSpLocks/>
            </p:cNvGrpSpPr>
            <p:nvPr/>
          </p:nvGrpSpPr>
          <p:grpSpPr bwMode="auto">
            <a:xfrm>
              <a:off x="1673" y="3703"/>
              <a:ext cx="141" cy="141"/>
              <a:chOff x="3757" y="1088"/>
              <a:chExt cx="141" cy="141"/>
            </a:xfrm>
          </p:grpSpPr>
          <p:sp>
            <p:nvSpPr>
              <p:cNvPr id="508287" name="Rectangle-383"/>
              <p:cNvSpPr>
                <a:spLocks noChangeArrowheads="1"/>
              </p:cNvSpPr>
              <p:nvPr/>
            </p:nvSpPr>
            <p:spPr bwMode="auto">
              <a:xfrm>
                <a:off x="3757" y="1088"/>
                <a:ext cx="141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8288" name="Rectangle-384"/>
              <p:cNvSpPr>
                <a:spLocks noChangeArrowheads="1"/>
              </p:cNvSpPr>
              <p:nvPr/>
            </p:nvSpPr>
            <p:spPr bwMode="auto">
              <a:xfrm>
                <a:off x="3776" y="1147"/>
                <a:ext cx="103" cy="2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508289" name="Group 385"/>
            <p:cNvGrpSpPr>
              <a:grpSpLocks/>
            </p:cNvGrpSpPr>
            <p:nvPr/>
          </p:nvGrpSpPr>
          <p:grpSpPr bwMode="auto">
            <a:xfrm>
              <a:off x="1589" y="3321"/>
              <a:ext cx="290" cy="232"/>
              <a:chOff x="4267" y="3488"/>
              <a:chExt cx="290" cy="232"/>
            </a:xfrm>
          </p:grpSpPr>
          <p:sp>
            <p:nvSpPr>
              <p:cNvPr id="508290" name="Freeform-386"/>
              <p:cNvSpPr>
                <a:spLocks/>
              </p:cNvSpPr>
              <p:nvPr/>
            </p:nvSpPr>
            <p:spPr bwMode="auto">
              <a:xfrm>
                <a:off x="4267" y="3488"/>
                <a:ext cx="290" cy="232"/>
              </a:xfrm>
              <a:custGeom>
                <a:avLst/>
                <a:gdLst/>
                <a:ahLst/>
                <a:cxnLst>
                  <a:cxn ang="0">
                    <a:pos x="0" y="996"/>
                  </a:cxn>
                  <a:cxn ang="0">
                    <a:pos x="0" y="94"/>
                  </a:cxn>
                  <a:cxn ang="0">
                    <a:pos x="79" y="0"/>
                  </a:cxn>
                  <a:cxn ang="0">
                    <a:pos x="467" y="0"/>
                  </a:cxn>
                  <a:cxn ang="0">
                    <a:pos x="526" y="93"/>
                  </a:cxn>
                  <a:cxn ang="0">
                    <a:pos x="1248" y="94"/>
                  </a:cxn>
                  <a:cxn ang="0">
                    <a:pos x="1248" y="996"/>
                  </a:cxn>
                  <a:cxn ang="0">
                    <a:pos x="0" y="996"/>
                  </a:cxn>
                </a:cxnLst>
                <a:rect l="0" t="0" r="r" b="b"/>
                <a:pathLst>
                  <a:path w="1248" h="996">
                    <a:moveTo>
                      <a:pt x="0" y="996"/>
                    </a:moveTo>
                    <a:lnTo>
                      <a:pt x="0" y="94"/>
                    </a:lnTo>
                    <a:lnTo>
                      <a:pt x="79" y="0"/>
                    </a:lnTo>
                    <a:lnTo>
                      <a:pt x="467" y="0"/>
                    </a:lnTo>
                    <a:lnTo>
                      <a:pt x="526" y="93"/>
                    </a:lnTo>
                    <a:lnTo>
                      <a:pt x="1248" y="94"/>
                    </a:lnTo>
                    <a:lnTo>
                      <a:pt x="1248" y="996"/>
                    </a:lnTo>
                    <a:lnTo>
                      <a:pt x="0" y="996"/>
                    </a:lnTo>
                    <a:close/>
                  </a:path>
                </a:pathLst>
              </a:custGeom>
              <a:solidFill>
                <a:srgbClr val="FFFF99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08291" name="Group 387"/>
              <p:cNvGrpSpPr>
                <a:grpSpLocks/>
              </p:cNvGrpSpPr>
              <p:nvPr/>
            </p:nvGrpSpPr>
            <p:grpSpPr bwMode="auto">
              <a:xfrm>
                <a:off x="4300" y="3523"/>
                <a:ext cx="210" cy="184"/>
                <a:chOff x="762" y="1114"/>
                <a:chExt cx="980" cy="855"/>
              </a:xfrm>
            </p:grpSpPr>
            <p:sp>
              <p:nvSpPr>
                <p:cNvPr id="508292" name="Freeform-388"/>
                <p:cNvSpPr>
                  <a:spLocks/>
                </p:cNvSpPr>
                <p:nvPr/>
              </p:nvSpPr>
              <p:spPr bwMode="auto">
                <a:xfrm>
                  <a:off x="762" y="1192"/>
                  <a:ext cx="980" cy="777"/>
                </a:xfrm>
                <a:custGeom>
                  <a:avLst/>
                  <a:gdLst/>
                  <a:ahLst/>
                  <a:cxnLst>
                    <a:cxn ang="0">
                      <a:pos x="0" y="307"/>
                    </a:cxn>
                    <a:cxn ang="0">
                      <a:pos x="0" y="433"/>
                    </a:cxn>
                    <a:cxn ang="0">
                      <a:pos x="534" y="713"/>
                    </a:cxn>
                    <a:cxn ang="0">
                      <a:pos x="900" y="387"/>
                    </a:cxn>
                    <a:cxn ang="0">
                      <a:pos x="792" y="321"/>
                    </a:cxn>
                    <a:cxn ang="0">
                      <a:pos x="359" y="0"/>
                    </a:cxn>
                  </a:cxnLst>
                  <a:rect l="0" t="0" r="r" b="b"/>
                  <a:pathLst>
                    <a:path w="900" h="713">
                      <a:moveTo>
                        <a:pt x="0" y="307"/>
                      </a:moveTo>
                      <a:lnTo>
                        <a:pt x="0" y="433"/>
                      </a:lnTo>
                      <a:lnTo>
                        <a:pt x="534" y="713"/>
                      </a:lnTo>
                      <a:lnTo>
                        <a:pt x="900" y="387"/>
                      </a:lnTo>
                      <a:lnTo>
                        <a:pt x="792" y="321"/>
                      </a:lnTo>
                      <a:lnTo>
                        <a:pt x="359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93" name="Freeform-389"/>
                <p:cNvSpPr>
                  <a:spLocks/>
                </p:cNvSpPr>
                <p:nvPr/>
              </p:nvSpPr>
              <p:spPr bwMode="auto">
                <a:xfrm>
                  <a:off x="808" y="1205"/>
                  <a:ext cx="893" cy="727"/>
                </a:xfrm>
                <a:custGeom>
                  <a:avLst/>
                  <a:gdLst/>
                  <a:ahLst/>
                  <a:cxnLst>
                    <a:cxn ang="0">
                      <a:pos x="0" y="288"/>
                    </a:cxn>
                    <a:cxn ang="0">
                      <a:pos x="0" y="409"/>
                    </a:cxn>
                    <a:cxn ang="0">
                      <a:pos x="498" y="667"/>
                    </a:cxn>
                    <a:cxn ang="0">
                      <a:pos x="820" y="379"/>
                    </a:cxn>
                    <a:cxn ang="0">
                      <a:pos x="812" y="327"/>
                    </a:cxn>
                    <a:cxn ang="0">
                      <a:pos x="810" y="285"/>
                    </a:cxn>
                    <a:cxn ang="0">
                      <a:pos x="812" y="235"/>
                    </a:cxn>
                    <a:cxn ang="0">
                      <a:pos x="820" y="187"/>
                    </a:cxn>
                    <a:cxn ang="0">
                      <a:pos x="341" y="0"/>
                    </a:cxn>
                    <a:cxn ang="0">
                      <a:pos x="0" y="288"/>
                    </a:cxn>
                  </a:cxnLst>
                  <a:rect l="0" t="0" r="r" b="b"/>
                  <a:pathLst>
                    <a:path w="820" h="667">
                      <a:moveTo>
                        <a:pt x="0" y="288"/>
                      </a:moveTo>
                      <a:lnTo>
                        <a:pt x="0" y="409"/>
                      </a:lnTo>
                      <a:lnTo>
                        <a:pt x="498" y="667"/>
                      </a:lnTo>
                      <a:lnTo>
                        <a:pt x="820" y="379"/>
                      </a:lnTo>
                      <a:lnTo>
                        <a:pt x="812" y="327"/>
                      </a:lnTo>
                      <a:lnTo>
                        <a:pt x="810" y="285"/>
                      </a:lnTo>
                      <a:lnTo>
                        <a:pt x="812" y="235"/>
                      </a:lnTo>
                      <a:lnTo>
                        <a:pt x="820" y="187"/>
                      </a:lnTo>
                      <a:lnTo>
                        <a:pt x="341" y="0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/>
                    </a:gs>
                    <a:gs pos="100000">
                      <a:srgbClr val="FFFF66"/>
                    </a:gs>
                  </a:gsLst>
                  <a:lin ang="54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94" name="Freeform-390"/>
                <p:cNvSpPr>
                  <a:spLocks/>
                </p:cNvSpPr>
                <p:nvPr/>
              </p:nvSpPr>
              <p:spPr bwMode="auto">
                <a:xfrm>
                  <a:off x="763" y="1114"/>
                  <a:ext cx="883" cy="410"/>
                </a:xfrm>
                <a:custGeom>
                  <a:avLst/>
                  <a:gdLst/>
                  <a:ahLst/>
                  <a:cxnLst>
                    <a:cxn ang="0">
                      <a:pos x="367" y="66"/>
                    </a:cxn>
                    <a:cxn ang="0">
                      <a:pos x="0" y="376"/>
                    </a:cxn>
                    <a:cxn ang="0">
                      <a:pos x="432" y="358"/>
                    </a:cxn>
                    <a:cxn ang="0">
                      <a:pos x="811" y="0"/>
                    </a:cxn>
                    <a:cxn ang="0">
                      <a:pos x="367" y="66"/>
                    </a:cxn>
                  </a:cxnLst>
                  <a:rect l="0" t="0" r="r" b="b"/>
                  <a:pathLst>
                    <a:path w="811" h="376">
                      <a:moveTo>
                        <a:pt x="367" y="66"/>
                      </a:moveTo>
                      <a:lnTo>
                        <a:pt x="0" y="376"/>
                      </a:lnTo>
                      <a:lnTo>
                        <a:pt x="432" y="358"/>
                      </a:lnTo>
                      <a:lnTo>
                        <a:pt x="811" y="0"/>
                      </a:lnTo>
                      <a:lnTo>
                        <a:pt x="367" y="6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777777"/>
                    </a:gs>
                  </a:gsLst>
                  <a:lin ang="2700000" scaled="1"/>
                </a:gradFill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08295" name="Freeform-391"/>
                <p:cNvSpPr>
                  <a:spLocks/>
                </p:cNvSpPr>
                <p:nvPr/>
              </p:nvSpPr>
              <p:spPr bwMode="auto">
                <a:xfrm>
                  <a:off x="840" y="1412"/>
                  <a:ext cx="854" cy="337"/>
                </a:xfrm>
                <a:custGeom>
                  <a:avLst/>
                  <a:gdLst/>
                  <a:ahLst/>
                  <a:cxnLst>
                    <a:cxn ang="0">
                      <a:pos x="784" y="0"/>
                    </a:cxn>
                    <a:cxn ang="0">
                      <a:pos x="463" y="309"/>
                    </a:cxn>
                    <a:cxn ang="0">
                      <a:pos x="0" y="100"/>
                    </a:cxn>
                  </a:cxnLst>
                  <a:rect l="0" t="0" r="r" b="b"/>
                  <a:pathLst>
                    <a:path w="784" h="309">
                      <a:moveTo>
                        <a:pt x="784" y="0"/>
                      </a:moveTo>
                      <a:lnTo>
                        <a:pt x="463" y="309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317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508296" name="AutoShape-392"/>
          <p:cNvSpPr>
            <a:spLocks noChangeArrowheads="1"/>
          </p:cNvSpPr>
          <p:nvPr/>
        </p:nvSpPr>
        <p:spPr bwMode="auto">
          <a:xfrm>
            <a:off x="55420" y="1365681"/>
            <a:ext cx="5378450" cy="4259262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>
              <a:lnSpc>
                <a:spcPct val="100000"/>
              </a:lnSpc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Configuration requise</a:t>
            </a:r>
            <a:r>
              <a:rPr lang="en-IE" altLang="zh-CN" sz="200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00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8297" name="AutoShape-393"/>
          <p:cNvSpPr>
            <a:spLocks noChangeArrowheads="1"/>
          </p:cNvSpPr>
          <p:nvPr/>
        </p:nvSpPr>
        <p:spPr bwMode="auto">
          <a:xfrm>
            <a:off x="207820" y="1911350"/>
            <a:ext cx="5088370" cy="3547341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75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Une application antivirus doit être installée sur tous les ordinateurs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du domaine</a:t>
            </a:r>
            <a:endParaRPr lang="en-US" sz="2200" dirty="0">
              <a:ea typeface="SimSun" pitchFamily="2" charset="-122"/>
              <a:cs typeface="Times New Roman" charset="0"/>
            </a:endParaRPr>
          </a:p>
          <a:p>
            <a:pPr marL="225425" indent="-225425" algn="l">
              <a:lnSpc>
                <a:spcPct val="75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La suite Office doit être installée sur tous les ordinateurs du domaine, à l'exception de ceux du service </a:t>
            </a:r>
            <a:r>
              <a:rPr lang="fr-FR" altLang="zh-CN" sz="2200" dirty="0" err="1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Payroll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ea typeface="SimSun" pitchFamily="2" charset="-122"/>
              <a:cs typeface="Times New Roman" charset="0"/>
            </a:endParaRPr>
          </a:p>
          <a:p>
            <a:pPr marL="225425" indent="-225425" algn="l">
              <a:lnSpc>
                <a:spcPct val="75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Une application de comptabilité doit être installée sur tous les ordinateurs clients du service </a:t>
            </a:r>
            <a:r>
              <a:rPr lang="fr-FR" altLang="zh-CN" sz="2200" dirty="0" err="1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Payroll</a:t>
            </a: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, à l'exception de ceux utilisés par les administrateurs de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ce service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altLang="zh-CN" sz="26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Application : </a:t>
            </a: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Modification de l'héritage d'une stratégie de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7909" name="AutoShape-5"/>
          <p:cNvSpPr>
            <a:spLocks noChangeArrowheads="1"/>
          </p:cNvSpPr>
          <p:nvPr/>
        </p:nvSpPr>
        <p:spPr bwMode="auto">
          <a:xfrm>
            <a:off x="152405" y="1399310"/>
            <a:ext cx="8825340" cy="4849090"/>
          </a:xfrm>
          <a:prstGeom prst="roundRect">
            <a:avLst>
              <a:gd name="adj" fmla="val 12819"/>
            </a:avLst>
          </a:prstGeom>
          <a:gradFill rotWithShape="1">
            <a:gsLst>
              <a:gs pos="0">
                <a:srgbClr val="B395D8"/>
              </a:gs>
              <a:gs pos="100000">
                <a:srgbClr val="DFD2EE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l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fr-FR" sz="2200" dirty="0" smtClean="0"/>
              <a:t>Créez un objet de stratégie de groupe lié au domaine qui installe l’application antivirus et affectez l’option Appliqué au lien.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fr-FR" sz="2200" dirty="0" smtClean="0"/>
              <a:t>Créez et liez un autre objet de stratégie de groupe au niveau du domaine qui installe la suite Office.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fr-FR" sz="2200" dirty="0" smtClean="0"/>
              <a:t>Au niveau de l’unité d’organisation « </a:t>
            </a:r>
            <a:r>
              <a:rPr lang="fr-FR" sz="2200" dirty="0" err="1" smtClean="0"/>
              <a:t>Payroll</a:t>
            </a:r>
            <a:r>
              <a:rPr lang="fr-FR" sz="2200" dirty="0" smtClean="0"/>
              <a:t> », activez l’option Bloquer l’héritage de stratégies.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fr-FR" sz="2200" dirty="0" smtClean="0"/>
              <a:t>Créez et liez un objet de stratégie de groupe au niveau de OU « </a:t>
            </a:r>
            <a:r>
              <a:rPr lang="fr-FR" sz="2200" dirty="0" err="1" smtClean="0"/>
              <a:t>Payroll</a:t>
            </a:r>
            <a:r>
              <a:rPr lang="fr-FR" sz="2200" dirty="0" smtClean="0"/>
              <a:t> » qui installe l’application comptable sur les ordinateurs clients.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fr-FR" sz="2200" dirty="0" smtClean="0"/>
              <a:t>Modifiez la liste DACL de l’objet de stratégie de groupe pour que les comptes d’ordinateurs utilisés par les administrateurs « </a:t>
            </a:r>
            <a:r>
              <a:rPr lang="fr-FR" sz="2200" dirty="0" err="1" smtClean="0"/>
              <a:t>Payroll</a:t>
            </a:r>
            <a:r>
              <a:rPr lang="fr-FR" sz="2200" dirty="0" smtClean="0"/>
              <a:t> » ne soient pas autorisés à appliquer la stratégie de groupe.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07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507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07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07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079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10734</TotalTime>
  <Words>888</Words>
  <Application>Microsoft PowerPoint</Application>
  <PresentationFormat>Affichage à l'écran (4:3)</PresentationFormat>
  <Paragraphs>176</Paragraphs>
  <Slides>27</Slides>
  <Notes>19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Civil</vt:lpstr>
      <vt:lpstr>Chapitre 6   Implémentation d'une stratégie de groupe  </vt:lpstr>
      <vt:lpstr>Plan du cours</vt:lpstr>
      <vt:lpstr>1. Implémentation d'objets de stratégie  de groupe </vt:lpstr>
      <vt:lpstr>Description d'une stratégie de groupe  </vt:lpstr>
      <vt:lpstr>Description d'une stratégie de groupe  </vt:lpstr>
      <vt:lpstr>Description des paramètres de configuration des utilisateurs et des ordinateurs </vt:lpstr>
      <vt:lpstr>2. Implémentation d'objets de stratégie  de groupe dans un domaine </vt:lpstr>
      <vt:lpstr>Outils de création d'objets de stratégie  de groupe </vt:lpstr>
      <vt:lpstr>Description d'un lien d'objet de stratégie  de groupe  </vt:lpstr>
      <vt:lpstr>Description d'un lien d'objet de stratégie  de groupe  </vt:lpstr>
      <vt:lpstr>Héritage de l'autorisation de stratégie de groupe dans Active Directory </vt:lpstr>
      <vt:lpstr>Application</vt:lpstr>
      <vt:lpstr>Application</vt:lpstr>
      <vt:lpstr>Application</vt:lpstr>
      <vt:lpstr>Application</vt:lpstr>
      <vt:lpstr>3. Administration du déploiement d'une stratégie de groupe </vt:lpstr>
      <vt:lpstr>Impact de l'existence d'objets de stratégie  de groupe conflictuels </vt:lpstr>
      <vt:lpstr>Blocage du déploiement d'un objet de stratégie de groupe </vt:lpstr>
      <vt:lpstr>Application</vt:lpstr>
      <vt:lpstr>Application</vt:lpstr>
      <vt:lpstr>Attributs d'un lien d'objet de stratégie de groupe </vt:lpstr>
      <vt:lpstr>Filtrage du déploiement d'un objet de stratégie de groupe </vt:lpstr>
      <vt:lpstr>Filtrage du déploiement d'un objet de stratégie de groupe </vt:lpstr>
      <vt:lpstr>Application</vt:lpstr>
      <vt:lpstr>Application</vt:lpstr>
      <vt:lpstr>Application : Modification de l'héritage d'une stratégie de groupe </vt:lpstr>
      <vt:lpstr>Application : Modification de l'héritage d'une stratégie de groupe 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466</cp:revision>
  <dcterms:created xsi:type="dcterms:W3CDTF">2002-08-07T17:51:12Z</dcterms:created>
  <dcterms:modified xsi:type="dcterms:W3CDTF">2016-03-22T23:02:06Z</dcterms:modified>
</cp:coreProperties>
</file>