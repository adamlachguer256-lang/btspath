
<file path=[Content_Types].xml><?xml version="1.0" encoding="utf-8"?>
<Types xmlns="http://schemas.openxmlformats.org/package/2006/content-types"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104.xml" ContentType="application/vnd.openxmlformats-officedocument.presentationml.tags+xml"/>
  <Override PartName="/ppt/tags/tag140.xml" ContentType="application/vnd.openxmlformats-officedocument.presentationml.tags+xml"/>
  <Override PartName="/ppt/tags/tag151.xml" ContentType="application/vnd.openxmlformats-officedocument.presentationml.tags+xml"/>
  <Override PartName="/ppt/tags/tag238.xml" ContentType="application/vnd.openxmlformats-officedocument.presentationml.tags+xml"/>
  <Override PartName="/ppt/tags/tag227.xml" ContentType="application/vnd.openxmlformats-officedocument.presentationml.tags+xml"/>
  <Override PartName="/ppt/tags/tag274.xml" ContentType="application/vnd.openxmlformats-officedocument.presentationml.tags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Override PartName="/ppt/tags/tag96.xml" ContentType="application/vnd.openxmlformats-officedocument.presentationml.tags+xml"/>
  <Override PartName="/ppt/tags/tag205.xml" ContentType="application/vnd.openxmlformats-officedocument.presentationml.tags+xml"/>
  <Override PartName="/ppt/tags/tag216.xml" ContentType="application/vnd.openxmlformats-officedocument.presentationml.tags+xml"/>
  <Override PartName="/ppt/tags/tag252.xml" ContentType="application/vnd.openxmlformats-officedocument.presentationml.tags+xml"/>
  <Override PartName="/ppt/tags/tag263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38.xml" ContentType="application/vnd.openxmlformats-officedocument.presentationml.tags+xml"/>
  <Override PartName="/ppt/tags/tag85.xml" ContentType="application/vnd.openxmlformats-officedocument.presentationml.tags+xml"/>
  <Override PartName="/ppt/tags/tag189.xml" ContentType="application/vnd.openxmlformats-officedocument.presentationml.tags+xml"/>
  <Override PartName="/ppt/tags/tag241.xml" ContentType="application/vnd.openxmlformats-officedocument.presentationml.tags+xml"/>
  <Override PartName="/ppt/notesSlides/notesSlide16.xml" ContentType="application/vnd.openxmlformats-officedocument.presentationml.notes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63.xml" ContentType="application/vnd.openxmlformats-officedocument.presentationml.tags+xml"/>
  <Override PartName="/ppt/tags/tag74.xml" ContentType="application/vnd.openxmlformats-officedocument.presentationml.tags+xml"/>
  <Override PartName="/ppt/tags/tag178.xml" ContentType="application/vnd.openxmlformats-officedocument.presentationml.tags+xml"/>
  <Override PartName="/ppt/tags/tag230.xml" ContentType="application/vnd.openxmlformats-officedocument.presentationml.tags+xml"/>
  <Override PartName="/ppt/tags/tag52.xml" ContentType="application/vnd.openxmlformats-officedocument.presentationml.tags+xml"/>
  <Override PartName="/ppt/tags/tag109.xml" ContentType="application/vnd.openxmlformats-officedocument.presentationml.tags+xml"/>
  <Override PartName="/ppt/tags/tag156.xml" ContentType="application/vnd.openxmlformats-officedocument.presentationml.tags+xml"/>
  <Override PartName="/ppt/tags/tag167.xml" ContentType="application/vnd.openxmlformats-officedocument.presentationml.tags+xml"/>
  <Override PartName="/ppt/tags/tag41.xml" ContentType="application/vnd.openxmlformats-officedocument.presentationml.tags+xml"/>
  <Override PartName="/ppt/notesSlides/notesSlide7.xml" ContentType="application/vnd.openxmlformats-officedocument.presentationml.notesSlide+xml"/>
  <Override PartName="/ppt/tags/tag145.xml" ContentType="application/vnd.openxmlformats-officedocument.presentationml.tags+xml"/>
  <Override PartName="/ppt/tags/tag192.xml" ContentType="application/vnd.openxmlformats-officedocument.presentationml.tags+xml"/>
  <Override PartName="/ppt/tags/tag30.xml" ContentType="application/vnd.openxmlformats-officedocument.presentationml.tags+xml"/>
  <Override PartName="/ppt/tags/tag134.xml" ContentType="application/vnd.openxmlformats-officedocument.presentationml.tags+xml"/>
  <Override PartName="/ppt/tags/tag181.xml" ContentType="application/vnd.openxmlformats-officedocument.presentationml.tags+xml"/>
  <Override PartName="/ppt/tags/tag268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ags/tag112.xml" ContentType="application/vnd.openxmlformats-officedocument.presentationml.tags+xml"/>
  <Override PartName="/ppt/tags/tag123.xml" ContentType="application/vnd.openxmlformats-officedocument.presentationml.tags+xml"/>
  <Override PartName="/ppt/tags/tag170.xml" ContentType="application/vnd.openxmlformats-officedocument.presentationml.tags+xml"/>
  <Override PartName="/ppt/tags/tag257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79.xml" ContentType="application/vnd.openxmlformats-officedocument.presentationml.tags+xml"/>
  <Override PartName="/ppt/tags/tag101.xml" ContentType="application/vnd.openxmlformats-officedocument.presentationml.tags+xml"/>
  <Override PartName="/ppt/tags/tag246.xml" ContentType="application/vnd.openxmlformats-officedocument.presentationml.tags+xml"/>
  <Override PartName="/ppt/tags/tag68.xml" ContentType="application/vnd.openxmlformats-officedocument.presentationml.tags+xml"/>
  <Override PartName="/ppt/tags/tag224.xml" ContentType="application/vnd.openxmlformats-officedocument.presentationml.tags+xml"/>
  <Override PartName="/ppt/tags/tag235.xml" ContentType="application/vnd.openxmlformats-officedocument.presentationml.tags+xml"/>
  <Override PartName="/ppt/tags/tag271.xml" ContentType="application/vnd.openxmlformats-officedocument.presentationml.tags+xml"/>
  <Override PartName="/ppt/presentation.xml" ContentType="application/vnd.openxmlformats-officedocument.presentationml.presentation.main+xml"/>
  <Override PartName="/ppt/tags/tag57.xml" ContentType="application/vnd.openxmlformats-officedocument.presentationml.tags+xml"/>
  <Override PartName="/ppt/tags/tag213.xml" ContentType="application/vnd.openxmlformats-officedocument.presentationml.tags+xml"/>
  <Override PartName="/ppt/tags/tag260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tags/tag82.xml" ContentType="application/vnd.openxmlformats-officedocument.presentationml.tags+xml"/>
  <Override PartName="/ppt/tags/tag93.xml" ContentType="application/vnd.openxmlformats-officedocument.presentationml.tags+xml"/>
  <Override PartName="/ppt/tags/tag139.xml" ContentType="application/vnd.openxmlformats-officedocument.presentationml.tags+xml"/>
  <Override PartName="/ppt/tags/tag186.xml" ContentType="application/vnd.openxmlformats-officedocument.presentationml.tags+xml"/>
  <Override PartName="/ppt/tags/tag197.xml" ContentType="application/vnd.openxmlformats-officedocument.presentationml.tags+xml"/>
  <Override PartName="/ppt/tags/tag202.xml" ContentType="application/vnd.openxmlformats-officedocument.presentationml.tags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tags/tag24.xml" ContentType="application/vnd.openxmlformats-officedocument.presentationml.tags+xml"/>
  <Override PartName="/ppt/tags/tag71.xml" ContentType="application/vnd.openxmlformats-officedocument.presentationml.tags+xml"/>
  <Override PartName="/ppt/tags/tag128.xml" ContentType="application/vnd.openxmlformats-officedocument.presentationml.tags+xml"/>
  <Override PartName="/ppt/tags/tag175.xml" ContentType="application/vnd.openxmlformats-officedocument.presentationml.tags+xml"/>
  <Override PartName="/ppt/tags/tag13.xml" ContentType="application/vnd.openxmlformats-officedocument.presentationml.tags+xml"/>
  <Override PartName="/ppt/tags/tag60.xml" ContentType="application/vnd.openxmlformats-officedocument.presentationml.tags+xml"/>
  <Override PartName="/ppt/tags/tag117.xml" ContentType="application/vnd.openxmlformats-officedocument.presentationml.tags+xml"/>
  <Override PartName="/ppt/tags/tag164.xml" ContentType="application/vnd.openxmlformats-officedocument.presentationml.tags+xml"/>
  <Override PartName="/ppt/notesSlides/notesSlide4.xml" ContentType="application/vnd.openxmlformats-officedocument.presentationml.notesSlide+xml"/>
  <Override PartName="/ppt/tags/tag106.xml" ContentType="application/vnd.openxmlformats-officedocument.presentationml.tags+xml"/>
  <Override PartName="/ppt/tags/tag142.xml" ContentType="application/vnd.openxmlformats-officedocument.presentationml.tags+xml"/>
  <Override PartName="/ppt/tags/tag153.xml" ContentType="application/vnd.openxmlformats-officedocument.presentationml.tags+xml"/>
  <Override PartName="/ppt/tags/tag131.xml" ContentType="application/vnd.openxmlformats-officedocument.presentationml.tags+xml"/>
  <Override PartName="/ppt/tags/tag229.xml" ContentType="application/vnd.openxmlformats-officedocument.presentationml.tags+xml"/>
  <Override PartName="/ppt/tags/tag276.xml" ContentType="application/vnd.openxmlformats-officedocument.presentationml.tags+xml"/>
  <Override PartName="/ppt/slideLayouts/slideLayout4.xml" ContentType="application/vnd.openxmlformats-officedocument.presentationml.slideLayout+xml"/>
  <Override PartName="/ppt/tags/tag98.xml" ContentType="application/vnd.openxmlformats-officedocument.presentationml.tags+xml"/>
  <Override PartName="/ppt/tags/tag120.xml" ContentType="application/vnd.openxmlformats-officedocument.presentationml.tags+xml"/>
  <Override PartName="/ppt/tags/tag207.xml" ContentType="application/vnd.openxmlformats-officedocument.presentationml.tags+xml"/>
  <Override PartName="/ppt/tags/tag218.xml" ContentType="application/vnd.openxmlformats-officedocument.presentationml.tags+xml"/>
  <Override PartName="/ppt/tags/tag254.xml" ContentType="application/vnd.openxmlformats-officedocument.presentationml.tags+xml"/>
  <Override PartName="/ppt/tags/tag265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tags/tag87.xml" ContentType="application/vnd.openxmlformats-officedocument.presentationml.tags+xml"/>
  <Override PartName="/ppt/tags/tag243.xml" ContentType="application/vnd.openxmlformats-officedocument.presentationml.tags+xml"/>
  <Override PartName="/ppt/tags/tag29.xml" ContentType="application/vnd.openxmlformats-officedocument.presentationml.tags+xml"/>
  <Override PartName="/ppt/tags/tag76.xml" ContentType="application/vnd.openxmlformats-officedocument.presentationml.tags+xml"/>
  <Override PartName="/ppt/tags/tag232.xml" ContentType="application/vnd.openxmlformats-officedocument.presentationml.tags+xml"/>
  <Override PartName="/ppt/tags/tag18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tags/tag158.xml" ContentType="application/vnd.openxmlformats-officedocument.presentationml.tags+xml"/>
  <Override PartName="/ppt/tags/tag169.xml" ContentType="application/vnd.openxmlformats-officedocument.presentationml.tags+xml"/>
  <Override PartName="/ppt/tags/tag210.xml" ContentType="application/vnd.openxmlformats-officedocument.presentationml.tags+xml"/>
  <Override PartName="/ppt/tags/tag221.xml" ContentType="application/vnd.openxmlformats-officedocument.presentationml.tags+xml"/>
  <Override PartName="/ppt/tags/tag43.xml" ContentType="application/vnd.openxmlformats-officedocument.presentationml.tags+xml"/>
  <Override PartName="/ppt/tags/tag90.xml" ContentType="application/vnd.openxmlformats-officedocument.presentationml.tags+xml"/>
  <Override PartName="/ppt/notesSlides/notesSlide9.xml" ContentType="application/vnd.openxmlformats-officedocument.presentationml.notesSlide+xml"/>
  <Override PartName="/ppt/tags/tag147.xml" ContentType="application/vnd.openxmlformats-officedocument.presentationml.tags+xml"/>
  <Override PartName="/ppt/tags/tag194.xml" ContentType="application/vnd.openxmlformats-officedocument.presentationml.tags+xml"/>
  <Override PartName="/ppt/tags/tag32.xml" ContentType="application/vnd.openxmlformats-officedocument.presentationml.tags+xml"/>
  <Override PartName="/ppt/tags/tag136.xml" ContentType="application/vnd.openxmlformats-officedocument.presentationml.tags+xml"/>
  <Override PartName="/ppt/notesSlides/notesSlide10.xml" ContentType="application/vnd.openxmlformats-officedocument.presentationml.notesSlide+xml"/>
  <Override PartName="/ppt/tags/tag183.xml" ContentType="application/vnd.openxmlformats-officedocument.presentationml.tag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114.xml" ContentType="application/vnd.openxmlformats-officedocument.presentationml.tags+xml"/>
  <Override PartName="/ppt/tags/tag125.xml" ContentType="application/vnd.openxmlformats-officedocument.presentationml.tags+xml"/>
  <Override PartName="/ppt/tags/tag161.xml" ContentType="application/vnd.openxmlformats-officedocument.presentationml.tags+xml"/>
  <Override PartName="/ppt/tags/tag172.xml" ContentType="application/vnd.openxmlformats-officedocument.presentationml.tags+xml"/>
  <Override PartName="/ppt/tags/tag259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103.xml" ContentType="application/vnd.openxmlformats-officedocument.presentationml.tags+xml"/>
  <Override PartName="/ppt/tags/tag150.xml" ContentType="application/vnd.openxmlformats-officedocument.presentationml.tags+xml"/>
  <Override PartName="/ppt/tags/tag248.xml" ContentType="application/vnd.openxmlformats-officedocument.presentationml.tags+xml"/>
  <Override PartName="/ppt/tags/tag226.xml" ContentType="application/vnd.openxmlformats-officedocument.presentationml.tags+xml"/>
  <Override PartName="/ppt/tags/tag237.xml" ContentType="application/vnd.openxmlformats-officedocument.presentationml.tags+xml"/>
  <Override PartName="/ppt/tags/tag273.xml" ContentType="application/vnd.openxmlformats-officedocument.presentationml.tags+xml"/>
  <Default Extension="jpeg" ContentType="image/jpeg"/>
  <Override PartName="/ppt/tags/tag3.xml" ContentType="application/vnd.openxmlformats-officedocument.presentationml.tags+xml"/>
  <Override PartName="/ppt/tags/tag59.xml" ContentType="application/vnd.openxmlformats-officedocument.presentationml.tags+xml"/>
  <Override PartName="/ppt/tags/tag77.xml" ContentType="application/vnd.openxmlformats-officedocument.presentationml.tags+xml"/>
  <Override PartName="/ppt/tags/tag88.xml" ContentType="application/vnd.openxmlformats-officedocument.presentationml.tags+xml"/>
  <Override PartName="/ppt/tags/tag215.xml" ContentType="application/vnd.openxmlformats-officedocument.presentationml.tags+xml"/>
  <Override PartName="/ppt/tags/tag233.xml" ContentType="application/vnd.openxmlformats-officedocument.presentationml.tags+xml"/>
  <Override PartName="/ppt/tags/tag244.xml" ContentType="application/vnd.openxmlformats-officedocument.presentationml.tags+xml"/>
  <Override PartName="/ppt/tags/tag262.xml" ContentType="application/vnd.openxmlformats-officedocument.presentationml.tags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9.xml" ContentType="application/vnd.openxmlformats-officedocument.presentationml.tags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tags/tag66.xml" ContentType="application/vnd.openxmlformats-officedocument.presentationml.tags+xml"/>
  <Override PartName="/ppt/tags/tag84.xml" ContentType="application/vnd.openxmlformats-officedocument.presentationml.tags+xml"/>
  <Override PartName="/ppt/tags/tag95.xml" ContentType="application/vnd.openxmlformats-officedocument.presentationml.tags+xml"/>
  <Override PartName="/ppt/tags/tag188.xml" ContentType="application/vnd.openxmlformats-officedocument.presentationml.tags+xml"/>
  <Override PartName="/ppt/tags/tag199.xml" ContentType="application/vnd.openxmlformats-officedocument.presentationml.tags+xml"/>
  <Override PartName="/ppt/tags/tag204.xml" ContentType="application/vnd.openxmlformats-officedocument.presentationml.tags+xml"/>
  <Override PartName="/ppt/tags/tag222.xml" ContentType="application/vnd.openxmlformats-officedocument.presentationml.tags+xml"/>
  <Override PartName="/ppt/tags/tag251.xml" ContentType="application/vnd.openxmlformats-officedocument.presentationml.tags+xml"/>
  <Override PartName="/ppt/notesSlides/notesSlide15.xml" ContentType="application/vnd.openxmlformats-officedocument.presentationml.notesSlide+xml"/>
  <Override PartName="/ppt/slides/slide20.xml" ContentType="application/vnd.openxmlformats-officedocument.presentationml.slide+xml"/>
  <Override PartName="/ppt/tags/tag26.xml" ContentType="application/vnd.openxmlformats-officedocument.presentationml.tags+xml"/>
  <Override PartName="/ppt/tags/tag55.xml" ContentType="application/vnd.openxmlformats-officedocument.presentationml.tags+xml"/>
  <Override PartName="/ppt/tags/tag73.xml" ContentType="application/vnd.openxmlformats-officedocument.presentationml.tags+xml"/>
  <Override PartName="/ppt/tags/tag159.xml" ContentType="application/vnd.openxmlformats-officedocument.presentationml.tags+xml"/>
  <Override PartName="/ppt/tags/tag177.xml" ContentType="application/vnd.openxmlformats-officedocument.presentationml.tags+xml"/>
  <Override PartName="/ppt/tags/tag211.xml" ContentType="application/vnd.openxmlformats-officedocument.presentationml.tags+xml"/>
  <Override PartName="/ppt/tags/tag240.xml" ContentType="application/vnd.openxmlformats-officedocument.presentationml.tags+xml"/>
  <Override PartName="/ppt/tags/tag15.xml" ContentType="application/vnd.openxmlformats-officedocument.presentationml.tags+xml"/>
  <Override PartName="/ppt/tags/tag33.xml" ContentType="application/vnd.openxmlformats-officedocument.presentationml.tags+xml"/>
  <Override PartName="/ppt/tags/tag44.xml" ContentType="application/vnd.openxmlformats-officedocument.presentationml.tags+xml"/>
  <Override PartName="/ppt/tags/tag62.xml" ContentType="application/vnd.openxmlformats-officedocument.presentationml.tags+xml"/>
  <Override PartName="/ppt/tags/tag80.xml" ContentType="application/vnd.openxmlformats-officedocument.presentationml.tags+xml"/>
  <Override PartName="/ppt/tags/tag91.xml" ContentType="application/vnd.openxmlformats-officedocument.presentationml.tags+xml"/>
  <Override PartName="/ppt/tags/tag119.xml" ContentType="application/vnd.openxmlformats-officedocument.presentationml.tags+xml"/>
  <Override PartName="/ppt/tags/tag137.xml" ContentType="application/vnd.openxmlformats-officedocument.presentationml.tags+xml"/>
  <Override PartName="/ppt/tags/tag148.xml" ContentType="application/vnd.openxmlformats-officedocument.presentationml.tags+xml"/>
  <Override PartName="/ppt/tags/tag166.xml" ContentType="application/vnd.openxmlformats-officedocument.presentationml.tags+xml"/>
  <Override PartName="/ppt/tags/tag184.xml" ContentType="application/vnd.openxmlformats-officedocument.presentationml.tags+xml"/>
  <Override PartName="/ppt/tags/tag195.xml" ContentType="application/vnd.openxmlformats-officedocument.presentationml.tags+xml"/>
  <Override PartName="/ppt/tags/tag200.xml" ContentType="application/vnd.openxmlformats-officedocument.presentationml.tags+xml"/>
  <Override PartName="/ppt/notesSlides/notesSlide11.xml" ContentType="application/vnd.openxmlformats-officedocument.presentationml.notesSlide+xml"/>
  <Override PartName="/ppt/tags/tag22.xml" ContentType="application/vnd.openxmlformats-officedocument.presentationml.tags+xml"/>
  <Override PartName="/ppt/tags/tag40.xml" ContentType="application/vnd.openxmlformats-officedocument.presentationml.tags+xml"/>
  <Override PartName="/ppt/tags/tag51.xml" ContentType="application/vnd.openxmlformats-officedocument.presentationml.tags+xml"/>
  <Override PartName="/ppt/notesSlides/notesSlide6.xml" ContentType="application/vnd.openxmlformats-officedocument.presentationml.notesSlide+xml"/>
  <Override PartName="/ppt/tags/tag108.xml" ContentType="application/vnd.openxmlformats-officedocument.presentationml.tags+xml"/>
  <Override PartName="/ppt/tags/tag126.xml" ContentType="application/vnd.openxmlformats-officedocument.presentationml.tags+xml"/>
  <Override PartName="/ppt/tags/tag155.xml" ContentType="application/vnd.openxmlformats-officedocument.presentationml.tags+xml"/>
  <Override PartName="/ppt/tags/tag173.xml" ContentType="application/vnd.openxmlformats-officedocument.presentationml.tags+xml"/>
  <Override PartName="/ppt/slides/slide8.xml" ContentType="application/vnd.openxmlformats-officedocument.presentationml.slide+xml"/>
  <Override PartName="/ppt/tags/tag11.xml" ContentType="application/vnd.openxmlformats-officedocument.presentationml.tags+xml"/>
  <Override PartName="/ppt/tags/tag115.xml" ContentType="application/vnd.openxmlformats-officedocument.presentationml.tags+xml"/>
  <Override PartName="/ppt/tags/tag133.xml" ContentType="application/vnd.openxmlformats-officedocument.presentationml.tags+xml"/>
  <Override PartName="/ppt/tags/tag144.xml" ContentType="application/vnd.openxmlformats-officedocument.presentationml.tags+xml"/>
  <Override PartName="/ppt/tags/tag162.xml" ContentType="application/vnd.openxmlformats-officedocument.presentationml.tags+xml"/>
  <Override PartName="/ppt/tags/tag180.xml" ContentType="application/vnd.openxmlformats-officedocument.presentationml.tags+xml"/>
  <Override PartName="/ppt/tags/tag191.xml" ContentType="application/vnd.openxmlformats-officedocument.presentationml.tags+xml"/>
  <Override PartName="/ppt/tags/tag249.xml" ContentType="application/vnd.openxmlformats-officedocument.presentationml.tags+xml"/>
  <Override PartName="/ppt/tags/tag122.xml" ContentType="application/vnd.openxmlformats-officedocument.presentationml.tags+xml"/>
  <Override PartName="/ppt/tags/tag209.xml" ContentType="application/vnd.openxmlformats-officedocument.presentationml.tags+xml"/>
  <Override PartName="/ppt/tags/tag256.xml" ContentType="application/vnd.openxmlformats-officedocument.presentationml.tags+xml"/>
  <Override PartName="/ppt/tags/tag267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tags/tag89.xml" ContentType="application/vnd.openxmlformats-officedocument.presentationml.tags+xml"/>
  <Override PartName="/ppt/tags/tag111.xml" ContentType="application/vnd.openxmlformats-officedocument.presentationml.tags+xml"/>
  <Override PartName="/ppt/tags/tag245.xml" ContentType="application/vnd.openxmlformats-officedocument.presentationml.tags+xml"/>
  <Override PartName="/ppt/theme/theme1.xml" ContentType="application/vnd.openxmlformats-officedocument.theme+xml"/>
  <Override PartName="/ppt/tags/tag78.xml" ContentType="application/vnd.openxmlformats-officedocument.presentationml.tags+xml"/>
  <Override PartName="/ppt/tags/tag100.xml" ContentType="application/vnd.openxmlformats-officedocument.presentationml.tags+xml"/>
  <Override PartName="/ppt/tags/tag234.xml" ContentType="application/vnd.openxmlformats-officedocument.presentationml.tags+xml"/>
  <Default Extension="fntdata" ContentType="application/x-fontdata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tags/tag223.xml" ContentType="application/vnd.openxmlformats-officedocument.presentationml.tags+xml"/>
  <Override PartName="/ppt/tags/tag270.xml" ContentType="application/vnd.openxmlformats-officedocument.presentationml.tags+xml"/>
  <Override PartName="/ppt/slides/slide10.xml" ContentType="application/vnd.openxmlformats-officedocument.presentationml.slide+xml"/>
  <Override PartName="/ppt/tags/tag45.xml" ContentType="application/vnd.openxmlformats-officedocument.presentationml.tags+xml"/>
  <Override PartName="/ppt/tags/tag92.xml" ContentType="application/vnd.openxmlformats-officedocument.presentationml.tags+xml"/>
  <Override PartName="/ppt/tags/tag149.xml" ContentType="application/vnd.openxmlformats-officedocument.presentationml.tags+xml"/>
  <Override PartName="/ppt/tags/tag196.xml" ContentType="application/vnd.openxmlformats-officedocument.presentationml.tags+xml"/>
  <Override PartName="/ppt/tags/tag201.xml" ContentType="application/vnd.openxmlformats-officedocument.presentationml.tags+xml"/>
  <Override PartName="/ppt/tags/tag212.xml" ContentType="application/vnd.openxmlformats-officedocument.presentationml.tags+xml"/>
  <Override PartName="/ppt/tags/tag34.xml" ContentType="application/vnd.openxmlformats-officedocument.presentationml.tags+xml"/>
  <Override PartName="/ppt/tags/tag81.xml" ContentType="application/vnd.openxmlformats-officedocument.presentationml.tags+xml"/>
  <Override PartName="/ppt/tags/tag138.xml" ContentType="application/vnd.openxmlformats-officedocument.presentationml.tags+xml"/>
  <Override PartName="/ppt/tags/tag185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70.xml" ContentType="application/vnd.openxmlformats-officedocument.presentationml.tags+xml"/>
  <Override PartName="/ppt/tags/tag116.xml" ContentType="application/vnd.openxmlformats-officedocument.presentationml.tags+xml"/>
  <Override PartName="/ppt/tags/tag127.xml" ContentType="application/vnd.openxmlformats-officedocument.presentationml.tags+xml"/>
  <Override PartName="/ppt/tags/tag163.xml" ContentType="application/vnd.openxmlformats-officedocument.presentationml.tags+xml"/>
  <Override PartName="/ppt/tags/tag174.xml" ContentType="application/vnd.openxmlformats-officedocument.presentationml.tag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105.xml" ContentType="application/vnd.openxmlformats-officedocument.presentationml.tags+xml"/>
  <Override PartName="/ppt/tags/tag152.xml" ContentType="application/vnd.openxmlformats-officedocument.presentationml.tags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tags/tag141.xml" ContentType="application/vnd.openxmlformats-officedocument.presentationml.tags+xml"/>
  <Override PartName="/ppt/tags/tag228.xml" ContentType="application/vnd.openxmlformats-officedocument.presentationml.tags+xml"/>
  <Override PartName="/ppt/tags/tag239.xml" ContentType="application/vnd.openxmlformats-officedocument.presentationml.tags+xml"/>
  <Override PartName="/ppt/tags/tag275.xml" ContentType="application/vnd.openxmlformats-officedocument.presentationml.tags+xml"/>
  <Override PartName="/ppt/presProps.xml" ContentType="application/vnd.openxmlformats-officedocument.presentationml.presProps+xml"/>
  <Override PartName="/ppt/tags/tag130.xml" ContentType="application/vnd.openxmlformats-officedocument.presentationml.tags+xml"/>
  <Override PartName="/ppt/tags/tag217.xml" ContentType="application/vnd.openxmlformats-officedocument.presentationml.tags+xml"/>
  <Override PartName="/ppt/tags/tag264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9.xml" ContentType="application/vnd.openxmlformats-officedocument.presentationml.tags+xml"/>
  <Override PartName="/ppt/tags/tag86.xml" ContentType="application/vnd.openxmlformats-officedocument.presentationml.tags+xml"/>
  <Override PartName="/ppt/tags/tag97.xml" ContentType="application/vnd.openxmlformats-officedocument.presentationml.tags+xml"/>
  <Override PartName="/ppt/tags/tag206.xml" ContentType="application/vnd.openxmlformats-officedocument.presentationml.tags+xml"/>
  <Override PartName="/ppt/tags/tag253.xml" ContentType="application/vnd.openxmlformats-officedocument.presentationml.tags+xml"/>
  <Override PartName="/ppt/tags/tag1.xml" ContentType="application/vnd.openxmlformats-officedocument.presentationml.tags+xml"/>
  <Override PartName="/ppt/tags/tag28.xml" ContentType="application/vnd.openxmlformats-officedocument.presentationml.tags+xml"/>
  <Override PartName="/ppt/tags/tag75.xml" ContentType="application/vnd.openxmlformats-officedocument.presentationml.tags+xml"/>
  <Override PartName="/ppt/tags/tag179.xml" ContentType="application/vnd.openxmlformats-officedocument.presentationml.tags+xml"/>
  <Override PartName="/ppt/tags/tag231.xml" ContentType="application/vnd.openxmlformats-officedocument.presentationml.tags+xml"/>
  <Override PartName="/ppt/tags/tag242.xml" ContentType="application/vnd.openxmlformats-officedocument.presentationml.tags+xml"/>
  <Override PartName="/ppt/tags/tag17.xml" ContentType="application/vnd.openxmlformats-officedocument.presentationml.tags+xml"/>
  <Override PartName="/ppt/tags/tag64.xml" ContentType="application/vnd.openxmlformats-officedocument.presentationml.tags+xml"/>
  <Override PartName="/ppt/tags/tag168.xml" ContentType="application/vnd.openxmlformats-officedocument.presentationml.tags+xml"/>
  <Override PartName="/ppt/tags/tag220.xml" ContentType="application/vnd.openxmlformats-officedocument.presentationml.tags+xml"/>
  <Override PartName="/ppt/tags/tag53.xml" ContentType="application/vnd.openxmlformats-officedocument.presentationml.tags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tags/tag157.xml" ContentType="application/vnd.openxmlformats-officedocument.presentationml.tags+xml"/>
  <Override PartName="/ppt/tags/tag31.xml" ContentType="application/vnd.openxmlformats-officedocument.presentationml.tags+xml"/>
  <Override PartName="/ppt/tags/tag42.xml" ContentType="application/vnd.openxmlformats-officedocument.presentationml.tags+xml"/>
  <Override PartName="/ppt/tags/tag135.xml" ContentType="application/vnd.openxmlformats-officedocument.presentationml.tags+xml"/>
  <Override PartName="/ppt/tags/tag146.xml" ContentType="application/vnd.openxmlformats-officedocument.presentationml.tags+xml"/>
  <Override PartName="/ppt/tags/tag182.xml" ContentType="application/vnd.openxmlformats-officedocument.presentationml.tags+xml"/>
  <Override PartName="/ppt/tags/tag193.xml" ContentType="application/vnd.openxmlformats-officedocument.presentationml.tags+xml"/>
  <Override PartName="/ppt/handoutMasters/handoutMaster1.xml" ContentType="application/vnd.openxmlformats-officedocument.presentationml.handoutMaster+xml"/>
  <Override PartName="/ppt/tags/tag20.xml" ContentType="application/vnd.openxmlformats-officedocument.presentationml.tags+xml"/>
  <Override PartName="/ppt/tags/tag124.xml" ContentType="application/vnd.openxmlformats-officedocument.presentationml.tags+xml"/>
  <Override PartName="/ppt/tags/tag171.xml" ContentType="application/vnd.openxmlformats-officedocument.presentationml.tags+xml"/>
  <Override PartName="/ppt/tags/tag269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tags/tag113.xml" ContentType="application/vnd.openxmlformats-officedocument.presentationml.tags+xml"/>
  <Override PartName="/ppt/tags/tag160.xml" ContentType="application/vnd.openxmlformats-officedocument.presentationml.tags+xml"/>
  <Override PartName="/ppt/tags/tag247.xml" ContentType="application/vnd.openxmlformats-officedocument.presentationml.tags+xml"/>
  <Override PartName="/ppt/tags/tag258.xml" ContentType="application/vnd.openxmlformats-officedocument.presentationml.tags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tags/tag102.xml" ContentType="application/vnd.openxmlformats-officedocument.presentationml.tags+xml"/>
  <Override PartName="/ppt/tags/tag236.xml" ContentType="application/vnd.openxmlformats-officedocument.presentationml.tags+xml"/>
  <Override PartName="/ppt/tags/tag58.xml" ContentType="application/vnd.openxmlformats-officedocument.presentationml.tags+xml"/>
  <Override PartName="/ppt/tags/tag69.xml" ContentType="application/vnd.openxmlformats-officedocument.presentationml.tags+xml"/>
  <Override PartName="/ppt/tags/tag225.xml" ContentType="application/vnd.openxmlformats-officedocument.presentationml.tags+xml"/>
  <Override PartName="/ppt/tags/tag272.xml" ContentType="application/vnd.openxmlformats-officedocument.presentationml.tags+xml"/>
  <Default Extension="rels" ContentType="application/vnd.openxmlformats-package.relationships+xml"/>
  <Override PartName="/ppt/tags/tag47.xml" ContentType="application/vnd.openxmlformats-officedocument.presentationml.tags+xml"/>
  <Override PartName="/ppt/tags/tag94.xml" ContentType="application/vnd.openxmlformats-officedocument.presentationml.tags+xml"/>
  <Override PartName="/ppt/tags/tag198.xml" ContentType="application/vnd.openxmlformats-officedocument.presentationml.tags+xml"/>
  <Override PartName="/ppt/tags/tag203.xml" ContentType="application/vnd.openxmlformats-officedocument.presentationml.tags+xml"/>
  <Override PartName="/ppt/tags/tag214.xml" ContentType="application/vnd.openxmlformats-officedocument.presentationml.tags+xml"/>
  <Override PartName="/ppt/tags/tag250.xml" ContentType="application/vnd.openxmlformats-officedocument.presentationml.tags+xml"/>
  <Override PartName="/ppt/tags/tag261.xml" ContentType="application/vnd.openxmlformats-officedocument.presentationml.tags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36.xml" ContentType="application/vnd.openxmlformats-officedocument.presentationml.tags+xml"/>
  <Override PartName="/ppt/tags/tag83.xml" ContentType="application/vnd.openxmlformats-officedocument.presentationml.tags+xml"/>
  <Override PartName="/ppt/tags/tag187.xml" ContentType="application/vnd.openxmlformats-officedocument.presentationml.tags+xml"/>
  <Override PartName="/ppt/notesSlides/notesSlide14.xml" ContentType="application/vnd.openxmlformats-officedocument.presentationml.notesSlide+xml"/>
  <Override PartName="/ppt/commentAuthors.xml" ContentType="application/vnd.openxmlformats-officedocument.presentationml.commentAuthor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61.xml" ContentType="application/vnd.openxmlformats-officedocument.presentationml.tags+xml"/>
  <Override PartName="/ppt/tags/tag72.xml" ContentType="application/vnd.openxmlformats-officedocument.presentationml.tags+xml"/>
  <Override PartName="/ppt/tags/tag118.xml" ContentType="application/vnd.openxmlformats-officedocument.presentationml.tags+xml"/>
  <Override PartName="/ppt/tags/tag129.xml" ContentType="application/vnd.openxmlformats-officedocument.presentationml.tags+xml"/>
  <Override PartName="/ppt/tags/tag165.xml" ContentType="application/vnd.openxmlformats-officedocument.presentationml.tags+xml"/>
  <Override PartName="/ppt/tags/tag176.xml" ContentType="application/vnd.openxmlformats-officedocument.presentationml.tags+xml"/>
  <Override PartName="/ppt/tags/tag50.xml" ContentType="application/vnd.openxmlformats-officedocument.presentationml.tags+xml"/>
  <Override PartName="/ppt/tags/tag107.xml" ContentType="application/vnd.openxmlformats-officedocument.presentationml.tags+xml"/>
  <Override PartName="/ppt/tags/tag154.xml" ContentType="application/vnd.openxmlformats-officedocument.presentationml.tags+xml"/>
  <Override PartName="/ppt/notesSlides/notesSlide5.xml" ContentType="application/vnd.openxmlformats-officedocument.presentationml.notesSlide+xml"/>
  <Override PartName="/ppt/tags/tag143.xml" ContentType="application/vnd.openxmlformats-officedocument.presentationml.tags+xml"/>
  <Override PartName="/ppt/tags/tag190.xml" ContentType="application/vnd.openxmlformats-officedocument.presentationml.tags+xml"/>
  <Override PartName="/ppt/tags/tag277.xml" ContentType="application/vnd.openxmlformats-officedocument.presentationml.tags+xml"/>
  <Override PartName="/ppt/tags/tag132.xml" ContentType="application/vnd.openxmlformats-officedocument.presentationml.tags+xml"/>
  <Override PartName="/ppt/tags/tag219.xml" ContentType="application/vnd.openxmlformats-officedocument.presentationml.tags+xml"/>
  <Override PartName="/ppt/tags/tag266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tags/tag99.xml" ContentType="application/vnd.openxmlformats-officedocument.presentationml.tags+xml"/>
  <Override PartName="/ppt/tags/tag110.xml" ContentType="application/vnd.openxmlformats-officedocument.presentationml.tags+xml"/>
  <Override PartName="/ppt/tags/tag121.xml" ContentType="application/vnd.openxmlformats-officedocument.presentationml.tags+xml"/>
  <Override PartName="/ppt/tags/tag208.xml" ContentType="application/vnd.openxmlformats-officedocument.presentationml.tags+xml"/>
  <Override PartName="/ppt/tags/tag255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1" r:id="rId1"/>
  </p:sldMasterIdLst>
  <p:notesMasterIdLst>
    <p:notesMasterId r:id="rId22"/>
  </p:notesMasterIdLst>
  <p:handoutMasterIdLst>
    <p:handoutMasterId r:id="rId23"/>
  </p:handoutMasterIdLst>
  <p:sldIdLst>
    <p:sldId id="416" r:id="rId2"/>
    <p:sldId id="516" r:id="rId3"/>
    <p:sldId id="430" r:id="rId4"/>
    <p:sldId id="488" r:id="rId5"/>
    <p:sldId id="532" r:id="rId6"/>
    <p:sldId id="479" r:id="rId7"/>
    <p:sldId id="486" r:id="rId8"/>
    <p:sldId id="495" r:id="rId9"/>
    <p:sldId id="517" r:id="rId10"/>
    <p:sldId id="518" r:id="rId11"/>
    <p:sldId id="505" r:id="rId12"/>
    <p:sldId id="500" r:id="rId13"/>
    <p:sldId id="499" r:id="rId14"/>
    <p:sldId id="535" r:id="rId15"/>
    <p:sldId id="536" r:id="rId16"/>
    <p:sldId id="537" r:id="rId17"/>
    <p:sldId id="533" r:id="rId18"/>
    <p:sldId id="538" r:id="rId19"/>
    <p:sldId id="534" r:id="rId20"/>
    <p:sldId id="539" r:id="rId21"/>
  </p:sldIdLst>
  <p:sldSz cx="9144000" cy="6858000" type="screen4x3"/>
  <p:notesSz cx="6858000" cy="9144000"/>
  <p:embeddedFontLst>
    <p:embeddedFont>
      <p:font typeface="Georgia" pitchFamily="18" charset="0"/>
      <p:regular r:id="rId24"/>
      <p:bold r:id="rId25"/>
      <p:italic r:id="rId26"/>
      <p:boldItalic r:id="rId27"/>
    </p:embeddedFont>
    <p:embeddedFont>
      <p:font typeface="Arial Narrow" pitchFamily="34" charset="0"/>
      <p:regular r:id="rId28"/>
      <p:bold r:id="rId29"/>
      <p:italic r:id="rId30"/>
      <p:boldItalic r:id="rId31"/>
    </p:embeddedFont>
    <p:embeddedFont>
      <p:font typeface="Wingdings 2" pitchFamily="18" charset="2"/>
      <p:regular r:id="rId32"/>
    </p:embeddedFont>
  </p:embeddedFont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" lastIdx="1" clrIdx="0"/>
  <p:cmAuthor id="1" name="jpick" initials="" lastIdx="9" clrIdx="1"/>
  <p:cmAuthor id="2" name="Annie Chowdhry" initials="" lastIdx="4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clrMru>
    <a:srgbClr val="CC0000"/>
    <a:srgbClr val="333333"/>
    <a:srgbClr val="EEEFD7"/>
    <a:srgbClr val="D5D69C"/>
    <a:srgbClr val="DFE8F2"/>
    <a:srgbClr val="669900"/>
    <a:srgbClr val="666633"/>
    <a:srgbClr val="8DACD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0867" autoAdjust="0"/>
    <p:restoredTop sz="94660" autoAdjust="0"/>
  </p:normalViewPr>
  <p:slideViewPr>
    <p:cSldViewPr snapToGrid="0">
      <p:cViewPr>
        <p:scale>
          <a:sx n="66" d="100"/>
          <a:sy n="66" d="100"/>
        </p:scale>
        <p:origin x="-1176" y="-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0" y="-9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heme" Target="../theme/theme3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sz="quarter" idx="1"/>
            <p:custDataLst>
              <p:tags r:id="rId3"/>
            </p:custDataLst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2" name="Rectangle 4"/>
          <p:cNvSpPr>
            <a:spLocks noGrp="1" noChangeArrowheads="1"/>
          </p:cNvSpPr>
          <p:nvPr>
            <p:ph type="ftr" sz="quarter" idx="2"/>
            <p:custDataLst>
              <p:tags r:id="rId4"/>
            </p:custDataLst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3" name="Rectangle 5"/>
          <p:cNvSpPr>
            <a:spLocks noGrp="1" noChangeArrowheads="1"/>
          </p:cNvSpPr>
          <p:nvPr>
            <p:ph type="sldNum" sz="quarter" idx="3"/>
            <p:custDataLst>
              <p:tags r:id="rId5"/>
            </p:custDataLst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fld id="{BD6B0C50-F58F-4B76-906C-84BA165DE92D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theme" Target="../theme/theme2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  <p:custDataLst>
              <p:tags r:id="rId3"/>
            </p:custDataLst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  <p:custDataLst>
              <p:tags r:id="rId4"/>
            </p:custDataLst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  <p:custDataLst>
              <p:tags r:id="rId5"/>
            </p:custDataLst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  <p:custDataLst>
              <p:tags r:id="rId6"/>
            </p:custDataLst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fld id="{E3D45244-D2CB-4BCC-B65A-2B930774A75E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4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5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6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3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2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3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7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2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4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5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6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D5D21CB4-617D-4E52-89B2-6EDF487DCE24}" type="slidenum">
              <a:rPr lang="en-US"/>
              <a:pPr/>
              <a:t>1</a:t>
            </a:fld>
            <a:endParaRPr lang="en-US"/>
          </a:p>
        </p:txBody>
      </p:sp>
      <p:sp>
        <p:nvSpPr>
          <p:cNvPr id="452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6E8AD4B8-D348-4B3F-8BA9-8CE28E8FCB3E}" type="slidenum">
              <a:rPr lang="en-US"/>
              <a:pPr/>
              <a:t>2</a:t>
            </a:fld>
            <a:endParaRPr lang="en-US"/>
          </a:p>
        </p:txBody>
      </p:sp>
      <p:sp>
        <p:nvSpPr>
          <p:cNvPr id="453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DDD1F61B-9FD8-4D73-AC2C-29417AE6285E}" type="slidenum">
              <a:rPr lang="en-US"/>
              <a:pPr/>
              <a:t>3</a:t>
            </a:fld>
            <a:endParaRPr lang="en-US"/>
          </a:p>
        </p:txBody>
      </p:sp>
      <p:sp>
        <p:nvSpPr>
          <p:cNvPr id="455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5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D9263CA-136A-4962-8D6C-B9FDDD2C87B5}" type="slidenum">
              <a:rPr lang="en-US"/>
              <a:pPr/>
              <a:t>4</a:t>
            </a:fld>
            <a:endParaRPr lang="en-US"/>
          </a:p>
        </p:txBody>
      </p:sp>
      <p:sp>
        <p:nvSpPr>
          <p:cNvPr id="456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6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6E8AD4B8-D348-4B3F-8BA9-8CE28E8FCB3E}" type="slidenum">
              <a:rPr lang="en-US"/>
              <a:pPr/>
              <a:t>5</a:t>
            </a:fld>
            <a:endParaRPr lang="en-US"/>
          </a:p>
        </p:txBody>
      </p:sp>
      <p:sp>
        <p:nvSpPr>
          <p:cNvPr id="453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784271C2-D8E8-4A21-9149-75EDAECFAA45}" type="slidenum">
              <a:rPr lang="en-US"/>
              <a:pPr/>
              <a:t>6</a:t>
            </a:fld>
            <a:endParaRPr lang="en-US"/>
          </a:p>
        </p:txBody>
      </p:sp>
      <p:sp>
        <p:nvSpPr>
          <p:cNvPr id="45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48FDB1D9-BF4E-470A-99CD-325C589BFFC2}" type="slidenum">
              <a:rPr lang="en-US"/>
              <a:pPr/>
              <a:t>7</a:t>
            </a:fld>
            <a:endParaRPr lang="en-US"/>
          </a:p>
        </p:txBody>
      </p:sp>
      <p:sp>
        <p:nvSpPr>
          <p:cNvPr id="459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D9F0B375-385D-4437-8E71-2180D3B0F1F3}" type="slidenum">
              <a:rPr lang="en-US"/>
              <a:pPr/>
              <a:t>8</a:t>
            </a:fld>
            <a:endParaRPr lang="en-US"/>
          </a:p>
        </p:txBody>
      </p:sp>
      <p:sp>
        <p:nvSpPr>
          <p:cNvPr id="466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E109C9BF-555B-4332-AF8B-1598EF56802F}" type="slidenum">
              <a:rPr lang="en-US"/>
              <a:pPr/>
              <a:t>9</a:t>
            </a:fld>
            <a:endParaRPr lang="en-US"/>
          </a:p>
        </p:txBody>
      </p:sp>
      <p:sp>
        <p:nvSpPr>
          <p:cNvPr id="468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4AB0B073-6021-4DAE-A841-5A9A603998D3}" type="slidenum">
              <a:rPr lang="en-US"/>
              <a:pPr/>
              <a:t>10</a:t>
            </a:fld>
            <a:endParaRPr lang="en-US"/>
          </a:p>
        </p:txBody>
      </p:sp>
      <p:sp>
        <p:nvSpPr>
          <p:cNvPr id="471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119A290E-0FC2-4946-8CD0-B736681628A8}" type="slidenum">
              <a:rPr lang="en-US"/>
              <a:pPr/>
              <a:t>11</a:t>
            </a:fld>
            <a:endParaRPr lang="en-US"/>
          </a:p>
        </p:txBody>
      </p:sp>
      <p:sp>
        <p:nvSpPr>
          <p:cNvPr id="475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794E245C-8786-4086-AA2B-AC289308CEE6}" type="slidenum">
              <a:rPr lang="en-US"/>
              <a:pPr/>
              <a:t>12</a:t>
            </a:fld>
            <a:endParaRPr lang="en-US"/>
          </a:p>
        </p:txBody>
      </p:sp>
      <p:sp>
        <p:nvSpPr>
          <p:cNvPr id="477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7A423AED-399A-497C-B22B-1D583DA86706}" type="slidenum">
              <a:rPr lang="en-US"/>
              <a:pPr/>
              <a:t>13</a:t>
            </a:fld>
            <a:endParaRPr lang="en-US"/>
          </a:p>
        </p:txBody>
      </p:sp>
      <p:sp>
        <p:nvSpPr>
          <p:cNvPr id="479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9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A5B8796E-655D-4BBD-8F8F-E1258757E59F}" type="slidenum">
              <a:rPr lang="en-US"/>
              <a:pPr/>
              <a:t>14</a:t>
            </a:fld>
            <a:endParaRPr lang="en-US"/>
          </a:p>
        </p:txBody>
      </p:sp>
      <p:sp>
        <p:nvSpPr>
          <p:cNvPr id="48230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BC5720F-1B56-428E-BABD-135F6C09F514}" type="slidenum">
              <a:rPr lang="en-US"/>
              <a:pPr/>
              <a:t>15</a:t>
            </a:fld>
            <a:endParaRPr lang="en-US"/>
          </a:p>
        </p:txBody>
      </p:sp>
      <p:sp>
        <p:nvSpPr>
          <p:cNvPr id="4833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24746A9E-9682-4D53-A563-B68EC078A5B0}" type="slidenum">
              <a:rPr lang="en-US"/>
              <a:pPr/>
              <a:t>16</a:t>
            </a:fld>
            <a:endParaRPr lang="en-US"/>
          </a:p>
        </p:txBody>
      </p:sp>
      <p:sp>
        <p:nvSpPr>
          <p:cNvPr id="4843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3/9/2015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3/9/2015</a:t>
            </a:fld>
            <a:endParaRPr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3/9/2015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3/9/2015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3/9/2015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3/9/2015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3/9/2015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3/9/2015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3/9/2015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D21D778-B565-4D7E-94D7-64010A445B68}" type="datetimeFigureOut">
              <a:rPr lang="en-US" smtClean="0"/>
              <a:pPr algn="r" eaLnBrk="1" latinLnBrk="0" hangingPunct="1"/>
              <a:t>3/9/2015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image" Target="../media/image4.png"/><Relationship Id="rId3" Type="http://schemas.openxmlformats.org/officeDocument/2006/relationships/tags" Target="../tags/tag14.xml"/><Relationship Id="rId21" Type="http://schemas.openxmlformats.org/officeDocument/2006/relationships/tags" Target="../tags/tag32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image" Target="../media/image3.png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tags" Target="../tags/tag31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notesSlide" Target="../notesSlides/notesSlide3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slideLayout" Target="../slideLayouts/slideLayout2.xml"/><Relationship Id="rId28" Type="http://schemas.openxmlformats.org/officeDocument/2006/relationships/image" Target="../media/image6.png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tags" Target="../tags/tag33.xml"/><Relationship Id="rId27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notesSlide" Target="../notesSlides/notesSlide6.xml"/><Relationship Id="rId3" Type="http://schemas.openxmlformats.org/officeDocument/2006/relationships/tags" Target="../tags/tag39.xml"/><Relationship Id="rId21" Type="http://schemas.openxmlformats.org/officeDocument/2006/relationships/image" Target="../media/image10.png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slideLayout" Target="../slideLayouts/slideLayout2.xml"/><Relationship Id="rId25" Type="http://schemas.openxmlformats.org/officeDocument/2006/relationships/image" Target="../media/image14.png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image" Target="../media/image9.png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24" Type="http://schemas.openxmlformats.org/officeDocument/2006/relationships/image" Target="../media/image13.png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23" Type="http://schemas.openxmlformats.org/officeDocument/2006/relationships/image" Target="../media/image12.png"/><Relationship Id="rId10" Type="http://schemas.openxmlformats.org/officeDocument/2006/relationships/tags" Target="../tags/tag46.xml"/><Relationship Id="rId19" Type="http://schemas.openxmlformats.org/officeDocument/2006/relationships/image" Target="../media/image8.png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Relationship Id="rId22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66.xml"/><Relationship Id="rId18" Type="http://schemas.openxmlformats.org/officeDocument/2006/relationships/tags" Target="../tags/tag71.xml"/><Relationship Id="rId26" Type="http://schemas.openxmlformats.org/officeDocument/2006/relationships/tags" Target="../tags/tag79.xml"/><Relationship Id="rId39" Type="http://schemas.openxmlformats.org/officeDocument/2006/relationships/tags" Target="../tags/tag92.xml"/><Relationship Id="rId21" Type="http://schemas.openxmlformats.org/officeDocument/2006/relationships/tags" Target="../tags/tag74.xml"/><Relationship Id="rId34" Type="http://schemas.openxmlformats.org/officeDocument/2006/relationships/tags" Target="../tags/tag87.xml"/><Relationship Id="rId42" Type="http://schemas.openxmlformats.org/officeDocument/2006/relationships/tags" Target="../tags/tag95.xml"/><Relationship Id="rId47" Type="http://schemas.openxmlformats.org/officeDocument/2006/relationships/tags" Target="../tags/tag100.xml"/><Relationship Id="rId50" Type="http://schemas.openxmlformats.org/officeDocument/2006/relationships/tags" Target="../tags/tag103.xml"/><Relationship Id="rId55" Type="http://schemas.openxmlformats.org/officeDocument/2006/relationships/tags" Target="../tags/tag108.xml"/><Relationship Id="rId63" Type="http://schemas.openxmlformats.org/officeDocument/2006/relationships/image" Target="../media/image18.png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20" Type="http://schemas.openxmlformats.org/officeDocument/2006/relationships/tags" Target="../tags/tag73.xml"/><Relationship Id="rId29" Type="http://schemas.openxmlformats.org/officeDocument/2006/relationships/tags" Target="../tags/tag82.xml"/><Relationship Id="rId41" Type="http://schemas.openxmlformats.org/officeDocument/2006/relationships/tags" Target="../tags/tag94.xml"/><Relationship Id="rId54" Type="http://schemas.openxmlformats.org/officeDocument/2006/relationships/tags" Target="../tags/tag107.xml"/><Relationship Id="rId62" Type="http://schemas.openxmlformats.org/officeDocument/2006/relationships/image" Target="../media/image17.png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24" Type="http://schemas.openxmlformats.org/officeDocument/2006/relationships/tags" Target="../tags/tag77.xml"/><Relationship Id="rId32" Type="http://schemas.openxmlformats.org/officeDocument/2006/relationships/tags" Target="../tags/tag85.xml"/><Relationship Id="rId37" Type="http://schemas.openxmlformats.org/officeDocument/2006/relationships/tags" Target="../tags/tag90.xml"/><Relationship Id="rId40" Type="http://schemas.openxmlformats.org/officeDocument/2006/relationships/tags" Target="../tags/tag93.xml"/><Relationship Id="rId45" Type="http://schemas.openxmlformats.org/officeDocument/2006/relationships/tags" Target="../tags/tag98.xml"/><Relationship Id="rId53" Type="http://schemas.openxmlformats.org/officeDocument/2006/relationships/tags" Target="../tags/tag106.xml"/><Relationship Id="rId58" Type="http://schemas.openxmlformats.org/officeDocument/2006/relationships/slideLayout" Target="../slideLayouts/slideLayout2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23" Type="http://schemas.openxmlformats.org/officeDocument/2006/relationships/tags" Target="../tags/tag76.xml"/><Relationship Id="rId28" Type="http://schemas.openxmlformats.org/officeDocument/2006/relationships/tags" Target="../tags/tag81.xml"/><Relationship Id="rId36" Type="http://schemas.openxmlformats.org/officeDocument/2006/relationships/tags" Target="../tags/tag89.xml"/><Relationship Id="rId49" Type="http://schemas.openxmlformats.org/officeDocument/2006/relationships/tags" Target="../tags/tag102.xml"/><Relationship Id="rId57" Type="http://schemas.openxmlformats.org/officeDocument/2006/relationships/tags" Target="../tags/tag110.xml"/><Relationship Id="rId61" Type="http://schemas.openxmlformats.org/officeDocument/2006/relationships/image" Target="../media/image16.png"/><Relationship Id="rId10" Type="http://schemas.openxmlformats.org/officeDocument/2006/relationships/tags" Target="../tags/tag63.xml"/><Relationship Id="rId19" Type="http://schemas.openxmlformats.org/officeDocument/2006/relationships/tags" Target="../tags/tag72.xml"/><Relationship Id="rId31" Type="http://schemas.openxmlformats.org/officeDocument/2006/relationships/tags" Target="../tags/tag84.xml"/><Relationship Id="rId44" Type="http://schemas.openxmlformats.org/officeDocument/2006/relationships/tags" Target="../tags/tag97.xml"/><Relationship Id="rId52" Type="http://schemas.openxmlformats.org/officeDocument/2006/relationships/tags" Target="../tags/tag105.xml"/><Relationship Id="rId60" Type="http://schemas.openxmlformats.org/officeDocument/2006/relationships/image" Target="../media/image15.png"/><Relationship Id="rId65" Type="http://schemas.openxmlformats.org/officeDocument/2006/relationships/image" Target="../media/image20.png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Relationship Id="rId22" Type="http://schemas.openxmlformats.org/officeDocument/2006/relationships/tags" Target="../tags/tag75.xml"/><Relationship Id="rId27" Type="http://schemas.openxmlformats.org/officeDocument/2006/relationships/tags" Target="../tags/tag80.xml"/><Relationship Id="rId30" Type="http://schemas.openxmlformats.org/officeDocument/2006/relationships/tags" Target="../tags/tag83.xml"/><Relationship Id="rId35" Type="http://schemas.openxmlformats.org/officeDocument/2006/relationships/tags" Target="../tags/tag88.xml"/><Relationship Id="rId43" Type="http://schemas.openxmlformats.org/officeDocument/2006/relationships/tags" Target="../tags/tag96.xml"/><Relationship Id="rId48" Type="http://schemas.openxmlformats.org/officeDocument/2006/relationships/tags" Target="../tags/tag101.xml"/><Relationship Id="rId56" Type="http://schemas.openxmlformats.org/officeDocument/2006/relationships/tags" Target="../tags/tag109.xml"/><Relationship Id="rId64" Type="http://schemas.openxmlformats.org/officeDocument/2006/relationships/image" Target="../media/image19.png"/><Relationship Id="rId8" Type="http://schemas.openxmlformats.org/officeDocument/2006/relationships/tags" Target="../tags/tag61.xml"/><Relationship Id="rId51" Type="http://schemas.openxmlformats.org/officeDocument/2006/relationships/tags" Target="../tags/tag104.xml"/><Relationship Id="rId3" Type="http://schemas.openxmlformats.org/officeDocument/2006/relationships/tags" Target="../tags/tag56.xml"/><Relationship Id="rId12" Type="http://schemas.openxmlformats.org/officeDocument/2006/relationships/tags" Target="../tags/tag65.xml"/><Relationship Id="rId17" Type="http://schemas.openxmlformats.org/officeDocument/2006/relationships/tags" Target="../tags/tag70.xml"/><Relationship Id="rId25" Type="http://schemas.openxmlformats.org/officeDocument/2006/relationships/tags" Target="../tags/tag78.xml"/><Relationship Id="rId33" Type="http://schemas.openxmlformats.org/officeDocument/2006/relationships/tags" Target="../tags/tag86.xml"/><Relationship Id="rId38" Type="http://schemas.openxmlformats.org/officeDocument/2006/relationships/tags" Target="../tags/tag91.xml"/><Relationship Id="rId46" Type="http://schemas.openxmlformats.org/officeDocument/2006/relationships/tags" Target="../tags/tag99.xml"/><Relationship Id="rId5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tags" Target="../tags/tag125.xml"/><Relationship Id="rId18" Type="http://schemas.openxmlformats.org/officeDocument/2006/relationships/tags" Target="../tags/tag130.xml"/><Relationship Id="rId26" Type="http://schemas.openxmlformats.org/officeDocument/2006/relationships/tags" Target="../tags/tag138.xml"/><Relationship Id="rId3" Type="http://schemas.openxmlformats.org/officeDocument/2006/relationships/tags" Target="../tags/tag115.xml"/><Relationship Id="rId21" Type="http://schemas.openxmlformats.org/officeDocument/2006/relationships/tags" Target="../tags/tag133.xml"/><Relationship Id="rId34" Type="http://schemas.openxmlformats.org/officeDocument/2006/relationships/image" Target="../media/image25.png"/><Relationship Id="rId7" Type="http://schemas.openxmlformats.org/officeDocument/2006/relationships/tags" Target="../tags/tag119.xml"/><Relationship Id="rId12" Type="http://schemas.openxmlformats.org/officeDocument/2006/relationships/tags" Target="../tags/tag124.xml"/><Relationship Id="rId17" Type="http://schemas.openxmlformats.org/officeDocument/2006/relationships/tags" Target="../tags/tag129.xml"/><Relationship Id="rId25" Type="http://schemas.openxmlformats.org/officeDocument/2006/relationships/tags" Target="../tags/tag137.xml"/><Relationship Id="rId33" Type="http://schemas.openxmlformats.org/officeDocument/2006/relationships/image" Target="../media/image24.png"/><Relationship Id="rId2" Type="http://schemas.openxmlformats.org/officeDocument/2006/relationships/tags" Target="../tags/tag114.xml"/><Relationship Id="rId16" Type="http://schemas.openxmlformats.org/officeDocument/2006/relationships/tags" Target="../tags/tag128.xml"/><Relationship Id="rId20" Type="http://schemas.openxmlformats.org/officeDocument/2006/relationships/tags" Target="../tags/tag132.xml"/><Relationship Id="rId29" Type="http://schemas.openxmlformats.org/officeDocument/2006/relationships/slideLayout" Target="../slideLayouts/slideLayout2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tags" Target="../tags/tag123.xml"/><Relationship Id="rId24" Type="http://schemas.openxmlformats.org/officeDocument/2006/relationships/tags" Target="../tags/tag136.xml"/><Relationship Id="rId32" Type="http://schemas.openxmlformats.org/officeDocument/2006/relationships/image" Target="../media/image23.png"/><Relationship Id="rId5" Type="http://schemas.openxmlformats.org/officeDocument/2006/relationships/tags" Target="../tags/tag117.xml"/><Relationship Id="rId15" Type="http://schemas.openxmlformats.org/officeDocument/2006/relationships/tags" Target="../tags/tag127.xml"/><Relationship Id="rId23" Type="http://schemas.openxmlformats.org/officeDocument/2006/relationships/tags" Target="../tags/tag135.xml"/><Relationship Id="rId28" Type="http://schemas.openxmlformats.org/officeDocument/2006/relationships/tags" Target="../tags/tag140.xml"/><Relationship Id="rId10" Type="http://schemas.openxmlformats.org/officeDocument/2006/relationships/tags" Target="../tags/tag122.xml"/><Relationship Id="rId19" Type="http://schemas.openxmlformats.org/officeDocument/2006/relationships/tags" Target="../tags/tag131.xml"/><Relationship Id="rId31" Type="http://schemas.openxmlformats.org/officeDocument/2006/relationships/image" Target="../media/image22.png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tags" Target="../tags/tag126.xml"/><Relationship Id="rId22" Type="http://schemas.openxmlformats.org/officeDocument/2006/relationships/tags" Target="../tags/tag134.xml"/><Relationship Id="rId27" Type="http://schemas.openxmlformats.org/officeDocument/2006/relationships/tags" Target="../tags/tag139.xml"/><Relationship Id="rId30" Type="http://schemas.openxmlformats.org/officeDocument/2006/relationships/notesSlide" Target="../notesSlides/notesSlide9.xml"/><Relationship Id="rId35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49.xml"/><Relationship Id="rId13" Type="http://schemas.openxmlformats.org/officeDocument/2006/relationships/tags" Target="../tags/tag154.xml"/><Relationship Id="rId18" Type="http://schemas.openxmlformats.org/officeDocument/2006/relationships/tags" Target="../tags/tag159.xml"/><Relationship Id="rId26" Type="http://schemas.openxmlformats.org/officeDocument/2006/relationships/image" Target="../media/image29.png"/><Relationship Id="rId3" Type="http://schemas.openxmlformats.org/officeDocument/2006/relationships/tags" Target="../tags/tag144.xml"/><Relationship Id="rId21" Type="http://schemas.openxmlformats.org/officeDocument/2006/relationships/tags" Target="../tags/tag162.xml"/><Relationship Id="rId7" Type="http://schemas.openxmlformats.org/officeDocument/2006/relationships/tags" Target="../tags/tag148.xml"/><Relationship Id="rId12" Type="http://schemas.openxmlformats.org/officeDocument/2006/relationships/tags" Target="../tags/tag153.xml"/><Relationship Id="rId17" Type="http://schemas.openxmlformats.org/officeDocument/2006/relationships/tags" Target="../tags/tag158.xml"/><Relationship Id="rId25" Type="http://schemas.openxmlformats.org/officeDocument/2006/relationships/image" Target="../media/image28.png"/><Relationship Id="rId2" Type="http://schemas.openxmlformats.org/officeDocument/2006/relationships/tags" Target="../tags/tag143.xml"/><Relationship Id="rId16" Type="http://schemas.openxmlformats.org/officeDocument/2006/relationships/tags" Target="../tags/tag157.xml"/><Relationship Id="rId20" Type="http://schemas.openxmlformats.org/officeDocument/2006/relationships/tags" Target="../tags/tag161.xml"/><Relationship Id="rId1" Type="http://schemas.openxmlformats.org/officeDocument/2006/relationships/tags" Target="../tags/tag142.xml"/><Relationship Id="rId6" Type="http://schemas.openxmlformats.org/officeDocument/2006/relationships/tags" Target="../tags/tag147.xml"/><Relationship Id="rId11" Type="http://schemas.openxmlformats.org/officeDocument/2006/relationships/tags" Target="../tags/tag152.xml"/><Relationship Id="rId24" Type="http://schemas.openxmlformats.org/officeDocument/2006/relationships/image" Target="../media/image27.png"/><Relationship Id="rId5" Type="http://schemas.openxmlformats.org/officeDocument/2006/relationships/tags" Target="../tags/tag146.xml"/><Relationship Id="rId15" Type="http://schemas.openxmlformats.org/officeDocument/2006/relationships/tags" Target="../tags/tag156.xml"/><Relationship Id="rId23" Type="http://schemas.openxmlformats.org/officeDocument/2006/relationships/notesSlide" Target="../notesSlides/notesSlide10.xml"/><Relationship Id="rId10" Type="http://schemas.openxmlformats.org/officeDocument/2006/relationships/tags" Target="../tags/tag151.xml"/><Relationship Id="rId19" Type="http://schemas.openxmlformats.org/officeDocument/2006/relationships/tags" Target="../tags/tag160.xml"/><Relationship Id="rId4" Type="http://schemas.openxmlformats.org/officeDocument/2006/relationships/tags" Target="../tags/tag145.xml"/><Relationship Id="rId9" Type="http://schemas.openxmlformats.org/officeDocument/2006/relationships/tags" Target="../tags/tag150.xml"/><Relationship Id="rId14" Type="http://schemas.openxmlformats.org/officeDocument/2006/relationships/tags" Target="../tags/tag155.xml"/><Relationship Id="rId22" Type="http://schemas.openxmlformats.org/officeDocument/2006/relationships/slideLayout" Target="../slideLayouts/slideLayout2.xml"/><Relationship Id="rId27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176.xml"/><Relationship Id="rId18" Type="http://schemas.openxmlformats.org/officeDocument/2006/relationships/tags" Target="../tags/tag181.xml"/><Relationship Id="rId26" Type="http://schemas.openxmlformats.org/officeDocument/2006/relationships/tags" Target="../tags/tag189.xml"/><Relationship Id="rId39" Type="http://schemas.openxmlformats.org/officeDocument/2006/relationships/tags" Target="../tags/tag202.xml"/><Relationship Id="rId21" Type="http://schemas.openxmlformats.org/officeDocument/2006/relationships/tags" Target="../tags/tag184.xml"/><Relationship Id="rId34" Type="http://schemas.openxmlformats.org/officeDocument/2006/relationships/tags" Target="../tags/tag197.xml"/><Relationship Id="rId42" Type="http://schemas.openxmlformats.org/officeDocument/2006/relationships/tags" Target="../tags/tag205.xml"/><Relationship Id="rId47" Type="http://schemas.openxmlformats.org/officeDocument/2006/relationships/image" Target="../media/image31.png"/><Relationship Id="rId50" Type="http://schemas.openxmlformats.org/officeDocument/2006/relationships/image" Target="../media/image34.png"/><Relationship Id="rId55" Type="http://schemas.openxmlformats.org/officeDocument/2006/relationships/image" Target="../media/image39.png"/><Relationship Id="rId7" Type="http://schemas.openxmlformats.org/officeDocument/2006/relationships/tags" Target="../tags/tag170.xml"/><Relationship Id="rId12" Type="http://schemas.openxmlformats.org/officeDocument/2006/relationships/tags" Target="../tags/tag175.xml"/><Relationship Id="rId17" Type="http://schemas.openxmlformats.org/officeDocument/2006/relationships/tags" Target="../tags/tag180.xml"/><Relationship Id="rId25" Type="http://schemas.openxmlformats.org/officeDocument/2006/relationships/tags" Target="../tags/tag188.xml"/><Relationship Id="rId33" Type="http://schemas.openxmlformats.org/officeDocument/2006/relationships/tags" Target="../tags/tag196.xml"/><Relationship Id="rId38" Type="http://schemas.openxmlformats.org/officeDocument/2006/relationships/tags" Target="../tags/tag201.xml"/><Relationship Id="rId46" Type="http://schemas.openxmlformats.org/officeDocument/2006/relationships/image" Target="../media/image7.png"/><Relationship Id="rId2" Type="http://schemas.openxmlformats.org/officeDocument/2006/relationships/tags" Target="../tags/tag165.xml"/><Relationship Id="rId16" Type="http://schemas.openxmlformats.org/officeDocument/2006/relationships/tags" Target="../tags/tag179.xml"/><Relationship Id="rId20" Type="http://schemas.openxmlformats.org/officeDocument/2006/relationships/tags" Target="../tags/tag183.xml"/><Relationship Id="rId29" Type="http://schemas.openxmlformats.org/officeDocument/2006/relationships/tags" Target="../tags/tag192.xml"/><Relationship Id="rId41" Type="http://schemas.openxmlformats.org/officeDocument/2006/relationships/tags" Target="../tags/tag204.xml"/><Relationship Id="rId54" Type="http://schemas.openxmlformats.org/officeDocument/2006/relationships/image" Target="../media/image38.png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tags" Target="../tags/tag174.xml"/><Relationship Id="rId24" Type="http://schemas.openxmlformats.org/officeDocument/2006/relationships/tags" Target="../tags/tag187.xml"/><Relationship Id="rId32" Type="http://schemas.openxmlformats.org/officeDocument/2006/relationships/tags" Target="../tags/tag195.xml"/><Relationship Id="rId37" Type="http://schemas.openxmlformats.org/officeDocument/2006/relationships/tags" Target="../tags/tag200.xml"/><Relationship Id="rId40" Type="http://schemas.openxmlformats.org/officeDocument/2006/relationships/tags" Target="../tags/tag203.xml"/><Relationship Id="rId45" Type="http://schemas.openxmlformats.org/officeDocument/2006/relationships/notesSlide" Target="../notesSlides/notesSlide11.xml"/><Relationship Id="rId53" Type="http://schemas.openxmlformats.org/officeDocument/2006/relationships/image" Target="../media/image37.png"/><Relationship Id="rId5" Type="http://schemas.openxmlformats.org/officeDocument/2006/relationships/tags" Target="../tags/tag168.xml"/><Relationship Id="rId15" Type="http://schemas.openxmlformats.org/officeDocument/2006/relationships/tags" Target="../tags/tag178.xml"/><Relationship Id="rId23" Type="http://schemas.openxmlformats.org/officeDocument/2006/relationships/tags" Target="../tags/tag186.xml"/><Relationship Id="rId28" Type="http://schemas.openxmlformats.org/officeDocument/2006/relationships/tags" Target="../tags/tag191.xml"/><Relationship Id="rId36" Type="http://schemas.openxmlformats.org/officeDocument/2006/relationships/tags" Target="../tags/tag199.xml"/><Relationship Id="rId49" Type="http://schemas.openxmlformats.org/officeDocument/2006/relationships/image" Target="../media/image33.png"/><Relationship Id="rId10" Type="http://schemas.openxmlformats.org/officeDocument/2006/relationships/tags" Target="../tags/tag173.xml"/><Relationship Id="rId19" Type="http://schemas.openxmlformats.org/officeDocument/2006/relationships/tags" Target="../tags/tag182.xml"/><Relationship Id="rId31" Type="http://schemas.openxmlformats.org/officeDocument/2006/relationships/tags" Target="../tags/tag194.xml"/><Relationship Id="rId44" Type="http://schemas.openxmlformats.org/officeDocument/2006/relationships/slideLayout" Target="../slideLayouts/slideLayout2.xml"/><Relationship Id="rId52" Type="http://schemas.openxmlformats.org/officeDocument/2006/relationships/image" Target="../media/image36.png"/><Relationship Id="rId4" Type="http://schemas.openxmlformats.org/officeDocument/2006/relationships/tags" Target="../tags/tag167.xml"/><Relationship Id="rId9" Type="http://schemas.openxmlformats.org/officeDocument/2006/relationships/tags" Target="../tags/tag172.xml"/><Relationship Id="rId14" Type="http://schemas.openxmlformats.org/officeDocument/2006/relationships/tags" Target="../tags/tag177.xml"/><Relationship Id="rId22" Type="http://schemas.openxmlformats.org/officeDocument/2006/relationships/tags" Target="../tags/tag185.xml"/><Relationship Id="rId27" Type="http://schemas.openxmlformats.org/officeDocument/2006/relationships/tags" Target="../tags/tag190.xml"/><Relationship Id="rId30" Type="http://schemas.openxmlformats.org/officeDocument/2006/relationships/tags" Target="../tags/tag193.xml"/><Relationship Id="rId35" Type="http://schemas.openxmlformats.org/officeDocument/2006/relationships/tags" Target="../tags/tag198.xml"/><Relationship Id="rId43" Type="http://schemas.openxmlformats.org/officeDocument/2006/relationships/tags" Target="../tags/tag206.xml"/><Relationship Id="rId48" Type="http://schemas.openxmlformats.org/officeDocument/2006/relationships/image" Target="../media/image32.png"/><Relationship Id="rId8" Type="http://schemas.openxmlformats.org/officeDocument/2006/relationships/tags" Target="../tags/tag171.xml"/><Relationship Id="rId51" Type="http://schemas.openxmlformats.org/officeDocument/2006/relationships/image" Target="../media/image35.png"/><Relationship Id="rId3" Type="http://schemas.openxmlformats.org/officeDocument/2006/relationships/tags" Target="../tags/tag16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15.xml"/><Relationship Id="rId13" Type="http://schemas.openxmlformats.org/officeDocument/2006/relationships/tags" Target="../tags/tag220.xml"/><Relationship Id="rId18" Type="http://schemas.openxmlformats.org/officeDocument/2006/relationships/tags" Target="../tags/tag225.xml"/><Relationship Id="rId26" Type="http://schemas.openxmlformats.org/officeDocument/2006/relationships/notesSlide" Target="../notesSlides/notesSlide12.xml"/><Relationship Id="rId3" Type="http://schemas.openxmlformats.org/officeDocument/2006/relationships/tags" Target="../tags/tag210.xml"/><Relationship Id="rId21" Type="http://schemas.openxmlformats.org/officeDocument/2006/relationships/tags" Target="../tags/tag228.xml"/><Relationship Id="rId7" Type="http://schemas.openxmlformats.org/officeDocument/2006/relationships/tags" Target="../tags/tag214.xml"/><Relationship Id="rId12" Type="http://schemas.openxmlformats.org/officeDocument/2006/relationships/tags" Target="../tags/tag219.xml"/><Relationship Id="rId17" Type="http://schemas.openxmlformats.org/officeDocument/2006/relationships/tags" Target="../tags/tag224.xml"/><Relationship Id="rId25" Type="http://schemas.openxmlformats.org/officeDocument/2006/relationships/slideLayout" Target="../slideLayouts/slideLayout2.xml"/><Relationship Id="rId2" Type="http://schemas.openxmlformats.org/officeDocument/2006/relationships/tags" Target="../tags/tag209.xml"/><Relationship Id="rId16" Type="http://schemas.openxmlformats.org/officeDocument/2006/relationships/tags" Target="../tags/tag223.xml"/><Relationship Id="rId20" Type="http://schemas.openxmlformats.org/officeDocument/2006/relationships/tags" Target="../tags/tag227.xml"/><Relationship Id="rId29" Type="http://schemas.openxmlformats.org/officeDocument/2006/relationships/image" Target="../media/image42.png"/><Relationship Id="rId1" Type="http://schemas.openxmlformats.org/officeDocument/2006/relationships/tags" Target="../tags/tag208.xml"/><Relationship Id="rId6" Type="http://schemas.openxmlformats.org/officeDocument/2006/relationships/tags" Target="../tags/tag213.xml"/><Relationship Id="rId11" Type="http://schemas.openxmlformats.org/officeDocument/2006/relationships/tags" Target="../tags/tag218.xml"/><Relationship Id="rId24" Type="http://schemas.openxmlformats.org/officeDocument/2006/relationships/tags" Target="../tags/tag231.xml"/><Relationship Id="rId5" Type="http://schemas.openxmlformats.org/officeDocument/2006/relationships/tags" Target="../tags/tag212.xml"/><Relationship Id="rId15" Type="http://schemas.openxmlformats.org/officeDocument/2006/relationships/tags" Target="../tags/tag222.xml"/><Relationship Id="rId23" Type="http://schemas.openxmlformats.org/officeDocument/2006/relationships/tags" Target="../tags/tag230.xml"/><Relationship Id="rId28" Type="http://schemas.openxmlformats.org/officeDocument/2006/relationships/image" Target="../media/image41.png"/><Relationship Id="rId10" Type="http://schemas.openxmlformats.org/officeDocument/2006/relationships/tags" Target="../tags/tag217.xml"/><Relationship Id="rId19" Type="http://schemas.openxmlformats.org/officeDocument/2006/relationships/tags" Target="../tags/tag226.xml"/><Relationship Id="rId4" Type="http://schemas.openxmlformats.org/officeDocument/2006/relationships/tags" Target="../tags/tag211.xml"/><Relationship Id="rId9" Type="http://schemas.openxmlformats.org/officeDocument/2006/relationships/tags" Target="../tags/tag216.xml"/><Relationship Id="rId14" Type="http://schemas.openxmlformats.org/officeDocument/2006/relationships/tags" Target="../tags/tag221.xml"/><Relationship Id="rId22" Type="http://schemas.openxmlformats.org/officeDocument/2006/relationships/tags" Target="../tags/tag229.xml"/><Relationship Id="rId27" Type="http://schemas.openxmlformats.org/officeDocument/2006/relationships/image" Target="../media/image40.png"/><Relationship Id="rId30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40.xml"/><Relationship Id="rId13" Type="http://schemas.openxmlformats.org/officeDocument/2006/relationships/tags" Target="../tags/tag245.xml"/><Relationship Id="rId18" Type="http://schemas.openxmlformats.org/officeDocument/2006/relationships/tags" Target="../tags/tag250.xml"/><Relationship Id="rId26" Type="http://schemas.openxmlformats.org/officeDocument/2006/relationships/tags" Target="../tags/tag258.xml"/><Relationship Id="rId39" Type="http://schemas.openxmlformats.org/officeDocument/2006/relationships/tags" Target="../tags/tag271.xml"/><Relationship Id="rId3" Type="http://schemas.openxmlformats.org/officeDocument/2006/relationships/tags" Target="../tags/tag235.xml"/><Relationship Id="rId21" Type="http://schemas.openxmlformats.org/officeDocument/2006/relationships/tags" Target="../tags/tag253.xml"/><Relationship Id="rId34" Type="http://schemas.openxmlformats.org/officeDocument/2006/relationships/tags" Target="../tags/tag266.xml"/><Relationship Id="rId42" Type="http://schemas.openxmlformats.org/officeDocument/2006/relationships/slideLayout" Target="../slideLayouts/slideLayout2.xml"/><Relationship Id="rId7" Type="http://schemas.openxmlformats.org/officeDocument/2006/relationships/tags" Target="../tags/tag239.xml"/><Relationship Id="rId12" Type="http://schemas.openxmlformats.org/officeDocument/2006/relationships/tags" Target="../tags/tag244.xml"/><Relationship Id="rId17" Type="http://schemas.openxmlformats.org/officeDocument/2006/relationships/tags" Target="../tags/tag249.xml"/><Relationship Id="rId25" Type="http://schemas.openxmlformats.org/officeDocument/2006/relationships/tags" Target="../tags/tag257.xml"/><Relationship Id="rId33" Type="http://schemas.openxmlformats.org/officeDocument/2006/relationships/tags" Target="../tags/tag265.xml"/><Relationship Id="rId38" Type="http://schemas.openxmlformats.org/officeDocument/2006/relationships/tags" Target="../tags/tag270.xml"/><Relationship Id="rId2" Type="http://schemas.openxmlformats.org/officeDocument/2006/relationships/tags" Target="../tags/tag234.xml"/><Relationship Id="rId16" Type="http://schemas.openxmlformats.org/officeDocument/2006/relationships/tags" Target="../tags/tag248.xml"/><Relationship Id="rId20" Type="http://schemas.openxmlformats.org/officeDocument/2006/relationships/tags" Target="../tags/tag252.xml"/><Relationship Id="rId29" Type="http://schemas.openxmlformats.org/officeDocument/2006/relationships/tags" Target="../tags/tag261.xml"/><Relationship Id="rId41" Type="http://schemas.openxmlformats.org/officeDocument/2006/relationships/tags" Target="../tags/tag273.xml"/><Relationship Id="rId1" Type="http://schemas.openxmlformats.org/officeDocument/2006/relationships/tags" Target="../tags/tag233.xml"/><Relationship Id="rId6" Type="http://schemas.openxmlformats.org/officeDocument/2006/relationships/tags" Target="../tags/tag238.xml"/><Relationship Id="rId11" Type="http://schemas.openxmlformats.org/officeDocument/2006/relationships/tags" Target="../tags/tag243.xml"/><Relationship Id="rId24" Type="http://schemas.openxmlformats.org/officeDocument/2006/relationships/tags" Target="../tags/tag256.xml"/><Relationship Id="rId32" Type="http://schemas.openxmlformats.org/officeDocument/2006/relationships/tags" Target="../tags/tag264.xml"/><Relationship Id="rId37" Type="http://schemas.openxmlformats.org/officeDocument/2006/relationships/tags" Target="../tags/tag269.xml"/><Relationship Id="rId40" Type="http://schemas.openxmlformats.org/officeDocument/2006/relationships/tags" Target="../tags/tag272.xml"/><Relationship Id="rId5" Type="http://schemas.openxmlformats.org/officeDocument/2006/relationships/tags" Target="../tags/tag237.xml"/><Relationship Id="rId15" Type="http://schemas.openxmlformats.org/officeDocument/2006/relationships/tags" Target="../tags/tag247.xml"/><Relationship Id="rId23" Type="http://schemas.openxmlformats.org/officeDocument/2006/relationships/tags" Target="../tags/tag255.xml"/><Relationship Id="rId28" Type="http://schemas.openxmlformats.org/officeDocument/2006/relationships/tags" Target="../tags/tag260.xml"/><Relationship Id="rId36" Type="http://schemas.openxmlformats.org/officeDocument/2006/relationships/tags" Target="../tags/tag268.xml"/><Relationship Id="rId10" Type="http://schemas.openxmlformats.org/officeDocument/2006/relationships/tags" Target="../tags/tag242.xml"/><Relationship Id="rId19" Type="http://schemas.openxmlformats.org/officeDocument/2006/relationships/tags" Target="../tags/tag251.xml"/><Relationship Id="rId31" Type="http://schemas.openxmlformats.org/officeDocument/2006/relationships/tags" Target="../tags/tag263.xml"/><Relationship Id="rId44" Type="http://schemas.openxmlformats.org/officeDocument/2006/relationships/image" Target="../media/image7.png"/><Relationship Id="rId4" Type="http://schemas.openxmlformats.org/officeDocument/2006/relationships/tags" Target="../tags/tag236.xml"/><Relationship Id="rId9" Type="http://schemas.openxmlformats.org/officeDocument/2006/relationships/tags" Target="../tags/tag241.xml"/><Relationship Id="rId14" Type="http://schemas.openxmlformats.org/officeDocument/2006/relationships/tags" Target="../tags/tag246.xml"/><Relationship Id="rId22" Type="http://schemas.openxmlformats.org/officeDocument/2006/relationships/tags" Target="../tags/tag254.xml"/><Relationship Id="rId27" Type="http://schemas.openxmlformats.org/officeDocument/2006/relationships/tags" Target="../tags/tag259.xml"/><Relationship Id="rId30" Type="http://schemas.openxmlformats.org/officeDocument/2006/relationships/tags" Target="../tags/tag262.xml"/><Relationship Id="rId35" Type="http://schemas.openxmlformats.org/officeDocument/2006/relationships/tags" Target="../tags/tag267.xml"/><Relationship Id="rId4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8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03196" y="2786748"/>
            <a:ext cx="8752114" cy="3207656"/>
          </a:xfrm>
        </p:spPr>
        <p:txBody>
          <a:bodyPr>
            <a:noAutofit/>
          </a:bodyPr>
          <a:lstStyle/>
          <a:p>
            <a:r>
              <a:rPr lang="fr-FR" sz="4800" b="1" dirty="0" smtClean="0">
                <a:solidFill>
                  <a:srgbClr val="000000"/>
                </a:solidFill>
              </a:rPr>
              <a:t>Chapitre 6</a:t>
            </a:r>
            <a:r>
              <a:rPr lang="fr-FR" sz="4800" b="1" dirty="0">
                <a:solidFill>
                  <a:srgbClr val="000000"/>
                </a:solidFill>
              </a:rPr>
              <a:t> </a:t>
            </a:r>
            <a:r>
              <a:rPr lang="fr-FR" sz="4800" b="1" dirty="0" smtClean="0">
                <a:solidFill>
                  <a:srgbClr val="000000"/>
                </a:solidFill>
              </a:rPr>
              <a:t/>
            </a:r>
            <a:br>
              <a:rPr lang="fr-FR" sz="4800" b="1" dirty="0" smtClean="0">
                <a:solidFill>
                  <a:srgbClr val="000000"/>
                </a:solidFill>
              </a:rPr>
            </a:br>
            <a:r>
              <a:rPr lang="fr-FR" sz="4800" b="1" dirty="0" smtClean="0">
                <a:solidFill>
                  <a:srgbClr val="000000"/>
                </a:solidFill>
              </a:rPr>
              <a:t> </a:t>
            </a:r>
            <a:r>
              <a:rPr lang="fr-FR" sz="4800" b="1" dirty="0">
                <a:solidFill>
                  <a:srgbClr val="000000"/>
                </a:solidFill>
              </a:rPr>
              <a:t>Déploiement et gestion des logiciels à l'aide d'une stratégie de groupe</a:t>
            </a:r>
            <a:endParaRPr lang="en-US" sz="4800" b="1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72999" y="834962"/>
            <a:ext cx="32536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dirty="0" smtClean="0">
                <a:solidFill>
                  <a:srgbClr val="000000"/>
                </a:solidFill>
              </a:rPr>
              <a:t>Module S44</a:t>
            </a:r>
            <a:endParaRPr lang="fr-FR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0000"/>
                </a:solidFill>
              </a:rPr>
              <a:t>Plan du cours</a:t>
            </a:r>
            <a:endParaRPr lang="en-US" b="1" dirty="0"/>
          </a:p>
        </p:txBody>
      </p:sp>
      <p:sp>
        <p:nvSpPr>
          <p:cNvPr id="4198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46743" y="2173500"/>
            <a:ext cx="8708571" cy="3124214"/>
          </a:xfrm>
        </p:spPr>
        <p:txBody>
          <a:bodyPr>
            <a:normAutofit/>
          </a:bodyPr>
          <a:lstStyle/>
          <a:p>
            <a:pPr marL="514350" indent="-514350">
              <a:buClrTx/>
              <a:buFont typeface="+mj-lt"/>
              <a:buAutoNum type="arabicPeriod"/>
            </a:pPr>
            <a:r>
              <a:rPr lang="fr-FR" b="1" dirty="0" smtClean="0"/>
              <a:t>Présentation de la gestion du déploiement de logiciels</a:t>
            </a:r>
          </a:p>
          <a:p>
            <a:pPr marL="514350" indent="-514350">
              <a:buClrTx/>
              <a:buFont typeface="+mj-lt"/>
              <a:buAutoNum type="arabicPeriod"/>
            </a:pPr>
            <a:r>
              <a:rPr lang="fr-FR" b="1" dirty="0" smtClean="0"/>
              <a:t>Présentation de Windows Installer</a:t>
            </a:r>
          </a:p>
          <a:p>
            <a:pPr marL="514350" indent="-514350">
              <a:buClrTx/>
              <a:buFont typeface="+mj-lt"/>
              <a:buAutoNum type="arabicPeriod"/>
            </a:pPr>
            <a:r>
              <a:rPr lang="fr-FR" b="1" dirty="0" smtClean="0"/>
              <a:t>Déploiement de </a:t>
            </a:r>
            <a:r>
              <a:rPr lang="fr-FR" b="1" dirty="0" smtClean="0"/>
              <a:t>logiciels</a:t>
            </a:r>
          </a:p>
          <a:p>
            <a:pPr marL="514350" indent="-514350">
              <a:buClrTx/>
              <a:buFont typeface="+mj-lt"/>
              <a:buAutoNum type="arabicPeriod"/>
            </a:pPr>
            <a:r>
              <a:rPr lang="fr-FR" b="1" dirty="0" smtClean="0"/>
              <a:t>Résolution des problèmes liés au déploiement de logiciels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999" name="Group 367"/>
          <p:cNvGrpSpPr>
            <a:grpSpLocks/>
          </p:cNvGrpSpPr>
          <p:nvPr/>
        </p:nvGrpSpPr>
        <p:grpSpPr bwMode="auto">
          <a:xfrm>
            <a:off x="4648200" y="1260930"/>
            <a:ext cx="3313113" cy="2209800"/>
            <a:chOff x="2928" y="840"/>
            <a:chExt cx="2087" cy="1392"/>
          </a:xfrm>
        </p:grpSpPr>
        <p:sp>
          <p:nvSpPr>
            <p:cNvPr id="325942" name="AutoShape 310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928" y="840"/>
              <a:ext cx="2087" cy="1392"/>
            </a:xfrm>
            <a:prstGeom prst="roundRect">
              <a:avLst>
                <a:gd name="adj" fmla="val 5028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 marL="177800" indent="-177800" algn="l">
                <a:buSzPct val="85000"/>
              </a:pPr>
              <a:endParaRPr lang="fr-FR" b="0"/>
            </a:p>
          </p:txBody>
        </p:sp>
        <p:sp>
          <p:nvSpPr>
            <p:cNvPr id="325943" name="AutoShape 311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984" y="895"/>
              <a:ext cx="213" cy="24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2</a:t>
              </a:r>
            </a:p>
          </p:txBody>
        </p:sp>
        <p:sp>
          <p:nvSpPr>
            <p:cNvPr id="325947" name="AutoShape 315"/>
            <p:cNvSpPr>
              <a:spLocks noChangeArrowheads="1"/>
            </p:cNvSpPr>
            <p:nvPr/>
          </p:nvSpPr>
          <p:spPr bwMode="auto">
            <a:xfrm>
              <a:off x="2959" y="1884"/>
              <a:ext cx="1666" cy="293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sz="2200">
                  <a:solidFill>
                    <a:srgbClr val="000000"/>
                  </a:solidFill>
                </a:rPr>
                <a:t>Déploiement</a:t>
              </a:r>
              <a:endParaRPr lang="en-US" sz="2200"/>
            </a:p>
          </p:txBody>
        </p:sp>
        <p:pic>
          <p:nvPicPr>
            <p:cNvPr id="325948" name="Picture 316" descr="Computer_DesktopComputerSansKeyboard01"/>
            <p:cNvPicPr>
              <a:picLocks noChangeAspect="1" noChangeArrowheads="1"/>
            </p:cNvPicPr>
            <p:nvPr>
              <p:custDataLst>
                <p:tags r:id="rId17"/>
              </p:custDataLst>
            </p:nvPr>
          </p:nvPicPr>
          <p:blipFill>
            <a:blip r:embed="rId25" cstate="print"/>
            <a:srcRect/>
            <a:stretch>
              <a:fillRect/>
            </a:stretch>
          </p:blipFill>
          <p:spPr bwMode="auto">
            <a:xfrm>
              <a:off x="3848" y="935"/>
              <a:ext cx="769" cy="937"/>
            </a:xfrm>
            <a:prstGeom prst="rect">
              <a:avLst/>
            </a:prstGeom>
            <a:noFill/>
          </p:spPr>
        </p:pic>
        <p:sp>
          <p:nvSpPr>
            <p:cNvPr id="325958" name="Rectangle 326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242" y="1202"/>
              <a:ext cx="735" cy="551"/>
            </a:xfrm>
            <a:prstGeom prst="rect">
              <a:avLst/>
            </a:prstGeom>
            <a:solidFill>
              <a:srgbClr val="80808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5959" name="Rectangle 327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196" y="1156"/>
              <a:ext cx="735" cy="92"/>
            </a:xfrm>
            <a:prstGeom prst="rect">
              <a:avLst/>
            </a:prstGeom>
            <a:gradFill rotWithShape="0">
              <a:gsLst>
                <a:gs pos="0">
                  <a:srgbClr val="333399">
                    <a:gamma/>
                    <a:shade val="46275"/>
                    <a:invGamma/>
                  </a:srgbClr>
                </a:gs>
                <a:gs pos="100000">
                  <a:srgbClr val="333399"/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5960" name="Rectangle 328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196" y="1248"/>
              <a:ext cx="321" cy="459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tint val="20000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5961" name="Rectangle 329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517" y="1248"/>
              <a:ext cx="414" cy="45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5962" name="Rectangle 330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527" y="1314"/>
              <a:ext cx="428" cy="32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chemeClr val="hlink"/>
                  </a:solidFill>
                  <a:latin typeface="Arial" charset="0"/>
                </a:rPr>
                <a:t>1.0</a:t>
              </a:r>
            </a:p>
          </p:txBody>
        </p:sp>
      </p:grpSp>
      <p:grpSp>
        <p:nvGrpSpPr>
          <p:cNvPr id="326001" name="Group 369"/>
          <p:cNvGrpSpPr>
            <a:grpSpLocks/>
          </p:cNvGrpSpPr>
          <p:nvPr/>
        </p:nvGrpSpPr>
        <p:grpSpPr bwMode="auto">
          <a:xfrm>
            <a:off x="1079500" y="3531512"/>
            <a:ext cx="3313113" cy="2209800"/>
            <a:chOff x="680" y="2380"/>
            <a:chExt cx="2087" cy="1392"/>
          </a:xfrm>
        </p:grpSpPr>
        <p:sp>
          <p:nvSpPr>
            <p:cNvPr id="325940" name="AutoShape 308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80" y="2380"/>
              <a:ext cx="2087" cy="1392"/>
            </a:xfrm>
            <a:prstGeom prst="roundRect">
              <a:avLst>
                <a:gd name="adj" fmla="val 5028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 marL="177800" indent="-177800" algn="l">
                <a:buSzPct val="85000"/>
              </a:pPr>
              <a:endParaRPr lang="fr-FR" b="0"/>
            </a:p>
          </p:txBody>
        </p:sp>
        <p:sp>
          <p:nvSpPr>
            <p:cNvPr id="325941" name="AutoShape 309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36" y="2435"/>
              <a:ext cx="213" cy="24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4</a:t>
              </a:r>
            </a:p>
          </p:txBody>
        </p:sp>
        <p:sp>
          <p:nvSpPr>
            <p:cNvPr id="325949" name="AutoShape 317"/>
            <p:cNvSpPr>
              <a:spLocks noChangeArrowheads="1"/>
            </p:cNvSpPr>
            <p:nvPr/>
          </p:nvSpPr>
          <p:spPr bwMode="auto">
            <a:xfrm>
              <a:off x="709" y="3435"/>
              <a:ext cx="1004" cy="293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fr-FR" sz="2200">
                  <a:solidFill>
                    <a:srgbClr val="000000"/>
                  </a:solidFill>
                </a:rPr>
                <a:t>Suppression</a:t>
              </a:r>
              <a:endParaRPr lang="en-US" sz="2200"/>
            </a:p>
          </p:txBody>
        </p:sp>
        <p:pic>
          <p:nvPicPr>
            <p:cNvPr id="325950" name="Picture 318" descr="Computer_DesktopComputerSansKeyboard01"/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26" cstate="print"/>
            <a:srcRect/>
            <a:stretch>
              <a:fillRect/>
            </a:stretch>
          </p:blipFill>
          <p:spPr bwMode="auto">
            <a:xfrm>
              <a:off x="1452" y="2568"/>
              <a:ext cx="795" cy="968"/>
            </a:xfrm>
            <a:prstGeom prst="rect">
              <a:avLst/>
            </a:prstGeom>
            <a:noFill/>
          </p:spPr>
        </p:pic>
      </p:grpSp>
      <p:grpSp>
        <p:nvGrpSpPr>
          <p:cNvPr id="326000" name="Group 368"/>
          <p:cNvGrpSpPr>
            <a:grpSpLocks/>
          </p:cNvGrpSpPr>
          <p:nvPr/>
        </p:nvGrpSpPr>
        <p:grpSpPr bwMode="auto">
          <a:xfrm>
            <a:off x="4605338" y="3531512"/>
            <a:ext cx="3355975" cy="2209800"/>
            <a:chOff x="2901" y="2380"/>
            <a:chExt cx="2114" cy="1392"/>
          </a:xfrm>
        </p:grpSpPr>
        <p:sp>
          <p:nvSpPr>
            <p:cNvPr id="325938" name="AutoShape 306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928" y="2380"/>
              <a:ext cx="2087" cy="1392"/>
            </a:xfrm>
            <a:prstGeom prst="roundRect">
              <a:avLst>
                <a:gd name="adj" fmla="val 5028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 marL="177800" indent="-177800" algn="l">
                <a:buSzPct val="85000"/>
              </a:pPr>
              <a:endParaRPr lang="fr-FR" b="0"/>
            </a:p>
          </p:txBody>
        </p:sp>
        <p:sp>
          <p:nvSpPr>
            <p:cNvPr id="325939" name="AutoShape 30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984" y="2435"/>
              <a:ext cx="213" cy="24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3</a:t>
              </a:r>
            </a:p>
          </p:txBody>
        </p:sp>
        <p:sp>
          <p:nvSpPr>
            <p:cNvPr id="325951" name="AutoShape 319"/>
            <p:cNvSpPr>
              <a:spLocks noChangeArrowheads="1"/>
            </p:cNvSpPr>
            <p:nvPr/>
          </p:nvSpPr>
          <p:spPr bwMode="auto">
            <a:xfrm>
              <a:off x="2901" y="3435"/>
              <a:ext cx="1710" cy="293"/>
            </a:xfrm>
            <a:prstGeom prst="roundRect">
              <a:avLst>
                <a:gd name="adj" fmla="val 16667"/>
              </a:avLst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fr-FR" sz="2200">
                  <a:solidFill>
                    <a:srgbClr val="000000"/>
                  </a:solidFill>
                </a:rPr>
                <a:t>Maintenance</a:t>
              </a:r>
              <a:endParaRPr lang="en-US" sz="2200"/>
            </a:p>
          </p:txBody>
        </p:sp>
        <p:pic>
          <p:nvPicPr>
            <p:cNvPr id="325956" name="Picture 324" descr="Computer_DesktopComputerSansKeyboard01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27" cstate="print"/>
            <a:srcRect/>
            <a:stretch>
              <a:fillRect/>
            </a:stretch>
          </p:blipFill>
          <p:spPr bwMode="auto">
            <a:xfrm>
              <a:off x="3700" y="2596"/>
              <a:ext cx="745" cy="908"/>
            </a:xfrm>
            <a:prstGeom prst="rect">
              <a:avLst/>
            </a:prstGeom>
            <a:noFill/>
          </p:spPr>
        </p:pic>
        <p:sp>
          <p:nvSpPr>
            <p:cNvPr id="325965" name="Rectangle 333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242" y="2827"/>
              <a:ext cx="728" cy="545"/>
            </a:xfrm>
            <a:prstGeom prst="rect">
              <a:avLst/>
            </a:prstGeom>
            <a:solidFill>
              <a:srgbClr val="80808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5966" name="Rectangle 334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196" y="2781"/>
              <a:ext cx="728" cy="91"/>
            </a:xfrm>
            <a:prstGeom prst="rect">
              <a:avLst/>
            </a:prstGeom>
            <a:gradFill rotWithShape="0">
              <a:gsLst>
                <a:gs pos="0">
                  <a:srgbClr val="FF0000">
                    <a:gamma/>
                    <a:shade val="46275"/>
                    <a:invGamma/>
                  </a:srgbClr>
                </a:gs>
                <a:gs pos="100000">
                  <a:srgbClr val="FF0000"/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5967" name="Rectangle 335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196" y="2872"/>
              <a:ext cx="318" cy="454"/>
            </a:xfrm>
            <a:prstGeom prst="rect">
              <a:avLst/>
            </a:prstGeom>
            <a:gradFill rotWithShape="0">
              <a:gsLst>
                <a:gs pos="0">
                  <a:srgbClr val="FFFFCC">
                    <a:gamma/>
                    <a:tint val="20000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5968" name="Rectangle 336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514" y="2872"/>
              <a:ext cx="410" cy="454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5969" name="Rectangle 337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493" y="2985"/>
              <a:ext cx="428" cy="3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FFFF99"/>
                  </a:solidFill>
                  <a:latin typeface="Arial" charset="0"/>
                </a:rPr>
                <a:t>2.0</a:t>
              </a:r>
            </a:p>
          </p:txBody>
        </p:sp>
      </p:grpSp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88685" y="228600"/>
            <a:ext cx="8781143" cy="758952"/>
          </a:xfrm>
        </p:spPr>
        <p:txBody>
          <a:bodyPr>
            <a:noAutofit/>
          </a:bodyPr>
          <a:lstStyle/>
          <a:p>
            <a:r>
              <a:rPr lang="fr-FR" sz="3000" b="1" dirty="0" smtClean="0">
                <a:solidFill>
                  <a:srgbClr val="000000"/>
                </a:solidFill>
              </a:rPr>
              <a:t>1. </a:t>
            </a:r>
            <a:r>
              <a:rPr lang="fr-FR" sz="3000" b="1" dirty="0" smtClean="0">
                <a:solidFill>
                  <a:schemeClr val="tx1"/>
                </a:solidFill>
              </a:rPr>
              <a:t>Présentation de la gestion du déploiement de logiciels</a:t>
            </a:r>
            <a:endParaRPr lang="en-US" sz="3000" b="1" dirty="0">
              <a:solidFill>
                <a:schemeClr val="tx1"/>
              </a:solidFill>
            </a:endParaRPr>
          </a:p>
        </p:txBody>
      </p:sp>
      <p:sp>
        <p:nvSpPr>
          <p:cNvPr id="325944" name="AutoShape 31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79500" y="1260930"/>
            <a:ext cx="3313113" cy="2209800"/>
          </a:xfrm>
          <a:prstGeom prst="roundRect">
            <a:avLst>
              <a:gd name="adj" fmla="val 5028"/>
            </a:avLst>
          </a:prstGeom>
          <a:solidFill>
            <a:srgbClr val="F0F1E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177800" indent="-177800" algn="l">
              <a:buSzPct val="85000"/>
            </a:pPr>
            <a:endParaRPr lang="fr-FR" b="0"/>
          </a:p>
        </p:txBody>
      </p:sp>
      <p:sp>
        <p:nvSpPr>
          <p:cNvPr id="325945" name="Text Box 313"/>
          <p:cNvSpPr txBox="1">
            <a:spLocks noChangeArrowheads="1"/>
          </p:cNvSpPr>
          <p:nvPr/>
        </p:nvSpPr>
        <p:spPr bwMode="auto">
          <a:xfrm>
            <a:off x="1130300" y="2918280"/>
            <a:ext cx="14541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fr-FR" sz="2200">
                <a:solidFill>
                  <a:srgbClr val="000000"/>
                </a:solidFill>
              </a:rPr>
              <a:t>Préparation</a:t>
            </a:r>
            <a:endParaRPr lang="en-US" sz="2200"/>
          </a:p>
        </p:txBody>
      </p:sp>
      <p:pic>
        <p:nvPicPr>
          <p:cNvPr id="325946" name="Picture 314" descr="Computer_Workstation0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28"/>
          <a:srcRect/>
          <a:stretch>
            <a:fillRect/>
          </a:stretch>
        </p:blipFill>
        <p:spPr bwMode="auto">
          <a:xfrm>
            <a:off x="2416175" y="1356180"/>
            <a:ext cx="1571625" cy="1965325"/>
          </a:xfrm>
          <a:prstGeom prst="rect">
            <a:avLst/>
          </a:prstGeom>
          <a:noFill/>
        </p:spPr>
      </p:pic>
      <p:sp>
        <p:nvSpPr>
          <p:cNvPr id="325952" name="AutoShape 320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68400" y="1348243"/>
            <a:ext cx="338138" cy="3937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2400">
                <a:solidFill>
                  <a:srgbClr val="990033"/>
                </a:solidFill>
              </a:rPr>
              <a:t>1</a:t>
            </a:r>
          </a:p>
        </p:txBody>
      </p:sp>
      <p:sp>
        <p:nvSpPr>
          <p:cNvPr id="325953" name="Arc 321"/>
          <p:cNvSpPr>
            <a:spLocks/>
          </p:cNvSpPr>
          <p:nvPr/>
        </p:nvSpPr>
        <p:spPr bwMode="auto">
          <a:xfrm>
            <a:off x="3971925" y="1919743"/>
            <a:ext cx="2058988" cy="1531937"/>
          </a:xfrm>
          <a:custGeom>
            <a:avLst/>
            <a:gdLst>
              <a:gd name="G0" fmla="+- 7589 0 0"/>
              <a:gd name="G1" fmla="+- 21600 0 0"/>
              <a:gd name="G2" fmla="+- 21600 0 0"/>
              <a:gd name="T0" fmla="*/ 0 w 21266"/>
              <a:gd name="T1" fmla="*/ 1377 h 21600"/>
              <a:gd name="T2" fmla="*/ 21266 w 21266"/>
              <a:gd name="T3" fmla="*/ 4882 h 21600"/>
              <a:gd name="T4" fmla="*/ 7589 w 21266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266" h="21600" fill="none" extrusionOk="0">
                <a:moveTo>
                  <a:pt x="0" y="1377"/>
                </a:moveTo>
                <a:cubicBezTo>
                  <a:pt x="2426" y="466"/>
                  <a:pt x="4997" y="-1"/>
                  <a:pt x="7589" y="0"/>
                </a:cubicBezTo>
                <a:cubicBezTo>
                  <a:pt x="12574" y="0"/>
                  <a:pt x="17407" y="1724"/>
                  <a:pt x="21266" y="4881"/>
                </a:cubicBezTo>
              </a:path>
              <a:path w="21266" h="21600" stroke="0" extrusionOk="0">
                <a:moveTo>
                  <a:pt x="0" y="1377"/>
                </a:moveTo>
                <a:cubicBezTo>
                  <a:pt x="2426" y="466"/>
                  <a:pt x="4997" y="-1"/>
                  <a:pt x="7589" y="0"/>
                </a:cubicBezTo>
                <a:cubicBezTo>
                  <a:pt x="12574" y="0"/>
                  <a:pt x="17407" y="1724"/>
                  <a:pt x="21266" y="4881"/>
                </a:cubicBezTo>
                <a:lnTo>
                  <a:pt x="7589" y="21600"/>
                </a:lnTo>
                <a:close/>
              </a:path>
            </a:pathLst>
          </a:custGeom>
          <a:noFill/>
          <a:ln w="76200" cap="rnd">
            <a:solidFill>
              <a:srgbClr val="CC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25954" name="Arc 322"/>
          <p:cNvSpPr>
            <a:spLocks/>
          </p:cNvSpPr>
          <p:nvPr/>
        </p:nvSpPr>
        <p:spPr bwMode="auto">
          <a:xfrm>
            <a:off x="3579813" y="3305630"/>
            <a:ext cx="2116137" cy="1531938"/>
          </a:xfrm>
          <a:custGeom>
            <a:avLst/>
            <a:gdLst>
              <a:gd name="G0" fmla="+- 11826 0 0"/>
              <a:gd name="G1" fmla="+- 0 0 0"/>
              <a:gd name="G2" fmla="+- 21600 0 0"/>
              <a:gd name="T0" fmla="*/ 21865 w 21865"/>
              <a:gd name="T1" fmla="*/ 19125 h 21600"/>
              <a:gd name="T2" fmla="*/ 0 w 21865"/>
              <a:gd name="T3" fmla="*/ 18075 h 21600"/>
              <a:gd name="T4" fmla="*/ 11826 w 21865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865" h="21600" fill="none" extrusionOk="0">
                <a:moveTo>
                  <a:pt x="21865" y="19125"/>
                </a:moveTo>
                <a:cubicBezTo>
                  <a:pt x="18768" y="20750"/>
                  <a:pt x="15323" y="21599"/>
                  <a:pt x="11826" y="21600"/>
                </a:cubicBezTo>
                <a:cubicBezTo>
                  <a:pt x="7625" y="21600"/>
                  <a:pt x="3515" y="20375"/>
                  <a:pt x="-1" y="18075"/>
                </a:cubicBezTo>
              </a:path>
              <a:path w="21865" h="21600" stroke="0" extrusionOk="0">
                <a:moveTo>
                  <a:pt x="21865" y="19125"/>
                </a:moveTo>
                <a:cubicBezTo>
                  <a:pt x="18768" y="20750"/>
                  <a:pt x="15323" y="21599"/>
                  <a:pt x="11826" y="21600"/>
                </a:cubicBezTo>
                <a:cubicBezTo>
                  <a:pt x="7625" y="21600"/>
                  <a:pt x="3515" y="20375"/>
                  <a:pt x="-1" y="18075"/>
                </a:cubicBezTo>
                <a:lnTo>
                  <a:pt x="11826" y="0"/>
                </a:lnTo>
                <a:close/>
              </a:path>
            </a:pathLst>
          </a:custGeom>
          <a:noFill/>
          <a:ln w="76200" cap="rnd">
            <a:solidFill>
              <a:srgbClr val="CC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25955" name="Arc 323"/>
          <p:cNvSpPr>
            <a:spLocks/>
          </p:cNvSpPr>
          <p:nvPr/>
        </p:nvSpPr>
        <p:spPr bwMode="auto">
          <a:xfrm>
            <a:off x="4694238" y="2913518"/>
            <a:ext cx="2090737" cy="1208087"/>
          </a:xfrm>
          <a:custGeom>
            <a:avLst/>
            <a:gdLst>
              <a:gd name="G0" fmla="+- 0 0 0"/>
              <a:gd name="G1" fmla="+- 7433 0 0"/>
              <a:gd name="G2" fmla="+- 21600 0 0"/>
              <a:gd name="T0" fmla="*/ 20281 w 21600"/>
              <a:gd name="T1" fmla="*/ 0 h 17019"/>
              <a:gd name="T2" fmla="*/ 19356 w 21600"/>
              <a:gd name="T3" fmla="*/ 17019 h 17019"/>
              <a:gd name="T4" fmla="*/ 0 w 21600"/>
              <a:gd name="T5" fmla="*/ 7433 h 170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019" fill="none" extrusionOk="0">
                <a:moveTo>
                  <a:pt x="20280" y="0"/>
                </a:moveTo>
                <a:cubicBezTo>
                  <a:pt x="21153" y="2381"/>
                  <a:pt x="21600" y="4897"/>
                  <a:pt x="21600" y="7433"/>
                </a:cubicBezTo>
                <a:cubicBezTo>
                  <a:pt x="21600" y="10758"/>
                  <a:pt x="20832" y="14039"/>
                  <a:pt x="19356" y="17019"/>
                </a:cubicBezTo>
              </a:path>
              <a:path w="21600" h="17019" stroke="0" extrusionOk="0">
                <a:moveTo>
                  <a:pt x="20280" y="0"/>
                </a:moveTo>
                <a:cubicBezTo>
                  <a:pt x="21153" y="2381"/>
                  <a:pt x="21600" y="4897"/>
                  <a:pt x="21600" y="7433"/>
                </a:cubicBezTo>
                <a:cubicBezTo>
                  <a:pt x="21600" y="10758"/>
                  <a:pt x="20832" y="14039"/>
                  <a:pt x="19356" y="17019"/>
                </a:cubicBezTo>
                <a:lnTo>
                  <a:pt x="0" y="7433"/>
                </a:lnTo>
                <a:close/>
              </a:path>
            </a:pathLst>
          </a:custGeom>
          <a:noFill/>
          <a:ln w="76200" cap="rnd">
            <a:solidFill>
              <a:srgbClr val="CC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" name="ZoneTexte 41"/>
          <p:cNvSpPr txBox="1"/>
          <p:nvPr/>
        </p:nvSpPr>
        <p:spPr>
          <a:xfrm>
            <a:off x="0" y="5733145"/>
            <a:ext cx="9143999" cy="110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fr-FR" sz="2200" dirty="0" smtClean="0">
                <a:solidFill>
                  <a:srgbClr val="002060"/>
                </a:solidFill>
              </a:rPr>
              <a:t> Déterminer si vous pouvez déployer le logiciel à l’aide des GPO courantes</a:t>
            </a:r>
          </a:p>
          <a:p>
            <a:pPr algn="l">
              <a:buFont typeface="Arial" pitchFamily="34" charset="0"/>
              <a:buChar char="•"/>
            </a:pPr>
            <a:r>
              <a:rPr lang="fr-FR" sz="2200" dirty="0" smtClean="0">
                <a:solidFill>
                  <a:srgbClr val="002060"/>
                </a:solidFill>
              </a:rPr>
              <a:t> Identifier les problèmes susceptibles d’empêcher l’installation logicielle</a:t>
            </a:r>
          </a:p>
          <a:p>
            <a:pPr algn="l">
              <a:buFont typeface="Arial" pitchFamily="34" charset="0"/>
              <a:buChar char="•"/>
            </a:pPr>
            <a:r>
              <a:rPr lang="fr-FR" sz="2200" dirty="0" smtClean="0">
                <a:solidFill>
                  <a:srgbClr val="002060"/>
                </a:solidFill>
              </a:rPr>
              <a:t> Préparer les fichiers permettant le déploiement d’une application</a:t>
            </a:r>
            <a:endParaRPr lang="fr-FR" sz="2200" dirty="0">
              <a:solidFill>
                <a:srgbClr val="002060"/>
              </a:solidFill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0" y="5411450"/>
            <a:ext cx="9143999" cy="1446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fr-FR" sz="2200" dirty="0" smtClean="0">
                <a:solidFill>
                  <a:srgbClr val="002060"/>
                </a:solidFill>
              </a:rPr>
              <a:t> Créer un GPO qui installe le logiciel sur l’ordinateur</a:t>
            </a:r>
          </a:p>
          <a:p>
            <a:pPr algn="l">
              <a:buFont typeface="Arial" pitchFamily="34" charset="0"/>
              <a:buChar char="•"/>
            </a:pPr>
            <a:r>
              <a:rPr lang="fr-FR" sz="2200" dirty="0" smtClean="0">
                <a:solidFill>
                  <a:srgbClr val="002060"/>
                </a:solidFill>
              </a:rPr>
              <a:t> Relier le GPO à un conteneur Active Directory</a:t>
            </a:r>
          </a:p>
          <a:p>
            <a:pPr algn="l">
              <a:buFont typeface="Arial" pitchFamily="34" charset="0"/>
              <a:buChar char="•"/>
            </a:pPr>
            <a:r>
              <a:rPr lang="fr-FR" sz="2200" dirty="0" smtClean="0">
                <a:solidFill>
                  <a:srgbClr val="002060"/>
                </a:solidFill>
              </a:rPr>
              <a:t> Le logiciel est installé au démarrage de l’ordinateur ou lorsqu’un utilisateur démarre l’application</a:t>
            </a:r>
            <a:endParaRPr lang="fr-FR" sz="2200" dirty="0">
              <a:solidFill>
                <a:srgbClr val="002060"/>
              </a:solidFill>
            </a:endParaRPr>
          </a:p>
        </p:txBody>
      </p:sp>
      <p:sp>
        <p:nvSpPr>
          <p:cNvPr id="44" name="ZoneTexte 43"/>
          <p:cNvSpPr txBox="1"/>
          <p:nvPr/>
        </p:nvSpPr>
        <p:spPr>
          <a:xfrm>
            <a:off x="0" y="5871031"/>
            <a:ext cx="9143999" cy="769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fr-FR" sz="2200" dirty="0" smtClean="0">
                <a:solidFill>
                  <a:srgbClr val="002060"/>
                </a:solidFill>
              </a:rPr>
              <a:t> La mise à niveau d’un logiciel avec une nouvelle version</a:t>
            </a:r>
          </a:p>
          <a:p>
            <a:pPr algn="l">
              <a:buFont typeface="Arial" pitchFamily="34" charset="0"/>
              <a:buChar char="•"/>
            </a:pPr>
            <a:r>
              <a:rPr lang="fr-FR" sz="2200" dirty="0" smtClean="0">
                <a:solidFill>
                  <a:srgbClr val="002060"/>
                </a:solidFill>
              </a:rPr>
              <a:t> Redéployer un logiciel avec un service Pack</a:t>
            </a:r>
            <a:endParaRPr lang="fr-FR" sz="2200" dirty="0">
              <a:solidFill>
                <a:srgbClr val="002060"/>
              </a:solidFill>
            </a:endParaRPr>
          </a:p>
        </p:txBody>
      </p:sp>
      <p:sp>
        <p:nvSpPr>
          <p:cNvPr id="45" name="ZoneTexte 44"/>
          <p:cNvSpPr txBox="1"/>
          <p:nvPr/>
        </p:nvSpPr>
        <p:spPr>
          <a:xfrm>
            <a:off x="0" y="5735490"/>
            <a:ext cx="9143999" cy="110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fr-FR" sz="2200" dirty="0" smtClean="0">
                <a:solidFill>
                  <a:srgbClr val="002060"/>
                </a:solidFill>
              </a:rPr>
              <a:t>Supprimer les paramètres du package du logiciel dans le GPO d’origine</a:t>
            </a:r>
          </a:p>
          <a:p>
            <a:pPr algn="l">
              <a:buFont typeface="Arial" pitchFamily="34" charset="0"/>
              <a:buChar char="•"/>
            </a:pPr>
            <a:r>
              <a:rPr lang="fr-FR" sz="2200" dirty="0" smtClean="0">
                <a:solidFill>
                  <a:srgbClr val="002060"/>
                </a:solidFill>
              </a:rPr>
              <a:t>Le logiciel est automatiquement supprimé au démarrage de l’ordinateur ou lorsqu’un utilisateur ouvre une session </a:t>
            </a:r>
            <a:endParaRPr lang="fr-FR" sz="22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25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25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2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3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2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953" grpId="0" animBg="1"/>
      <p:bldP spid="325954" grpId="0" animBg="1"/>
      <p:bldP spid="325955" grpId="0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000" b="1" dirty="0" smtClean="0">
                <a:solidFill>
                  <a:srgbClr val="000000"/>
                </a:solidFill>
              </a:rPr>
              <a:t>2. Présentation </a:t>
            </a:r>
            <a:r>
              <a:rPr lang="fr-FR" sz="3000" b="1" dirty="0">
                <a:solidFill>
                  <a:srgbClr val="000000"/>
                </a:solidFill>
              </a:rPr>
              <a:t>de Windows Installer</a:t>
            </a:r>
            <a:endParaRPr lang="en-US" sz="3000" b="1" dirty="0"/>
          </a:p>
        </p:txBody>
      </p:sp>
      <p:sp>
        <p:nvSpPr>
          <p:cNvPr id="386119" name="AutoShape 71"/>
          <p:cNvSpPr>
            <a:spLocks noChangeArrowheads="1"/>
          </p:cNvSpPr>
          <p:nvPr/>
        </p:nvSpPr>
        <p:spPr bwMode="auto">
          <a:xfrm>
            <a:off x="174175" y="1843312"/>
            <a:ext cx="3846282" cy="3033487"/>
          </a:xfrm>
          <a:prstGeom prst="roundRect">
            <a:avLst>
              <a:gd name="adj" fmla="val 5028"/>
            </a:avLst>
          </a:prstGeom>
          <a:solidFill>
            <a:schemeClr val="bg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marL="173038" indent="-173038" algn="l">
              <a:spcBef>
                <a:spcPct val="20000"/>
              </a:spcBef>
              <a:buSzPct val="70000"/>
            </a:pPr>
            <a:r>
              <a:rPr lang="fr-FR" sz="2400" dirty="0" smtClean="0">
                <a:solidFill>
                  <a:srgbClr val="000000"/>
                </a:solidFill>
              </a:rPr>
              <a:t>Fait:</a:t>
            </a:r>
          </a:p>
          <a:p>
            <a:pPr marL="173038" indent="-173038" algn="l">
              <a:spcBef>
                <a:spcPct val="20000"/>
              </a:spcBef>
              <a:buSzPct val="70000"/>
              <a:buFontTx/>
              <a:buBlip>
                <a:blip r:embed="rId3"/>
              </a:buBlip>
            </a:pPr>
            <a:r>
              <a:rPr lang="fr-FR" sz="2400" b="0" dirty="0" smtClean="0">
                <a:solidFill>
                  <a:srgbClr val="000000"/>
                </a:solidFill>
              </a:rPr>
              <a:t>Automatise </a:t>
            </a:r>
            <a:r>
              <a:rPr lang="fr-FR" sz="2400" b="0" dirty="0">
                <a:solidFill>
                  <a:srgbClr val="000000"/>
                </a:solidFill>
              </a:rPr>
              <a:t>entièrement l'installation et la </a:t>
            </a:r>
            <a:r>
              <a:rPr lang="fr-FR" sz="2400" b="0" dirty="0" smtClean="0">
                <a:solidFill>
                  <a:srgbClr val="000000"/>
                </a:solidFill>
              </a:rPr>
              <a:t>configuration </a:t>
            </a:r>
            <a:r>
              <a:rPr lang="fr-FR" sz="2400" b="0" dirty="0">
                <a:solidFill>
                  <a:srgbClr val="000000"/>
                </a:solidFill>
              </a:rPr>
              <a:t>du logiciel</a:t>
            </a:r>
            <a:endParaRPr lang="en-US" sz="2400" b="0" dirty="0"/>
          </a:p>
          <a:p>
            <a:pPr marL="173038" indent="-173038" algn="l">
              <a:spcBef>
                <a:spcPct val="20000"/>
              </a:spcBef>
              <a:buSzPct val="70000"/>
              <a:buFontTx/>
              <a:buBlip>
                <a:blip r:embed="rId3"/>
              </a:buBlip>
            </a:pPr>
            <a:r>
              <a:rPr lang="fr-FR" sz="2400" b="0" dirty="0">
                <a:solidFill>
                  <a:srgbClr val="000000"/>
                </a:solidFill>
              </a:rPr>
              <a:t>Modifie ou dépanne une installation d'application existante</a:t>
            </a:r>
            <a:endParaRPr lang="en-US" sz="2400" b="0" dirty="0">
              <a:solidFill>
                <a:srgbClr val="000000"/>
              </a:solidFill>
            </a:endParaRPr>
          </a:p>
        </p:txBody>
      </p:sp>
      <p:sp>
        <p:nvSpPr>
          <p:cNvPr id="386120" name="AutoShape 72"/>
          <p:cNvSpPr>
            <a:spLocks noChangeArrowheads="1"/>
          </p:cNvSpPr>
          <p:nvPr/>
        </p:nvSpPr>
        <p:spPr bwMode="auto">
          <a:xfrm>
            <a:off x="4107092" y="1828795"/>
            <a:ext cx="4833708" cy="3077033"/>
          </a:xfrm>
          <a:prstGeom prst="roundRect">
            <a:avLst>
              <a:gd name="adj" fmla="val 5028"/>
            </a:avLst>
          </a:prstGeom>
          <a:solidFill>
            <a:schemeClr val="bg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marL="173038" indent="-173038" algn="l">
              <a:spcBef>
                <a:spcPct val="20000"/>
              </a:spcBef>
              <a:buSzPct val="70000"/>
            </a:pPr>
            <a:r>
              <a:rPr lang="fr-FR" sz="2400" dirty="0" smtClean="0">
                <a:solidFill>
                  <a:srgbClr val="000000"/>
                </a:solidFill>
              </a:rPr>
              <a:t>contient:</a:t>
            </a:r>
            <a:endParaRPr lang="en-US" sz="2400" dirty="0"/>
          </a:p>
          <a:p>
            <a:pPr marL="173038" indent="-173038" algn="l">
              <a:spcBef>
                <a:spcPct val="20000"/>
              </a:spcBef>
              <a:buSzPct val="70000"/>
              <a:buFontTx/>
              <a:buBlip>
                <a:blip r:embed="rId3"/>
              </a:buBlip>
            </a:pPr>
            <a:r>
              <a:rPr lang="fr-FR" sz="2400" b="0" dirty="0">
                <a:solidFill>
                  <a:srgbClr val="000000"/>
                </a:solidFill>
              </a:rPr>
              <a:t>Informations sur l'installation ou la désinstallation d'une application</a:t>
            </a:r>
            <a:endParaRPr lang="en-US" sz="2400" b="0" dirty="0"/>
          </a:p>
          <a:p>
            <a:pPr marL="173038" indent="-173038" algn="l">
              <a:spcBef>
                <a:spcPct val="20000"/>
              </a:spcBef>
              <a:buSzPct val="70000"/>
              <a:buFontTx/>
              <a:buBlip>
                <a:blip r:embed="rId3"/>
              </a:buBlip>
            </a:pPr>
            <a:r>
              <a:rPr lang="fr-FR" sz="2400" b="0" dirty="0">
                <a:solidFill>
                  <a:srgbClr val="000000"/>
                </a:solidFill>
              </a:rPr>
              <a:t>Un fichier .</a:t>
            </a:r>
            <a:r>
              <a:rPr lang="fr-FR" sz="2400" b="0" dirty="0" err="1">
                <a:solidFill>
                  <a:srgbClr val="000000"/>
                </a:solidFill>
              </a:rPr>
              <a:t>msi</a:t>
            </a:r>
            <a:r>
              <a:rPr lang="fr-FR" sz="2400" b="0" dirty="0">
                <a:solidFill>
                  <a:srgbClr val="000000"/>
                </a:solidFill>
              </a:rPr>
              <a:t> et d'éventuels fichiers source externes</a:t>
            </a:r>
            <a:endParaRPr lang="en-US" sz="2400" b="0" dirty="0"/>
          </a:p>
          <a:p>
            <a:pPr marL="173038" indent="-173038" algn="l">
              <a:spcBef>
                <a:spcPct val="20000"/>
              </a:spcBef>
              <a:buSzPct val="70000"/>
              <a:buFontTx/>
              <a:buBlip>
                <a:blip r:embed="rId3"/>
              </a:buBlip>
            </a:pPr>
            <a:r>
              <a:rPr lang="fr-FR" sz="2400" b="0" dirty="0">
                <a:solidFill>
                  <a:srgbClr val="000000"/>
                </a:solidFill>
              </a:rPr>
              <a:t>Un résumé de l'application</a:t>
            </a:r>
            <a:endParaRPr lang="en-US" sz="2400" b="0" dirty="0"/>
          </a:p>
          <a:p>
            <a:pPr marL="173038" indent="-173038" algn="l">
              <a:spcBef>
                <a:spcPct val="20000"/>
              </a:spcBef>
              <a:buSzPct val="70000"/>
              <a:buFontTx/>
              <a:buBlip>
                <a:blip r:embed="rId3"/>
              </a:buBlip>
            </a:pPr>
            <a:r>
              <a:rPr lang="fr-FR" sz="2400" b="0" dirty="0">
                <a:solidFill>
                  <a:srgbClr val="000000"/>
                </a:solidFill>
              </a:rPr>
              <a:t>Une référence à un point </a:t>
            </a:r>
            <a:r>
              <a:rPr lang="fr-FR" sz="2400" b="0" dirty="0" smtClean="0">
                <a:solidFill>
                  <a:srgbClr val="000000"/>
                </a:solidFill>
              </a:rPr>
              <a:t> d'installation</a:t>
            </a:r>
            <a:endParaRPr lang="en-US" sz="2400" b="0" dirty="0">
              <a:solidFill>
                <a:srgbClr val="000000"/>
              </a:solidFill>
            </a:endParaRPr>
          </a:p>
        </p:txBody>
      </p:sp>
      <p:sp>
        <p:nvSpPr>
          <p:cNvPr id="386122" name="AutoShape 74"/>
          <p:cNvSpPr>
            <a:spLocks noChangeArrowheads="1"/>
          </p:cNvSpPr>
          <p:nvPr/>
        </p:nvSpPr>
        <p:spPr bwMode="auto">
          <a:xfrm>
            <a:off x="145162" y="5428342"/>
            <a:ext cx="8998838" cy="1291092"/>
          </a:xfrm>
          <a:prstGeom prst="roundRect">
            <a:avLst>
              <a:gd name="adj" fmla="val 4167"/>
            </a:avLst>
          </a:prstGeom>
          <a:solidFill>
            <a:schemeClr val="accent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7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sz="2400" b="0" dirty="0">
                <a:solidFill>
                  <a:srgbClr val="000000"/>
                </a:solidFill>
              </a:rPr>
              <a:t>Installations personnalisées</a:t>
            </a:r>
            <a:endParaRPr lang="en-US" sz="2400" b="0" dirty="0"/>
          </a:p>
          <a:p>
            <a:pPr marL="231775" indent="-231775" algn="l">
              <a:lnSpc>
                <a:spcPct val="7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sz="2400" b="0" dirty="0">
                <a:solidFill>
                  <a:srgbClr val="000000"/>
                </a:solidFill>
              </a:rPr>
              <a:t>Applications tolérantes aux pannes</a:t>
            </a:r>
            <a:endParaRPr lang="en-US" sz="2400" b="0" dirty="0"/>
          </a:p>
          <a:p>
            <a:pPr marL="231775" indent="-231775" algn="l">
              <a:lnSpc>
                <a:spcPct val="7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sz="2400" b="0" dirty="0">
                <a:solidFill>
                  <a:srgbClr val="000000"/>
                </a:solidFill>
              </a:rPr>
              <a:t>Suppression propre</a:t>
            </a:r>
            <a:endParaRPr lang="en-US" sz="2400" b="0" dirty="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28" y="1284905"/>
            <a:ext cx="36690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3038" indent="-173038" algn="l">
              <a:buSzPct val="85000"/>
            </a:pPr>
            <a:r>
              <a:rPr lang="fr-FR" sz="2400" dirty="0" smtClean="0">
                <a:solidFill>
                  <a:srgbClr val="000000"/>
                </a:solidFill>
              </a:rPr>
              <a:t>Le Service Windows Installer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4893171" y="1277650"/>
            <a:ext cx="37957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3038" indent="-173038" algn="l">
              <a:buSzPct val="85000"/>
            </a:pPr>
            <a:r>
              <a:rPr lang="fr-FR" sz="2400" dirty="0" smtClean="0">
                <a:solidFill>
                  <a:srgbClr val="000000"/>
                </a:solidFill>
              </a:rPr>
              <a:t>Le Package Windows Installer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195943" y="4955790"/>
            <a:ext cx="71482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fr-FR" sz="2400" dirty="0" smtClean="0">
                <a:solidFill>
                  <a:srgbClr val="000000"/>
                </a:solidFill>
              </a:rPr>
              <a:t>Avantages liés  à l'utilisation de Windows Installer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38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38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1000"/>
                                        <p:tgtEl>
                                          <p:spTgt spid="38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119" grpId="0" animBg="1"/>
      <p:bldP spid="386120" grpId="0" animBg="1"/>
      <p:bldP spid="386122" grpId="0" animBg="1"/>
      <p:bldP spid="7" grpId="0"/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14350" indent="-514350"/>
            <a:r>
              <a:rPr lang="fr-FR" b="1" dirty="0" smtClean="0">
                <a:solidFill>
                  <a:schemeClr val="tx1"/>
                </a:solidFill>
              </a:rPr>
              <a:t>3. Déploiement de logiciels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198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61257" y="1698171"/>
            <a:ext cx="8665029" cy="4659085"/>
          </a:xfrm>
        </p:spPr>
        <p:txBody>
          <a:bodyPr>
            <a:normAutofit/>
          </a:bodyPr>
          <a:lstStyle/>
          <a:p>
            <a:pPr marL="514350" indent="-514350">
              <a:buClrTx/>
            </a:pPr>
            <a:r>
              <a:rPr lang="fr-FR" sz="2800" dirty="0" smtClean="0">
                <a:solidFill>
                  <a:srgbClr val="C00000"/>
                </a:solidFill>
              </a:rPr>
              <a:t>Présentation du processus de déploiement de logiciels</a:t>
            </a:r>
          </a:p>
          <a:p>
            <a:pPr marL="514350" indent="-514350">
              <a:buClrTx/>
            </a:pPr>
            <a:r>
              <a:rPr lang="fr-FR" sz="2800" dirty="0" smtClean="0">
                <a:solidFill>
                  <a:srgbClr val="C00000"/>
                </a:solidFill>
              </a:rPr>
              <a:t>Affectation de logiciels et publication de logiciels</a:t>
            </a:r>
          </a:p>
          <a:p>
            <a:pPr marL="514350" indent="-514350">
              <a:buClrTx/>
            </a:pPr>
            <a:r>
              <a:rPr lang="fr-FR" sz="2800" dirty="0" smtClean="0">
                <a:solidFill>
                  <a:srgbClr val="C00000"/>
                </a:solidFill>
              </a:rPr>
              <a:t>Définition des catégories de logiciels</a:t>
            </a:r>
          </a:p>
          <a:p>
            <a:pPr marL="514350" indent="-514350">
              <a:buClrTx/>
            </a:pPr>
            <a:r>
              <a:rPr lang="fr-FR" sz="2800" dirty="0" smtClean="0">
                <a:solidFill>
                  <a:srgbClr val="C00000"/>
                </a:solidFill>
              </a:rPr>
              <a:t>Définition de l'association de logiciels </a:t>
            </a:r>
          </a:p>
          <a:p>
            <a:pPr marL="514350" indent="-514350">
              <a:buClrTx/>
            </a:pPr>
            <a:r>
              <a:rPr lang="fr-FR" sz="2800" dirty="0" smtClean="0">
                <a:solidFill>
                  <a:srgbClr val="C00000"/>
                </a:solidFill>
              </a:rPr>
              <a:t>Définition de la modification de logiciel</a:t>
            </a:r>
          </a:p>
          <a:p>
            <a:pPr marL="514350" indent="-514350">
              <a:buClrTx/>
            </a:pPr>
            <a:r>
              <a:rPr lang="fr-FR" sz="2800" dirty="0" smtClean="0">
                <a:solidFill>
                  <a:srgbClr val="C00000"/>
                </a:solidFill>
              </a:rPr>
              <a:t>Types de mises à niveau de logiciels</a:t>
            </a:r>
          </a:p>
          <a:p>
            <a:pPr marL="514350" indent="-514350">
              <a:buClrTx/>
            </a:pPr>
            <a:r>
              <a:rPr lang="fr-FR" sz="2800" dirty="0" smtClean="0">
                <a:solidFill>
                  <a:srgbClr val="C00000"/>
                </a:solidFill>
              </a:rPr>
              <a:t>Fonctionnement du redéploiement de logiciels</a:t>
            </a:r>
          </a:p>
          <a:p>
            <a:pPr marL="514350" indent="-514350">
              <a:buClrTx/>
            </a:pPr>
            <a:r>
              <a:rPr lang="fr-FR" sz="2800" dirty="0" smtClean="0">
                <a:solidFill>
                  <a:srgbClr val="C00000"/>
                </a:solidFill>
              </a:rPr>
              <a:t>Méthodes de suppression de logiciels déployés</a:t>
            </a:r>
          </a:p>
          <a:p>
            <a:pPr marL="514350" indent="-514350">
              <a:buClrTx/>
            </a:pPr>
            <a:endParaRPr lang="fr-FR" sz="2800" dirty="0" smtClean="0">
              <a:solidFill>
                <a:srgbClr val="C00000"/>
              </a:solidFill>
            </a:endParaRPr>
          </a:p>
          <a:p>
            <a:pPr marL="514350" indent="-514350">
              <a:buClrTx/>
            </a:pPr>
            <a:endParaRPr lang="fr-FR" sz="2800" dirty="0" smtClean="0">
              <a:solidFill>
                <a:srgbClr val="C00000"/>
              </a:solidFill>
            </a:endParaRPr>
          </a:p>
          <a:p>
            <a:pPr marL="514350" indent="-514350">
              <a:buClrTx/>
            </a:pPr>
            <a:endParaRPr lang="fr-FR" sz="2800" dirty="0" smtClean="0">
              <a:solidFill>
                <a:srgbClr val="C00000"/>
              </a:solidFill>
            </a:endParaRPr>
          </a:p>
          <a:p>
            <a:pPr marL="514350" indent="-514350">
              <a:buClrTx/>
            </a:pPr>
            <a:endParaRPr lang="fr-FR" sz="2800" dirty="0" smtClean="0">
              <a:solidFill>
                <a:srgbClr val="C00000"/>
              </a:solidFill>
            </a:endParaRPr>
          </a:p>
          <a:p>
            <a:pPr marL="514350" indent="-514350">
              <a:buClrTx/>
            </a:pPr>
            <a:endParaRPr lang="fr-FR" sz="2800" dirty="0" smtClean="0">
              <a:solidFill>
                <a:srgbClr val="C00000"/>
              </a:solidFill>
            </a:endParaRPr>
          </a:p>
          <a:p>
            <a:pPr marL="514350" indent="-514350">
              <a:buClrTx/>
            </a:pPr>
            <a:endParaRPr lang="fr-FR" sz="2800" dirty="0" smtClean="0">
              <a:solidFill>
                <a:srgbClr val="C00000"/>
              </a:solidFill>
            </a:endParaRPr>
          </a:p>
          <a:p>
            <a:pPr marL="514350" indent="-514350">
              <a:buClrTx/>
            </a:pPr>
            <a:endParaRPr lang="fr-FR" sz="2800" dirty="0" smtClean="0">
              <a:solidFill>
                <a:srgbClr val="C00000"/>
              </a:solidFill>
            </a:endParaRPr>
          </a:p>
          <a:p>
            <a:pPr marL="514350" indent="-514350">
              <a:buClrTx/>
              <a:buNone/>
            </a:pPr>
            <a:endParaRPr lang="fr-FR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228600"/>
            <a:ext cx="8940800" cy="758952"/>
          </a:xfrm>
        </p:spPr>
        <p:txBody>
          <a:bodyPr>
            <a:noAutofit/>
          </a:bodyPr>
          <a:lstStyle/>
          <a:p>
            <a:r>
              <a:rPr lang="fr-FR" sz="3000" b="1" dirty="0" smtClean="0">
                <a:solidFill>
                  <a:srgbClr val="C00000"/>
                </a:solidFill>
              </a:rPr>
              <a:t>Présentation du </a:t>
            </a:r>
            <a:r>
              <a:rPr lang="fr-FR" sz="3000" b="1" dirty="0">
                <a:solidFill>
                  <a:srgbClr val="C00000"/>
                </a:solidFill>
              </a:rPr>
              <a:t>processus de déploiement de logiciels</a:t>
            </a:r>
            <a:endParaRPr lang="en-US" sz="3000" b="1" dirty="0">
              <a:solidFill>
                <a:srgbClr val="C00000"/>
              </a:solidFill>
            </a:endParaRPr>
          </a:p>
        </p:txBody>
      </p:sp>
      <p:sp>
        <p:nvSpPr>
          <p:cNvPr id="377391" name="AutoShape 559"/>
          <p:cNvSpPr>
            <a:spLocks noChangeArrowheads="1"/>
          </p:cNvSpPr>
          <p:nvPr/>
        </p:nvSpPr>
        <p:spPr bwMode="auto">
          <a:xfrm>
            <a:off x="957944" y="4037013"/>
            <a:ext cx="6923314" cy="2320244"/>
          </a:xfrm>
          <a:prstGeom prst="roundRect">
            <a:avLst>
              <a:gd name="adj" fmla="val 5028"/>
            </a:avLst>
          </a:prstGeom>
          <a:solidFill>
            <a:srgbClr val="F0F1E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b"/>
          <a:lstStyle/>
          <a:p>
            <a:pPr>
              <a:spcBef>
                <a:spcPct val="50000"/>
              </a:spcBef>
            </a:pPr>
            <a:r>
              <a:rPr lang="fr-FR" sz="2200" dirty="0">
                <a:solidFill>
                  <a:srgbClr val="000000"/>
                </a:solidFill>
              </a:rPr>
              <a:t>Modifiez les propriétés de déploiement des logiciels</a:t>
            </a:r>
            <a:endParaRPr lang="en-US" sz="2200" dirty="0"/>
          </a:p>
        </p:txBody>
      </p:sp>
      <p:sp>
        <p:nvSpPr>
          <p:cNvPr id="377392" name="AutoShape 56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44700" y="4342035"/>
            <a:ext cx="338138" cy="377825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2400">
                <a:solidFill>
                  <a:srgbClr val="990033"/>
                </a:solidFill>
              </a:rPr>
              <a:t>3</a:t>
            </a:r>
          </a:p>
        </p:txBody>
      </p:sp>
      <p:sp>
        <p:nvSpPr>
          <p:cNvPr id="377393" name="AutoShape 561"/>
          <p:cNvSpPr>
            <a:spLocks noChangeArrowheads="1"/>
          </p:cNvSpPr>
          <p:nvPr/>
        </p:nvSpPr>
        <p:spPr bwMode="auto">
          <a:xfrm>
            <a:off x="4648200" y="1306513"/>
            <a:ext cx="4307114" cy="2555875"/>
          </a:xfrm>
          <a:prstGeom prst="roundRect">
            <a:avLst>
              <a:gd name="adj" fmla="val 5028"/>
            </a:avLst>
          </a:prstGeom>
          <a:solidFill>
            <a:srgbClr val="F0F1E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b"/>
          <a:lstStyle/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fr-FR" sz="2200">
                <a:solidFill>
                  <a:srgbClr val="000000"/>
                </a:solidFill>
              </a:rPr>
              <a:t>Utilisez un objet Stratégie de groupe pour le déploiement des logiciels</a:t>
            </a:r>
            <a:endParaRPr lang="en-US" sz="2200"/>
          </a:p>
        </p:txBody>
      </p:sp>
      <p:sp>
        <p:nvSpPr>
          <p:cNvPr id="377394" name="AutoShape 56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737100" y="1420813"/>
            <a:ext cx="338138" cy="3937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2400">
                <a:solidFill>
                  <a:srgbClr val="990033"/>
                </a:solidFill>
              </a:rPr>
              <a:t>2</a:t>
            </a:r>
          </a:p>
        </p:txBody>
      </p:sp>
      <p:sp>
        <p:nvSpPr>
          <p:cNvPr id="377395" name="AutoShape 563"/>
          <p:cNvSpPr>
            <a:spLocks noChangeArrowheads="1"/>
          </p:cNvSpPr>
          <p:nvPr/>
        </p:nvSpPr>
        <p:spPr bwMode="auto">
          <a:xfrm>
            <a:off x="188686" y="1306513"/>
            <a:ext cx="4203927" cy="2555875"/>
          </a:xfrm>
          <a:prstGeom prst="roundRect">
            <a:avLst>
              <a:gd name="adj" fmla="val 5028"/>
            </a:avLst>
          </a:prstGeom>
          <a:solidFill>
            <a:srgbClr val="F0F1E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b"/>
          <a:lstStyle/>
          <a:p>
            <a:pPr>
              <a:buSzPct val="85000"/>
            </a:pPr>
            <a:r>
              <a:rPr lang="fr-FR" sz="2200" dirty="0">
                <a:solidFill>
                  <a:srgbClr val="000000"/>
                </a:solidFill>
              </a:rPr>
              <a:t>Créez un point </a:t>
            </a:r>
            <a:r>
              <a:rPr lang="fr-FR" sz="2200" dirty="0" smtClean="0">
                <a:solidFill>
                  <a:srgbClr val="000000"/>
                </a:solidFill>
              </a:rPr>
              <a:t> de </a:t>
            </a:r>
            <a:r>
              <a:rPr lang="fr-FR" sz="2200" dirty="0">
                <a:solidFill>
                  <a:srgbClr val="000000"/>
                </a:solidFill>
              </a:rPr>
              <a:t>distribution de logiciels</a:t>
            </a:r>
            <a:endParaRPr lang="en-US" sz="2200" dirty="0"/>
          </a:p>
        </p:txBody>
      </p:sp>
      <p:sp>
        <p:nvSpPr>
          <p:cNvPr id="377396" name="AutoShape 56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68400" y="1420813"/>
            <a:ext cx="338138" cy="3937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2400">
                <a:solidFill>
                  <a:srgbClr val="990033"/>
                </a:solidFill>
              </a:rPr>
              <a:t>1</a:t>
            </a:r>
          </a:p>
        </p:txBody>
      </p:sp>
      <p:pic>
        <p:nvPicPr>
          <p:cNvPr id="377397" name="Picture 565" descr="Server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1914525" y="1452563"/>
            <a:ext cx="1162050" cy="1368425"/>
          </a:xfrm>
          <a:prstGeom prst="rect">
            <a:avLst/>
          </a:prstGeom>
          <a:noFill/>
        </p:spPr>
      </p:pic>
      <p:pic>
        <p:nvPicPr>
          <p:cNvPr id="377399" name="Picture 567" descr="Folder_FolderOpen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2779713" y="1751013"/>
            <a:ext cx="990600" cy="885825"/>
          </a:xfrm>
          <a:prstGeom prst="rect">
            <a:avLst/>
          </a:prstGeom>
          <a:noFill/>
        </p:spPr>
      </p:pic>
      <p:pic>
        <p:nvPicPr>
          <p:cNvPr id="377400" name="Picture 568" descr="Shared Hand-3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21"/>
          <a:srcRect/>
          <a:stretch>
            <a:fillRect/>
          </a:stretch>
        </p:blipFill>
        <p:spPr bwMode="auto">
          <a:xfrm>
            <a:off x="2627313" y="2284413"/>
            <a:ext cx="990600" cy="431800"/>
          </a:xfrm>
          <a:prstGeom prst="rect">
            <a:avLst/>
          </a:prstGeom>
          <a:noFill/>
        </p:spPr>
      </p:pic>
      <p:pic>
        <p:nvPicPr>
          <p:cNvPr id="377401" name="Picture 569" descr="WindowsFlagLogo01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3184525" y="1528763"/>
            <a:ext cx="787400" cy="695325"/>
          </a:xfrm>
          <a:prstGeom prst="rect">
            <a:avLst/>
          </a:prstGeom>
          <a:noFill/>
        </p:spPr>
      </p:pic>
      <p:pic>
        <p:nvPicPr>
          <p:cNvPr id="377402" name="Picture 570" descr="GroupPolicyObject01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7019925" y="1919288"/>
            <a:ext cx="1266825" cy="750887"/>
          </a:xfrm>
          <a:prstGeom prst="rect">
            <a:avLst/>
          </a:prstGeom>
          <a:noFill/>
        </p:spPr>
      </p:pic>
      <p:pic>
        <p:nvPicPr>
          <p:cNvPr id="377403" name="Picture 571" descr="Validate_CheckBox01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5281613" y="1450975"/>
            <a:ext cx="673100" cy="812800"/>
          </a:xfrm>
          <a:prstGeom prst="rect">
            <a:avLst/>
          </a:prstGeom>
          <a:noFill/>
        </p:spPr>
      </p:pic>
      <p:pic>
        <p:nvPicPr>
          <p:cNvPr id="377405" name="Picture 573" descr="Validate_CheckBox01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5281613" y="2209800"/>
            <a:ext cx="673100" cy="812800"/>
          </a:xfrm>
          <a:prstGeom prst="rect">
            <a:avLst/>
          </a:prstGeom>
          <a:noFill/>
        </p:spPr>
      </p:pic>
      <p:pic>
        <p:nvPicPr>
          <p:cNvPr id="377406" name="Picture 574" descr="Validate_XMark01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5319713" y="2276475"/>
            <a:ext cx="552450" cy="673100"/>
          </a:xfrm>
          <a:prstGeom prst="rect">
            <a:avLst/>
          </a:prstGeom>
          <a:noFill/>
        </p:spPr>
      </p:pic>
      <p:sp>
        <p:nvSpPr>
          <p:cNvPr id="377407" name="Text Box 575"/>
          <p:cNvSpPr txBox="1">
            <a:spLocks noChangeArrowheads="1"/>
          </p:cNvSpPr>
          <p:nvPr/>
        </p:nvSpPr>
        <p:spPr bwMode="auto">
          <a:xfrm>
            <a:off x="5937250" y="1470025"/>
            <a:ext cx="1416050" cy="4270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fr-FR" sz="2200" dirty="0">
                <a:solidFill>
                  <a:srgbClr val="669900"/>
                </a:solidFill>
              </a:rPr>
              <a:t>Publication</a:t>
            </a:r>
            <a:endParaRPr lang="en-US" sz="2200" dirty="0">
              <a:solidFill>
                <a:srgbClr val="669900"/>
              </a:solidFill>
            </a:endParaRPr>
          </a:p>
        </p:txBody>
      </p:sp>
      <p:sp>
        <p:nvSpPr>
          <p:cNvPr id="377408" name="Text Box 576"/>
          <p:cNvSpPr txBox="1">
            <a:spLocks noChangeArrowheads="1"/>
          </p:cNvSpPr>
          <p:nvPr/>
        </p:nvSpPr>
        <p:spPr bwMode="auto">
          <a:xfrm>
            <a:off x="5922963" y="2597150"/>
            <a:ext cx="1377950" cy="4270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fr-FR" sz="2200">
                <a:solidFill>
                  <a:srgbClr val="669900"/>
                </a:solidFill>
              </a:rPr>
              <a:t>Affectation</a:t>
            </a:r>
            <a:endParaRPr lang="en-US" sz="2200">
              <a:solidFill>
                <a:srgbClr val="669900"/>
              </a:solidFill>
            </a:endParaRPr>
          </a:p>
        </p:txBody>
      </p:sp>
      <p:sp>
        <p:nvSpPr>
          <p:cNvPr id="377409" name="Text Box 577"/>
          <p:cNvSpPr txBox="1">
            <a:spLocks noChangeArrowheads="1"/>
          </p:cNvSpPr>
          <p:nvPr/>
        </p:nvSpPr>
        <p:spPr bwMode="auto">
          <a:xfrm>
            <a:off x="2420938" y="5331048"/>
            <a:ext cx="1377950" cy="4270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fr-FR" sz="2200">
                <a:solidFill>
                  <a:srgbClr val="669900"/>
                </a:solidFill>
              </a:rPr>
              <a:t>Propriété 1</a:t>
            </a:r>
            <a:endParaRPr lang="en-US" sz="2200">
              <a:solidFill>
                <a:srgbClr val="669900"/>
              </a:solidFill>
            </a:endParaRPr>
          </a:p>
        </p:txBody>
      </p:sp>
      <p:sp>
        <p:nvSpPr>
          <p:cNvPr id="377410" name="Text Box 578"/>
          <p:cNvSpPr txBox="1">
            <a:spLocks noChangeArrowheads="1"/>
          </p:cNvSpPr>
          <p:nvPr/>
        </p:nvSpPr>
        <p:spPr bwMode="auto">
          <a:xfrm>
            <a:off x="3963988" y="5331048"/>
            <a:ext cx="1377950" cy="4270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fr-FR" sz="2200">
                <a:solidFill>
                  <a:srgbClr val="669900"/>
                </a:solidFill>
              </a:rPr>
              <a:t>Propriété 2</a:t>
            </a:r>
            <a:endParaRPr lang="en-US" sz="2200">
              <a:solidFill>
                <a:srgbClr val="669900"/>
              </a:solidFill>
            </a:endParaRPr>
          </a:p>
        </p:txBody>
      </p:sp>
      <p:sp>
        <p:nvSpPr>
          <p:cNvPr id="377411" name="Text Box 579"/>
          <p:cNvSpPr txBox="1">
            <a:spLocks noChangeArrowheads="1"/>
          </p:cNvSpPr>
          <p:nvPr/>
        </p:nvSpPr>
        <p:spPr bwMode="auto">
          <a:xfrm>
            <a:off x="5543550" y="5331048"/>
            <a:ext cx="1377950" cy="4270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fr-FR" sz="2200">
                <a:solidFill>
                  <a:srgbClr val="669900"/>
                </a:solidFill>
              </a:rPr>
              <a:t>Propriété 3</a:t>
            </a:r>
            <a:endParaRPr lang="en-US" sz="2200">
              <a:solidFill>
                <a:srgbClr val="669900"/>
              </a:solidFill>
            </a:endParaRPr>
          </a:p>
        </p:txBody>
      </p:sp>
      <p:pic>
        <p:nvPicPr>
          <p:cNvPr id="377412" name="Picture 580" descr="Validate_CheckBox01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2698750" y="4516660"/>
            <a:ext cx="673100" cy="812800"/>
          </a:xfrm>
          <a:prstGeom prst="rect">
            <a:avLst/>
          </a:prstGeom>
          <a:noFill/>
        </p:spPr>
      </p:pic>
      <p:grpSp>
        <p:nvGrpSpPr>
          <p:cNvPr id="377420" name="Group 581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4184650" y="4540473"/>
            <a:ext cx="673100" cy="812800"/>
            <a:chOff x="2636" y="2723"/>
            <a:chExt cx="424" cy="512"/>
          </a:xfrm>
        </p:grpSpPr>
        <p:pic>
          <p:nvPicPr>
            <p:cNvPr id="377414" name="Picture 582" descr="Validate_CheckBox01"/>
            <p:cNvPicPr>
              <a:picLocks noChangeAspect="1" noChangeArrowheads="1"/>
            </p:cNvPicPr>
            <p:nvPr>
              <p:custDataLst>
                <p:tags r:id="rId15"/>
              </p:custDataLst>
            </p:nvPr>
          </p:nvPicPr>
          <p:blipFill>
            <a:blip r:embed="rId24" cstate="print"/>
            <a:srcRect/>
            <a:stretch>
              <a:fillRect/>
            </a:stretch>
          </p:blipFill>
          <p:spPr bwMode="auto">
            <a:xfrm>
              <a:off x="2636" y="2723"/>
              <a:ext cx="424" cy="512"/>
            </a:xfrm>
            <a:prstGeom prst="rect">
              <a:avLst/>
            </a:prstGeom>
            <a:noFill/>
          </p:spPr>
        </p:pic>
        <p:pic>
          <p:nvPicPr>
            <p:cNvPr id="377415" name="Picture 583" descr="Validate_XMark01"/>
            <p:cNvPicPr>
              <a:picLocks noChangeAspect="1" noChangeArrowheads="1"/>
            </p:cNvPicPr>
            <p:nvPr>
              <p:custDataLst>
                <p:tags r:id="rId16"/>
              </p:custDataLst>
            </p:nvPr>
          </p:nvPicPr>
          <p:blipFill>
            <a:blip r:embed="rId25" cstate="print"/>
            <a:srcRect/>
            <a:stretch>
              <a:fillRect/>
            </a:stretch>
          </p:blipFill>
          <p:spPr bwMode="auto">
            <a:xfrm>
              <a:off x="2660" y="2765"/>
              <a:ext cx="348" cy="424"/>
            </a:xfrm>
            <a:prstGeom prst="rect">
              <a:avLst/>
            </a:prstGeom>
            <a:noFill/>
          </p:spPr>
        </p:pic>
      </p:grpSp>
      <p:pic>
        <p:nvPicPr>
          <p:cNvPr id="377416" name="Picture 584" descr="Validate_CheckBox01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5764213" y="4516660"/>
            <a:ext cx="673100" cy="812800"/>
          </a:xfrm>
          <a:prstGeom prst="rect">
            <a:avLst/>
          </a:prstGeom>
          <a:noFill/>
        </p:spPr>
      </p:pic>
      <p:sp>
        <p:nvSpPr>
          <p:cNvPr id="27" name="Text Box 575"/>
          <p:cNvSpPr txBox="1">
            <a:spLocks noChangeArrowheads="1"/>
          </p:cNvSpPr>
          <p:nvPr/>
        </p:nvSpPr>
        <p:spPr bwMode="auto">
          <a:xfrm>
            <a:off x="7568296" y="1462768"/>
            <a:ext cx="1364476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fr-FR" sz="2200" dirty="0" smtClean="0">
                <a:solidFill>
                  <a:srgbClr val="0070C0"/>
                </a:solidFill>
              </a:rPr>
              <a:t>Ordinateur</a:t>
            </a:r>
            <a:endParaRPr lang="en-US" sz="2200" dirty="0">
              <a:solidFill>
                <a:srgbClr val="0070C0"/>
              </a:solidFill>
            </a:endParaRPr>
          </a:p>
        </p:txBody>
      </p:sp>
      <p:sp>
        <p:nvSpPr>
          <p:cNvPr id="28" name="Text Box 575"/>
          <p:cNvSpPr txBox="1">
            <a:spLocks noChangeArrowheads="1"/>
          </p:cNvSpPr>
          <p:nvPr/>
        </p:nvSpPr>
        <p:spPr bwMode="auto">
          <a:xfrm>
            <a:off x="7648120" y="2718253"/>
            <a:ext cx="1313180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fr-FR" sz="2200" dirty="0" smtClean="0">
                <a:solidFill>
                  <a:srgbClr val="0070C0"/>
                </a:solidFill>
              </a:rPr>
              <a:t>Utilisateur</a:t>
            </a:r>
            <a:endParaRPr lang="en-US" sz="22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37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1000"/>
                                        <p:tgtEl>
                                          <p:spTgt spid="37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1000"/>
                                        <p:tgtEl>
                                          <p:spTgt spid="37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377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1000"/>
                                        <p:tgtEl>
                                          <p:spTgt spid="37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37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377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1000"/>
                                        <p:tgtEl>
                                          <p:spTgt spid="37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1000"/>
                                        <p:tgtEl>
                                          <p:spTgt spid="37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37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377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1000"/>
                                        <p:tgtEl>
                                          <p:spTgt spid="377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1000"/>
                                        <p:tgtEl>
                                          <p:spTgt spid="377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1000"/>
                                        <p:tgtEl>
                                          <p:spTgt spid="377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1000"/>
                                        <p:tgtEl>
                                          <p:spTgt spid="377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1000"/>
                                        <p:tgtEl>
                                          <p:spTgt spid="377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1000"/>
                                        <p:tgtEl>
                                          <p:spTgt spid="37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1000"/>
                                        <p:tgtEl>
                                          <p:spTgt spid="37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1000"/>
                                        <p:tgtEl>
                                          <p:spTgt spid="37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1000"/>
                                        <p:tgtEl>
                                          <p:spTgt spid="37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1000"/>
                                        <p:tgtEl>
                                          <p:spTgt spid="37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1000"/>
                                        <p:tgtEl>
                                          <p:spTgt spid="37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391" grpId="0" animBg="1"/>
      <p:bldP spid="377392" grpId="0" animBg="1"/>
      <p:bldP spid="377393" grpId="0" animBg="1"/>
      <p:bldP spid="377394" grpId="0" animBg="1"/>
      <p:bldP spid="377395" grpId="0" animBg="1"/>
      <p:bldP spid="377396" grpId="0" animBg="1"/>
      <p:bldP spid="377407" grpId="0"/>
      <p:bldP spid="377408" grpId="0"/>
      <p:bldP spid="377409" grpId="0"/>
      <p:bldP spid="377410" grpId="0"/>
      <p:bldP spid="377411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fr-FR" sz="3000" b="1" dirty="0">
                <a:solidFill>
                  <a:srgbClr val="C00000"/>
                </a:solidFill>
              </a:rPr>
              <a:t>Affectation de logiciels et publication de logiciels</a:t>
            </a:r>
            <a:endParaRPr lang="en-US" sz="3000" b="1" dirty="0">
              <a:solidFill>
                <a:srgbClr val="C00000"/>
              </a:solidFill>
            </a:endParaRPr>
          </a:p>
        </p:txBody>
      </p:sp>
      <p:sp>
        <p:nvSpPr>
          <p:cNvPr id="384618" name="AutoShape 618"/>
          <p:cNvSpPr>
            <a:spLocks noChangeArrowheads="1"/>
          </p:cNvSpPr>
          <p:nvPr/>
        </p:nvSpPr>
        <p:spPr bwMode="auto">
          <a:xfrm>
            <a:off x="3251200" y="2878138"/>
            <a:ext cx="2656114" cy="1958975"/>
          </a:xfrm>
          <a:prstGeom prst="roundRect">
            <a:avLst>
              <a:gd name="adj" fmla="val 28352"/>
            </a:avLst>
          </a:prstGeom>
          <a:solidFill>
            <a:srgbClr val="F0F1E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lang="fr-FR" sz="2200" dirty="0">
                <a:solidFill>
                  <a:srgbClr val="000000"/>
                </a:solidFill>
              </a:rPr>
              <a:t>Point de </a:t>
            </a:r>
            <a:r>
              <a:rPr lang="fr-FR" sz="2200" dirty="0" smtClean="0">
                <a:solidFill>
                  <a:srgbClr val="000000"/>
                </a:solidFill>
              </a:rPr>
              <a:t>distribution </a:t>
            </a:r>
            <a:r>
              <a:rPr lang="fr-FR" sz="2200" dirty="0">
                <a:solidFill>
                  <a:srgbClr val="000000"/>
                </a:solidFill>
              </a:rPr>
              <a:t>de logiciels</a:t>
            </a:r>
            <a:endParaRPr lang="en-US" sz="2200" dirty="0"/>
          </a:p>
        </p:txBody>
      </p:sp>
      <p:pic>
        <p:nvPicPr>
          <p:cNvPr id="384620" name="Picture 620" descr="Server0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0" cstate="print"/>
          <a:srcRect/>
          <a:stretch>
            <a:fillRect/>
          </a:stretch>
        </p:blipFill>
        <p:spPr bwMode="auto">
          <a:xfrm>
            <a:off x="4021138" y="3614738"/>
            <a:ext cx="958850" cy="1127125"/>
          </a:xfrm>
          <a:prstGeom prst="rect">
            <a:avLst/>
          </a:prstGeom>
          <a:noFill/>
        </p:spPr>
      </p:pic>
      <p:grpSp>
        <p:nvGrpSpPr>
          <p:cNvPr id="384719" name="Group 719"/>
          <p:cNvGrpSpPr>
            <a:grpSpLocks/>
          </p:cNvGrpSpPr>
          <p:nvPr/>
        </p:nvGrpSpPr>
        <p:grpSpPr bwMode="auto">
          <a:xfrm>
            <a:off x="2571750" y="1997075"/>
            <a:ext cx="6383338" cy="4491038"/>
            <a:chOff x="1585" y="1258"/>
            <a:chExt cx="4021" cy="2829"/>
          </a:xfrm>
        </p:grpSpPr>
        <p:sp>
          <p:nvSpPr>
            <p:cNvPr id="384624" name="AutoShape 624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 rot="16200000" flipH="1">
              <a:off x="2621" y="2997"/>
              <a:ext cx="460" cy="269"/>
            </a:xfrm>
            <a:custGeom>
              <a:avLst/>
              <a:gdLst>
                <a:gd name="G0" fmla="+- 11642 0 0"/>
                <a:gd name="G1" fmla="+- 5417 0 0"/>
                <a:gd name="G2" fmla="+- 21600 0 5417"/>
                <a:gd name="G3" fmla="+- 10800 0 5417"/>
                <a:gd name="G4" fmla="+- 21600 0 11642"/>
                <a:gd name="G5" fmla="*/ G4 G3 10800"/>
                <a:gd name="G6" fmla="+- 21600 0 G5"/>
                <a:gd name="T0" fmla="*/ 11642 w 21600"/>
                <a:gd name="T1" fmla="*/ 0 h 21600"/>
                <a:gd name="T2" fmla="*/ 0 w 21600"/>
                <a:gd name="T3" fmla="*/ 10800 h 21600"/>
                <a:gd name="T4" fmla="*/ 11642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1642" y="0"/>
                  </a:moveTo>
                  <a:lnTo>
                    <a:pt x="11642" y="5417"/>
                  </a:lnTo>
                  <a:lnTo>
                    <a:pt x="3375" y="5417"/>
                  </a:lnTo>
                  <a:lnTo>
                    <a:pt x="3375" y="16183"/>
                  </a:lnTo>
                  <a:lnTo>
                    <a:pt x="11642" y="16183"/>
                  </a:lnTo>
                  <a:lnTo>
                    <a:pt x="11642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17"/>
                  </a:moveTo>
                  <a:lnTo>
                    <a:pt x="1350" y="16183"/>
                  </a:lnTo>
                  <a:lnTo>
                    <a:pt x="2700" y="16183"/>
                  </a:lnTo>
                  <a:lnTo>
                    <a:pt x="2700" y="5417"/>
                  </a:lnTo>
                  <a:close/>
                </a:path>
                <a:path w="21600" h="21600">
                  <a:moveTo>
                    <a:pt x="0" y="5417"/>
                  </a:moveTo>
                  <a:lnTo>
                    <a:pt x="0" y="16183"/>
                  </a:lnTo>
                  <a:lnTo>
                    <a:pt x="675" y="16183"/>
                  </a:lnTo>
                  <a:lnTo>
                    <a:pt x="675" y="5417"/>
                  </a:lnTo>
                  <a:close/>
                </a:path>
              </a:pathLst>
            </a:custGeom>
            <a:solidFill>
              <a:srgbClr val="FF0000">
                <a:alpha val="75000"/>
              </a:srgbClr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26" name="AutoShape 626"/>
            <p:cNvSpPr>
              <a:spLocks noChangeArrowheads="1"/>
            </p:cNvSpPr>
            <p:nvPr/>
          </p:nvSpPr>
          <p:spPr bwMode="auto">
            <a:xfrm>
              <a:off x="2444" y="3420"/>
              <a:ext cx="1681" cy="667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lnSpc>
                  <a:spcPct val="85000"/>
                </a:lnSpc>
              </a:pPr>
              <a:r>
                <a:rPr lang="fr-FR" sz="2200" dirty="0">
                  <a:solidFill>
                    <a:srgbClr val="000000"/>
                  </a:solidFill>
                </a:rPr>
                <a:t>Publier un logiciel à l'aide de l'activation d'un document</a:t>
              </a:r>
              <a:endParaRPr lang="en-US" sz="2200" dirty="0"/>
            </a:p>
          </p:txBody>
        </p:sp>
        <p:pic>
          <p:nvPicPr>
            <p:cNvPr id="384628" name="Picture 628" descr="UserWithDesktopComputer01"/>
            <p:cNvPicPr>
              <a:picLocks noChangeAspect="1" noChangeArrowheads="1"/>
            </p:cNvPicPr>
            <p:nvPr>
              <p:custDataLst>
                <p:tags r:id="rId17"/>
              </p:custDataLst>
            </p:nvPr>
          </p:nvPicPr>
          <p:blipFill>
            <a:blip r:embed="rId61" cstate="print"/>
            <a:srcRect/>
            <a:stretch>
              <a:fillRect/>
            </a:stretch>
          </p:blipFill>
          <p:spPr bwMode="auto">
            <a:xfrm>
              <a:off x="1585" y="3168"/>
              <a:ext cx="788" cy="917"/>
            </a:xfrm>
            <a:prstGeom prst="rect">
              <a:avLst/>
            </a:prstGeom>
            <a:noFill/>
          </p:spPr>
        </p:pic>
        <p:sp>
          <p:nvSpPr>
            <p:cNvPr id="384630" name="AutoShape 630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 flipH="1" flipV="1">
              <a:off x="2112" y="3127"/>
              <a:ext cx="282" cy="367"/>
            </a:xfrm>
            <a:prstGeom prst="foldedCorner">
              <a:avLst>
                <a:gd name="adj" fmla="val 28630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rot="10800000" wrap="none" tIns="228600" anchor="ctr"/>
            <a:lstStyle/>
            <a:p>
              <a:endParaRPr lang="fr-FR" sz="2000">
                <a:solidFill>
                  <a:srgbClr val="CC0066"/>
                </a:solidFill>
              </a:endParaRPr>
            </a:p>
          </p:txBody>
        </p:sp>
        <p:sp>
          <p:nvSpPr>
            <p:cNvPr id="384631" name="Text Box 63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140" y="3146"/>
              <a:ext cx="227" cy="3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solidFill>
                    <a:srgbClr val="CC0066"/>
                  </a:solidFill>
                </a:rPr>
                <a:t>?</a:t>
              </a:r>
            </a:p>
          </p:txBody>
        </p:sp>
        <p:sp>
          <p:nvSpPr>
            <p:cNvPr id="384632" name="Freeform 632"/>
            <p:cNvSpPr>
              <a:spLocks/>
            </p:cNvSpPr>
            <p:nvPr>
              <p:custDataLst>
                <p:tags r:id="rId20"/>
              </p:custDataLst>
            </p:nvPr>
          </p:nvSpPr>
          <p:spPr bwMode="auto">
            <a:xfrm>
              <a:off x="2327" y="3381"/>
              <a:ext cx="217" cy="25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55" y="238"/>
                </a:cxn>
                <a:cxn ang="0">
                  <a:pos x="92" y="154"/>
                </a:cxn>
                <a:cxn ang="0">
                  <a:pos x="232" y="326"/>
                </a:cxn>
                <a:cxn ang="0">
                  <a:pos x="274" y="292"/>
                </a:cxn>
                <a:cxn ang="0">
                  <a:pos x="134" y="124"/>
                </a:cxn>
                <a:cxn ang="0">
                  <a:pos x="224" y="109"/>
                </a:cxn>
                <a:cxn ang="0">
                  <a:pos x="1" y="0"/>
                </a:cxn>
              </a:cxnLst>
              <a:rect l="0" t="0" r="r" b="b"/>
              <a:pathLst>
                <a:path w="275" h="327">
                  <a:moveTo>
                    <a:pt x="0" y="2"/>
                  </a:moveTo>
                  <a:lnTo>
                    <a:pt x="55" y="238"/>
                  </a:lnTo>
                  <a:lnTo>
                    <a:pt x="92" y="154"/>
                  </a:lnTo>
                  <a:lnTo>
                    <a:pt x="232" y="326"/>
                  </a:lnTo>
                  <a:lnTo>
                    <a:pt x="274" y="292"/>
                  </a:lnTo>
                  <a:lnTo>
                    <a:pt x="134" y="124"/>
                  </a:lnTo>
                  <a:lnTo>
                    <a:pt x="224" y="109"/>
                  </a:ln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40161" dir="6506097" algn="ctr" rotWithShape="0">
                <a:srgbClr val="919191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384634" name="AutoShape 634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 flipV="1">
              <a:off x="3477" y="2356"/>
              <a:ext cx="460" cy="269"/>
            </a:xfrm>
            <a:custGeom>
              <a:avLst/>
              <a:gdLst>
                <a:gd name="G0" fmla="+- 11642 0 0"/>
                <a:gd name="G1" fmla="+- 5417 0 0"/>
                <a:gd name="G2" fmla="+- 21600 0 5417"/>
                <a:gd name="G3" fmla="+- 10800 0 5417"/>
                <a:gd name="G4" fmla="+- 21600 0 11642"/>
                <a:gd name="G5" fmla="*/ G4 G3 10800"/>
                <a:gd name="G6" fmla="+- 21600 0 G5"/>
                <a:gd name="T0" fmla="*/ 11642 w 21600"/>
                <a:gd name="T1" fmla="*/ 0 h 21600"/>
                <a:gd name="T2" fmla="*/ 0 w 21600"/>
                <a:gd name="T3" fmla="*/ 10800 h 21600"/>
                <a:gd name="T4" fmla="*/ 11642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1642" y="0"/>
                  </a:moveTo>
                  <a:lnTo>
                    <a:pt x="11642" y="5417"/>
                  </a:lnTo>
                  <a:lnTo>
                    <a:pt x="3375" y="5417"/>
                  </a:lnTo>
                  <a:lnTo>
                    <a:pt x="3375" y="16183"/>
                  </a:lnTo>
                  <a:lnTo>
                    <a:pt x="11642" y="16183"/>
                  </a:lnTo>
                  <a:lnTo>
                    <a:pt x="11642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17"/>
                  </a:moveTo>
                  <a:lnTo>
                    <a:pt x="1350" y="16183"/>
                  </a:lnTo>
                  <a:lnTo>
                    <a:pt x="2700" y="16183"/>
                  </a:lnTo>
                  <a:lnTo>
                    <a:pt x="2700" y="5417"/>
                  </a:lnTo>
                  <a:close/>
                </a:path>
                <a:path w="21600" h="21600">
                  <a:moveTo>
                    <a:pt x="0" y="5417"/>
                  </a:moveTo>
                  <a:lnTo>
                    <a:pt x="0" y="16183"/>
                  </a:lnTo>
                  <a:lnTo>
                    <a:pt x="675" y="16183"/>
                  </a:lnTo>
                  <a:lnTo>
                    <a:pt x="675" y="5417"/>
                  </a:lnTo>
                  <a:close/>
                </a:path>
              </a:pathLst>
            </a:custGeom>
            <a:solidFill>
              <a:srgbClr val="FF0000">
                <a:alpha val="75000"/>
              </a:srgbClr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36" name="AutoShape 636"/>
            <p:cNvSpPr>
              <a:spLocks noChangeArrowheads="1"/>
            </p:cNvSpPr>
            <p:nvPr/>
          </p:nvSpPr>
          <p:spPr bwMode="auto">
            <a:xfrm>
              <a:off x="3942" y="2210"/>
              <a:ext cx="1664" cy="880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lnSpc>
                  <a:spcPct val="85000"/>
                </a:lnSpc>
              </a:pPr>
              <a:r>
                <a:rPr lang="fr-FR" sz="2200" dirty="0">
                  <a:solidFill>
                    <a:srgbClr val="000000"/>
                  </a:solidFill>
                </a:rPr>
                <a:t>Publier un logiciel à l'aide de l'option Ajouter ou </a:t>
              </a:r>
              <a:r>
                <a:rPr lang="fr-FR" sz="2200" dirty="0" smtClean="0">
                  <a:solidFill>
                    <a:srgbClr val="000000"/>
                  </a:solidFill>
                </a:rPr>
                <a:t>supprimer </a:t>
              </a:r>
              <a:r>
                <a:rPr lang="fr-FR" sz="2200" dirty="0">
                  <a:solidFill>
                    <a:srgbClr val="000000"/>
                  </a:solidFill>
                </a:rPr>
                <a:t>des programmes</a:t>
              </a:r>
              <a:endParaRPr lang="en-US" sz="2200" dirty="0"/>
            </a:p>
          </p:txBody>
        </p:sp>
        <p:pic>
          <p:nvPicPr>
            <p:cNvPr id="384638" name="Picture 638" descr="UserWithDesktopComputer01"/>
            <p:cNvPicPr>
              <a:picLocks noChangeAspect="1" noChangeArrowheads="1"/>
            </p:cNvPicPr>
            <p:nvPr>
              <p:custDataLst>
                <p:tags r:id="rId22"/>
              </p:custDataLst>
            </p:nvPr>
          </p:nvPicPr>
          <p:blipFill>
            <a:blip r:embed="rId61" cstate="print"/>
            <a:srcRect/>
            <a:stretch>
              <a:fillRect/>
            </a:stretch>
          </p:blipFill>
          <p:spPr bwMode="auto">
            <a:xfrm>
              <a:off x="4096" y="1258"/>
              <a:ext cx="788" cy="917"/>
            </a:xfrm>
            <a:prstGeom prst="rect">
              <a:avLst/>
            </a:prstGeom>
            <a:noFill/>
          </p:spPr>
        </p:pic>
        <p:sp>
          <p:nvSpPr>
            <p:cNvPr id="384641" name="Rectangle 641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605" y="1373"/>
              <a:ext cx="326" cy="29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rgbClr val="919191"/>
              </a:solidFill>
              <a:miter lim="800000"/>
              <a:headEnd/>
              <a:tailEnd/>
            </a:ln>
            <a:effectLst>
              <a:outerShdw dist="17961" dir="2700000" algn="ctr" rotWithShape="0">
                <a:schemeClr val="tx2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42" name="Rectangle 642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618" y="1459"/>
              <a:ext cx="302" cy="197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43" name="Rectangle 643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618" y="1389"/>
              <a:ext cx="302" cy="55"/>
            </a:xfrm>
            <a:prstGeom prst="rect">
              <a:avLst/>
            </a:prstGeom>
            <a:solidFill>
              <a:srgbClr val="00279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44" name="Rectangle 644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828" y="1406"/>
              <a:ext cx="25" cy="2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45" name="Rectangle 645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878" y="1406"/>
              <a:ext cx="26" cy="2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46" name="Rectangle 646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781" y="1406"/>
              <a:ext cx="27" cy="2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48" name="Rectangle 648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746" y="1495"/>
              <a:ext cx="326" cy="29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rgbClr val="919191"/>
              </a:solidFill>
              <a:miter lim="800000"/>
              <a:headEnd/>
              <a:tailEnd/>
            </a:ln>
            <a:effectLst>
              <a:outerShdw dist="17961" dir="2700000" algn="ctr" rotWithShape="0">
                <a:schemeClr val="tx2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49" name="Rectangle 649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759" y="1581"/>
              <a:ext cx="302" cy="197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50" name="Rectangle 650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4759" y="1511"/>
              <a:ext cx="302" cy="55"/>
            </a:xfrm>
            <a:prstGeom prst="rect">
              <a:avLst/>
            </a:prstGeom>
            <a:solidFill>
              <a:srgbClr val="00279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51" name="Rectangle 651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4969" y="1528"/>
              <a:ext cx="25" cy="2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52" name="Rectangle 652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019" y="1528"/>
              <a:ext cx="26" cy="2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53" name="Rectangle 653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922" y="1528"/>
              <a:ext cx="27" cy="2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384705" name="Group 654"/>
            <p:cNvGrpSpPr>
              <a:grpSpLocks/>
            </p:cNvGrpSpPr>
            <p:nvPr>
              <p:custDataLst>
                <p:tags r:id="rId35"/>
              </p:custDataLst>
            </p:nvPr>
          </p:nvGrpSpPr>
          <p:grpSpPr bwMode="auto">
            <a:xfrm>
              <a:off x="4775" y="1607"/>
              <a:ext cx="261" cy="155"/>
              <a:chOff x="4775" y="1607"/>
              <a:chExt cx="261" cy="155"/>
            </a:xfrm>
          </p:grpSpPr>
          <p:sp>
            <p:nvSpPr>
              <p:cNvPr id="384655" name="Rectangle 655"/>
              <p:cNvSpPr>
                <a:spLocks noChangeArrowheads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4789" y="1607"/>
                <a:ext cx="30" cy="23"/>
              </a:xfrm>
              <a:prstGeom prst="rect">
                <a:avLst/>
              </a:prstGeom>
              <a:solidFill>
                <a:srgbClr val="FAFD00"/>
              </a:solidFill>
              <a:ln w="12700">
                <a:solidFill>
                  <a:srgbClr val="00FF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84656" name="Line 656"/>
              <p:cNvSpPr>
                <a:spLocks noChangeShapeType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4784" y="1653"/>
                <a:ext cx="45" cy="0"/>
              </a:xfrm>
              <a:prstGeom prst="line">
                <a:avLst/>
              </a:prstGeom>
              <a:noFill/>
              <a:ln w="12700">
                <a:solidFill>
                  <a:srgbClr val="91919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84657" name="Rectangle 657"/>
              <p:cNvSpPr>
                <a:spLocks noChangeArrowheads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4891" y="1607"/>
                <a:ext cx="29" cy="25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009688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84658" name="Line 658"/>
              <p:cNvSpPr>
                <a:spLocks noChangeShapeType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4887" y="1653"/>
                <a:ext cx="44" cy="0"/>
              </a:xfrm>
              <a:prstGeom prst="line">
                <a:avLst/>
              </a:prstGeom>
              <a:noFill/>
              <a:ln w="12700">
                <a:solidFill>
                  <a:srgbClr val="91919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84659" name="Rectangle 659"/>
              <p:cNvSpPr>
                <a:spLocks noChangeArrowheads="1"/>
              </p:cNvSpPr>
              <p:nvPr>
                <p:custDataLst>
                  <p:tags r:id="rId50"/>
                </p:custDataLst>
              </p:nvPr>
            </p:nvSpPr>
            <p:spPr bwMode="auto">
              <a:xfrm>
                <a:off x="4996" y="1607"/>
                <a:ext cx="29" cy="23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114FFB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84660" name="Line 660"/>
              <p:cNvSpPr>
                <a:spLocks noChangeShapeType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4991" y="1653"/>
                <a:ext cx="45" cy="0"/>
              </a:xfrm>
              <a:prstGeom prst="line">
                <a:avLst/>
              </a:prstGeom>
              <a:noFill/>
              <a:ln w="12700">
                <a:solidFill>
                  <a:srgbClr val="91919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84661" name="Rectangle 661"/>
              <p:cNvSpPr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4996" y="1709"/>
                <a:ext cx="29" cy="31"/>
              </a:xfrm>
              <a:prstGeom prst="rect">
                <a:avLst/>
              </a:prstGeom>
              <a:solidFill>
                <a:srgbClr val="FAFD00"/>
              </a:solidFill>
              <a:ln w="12700">
                <a:solidFill>
                  <a:srgbClr val="FC0128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84662" name="Line 662"/>
              <p:cNvSpPr>
                <a:spLocks noChangeShapeType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4982" y="1762"/>
                <a:ext cx="45" cy="0"/>
              </a:xfrm>
              <a:prstGeom prst="line">
                <a:avLst/>
              </a:prstGeom>
              <a:noFill/>
              <a:ln w="12700">
                <a:solidFill>
                  <a:srgbClr val="91919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84663" name="Freeform 663"/>
              <p:cNvSpPr>
                <a:spLocks/>
              </p:cNvSpPr>
              <p:nvPr>
                <p:custDataLst>
                  <p:tags r:id="rId54"/>
                </p:custDataLst>
              </p:nvPr>
            </p:nvSpPr>
            <p:spPr bwMode="auto">
              <a:xfrm>
                <a:off x="4885" y="1700"/>
                <a:ext cx="43" cy="43"/>
              </a:xfrm>
              <a:custGeom>
                <a:avLst/>
                <a:gdLst/>
                <a:ahLst/>
                <a:cxnLst>
                  <a:cxn ang="0">
                    <a:pos x="24" y="25"/>
                  </a:cxn>
                  <a:cxn ang="0">
                    <a:pos x="24" y="0"/>
                  </a:cxn>
                  <a:cxn ang="0">
                    <a:pos x="0" y="25"/>
                  </a:cxn>
                  <a:cxn ang="0">
                    <a:pos x="24" y="25"/>
                  </a:cxn>
                </a:cxnLst>
                <a:rect l="0" t="0" r="r" b="b"/>
                <a:pathLst>
                  <a:path w="25" h="26">
                    <a:moveTo>
                      <a:pt x="24" y="25"/>
                    </a:moveTo>
                    <a:lnTo>
                      <a:pt x="24" y="0"/>
                    </a:lnTo>
                    <a:lnTo>
                      <a:pt x="0" y="25"/>
                    </a:lnTo>
                    <a:lnTo>
                      <a:pt x="24" y="25"/>
                    </a:lnTo>
                  </a:path>
                </a:pathLst>
              </a:custGeom>
              <a:solidFill>
                <a:srgbClr val="FAFD00"/>
              </a:solidFill>
              <a:ln w="12700" cap="rnd" cmpd="sng">
                <a:solidFill>
                  <a:srgbClr val="767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84664" name="Line 664"/>
              <p:cNvSpPr>
                <a:spLocks noChangeShapeType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4879" y="1762"/>
                <a:ext cx="43" cy="0"/>
              </a:xfrm>
              <a:prstGeom prst="line">
                <a:avLst/>
              </a:prstGeom>
              <a:noFill/>
              <a:ln w="12700">
                <a:solidFill>
                  <a:srgbClr val="91919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84665" name="Freeform 665"/>
              <p:cNvSpPr>
                <a:spLocks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4783" y="1700"/>
                <a:ext cx="43" cy="43"/>
              </a:xfrm>
              <a:custGeom>
                <a:avLst/>
                <a:gdLst/>
                <a:ahLst/>
                <a:cxnLst>
                  <a:cxn ang="0">
                    <a:pos x="24" y="25"/>
                  </a:cxn>
                  <a:cxn ang="0">
                    <a:pos x="24" y="0"/>
                  </a:cxn>
                  <a:cxn ang="0">
                    <a:pos x="0" y="25"/>
                  </a:cxn>
                  <a:cxn ang="0">
                    <a:pos x="24" y="25"/>
                  </a:cxn>
                </a:cxnLst>
                <a:rect l="0" t="0" r="r" b="b"/>
                <a:pathLst>
                  <a:path w="25" h="26">
                    <a:moveTo>
                      <a:pt x="24" y="25"/>
                    </a:moveTo>
                    <a:lnTo>
                      <a:pt x="24" y="0"/>
                    </a:lnTo>
                    <a:lnTo>
                      <a:pt x="0" y="25"/>
                    </a:lnTo>
                    <a:lnTo>
                      <a:pt x="24" y="25"/>
                    </a:lnTo>
                  </a:path>
                </a:pathLst>
              </a:custGeom>
              <a:solidFill>
                <a:srgbClr val="FAFD00"/>
              </a:solidFill>
              <a:ln w="12700" cap="rnd" cmpd="sng">
                <a:solidFill>
                  <a:srgbClr val="FD21F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84666" name="Line 666"/>
              <p:cNvSpPr>
                <a:spLocks noChangeShapeType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4775" y="1762"/>
                <a:ext cx="46" cy="0"/>
              </a:xfrm>
              <a:prstGeom prst="line">
                <a:avLst/>
              </a:prstGeom>
              <a:noFill/>
              <a:ln w="12700">
                <a:solidFill>
                  <a:srgbClr val="91919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384668" name="Line 668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>
              <a:off x="4745" y="1452"/>
              <a:ext cx="0" cy="116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69" name="Line 669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>
              <a:off x="4745" y="1452"/>
              <a:ext cx="0" cy="116"/>
            </a:xfrm>
            <a:prstGeom prst="line">
              <a:avLst/>
            </a:prstGeom>
            <a:noFill/>
            <a:ln w="28575">
              <a:solidFill>
                <a:srgbClr val="FC0128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70" name="Line 670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 flipV="1">
              <a:off x="4689" y="1441"/>
              <a:ext cx="98" cy="117"/>
            </a:xfrm>
            <a:prstGeom prst="line">
              <a:avLst/>
            </a:prstGeom>
            <a:noFill/>
            <a:ln w="28575">
              <a:solidFill>
                <a:srgbClr val="FAFD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71" name="Line 671"/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 flipV="1">
              <a:off x="4711" y="1463"/>
              <a:ext cx="53" cy="74"/>
            </a:xfrm>
            <a:prstGeom prst="line">
              <a:avLst/>
            </a:prstGeom>
            <a:noFill/>
            <a:ln w="28575">
              <a:solidFill>
                <a:srgbClr val="FC0128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72" name="Line 672"/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>
              <a:off x="4668" y="1504"/>
              <a:ext cx="119" cy="0"/>
            </a:xfrm>
            <a:prstGeom prst="line">
              <a:avLst/>
            </a:prstGeom>
            <a:noFill/>
            <a:ln w="28575">
              <a:solidFill>
                <a:srgbClr val="FAFD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73" name="Line 673"/>
            <p:cNvSpPr>
              <a:spLocks noChangeShapeType="1"/>
            </p:cNvSpPr>
            <p:nvPr>
              <p:custDataLst>
                <p:tags r:id="rId41"/>
              </p:custDataLst>
            </p:nvPr>
          </p:nvSpPr>
          <p:spPr bwMode="auto">
            <a:xfrm>
              <a:off x="4668" y="1504"/>
              <a:ext cx="119" cy="0"/>
            </a:xfrm>
            <a:prstGeom prst="line">
              <a:avLst/>
            </a:prstGeom>
            <a:noFill/>
            <a:ln w="28575">
              <a:solidFill>
                <a:srgbClr val="FC0128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74" name="Line 674"/>
            <p:cNvSpPr>
              <a:spLocks noChangeShapeType="1"/>
            </p:cNvSpPr>
            <p:nvPr>
              <p:custDataLst>
                <p:tags r:id="rId42"/>
              </p:custDataLst>
            </p:nvPr>
          </p:nvSpPr>
          <p:spPr bwMode="auto">
            <a:xfrm>
              <a:off x="4689" y="1452"/>
              <a:ext cx="98" cy="96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75" name="Line 675"/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>
              <a:off x="4689" y="1452"/>
              <a:ext cx="98" cy="96"/>
            </a:xfrm>
            <a:prstGeom prst="line">
              <a:avLst/>
            </a:prstGeom>
            <a:noFill/>
            <a:ln w="28575">
              <a:solidFill>
                <a:srgbClr val="FAFD00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76" name="Line 676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>
              <a:off x="4703" y="1466"/>
              <a:ext cx="70" cy="65"/>
            </a:xfrm>
            <a:prstGeom prst="line">
              <a:avLst/>
            </a:prstGeom>
            <a:noFill/>
            <a:ln w="28575">
              <a:solidFill>
                <a:srgbClr val="FC0128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77" name="Freeform 677"/>
            <p:cNvSpPr>
              <a:spLocks/>
            </p:cNvSpPr>
            <p:nvPr>
              <p:custDataLst>
                <p:tags r:id="rId45"/>
              </p:custDataLst>
            </p:nvPr>
          </p:nvSpPr>
          <p:spPr bwMode="auto">
            <a:xfrm>
              <a:off x="4903" y="1628"/>
              <a:ext cx="217" cy="25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55" y="238"/>
                </a:cxn>
                <a:cxn ang="0">
                  <a:pos x="92" y="154"/>
                </a:cxn>
                <a:cxn ang="0">
                  <a:pos x="232" y="326"/>
                </a:cxn>
                <a:cxn ang="0">
                  <a:pos x="274" y="292"/>
                </a:cxn>
                <a:cxn ang="0">
                  <a:pos x="134" y="124"/>
                </a:cxn>
                <a:cxn ang="0">
                  <a:pos x="224" y="109"/>
                </a:cxn>
                <a:cxn ang="0">
                  <a:pos x="1" y="0"/>
                </a:cxn>
              </a:cxnLst>
              <a:rect l="0" t="0" r="r" b="b"/>
              <a:pathLst>
                <a:path w="275" h="327">
                  <a:moveTo>
                    <a:pt x="0" y="2"/>
                  </a:moveTo>
                  <a:lnTo>
                    <a:pt x="55" y="238"/>
                  </a:lnTo>
                  <a:lnTo>
                    <a:pt x="92" y="154"/>
                  </a:lnTo>
                  <a:lnTo>
                    <a:pt x="232" y="326"/>
                  </a:lnTo>
                  <a:lnTo>
                    <a:pt x="274" y="292"/>
                  </a:lnTo>
                  <a:lnTo>
                    <a:pt x="134" y="124"/>
                  </a:lnTo>
                  <a:lnTo>
                    <a:pt x="224" y="109"/>
                  </a:ln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40161" dir="6506097" algn="ctr" rotWithShape="0">
                <a:srgbClr val="919191"/>
              </a:outerShdw>
            </a:effec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84679" name="Oval 67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50875" y="5994400"/>
            <a:ext cx="914400" cy="425450"/>
          </a:xfrm>
          <a:prstGeom prst="ellipse">
            <a:avLst/>
          </a:prstGeom>
          <a:gradFill rotWithShape="0">
            <a:gsLst>
              <a:gs pos="0">
                <a:srgbClr val="666699"/>
              </a:gs>
              <a:gs pos="100000">
                <a:srgbClr val="99CCFF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outerShdw dist="17961" dir="2700000" algn="ctr" rotWithShape="0">
              <a:srgbClr val="969696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grpSp>
        <p:nvGrpSpPr>
          <p:cNvPr id="384720" name="Group 720"/>
          <p:cNvGrpSpPr>
            <a:grpSpLocks/>
          </p:cNvGrpSpPr>
          <p:nvPr/>
        </p:nvGrpSpPr>
        <p:grpSpPr bwMode="auto">
          <a:xfrm>
            <a:off x="773113" y="6084888"/>
            <a:ext cx="304800" cy="244475"/>
            <a:chOff x="487" y="3833"/>
            <a:chExt cx="192" cy="154"/>
          </a:xfrm>
        </p:grpSpPr>
        <p:sp>
          <p:nvSpPr>
            <p:cNvPr id="384681" name="Oval 681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87" y="3833"/>
              <a:ext cx="192" cy="154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82" name="Freeform 682"/>
            <p:cNvSpPr>
              <a:spLocks/>
            </p:cNvSpPr>
            <p:nvPr>
              <p:custDataLst>
                <p:tags r:id="rId15"/>
              </p:custDataLst>
            </p:nvPr>
          </p:nvSpPr>
          <p:spPr bwMode="auto">
            <a:xfrm>
              <a:off x="534" y="3855"/>
              <a:ext cx="111" cy="1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76"/>
                </a:cxn>
                <a:cxn ang="0">
                  <a:pos x="432" y="288"/>
                </a:cxn>
                <a:cxn ang="0">
                  <a:pos x="0" y="0"/>
                </a:cxn>
              </a:cxnLst>
              <a:rect l="0" t="0" r="r" b="b"/>
              <a:pathLst>
                <a:path w="432" h="576">
                  <a:moveTo>
                    <a:pt x="0" y="0"/>
                  </a:moveTo>
                  <a:cubicBezTo>
                    <a:pt x="0" y="0"/>
                    <a:pt x="91" y="226"/>
                    <a:pt x="0" y="576"/>
                  </a:cubicBezTo>
                  <a:cubicBezTo>
                    <a:pt x="216" y="432"/>
                    <a:pt x="432" y="288"/>
                    <a:pt x="432" y="288"/>
                  </a:cubicBez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cap="flat" cmpd="sng">
              <a:solidFill>
                <a:srgbClr val="66669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84684" name="Oval 68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38238" y="6084888"/>
            <a:ext cx="304800" cy="244475"/>
          </a:xfrm>
          <a:prstGeom prst="ellipse">
            <a:avLst/>
          </a:prstGeom>
          <a:gradFill rotWithShape="0">
            <a:gsLst>
              <a:gs pos="0">
                <a:srgbClr val="666699"/>
              </a:gs>
              <a:gs pos="100000">
                <a:srgbClr val="99CCFF"/>
              </a:gs>
            </a:gsLst>
            <a:lin ang="189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84685" name="Rectangle 68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30313" y="6146800"/>
            <a:ext cx="120650" cy="122238"/>
          </a:xfrm>
          <a:prstGeom prst="rect">
            <a:avLst/>
          </a:prstGeom>
          <a:gradFill rotWithShape="1">
            <a:gsLst>
              <a:gs pos="0">
                <a:srgbClr val="FFFFCC"/>
              </a:gs>
              <a:gs pos="100000">
                <a:srgbClr val="FFCC66"/>
              </a:gs>
            </a:gsLst>
            <a:lin ang="18900000" scaled="1"/>
          </a:gradFill>
          <a:ln w="9525" algn="ctr">
            <a:solidFill>
              <a:srgbClr val="666699"/>
            </a:solidFill>
            <a:miter lim="800000"/>
            <a:headEnd/>
            <a:tailEnd/>
          </a:ln>
          <a:effectLst>
            <a:outerShdw dist="17961" dir="81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pic>
        <p:nvPicPr>
          <p:cNvPr id="384621" name="Picture 621" descr="MsWord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62" cstate="print"/>
          <a:srcRect/>
          <a:stretch>
            <a:fillRect/>
          </a:stretch>
        </p:blipFill>
        <p:spPr bwMode="auto">
          <a:xfrm>
            <a:off x="4611688" y="3938588"/>
            <a:ext cx="557212" cy="557212"/>
          </a:xfrm>
          <a:prstGeom prst="rect">
            <a:avLst/>
          </a:prstGeom>
          <a:noFill/>
        </p:spPr>
      </p:pic>
      <p:grpSp>
        <p:nvGrpSpPr>
          <p:cNvPr id="384727" name="Group 727"/>
          <p:cNvGrpSpPr>
            <a:grpSpLocks/>
          </p:cNvGrpSpPr>
          <p:nvPr/>
        </p:nvGrpSpPr>
        <p:grpSpPr bwMode="auto">
          <a:xfrm>
            <a:off x="130626" y="1044576"/>
            <a:ext cx="6238877" cy="3500438"/>
            <a:chOff x="3154" y="3164"/>
            <a:chExt cx="3930" cy="2205"/>
          </a:xfrm>
        </p:grpSpPr>
        <p:pic>
          <p:nvPicPr>
            <p:cNvPr id="384692" name="Picture 692" descr="UserWithDesktopComputer01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61" cstate="print"/>
            <a:srcRect/>
            <a:stretch>
              <a:fillRect/>
            </a:stretch>
          </p:blipFill>
          <p:spPr bwMode="auto">
            <a:xfrm>
              <a:off x="6204" y="3271"/>
              <a:ext cx="788" cy="917"/>
            </a:xfrm>
            <a:prstGeom prst="rect">
              <a:avLst/>
            </a:prstGeom>
            <a:noFill/>
          </p:spPr>
        </p:pic>
        <p:pic>
          <p:nvPicPr>
            <p:cNvPr id="384693" name="Picture 693" descr="MsWord01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63" cstate="print"/>
            <a:srcRect/>
            <a:stretch>
              <a:fillRect/>
            </a:stretch>
          </p:blipFill>
          <p:spPr bwMode="auto">
            <a:xfrm>
              <a:off x="6728" y="3430"/>
              <a:ext cx="356" cy="356"/>
            </a:xfrm>
            <a:prstGeom prst="rect">
              <a:avLst/>
            </a:prstGeom>
            <a:noFill/>
          </p:spPr>
        </p:pic>
        <p:sp>
          <p:nvSpPr>
            <p:cNvPr id="384688" name="AutoShape 688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 rot="5400000" flipH="1" flipV="1">
              <a:off x="5775" y="4090"/>
              <a:ext cx="460" cy="269"/>
            </a:xfrm>
            <a:custGeom>
              <a:avLst/>
              <a:gdLst>
                <a:gd name="G0" fmla="+- 11642 0 0"/>
                <a:gd name="G1" fmla="+- 5417 0 0"/>
                <a:gd name="G2" fmla="+- 21600 0 5417"/>
                <a:gd name="G3" fmla="+- 10800 0 5417"/>
                <a:gd name="G4" fmla="+- 21600 0 11642"/>
                <a:gd name="G5" fmla="*/ G4 G3 10800"/>
                <a:gd name="G6" fmla="+- 21600 0 G5"/>
                <a:gd name="T0" fmla="*/ 11642 w 21600"/>
                <a:gd name="T1" fmla="*/ 0 h 21600"/>
                <a:gd name="T2" fmla="*/ 0 w 21600"/>
                <a:gd name="T3" fmla="*/ 10800 h 21600"/>
                <a:gd name="T4" fmla="*/ 11642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1642" y="0"/>
                  </a:moveTo>
                  <a:lnTo>
                    <a:pt x="11642" y="5417"/>
                  </a:lnTo>
                  <a:lnTo>
                    <a:pt x="3375" y="5417"/>
                  </a:lnTo>
                  <a:lnTo>
                    <a:pt x="3375" y="16183"/>
                  </a:lnTo>
                  <a:lnTo>
                    <a:pt x="11642" y="16183"/>
                  </a:lnTo>
                  <a:lnTo>
                    <a:pt x="11642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17"/>
                  </a:moveTo>
                  <a:lnTo>
                    <a:pt x="1350" y="16183"/>
                  </a:lnTo>
                  <a:lnTo>
                    <a:pt x="2700" y="16183"/>
                  </a:lnTo>
                  <a:lnTo>
                    <a:pt x="2700" y="5417"/>
                  </a:lnTo>
                  <a:close/>
                </a:path>
                <a:path w="21600" h="21600">
                  <a:moveTo>
                    <a:pt x="0" y="5417"/>
                  </a:moveTo>
                  <a:lnTo>
                    <a:pt x="0" y="16183"/>
                  </a:lnTo>
                  <a:lnTo>
                    <a:pt x="675" y="16183"/>
                  </a:lnTo>
                  <a:lnTo>
                    <a:pt x="675" y="5417"/>
                  </a:lnTo>
                  <a:close/>
                </a:path>
              </a:pathLst>
            </a:custGeom>
            <a:solidFill>
              <a:srgbClr val="FF0000">
                <a:alpha val="75000"/>
              </a:srgbClr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4690" name="AutoShape 690"/>
            <p:cNvSpPr>
              <a:spLocks noChangeArrowheads="1"/>
            </p:cNvSpPr>
            <p:nvPr/>
          </p:nvSpPr>
          <p:spPr bwMode="auto">
            <a:xfrm>
              <a:off x="4324" y="3164"/>
              <a:ext cx="2002" cy="626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ADE2A1"/>
                </a:gs>
                <a:gs pos="100000">
                  <a:srgbClr val="E8F6E4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lnSpc>
                  <a:spcPct val="85000"/>
                </a:lnSpc>
              </a:pPr>
              <a:r>
                <a:rPr lang="fr-FR" sz="2200" dirty="0">
                  <a:solidFill>
                    <a:srgbClr val="000000"/>
                  </a:solidFill>
                </a:rPr>
                <a:t>Affecter un </a:t>
              </a:r>
              <a:r>
                <a:rPr lang="fr-FR" sz="2200" dirty="0" smtClean="0">
                  <a:solidFill>
                    <a:srgbClr val="000000"/>
                  </a:solidFill>
                </a:rPr>
                <a:t>logiciel lors </a:t>
              </a:r>
              <a:r>
                <a:rPr lang="fr-FR" sz="2200" dirty="0">
                  <a:solidFill>
                    <a:srgbClr val="000000"/>
                  </a:solidFill>
                </a:rPr>
                <a:t>de la configuration de l'ordinateur</a:t>
              </a:r>
              <a:endParaRPr lang="en-US" sz="2200" dirty="0"/>
            </a:p>
          </p:txBody>
        </p:sp>
        <p:grpSp>
          <p:nvGrpSpPr>
            <p:cNvPr id="384726" name="Group 726"/>
            <p:cNvGrpSpPr>
              <a:grpSpLocks/>
            </p:cNvGrpSpPr>
            <p:nvPr/>
          </p:nvGrpSpPr>
          <p:grpSpPr bwMode="auto">
            <a:xfrm>
              <a:off x="3154" y="3645"/>
              <a:ext cx="2258" cy="1724"/>
              <a:chOff x="3154" y="3645"/>
              <a:chExt cx="2258" cy="1724"/>
            </a:xfrm>
          </p:grpSpPr>
          <p:sp>
            <p:nvSpPr>
              <p:cNvPr id="384695" name="AutoShape 695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 flipH="1" flipV="1">
                <a:off x="4952" y="4863"/>
                <a:ext cx="460" cy="269"/>
              </a:xfrm>
              <a:custGeom>
                <a:avLst/>
                <a:gdLst>
                  <a:gd name="G0" fmla="+- 11642 0 0"/>
                  <a:gd name="G1" fmla="+- 5417 0 0"/>
                  <a:gd name="G2" fmla="+- 21600 0 5417"/>
                  <a:gd name="G3" fmla="+- 10800 0 5417"/>
                  <a:gd name="G4" fmla="+- 21600 0 11642"/>
                  <a:gd name="G5" fmla="*/ G4 G3 10800"/>
                  <a:gd name="G6" fmla="+- 21600 0 G5"/>
                  <a:gd name="T0" fmla="*/ 11642 w 21600"/>
                  <a:gd name="T1" fmla="*/ 0 h 21600"/>
                  <a:gd name="T2" fmla="*/ 0 w 21600"/>
                  <a:gd name="T3" fmla="*/ 10800 h 21600"/>
                  <a:gd name="T4" fmla="*/ 11642 w 21600"/>
                  <a:gd name="T5" fmla="*/ 21600 h 21600"/>
                  <a:gd name="T6" fmla="*/ 21600 w 21600"/>
                  <a:gd name="T7" fmla="*/ 10800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75 w 21600"/>
                  <a:gd name="T13" fmla="*/ G1 h 21600"/>
                  <a:gd name="T14" fmla="*/ G6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1642" y="0"/>
                    </a:moveTo>
                    <a:lnTo>
                      <a:pt x="11642" y="5417"/>
                    </a:lnTo>
                    <a:lnTo>
                      <a:pt x="3375" y="5417"/>
                    </a:lnTo>
                    <a:lnTo>
                      <a:pt x="3375" y="16183"/>
                    </a:lnTo>
                    <a:lnTo>
                      <a:pt x="11642" y="16183"/>
                    </a:lnTo>
                    <a:lnTo>
                      <a:pt x="11642" y="21600"/>
                    </a:lnTo>
                    <a:lnTo>
                      <a:pt x="21600" y="10800"/>
                    </a:lnTo>
                    <a:close/>
                  </a:path>
                  <a:path w="21600" h="21600">
                    <a:moveTo>
                      <a:pt x="1350" y="5417"/>
                    </a:moveTo>
                    <a:lnTo>
                      <a:pt x="1350" y="16183"/>
                    </a:lnTo>
                    <a:lnTo>
                      <a:pt x="2700" y="16183"/>
                    </a:lnTo>
                    <a:lnTo>
                      <a:pt x="2700" y="5417"/>
                    </a:lnTo>
                    <a:close/>
                  </a:path>
                  <a:path w="21600" h="21600">
                    <a:moveTo>
                      <a:pt x="0" y="5417"/>
                    </a:moveTo>
                    <a:lnTo>
                      <a:pt x="0" y="16183"/>
                    </a:lnTo>
                    <a:lnTo>
                      <a:pt x="675" y="16183"/>
                    </a:lnTo>
                    <a:lnTo>
                      <a:pt x="675" y="5417"/>
                    </a:lnTo>
                    <a:close/>
                  </a:path>
                </a:pathLst>
              </a:custGeom>
              <a:solidFill>
                <a:srgbClr val="FF0000">
                  <a:alpha val="75000"/>
                </a:srgbClr>
              </a:solidFill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84697" name="AutoShape 697"/>
              <p:cNvSpPr>
                <a:spLocks noChangeArrowheads="1"/>
              </p:cNvSpPr>
              <p:nvPr/>
            </p:nvSpPr>
            <p:spPr bwMode="auto">
              <a:xfrm>
                <a:off x="3154" y="4717"/>
                <a:ext cx="1819" cy="652"/>
              </a:xfrm>
              <a:prstGeom prst="roundRect">
                <a:avLst>
                  <a:gd name="adj" fmla="val 4167"/>
                </a:avLst>
              </a:prstGeom>
              <a:gradFill rotWithShape="1">
                <a:gsLst>
                  <a:gs pos="0">
                    <a:srgbClr val="ADE2A1"/>
                  </a:gs>
                  <a:gs pos="100000">
                    <a:srgbClr val="E8F6E4"/>
                  </a:gs>
                </a:gsLst>
                <a:lin ang="2700000" scaled="1"/>
              </a:gra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pPr>
                  <a:lnSpc>
                    <a:spcPct val="85000"/>
                  </a:lnSpc>
                </a:pPr>
                <a:r>
                  <a:rPr lang="fr-FR" sz="2200" dirty="0">
                    <a:solidFill>
                      <a:srgbClr val="000000"/>
                    </a:solidFill>
                  </a:rPr>
                  <a:t>Affecter un logiciel lors de la </a:t>
                </a:r>
                <a:r>
                  <a:rPr lang="fr-FR" sz="2200" dirty="0" smtClean="0">
                    <a:solidFill>
                      <a:srgbClr val="000000"/>
                    </a:solidFill>
                  </a:rPr>
                  <a:t>configuration </a:t>
                </a:r>
                <a:r>
                  <a:rPr lang="fr-FR" sz="2200" dirty="0">
                    <a:solidFill>
                      <a:srgbClr val="000000"/>
                    </a:solidFill>
                  </a:rPr>
                  <a:t>de l'utilisateur</a:t>
                </a:r>
                <a:endParaRPr lang="en-US" sz="2200" dirty="0"/>
              </a:p>
            </p:txBody>
          </p:sp>
          <p:pic>
            <p:nvPicPr>
              <p:cNvPr id="384698" name="Picture 698" descr="UserWithDesktopComputer01"/>
              <p:cNvPicPr>
                <a:picLocks noChangeAspect="1" noChangeArrowheads="1"/>
              </p:cNvPicPr>
              <p:nvPr>
                <p:custDataLst>
                  <p:tags r:id="rId10"/>
                </p:custDataLst>
              </p:nvPr>
            </p:nvPicPr>
            <p:blipFill>
              <a:blip r:embed="rId61" cstate="print"/>
              <a:srcRect/>
              <a:stretch>
                <a:fillRect/>
              </a:stretch>
            </p:blipFill>
            <p:spPr bwMode="auto">
              <a:xfrm>
                <a:off x="3744" y="3765"/>
                <a:ext cx="788" cy="917"/>
              </a:xfrm>
              <a:prstGeom prst="rect">
                <a:avLst/>
              </a:prstGeom>
              <a:noFill/>
            </p:spPr>
          </p:pic>
          <p:sp>
            <p:nvSpPr>
              <p:cNvPr id="384701" name="Rectangle 701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4293" y="3645"/>
                <a:ext cx="410" cy="391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91919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pic>
            <p:nvPicPr>
              <p:cNvPr id="384702" name="Picture 702" descr="MsWord01"/>
              <p:cNvPicPr>
                <a:picLocks noChangeAspect="1" noChangeArrowheads="1"/>
              </p:cNvPicPr>
              <p:nvPr>
                <p:custDataLst>
                  <p:tags r:id="rId12"/>
                </p:custDataLst>
              </p:nvPr>
            </p:nvPicPr>
            <p:blipFill>
              <a:blip r:embed="rId64" cstate="print"/>
              <a:srcRect/>
              <a:stretch>
                <a:fillRect/>
              </a:stretch>
            </p:blipFill>
            <p:spPr bwMode="auto">
              <a:xfrm>
                <a:off x="4325" y="3668"/>
                <a:ext cx="346" cy="345"/>
              </a:xfrm>
              <a:prstGeom prst="rect">
                <a:avLst/>
              </a:prstGeom>
              <a:noFill/>
            </p:spPr>
          </p:pic>
          <p:pic>
            <p:nvPicPr>
              <p:cNvPr id="384723" name="Picture 723" descr="FRE Windows XP Start button"/>
              <p:cNvPicPr>
                <a:picLocks noChangeAspect="1" noChangeArrowheads="1"/>
              </p:cNvPicPr>
              <p:nvPr/>
            </p:nvPicPr>
            <p:blipFill>
              <a:blip r:embed="rId65"/>
              <a:srcRect/>
              <a:stretch>
                <a:fillRect/>
              </a:stretch>
            </p:blipFill>
            <p:spPr bwMode="auto">
              <a:xfrm>
                <a:off x="4307" y="4057"/>
                <a:ext cx="822" cy="180"/>
              </a:xfrm>
              <a:prstGeom prst="rect">
                <a:avLst/>
              </a:prstGeom>
              <a:noFill/>
              <a:ln/>
              <a:effectLst/>
            </p:spPr>
          </p:pic>
          <p:sp>
            <p:nvSpPr>
              <p:cNvPr id="384704" name="Freeform 704"/>
              <p:cNvSpPr>
                <a:spLocks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4602" y="3833"/>
                <a:ext cx="217" cy="258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55" y="238"/>
                  </a:cxn>
                  <a:cxn ang="0">
                    <a:pos x="92" y="154"/>
                  </a:cxn>
                  <a:cxn ang="0">
                    <a:pos x="232" y="326"/>
                  </a:cxn>
                  <a:cxn ang="0">
                    <a:pos x="274" y="292"/>
                  </a:cxn>
                  <a:cxn ang="0">
                    <a:pos x="134" y="124"/>
                  </a:cxn>
                  <a:cxn ang="0">
                    <a:pos x="224" y="109"/>
                  </a:cxn>
                  <a:cxn ang="0">
                    <a:pos x="1" y="0"/>
                  </a:cxn>
                </a:cxnLst>
                <a:rect l="0" t="0" r="r" b="b"/>
                <a:pathLst>
                  <a:path w="275" h="327">
                    <a:moveTo>
                      <a:pt x="0" y="2"/>
                    </a:moveTo>
                    <a:lnTo>
                      <a:pt x="55" y="238"/>
                    </a:lnTo>
                    <a:lnTo>
                      <a:pt x="92" y="154"/>
                    </a:lnTo>
                    <a:lnTo>
                      <a:pt x="232" y="326"/>
                    </a:lnTo>
                    <a:lnTo>
                      <a:pt x="274" y="292"/>
                    </a:lnTo>
                    <a:lnTo>
                      <a:pt x="134" y="124"/>
                    </a:lnTo>
                    <a:lnTo>
                      <a:pt x="224" y="109"/>
                    </a:lnTo>
                    <a:lnTo>
                      <a:pt x="1" y="0"/>
                    </a:lnTo>
                  </a:path>
                </a:pathLst>
              </a:custGeom>
              <a:solidFill>
                <a:srgbClr val="FFFFFF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0161" dir="6506097" algn="ctr" rotWithShape="0">
                  <a:srgbClr val="919191"/>
                </a:outerShdw>
              </a:effectLst>
            </p:spPr>
            <p:txBody>
              <a:bodyPr/>
              <a:lstStyle/>
              <a:p>
                <a:endParaRPr lang="fr-F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84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84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68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fr-FR" sz="3000" b="1" dirty="0">
                <a:solidFill>
                  <a:srgbClr val="C00000"/>
                </a:solidFill>
              </a:rPr>
              <a:t>Définition des catégories de logiciels</a:t>
            </a:r>
            <a:endParaRPr lang="en-US" sz="3000" b="1" dirty="0">
              <a:solidFill>
                <a:srgbClr val="C00000"/>
              </a:solidFill>
            </a:endParaRPr>
          </a:p>
        </p:txBody>
      </p:sp>
      <p:graphicFrame>
        <p:nvGraphicFramePr>
          <p:cNvPr id="395412" name="Object 148"/>
          <p:cNvGraphicFramePr>
            <a:graphicFrameLocks noChangeAspect="1"/>
          </p:cNvGraphicFramePr>
          <p:nvPr>
            <p:ph sz="quarter" idx="1"/>
          </p:nvPr>
        </p:nvGraphicFramePr>
        <p:xfrm>
          <a:off x="672770" y="1138693"/>
          <a:ext cx="7734622" cy="5646737"/>
        </p:xfrm>
        <a:graphic>
          <a:graphicData uri="http://schemas.openxmlformats.org/presentationml/2006/ole">
            <p:oleObj spid="_x0000_s395412" name="Imagem de bitmap" r:id="rId4" imgW="6601746" imgH="4819048" progId="PBrush">
              <p:embed/>
            </p:oleObj>
          </a:graphicData>
        </a:graphic>
      </p:graphicFrame>
      <p:sp>
        <p:nvSpPr>
          <p:cNvPr id="395407" name="AutoShape 143"/>
          <p:cNvSpPr>
            <a:spLocks noChangeArrowheads="1"/>
          </p:cNvSpPr>
          <p:nvPr/>
        </p:nvSpPr>
        <p:spPr bwMode="auto">
          <a:xfrm>
            <a:off x="290286" y="3975780"/>
            <a:ext cx="8418285" cy="1931534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l">
              <a:lnSpc>
                <a:spcPct val="85000"/>
              </a:lnSpc>
              <a:buFont typeface="Wingdings" pitchFamily="2" charset="2"/>
              <a:buChar char="q"/>
            </a:pPr>
            <a:r>
              <a:rPr lang="fr-FR" sz="2400" dirty="0" smtClean="0">
                <a:solidFill>
                  <a:srgbClr val="000000"/>
                </a:solidFill>
              </a:rPr>
              <a:t> Créer des catégories pour regrouper différentes logiciels en groupes</a:t>
            </a:r>
          </a:p>
          <a:p>
            <a:pPr algn="l">
              <a:lnSpc>
                <a:spcPct val="85000"/>
              </a:lnSpc>
              <a:buFont typeface="Wingdings" pitchFamily="2" charset="2"/>
              <a:buChar char="q"/>
            </a:pPr>
            <a:r>
              <a:rPr lang="fr-FR" sz="2400" dirty="0" smtClean="0">
                <a:solidFill>
                  <a:srgbClr val="000000"/>
                </a:solidFill>
              </a:rPr>
              <a:t> Les </a:t>
            </a:r>
            <a:r>
              <a:rPr lang="fr-FR" sz="2400" dirty="0">
                <a:solidFill>
                  <a:srgbClr val="000000"/>
                </a:solidFill>
              </a:rPr>
              <a:t>catégories de logiciels </a:t>
            </a:r>
            <a:r>
              <a:rPr lang="fr-FR" sz="2400" dirty="0" smtClean="0">
                <a:solidFill>
                  <a:srgbClr val="000000"/>
                </a:solidFill>
              </a:rPr>
              <a:t> recouvrent  plusieurs domaines</a:t>
            </a:r>
            <a:endParaRPr lang="en-US" sz="2400" dirty="0"/>
          </a:p>
        </p:txBody>
      </p:sp>
      <p:sp>
        <p:nvSpPr>
          <p:cNvPr id="395410" name="Rectangle 146"/>
          <p:cNvSpPr>
            <a:spLocks noChangeArrowheads="1"/>
          </p:cNvSpPr>
          <p:nvPr/>
        </p:nvSpPr>
        <p:spPr bwMode="auto">
          <a:xfrm>
            <a:off x="6560457" y="2878815"/>
            <a:ext cx="1741714" cy="1003300"/>
          </a:xfrm>
          <a:prstGeom prst="rect">
            <a:avLst/>
          </a:prstGeom>
          <a:noFill/>
          <a:ln w="38100" algn="ctr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4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9540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395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1000"/>
                                        <p:tgtEl>
                                          <p:spTgt spid="395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407" grpId="0" uiExpand="1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fr-FR" sz="3000" b="1" dirty="0">
                <a:solidFill>
                  <a:srgbClr val="C00000"/>
                </a:solidFill>
              </a:rPr>
              <a:t>Définition de l'association de logiciels </a:t>
            </a:r>
            <a:endParaRPr lang="en-US" sz="3000" b="1" dirty="0">
              <a:solidFill>
                <a:srgbClr val="C00000"/>
              </a:solidFill>
            </a:endParaRPr>
          </a:p>
        </p:txBody>
      </p:sp>
      <p:grpSp>
        <p:nvGrpSpPr>
          <p:cNvPr id="421983" name="Group 95"/>
          <p:cNvGrpSpPr>
            <a:grpSpLocks/>
          </p:cNvGrpSpPr>
          <p:nvPr/>
        </p:nvGrpSpPr>
        <p:grpSpPr bwMode="auto">
          <a:xfrm>
            <a:off x="5243513" y="1270000"/>
            <a:ext cx="2949575" cy="5176838"/>
            <a:chOff x="3303" y="800"/>
            <a:chExt cx="1858" cy="3261"/>
          </a:xfrm>
        </p:grpSpPr>
        <p:sp>
          <p:nvSpPr>
            <p:cNvPr id="421932" name="Oval 44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303" y="3054"/>
              <a:ext cx="1721" cy="789"/>
            </a:xfrm>
            <a:prstGeom prst="ellipse">
              <a:avLst/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endParaRPr lang="fr-FR"/>
            </a:p>
          </p:txBody>
        </p:sp>
        <p:pic>
          <p:nvPicPr>
            <p:cNvPr id="421934" name="Picture 46" descr="Document_Document01"/>
            <p:cNvPicPr>
              <a:picLocks noChangeAspect="1" noChangeArrowheads="1"/>
            </p:cNvPicPr>
            <p:nvPr>
              <p:custDataLst>
                <p:tags r:id="rId17"/>
              </p:custDataLst>
            </p:nvPr>
          </p:nvPicPr>
          <p:blipFill>
            <a:blip r:embed="rId31" cstate="print"/>
            <a:srcRect/>
            <a:stretch>
              <a:fillRect/>
            </a:stretch>
          </p:blipFill>
          <p:spPr bwMode="auto">
            <a:xfrm>
              <a:off x="3687" y="2707"/>
              <a:ext cx="384" cy="624"/>
            </a:xfrm>
            <a:prstGeom prst="rect">
              <a:avLst/>
            </a:prstGeom>
            <a:noFill/>
          </p:spPr>
        </p:pic>
        <p:pic>
          <p:nvPicPr>
            <p:cNvPr id="421935" name="Picture 47" descr="MsWord01"/>
            <p:cNvPicPr>
              <a:picLocks noChangeAspect="1" noChangeArrowheads="1"/>
            </p:cNvPicPr>
            <p:nvPr>
              <p:custDataLst>
                <p:tags r:id="rId18"/>
              </p:custDataLst>
            </p:nvPr>
          </p:nvPicPr>
          <p:blipFill>
            <a:blip r:embed="rId32" cstate="print"/>
            <a:srcRect/>
            <a:stretch>
              <a:fillRect/>
            </a:stretch>
          </p:blipFill>
          <p:spPr bwMode="auto">
            <a:xfrm rot="1800000">
              <a:off x="3728" y="2890"/>
              <a:ext cx="293" cy="294"/>
            </a:xfrm>
            <a:prstGeom prst="rect">
              <a:avLst/>
            </a:prstGeom>
            <a:noFill/>
          </p:spPr>
        </p:pic>
        <p:sp>
          <p:nvSpPr>
            <p:cNvPr id="421936" name="Text Box 48"/>
            <p:cNvSpPr txBox="1">
              <a:spLocks noChangeArrowheads="1"/>
            </p:cNvSpPr>
            <p:nvPr/>
          </p:nvSpPr>
          <p:spPr bwMode="auto">
            <a:xfrm>
              <a:off x="3683" y="3340"/>
              <a:ext cx="960" cy="18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/>
            <a:lstStyle/>
            <a:p>
              <a:r>
                <a:rPr lang="fr-FR">
                  <a:solidFill>
                    <a:srgbClr val="000000"/>
                  </a:solidFill>
                </a:rPr>
                <a:t>Sales</a:t>
              </a:r>
              <a:endParaRPr lang="en-US"/>
            </a:p>
          </p:txBody>
        </p:sp>
        <p:sp>
          <p:nvSpPr>
            <p:cNvPr id="421937" name="AutoShape 49"/>
            <p:cNvSpPr>
              <a:spLocks noChangeArrowheads="1"/>
            </p:cNvSpPr>
            <p:nvPr/>
          </p:nvSpPr>
          <p:spPr bwMode="auto">
            <a:xfrm>
              <a:off x="4121" y="2793"/>
              <a:ext cx="783" cy="221"/>
            </a:xfrm>
            <a:prstGeom prst="roundRect">
              <a:avLst>
                <a:gd name="adj" fmla="val 4167"/>
              </a:avLst>
            </a:prstGeom>
            <a:solidFill>
              <a:srgbClr val="8DACD0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>
                  <a:solidFill>
                    <a:srgbClr val="000000"/>
                  </a:solidFill>
                </a:rPr>
                <a:t>Word2000</a:t>
              </a:r>
              <a:endParaRPr lang="en-US"/>
            </a:p>
          </p:txBody>
        </p:sp>
        <p:pic>
          <p:nvPicPr>
            <p:cNvPr id="421938" name="Picture 50" descr="Computer_DesktopComputerSansKeyboard01"/>
            <p:cNvPicPr>
              <a:picLocks noChangeAspect="1" noChangeArrowheads="1"/>
            </p:cNvPicPr>
            <p:nvPr>
              <p:custDataLst>
                <p:tags r:id="rId19"/>
              </p:custDataLst>
            </p:nvPr>
          </p:nvPicPr>
          <p:blipFill>
            <a:blip r:embed="rId33" cstate="print"/>
            <a:srcRect/>
            <a:stretch>
              <a:fillRect/>
            </a:stretch>
          </p:blipFill>
          <p:spPr bwMode="auto">
            <a:xfrm>
              <a:off x="4742" y="3126"/>
              <a:ext cx="419" cy="511"/>
            </a:xfrm>
            <a:prstGeom prst="rect">
              <a:avLst/>
            </a:prstGeom>
            <a:noFill/>
          </p:spPr>
        </p:pic>
        <p:pic>
          <p:nvPicPr>
            <p:cNvPr id="421939" name="Picture 51" descr="Computer_DesktopComputerSansKeyboard01"/>
            <p:cNvPicPr>
              <a:picLocks noChangeAspect="1" noChangeArrowheads="1"/>
            </p:cNvPicPr>
            <p:nvPr>
              <p:custDataLst>
                <p:tags r:id="rId20"/>
              </p:custDataLst>
            </p:nvPr>
          </p:nvPicPr>
          <p:blipFill>
            <a:blip r:embed="rId33" cstate="print"/>
            <a:srcRect/>
            <a:stretch>
              <a:fillRect/>
            </a:stretch>
          </p:blipFill>
          <p:spPr bwMode="auto">
            <a:xfrm>
              <a:off x="3467" y="3450"/>
              <a:ext cx="419" cy="510"/>
            </a:xfrm>
            <a:prstGeom prst="rect">
              <a:avLst/>
            </a:prstGeom>
            <a:noFill/>
          </p:spPr>
        </p:pic>
        <p:pic>
          <p:nvPicPr>
            <p:cNvPr id="421940" name="Picture 52" descr="Computer_DesktopComputerSansKeyboard01"/>
            <p:cNvPicPr>
              <a:picLocks noChangeAspect="1" noChangeArrowheads="1"/>
            </p:cNvPicPr>
            <p:nvPr>
              <p:custDataLst>
                <p:tags r:id="rId21"/>
              </p:custDataLst>
            </p:nvPr>
          </p:nvPicPr>
          <p:blipFill>
            <a:blip r:embed="rId33" cstate="print"/>
            <a:srcRect/>
            <a:stretch>
              <a:fillRect/>
            </a:stretch>
          </p:blipFill>
          <p:spPr bwMode="auto">
            <a:xfrm>
              <a:off x="4265" y="3550"/>
              <a:ext cx="419" cy="511"/>
            </a:xfrm>
            <a:prstGeom prst="rect">
              <a:avLst/>
            </a:prstGeom>
            <a:noFill/>
          </p:spPr>
        </p:pic>
        <p:sp>
          <p:nvSpPr>
            <p:cNvPr id="421942" name="Oval 54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303" y="1139"/>
              <a:ext cx="1721" cy="789"/>
            </a:xfrm>
            <a:prstGeom prst="ellipse">
              <a:avLst/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endParaRPr lang="fr-FR"/>
            </a:p>
          </p:txBody>
        </p:sp>
        <p:grpSp>
          <p:nvGrpSpPr>
            <p:cNvPr id="421980" name="Group 55"/>
            <p:cNvGrpSpPr>
              <a:grpSpLocks/>
            </p:cNvGrpSpPr>
            <p:nvPr>
              <p:custDataLst>
                <p:tags r:id="rId23"/>
              </p:custDataLst>
            </p:nvPr>
          </p:nvGrpSpPr>
          <p:grpSpPr bwMode="auto">
            <a:xfrm>
              <a:off x="3687" y="800"/>
              <a:ext cx="384" cy="624"/>
              <a:chOff x="3687" y="800"/>
              <a:chExt cx="384" cy="624"/>
            </a:xfrm>
          </p:grpSpPr>
          <p:pic>
            <p:nvPicPr>
              <p:cNvPr id="421944" name="Picture 56" descr="Document_Document01"/>
              <p:cNvPicPr>
                <a:picLocks noChangeAspect="1" noChangeArrowheads="1"/>
              </p:cNvPicPr>
              <p:nvPr>
                <p:custDataLst>
                  <p:tags r:id="rId27"/>
                </p:custDataLst>
              </p:nvPr>
            </p:nvPicPr>
            <p:blipFill>
              <a:blip r:embed="rId31" cstate="print"/>
              <a:srcRect/>
              <a:stretch>
                <a:fillRect/>
              </a:stretch>
            </p:blipFill>
            <p:spPr bwMode="auto">
              <a:xfrm>
                <a:off x="3687" y="800"/>
                <a:ext cx="384" cy="624"/>
              </a:xfrm>
              <a:prstGeom prst="rect">
                <a:avLst/>
              </a:prstGeom>
              <a:noFill/>
            </p:spPr>
          </p:pic>
          <p:pic>
            <p:nvPicPr>
              <p:cNvPr id="421945" name="Picture 57" descr="MsWord01"/>
              <p:cNvPicPr>
                <a:picLocks noChangeAspect="1" noChangeArrowheads="1"/>
              </p:cNvPicPr>
              <p:nvPr>
                <p:custDataLst>
                  <p:tags r:id="rId28"/>
                </p:custDataLst>
              </p:nvPr>
            </p:nvPicPr>
            <p:blipFill>
              <a:blip r:embed="rId32" cstate="print"/>
              <a:srcRect/>
              <a:stretch>
                <a:fillRect/>
              </a:stretch>
            </p:blipFill>
            <p:spPr bwMode="auto">
              <a:xfrm rot="1800000">
                <a:off x="3728" y="983"/>
                <a:ext cx="293" cy="294"/>
              </a:xfrm>
              <a:prstGeom prst="rect">
                <a:avLst/>
              </a:prstGeom>
              <a:noFill/>
            </p:spPr>
          </p:pic>
        </p:grpSp>
        <p:sp>
          <p:nvSpPr>
            <p:cNvPr id="421946" name="Text Box 58"/>
            <p:cNvSpPr txBox="1">
              <a:spLocks noChangeArrowheads="1"/>
            </p:cNvSpPr>
            <p:nvPr/>
          </p:nvSpPr>
          <p:spPr bwMode="auto">
            <a:xfrm>
              <a:off x="3740" y="1386"/>
              <a:ext cx="960" cy="18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/>
            <a:lstStyle/>
            <a:p>
              <a:r>
                <a:rPr lang="fr-FR">
                  <a:solidFill>
                    <a:srgbClr val="000000"/>
                  </a:solidFill>
                </a:rPr>
                <a:t>Accounting</a:t>
              </a:r>
              <a:endParaRPr lang="en-US"/>
            </a:p>
          </p:txBody>
        </p:sp>
        <p:sp>
          <p:nvSpPr>
            <p:cNvPr id="421947" name="AutoShape 59"/>
            <p:cNvSpPr>
              <a:spLocks noChangeArrowheads="1"/>
            </p:cNvSpPr>
            <p:nvPr/>
          </p:nvSpPr>
          <p:spPr bwMode="auto">
            <a:xfrm>
              <a:off x="4121" y="878"/>
              <a:ext cx="783" cy="22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r>
                <a:rPr lang="fr-FR">
                  <a:solidFill>
                    <a:srgbClr val="000000"/>
                  </a:solidFill>
                </a:rPr>
                <a:t>Word2002</a:t>
              </a:r>
              <a:endParaRPr lang="en-US"/>
            </a:p>
          </p:txBody>
        </p:sp>
        <p:pic>
          <p:nvPicPr>
            <p:cNvPr id="421948" name="Picture 60" descr="Computer_DesktopComputerSansKeyboard01"/>
            <p:cNvPicPr>
              <a:picLocks noChangeAspect="1" noChangeArrowheads="1"/>
            </p:cNvPicPr>
            <p:nvPr>
              <p:custDataLst>
                <p:tags r:id="rId24"/>
              </p:custDataLst>
            </p:nvPr>
          </p:nvPicPr>
          <p:blipFill>
            <a:blip r:embed="rId33" cstate="print"/>
            <a:srcRect/>
            <a:stretch>
              <a:fillRect/>
            </a:stretch>
          </p:blipFill>
          <p:spPr bwMode="auto">
            <a:xfrm>
              <a:off x="4742" y="1210"/>
              <a:ext cx="419" cy="511"/>
            </a:xfrm>
            <a:prstGeom prst="rect">
              <a:avLst/>
            </a:prstGeom>
            <a:noFill/>
          </p:spPr>
        </p:pic>
        <p:pic>
          <p:nvPicPr>
            <p:cNvPr id="421949" name="Picture 61" descr="Computer_DesktopComputerSansKeyboard01"/>
            <p:cNvPicPr>
              <a:picLocks noChangeAspect="1" noChangeArrowheads="1"/>
            </p:cNvPicPr>
            <p:nvPr>
              <p:custDataLst>
                <p:tags r:id="rId25"/>
              </p:custDataLst>
            </p:nvPr>
          </p:nvPicPr>
          <p:blipFill>
            <a:blip r:embed="rId33" cstate="print"/>
            <a:srcRect/>
            <a:stretch>
              <a:fillRect/>
            </a:stretch>
          </p:blipFill>
          <p:spPr bwMode="auto">
            <a:xfrm>
              <a:off x="3467" y="1534"/>
              <a:ext cx="419" cy="510"/>
            </a:xfrm>
            <a:prstGeom prst="rect">
              <a:avLst/>
            </a:prstGeom>
            <a:noFill/>
          </p:spPr>
        </p:pic>
        <p:pic>
          <p:nvPicPr>
            <p:cNvPr id="421950" name="Picture 62" descr="Computer_DesktopComputerSansKeyboard01"/>
            <p:cNvPicPr>
              <a:picLocks noChangeAspect="1" noChangeArrowheads="1"/>
            </p:cNvPicPr>
            <p:nvPr>
              <p:custDataLst>
                <p:tags r:id="rId26"/>
              </p:custDataLst>
            </p:nvPr>
          </p:nvPicPr>
          <p:blipFill>
            <a:blip r:embed="rId33" cstate="print"/>
            <a:srcRect/>
            <a:stretch>
              <a:fillRect/>
            </a:stretch>
          </p:blipFill>
          <p:spPr bwMode="auto">
            <a:xfrm>
              <a:off x="4265" y="1634"/>
              <a:ext cx="419" cy="511"/>
            </a:xfrm>
            <a:prstGeom prst="rect">
              <a:avLst/>
            </a:prstGeom>
            <a:noFill/>
          </p:spPr>
        </p:pic>
      </p:grpSp>
      <p:sp>
        <p:nvSpPr>
          <p:cNvPr id="421951" name="AutoShape 63"/>
          <p:cNvSpPr>
            <a:spLocks noChangeArrowheads="1"/>
          </p:cNvSpPr>
          <p:nvPr/>
        </p:nvSpPr>
        <p:spPr bwMode="auto">
          <a:xfrm>
            <a:off x="635000" y="3440113"/>
            <a:ext cx="7712075" cy="601662"/>
          </a:xfrm>
          <a:prstGeom prst="roundRect">
            <a:avLst>
              <a:gd name="adj" fmla="val 22028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lIns="0" tIns="91440" anchor="ctr"/>
          <a:lstStyle/>
          <a:p>
            <a:pPr marL="225425" indent="-225425">
              <a:lnSpc>
                <a:spcPct val="85000"/>
              </a:lnSpc>
              <a:spcBef>
                <a:spcPct val="40000"/>
              </a:spcBef>
              <a:buSzPct val="80000"/>
            </a:pPr>
            <a:r>
              <a:rPr lang="fr-FR" sz="2200">
                <a:solidFill>
                  <a:srgbClr val="000000"/>
                </a:solidFill>
              </a:rPr>
              <a:t>Gérer les associations logicielles par objet Stratégie de groupe</a:t>
            </a:r>
            <a:endParaRPr lang="en-US" sz="2200"/>
          </a:p>
        </p:txBody>
      </p:sp>
      <p:sp>
        <p:nvSpPr>
          <p:cNvPr id="421953" name="AutoShape 6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31800" y="1274763"/>
            <a:ext cx="2894013" cy="1946275"/>
          </a:xfrm>
          <a:prstGeom prst="roundRect">
            <a:avLst>
              <a:gd name="adj" fmla="val 8606"/>
            </a:avLst>
          </a:prstGeom>
          <a:solidFill>
            <a:srgbClr val="F0F1E1"/>
          </a:soli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l">
              <a:buSzPct val="85000"/>
            </a:pPr>
            <a:endParaRPr lang="fr-FR"/>
          </a:p>
        </p:txBody>
      </p:sp>
      <p:pic>
        <p:nvPicPr>
          <p:cNvPr id="421954" name="Picture 66" descr="GroupPolicyObject0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4" cstate="print"/>
          <a:srcRect/>
          <a:stretch>
            <a:fillRect/>
          </a:stretch>
        </p:blipFill>
        <p:spPr bwMode="auto">
          <a:xfrm>
            <a:off x="549275" y="2317750"/>
            <a:ext cx="1239838" cy="735013"/>
          </a:xfrm>
          <a:prstGeom prst="rect">
            <a:avLst/>
          </a:prstGeom>
          <a:noFill/>
        </p:spPr>
      </p:pic>
      <p:sp>
        <p:nvSpPr>
          <p:cNvPr id="421955" name="Text Box 67"/>
          <p:cNvSpPr txBox="1">
            <a:spLocks noChangeArrowheads="1"/>
          </p:cNvSpPr>
          <p:nvPr/>
        </p:nvSpPr>
        <p:spPr bwMode="auto">
          <a:xfrm>
            <a:off x="492125" y="1277938"/>
            <a:ext cx="1377950" cy="314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85000"/>
              </a:lnSpc>
            </a:pPr>
            <a:r>
              <a:rPr lang="fr-FR">
                <a:solidFill>
                  <a:srgbClr val="000000"/>
                </a:solidFill>
              </a:rPr>
              <a:t>Objet Stratégie </a:t>
            </a:r>
            <a:br>
              <a:rPr lang="fr-FR">
                <a:solidFill>
                  <a:srgbClr val="000000"/>
                </a:solidFill>
              </a:rPr>
            </a:br>
            <a:r>
              <a:rPr lang="fr-FR">
                <a:solidFill>
                  <a:srgbClr val="000000"/>
                </a:solidFill>
              </a:rPr>
              <a:t>de groupe Accounting</a:t>
            </a:r>
            <a:endParaRPr lang="en-US"/>
          </a:p>
        </p:txBody>
      </p:sp>
      <p:sp>
        <p:nvSpPr>
          <p:cNvPr id="421956" name="AutoShape 6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14525" y="1457325"/>
            <a:ext cx="1212850" cy="106203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endParaRPr lang="fr-FR"/>
          </a:p>
        </p:txBody>
      </p:sp>
      <p:sp>
        <p:nvSpPr>
          <p:cNvPr id="421957" name="AutoShape 69"/>
          <p:cNvSpPr>
            <a:spLocks noChangeArrowheads="1"/>
          </p:cNvSpPr>
          <p:nvPr/>
        </p:nvSpPr>
        <p:spPr bwMode="auto">
          <a:xfrm>
            <a:off x="1914525" y="2511425"/>
            <a:ext cx="1212850" cy="3810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>
                <a:solidFill>
                  <a:srgbClr val="000000"/>
                </a:solidFill>
              </a:rPr>
              <a:t>Word2002</a:t>
            </a:r>
            <a:endParaRPr lang="en-US"/>
          </a:p>
        </p:txBody>
      </p:sp>
      <p:pic>
        <p:nvPicPr>
          <p:cNvPr id="421958" name="Picture 70" descr="MsWord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35" cstate="print"/>
          <a:srcRect/>
          <a:stretch>
            <a:fillRect/>
          </a:stretch>
        </p:blipFill>
        <p:spPr bwMode="auto">
          <a:xfrm>
            <a:off x="2149475" y="1617663"/>
            <a:ext cx="742950" cy="742950"/>
          </a:xfrm>
          <a:prstGeom prst="rect">
            <a:avLst/>
          </a:prstGeom>
          <a:noFill/>
        </p:spPr>
      </p:pic>
      <p:sp>
        <p:nvSpPr>
          <p:cNvPr id="421960" name="AutoShape 7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31800" y="4291013"/>
            <a:ext cx="2894013" cy="1946275"/>
          </a:xfrm>
          <a:prstGeom prst="roundRect">
            <a:avLst>
              <a:gd name="adj" fmla="val 8606"/>
            </a:avLst>
          </a:prstGeom>
          <a:solidFill>
            <a:srgbClr val="F0F1E1"/>
          </a:solidFill>
          <a:ln w="9525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l">
              <a:buSzPct val="85000"/>
            </a:pPr>
            <a:endParaRPr lang="fr-FR"/>
          </a:p>
        </p:txBody>
      </p:sp>
      <p:pic>
        <p:nvPicPr>
          <p:cNvPr id="421961" name="Picture 73" descr="GroupPolicyObject01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34" cstate="print"/>
          <a:srcRect/>
          <a:stretch>
            <a:fillRect/>
          </a:stretch>
        </p:blipFill>
        <p:spPr bwMode="auto">
          <a:xfrm>
            <a:off x="549275" y="5099050"/>
            <a:ext cx="1239838" cy="735013"/>
          </a:xfrm>
          <a:prstGeom prst="rect">
            <a:avLst/>
          </a:prstGeom>
          <a:noFill/>
        </p:spPr>
      </p:pic>
      <p:sp>
        <p:nvSpPr>
          <p:cNvPr id="421962" name="Text Box 74"/>
          <p:cNvSpPr txBox="1">
            <a:spLocks noChangeArrowheads="1"/>
          </p:cNvSpPr>
          <p:nvPr/>
        </p:nvSpPr>
        <p:spPr bwMode="auto">
          <a:xfrm>
            <a:off x="479425" y="4311650"/>
            <a:ext cx="1377950" cy="314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85000"/>
              </a:lnSpc>
            </a:pPr>
            <a:r>
              <a:rPr lang="fr-FR">
                <a:solidFill>
                  <a:srgbClr val="000000"/>
                </a:solidFill>
              </a:rPr>
              <a:t>Objet Stratégie de groupe Sales</a:t>
            </a:r>
            <a:endParaRPr lang="en-US"/>
          </a:p>
        </p:txBody>
      </p:sp>
      <p:sp>
        <p:nvSpPr>
          <p:cNvPr id="421963" name="AutoShape 75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914525" y="4473575"/>
            <a:ext cx="1212850" cy="1062038"/>
          </a:xfrm>
          <a:prstGeom prst="roundRect">
            <a:avLst>
              <a:gd name="adj" fmla="val 4167"/>
            </a:avLst>
          </a:prstGeom>
          <a:solidFill>
            <a:srgbClr val="DFE8F2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endParaRPr lang="fr-FR"/>
          </a:p>
        </p:txBody>
      </p:sp>
      <p:sp>
        <p:nvSpPr>
          <p:cNvPr id="421964" name="AutoShape 76"/>
          <p:cNvSpPr>
            <a:spLocks noChangeArrowheads="1"/>
          </p:cNvSpPr>
          <p:nvPr/>
        </p:nvSpPr>
        <p:spPr bwMode="auto">
          <a:xfrm>
            <a:off x="1914525" y="5527675"/>
            <a:ext cx="1212850" cy="381000"/>
          </a:xfrm>
          <a:prstGeom prst="roundRect">
            <a:avLst>
              <a:gd name="adj" fmla="val 4167"/>
            </a:avLst>
          </a:prstGeom>
          <a:solidFill>
            <a:srgbClr val="8DACD0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>
                <a:solidFill>
                  <a:srgbClr val="000000"/>
                </a:solidFill>
              </a:rPr>
              <a:t>Word2000</a:t>
            </a:r>
            <a:endParaRPr lang="en-US"/>
          </a:p>
        </p:txBody>
      </p:sp>
      <p:pic>
        <p:nvPicPr>
          <p:cNvPr id="421965" name="Picture 77" descr="MsWord01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35" cstate="print"/>
          <a:srcRect/>
          <a:stretch>
            <a:fillRect/>
          </a:stretch>
        </p:blipFill>
        <p:spPr bwMode="auto">
          <a:xfrm>
            <a:off x="2149475" y="4633913"/>
            <a:ext cx="742950" cy="742950"/>
          </a:xfrm>
          <a:prstGeom prst="rect">
            <a:avLst/>
          </a:prstGeom>
          <a:noFill/>
        </p:spPr>
      </p:pic>
      <p:sp>
        <p:nvSpPr>
          <p:cNvPr id="421967" name="AutoShape 79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011488" y="1817688"/>
            <a:ext cx="998537" cy="519112"/>
          </a:xfrm>
          <a:custGeom>
            <a:avLst/>
            <a:gdLst>
              <a:gd name="G0" fmla="+- 11642 0 0"/>
              <a:gd name="G1" fmla="+- 5417 0 0"/>
              <a:gd name="G2" fmla="+- 21600 0 5417"/>
              <a:gd name="G3" fmla="+- 10800 0 5417"/>
              <a:gd name="G4" fmla="+- 21600 0 11642"/>
              <a:gd name="G5" fmla="*/ G4 G3 10800"/>
              <a:gd name="G6" fmla="+- 21600 0 G5"/>
              <a:gd name="T0" fmla="*/ 11642 w 21600"/>
              <a:gd name="T1" fmla="*/ 0 h 21600"/>
              <a:gd name="T2" fmla="*/ 0 w 21600"/>
              <a:gd name="T3" fmla="*/ 10800 h 21600"/>
              <a:gd name="T4" fmla="*/ 11642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642" y="0"/>
                </a:moveTo>
                <a:lnTo>
                  <a:pt x="11642" y="5417"/>
                </a:lnTo>
                <a:lnTo>
                  <a:pt x="3375" y="5417"/>
                </a:lnTo>
                <a:lnTo>
                  <a:pt x="3375" y="16183"/>
                </a:lnTo>
                <a:lnTo>
                  <a:pt x="11642" y="16183"/>
                </a:lnTo>
                <a:lnTo>
                  <a:pt x="11642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17"/>
                </a:moveTo>
                <a:lnTo>
                  <a:pt x="1350" y="16183"/>
                </a:lnTo>
                <a:lnTo>
                  <a:pt x="2700" y="16183"/>
                </a:lnTo>
                <a:lnTo>
                  <a:pt x="2700" y="5417"/>
                </a:lnTo>
                <a:close/>
              </a:path>
              <a:path w="21600" h="21600">
                <a:moveTo>
                  <a:pt x="0" y="5417"/>
                </a:moveTo>
                <a:lnTo>
                  <a:pt x="0" y="16183"/>
                </a:lnTo>
                <a:lnTo>
                  <a:pt x="675" y="16183"/>
                </a:lnTo>
                <a:lnTo>
                  <a:pt x="675" y="5417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1968" name="AutoShape 80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011488" y="4730750"/>
            <a:ext cx="998537" cy="519113"/>
          </a:xfrm>
          <a:custGeom>
            <a:avLst/>
            <a:gdLst>
              <a:gd name="G0" fmla="+- 11642 0 0"/>
              <a:gd name="G1" fmla="+- 5417 0 0"/>
              <a:gd name="G2" fmla="+- 21600 0 5417"/>
              <a:gd name="G3" fmla="+- 10800 0 5417"/>
              <a:gd name="G4" fmla="+- 21600 0 11642"/>
              <a:gd name="G5" fmla="*/ G4 G3 10800"/>
              <a:gd name="G6" fmla="+- 21600 0 G5"/>
              <a:gd name="T0" fmla="*/ 11642 w 21600"/>
              <a:gd name="T1" fmla="*/ 0 h 21600"/>
              <a:gd name="T2" fmla="*/ 0 w 21600"/>
              <a:gd name="T3" fmla="*/ 10800 h 21600"/>
              <a:gd name="T4" fmla="*/ 11642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642" y="0"/>
                </a:moveTo>
                <a:lnTo>
                  <a:pt x="11642" y="5417"/>
                </a:lnTo>
                <a:lnTo>
                  <a:pt x="3375" y="5417"/>
                </a:lnTo>
                <a:lnTo>
                  <a:pt x="3375" y="16183"/>
                </a:lnTo>
                <a:lnTo>
                  <a:pt x="11642" y="16183"/>
                </a:lnTo>
                <a:lnTo>
                  <a:pt x="11642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17"/>
                </a:moveTo>
                <a:lnTo>
                  <a:pt x="1350" y="16183"/>
                </a:lnTo>
                <a:lnTo>
                  <a:pt x="2700" y="16183"/>
                </a:lnTo>
                <a:lnTo>
                  <a:pt x="2700" y="5417"/>
                </a:lnTo>
                <a:close/>
              </a:path>
              <a:path w="21600" h="21600">
                <a:moveTo>
                  <a:pt x="0" y="5417"/>
                </a:moveTo>
                <a:lnTo>
                  <a:pt x="0" y="16183"/>
                </a:lnTo>
                <a:lnTo>
                  <a:pt x="675" y="16183"/>
                </a:lnTo>
                <a:lnTo>
                  <a:pt x="675" y="5417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21981" name="Group 93"/>
          <p:cNvGrpSpPr>
            <a:grpSpLocks/>
          </p:cNvGrpSpPr>
          <p:nvPr/>
        </p:nvGrpSpPr>
        <p:grpSpPr bwMode="auto">
          <a:xfrm>
            <a:off x="4011613" y="1892300"/>
            <a:ext cx="1800225" cy="3279775"/>
            <a:chOff x="2527" y="1192"/>
            <a:chExt cx="1134" cy="2066"/>
          </a:xfrm>
        </p:grpSpPr>
        <p:sp>
          <p:nvSpPr>
            <p:cNvPr id="421970" name="AutoShape 82"/>
            <p:cNvSpPr>
              <a:spLocks noChangeArrowheads="1"/>
            </p:cNvSpPr>
            <p:nvPr/>
          </p:nvSpPr>
          <p:spPr bwMode="auto">
            <a:xfrm>
              <a:off x="2527" y="1192"/>
              <a:ext cx="1134" cy="249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fr-FR" b="0" i="1">
                  <a:solidFill>
                    <a:srgbClr val="000000"/>
                  </a:solidFill>
                </a:rPr>
                <a:t>Nom_Fichier.</a:t>
              </a:r>
              <a:r>
                <a:rPr lang="fr-FR" sz="2400">
                  <a:solidFill>
                    <a:srgbClr val="000000"/>
                  </a:solidFill>
                </a:rPr>
                <a:t>doc</a:t>
              </a:r>
              <a:endParaRPr lang="en-US" sz="2400"/>
            </a:p>
          </p:txBody>
        </p:sp>
        <p:sp>
          <p:nvSpPr>
            <p:cNvPr id="421971" name="AutoShape 83"/>
            <p:cNvSpPr>
              <a:spLocks noChangeArrowheads="1"/>
            </p:cNvSpPr>
            <p:nvPr/>
          </p:nvSpPr>
          <p:spPr bwMode="auto">
            <a:xfrm>
              <a:off x="2544" y="3018"/>
              <a:ext cx="1108" cy="24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r>
                <a:rPr lang="fr-FR" b="0" i="1">
                  <a:solidFill>
                    <a:srgbClr val="000000"/>
                  </a:solidFill>
                </a:rPr>
                <a:t>Nom_Fichier.</a:t>
              </a:r>
              <a:r>
                <a:rPr lang="fr-FR" sz="2400">
                  <a:solidFill>
                    <a:srgbClr val="000000"/>
                  </a:solidFill>
                </a:rPr>
                <a:t>doc</a:t>
              </a:r>
              <a:endParaRPr lang="en-US" sz="2400"/>
            </a:p>
          </p:txBody>
        </p:sp>
      </p:grpSp>
      <p:sp>
        <p:nvSpPr>
          <p:cNvPr id="421973" name="Oval 85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57213" y="6051550"/>
            <a:ext cx="914400" cy="425450"/>
          </a:xfrm>
          <a:prstGeom prst="ellipse">
            <a:avLst/>
          </a:prstGeom>
          <a:gradFill rotWithShape="0">
            <a:gsLst>
              <a:gs pos="0">
                <a:srgbClr val="666699"/>
              </a:gs>
              <a:gs pos="100000">
                <a:srgbClr val="99CCFF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outerShdw dist="17961" dir="2700000" algn="ctr" rotWithShape="0">
              <a:srgbClr val="969696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421975" name="Oval 8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79450" y="6142038"/>
            <a:ext cx="304800" cy="244475"/>
          </a:xfrm>
          <a:prstGeom prst="ellipse">
            <a:avLst/>
          </a:prstGeom>
          <a:gradFill rotWithShape="0">
            <a:gsLst>
              <a:gs pos="0">
                <a:srgbClr val="666699"/>
              </a:gs>
              <a:gs pos="100000">
                <a:srgbClr val="99CCFF"/>
              </a:gs>
            </a:gsLst>
            <a:lin ang="189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1976" name="Freeform 88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754063" y="6176963"/>
            <a:ext cx="176212" cy="1682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76"/>
              </a:cxn>
              <a:cxn ang="0">
                <a:pos x="432" y="288"/>
              </a:cxn>
              <a:cxn ang="0">
                <a:pos x="0" y="0"/>
              </a:cxn>
            </a:cxnLst>
            <a:rect l="0" t="0" r="r" b="b"/>
            <a:pathLst>
              <a:path w="432" h="576">
                <a:moveTo>
                  <a:pt x="0" y="0"/>
                </a:moveTo>
                <a:cubicBezTo>
                  <a:pt x="0" y="0"/>
                  <a:pt x="91" y="226"/>
                  <a:pt x="0" y="576"/>
                </a:cubicBezTo>
                <a:cubicBezTo>
                  <a:pt x="216" y="432"/>
                  <a:pt x="432" y="288"/>
                  <a:pt x="432" y="288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FFFFCC"/>
              </a:gs>
              <a:gs pos="100000">
                <a:srgbClr val="FFCC66"/>
              </a:gs>
            </a:gsLst>
            <a:lin ang="18900000" scaled="1"/>
          </a:gradFill>
          <a:ln w="9525" cap="flat" cmpd="sng">
            <a:solidFill>
              <a:srgbClr val="666699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81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421978" name="Oval 90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044575" y="6142038"/>
            <a:ext cx="304800" cy="244475"/>
          </a:xfrm>
          <a:prstGeom prst="ellipse">
            <a:avLst/>
          </a:prstGeom>
          <a:gradFill rotWithShape="0">
            <a:gsLst>
              <a:gs pos="0">
                <a:srgbClr val="666699"/>
              </a:gs>
              <a:gs pos="100000">
                <a:srgbClr val="99CCFF"/>
              </a:gs>
            </a:gsLst>
            <a:lin ang="189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1979" name="Rectangle 91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136650" y="6203950"/>
            <a:ext cx="120650" cy="122238"/>
          </a:xfrm>
          <a:prstGeom prst="rect">
            <a:avLst/>
          </a:prstGeom>
          <a:gradFill rotWithShape="1">
            <a:gsLst>
              <a:gs pos="0">
                <a:srgbClr val="FFFFCC"/>
              </a:gs>
              <a:gs pos="100000">
                <a:srgbClr val="FFCC66"/>
              </a:gs>
            </a:gsLst>
            <a:lin ang="18900000" scaled="1"/>
          </a:gradFill>
          <a:ln w="9525" algn="ctr">
            <a:solidFill>
              <a:srgbClr val="666699"/>
            </a:solidFill>
            <a:miter lim="800000"/>
            <a:headEnd/>
            <a:tailEnd/>
          </a:ln>
          <a:effectLst>
            <a:outerShdw dist="17961" dir="81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21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2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42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2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967" grpId="0" animBg="1"/>
      <p:bldP spid="421968" grpId="0" animBg="1"/>
      <p:bldP spid="421978" grpId="0" animBg="1"/>
      <p:bldP spid="42197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88686" y="228600"/>
            <a:ext cx="8752114" cy="758952"/>
          </a:xfrm>
        </p:spPr>
        <p:txBody>
          <a:bodyPr vert="horz" anchor="b">
            <a:noAutofit/>
          </a:bodyPr>
          <a:lstStyle/>
          <a:p>
            <a:r>
              <a:rPr lang="fr-FR" sz="3000" b="1" dirty="0">
                <a:solidFill>
                  <a:srgbClr val="C00000"/>
                </a:solidFill>
              </a:rPr>
              <a:t>Définition de la modification de logiciels</a:t>
            </a:r>
            <a:endParaRPr lang="en-US" sz="3000" b="1" dirty="0">
              <a:solidFill>
                <a:srgbClr val="C00000"/>
              </a:solidFill>
            </a:endParaRPr>
          </a:p>
        </p:txBody>
      </p:sp>
      <p:sp>
        <p:nvSpPr>
          <p:cNvPr id="423939" name="Text Box 3"/>
          <p:cNvSpPr txBox="1">
            <a:spLocks noChangeArrowheads="1"/>
          </p:cNvSpPr>
          <p:nvPr/>
        </p:nvSpPr>
        <p:spPr bwMode="auto">
          <a:xfrm>
            <a:off x="766091" y="1633089"/>
            <a:ext cx="2492990" cy="7694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sz="2200" dirty="0">
                <a:solidFill>
                  <a:srgbClr val="000000"/>
                </a:solidFill>
              </a:rPr>
              <a:t>Instance unique</a:t>
            </a:r>
            <a:endParaRPr lang="en-US" sz="2200" dirty="0"/>
          </a:p>
          <a:p>
            <a:r>
              <a:rPr lang="fr-FR" sz="2200" dirty="0">
                <a:solidFill>
                  <a:srgbClr val="000000"/>
                </a:solidFill>
              </a:rPr>
              <a:t>au niveau du serveur</a:t>
            </a:r>
            <a:endParaRPr lang="en-US" sz="2200" dirty="0">
              <a:solidFill>
                <a:srgbClr val="000000"/>
              </a:solidFill>
            </a:endParaRPr>
          </a:p>
        </p:txBody>
      </p:sp>
      <p:sp>
        <p:nvSpPr>
          <p:cNvPr id="423941" name="AutoShape 5"/>
          <p:cNvSpPr>
            <a:spLocks noChangeArrowheads="1"/>
          </p:cNvSpPr>
          <p:nvPr/>
        </p:nvSpPr>
        <p:spPr bwMode="auto">
          <a:xfrm>
            <a:off x="0" y="4454525"/>
            <a:ext cx="3368675" cy="156080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54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square" anchor="ctr">
            <a:spAutoFit/>
          </a:bodyPr>
          <a:lstStyle/>
          <a:p>
            <a:pPr>
              <a:lnSpc>
                <a:spcPct val="85000"/>
              </a:lnSpc>
            </a:pPr>
            <a:r>
              <a:rPr lang="fr-FR" sz="2200">
                <a:solidFill>
                  <a:srgbClr val="000000"/>
                </a:solidFill>
              </a:rPr>
              <a:t>Vous pouvez apporter </a:t>
            </a:r>
            <a:br>
              <a:rPr lang="fr-FR" sz="2200">
                <a:solidFill>
                  <a:srgbClr val="000000"/>
                </a:solidFill>
              </a:rPr>
            </a:br>
            <a:r>
              <a:rPr lang="fr-FR" sz="2200">
                <a:solidFill>
                  <a:srgbClr val="000000"/>
                </a:solidFill>
              </a:rPr>
              <a:t>et annuler des modifications uniquement lors de déploiement d'un package logiciel</a:t>
            </a:r>
            <a:endParaRPr lang="en-US" sz="2200"/>
          </a:p>
        </p:txBody>
      </p:sp>
      <p:pic>
        <p:nvPicPr>
          <p:cNvPr id="423952" name="Picture 16" descr="Server01"/>
          <p:cNvPicPr>
            <a:picLocks noChangeAspect="1" noChangeArrowheads="1"/>
          </p:cNvPicPr>
          <p:nvPr/>
        </p:nvPicPr>
        <p:blipFill>
          <a:blip r:embed="rId24"/>
          <a:srcRect/>
          <a:stretch>
            <a:fillRect/>
          </a:stretch>
        </p:blipFill>
        <p:spPr bwMode="auto">
          <a:xfrm>
            <a:off x="946150" y="2492375"/>
            <a:ext cx="1452563" cy="1708150"/>
          </a:xfrm>
          <a:prstGeom prst="rect">
            <a:avLst/>
          </a:prstGeom>
          <a:noFill/>
        </p:spPr>
      </p:pic>
      <p:pic>
        <p:nvPicPr>
          <p:cNvPr id="423992" name="Picture 56" descr="Logo_OfficeXP2"/>
          <p:cNvPicPr>
            <a:picLocks noChangeAspect="1" noChangeArrowheads="1"/>
          </p:cNvPicPr>
          <p:nvPr/>
        </p:nvPicPr>
        <p:blipFill>
          <a:blip r:embed="rId25"/>
          <a:srcRect/>
          <a:stretch>
            <a:fillRect/>
          </a:stretch>
        </p:blipFill>
        <p:spPr bwMode="auto">
          <a:xfrm>
            <a:off x="2232025" y="2914650"/>
            <a:ext cx="1096963" cy="1096963"/>
          </a:xfrm>
          <a:prstGeom prst="rect">
            <a:avLst/>
          </a:prstGeom>
          <a:noFill/>
        </p:spPr>
      </p:pic>
      <p:sp>
        <p:nvSpPr>
          <p:cNvPr id="423940" name="Freeform 4"/>
          <p:cNvSpPr>
            <a:spLocks/>
          </p:cNvSpPr>
          <p:nvPr/>
        </p:nvSpPr>
        <p:spPr bwMode="auto">
          <a:xfrm rot="5400000">
            <a:off x="3222625" y="2921000"/>
            <a:ext cx="1292225" cy="1425575"/>
          </a:xfrm>
          <a:custGeom>
            <a:avLst/>
            <a:gdLst/>
            <a:ahLst/>
            <a:cxnLst>
              <a:cxn ang="0">
                <a:pos x="557" y="1058"/>
              </a:cxn>
              <a:cxn ang="0">
                <a:pos x="573" y="741"/>
              </a:cxn>
              <a:cxn ang="0">
                <a:pos x="607" y="693"/>
              </a:cxn>
              <a:cxn ang="0">
                <a:pos x="638" y="655"/>
              </a:cxn>
              <a:cxn ang="0">
                <a:pos x="677" y="614"/>
              </a:cxn>
              <a:cxn ang="0">
                <a:pos x="709" y="580"/>
              </a:cxn>
              <a:cxn ang="0">
                <a:pos x="740" y="553"/>
              </a:cxn>
              <a:cxn ang="0">
                <a:pos x="765" y="532"/>
              </a:cxn>
              <a:cxn ang="0">
                <a:pos x="794" y="513"/>
              </a:cxn>
              <a:cxn ang="0">
                <a:pos x="830" y="492"/>
              </a:cxn>
              <a:cxn ang="0">
                <a:pos x="938" y="309"/>
              </a:cxn>
              <a:cxn ang="0">
                <a:pos x="734" y="367"/>
              </a:cxn>
              <a:cxn ang="0">
                <a:pos x="696" y="390"/>
              </a:cxn>
              <a:cxn ang="0">
                <a:pos x="659" y="419"/>
              </a:cxn>
              <a:cxn ang="0">
                <a:pos x="627" y="449"/>
              </a:cxn>
              <a:cxn ang="0">
                <a:pos x="596" y="480"/>
              </a:cxn>
              <a:cxn ang="0">
                <a:pos x="557" y="526"/>
              </a:cxn>
              <a:cxn ang="0">
                <a:pos x="646" y="221"/>
              </a:cxn>
              <a:cxn ang="0">
                <a:pos x="294" y="221"/>
              </a:cxn>
              <a:cxn ang="0">
                <a:pos x="382" y="528"/>
              </a:cxn>
              <a:cxn ang="0">
                <a:pos x="344" y="482"/>
              </a:cxn>
              <a:cxn ang="0">
                <a:pos x="319" y="455"/>
              </a:cxn>
              <a:cxn ang="0">
                <a:pos x="292" y="430"/>
              </a:cxn>
              <a:cxn ang="0">
                <a:pos x="256" y="401"/>
              </a:cxn>
              <a:cxn ang="0">
                <a:pos x="221" y="376"/>
              </a:cxn>
              <a:cxn ang="0">
                <a:pos x="248" y="309"/>
              </a:cxn>
              <a:cxn ang="0">
                <a:pos x="58" y="553"/>
              </a:cxn>
              <a:cxn ang="0">
                <a:pos x="129" y="503"/>
              </a:cxn>
              <a:cxn ang="0">
                <a:pos x="179" y="538"/>
              </a:cxn>
              <a:cxn ang="0">
                <a:pos x="211" y="566"/>
              </a:cxn>
              <a:cxn ang="0">
                <a:pos x="248" y="599"/>
              </a:cxn>
              <a:cxn ang="0">
                <a:pos x="284" y="638"/>
              </a:cxn>
              <a:cxn ang="0">
                <a:pos x="321" y="684"/>
              </a:cxn>
              <a:cxn ang="0">
                <a:pos x="357" y="734"/>
              </a:cxn>
              <a:cxn ang="0">
                <a:pos x="381" y="1058"/>
              </a:cxn>
            </a:cxnLst>
            <a:rect l="0" t="0" r="r" b="b"/>
            <a:pathLst>
              <a:path w="938" h="1058">
                <a:moveTo>
                  <a:pt x="381" y="1058"/>
                </a:moveTo>
                <a:lnTo>
                  <a:pt x="557" y="1058"/>
                </a:lnTo>
                <a:lnTo>
                  <a:pt x="557" y="766"/>
                </a:lnTo>
                <a:lnTo>
                  <a:pt x="573" y="741"/>
                </a:lnTo>
                <a:lnTo>
                  <a:pt x="588" y="720"/>
                </a:lnTo>
                <a:lnTo>
                  <a:pt x="607" y="693"/>
                </a:lnTo>
                <a:lnTo>
                  <a:pt x="623" y="674"/>
                </a:lnTo>
                <a:lnTo>
                  <a:pt x="638" y="655"/>
                </a:lnTo>
                <a:lnTo>
                  <a:pt x="661" y="630"/>
                </a:lnTo>
                <a:lnTo>
                  <a:pt x="677" y="614"/>
                </a:lnTo>
                <a:lnTo>
                  <a:pt x="690" y="599"/>
                </a:lnTo>
                <a:lnTo>
                  <a:pt x="709" y="580"/>
                </a:lnTo>
                <a:lnTo>
                  <a:pt x="729" y="563"/>
                </a:lnTo>
                <a:lnTo>
                  <a:pt x="740" y="553"/>
                </a:lnTo>
                <a:lnTo>
                  <a:pt x="754" y="541"/>
                </a:lnTo>
                <a:lnTo>
                  <a:pt x="765" y="532"/>
                </a:lnTo>
                <a:lnTo>
                  <a:pt x="779" y="522"/>
                </a:lnTo>
                <a:lnTo>
                  <a:pt x="794" y="513"/>
                </a:lnTo>
                <a:lnTo>
                  <a:pt x="809" y="503"/>
                </a:lnTo>
                <a:lnTo>
                  <a:pt x="830" y="492"/>
                </a:lnTo>
                <a:lnTo>
                  <a:pt x="878" y="551"/>
                </a:lnTo>
                <a:lnTo>
                  <a:pt x="938" y="309"/>
                </a:lnTo>
                <a:lnTo>
                  <a:pt x="688" y="309"/>
                </a:lnTo>
                <a:lnTo>
                  <a:pt x="734" y="367"/>
                </a:lnTo>
                <a:lnTo>
                  <a:pt x="715" y="378"/>
                </a:lnTo>
                <a:lnTo>
                  <a:pt x="696" y="390"/>
                </a:lnTo>
                <a:lnTo>
                  <a:pt x="677" y="405"/>
                </a:lnTo>
                <a:lnTo>
                  <a:pt x="659" y="419"/>
                </a:lnTo>
                <a:lnTo>
                  <a:pt x="642" y="434"/>
                </a:lnTo>
                <a:lnTo>
                  <a:pt x="627" y="449"/>
                </a:lnTo>
                <a:lnTo>
                  <a:pt x="611" y="463"/>
                </a:lnTo>
                <a:lnTo>
                  <a:pt x="596" y="480"/>
                </a:lnTo>
                <a:lnTo>
                  <a:pt x="579" y="499"/>
                </a:lnTo>
                <a:lnTo>
                  <a:pt x="557" y="526"/>
                </a:lnTo>
                <a:lnTo>
                  <a:pt x="557" y="221"/>
                </a:lnTo>
                <a:lnTo>
                  <a:pt x="646" y="221"/>
                </a:lnTo>
                <a:lnTo>
                  <a:pt x="469" y="0"/>
                </a:lnTo>
                <a:lnTo>
                  <a:pt x="294" y="221"/>
                </a:lnTo>
                <a:lnTo>
                  <a:pt x="381" y="221"/>
                </a:lnTo>
                <a:lnTo>
                  <a:pt x="382" y="528"/>
                </a:lnTo>
                <a:lnTo>
                  <a:pt x="361" y="503"/>
                </a:lnTo>
                <a:lnTo>
                  <a:pt x="344" y="482"/>
                </a:lnTo>
                <a:lnTo>
                  <a:pt x="331" y="469"/>
                </a:lnTo>
                <a:lnTo>
                  <a:pt x="319" y="455"/>
                </a:lnTo>
                <a:lnTo>
                  <a:pt x="306" y="442"/>
                </a:lnTo>
                <a:lnTo>
                  <a:pt x="292" y="430"/>
                </a:lnTo>
                <a:lnTo>
                  <a:pt x="275" y="417"/>
                </a:lnTo>
                <a:lnTo>
                  <a:pt x="256" y="401"/>
                </a:lnTo>
                <a:lnTo>
                  <a:pt x="238" y="388"/>
                </a:lnTo>
                <a:lnTo>
                  <a:pt x="221" y="376"/>
                </a:lnTo>
                <a:lnTo>
                  <a:pt x="204" y="367"/>
                </a:lnTo>
                <a:lnTo>
                  <a:pt x="248" y="309"/>
                </a:lnTo>
                <a:lnTo>
                  <a:pt x="0" y="309"/>
                </a:lnTo>
                <a:lnTo>
                  <a:pt x="58" y="553"/>
                </a:lnTo>
                <a:lnTo>
                  <a:pt x="106" y="492"/>
                </a:lnTo>
                <a:lnTo>
                  <a:pt x="129" y="503"/>
                </a:lnTo>
                <a:lnTo>
                  <a:pt x="150" y="517"/>
                </a:lnTo>
                <a:lnTo>
                  <a:pt x="179" y="538"/>
                </a:lnTo>
                <a:lnTo>
                  <a:pt x="196" y="551"/>
                </a:lnTo>
                <a:lnTo>
                  <a:pt x="211" y="566"/>
                </a:lnTo>
                <a:lnTo>
                  <a:pt x="227" y="580"/>
                </a:lnTo>
                <a:lnTo>
                  <a:pt x="248" y="599"/>
                </a:lnTo>
                <a:lnTo>
                  <a:pt x="261" y="614"/>
                </a:lnTo>
                <a:lnTo>
                  <a:pt x="284" y="638"/>
                </a:lnTo>
                <a:lnTo>
                  <a:pt x="302" y="659"/>
                </a:lnTo>
                <a:lnTo>
                  <a:pt x="321" y="684"/>
                </a:lnTo>
                <a:lnTo>
                  <a:pt x="340" y="709"/>
                </a:lnTo>
                <a:lnTo>
                  <a:pt x="357" y="734"/>
                </a:lnTo>
                <a:lnTo>
                  <a:pt x="381" y="766"/>
                </a:lnTo>
                <a:lnTo>
                  <a:pt x="381" y="1058"/>
                </a:lnTo>
              </a:path>
            </a:pathLst>
          </a:custGeom>
          <a:solidFill>
            <a:srgbClr val="FF0000">
              <a:alpha val="75000"/>
            </a:srgbClr>
          </a:solidFill>
          <a:ln w="9525" cap="flat" cmpd="sng">
            <a:solidFill>
              <a:srgbClr val="FF00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24050" name="Group 114"/>
          <p:cNvGrpSpPr>
            <a:grpSpLocks/>
          </p:cNvGrpSpPr>
          <p:nvPr/>
        </p:nvGrpSpPr>
        <p:grpSpPr bwMode="auto">
          <a:xfrm>
            <a:off x="3729038" y="1289050"/>
            <a:ext cx="4733925" cy="4792663"/>
            <a:chOff x="2349" y="812"/>
            <a:chExt cx="2982" cy="3019"/>
          </a:xfrm>
        </p:grpSpPr>
        <p:sp>
          <p:nvSpPr>
            <p:cNvPr id="424003" name="Oval 67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372" y="3091"/>
              <a:ext cx="1466" cy="726"/>
            </a:xfrm>
            <a:prstGeom prst="ellipse">
              <a:avLst/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b"/>
            <a:lstStyle/>
            <a:p>
              <a:endParaRPr lang="fr-FR" sz="1600"/>
            </a:p>
          </p:txBody>
        </p:sp>
        <p:pic>
          <p:nvPicPr>
            <p:cNvPr id="424004" name="Picture 68" descr="Computer_DesktopComputerSansKeyboard01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26" cstate="print"/>
            <a:srcRect/>
            <a:stretch>
              <a:fillRect/>
            </a:stretch>
          </p:blipFill>
          <p:spPr bwMode="auto">
            <a:xfrm>
              <a:off x="3582" y="3081"/>
              <a:ext cx="419" cy="510"/>
            </a:xfrm>
            <a:prstGeom prst="rect">
              <a:avLst/>
            </a:prstGeom>
            <a:noFill/>
          </p:spPr>
        </p:pic>
        <p:pic>
          <p:nvPicPr>
            <p:cNvPr id="424005" name="Picture 69" descr="Computer_DesktopComputerSansKeyboard01"/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 r:embed="rId26" cstate="print"/>
            <a:srcRect/>
            <a:stretch>
              <a:fillRect/>
            </a:stretch>
          </p:blipFill>
          <p:spPr bwMode="auto">
            <a:xfrm>
              <a:off x="3393" y="3321"/>
              <a:ext cx="419" cy="510"/>
            </a:xfrm>
            <a:prstGeom prst="rect">
              <a:avLst/>
            </a:prstGeom>
            <a:noFill/>
          </p:spPr>
        </p:pic>
        <p:pic>
          <p:nvPicPr>
            <p:cNvPr id="424006" name="Picture 70" descr="Logo_OfficeXP2"/>
            <p:cNvPicPr>
              <a:picLocks noChangeAspect="1" noChangeArrowheads="1"/>
            </p:cNvPicPr>
            <p:nvPr>
              <p:custDataLst>
                <p:tags r:id="rId10"/>
              </p:custDataLst>
            </p:nvPr>
          </p:nvPicPr>
          <p:blipFill>
            <a:blip r:embed="rId25"/>
            <a:srcRect/>
            <a:stretch>
              <a:fillRect/>
            </a:stretch>
          </p:blipFill>
          <p:spPr bwMode="auto">
            <a:xfrm>
              <a:off x="2349" y="3013"/>
              <a:ext cx="497" cy="496"/>
            </a:xfrm>
            <a:prstGeom prst="rect">
              <a:avLst/>
            </a:prstGeom>
            <a:noFill/>
          </p:spPr>
        </p:pic>
        <p:sp>
          <p:nvSpPr>
            <p:cNvPr id="424008" name="AutoShape 72"/>
            <p:cNvSpPr>
              <a:spLocks noChangeArrowheads="1"/>
            </p:cNvSpPr>
            <p:nvPr/>
          </p:nvSpPr>
          <p:spPr bwMode="auto">
            <a:xfrm>
              <a:off x="2800" y="2734"/>
              <a:ext cx="448" cy="230"/>
            </a:xfrm>
            <a:prstGeom prst="roundRect">
              <a:avLst>
                <a:gd name="adj" fmla="val 10699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>
              <a:spAutoFit/>
            </a:bodyPr>
            <a:lstStyle/>
            <a:p>
              <a:r>
                <a:rPr lang="fr-FR" sz="1600">
                  <a:solidFill>
                    <a:srgbClr val="000000"/>
                  </a:solidFill>
                </a:rPr>
                <a:t>GPO3</a:t>
              </a:r>
              <a:endParaRPr lang="en-US" sz="1600"/>
            </a:p>
          </p:txBody>
        </p:sp>
        <p:pic>
          <p:nvPicPr>
            <p:cNvPr id="424009" name="Picture 73" descr="GroupPolicyObject01"/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27" cstate="print"/>
            <a:srcRect/>
            <a:stretch>
              <a:fillRect/>
            </a:stretch>
          </p:blipFill>
          <p:spPr bwMode="auto">
            <a:xfrm>
              <a:off x="2800" y="2952"/>
              <a:ext cx="627" cy="372"/>
            </a:xfrm>
            <a:prstGeom prst="rect">
              <a:avLst/>
            </a:prstGeom>
            <a:noFill/>
          </p:spPr>
        </p:pic>
        <p:sp>
          <p:nvSpPr>
            <p:cNvPr id="424010" name="Text Box 74"/>
            <p:cNvSpPr txBox="1">
              <a:spLocks noChangeArrowheads="1"/>
            </p:cNvSpPr>
            <p:nvPr/>
          </p:nvSpPr>
          <p:spPr bwMode="auto">
            <a:xfrm>
              <a:off x="2556" y="3530"/>
              <a:ext cx="844" cy="25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FR" sz="2000" dirty="0" err="1">
                  <a:solidFill>
                    <a:srgbClr val="000000"/>
                  </a:solidFill>
                </a:rPr>
                <a:t>Accounting</a:t>
              </a:r>
              <a:endParaRPr lang="en-US" sz="2000" dirty="0"/>
            </a:p>
          </p:txBody>
        </p:sp>
        <p:sp>
          <p:nvSpPr>
            <p:cNvPr id="424012" name="Oval 76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702" y="2199"/>
              <a:ext cx="1466" cy="726"/>
            </a:xfrm>
            <a:prstGeom prst="ellipse">
              <a:avLst/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b"/>
            <a:lstStyle/>
            <a:p>
              <a:endParaRPr lang="fr-FR" sz="1600"/>
            </a:p>
          </p:txBody>
        </p:sp>
        <p:pic>
          <p:nvPicPr>
            <p:cNvPr id="424013" name="Picture 77" descr="Computer_DesktopComputerSansKeyboard01"/>
            <p:cNvPicPr>
              <a:picLocks noChangeAspect="1" noChangeArrowheads="1"/>
            </p:cNvPicPr>
            <p:nvPr>
              <p:custDataLst>
                <p:tags r:id="rId13"/>
              </p:custDataLst>
            </p:nvPr>
          </p:nvPicPr>
          <p:blipFill>
            <a:blip r:embed="rId26" cstate="print"/>
            <a:srcRect/>
            <a:stretch>
              <a:fillRect/>
            </a:stretch>
          </p:blipFill>
          <p:spPr bwMode="auto">
            <a:xfrm>
              <a:off x="4912" y="2189"/>
              <a:ext cx="419" cy="510"/>
            </a:xfrm>
            <a:prstGeom prst="rect">
              <a:avLst/>
            </a:prstGeom>
            <a:noFill/>
          </p:spPr>
        </p:pic>
        <p:pic>
          <p:nvPicPr>
            <p:cNvPr id="424014" name="Picture 78" descr="Computer_DesktopComputerSansKeyboard01"/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26" cstate="print"/>
            <a:srcRect/>
            <a:stretch>
              <a:fillRect/>
            </a:stretch>
          </p:blipFill>
          <p:spPr bwMode="auto">
            <a:xfrm>
              <a:off x="4723" y="2429"/>
              <a:ext cx="419" cy="510"/>
            </a:xfrm>
            <a:prstGeom prst="rect">
              <a:avLst/>
            </a:prstGeom>
            <a:noFill/>
          </p:spPr>
        </p:pic>
        <p:pic>
          <p:nvPicPr>
            <p:cNvPr id="424015" name="Picture 79" descr="Logo_OfficeXP2"/>
            <p:cNvPicPr>
              <a:picLocks noChangeAspect="1" noChangeArrowheads="1"/>
            </p:cNvPicPr>
            <p:nvPr>
              <p:custDataLst>
                <p:tags r:id="rId15"/>
              </p:custDataLst>
            </p:nvPr>
          </p:nvPicPr>
          <p:blipFill>
            <a:blip r:embed="rId25"/>
            <a:srcRect/>
            <a:stretch>
              <a:fillRect/>
            </a:stretch>
          </p:blipFill>
          <p:spPr bwMode="auto">
            <a:xfrm>
              <a:off x="3679" y="2121"/>
              <a:ext cx="497" cy="496"/>
            </a:xfrm>
            <a:prstGeom prst="rect">
              <a:avLst/>
            </a:prstGeom>
            <a:noFill/>
          </p:spPr>
        </p:pic>
        <p:sp>
          <p:nvSpPr>
            <p:cNvPr id="424017" name="AutoShape 81"/>
            <p:cNvSpPr>
              <a:spLocks noChangeArrowheads="1"/>
            </p:cNvSpPr>
            <p:nvPr/>
          </p:nvSpPr>
          <p:spPr bwMode="auto">
            <a:xfrm>
              <a:off x="4130" y="1842"/>
              <a:ext cx="448" cy="230"/>
            </a:xfrm>
            <a:prstGeom prst="roundRect">
              <a:avLst>
                <a:gd name="adj" fmla="val 10699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>
              <a:spAutoFit/>
            </a:bodyPr>
            <a:lstStyle/>
            <a:p>
              <a:r>
                <a:rPr lang="fr-FR" sz="1600">
                  <a:solidFill>
                    <a:srgbClr val="000000"/>
                  </a:solidFill>
                </a:rPr>
                <a:t>GPO2</a:t>
              </a:r>
              <a:endParaRPr lang="en-US" sz="1600"/>
            </a:p>
          </p:txBody>
        </p:sp>
        <p:pic>
          <p:nvPicPr>
            <p:cNvPr id="424018" name="Picture 82" descr="GroupPolicyObject01"/>
            <p:cNvPicPr>
              <a:picLocks noChangeAspect="1" noChangeArrowheads="1"/>
            </p:cNvPicPr>
            <p:nvPr>
              <p:custDataLst>
                <p:tags r:id="rId16"/>
              </p:custDataLst>
            </p:nvPr>
          </p:nvPicPr>
          <p:blipFill>
            <a:blip r:embed="rId27" cstate="print"/>
            <a:srcRect/>
            <a:stretch>
              <a:fillRect/>
            </a:stretch>
          </p:blipFill>
          <p:spPr bwMode="auto">
            <a:xfrm>
              <a:off x="4130" y="2060"/>
              <a:ext cx="627" cy="372"/>
            </a:xfrm>
            <a:prstGeom prst="rect">
              <a:avLst/>
            </a:prstGeom>
            <a:noFill/>
          </p:spPr>
        </p:pic>
        <p:sp>
          <p:nvSpPr>
            <p:cNvPr id="424019" name="Text Box 83"/>
            <p:cNvSpPr txBox="1">
              <a:spLocks noChangeArrowheads="1"/>
            </p:cNvSpPr>
            <p:nvPr/>
          </p:nvSpPr>
          <p:spPr bwMode="auto">
            <a:xfrm>
              <a:off x="4003" y="2644"/>
              <a:ext cx="741" cy="25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FR" sz="2000" dirty="0">
                  <a:solidFill>
                    <a:srgbClr val="000000"/>
                  </a:solidFill>
                </a:rPr>
                <a:t>Marketing</a:t>
              </a:r>
              <a:endParaRPr lang="en-US" sz="2000" dirty="0"/>
            </a:p>
          </p:txBody>
        </p:sp>
        <p:sp>
          <p:nvSpPr>
            <p:cNvPr id="424021" name="Oval 8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404" y="1169"/>
              <a:ext cx="1466" cy="726"/>
            </a:xfrm>
            <a:prstGeom prst="ellipse">
              <a:avLst/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b"/>
            <a:lstStyle/>
            <a:p>
              <a:endParaRPr lang="fr-FR" sz="1600"/>
            </a:p>
          </p:txBody>
        </p:sp>
        <p:pic>
          <p:nvPicPr>
            <p:cNvPr id="424022" name="Picture 86" descr="Computer_DesktopComputerSansKeyboard01"/>
            <p:cNvPicPr>
              <a:picLocks noChangeAspect="1" noChangeArrowheads="1"/>
            </p:cNvPicPr>
            <p:nvPr>
              <p:custDataLst>
                <p:tags r:id="rId18"/>
              </p:custDataLst>
            </p:nvPr>
          </p:nvPicPr>
          <p:blipFill>
            <a:blip r:embed="rId26" cstate="print"/>
            <a:srcRect/>
            <a:stretch>
              <a:fillRect/>
            </a:stretch>
          </p:blipFill>
          <p:spPr bwMode="auto">
            <a:xfrm>
              <a:off x="3614" y="1159"/>
              <a:ext cx="419" cy="510"/>
            </a:xfrm>
            <a:prstGeom prst="rect">
              <a:avLst/>
            </a:prstGeom>
            <a:noFill/>
          </p:spPr>
        </p:pic>
        <p:pic>
          <p:nvPicPr>
            <p:cNvPr id="424023" name="Picture 87" descr="Computer_DesktopComputerSansKeyboard01"/>
            <p:cNvPicPr>
              <a:picLocks noChangeAspect="1" noChangeArrowheads="1"/>
            </p:cNvPicPr>
            <p:nvPr>
              <p:custDataLst>
                <p:tags r:id="rId19"/>
              </p:custDataLst>
            </p:nvPr>
          </p:nvPicPr>
          <p:blipFill>
            <a:blip r:embed="rId26" cstate="print"/>
            <a:srcRect/>
            <a:stretch>
              <a:fillRect/>
            </a:stretch>
          </p:blipFill>
          <p:spPr bwMode="auto">
            <a:xfrm>
              <a:off x="3425" y="1399"/>
              <a:ext cx="419" cy="510"/>
            </a:xfrm>
            <a:prstGeom prst="rect">
              <a:avLst/>
            </a:prstGeom>
            <a:noFill/>
          </p:spPr>
        </p:pic>
        <p:pic>
          <p:nvPicPr>
            <p:cNvPr id="424024" name="Picture 88" descr="Logo_OfficeXP2"/>
            <p:cNvPicPr>
              <a:picLocks noChangeAspect="1" noChangeArrowheads="1"/>
            </p:cNvPicPr>
            <p:nvPr>
              <p:custDataLst>
                <p:tags r:id="rId20"/>
              </p:custDataLst>
            </p:nvPr>
          </p:nvPicPr>
          <p:blipFill>
            <a:blip r:embed="rId25"/>
            <a:srcRect/>
            <a:stretch>
              <a:fillRect/>
            </a:stretch>
          </p:blipFill>
          <p:spPr bwMode="auto">
            <a:xfrm>
              <a:off x="2381" y="1091"/>
              <a:ext cx="497" cy="496"/>
            </a:xfrm>
            <a:prstGeom prst="rect">
              <a:avLst/>
            </a:prstGeom>
            <a:noFill/>
          </p:spPr>
        </p:pic>
        <p:sp>
          <p:nvSpPr>
            <p:cNvPr id="424026" name="AutoShape 90"/>
            <p:cNvSpPr>
              <a:spLocks noChangeArrowheads="1"/>
            </p:cNvSpPr>
            <p:nvPr/>
          </p:nvSpPr>
          <p:spPr bwMode="auto">
            <a:xfrm>
              <a:off x="2832" y="812"/>
              <a:ext cx="448" cy="230"/>
            </a:xfrm>
            <a:prstGeom prst="roundRect">
              <a:avLst>
                <a:gd name="adj" fmla="val 10699"/>
              </a:avLst>
            </a:prstGeom>
            <a:solidFill>
              <a:schemeClr val="bg1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>
              <a:spAutoFit/>
            </a:bodyPr>
            <a:lstStyle/>
            <a:p>
              <a:r>
                <a:rPr lang="fr-FR" sz="1600">
                  <a:solidFill>
                    <a:srgbClr val="000000"/>
                  </a:solidFill>
                </a:rPr>
                <a:t>GPO1</a:t>
              </a:r>
              <a:endParaRPr lang="en-US" sz="1600"/>
            </a:p>
          </p:txBody>
        </p:sp>
        <p:pic>
          <p:nvPicPr>
            <p:cNvPr id="424027" name="Picture 91" descr="GroupPolicyObject01"/>
            <p:cNvPicPr>
              <a:picLocks noChangeAspect="1" noChangeArrowheads="1"/>
            </p:cNvPicPr>
            <p:nvPr>
              <p:custDataLst>
                <p:tags r:id="rId21"/>
              </p:custDataLst>
            </p:nvPr>
          </p:nvPicPr>
          <p:blipFill>
            <a:blip r:embed="rId27" cstate="print"/>
            <a:srcRect/>
            <a:stretch>
              <a:fillRect/>
            </a:stretch>
          </p:blipFill>
          <p:spPr bwMode="auto">
            <a:xfrm>
              <a:off x="2832" y="1030"/>
              <a:ext cx="627" cy="372"/>
            </a:xfrm>
            <a:prstGeom prst="rect">
              <a:avLst/>
            </a:prstGeom>
            <a:noFill/>
          </p:spPr>
        </p:pic>
        <p:sp>
          <p:nvSpPr>
            <p:cNvPr id="424028" name="Text Box 92"/>
            <p:cNvSpPr txBox="1">
              <a:spLocks noChangeArrowheads="1"/>
            </p:cNvSpPr>
            <p:nvPr/>
          </p:nvSpPr>
          <p:spPr bwMode="auto">
            <a:xfrm>
              <a:off x="2829" y="1614"/>
              <a:ext cx="526" cy="25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fr-FR" sz="2000" dirty="0">
                  <a:solidFill>
                    <a:srgbClr val="000000"/>
                  </a:solidFill>
                </a:rPr>
                <a:t>Sales</a:t>
              </a:r>
              <a:endParaRPr lang="en-US" sz="2000" dirty="0"/>
            </a:p>
          </p:txBody>
        </p:sp>
      </p:grpSp>
      <p:sp>
        <p:nvSpPr>
          <p:cNvPr id="424041" name="Oval 10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54050" y="6051550"/>
            <a:ext cx="914400" cy="425450"/>
          </a:xfrm>
          <a:prstGeom prst="ellipse">
            <a:avLst/>
          </a:prstGeom>
          <a:gradFill rotWithShape="0">
            <a:gsLst>
              <a:gs pos="0">
                <a:srgbClr val="666699"/>
              </a:gs>
              <a:gs pos="100000">
                <a:srgbClr val="99CCFF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outerShdw dist="17961" dir="2700000" algn="ctr" rotWithShape="0">
              <a:srgbClr val="969696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24048" name="Group 106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776288" y="6142038"/>
            <a:ext cx="304800" cy="244475"/>
            <a:chOff x="489" y="3869"/>
            <a:chExt cx="192" cy="154"/>
          </a:xfrm>
        </p:grpSpPr>
        <p:sp>
          <p:nvSpPr>
            <p:cNvPr id="424043" name="Oval 10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89" y="3869"/>
              <a:ext cx="192" cy="154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24044" name="Freeform 108"/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>
              <a:off x="536" y="3891"/>
              <a:ext cx="111" cy="1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76"/>
                </a:cxn>
                <a:cxn ang="0">
                  <a:pos x="432" y="288"/>
                </a:cxn>
                <a:cxn ang="0">
                  <a:pos x="0" y="0"/>
                </a:cxn>
              </a:cxnLst>
              <a:rect l="0" t="0" r="r" b="b"/>
              <a:pathLst>
                <a:path w="432" h="576">
                  <a:moveTo>
                    <a:pt x="0" y="0"/>
                  </a:moveTo>
                  <a:cubicBezTo>
                    <a:pt x="0" y="0"/>
                    <a:pt x="91" y="226"/>
                    <a:pt x="0" y="576"/>
                  </a:cubicBezTo>
                  <a:cubicBezTo>
                    <a:pt x="216" y="432"/>
                    <a:pt x="432" y="288"/>
                    <a:pt x="432" y="288"/>
                  </a:cubicBez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cap="flat" cmpd="sng">
              <a:solidFill>
                <a:srgbClr val="66669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24046" name="Oval 110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41413" y="6142038"/>
            <a:ext cx="304800" cy="244475"/>
          </a:xfrm>
          <a:prstGeom prst="ellipse">
            <a:avLst/>
          </a:prstGeom>
          <a:gradFill rotWithShape="0">
            <a:gsLst>
              <a:gs pos="0">
                <a:srgbClr val="666699"/>
              </a:gs>
              <a:gs pos="100000">
                <a:srgbClr val="99CCFF"/>
              </a:gs>
            </a:gsLst>
            <a:lin ang="189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4047" name="Rectangle 11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33488" y="6203950"/>
            <a:ext cx="120650" cy="122238"/>
          </a:xfrm>
          <a:prstGeom prst="rect">
            <a:avLst/>
          </a:prstGeom>
          <a:gradFill rotWithShape="1">
            <a:gsLst>
              <a:gs pos="0">
                <a:srgbClr val="FFFFCC"/>
              </a:gs>
              <a:gs pos="100000">
                <a:srgbClr val="FFCC66"/>
              </a:gs>
            </a:gsLst>
            <a:lin ang="18900000" scaled="1"/>
          </a:gradFill>
          <a:ln w="9525" algn="ctr">
            <a:solidFill>
              <a:srgbClr val="666699"/>
            </a:solidFill>
            <a:miter lim="800000"/>
            <a:headEnd/>
            <a:tailEnd/>
          </a:ln>
          <a:effectLst>
            <a:outerShdw dist="17961" dir="81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2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2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40" grpId="0" animBg="1"/>
      <p:bldP spid="424046" grpId="0" animBg="1"/>
      <p:bldP spid="42404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fr-FR" sz="3000" b="1" dirty="0">
                <a:solidFill>
                  <a:srgbClr val="C00000"/>
                </a:solidFill>
              </a:rPr>
              <a:t>Types de mises à niveau de logiciels</a:t>
            </a:r>
            <a:endParaRPr lang="en-US" sz="3000" b="1" dirty="0">
              <a:solidFill>
                <a:srgbClr val="C00000"/>
              </a:solidFill>
            </a:endParaRPr>
          </a:p>
        </p:txBody>
      </p:sp>
      <p:graphicFrame>
        <p:nvGraphicFramePr>
          <p:cNvPr id="405720" name="Group 216"/>
          <p:cNvGraphicFramePr>
            <a:graphicFrameLocks noGrp="1"/>
          </p:cNvGraphicFramePr>
          <p:nvPr/>
        </p:nvGraphicFramePr>
        <p:xfrm>
          <a:off x="2611438" y="1182688"/>
          <a:ext cx="6358391" cy="1376363"/>
        </p:xfrm>
        <a:graphic>
          <a:graphicData uri="http://schemas.openxmlformats.org/drawingml/2006/table">
            <a:tbl>
              <a:tblPr/>
              <a:tblGrid>
                <a:gridCol w="3252333"/>
                <a:gridCol w="3106058"/>
              </a:tblGrid>
              <a:tr h="13763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Mises à niveau obligatoires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Blip>
                          <a:blip r:embed="rId46"/>
                        </a:buBlip>
                        <a:tabLst/>
                      </a:pP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Les utilisateurs ne peuvent exploiter que la version mise à niveau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5713" name="Group 209"/>
          <p:cNvGraphicFramePr>
            <a:graphicFrameLocks noGrp="1"/>
          </p:cNvGraphicFramePr>
          <p:nvPr/>
        </p:nvGraphicFramePr>
        <p:xfrm>
          <a:off x="2611438" y="2640013"/>
          <a:ext cx="6358391" cy="1711325"/>
        </p:xfrm>
        <a:graphic>
          <a:graphicData uri="http://schemas.openxmlformats.org/drawingml/2006/table">
            <a:tbl>
              <a:tblPr/>
              <a:tblGrid>
                <a:gridCol w="3235325"/>
                <a:gridCol w="3123066"/>
              </a:tblGrid>
              <a:tr h="17113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Mises à niveau facultatives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Blip>
                          <a:blip r:embed="rId46"/>
                        </a:buBlip>
                        <a:tabLst/>
                      </a:pP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Les utilisateurs décident de mettre à niveau  ou non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5714" name="Group 210"/>
          <p:cNvGraphicFramePr>
            <a:graphicFrameLocks noGrp="1"/>
          </p:cNvGraphicFramePr>
          <p:nvPr/>
        </p:nvGraphicFramePr>
        <p:xfrm>
          <a:off x="2611438" y="4424363"/>
          <a:ext cx="6358391" cy="2108200"/>
        </p:xfrm>
        <a:graphic>
          <a:graphicData uri="http://schemas.openxmlformats.org/drawingml/2006/table">
            <a:tbl>
              <a:tblPr/>
              <a:tblGrid>
                <a:gridCol w="3310391"/>
                <a:gridCol w="3048000"/>
              </a:tblGrid>
              <a:tr h="2108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Mises à niveau sélectives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Blip>
                          <a:blip r:embed="rId46"/>
                        </a:buBlip>
                        <a:tabLst/>
                      </a:pP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Vous pouvez choisir les utilisateurs qui devront effectuer la mise à niveau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05722" name="Group 218"/>
          <p:cNvGrpSpPr>
            <a:grpSpLocks/>
          </p:cNvGrpSpPr>
          <p:nvPr/>
        </p:nvGrpSpPr>
        <p:grpSpPr bwMode="auto">
          <a:xfrm>
            <a:off x="3109913" y="1139825"/>
            <a:ext cx="1473200" cy="1116013"/>
            <a:chOff x="1959" y="745"/>
            <a:chExt cx="928" cy="703"/>
          </a:xfrm>
        </p:grpSpPr>
        <p:pic>
          <p:nvPicPr>
            <p:cNvPr id="405648" name="Picture 144" descr="Computer_DesktopComputer01"/>
            <p:cNvPicPr>
              <a:picLocks noChangeAspect="1" noChangeArrowheads="1"/>
            </p:cNvPicPr>
            <p:nvPr>
              <p:custDataLst>
                <p:tags r:id="rId38"/>
              </p:custDataLst>
            </p:nvPr>
          </p:nvPicPr>
          <p:blipFill>
            <a:blip r:embed="rId47" cstate="print"/>
            <a:srcRect/>
            <a:stretch>
              <a:fillRect/>
            </a:stretch>
          </p:blipFill>
          <p:spPr bwMode="auto">
            <a:xfrm>
              <a:off x="2093" y="745"/>
              <a:ext cx="519" cy="583"/>
            </a:xfrm>
            <a:prstGeom prst="rect">
              <a:avLst/>
            </a:prstGeom>
            <a:noFill/>
          </p:spPr>
        </p:pic>
        <p:pic>
          <p:nvPicPr>
            <p:cNvPr id="405649" name="Picture 145" descr="User_UserHalfE01"/>
            <p:cNvPicPr>
              <a:picLocks noChangeAspect="1" noChangeArrowheads="1"/>
            </p:cNvPicPr>
            <p:nvPr>
              <p:custDataLst>
                <p:tags r:id="rId39"/>
              </p:custDataLst>
            </p:nvPr>
          </p:nvPicPr>
          <p:blipFill>
            <a:blip r:embed="rId48" cstate="print"/>
            <a:srcRect/>
            <a:stretch>
              <a:fillRect/>
            </a:stretch>
          </p:blipFill>
          <p:spPr bwMode="auto">
            <a:xfrm>
              <a:off x="1959" y="869"/>
              <a:ext cx="367" cy="579"/>
            </a:xfrm>
            <a:prstGeom prst="rect">
              <a:avLst/>
            </a:prstGeom>
            <a:noFill/>
          </p:spPr>
        </p:pic>
        <p:sp>
          <p:nvSpPr>
            <p:cNvPr id="405651" name="Rectangle 147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2368" y="883"/>
              <a:ext cx="515" cy="65"/>
            </a:xfrm>
            <a:prstGeom prst="rect">
              <a:avLst/>
            </a:prstGeom>
            <a:gradFill rotWithShape="0">
              <a:gsLst>
                <a:gs pos="0">
                  <a:srgbClr val="FF0000">
                    <a:gamma/>
                    <a:shade val="46275"/>
                    <a:invGamma/>
                  </a:srgbClr>
                </a:gs>
                <a:gs pos="100000">
                  <a:srgbClr val="FF0000"/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5652" name="Rectangle 148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368" y="948"/>
              <a:ext cx="225" cy="321"/>
            </a:xfrm>
            <a:prstGeom prst="rect">
              <a:avLst/>
            </a:prstGeom>
            <a:gradFill rotWithShape="0">
              <a:gsLst>
                <a:gs pos="0">
                  <a:srgbClr val="FFFFCC">
                    <a:gamma/>
                    <a:tint val="20000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5653" name="Rectangle 149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2593" y="948"/>
              <a:ext cx="290" cy="321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5654" name="Rectangle 150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2571" y="985"/>
              <a:ext cx="31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FF99"/>
                  </a:solidFill>
                  <a:latin typeface="Arial" charset="0"/>
                </a:rPr>
                <a:t>2.0</a:t>
              </a:r>
            </a:p>
          </p:txBody>
        </p:sp>
      </p:grpSp>
      <p:grpSp>
        <p:nvGrpSpPr>
          <p:cNvPr id="405723" name="Group 219"/>
          <p:cNvGrpSpPr>
            <a:grpSpLocks/>
          </p:cNvGrpSpPr>
          <p:nvPr/>
        </p:nvGrpSpPr>
        <p:grpSpPr bwMode="auto">
          <a:xfrm>
            <a:off x="2659063" y="2682875"/>
            <a:ext cx="2724150" cy="1400175"/>
            <a:chOff x="1675" y="1735"/>
            <a:chExt cx="1716" cy="882"/>
          </a:xfrm>
        </p:grpSpPr>
        <p:pic>
          <p:nvPicPr>
            <p:cNvPr id="405656" name="Picture 152" descr="Computer_DesktopComputer01"/>
            <p:cNvPicPr>
              <a:picLocks noChangeAspect="1" noChangeArrowheads="1"/>
            </p:cNvPicPr>
            <p:nvPr>
              <p:custDataLst>
                <p:tags r:id="rId26"/>
              </p:custDataLst>
            </p:nvPr>
          </p:nvPicPr>
          <p:blipFill>
            <a:blip r:embed="rId49" cstate="print"/>
            <a:srcRect/>
            <a:stretch>
              <a:fillRect/>
            </a:stretch>
          </p:blipFill>
          <p:spPr bwMode="auto">
            <a:xfrm>
              <a:off x="1675" y="1873"/>
              <a:ext cx="519" cy="583"/>
            </a:xfrm>
            <a:prstGeom prst="rect">
              <a:avLst/>
            </a:prstGeom>
            <a:noFill/>
          </p:spPr>
        </p:pic>
        <p:pic>
          <p:nvPicPr>
            <p:cNvPr id="405658" name="Picture 154" descr="Computer_DesktopComputer01"/>
            <p:cNvPicPr>
              <a:picLocks noChangeAspect="1" noChangeArrowheads="1"/>
            </p:cNvPicPr>
            <p:nvPr>
              <p:custDataLst>
                <p:tags r:id="rId27"/>
              </p:custDataLst>
            </p:nvPr>
          </p:nvPicPr>
          <p:blipFill>
            <a:blip r:embed="rId50" cstate="print"/>
            <a:srcRect/>
            <a:stretch>
              <a:fillRect/>
            </a:stretch>
          </p:blipFill>
          <p:spPr bwMode="auto">
            <a:xfrm>
              <a:off x="2590" y="1914"/>
              <a:ext cx="520" cy="583"/>
            </a:xfrm>
            <a:prstGeom prst="rect">
              <a:avLst/>
            </a:prstGeom>
            <a:noFill/>
          </p:spPr>
        </p:pic>
        <p:pic>
          <p:nvPicPr>
            <p:cNvPr id="405659" name="Picture 155" descr="User_UserHalfD01"/>
            <p:cNvPicPr>
              <a:picLocks noChangeAspect="1" noChangeArrowheads="1"/>
            </p:cNvPicPr>
            <p:nvPr>
              <p:custDataLst>
                <p:tags r:id="rId28"/>
              </p:custDataLst>
            </p:nvPr>
          </p:nvPicPr>
          <p:blipFill>
            <a:blip r:embed="rId51" cstate="print"/>
            <a:srcRect/>
            <a:stretch>
              <a:fillRect/>
            </a:stretch>
          </p:blipFill>
          <p:spPr bwMode="auto">
            <a:xfrm>
              <a:off x="2466" y="2038"/>
              <a:ext cx="367" cy="579"/>
            </a:xfrm>
            <a:prstGeom prst="rect">
              <a:avLst/>
            </a:prstGeom>
            <a:noFill/>
          </p:spPr>
        </p:pic>
        <p:sp>
          <p:nvSpPr>
            <p:cNvPr id="405661" name="Rectangle 157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851" y="1803"/>
              <a:ext cx="526" cy="65"/>
            </a:xfrm>
            <a:prstGeom prst="rect">
              <a:avLst/>
            </a:prstGeom>
            <a:gradFill rotWithShape="0">
              <a:gsLst>
                <a:gs pos="0">
                  <a:srgbClr val="333399">
                    <a:gamma/>
                    <a:shade val="46275"/>
                    <a:invGamma/>
                  </a:srgbClr>
                </a:gs>
                <a:gs pos="100000">
                  <a:srgbClr val="333399"/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5662" name="Rectangle 158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2851" y="1868"/>
              <a:ext cx="230" cy="322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tint val="20000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5663" name="Rectangle 159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081" y="1868"/>
              <a:ext cx="296" cy="32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5664" name="Rectangle 160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075" y="1910"/>
              <a:ext cx="31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  <a:latin typeface="Arial" charset="0"/>
                </a:rPr>
                <a:t>1.0</a:t>
              </a:r>
            </a:p>
          </p:txBody>
        </p:sp>
        <p:sp>
          <p:nvSpPr>
            <p:cNvPr id="405666" name="Rectangle 162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897" y="1735"/>
              <a:ext cx="515" cy="65"/>
            </a:xfrm>
            <a:prstGeom prst="rect">
              <a:avLst/>
            </a:prstGeom>
            <a:gradFill rotWithShape="0">
              <a:gsLst>
                <a:gs pos="0">
                  <a:srgbClr val="FF0000">
                    <a:gamma/>
                    <a:shade val="46275"/>
                    <a:invGamma/>
                  </a:srgbClr>
                </a:gs>
                <a:gs pos="100000">
                  <a:srgbClr val="FF0000"/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5667" name="Rectangle 163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897" y="1800"/>
              <a:ext cx="225" cy="321"/>
            </a:xfrm>
            <a:prstGeom prst="rect">
              <a:avLst/>
            </a:prstGeom>
            <a:gradFill rotWithShape="0">
              <a:gsLst>
                <a:gs pos="0">
                  <a:srgbClr val="FFFFCC">
                    <a:gamma/>
                    <a:tint val="20000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5668" name="Rectangle 164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122" y="1800"/>
              <a:ext cx="290" cy="321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5669" name="Rectangle 165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2100" y="1837"/>
              <a:ext cx="31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FF99"/>
                  </a:solidFill>
                  <a:latin typeface="Arial" charset="0"/>
                </a:rPr>
                <a:t>2.0</a:t>
              </a:r>
            </a:p>
          </p:txBody>
        </p:sp>
        <p:pic>
          <p:nvPicPr>
            <p:cNvPr id="405670" name="Picture 166" descr="User_UserHalfE01"/>
            <p:cNvPicPr>
              <a:picLocks noChangeAspect="1" noChangeArrowheads="1"/>
            </p:cNvPicPr>
            <p:nvPr>
              <p:custDataLst>
                <p:tags r:id="rId37"/>
              </p:custDataLst>
            </p:nvPr>
          </p:nvPicPr>
          <p:blipFill>
            <a:blip r:embed="rId52" cstate="print"/>
            <a:srcRect/>
            <a:stretch>
              <a:fillRect/>
            </a:stretch>
          </p:blipFill>
          <p:spPr bwMode="auto">
            <a:xfrm>
              <a:off x="1961" y="1997"/>
              <a:ext cx="367" cy="579"/>
            </a:xfrm>
            <a:prstGeom prst="rect">
              <a:avLst/>
            </a:prstGeom>
            <a:noFill/>
          </p:spPr>
        </p:pic>
      </p:grpSp>
      <p:grpSp>
        <p:nvGrpSpPr>
          <p:cNvPr id="405724" name="Group 220"/>
          <p:cNvGrpSpPr>
            <a:grpSpLocks/>
          </p:cNvGrpSpPr>
          <p:nvPr/>
        </p:nvGrpSpPr>
        <p:grpSpPr bwMode="auto">
          <a:xfrm>
            <a:off x="2406650" y="4471988"/>
            <a:ext cx="3441700" cy="1798637"/>
            <a:chOff x="1506" y="2862"/>
            <a:chExt cx="2168" cy="1133"/>
          </a:xfrm>
        </p:grpSpPr>
        <p:pic>
          <p:nvPicPr>
            <p:cNvPr id="405673" name="Picture 169" descr="Computer_DesktopComputer01"/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53" cstate="print"/>
            <a:srcRect/>
            <a:stretch>
              <a:fillRect/>
            </a:stretch>
          </p:blipFill>
          <p:spPr bwMode="auto">
            <a:xfrm>
              <a:off x="1646" y="3190"/>
              <a:ext cx="476" cy="534"/>
            </a:xfrm>
            <a:prstGeom prst="rect">
              <a:avLst/>
            </a:prstGeom>
            <a:noFill/>
          </p:spPr>
        </p:pic>
        <p:pic>
          <p:nvPicPr>
            <p:cNvPr id="405674" name="Picture 170" descr="User_UserHalfC01"/>
            <p:cNvPicPr>
              <a:picLocks noChangeAspect="1" noChangeArrowheads="1"/>
            </p:cNvPicPr>
            <p:nvPr>
              <p:custDataLst>
                <p:tags r:id="rId13"/>
              </p:custDataLst>
            </p:nvPr>
          </p:nvPicPr>
          <p:blipFill>
            <a:blip r:embed="rId54" cstate="print"/>
            <a:srcRect/>
            <a:stretch>
              <a:fillRect/>
            </a:stretch>
          </p:blipFill>
          <p:spPr bwMode="auto">
            <a:xfrm>
              <a:off x="1506" y="3304"/>
              <a:ext cx="337" cy="530"/>
            </a:xfrm>
            <a:prstGeom prst="rect">
              <a:avLst/>
            </a:prstGeom>
            <a:noFill/>
          </p:spPr>
        </p:pic>
        <p:pic>
          <p:nvPicPr>
            <p:cNvPr id="405675" name="Picture 171" descr="Computer_DesktopComputer01"/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49" cstate="print"/>
            <a:srcRect/>
            <a:stretch>
              <a:fillRect/>
            </a:stretch>
          </p:blipFill>
          <p:spPr bwMode="auto">
            <a:xfrm>
              <a:off x="2106" y="3000"/>
              <a:ext cx="519" cy="583"/>
            </a:xfrm>
            <a:prstGeom prst="rect">
              <a:avLst/>
            </a:prstGeom>
            <a:noFill/>
          </p:spPr>
        </p:pic>
        <p:sp>
          <p:nvSpPr>
            <p:cNvPr id="405677" name="Rectangle 173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443" y="2862"/>
              <a:ext cx="515" cy="65"/>
            </a:xfrm>
            <a:prstGeom prst="rect">
              <a:avLst/>
            </a:prstGeom>
            <a:gradFill rotWithShape="0">
              <a:gsLst>
                <a:gs pos="0">
                  <a:srgbClr val="FF0000">
                    <a:gamma/>
                    <a:shade val="46275"/>
                    <a:invGamma/>
                  </a:srgbClr>
                </a:gs>
                <a:gs pos="100000">
                  <a:srgbClr val="FF0000"/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5678" name="Rectangle 174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443" y="2927"/>
              <a:ext cx="225" cy="321"/>
            </a:xfrm>
            <a:prstGeom prst="rect">
              <a:avLst/>
            </a:prstGeom>
            <a:gradFill rotWithShape="0">
              <a:gsLst>
                <a:gs pos="0">
                  <a:srgbClr val="FFFFCC">
                    <a:gamma/>
                    <a:tint val="20000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5679" name="Rectangle 17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668" y="2927"/>
              <a:ext cx="290" cy="321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5680" name="Rectangle 176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646" y="2964"/>
              <a:ext cx="31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FFFF99"/>
                  </a:solidFill>
                  <a:latin typeface="Arial" charset="0"/>
                </a:rPr>
                <a:t>2.0</a:t>
              </a:r>
            </a:p>
          </p:txBody>
        </p:sp>
        <p:pic>
          <p:nvPicPr>
            <p:cNvPr id="405681" name="Picture 177" descr="User_UserHalfE01"/>
            <p:cNvPicPr>
              <a:picLocks noChangeAspect="1" noChangeArrowheads="1"/>
            </p:cNvPicPr>
            <p:nvPr>
              <p:custDataLst>
                <p:tags r:id="rId19"/>
              </p:custDataLst>
            </p:nvPr>
          </p:nvPicPr>
          <p:blipFill>
            <a:blip r:embed="rId52" cstate="print"/>
            <a:srcRect/>
            <a:stretch>
              <a:fillRect/>
            </a:stretch>
          </p:blipFill>
          <p:spPr bwMode="auto">
            <a:xfrm>
              <a:off x="2392" y="3124"/>
              <a:ext cx="367" cy="579"/>
            </a:xfrm>
            <a:prstGeom prst="rect">
              <a:avLst/>
            </a:prstGeom>
            <a:noFill/>
          </p:spPr>
        </p:pic>
        <p:pic>
          <p:nvPicPr>
            <p:cNvPr id="405683" name="Picture 179" descr="Computer_DesktopComputer01"/>
            <p:cNvPicPr>
              <a:picLocks noChangeAspect="1" noChangeArrowheads="1"/>
            </p:cNvPicPr>
            <p:nvPr>
              <p:custDataLst>
                <p:tags r:id="rId20"/>
              </p:custDataLst>
            </p:nvPr>
          </p:nvPicPr>
          <p:blipFill>
            <a:blip r:embed="rId50" cstate="print"/>
            <a:srcRect/>
            <a:stretch>
              <a:fillRect/>
            </a:stretch>
          </p:blipFill>
          <p:spPr bwMode="auto">
            <a:xfrm>
              <a:off x="2873" y="3292"/>
              <a:ext cx="520" cy="583"/>
            </a:xfrm>
            <a:prstGeom prst="rect">
              <a:avLst/>
            </a:prstGeom>
            <a:noFill/>
          </p:spPr>
        </p:pic>
        <p:pic>
          <p:nvPicPr>
            <p:cNvPr id="405684" name="Picture 180" descr="User_UserHalfD01"/>
            <p:cNvPicPr>
              <a:picLocks noChangeAspect="1" noChangeArrowheads="1"/>
            </p:cNvPicPr>
            <p:nvPr>
              <p:custDataLst>
                <p:tags r:id="rId21"/>
              </p:custDataLst>
            </p:nvPr>
          </p:nvPicPr>
          <p:blipFill>
            <a:blip r:embed="rId51" cstate="print"/>
            <a:srcRect/>
            <a:stretch>
              <a:fillRect/>
            </a:stretch>
          </p:blipFill>
          <p:spPr bwMode="auto">
            <a:xfrm>
              <a:off x="2749" y="3416"/>
              <a:ext cx="367" cy="579"/>
            </a:xfrm>
            <a:prstGeom prst="rect">
              <a:avLst/>
            </a:prstGeom>
            <a:noFill/>
          </p:spPr>
        </p:pic>
        <p:sp>
          <p:nvSpPr>
            <p:cNvPr id="405686" name="Rectangle 182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134" y="3181"/>
              <a:ext cx="526" cy="65"/>
            </a:xfrm>
            <a:prstGeom prst="rect">
              <a:avLst/>
            </a:prstGeom>
            <a:gradFill rotWithShape="0">
              <a:gsLst>
                <a:gs pos="0">
                  <a:srgbClr val="333399">
                    <a:gamma/>
                    <a:shade val="46275"/>
                    <a:invGamma/>
                  </a:srgbClr>
                </a:gs>
                <a:gs pos="100000">
                  <a:srgbClr val="333399"/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5687" name="Rectangle 183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134" y="3246"/>
              <a:ext cx="230" cy="322"/>
            </a:xfrm>
            <a:prstGeom prst="rect">
              <a:avLst/>
            </a:prstGeom>
            <a:gradFill rotWithShape="0">
              <a:gsLst>
                <a:gs pos="0">
                  <a:schemeClr val="hlink">
                    <a:gamma/>
                    <a:tint val="20000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5688" name="Rectangle 184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364" y="3246"/>
              <a:ext cx="296" cy="32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5689" name="Rectangle 185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358" y="3288"/>
              <a:ext cx="31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hlink"/>
                  </a:solidFill>
                  <a:latin typeface="Arial" charset="0"/>
                </a:rPr>
                <a:t>1.0</a:t>
              </a:r>
            </a:p>
          </p:txBody>
        </p:sp>
      </p:grpSp>
      <p:sp>
        <p:nvSpPr>
          <p:cNvPr id="405690" name="AutoShape 186"/>
          <p:cNvSpPr>
            <a:spLocks noChangeArrowheads="1"/>
          </p:cNvSpPr>
          <p:nvPr/>
        </p:nvSpPr>
        <p:spPr bwMode="auto">
          <a:xfrm>
            <a:off x="174172" y="1567543"/>
            <a:ext cx="2064204" cy="1248682"/>
          </a:xfrm>
          <a:prstGeom prst="roundRect">
            <a:avLst>
              <a:gd name="adj" fmla="val 5894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fr-FR" sz="2200">
                <a:solidFill>
                  <a:srgbClr val="000000"/>
                </a:solidFill>
              </a:rPr>
              <a:t>Déployer la nouvelle version de l'application</a:t>
            </a:r>
            <a:endParaRPr lang="en-US" sz="2200"/>
          </a:p>
        </p:txBody>
      </p:sp>
      <p:pic>
        <p:nvPicPr>
          <p:cNvPr id="405691" name="Picture 187" descr="Server01"/>
          <p:cNvPicPr>
            <a:picLocks noChangeAspect="1" noChangeArrowheads="1"/>
          </p:cNvPicPr>
          <p:nvPr/>
        </p:nvPicPr>
        <p:blipFill>
          <a:blip r:embed="rId55"/>
          <a:srcRect/>
          <a:stretch>
            <a:fillRect/>
          </a:stretch>
        </p:blipFill>
        <p:spPr bwMode="auto">
          <a:xfrm>
            <a:off x="560388" y="2817813"/>
            <a:ext cx="1285875" cy="1514475"/>
          </a:xfrm>
          <a:prstGeom prst="rect">
            <a:avLst/>
          </a:prstGeom>
          <a:noFill/>
        </p:spPr>
      </p:pic>
      <p:sp>
        <p:nvSpPr>
          <p:cNvPr id="405694" name="Rectangle 19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31875" y="3222625"/>
            <a:ext cx="1155700" cy="865188"/>
          </a:xfrm>
          <a:prstGeom prst="rect">
            <a:avLst/>
          </a:prstGeom>
          <a:solidFill>
            <a:srgbClr val="808080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05695" name="Rectangle 19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58850" y="3149600"/>
            <a:ext cx="1155700" cy="144463"/>
          </a:xfrm>
          <a:prstGeom prst="rect">
            <a:avLst/>
          </a:prstGeom>
          <a:gradFill rotWithShape="0">
            <a:gsLst>
              <a:gs pos="0">
                <a:srgbClr val="FF0000">
                  <a:gamma/>
                  <a:shade val="46275"/>
                  <a:invGamma/>
                </a:srgbClr>
              </a:gs>
              <a:gs pos="100000">
                <a:srgbClr val="FF0000"/>
              </a:gs>
            </a:gsLst>
            <a:lin ang="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05696" name="Rectangle 19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58850" y="3294063"/>
            <a:ext cx="504825" cy="720725"/>
          </a:xfrm>
          <a:prstGeom prst="rect">
            <a:avLst/>
          </a:prstGeom>
          <a:gradFill rotWithShape="0">
            <a:gsLst>
              <a:gs pos="0">
                <a:srgbClr val="FFFFCC">
                  <a:gamma/>
                  <a:tint val="20000"/>
                  <a:invGamma/>
                </a:srgbClr>
              </a:gs>
              <a:gs pos="100000">
                <a:srgbClr val="FFFFCC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05697" name="Rectangle 19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63675" y="3251200"/>
            <a:ext cx="650875" cy="720725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05698" name="Rectangle 194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397000" y="3424238"/>
            <a:ext cx="747713" cy="5794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FFFF99"/>
                </a:solidFill>
                <a:latin typeface="Arial" charset="0"/>
              </a:rPr>
              <a:t>2.0</a:t>
            </a:r>
          </a:p>
        </p:txBody>
      </p:sp>
      <p:sp>
        <p:nvSpPr>
          <p:cNvPr id="405699" name="Freeform 195"/>
          <p:cNvSpPr>
            <a:spLocks/>
          </p:cNvSpPr>
          <p:nvPr/>
        </p:nvSpPr>
        <p:spPr bwMode="auto">
          <a:xfrm>
            <a:off x="1814513" y="3448050"/>
            <a:ext cx="947737" cy="365125"/>
          </a:xfrm>
          <a:custGeom>
            <a:avLst/>
            <a:gdLst/>
            <a:ahLst/>
            <a:cxnLst>
              <a:cxn ang="0">
                <a:pos x="920" y="59"/>
              </a:cxn>
              <a:cxn ang="0">
                <a:pos x="916" y="29"/>
              </a:cxn>
              <a:cxn ang="0">
                <a:pos x="912" y="0"/>
              </a:cxn>
              <a:cxn ang="0">
                <a:pos x="1052" y="53"/>
              </a:cxn>
              <a:cxn ang="0">
                <a:pos x="1149" y="89"/>
              </a:cxn>
              <a:cxn ang="0">
                <a:pos x="1193" y="107"/>
              </a:cxn>
              <a:cxn ang="0">
                <a:pos x="1181" y="111"/>
              </a:cxn>
              <a:cxn ang="0">
                <a:pos x="1149" y="123"/>
              </a:cxn>
              <a:cxn ang="0">
                <a:pos x="1052" y="156"/>
              </a:cxn>
              <a:cxn ang="0">
                <a:pos x="910" y="205"/>
              </a:cxn>
              <a:cxn ang="0">
                <a:pos x="922" y="149"/>
              </a:cxn>
              <a:cxn ang="0">
                <a:pos x="0" y="107"/>
              </a:cxn>
              <a:cxn ang="0">
                <a:pos x="920" y="59"/>
              </a:cxn>
            </a:cxnLst>
            <a:rect l="0" t="0" r="r" b="b"/>
            <a:pathLst>
              <a:path w="1193" h="205">
                <a:moveTo>
                  <a:pt x="920" y="59"/>
                </a:moveTo>
                <a:lnTo>
                  <a:pt x="916" y="29"/>
                </a:lnTo>
                <a:lnTo>
                  <a:pt x="912" y="0"/>
                </a:lnTo>
                <a:lnTo>
                  <a:pt x="1052" y="53"/>
                </a:lnTo>
                <a:lnTo>
                  <a:pt x="1149" y="89"/>
                </a:lnTo>
                <a:lnTo>
                  <a:pt x="1193" y="107"/>
                </a:lnTo>
                <a:lnTo>
                  <a:pt x="1181" y="111"/>
                </a:lnTo>
                <a:lnTo>
                  <a:pt x="1149" y="123"/>
                </a:lnTo>
                <a:lnTo>
                  <a:pt x="1052" y="156"/>
                </a:lnTo>
                <a:lnTo>
                  <a:pt x="910" y="205"/>
                </a:lnTo>
                <a:lnTo>
                  <a:pt x="922" y="149"/>
                </a:lnTo>
                <a:lnTo>
                  <a:pt x="0" y="107"/>
                </a:lnTo>
                <a:lnTo>
                  <a:pt x="920" y="5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05700" name="Freeform 196"/>
          <p:cNvSpPr>
            <a:spLocks/>
          </p:cNvSpPr>
          <p:nvPr/>
        </p:nvSpPr>
        <p:spPr bwMode="auto">
          <a:xfrm rot="8069989">
            <a:off x="1454944" y="2148681"/>
            <a:ext cx="1625600" cy="395288"/>
          </a:xfrm>
          <a:custGeom>
            <a:avLst/>
            <a:gdLst/>
            <a:ahLst/>
            <a:cxnLst>
              <a:cxn ang="0">
                <a:pos x="0" y="87"/>
              </a:cxn>
              <a:cxn ang="0">
                <a:pos x="384" y="0"/>
              </a:cxn>
              <a:cxn ang="0">
                <a:pos x="368" y="91"/>
              </a:cxn>
              <a:cxn ang="0">
                <a:pos x="393" y="94"/>
              </a:cxn>
              <a:cxn ang="0">
                <a:pos x="422" y="98"/>
              </a:cxn>
              <a:cxn ang="0">
                <a:pos x="459" y="98"/>
              </a:cxn>
              <a:cxn ang="0">
                <a:pos x="499" y="100"/>
              </a:cxn>
              <a:cxn ang="0">
                <a:pos x="595" y="96"/>
              </a:cxn>
              <a:cxn ang="0">
                <a:pos x="702" y="91"/>
              </a:cxn>
              <a:cxn ang="0">
                <a:pos x="817" y="79"/>
              </a:cxn>
              <a:cxn ang="0">
                <a:pos x="934" y="66"/>
              </a:cxn>
              <a:cxn ang="0">
                <a:pos x="1049" y="52"/>
              </a:cxn>
              <a:cxn ang="0">
                <a:pos x="1155" y="35"/>
              </a:cxn>
              <a:cxn ang="0">
                <a:pos x="1076" y="66"/>
              </a:cxn>
              <a:cxn ang="0">
                <a:pos x="1003" y="93"/>
              </a:cxn>
              <a:cxn ang="0">
                <a:pos x="934" y="116"/>
              </a:cxn>
              <a:cxn ang="0">
                <a:pos x="871" y="137"/>
              </a:cxn>
              <a:cxn ang="0">
                <a:pos x="812" y="152"/>
              </a:cxn>
              <a:cxn ang="0">
                <a:pos x="756" y="168"/>
              </a:cxn>
              <a:cxn ang="0">
                <a:pos x="704" y="179"/>
              </a:cxn>
              <a:cxn ang="0">
                <a:pos x="656" y="189"/>
              </a:cxn>
              <a:cxn ang="0">
                <a:pos x="612" y="197"/>
              </a:cxn>
              <a:cxn ang="0">
                <a:pos x="570" y="202"/>
              </a:cxn>
              <a:cxn ang="0">
                <a:pos x="531" y="208"/>
              </a:cxn>
              <a:cxn ang="0">
                <a:pos x="495" y="210"/>
              </a:cxn>
              <a:cxn ang="0">
                <a:pos x="430" y="216"/>
              </a:cxn>
              <a:cxn ang="0">
                <a:pos x="374" y="220"/>
              </a:cxn>
              <a:cxn ang="0">
                <a:pos x="391" y="320"/>
              </a:cxn>
              <a:cxn ang="0">
                <a:pos x="0" y="87"/>
              </a:cxn>
            </a:cxnLst>
            <a:rect l="0" t="0" r="r" b="b"/>
            <a:pathLst>
              <a:path w="1155" h="320">
                <a:moveTo>
                  <a:pt x="0" y="87"/>
                </a:moveTo>
                <a:lnTo>
                  <a:pt x="384" y="0"/>
                </a:lnTo>
                <a:lnTo>
                  <a:pt x="368" y="91"/>
                </a:lnTo>
                <a:lnTo>
                  <a:pt x="393" y="94"/>
                </a:lnTo>
                <a:lnTo>
                  <a:pt x="422" y="98"/>
                </a:lnTo>
                <a:lnTo>
                  <a:pt x="459" y="98"/>
                </a:lnTo>
                <a:lnTo>
                  <a:pt x="499" y="100"/>
                </a:lnTo>
                <a:lnTo>
                  <a:pt x="595" y="96"/>
                </a:lnTo>
                <a:lnTo>
                  <a:pt x="702" y="91"/>
                </a:lnTo>
                <a:lnTo>
                  <a:pt x="817" y="79"/>
                </a:lnTo>
                <a:lnTo>
                  <a:pt x="934" y="66"/>
                </a:lnTo>
                <a:lnTo>
                  <a:pt x="1049" y="52"/>
                </a:lnTo>
                <a:lnTo>
                  <a:pt x="1155" y="35"/>
                </a:lnTo>
                <a:lnTo>
                  <a:pt x="1076" y="66"/>
                </a:lnTo>
                <a:lnTo>
                  <a:pt x="1003" y="93"/>
                </a:lnTo>
                <a:lnTo>
                  <a:pt x="934" y="116"/>
                </a:lnTo>
                <a:lnTo>
                  <a:pt x="871" y="137"/>
                </a:lnTo>
                <a:lnTo>
                  <a:pt x="812" y="152"/>
                </a:lnTo>
                <a:lnTo>
                  <a:pt x="756" y="168"/>
                </a:lnTo>
                <a:lnTo>
                  <a:pt x="704" y="179"/>
                </a:lnTo>
                <a:lnTo>
                  <a:pt x="656" y="189"/>
                </a:lnTo>
                <a:lnTo>
                  <a:pt x="612" y="197"/>
                </a:lnTo>
                <a:lnTo>
                  <a:pt x="570" y="202"/>
                </a:lnTo>
                <a:lnTo>
                  <a:pt x="531" y="208"/>
                </a:lnTo>
                <a:lnTo>
                  <a:pt x="495" y="210"/>
                </a:lnTo>
                <a:lnTo>
                  <a:pt x="430" y="216"/>
                </a:lnTo>
                <a:lnTo>
                  <a:pt x="374" y="220"/>
                </a:lnTo>
                <a:lnTo>
                  <a:pt x="391" y="320"/>
                </a:lnTo>
                <a:lnTo>
                  <a:pt x="0" y="87"/>
                </a:lnTo>
              </a:path>
            </a:pathLst>
          </a:custGeom>
          <a:solidFill>
            <a:srgbClr val="FF0000">
              <a:alpha val="75000"/>
            </a:srgbClr>
          </a:solidFill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05701" name="Freeform 197"/>
          <p:cNvSpPr>
            <a:spLocks/>
          </p:cNvSpPr>
          <p:nvPr/>
        </p:nvSpPr>
        <p:spPr bwMode="auto">
          <a:xfrm rot="13530011" flipV="1">
            <a:off x="1148557" y="4394994"/>
            <a:ext cx="1625600" cy="395287"/>
          </a:xfrm>
          <a:custGeom>
            <a:avLst/>
            <a:gdLst/>
            <a:ahLst/>
            <a:cxnLst>
              <a:cxn ang="0">
                <a:pos x="0" y="87"/>
              </a:cxn>
              <a:cxn ang="0">
                <a:pos x="384" y="0"/>
              </a:cxn>
              <a:cxn ang="0">
                <a:pos x="368" y="91"/>
              </a:cxn>
              <a:cxn ang="0">
                <a:pos x="393" y="94"/>
              </a:cxn>
              <a:cxn ang="0">
                <a:pos x="422" y="98"/>
              </a:cxn>
              <a:cxn ang="0">
                <a:pos x="459" y="98"/>
              </a:cxn>
              <a:cxn ang="0">
                <a:pos x="499" y="100"/>
              </a:cxn>
              <a:cxn ang="0">
                <a:pos x="595" y="96"/>
              </a:cxn>
              <a:cxn ang="0">
                <a:pos x="702" y="91"/>
              </a:cxn>
              <a:cxn ang="0">
                <a:pos x="817" y="79"/>
              </a:cxn>
              <a:cxn ang="0">
                <a:pos x="934" y="66"/>
              </a:cxn>
              <a:cxn ang="0">
                <a:pos x="1049" y="52"/>
              </a:cxn>
              <a:cxn ang="0">
                <a:pos x="1155" y="35"/>
              </a:cxn>
              <a:cxn ang="0">
                <a:pos x="1076" y="66"/>
              </a:cxn>
              <a:cxn ang="0">
                <a:pos x="1003" y="93"/>
              </a:cxn>
              <a:cxn ang="0">
                <a:pos x="934" y="116"/>
              </a:cxn>
              <a:cxn ang="0">
                <a:pos x="871" y="137"/>
              </a:cxn>
              <a:cxn ang="0">
                <a:pos x="812" y="152"/>
              </a:cxn>
              <a:cxn ang="0">
                <a:pos x="756" y="168"/>
              </a:cxn>
              <a:cxn ang="0">
                <a:pos x="704" y="179"/>
              </a:cxn>
              <a:cxn ang="0">
                <a:pos x="656" y="189"/>
              </a:cxn>
              <a:cxn ang="0">
                <a:pos x="612" y="197"/>
              </a:cxn>
              <a:cxn ang="0">
                <a:pos x="570" y="202"/>
              </a:cxn>
              <a:cxn ang="0">
                <a:pos x="531" y="208"/>
              </a:cxn>
              <a:cxn ang="0">
                <a:pos x="495" y="210"/>
              </a:cxn>
              <a:cxn ang="0">
                <a:pos x="430" y="216"/>
              </a:cxn>
              <a:cxn ang="0">
                <a:pos x="374" y="220"/>
              </a:cxn>
              <a:cxn ang="0">
                <a:pos x="391" y="320"/>
              </a:cxn>
              <a:cxn ang="0">
                <a:pos x="0" y="87"/>
              </a:cxn>
            </a:cxnLst>
            <a:rect l="0" t="0" r="r" b="b"/>
            <a:pathLst>
              <a:path w="1155" h="320">
                <a:moveTo>
                  <a:pt x="0" y="87"/>
                </a:moveTo>
                <a:lnTo>
                  <a:pt x="384" y="0"/>
                </a:lnTo>
                <a:lnTo>
                  <a:pt x="368" y="91"/>
                </a:lnTo>
                <a:lnTo>
                  <a:pt x="393" y="94"/>
                </a:lnTo>
                <a:lnTo>
                  <a:pt x="422" y="98"/>
                </a:lnTo>
                <a:lnTo>
                  <a:pt x="459" y="98"/>
                </a:lnTo>
                <a:lnTo>
                  <a:pt x="499" y="100"/>
                </a:lnTo>
                <a:lnTo>
                  <a:pt x="595" y="96"/>
                </a:lnTo>
                <a:lnTo>
                  <a:pt x="702" y="91"/>
                </a:lnTo>
                <a:lnTo>
                  <a:pt x="817" y="79"/>
                </a:lnTo>
                <a:lnTo>
                  <a:pt x="934" y="66"/>
                </a:lnTo>
                <a:lnTo>
                  <a:pt x="1049" y="52"/>
                </a:lnTo>
                <a:lnTo>
                  <a:pt x="1155" y="35"/>
                </a:lnTo>
                <a:lnTo>
                  <a:pt x="1076" y="66"/>
                </a:lnTo>
                <a:lnTo>
                  <a:pt x="1003" y="93"/>
                </a:lnTo>
                <a:lnTo>
                  <a:pt x="934" y="116"/>
                </a:lnTo>
                <a:lnTo>
                  <a:pt x="871" y="137"/>
                </a:lnTo>
                <a:lnTo>
                  <a:pt x="812" y="152"/>
                </a:lnTo>
                <a:lnTo>
                  <a:pt x="756" y="168"/>
                </a:lnTo>
                <a:lnTo>
                  <a:pt x="704" y="179"/>
                </a:lnTo>
                <a:lnTo>
                  <a:pt x="656" y="189"/>
                </a:lnTo>
                <a:lnTo>
                  <a:pt x="612" y="197"/>
                </a:lnTo>
                <a:lnTo>
                  <a:pt x="570" y="202"/>
                </a:lnTo>
                <a:lnTo>
                  <a:pt x="531" y="208"/>
                </a:lnTo>
                <a:lnTo>
                  <a:pt x="495" y="210"/>
                </a:lnTo>
                <a:lnTo>
                  <a:pt x="430" y="216"/>
                </a:lnTo>
                <a:lnTo>
                  <a:pt x="374" y="220"/>
                </a:lnTo>
                <a:lnTo>
                  <a:pt x="391" y="320"/>
                </a:lnTo>
                <a:lnTo>
                  <a:pt x="0" y="87"/>
                </a:lnTo>
              </a:path>
            </a:pathLst>
          </a:custGeom>
          <a:solidFill>
            <a:srgbClr val="FF0000">
              <a:alpha val="75000"/>
            </a:srgbClr>
          </a:solidFill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05703" name="Oval 199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09600" y="6051550"/>
            <a:ext cx="914400" cy="425450"/>
          </a:xfrm>
          <a:prstGeom prst="ellipse">
            <a:avLst/>
          </a:prstGeom>
          <a:gradFill rotWithShape="0">
            <a:gsLst>
              <a:gs pos="0">
                <a:srgbClr val="666699"/>
              </a:gs>
              <a:gs pos="100000">
                <a:srgbClr val="99CCFF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outerShdw dist="17961" dir="2700000" algn="ctr" rotWithShape="0">
              <a:srgbClr val="969696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05721" name="Group 200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731838" y="6142038"/>
            <a:ext cx="304800" cy="244475"/>
            <a:chOff x="461" y="3869"/>
            <a:chExt cx="192" cy="154"/>
          </a:xfrm>
        </p:grpSpPr>
        <p:sp>
          <p:nvSpPr>
            <p:cNvPr id="405705" name="Oval 201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61" y="3869"/>
              <a:ext cx="192" cy="154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5706" name="Freeform 202"/>
            <p:cNvSpPr>
              <a:spLocks/>
            </p:cNvSpPr>
            <p:nvPr>
              <p:custDataLst>
                <p:tags r:id="rId11"/>
              </p:custDataLst>
            </p:nvPr>
          </p:nvSpPr>
          <p:spPr bwMode="auto">
            <a:xfrm>
              <a:off x="508" y="3891"/>
              <a:ext cx="111" cy="1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76"/>
                </a:cxn>
                <a:cxn ang="0">
                  <a:pos x="432" y="288"/>
                </a:cxn>
                <a:cxn ang="0">
                  <a:pos x="0" y="0"/>
                </a:cxn>
              </a:cxnLst>
              <a:rect l="0" t="0" r="r" b="b"/>
              <a:pathLst>
                <a:path w="432" h="576">
                  <a:moveTo>
                    <a:pt x="0" y="0"/>
                  </a:moveTo>
                  <a:cubicBezTo>
                    <a:pt x="0" y="0"/>
                    <a:pt x="91" y="226"/>
                    <a:pt x="0" y="576"/>
                  </a:cubicBezTo>
                  <a:cubicBezTo>
                    <a:pt x="216" y="432"/>
                    <a:pt x="432" y="288"/>
                    <a:pt x="432" y="288"/>
                  </a:cubicBez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cap="flat" cmpd="sng">
              <a:solidFill>
                <a:srgbClr val="66669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5708" name="Oval 20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096963" y="6142038"/>
            <a:ext cx="304800" cy="244475"/>
          </a:xfrm>
          <a:prstGeom prst="ellipse">
            <a:avLst/>
          </a:prstGeom>
          <a:gradFill rotWithShape="0">
            <a:gsLst>
              <a:gs pos="0">
                <a:srgbClr val="666699"/>
              </a:gs>
              <a:gs pos="100000">
                <a:srgbClr val="99CCFF"/>
              </a:gs>
            </a:gsLst>
            <a:lin ang="189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05709" name="Rectangle 20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189038" y="6203950"/>
            <a:ext cx="120650" cy="122238"/>
          </a:xfrm>
          <a:prstGeom prst="rect">
            <a:avLst/>
          </a:prstGeom>
          <a:gradFill rotWithShape="1">
            <a:gsLst>
              <a:gs pos="0">
                <a:srgbClr val="FFFFCC"/>
              </a:gs>
              <a:gs pos="100000">
                <a:srgbClr val="FFCC66"/>
              </a:gs>
            </a:gsLst>
            <a:lin ang="18900000" scaled="1"/>
          </a:gradFill>
          <a:ln w="9525" algn="ctr">
            <a:solidFill>
              <a:srgbClr val="666699"/>
            </a:solidFill>
            <a:miter lim="800000"/>
            <a:headEnd/>
            <a:tailEnd/>
          </a:ln>
          <a:effectLst>
            <a:outerShdw dist="17961" dir="81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0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0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0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05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0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05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699" grpId="0" animBg="1"/>
      <p:bldP spid="405700" grpId="0" animBg="1"/>
      <p:bldP spid="405701" grpId="0" animBg="1"/>
      <p:bldP spid="405708" grpId="0" animBg="1"/>
      <p:bldP spid="40570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fr-FR" sz="3000" b="1" dirty="0">
                <a:solidFill>
                  <a:srgbClr val="C00000"/>
                </a:solidFill>
              </a:rPr>
              <a:t>Fonctionnement du redéploiement de logiciels</a:t>
            </a:r>
            <a:endParaRPr lang="en-US" sz="3000" b="1" dirty="0">
              <a:solidFill>
                <a:srgbClr val="C00000"/>
              </a:solidFill>
            </a:endParaRPr>
          </a:p>
        </p:txBody>
      </p:sp>
      <p:grpSp>
        <p:nvGrpSpPr>
          <p:cNvPr id="400714" name="Group 330"/>
          <p:cNvGrpSpPr>
            <a:grpSpLocks/>
          </p:cNvGrpSpPr>
          <p:nvPr/>
        </p:nvGrpSpPr>
        <p:grpSpPr bwMode="auto">
          <a:xfrm>
            <a:off x="4632324" y="1344613"/>
            <a:ext cx="4308475" cy="2212975"/>
            <a:chOff x="2918" y="847"/>
            <a:chExt cx="2087" cy="1394"/>
          </a:xfrm>
        </p:grpSpPr>
        <p:grpSp>
          <p:nvGrpSpPr>
            <p:cNvPr id="400713" name="Group 329"/>
            <p:cNvGrpSpPr>
              <a:grpSpLocks/>
            </p:cNvGrpSpPr>
            <p:nvPr/>
          </p:nvGrpSpPr>
          <p:grpSpPr bwMode="auto">
            <a:xfrm>
              <a:off x="2918" y="847"/>
              <a:ext cx="2087" cy="1394"/>
              <a:chOff x="2918" y="847"/>
              <a:chExt cx="2087" cy="1394"/>
            </a:xfrm>
          </p:grpSpPr>
          <p:sp>
            <p:nvSpPr>
              <p:cNvPr id="400660" name="AutoShape 276"/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2918" y="847"/>
                <a:ext cx="2087" cy="1392"/>
              </a:xfrm>
              <a:prstGeom prst="roundRect">
                <a:avLst>
                  <a:gd name="adj" fmla="val 5028"/>
                </a:avLst>
              </a:prstGeom>
              <a:solidFill>
                <a:srgbClr val="F0F1E1"/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pPr marL="177800" indent="-177800" algn="l">
                  <a:buSzPct val="85000"/>
                </a:pPr>
                <a:endParaRPr lang="fr-FR" b="0"/>
              </a:p>
            </p:txBody>
          </p:sp>
          <p:sp>
            <p:nvSpPr>
              <p:cNvPr id="400661" name="AutoShape 277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2974" y="902"/>
                <a:ext cx="213" cy="248"/>
              </a:xfrm>
              <a:prstGeom prst="roundRect">
                <a:avLst>
                  <a:gd name="adj" fmla="val 0"/>
                </a:avLst>
              </a:prstGeom>
              <a:gradFill rotWithShape="1">
                <a:gsLst>
                  <a:gs pos="0">
                    <a:schemeClr val="folHlink"/>
                  </a:gs>
                  <a:gs pos="50000">
                    <a:srgbClr val="F0F0F0"/>
                  </a:gs>
                  <a:gs pos="100000">
                    <a:schemeClr val="folHlink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tx1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r>
                  <a:rPr lang="en-US" sz="2400">
                    <a:solidFill>
                      <a:srgbClr val="990033"/>
                    </a:solidFill>
                  </a:rPr>
                  <a:t>2</a:t>
                </a:r>
              </a:p>
            </p:txBody>
          </p:sp>
          <p:pic>
            <p:nvPicPr>
              <p:cNvPr id="400662" name="Picture 278" descr="GroupPolicy01"/>
              <p:cNvPicPr>
                <a:picLocks noChangeAspect="1" noChangeArrowheads="1"/>
              </p:cNvPicPr>
              <p:nvPr>
                <p:custDataLst>
                  <p:tags r:id="rId24"/>
                </p:custDataLst>
              </p:nvPr>
            </p:nvPicPr>
            <p:blipFill>
              <a:blip r:embed="rId27"/>
              <a:srcRect/>
              <a:stretch>
                <a:fillRect/>
              </a:stretch>
            </p:blipFill>
            <p:spPr bwMode="auto">
              <a:xfrm>
                <a:off x="3656" y="933"/>
                <a:ext cx="1313" cy="765"/>
              </a:xfrm>
              <a:prstGeom prst="rect">
                <a:avLst/>
              </a:prstGeom>
              <a:noFill/>
            </p:spPr>
          </p:pic>
          <p:sp>
            <p:nvSpPr>
              <p:cNvPr id="400663" name="Text Box 279"/>
              <p:cNvSpPr txBox="1">
                <a:spLocks noChangeArrowheads="1"/>
              </p:cNvSpPr>
              <p:nvPr/>
            </p:nvSpPr>
            <p:spPr bwMode="auto">
              <a:xfrm>
                <a:off x="2940" y="1756"/>
                <a:ext cx="1144" cy="4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fr-FR" sz="2200" dirty="0">
                    <a:solidFill>
                      <a:srgbClr val="000000"/>
                    </a:solidFill>
                  </a:rPr>
                  <a:t>Redéployer </a:t>
                </a:r>
                <a:br>
                  <a:rPr lang="fr-FR" sz="2200" dirty="0">
                    <a:solidFill>
                      <a:srgbClr val="000000"/>
                    </a:solidFill>
                  </a:rPr>
                </a:br>
                <a:r>
                  <a:rPr lang="fr-FR" sz="2200" dirty="0">
                    <a:solidFill>
                      <a:srgbClr val="000000"/>
                    </a:solidFill>
                  </a:rPr>
                  <a:t>le package</a:t>
                </a:r>
                <a:endParaRPr lang="en-US" sz="2200" dirty="0"/>
              </a:p>
            </p:txBody>
          </p:sp>
        </p:grpSp>
        <p:sp>
          <p:nvSpPr>
            <p:cNvPr id="400664" name="AutoShape 280"/>
            <p:cNvSpPr>
              <a:spLocks noChangeArrowheads="1"/>
            </p:cNvSpPr>
            <p:nvPr/>
          </p:nvSpPr>
          <p:spPr bwMode="auto">
            <a:xfrm>
              <a:off x="3772" y="1667"/>
              <a:ext cx="1178" cy="24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pPr>
                <a:lnSpc>
                  <a:spcPct val="85000"/>
                </a:lnSpc>
              </a:pPr>
              <a:r>
                <a:rPr lang="fr-FR">
                  <a:solidFill>
                    <a:srgbClr val="000000"/>
                  </a:solidFill>
                </a:rPr>
                <a:t>Stratégie de groupe</a:t>
              </a:r>
              <a:endParaRPr lang="en-US"/>
            </a:p>
          </p:txBody>
        </p:sp>
      </p:grpSp>
      <p:sp>
        <p:nvSpPr>
          <p:cNvPr id="400666" name="AutoShape 28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03201" y="1344613"/>
            <a:ext cx="4173538" cy="2209800"/>
          </a:xfrm>
          <a:prstGeom prst="roundRect">
            <a:avLst>
              <a:gd name="adj" fmla="val 5028"/>
            </a:avLst>
          </a:prstGeom>
          <a:solidFill>
            <a:srgbClr val="F0F1E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177800" indent="-177800" algn="l">
              <a:buSzPct val="85000"/>
            </a:pPr>
            <a:endParaRPr lang="fr-FR" b="0"/>
          </a:p>
        </p:txBody>
      </p:sp>
      <p:sp>
        <p:nvSpPr>
          <p:cNvPr id="400667" name="Text Box 283"/>
          <p:cNvSpPr txBox="1">
            <a:spLocks noChangeArrowheads="1"/>
          </p:cNvSpPr>
          <p:nvPr/>
        </p:nvSpPr>
        <p:spPr bwMode="auto">
          <a:xfrm>
            <a:off x="304800" y="2442712"/>
            <a:ext cx="2614613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fr-FR" sz="2200" dirty="0">
                <a:solidFill>
                  <a:srgbClr val="000000"/>
                </a:solidFill>
              </a:rPr>
              <a:t>Placer la mise à niveau logicielle sur le serveur</a:t>
            </a:r>
            <a:endParaRPr lang="en-US" sz="2200" dirty="0"/>
          </a:p>
        </p:txBody>
      </p:sp>
      <p:sp>
        <p:nvSpPr>
          <p:cNvPr id="400668" name="AutoShape 28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52525" y="1431925"/>
            <a:ext cx="338138" cy="3937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50000">
                <a:srgbClr val="F0F0F0"/>
              </a:gs>
              <a:gs pos="100000">
                <a:schemeClr val="folHlink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2400">
                <a:solidFill>
                  <a:srgbClr val="990033"/>
                </a:solidFill>
              </a:rPr>
              <a:t>1</a:t>
            </a:r>
          </a:p>
        </p:txBody>
      </p:sp>
      <p:pic>
        <p:nvPicPr>
          <p:cNvPr id="400669" name="Picture 285" descr="Server0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8" cstate="print"/>
          <a:srcRect/>
          <a:stretch>
            <a:fillRect/>
          </a:stretch>
        </p:blipFill>
        <p:spPr bwMode="auto">
          <a:xfrm>
            <a:off x="3078163" y="2076450"/>
            <a:ext cx="1146175" cy="1349375"/>
          </a:xfrm>
          <a:prstGeom prst="rect">
            <a:avLst/>
          </a:prstGeom>
          <a:noFill/>
        </p:spPr>
      </p:pic>
      <p:grpSp>
        <p:nvGrpSpPr>
          <p:cNvPr id="400711" name="Group 327"/>
          <p:cNvGrpSpPr>
            <a:grpSpLocks/>
          </p:cNvGrpSpPr>
          <p:nvPr/>
        </p:nvGrpSpPr>
        <p:grpSpPr bwMode="auto">
          <a:xfrm>
            <a:off x="2027238" y="1558925"/>
            <a:ext cx="1873250" cy="987425"/>
            <a:chOff x="1452" y="982"/>
            <a:chExt cx="830" cy="622"/>
          </a:xfrm>
        </p:grpSpPr>
        <p:sp>
          <p:nvSpPr>
            <p:cNvPr id="400671" name="Rectangle 287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452" y="982"/>
              <a:ext cx="830" cy="104"/>
            </a:xfrm>
            <a:prstGeom prst="rect">
              <a:avLst/>
            </a:prstGeom>
            <a:solidFill>
              <a:srgbClr val="EAABA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0672" name="Rectangle 288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452" y="1086"/>
              <a:ext cx="362" cy="518"/>
            </a:xfrm>
            <a:prstGeom prst="rect">
              <a:avLst/>
            </a:prstGeom>
            <a:gradFill rotWithShape="0">
              <a:gsLst>
                <a:gs pos="0">
                  <a:srgbClr val="FFFFCC">
                    <a:gamma/>
                    <a:tint val="20000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0673" name="Rectangle 289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814" y="1086"/>
              <a:ext cx="468" cy="518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0674" name="Rectangle 290"/>
          <p:cNvSpPr>
            <a:spLocks noChangeArrowheads="1"/>
          </p:cNvSpPr>
          <p:nvPr/>
        </p:nvSpPr>
        <p:spPr bwMode="auto">
          <a:xfrm>
            <a:off x="2051050" y="1925638"/>
            <a:ext cx="1833563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>
            <a:spAutoFit/>
          </a:bodyPr>
          <a:lstStyle/>
          <a:p>
            <a:r>
              <a:rPr lang="fr-FR" sz="2000">
                <a:solidFill>
                  <a:srgbClr val="5F5F5F"/>
                </a:solidFill>
                <a:latin typeface="Arial" charset="0"/>
              </a:rPr>
              <a:t>Mise à niveau</a:t>
            </a:r>
            <a:endParaRPr lang="en-US" sz="2000">
              <a:solidFill>
                <a:srgbClr val="5F5F5F"/>
              </a:solidFill>
              <a:latin typeface="Arial" charset="0"/>
            </a:endParaRPr>
          </a:p>
        </p:txBody>
      </p:sp>
      <p:grpSp>
        <p:nvGrpSpPr>
          <p:cNvPr id="400718" name="Group 334"/>
          <p:cNvGrpSpPr>
            <a:grpSpLocks/>
          </p:cNvGrpSpPr>
          <p:nvPr/>
        </p:nvGrpSpPr>
        <p:grpSpPr bwMode="auto">
          <a:xfrm>
            <a:off x="4632324" y="3827463"/>
            <a:ext cx="4322989" cy="2270125"/>
            <a:chOff x="2918" y="2411"/>
            <a:chExt cx="2193" cy="1430"/>
          </a:xfrm>
        </p:grpSpPr>
        <p:sp>
          <p:nvSpPr>
            <p:cNvPr id="400676" name="AutoShape 292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918" y="2411"/>
              <a:ext cx="2087" cy="1392"/>
            </a:xfrm>
            <a:prstGeom prst="roundRect">
              <a:avLst>
                <a:gd name="adj" fmla="val 5028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 marL="177800" indent="-177800" algn="l">
                <a:buSzPct val="85000"/>
              </a:pPr>
              <a:endParaRPr lang="fr-FR" b="0"/>
            </a:p>
          </p:txBody>
        </p:sp>
        <p:sp>
          <p:nvSpPr>
            <p:cNvPr id="400677" name="AutoShape 29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974" y="2466"/>
              <a:ext cx="213" cy="24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3</a:t>
              </a:r>
            </a:p>
          </p:txBody>
        </p:sp>
        <p:grpSp>
          <p:nvGrpSpPr>
            <p:cNvPr id="400715" name="Group 331"/>
            <p:cNvGrpSpPr>
              <a:grpSpLocks/>
            </p:cNvGrpSpPr>
            <p:nvPr/>
          </p:nvGrpSpPr>
          <p:grpSpPr bwMode="auto">
            <a:xfrm>
              <a:off x="3635" y="2448"/>
              <a:ext cx="983" cy="1025"/>
              <a:chOff x="3635" y="2502"/>
              <a:chExt cx="983" cy="1025"/>
            </a:xfrm>
          </p:grpSpPr>
          <p:pic>
            <p:nvPicPr>
              <p:cNvPr id="400679" name="Picture 295" descr="Computer_DesktopComputer01"/>
              <p:cNvPicPr>
                <a:picLocks noChangeAspect="1" noChangeArrowheads="1"/>
              </p:cNvPicPr>
              <p:nvPr>
                <p:custDataLst>
                  <p:tags r:id="rId17"/>
                </p:custDataLst>
              </p:nvPr>
            </p:nvPicPr>
            <p:blipFill>
              <a:blip r:embed="rId29" cstate="print"/>
              <a:srcRect/>
              <a:stretch>
                <a:fillRect/>
              </a:stretch>
            </p:blipFill>
            <p:spPr bwMode="auto">
              <a:xfrm>
                <a:off x="3914" y="2502"/>
                <a:ext cx="704" cy="789"/>
              </a:xfrm>
              <a:prstGeom prst="rect">
                <a:avLst/>
              </a:prstGeom>
              <a:noFill/>
            </p:spPr>
          </p:pic>
          <p:pic>
            <p:nvPicPr>
              <p:cNvPr id="400680" name="Picture 296" descr="User_UserHalfD01"/>
              <p:cNvPicPr>
                <a:picLocks noChangeAspect="1" noChangeArrowheads="1"/>
              </p:cNvPicPr>
              <p:nvPr>
                <p:custDataLst>
                  <p:tags r:id="rId18"/>
                </p:custDataLst>
              </p:nvPr>
            </p:nvPicPr>
            <p:blipFill>
              <a:blip r:embed="rId30"/>
              <a:srcRect/>
              <a:stretch>
                <a:fillRect/>
              </a:stretch>
            </p:blipFill>
            <p:spPr bwMode="auto">
              <a:xfrm>
                <a:off x="3635" y="2687"/>
                <a:ext cx="533" cy="840"/>
              </a:xfrm>
              <a:prstGeom prst="rect">
                <a:avLst/>
              </a:prstGeom>
              <a:noFill/>
            </p:spPr>
          </p:pic>
        </p:grpSp>
        <p:sp>
          <p:nvSpPr>
            <p:cNvPr id="400681" name="Text Box 297"/>
            <p:cNvSpPr txBox="1">
              <a:spLocks noChangeArrowheads="1"/>
            </p:cNvSpPr>
            <p:nvPr/>
          </p:nvSpPr>
          <p:spPr bwMode="auto">
            <a:xfrm>
              <a:off x="2949" y="3420"/>
              <a:ext cx="2162" cy="4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85000"/>
                </a:lnSpc>
                <a:spcBef>
                  <a:spcPct val="50000"/>
                </a:spcBef>
              </a:pPr>
              <a:r>
                <a:rPr lang="fr-FR" sz="2200" dirty="0">
                  <a:solidFill>
                    <a:srgbClr val="000000"/>
                  </a:solidFill>
                </a:rPr>
                <a:t>L'utilisateur ouvre une </a:t>
              </a:r>
              <a:r>
                <a:rPr lang="fr-FR" sz="2200" dirty="0" smtClean="0">
                  <a:solidFill>
                    <a:srgbClr val="000000"/>
                  </a:solidFill>
                </a:rPr>
                <a:t>session et </a:t>
              </a:r>
              <a:r>
                <a:rPr lang="fr-FR" sz="2200" dirty="0">
                  <a:solidFill>
                    <a:srgbClr val="000000"/>
                  </a:solidFill>
                </a:rPr>
                <a:t>active le logiciel</a:t>
              </a:r>
              <a:endParaRPr lang="en-US" sz="2200" dirty="0"/>
            </a:p>
          </p:txBody>
        </p:sp>
        <p:grpSp>
          <p:nvGrpSpPr>
            <p:cNvPr id="400716" name="Group 332"/>
            <p:cNvGrpSpPr>
              <a:grpSpLocks/>
            </p:cNvGrpSpPr>
            <p:nvPr/>
          </p:nvGrpSpPr>
          <p:grpSpPr bwMode="auto">
            <a:xfrm>
              <a:off x="4233" y="2609"/>
              <a:ext cx="720" cy="550"/>
              <a:chOff x="4233" y="2663"/>
              <a:chExt cx="720" cy="550"/>
            </a:xfrm>
          </p:grpSpPr>
          <p:sp>
            <p:nvSpPr>
              <p:cNvPr id="400683" name="Rectangle 299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4276" y="2706"/>
                <a:ext cx="677" cy="507"/>
              </a:xfrm>
              <a:prstGeom prst="rect">
                <a:avLst/>
              </a:prstGeom>
              <a:solidFill>
                <a:srgbClr val="808080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00684" name="Rectangle 300"/>
              <p:cNvSpPr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4233" y="2663"/>
                <a:ext cx="678" cy="85"/>
              </a:xfrm>
              <a:prstGeom prst="rect">
                <a:avLst/>
              </a:prstGeom>
              <a:gradFill rotWithShape="0">
                <a:gsLst>
                  <a:gs pos="0">
                    <a:srgbClr val="FF0000">
                      <a:gamma/>
                      <a:shade val="46275"/>
                      <a:invGamma/>
                    </a:srgbClr>
                  </a:gs>
                  <a:gs pos="100000">
                    <a:srgbClr val="FF0000"/>
                  </a:gs>
                </a:gsLst>
                <a:lin ang="0" scaled="1"/>
              </a:gra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00685" name="Rectangle 301"/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4233" y="2748"/>
                <a:ext cx="296" cy="423"/>
              </a:xfrm>
              <a:prstGeom prst="rect">
                <a:avLst/>
              </a:prstGeom>
              <a:gradFill rotWithShape="0">
                <a:gsLst>
                  <a:gs pos="0">
                    <a:srgbClr val="FFFFCC">
                      <a:gamma/>
                      <a:tint val="20000"/>
                      <a:invGamma/>
                    </a:srgbClr>
                  </a:gs>
                  <a:gs pos="100000">
                    <a:srgbClr val="FFFFCC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00686" name="Rectangle 302"/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4529" y="2748"/>
                <a:ext cx="382" cy="423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400721" name="Group 337"/>
          <p:cNvGrpSpPr>
            <a:grpSpLocks/>
          </p:cNvGrpSpPr>
          <p:nvPr/>
        </p:nvGrpSpPr>
        <p:grpSpPr bwMode="auto">
          <a:xfrm>
            <a:off x="174171" y="3827464"/>
            <a:ext cx="4202567" cy="2211388"/>
            <a:chOff x="670" y="2411"/>
            <a:chExt cx="2087" cy="1393"/>
          </a:xfrm>
        </p:grpSpPr>
        <p:sp>
          <p:nvSpPr>
            <p:cNvPr id="400688" name="AutoShape 30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70" y="2411"/>
              <a:ext cx="2087" cy="1392"/>
            </a:xfrm>
            <a:prstGeom prst="roundRect">
              <a:avLst>
                <a:gd name="adj" fmla="val 5028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 marL="177800" indent="-177800" algn="l">
                <a:buSzPct val="85000"/>
              </a:pPr>
              <a:endParaRPr lang="fr-FR" b="0"/>
            </a:p>
          </p:txBody>
        </p:sp>
        <p:sp>
          <p:nvSpPr>
            <p:cNvPr id="400689" name="AutoShape 30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26" y="2466"/>
              <a:ext cx="213" cy="248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F0F0F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r>
                <a:rPr lang="en-US" sz="2400">
                  <a:solidFill>
                    <a:srgbClr val="990033"/>
                  </a:solidFill>
                </a:rPr>
                <a:t>4</a:t>
              </a:r>
            </a:p>
          </p:txBody>
        </p:sp>
        <p:grpSp>
          <p:nvGrpSpPr>
            <p:cNvPr id="400720" name="Group 336"/>
            <p:cNvGrpSpPr>
              <a:grpSpLocks/>
            </p:cNvGrpSpPr>
            <p:nvPr/>
          </p:nvGrpSpPr>
          <p:grpSpPr bwMode="auto">
            <a:xfrm>
              <a:off x="796" y="2599"/>
              <a:ext cx="983" cy="1025"/>
              <a:chOff x="796" y="2599"/>
              <a:chExt cx="983" cy="1025"/>
            </a:xfrm>
          </p:grpSpPr>
          <p:pic>
            <p:nvPicPr>
              <p:cNvPr id="400691" name="Picture 307" descr="Computer_DesktopComputer01"/>
              <p:cNvPicPr>
                <a:picLocks noChangeAspect="1" noChangeArrowheads="1"/>
              </p:cNvPicPr>
              <p:nvPr>
                <p:custDataLst>
                  <p:tags r:id="rId9"/>
                </p:custDataLst>
              </p:nvPr>
            </p:nvPicPr>
            <p:blipFill>
              <a:blip r:embed="rId29" cstate="print"/>
              <a:srcRect/>
              <a:stretch>
                <a:fillRect/>
              </a:stretch>
            </p:blipFill>
            <p:spPr bwMode="auto">
              <a:xfrm>
                <a:off x="1075" y="2599"/>
                <a:ext cx="704" cy="789"/>
              </a:xfrm>
              <a:prstGeom prst="rect">
                <a:avLst/>
              </a:prstGeom>
              <a:noFill/>
            </p:spPr>
          </p:pic>
          <p:pic>
            <p:nvPicPr>
              <p:cNvPr id="400692" name="Picture 308" descr="User_UserHalfD01"/>
              <p:cNvPicPr>
                <a:picLocks noChangeAspect="1" noChangeArrowheads="1"/>
              </p:cNvPicPr>
              <p:nvPr>
                <p:custDataLst>
                  <p:tags r:id="rId10"/>
                </p:custDataLst>
              </p:nvPr>
            </p:nvPicPr>
            <p:blipFill>
              <a:blip r:embed="rId30"/>
              <a:srcRect/>
              <a:stretch>
                <a:fillRect/>
              </a:stretch>
            </p:blipFill>
            <p:spPr bwMode="auto">
              <a:xfrm>
                <a:off x="796" y="2784"/>
                <a:ext cx="533" cy="840"/>
              </a:xfrm>
              <a:prstGeom prst="rect">
                <a:avLst/>
              </a:prstGeom>
              <a:noFill/>
            </p:spPr>
          </p:pic>
        </p:grpSp>
        <p:sp>
          <p:nvSpPr>
            <p:cNvPr id="400693" name="Text Box 309"/>
            <p:cNvSpPr txBox="1">
              <a:spLocks noChangeArrowheads="1"/>
            </p:cNvSpPr>
            <p:nvPr/>
          </p:nvSpPr>
          <p:spPr bwMode="auto">
            <a:xfrm>
              <a:off x="1124" y="3383"/>
              <a:ext cx="1612" cy="4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>
                <a:lnSpc>
                  <a:spcPct val="85000"/>
                </a:lnSpc>
                <a:spcBef>
                  <a:spcPct val="50000"/>
                </a:spcBef>
              </a:pPr>
              <a:r>
                <a:rPr lang="fr-FR" sz="2200" dirty="0" smtClean="0">
                  <a:solidFill>
                    <a:srgbClr val="000000"/>
                  </a:solidFill>
                </a:rPr>
                <a:t>La mise à niveau est appliquée automatiquement</a:t>
              </a:r>
              <a:endParaRPr lang="en-US" sz="2200" dirty="0"/>
            </a:p>
          </p:txBody>
        </p:sp>
        <p:grpSp>
          <p:nvGrpSpPr>
            <p:cNvPr id="400712" name="Group 328"/>
            <p:cNvGrpSpPr>
              <a:grpSpLocks/>
            </p:cNvGrpSpPr>
            <p:nvPr/>
          </p:nvGrpSpPr>
          <p:grpSpPr bwMode="auto">
            <a:xfrm>
              <a:off x="1356" y="2524"/>
              <a:ext cx="1146" cy="622"/>
              <a:chOff x="1436" y="2716"/>
              <a:chExt cx="830" cy="622"/>
            </a:xfrm>
          </p:grpSpPr>
          <p:sp>
            <p:nvSpPr>
              <p:cNvPr id="400695" name="Rectangle 311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436" y="2716"/>
                <a:ext cx="830" cy="104"/>
              </a:xfrm>
              <a:prstGeom prst="rect">
                <a:avLst/>
              </a:prstGeom>
              <a:solidFill>
                <a:srgbClr val="EAABA0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00696" name="Rectangle 312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436" y="2820"/>
                <a:ext cx="362" cy="518"/>
              </a:xfrm>
              <a:prstGeom prst="rect">
                <a:avLst/>
              </a:prstGeom>
              <a:gradFill rotWithShape="0">
                <a:gsLst>
                  <a:gs pos="0">
                    <a:srgbClr val="FFFFCC">
                      <a:gamma/>
                      <a:tint val="20000"/>
                      <a:invGamma/>
                    </a:srgbClr>
                  </a:gs>
                  <a:gs pos="100000">
                    <a:srgbClr val="FFFFCC"/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00697" name="Rectangle 313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798" y="2820"/>
                <a:ext cx="468" cy="518"/>
              </a:xfrm>
              <a:prstGeom prst="rect">
                <a:avLst/>
              </a:prstGeom>
              <a:solidFill>
                <a:srgbClr val="B2B2B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400698" name="Rectangle 314"/>
            <p:cNvSpPr>
              <a:spLocks noChangeArrowheads="1"/>
            </p:cNvSpPr>
            <p:nvPr/>
          </p:nvSpPr>
          <p:spPr bwMode="auto">
            <a:xfrm>
              <a:off x="1355" y="2755"/>
              <a:ext cx="1155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folHlink"/>
              </a:outerShdw>
            </a:effectLst>
          </p:spPr>
          <p:txBody>
            <a:bodyPr wrap="none">
              <a:spAutoFit/>
            </a:bodyPr>
            <a:lstStyle/>
            <a:p>
              <a:r>
                <a:rPr lang="fr-FR" sz="2000">
                  <a:solidFill>
                    <a:srgbClr val="5F5F5F"/>
                  </a:solidFill>
                  <a:latin typeface="Arial" charset="0"/>
                </a:rPr>
                <a:t>Mise à niveau</a:t>
              </a:r>
              <a:endParaRPr lang="en-US" sz="2000">
                <a:solidFill>
                  <a:srgbClr val="5F5F5F"/>
                </a:solidFill>
                <a:latin typeface="Arial" charset="0"/>
              </a:endParaRPr>
            </a:p>
          </p:txBody>
        </p:sp>
      </p:grpSp>
      <p:sp>
        <p:nvSpPr>
          <p:cNvPr id="400699" name="Arc 315"/>
          <p:cNvSpPr>
            <a:spLocks/>
          </p:cNvSpPr>
          <p:nvPr/>
        </p:nvSpPr>
        <p:spPr bwMode="auto">
          <a:xfrm>
            <a:off x="3957638" y="2003425"/>
            <a:ext cx="1722437" cy="1531938"/>
          </a:xfrm>
          <a:custGeom>
            <a:avLst/>
            <a:gdLst>
              <a:gd name="G0" fmla="+- 7589 0 0"/>
              <a:gd name="G1" fmla="+- 21600 0 0"/>
              <a:gd name="G2" fmla="+- 21600 0 0"/>
              <a:gd name="T0" fmla="*/ 0 w 17781"/>
              <a:gd name="T1" fmla="*/ 1377 h 21600"/>
              <a:gd name="T2" fmla="*/ 17781 w 17781"/>
              <a:gd name="T3" fmla="*/ 2556 h 21600"/>
              <a:gd name="T4" fmla="*/ 7589 w 1778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781" h="21600" fill="none" extrusionOk="0">
                <a:moveTo>
                  <a:pt x="0" y="1377"/>
                </a:moveTo>
                <a:cubicBezTo>
                  <a:pt x="2426" y="466"/>
                  <a:pt x="4997" y="-1"/>
                  <a:pt x="7589" y="0"/>
                </a:cubicBezTo>
                <a:cubicBezTo>
                  <a:pt x="11144" y="0"/>
                  <a:pt x="14645" y="877"/>
                  <a:pt x="17781" y="2555"/>
                </a:cubicBezTo>
              </a:path>
              <a:path w="17781" h="21600" stroke="0" extrusionOk="0">
                <a:moveTo>
                  <a:pt x="0" y="1377"/>
                </a:moveTo>
                <a:cubicBezTo>
                  <a:pt x="2426" y="466"/>
                  <a:pt x="4997" y="-1"/>
                  <a:pt x="7589" y="0"/>
                </a:cubicBezTo>
                <a:cubicBezTo>
                  <a:pt x="11144" y="0"/>
                  <a:pt x="14645" y="877"/>
                  <a:pt x="17781" y="2555"/>
                </a:cubicBezTo>
                <a:lnTo>
                  <a:pt x="7589" y="21600"/>
                </a:lnTo>
                <a:close/>
              </a:path>
            </a:pathLst>
          </a:custGeom>
          <a:noFill/>
          <a:ln w="76200" cap="rnd">
            <a:solidFill>
              <a:srgbClr val="CC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00700" name="Arc 316"/>
          <p:cNvSpPr>
            <a:spLocks/>
          </p:cNvSpPr>
          <p:nvPr/>
        </p:nvSpPr>
        <p:spPr bwMode="auto">
          <a:xfrm>
            <a:off x="3954463" y="3427413"/>
            <a:ext cx="1757362" cy="1531937"/>
          </a:xfrm>
          <a:custGeom>
            <a:avLst/>
            <a:gdLst>
              <a:gd name="G0" fmla="+- 7809 0 0"/>
              <a:gd name="G1" fmla="+- 0 0 0"/>
              <a:gd name="G2" fmla="+- 21600 0 0"/>
              <a:gd name="T0" fmla="*/ 18162 w 18162"/>
              <a:gd name="T1" fmla="*/ 18957 h 21600"/>
              <a:gd name="T2" fmla="*/ 0 w 18162"/>
              <a:gd name="T3" fmla="*/ 20139 h 21600"/>
              <a:gd name="T4" fmla="*/ 7809 w 18162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162" h="21600" fill="none" extrusionOk="0">
                <a:moveTo>
                  <a:pt x="18162" y="18957"/>
                </a:moveTo>
                <a:cubicBezTo>
                  <a:pt x="14986" y="20691"/>
                  <a:pt x="11426" y="21599"/>
                  <a:pt x="7809" y="21600"/>
                </a:cubicBezTo>
                <a:cubicBezTo>
                  <a:pt x="5138" y="21600"/>
                  <a:pt x="2490" y="21104"/>
                  <a:pt x="-1" y="20139"/>
                </a:cubicBezTo>
              </a:path>
              <a:path w="18162" h="21600" stroke="0" extrusionOk="0">
                <a:moveTo>
                  <a:pt x="18162" y="18957"/>
                </a:moveTo>
                <a:cubicBezTo>
                  <a:pt x="14986" y="20691"/>
                  <a:pt x="11426" y="21599"/>
                  <a:pt x="7809" y="21600"/>
                </a:cubicBezTo>
                <a:cubicBezTo>
                  <a:pt x="5138" y="21600"/>
                  <a:pt x="2490" y="21104"/>
                  <a:pt x="-1" y="20139"/>
                </a:cubicBezTo>
                <a:lnTo>
                  <a:pt x="7809" y="0"/>
                </a:lnTo>
                <a:close/>
              </a:path>
            </a:pathLst>
          </a:custGeom>
          <a:noFill/>
          <a:ln w="76200" cap="rnd">
            <a:solidFill>
              <a:srgbClr val="CC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00701" name="Arc 317"/>
          <p:cNvSpPr>
            <a:spLocks/>
          </p:cNvSpPr>
          <p:nvPr/>
        </p:nvSpPr>
        <p:spPr bwMode="auto">
          <a:xfrm>
            <a:off x="4678363" y="3084513"/>
            <a:ext cx="2119312" cy="776287"/>
          </a:xfrm>
          <a:custGeom>
            <a:avLst/>
            <a:gdLst>
              <a:gd name="G0" fmla="+- 0 0 0"/>
              <a:gd name="G1" fmla="+- 6197 0 0"/>
              <a:gd name="G2" fmla="+- 21600 0 0"/>
              <a:gd name="T0" fmla="*/ 20692 w 21600"/>
              <a:gd name="T1" fmla="*/ 0 h 12883"/>
              <a:gd name="T2" fmla="*/ 20539 w 21600"/>
              <a:gd name="T3" fmla="*/ 12883 h 12883"/>
              <a:gd name="T4" fmla="*/ 0 w 21600"/>
              <a:gd name="T5" fmla="*/ 6197 h 128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2883" fill="none" extrusionOk="0">
                <a:moveTo>
                  <a:pt x="20691" y="0"/>
                </a:moveTo>
                <a:cubicBezTo>
                  <a:pt x="21294" y="2010"/>
                  <a:pt x="21600" y="4098"/>
                  <a:pt x="21600" y="6197"/>
                </a:cubicBezTo>
                <a:cubicBezTo>
                  <a:pt x="21600" y="8467"/>
                  <a:pt x="21241" y="10723"/>
                  <a:pt x="20539" y="12883"/>
                </a:cubicBezTo>
              </a:path>
              <a:path w="21600" h="12883" stroke="0" extrusionOk="0">
                <a:moveTo>
                  <a:pt x="20691" y="0"/>
                </a:moveTo>
                <a:cubicBezTo>
                  <a:pt x="21294" y="2010"/>
                  <a:pt x="21600" y="4098"/>
                  <a:pt x="21600" y="6197"/>
                </a:cubicBezTo>
                <a:cubicBezTo>
                  <a:pt x="21600" y="8467"/>
                  <a:pt x="21241" y="10723"/>
                  <a:pt x="20539" y="12883"/>
                </a:cubicBezTo>
                <a:lnTo>
                  <a:pt x="0" y="6197"/>
                </a:lnTo>
                <a:close/>
              </a:path>
            </a:pathLst>
          </a:custGeom>
          <a:noFill/>
          <a:ln w="76200" cap="rnd">
            <a:solidFill>
              <a:srgbClr val="CC0000"/>
            </a:solidFill>
            <a:prstDash val="sysDot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00722" name="Group 338"/>
          <p:cNvGrpSpPr>
            <a:grpSpLocks/>
          </p:cNvGrpSpPr>
          <p:nvPr/>
        </p:nvGrpSpPr>
        <p:grpSpPr bwMode="auto">
          <a:xfrm>
            <a:off x="609600" y="6051550"/>
            <a:ext cx="914400" cy="425450"/>
            <a:chOff x="384" y="3024"/>
            <a:chExt cx="720" cy="336"/>
          </a:xfrm>
        </p:grpSpPr>
        <p:sp>
          <p:nvSpPr>
            <p:cNvPr id="400723" name="Oval 339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400724" name="Group 340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400725" name="Oval 341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00726" name="Freeform 342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 cap="flat" cmpd="sng">
                <a:solidFill>
                  <a:srgbClr val="66669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  <p:grpSp>
        <p:nvGrpSpPr>
          <p:cNvPr id="400727" name="Group 343"/>
          <p:cNvGrpSpPr>
            <a:grpSpLocks/>
          </p:cNvGrpSpPr>
          <p:nvPr/>
        </p:nvGrpSpPr>
        <p:grpSpPr bwMode="auto">
          <a:xfrm>
            <a:off x="1096963" y="6142038"/>
            <a:ext cx="304800" cy="244475"/>
            <a:chOff x="768" y="3096"/>
            <a:chExt cx="240" cy="192"/>
          </a:xfrm>
        </p:grpSpPr>
        <p:sp>
          <p:nvSpPr>
            <p:cNvPr id="400728" name="Oval 344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0729" name="Rectangle 345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 algn="ctr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0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0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00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0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00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0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699" grpId="0" animBg="1"/>
      <p:bldP spid="400700" grpId="0" animBg="1"/>
      <p:bldP spid="40070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fr-FR" sz="3000" b="1" dirty="0">
                <a:solidFill>
                  <a:srgbClr val="C00000"/>
                </a:solidFill>
              </a:rPr>
              <a:t>Méthodes de suppression de logiciels déployés</a:t>
            </a:r>
            <a:endParaRPr lang="en-US" sz="3000" b="1" dirty="0">
              <a:solidFill>
                <a:srgbClr val="C00000"/>
              </a:solidFill>
            </a:endParaRPr>
          </a:p>
        </p:txBody>
      </p:sp>
      <p:graphicFrame>
        <p:nvGraphicFramePr>
          <p:cNvPr id="399465" name="Group 105"/>
          <p:cNvGraphicFramePr>
            <a:graphicFrameLocks noGrp="1"/>
          </p:cNvGraphicFramePr>
          <p:nvPr/>
        </p:nvGraphicFramePr>
        <p:xfrm>
          <a:off x="671513" y="1374775"/>
          <a:ext cx="8298316" cy="2195513"/>
        </p:xfrm>
        <a:graphic>
          <a:graphicData uri="http://schemas.openxmlformats.org/drawingml/2006/table">
            <a:tbl>
              <a:tblPr/>
              <a:tblGrid>
                <a:gridCol w="2884487"/>
                <a:gridCol w="5413829"/>
              </a:tblGrid>
              <a:tr h="2195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Suppression forcée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Blip>
                          <a:blip r:embed="rId44"/>
                        </a:buBlip>
                        <a:tabLst/>
                      </a:pPr>
                      <a:r>
                        <a:rPr kumimoji="0" lang="fr-FR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Le logiciel est automatiquement supprimé d'un ordinateur sans avertissement</a:t>
                      </a:r>
                      <a:endParaRPr kumimoji="0" lang="en-US" sz="2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99397" name="Oval 3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23963" y="2501900"/>
            <a:ext cx="1014412" cy="434975"/>
          </a:xfrm>
          <a:prstGeom prst="ellipse">
            <a:avLst/>
          </a:prstGeom>
          <a:solidFill>
            <a:srgbClr val="C0C0C0"/>
          </a:solidFill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399398" name="Rectangle 3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433513" y="2889250"/>
            <a:ext cx="593725" cy="7778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399" name="Rectangle 3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262063" y="2963863"/>
            <a:ext cx="936625" cy="52387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00" name="AutoShape 4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14400" y="1514475"/>
            <a:ext cx="1636713" cy="1298575"/>
          </a:xfrm>
          <a:prstGeom prst="roundRect">
            <a:avLst>
              <a:gd name="adj" fmla="val 3833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01" name="Rectangle 4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077913" y="1677988"/>
            <a:ext cx="1314450" cy="963612"/>
          </a:xfrm>
          <a:prstGeom prst="rect">
            <a:avLst/>
          </a:prstGeom>
          <a:solidFill>
            <a:srgbClr val="33CCCC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02" name="Freeform 42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077913" y="1681163"/>
            <a:ext cx="1317625" cy="969962"/>
          </a:xfrm>
          <a:custGeom>
            <a:avLst/>
            <a:gdLst/>
            <a:ahLst/>
            <a:cxnLst>
              <a:cxn ang="0">
                <a:pos x="522" y="0"/>
              </a:cxn>
              <a:cxn ang="0">
                <a:pos x="522" y="382"/>
              </a:cxn>
              <a:cxn ang="0">
                <a:pos x="0" y="382"/>
              </a:cxn>
            </a:cxnLst>
            <a:rect l="0" t="0" r="r" b="b"/>
            <a:pathLst>
              <a:path w="523" h="383">
                <a:moveTo>
                  <a:pt x="522" y="0"/>
                </a:moveTo>
                <a:lnTo>
                  <a:pt x="522" y="382"/>
                </a:lnTo>
                <a:lnTo>
                  <a:pt x="0" y="382"/>
                </a:lnTo>
              </a:path>
            </a:pathLst>
          </a:custGeom>
          <a:noFill/>
          <a:ln w="12700" cap="rnd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399403" name="Freeform 43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077913" y="1676400"/>
            <a:ext cx="1312862" cy="974725"/>
          </a:xfrm>
          <a:custGeom>
            <a:avLst/>
            <a:gdLst/>
            <a:ahLst/>
            <a:cxnLst>
              <a:cxn ang="0">
                <a:pos x="0" y="384"/>
              </a:cxn>
              <a:cxn ang="0">
                <a:pos x="0" y="0"/>
              </a:cxn>
              <a:cxn ang="0">
                <a:pos x="520" y="0"/>
              </a:cxn>
              <a:cxn ang="0">
                <a:pos x="520" y="0"/>
              </a:cxn>
            </a:cxnLst>
            <a:rect l="0" t="0" r="r" b="b"/>
            <a:pathLst>
              <a:path w="521" h="385">
                <a:moveTo>
                  <a:pt x="0" y="384"/>
                </a:moveTo>
                <a:lnTo>
                  <a:pt x="0" y="0"/>
                </a:lnTo>
                <a:lnTo>
                  <a:pt x="520" y="0"/>
                </a:lnTo>
                <a:lnTo>
                  <a:pt x="52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399405" name="Freeform 45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935038" y="1528763"/>
            <a:ext cx="1598612" cy="1265237"/>
          </a:xfrm>
          <a:custGeom>
            <a:avLst/>
            <a:gdLst/>
            <a:ahLst/>
            <a:cxnLst>
              <a:cxn ang="0">
                <a:pos x="611" y="0"/>
              </a:cxn>
              <a:cxn ang="0">
                <a:pos x="9" y="0"/>
              </a:cxn>
              <a:cxn ang="0">
                <a:pos x="0" y="8"/>
              </a:cxn>
              <a:cxn ang="0">
                <a:pos x="0" y="480"/>
              </a:cxn>
              <a:cxn ang="0">
                <a:pos x="2" y="485"/>
              </a:cxn>
              <a:cxn ang="0">
                <a:pos x="14" y="472"/>
              </a:cxn>
              <a:cxn ang="0">
                <a:pos x="14" y="20"/>
              </a:cxn>
              <a:cxn ang="0">
                <a:pos x="19" y="15"/>
              </a:cxn>
              <a:cxn ang="0">
                <a:pos x="609" y="15"/>
              </a:cxn>
              <a:cxn ang="0">
                <a:pos x="620" y="1"/>
              </a:cxn>
              <a:cxn ang="0">
                <a:pos x="611" y="0"/>
              </a:cxn>
            </a:cxnLst>
            <a:rect l="0" t="0" r="r" b="b"/>
            <a:pathLst>
              <a:path w="621" h="486">
                <a:moveTo>
                  <a:pt x="611" y="0"/>
                </a:moveTo>
                <a:lnTo>
                  <a:pt x="9" y="0"/>
                </a:lnTo>
                <a:lnTo>
                  <a:pt x="0" y="8"/>
                </a:lnTo>
                <a:lnTo>
                  <a:pt x="0" y="480"/>
                </a:lnTo>
                <a:lnTo>
                  <a:pt x="2" y="485"/>
                </a:lnTo>
                <a:lnTo>
                  <a:pt x="14" y="472"/>
                </a:lnTo>
                <a:lnTo>
                  <a:pt x="14" y="20"/>
                </a:lnTo>
                <a:lnTo>
                  <a:pt x="19" y="15"/>
                </a:lnTo>
                <a:lnTo>
                  <a:pt x="609" y="15"/>
                </a:lnTo>
                <a:lnTo>
                  <a:pt x="620" y="1"/>
                </a:lnTo>
                <a:lnTo>
                  <a:pt x="611" y="0"/>
                </a:lnTo>
              </a:path>
            </a:pathLst>
          </a:custGeom>
          <a:solidFill>
            <a:schemeClr val="bg1"/>
          </a:solidFill>
          <a:ln w="12700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399406" name="Freeform 46"/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938213" y="1530350"/>
            <a:ext cx="1597025" cy="1268413"/>
          </a:xfrm>
          <a:custGeom>
            <a:avLst/>
            <a:gdLst/>
            <a:ahLst/>
            <a:cxnLst>
              <a:cxn ang="0">
                <a:pos x="8" y="486"/>
              </a:cxn>
              <a:cxn ang="0">
                <a:pos x="611" y="486"/>
              </a:cxn>
              <a:cxn ang="0">
                <a:pos x="620" y="478"/>
              </a:cxn>
              <a:cxn ang="0">
                <a:pos x="620" y="6"/>
              </a:cxn>
              <a:cxn ang="0">
                <a:pos x="617" y="0"/>
              </a:cxn>
              <a:cxn ang="0">
                <a:pos x="606" y="13"/>
              </a:cxn>
              <a:cxn ang="0">
                <a:pos x="606" y="466"/>
              </a:cxn>
              <a:cxn ang="0">
                <a:pos x="601" y="471"/>
              </a:cxn>
              <a:cxn ang="0">
                <a:pos x="11" y="471"/>
              </a:cxn>
              <a:cxn ang="0">
                <a:pos x="0" y="484"/>
              </a:cxn>
              <a:cxn ang="0">
                <a:pos x="8" y="486"/>
              </a:cxn>
            </a:cxnLst>
            <a:rect l="0" t="0" r="r" b="b"/>
            <a:pathLst>
              <a:path w="621" h="487">
                <a:moveTo>
                  <a:pt x="8" y="486"/>
                </a:moveTo>
                <a:lnTo>
                  <a:pt x="611" y="486"/>
                </a:lnTo>
                <a:lnTo>
                  <a:pt x="620" y="478"/>
                </a:lnTo>
                <a:lnTo>
                  <a:pt x="620" y="6"/>
                </a:lnTo>
                <a:lnTo>
                  <a:pt x="617" y="0"/>
                </a:lnTo>
                <a:lnTo>
                  <a:pt x="606" y="13"/>
                </a:lnTo>
                <a:lnTo>
                  <a:pt x="606" y="466"/>
                </a:lnTo>
                <a:lnTo>
                  <a:pt x="601" y="471"/>
                </a:lnTo>
                <a:lnTo>
                  <a:pt x="11" y="471"/>
                </a:lnTo>
                <a:lnTo>
                  <a:pt x="0" y="484"/>
                </a:lnTo>
                <a:lnTo>
                  <a:pt x="8" y="486"/>
                </a:lnTo>
              </a:path>
            </a:pathLst>
          </a:custGeom>
          <a:solidFill>
            <a:srgbClr val="919191"/>
          </a:solidFill>
          <a:ln w="12700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399408" name="Rectangle 48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349375" y="1873250"/>
            <a:ext cx="860425" cy="644525"/>
          </a:xfrm>
          <a:prstGeom prst="rect">
            <a:avLst/>
          </a:prstGeom>
          <a:solidFill>
            <a:srgbClr val="808080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09" name="Rectangle 49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95400" y="1819275"/>
            <a:ext cx="860425" cy="107950"/>
          </a:xfrm>
          <a:prstGeom prst="rect">
            <a:avLst/>
          </a:prstGeom>
          <a:gradFill rotWithShape="0">
            <a:gsLst>
              <a:gs pos="0">
                <a:srgbClr val="333399">
                  <a:gamma/>
                  <a:shade val="46275"/>
                  <a:invGamma/>
                </a:srgbClr>
              </a:gs>
              <a:gs pos="100000">
                <a:srgbClr val="333399"/>
              </a:gs>
            </a:gsLst>
            <a:lin ang="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10" name="Rectangle 50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295400" y="1927225"/>
            <a:ext cx="376238" cy="536575"/>
          </a:xfrm>
          <a:prstGeom prst="rect">
            <a:avLst/>
          </a:prstGeom>
          <a:gradFill rotWithShape="0">
            <a:gsLst>
              <a:gs pos="0">
                <a:schemeClr val="hlink">
                  <a:gamma/>
                  <a:tint val="20000"/>
                  <a:invGamma/>
                </a:schemeClr>
              </a:gs>
              <a:gs pos="100000">
                <a:schemeClr val="hlink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11" name="Rectangle 51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671638" y="1927225"/>
            <a:ext cx="484187" cy="5365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13" name="Rectangle 53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143000" y="1743075"/>
            <a:ext cx="1143000" cy="838200"/>
          </a:xfrm>
          <a:prstGeom prst="rect">
            <a:avLst/>
          </a:prstGeom>
          <a:solidFill>
            <a:srgbClr val="33CCCC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14" name="Rectangle 54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295400" y="1819275"/>
            <a:ext cx="860425" cy="107950"/>
          </a:xfrm>
          <a:prstGeom prst="rect">
            <a:avLst/>
          </a:prstGeom>
          <a:solidFill>
            <a:srgbClr val="33CCCC"/>
          </a:solidFill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15" name="Rectangle 55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295400" y="1927225"/>
            <a:ext cx="376238" cy="536575"/>
          </a:xfrm>
          <a:prstGeom prst="rect">
            <a:avLst/>
          </a:prstGeom>
          <a:solidFill>
            <a:srgbClr val="33CCCC"/>
          </a:solidFill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16" name="Rectangle 56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1671638" y="1927225"/>
            <a:ext cx="484187" cy="536575"/>
          </a:xfrm>
          <a:prstGeom prst="rect">
            <a:avLst/>
          </a:prstGeom>
          <a:solidFill>
            <a:srgbClr val="33CCCC"/>
          </a:solidFill>
          <a:ln w="381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aphicFrame>
        <p:nvGraphicFramePr>
          <p:cNvPr id="399466" name="Group 106"/>
          <p:cNvGraphicFramePr>
            <a:graphicFrameLocks noGrp="1"/>
          </p:cNvGraphicFramePr>
          <p:nvPr/>
        </p:nvGraphicFramePr>
        <p:xfrm>
          <a:off x="671512" y="3808413"/>
          <a:ext cx="8283801" cy="2195513"/>
        </p:xfrm>
        <a:graphic>
          <a:graphicData uri="http://schemas.openxmlformats.org/drawingml/2006/table">
            <a:tbl>
              <a:tblPr/>
              <a:tblGrid>
                <a:gridCol w="2899002"/>
                <a:gridCol w="5384799"/>
              </a:tblGrid>
              <a:tr h="21955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Suppression facultative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Blip>
                          <a:blip r:embed="rId44"/>
                        </a:buBlip>
                        <a:tabLst/>
                      </a:pPr>
                      <a:r>
                        <a:rPr kumimoji="0" lang="fr-FR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Le logiciel n'est pas supprimé d'un ordinateur et aucune mise à niveau ne </a:t>
                      </a:r>
                      <a:br>
                        <a:rPr kumimoji="0" lang="fr-FR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</a:br>
                      <a:r>
                        <a:rPr kumimoji="0" lang="fr-FR" sz="2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peut être installée</a:t>
                      </a:r>
                      <a:endParaRPr kumimoji="0" lang="en-US" sz="2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399462" name="Group 67"/>
          <p:cNvGrpSpPr>
            <a:grpSpLocks/>
          </p:cNvGrpSpPr>
          <p:nvPr>
            <p:custDataLst>
              <p:tags r:id="rId18"/>
            </p:custDataLst>
          </p:nvPr>
        </p:nvGrpSpPr>
        <p:grpSpPr bwMode="auto">
          <a:xfrm>
            <a:off x="1479550" y="5035550"/>
            <a:ext cx="1014413" cy="514350"/>
            <a:chOff x="932" y="3172"/>
            <a:chExt cx="639" cy="324"/>
          </a:xfrm>
        </p:grpSpPr>
        <p:sp>
          <p:nvSpPr>
            <p:cNvPr id="399428" name="Oval 68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932" y="3172"/>
              <a:ext cx="639" cy="274"/>
            </a:xfrm>
            <a:prstGeom prst="ellipse">
              <a:avLst/>
            </a:prstGeom>
            <a:solidFill>
              <a:srgbClr val="C0C0C0"/>
            </a:solidFill>
            <a:ln w="9525" cap="rnd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399429" name="Rectangle 69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064" y="3416"/>
              <a:ext cx="374" cy="49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9430" name="Rectangle 70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956" y="3463"/>
              <a:ext cx="590" cy="33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99431" name="AutoShape 71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1169988" y="4048125"/>
            <a:ext cx="1636712" cy="1298575"/>
          </a:xfrm>
          <a:prstGeom prst="roundRect">
            <a:avLst>
              <a:gd name="adj" fmla="val 3833"/>
            </a:avLst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32" name="Rectangle 72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1333500" y="4211638"/>
            <a:ext cx="1314450" cy="963612"/>
          </a:xfrm>
          <a:prstGeom prst="rect">
            <a:avLst/>
          </a:prstGeom>
          <a:solidFill>
            <a:srgbClr val="33CCCC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33" name="Freeform 73"/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1333500" y="4214813"/>
            <a:ext cx="1317625" cy="969962"/>
          </a:xfrm>
          <a:custGeom>
            <a:avLst/>
            <a:gdLst/>
            <a:ahLst/>
            <a:cxnLst>
              <a:cxn ang="0">
                <a:pos x="522" y="0"/>
              </a:cxn>
              <a:cxn ang="0">
                <a:pos x="522" y="382"/>
              </a:cxn>
              <a:cxn ang="0">
                <a:pos x="0" y="382"/>
              </a:cxn>
            </a:cxnLst>
            <a:rect l="0" t="0" r="r" b="b"/>
            <a:pathLst>
              <a:path w="523" h="383">
                <a:moveTo>
                  <a:pt x="522" y="0"/>
                </a:moveTo>
                <a:lnTo>
                  <a:pt x="522" y="382"/>
                </a:lnTo>
                <a:lnTo>
                  <a:pt x="0" y="382"/>
                </a:lnTo>
              </a:path>
            </a:pathLst>
          </a:custGeom>
          <a:noFill/>
          <a:ln w="12700" cap="rnd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399434" name="Freeform 74"/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1333500" y="4210050"/>
            <a:ext cx="1312863" cy="974725"/>
          </a:xfrm>
          <a:custGeom>
            <a:avLst/>
            <a:gdLst/>
            <a:ahLst/>
            <a:cxnLst>
              <a:cxn ang="0">
                <a:pos x="0" y="384"/>
              </a:cxn>
              <a:cxn ang="0">
                <a:pos x="0" y="0"/>
              </a:cxn>
              <a:cxn ang="0">
                <a:pos x="520" y="0"/>
              </a:cxn>
              <a:cxn ang="0">
                <a:pos x="520" y="0"/>
              </a:cxn>
            </a:cxnLst>
            <a:rect l="0" t="0" r="r" b="b"/>
            <a:pathLst>
              <a:path w="521" h="385">
                <a:moveTo>
                  <a:pt x="0" y="384"/>
                </a:moveTo>
                <a:lnTo>
                  <a:pt x="0" y="0"/>
                </a:lnTo>
                <a:lnTo>
                  <a:pt x="520" y="0"/>
                </a:lnTo>
                <a:lnTo>
                  <a:pt x="520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399436" name="Freeform 76"/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1190625" y="4062413"/>
            <a:ext cx="1598613" cy="1265237"/>
          </a:xfrm>
          <a:custGeom>
            <a:avLst/>
            <a:gdLst/>
            <a:ahLst/>
            <a:cxnLst>
              <a:cxn ang="0">
                <a:pos x="611" y="0"/>
              </a:cxn>
              <a:cxn ang="0">
                <a:pos x="9" y="0"/>
              </a:cxn>
              <a:cxn ang="0">
                <a:pos x="0" y="8"/>
              </a:cxn>
              <a:cxn ang="0">
                <a:pos x="0" y="480"/>
              </a:cxn>
              <a:cxn ang="0">
                <a:pos x="2" y="485"/>
              </a:cxn>
              <a:cxn ang="0">
                <a:pos x="14" y="472"/>
              </a:cxn>
              <a:cxn ang="0">
                <a:pos x="14" y="20"/>
              </a:cxn>
              <a:cxn ang="0">
                <a:pos x="19" y="15"/>
              </a:cxn>
              <a:cxn ang="0">
                <a:pos x="609" y="15"/>
              </a:cxn>
              <a:cxn ang="0">
                <a:pos x="620" y="1"/>
              </a:cxn>
              <a:cxn ang="0">
                <a:pos x="611" y="0"/>
              </a:cxn>
            </a:cxnLst>
            <a:rect l="0" t="0" r="r" b="b"/>
            <a:pathLst>
              <a:path w="621" h="486">
                <a:moveTo>
                  <a:pt x="611" y="0"/>
                </a:moveTo>
                <a:lnTo>
                  <a:pt x="9" y="0"/>
                </a:lnTo>
                <a:lnTo>
                  <a:pt x="0" y="8"/>
                </a:lnTo>
                <a:lnTo>
                  <a:pt x="0" y="480"/>
                </a:lnTo>
                <a:lnTo>
                  <a:pt x="2" y="485"/>
                </a:lnTo>
                <a:lnTo>
                  <a:pt x="14" y="472"/>
                </a:lnTo>
                <a:lnTo>
                  <a:pt x="14" y="20"/>
                </a:lnTo>
                <a:lnTo>
                  <a:pt x="19" y="15"/>
                </a:lnTo>
                <a:lnTo>
                  <a:pt x="609" y="15"/>
                </a:lnTo>
                <a:lnTo>
                  <a:pt x="620" y="1"/>
                </a:lnTo>
                <a:lnTo>
                  <a:pt x="611" y="0"/>
                </a:lnTo>
              </a:path>
            </a:pathLst>
          </a:custGeom>
          <a:solidFill>
            <a:schemeClr val="bg1"/>
          </a:solidFill>
          <a:ln w="12700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399437" name="Freeform 77"/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1193800" y="4064000"/>
            <a:ext cx="1597025" cy="1268413"/>
          </a:xfrm>
          <a:custGeom>
            <a:avLst/>
            <a:gdLst/>
            <a:ahLst/>
            <a:cxnLst>
              <a:cxn ang="0">
                <a:pos x="8" y="486"/>
              </a:cxn>
              <a:cxn ang="0">
                <a:pos x="611" y="486"/>
              </a:cxn>
              <a:cxn ang="0">
                <a:pos x="620" y="478"/>
              </a:cxn>
              <a:cxn ang="0">
                <a:pos x="620" y="6"/>
              </a:cxn>
              <a:cxn ang="0">
                <a:pos x="617" y="0"/>
              </a:cxn>
              <a:cxn ang="0">
                <a:pos x="606" y="13"/>
              </a:cxn>
              <a:cxn ang="0">
                <a:pos x="606" y="466"/>
              </a:cxn>
              <a:cxn ang="0">
                <a:pos x="601" y="471"/>
              </a:cxn>
              <a:cxn ang="0">
                <a:pos x="11" y="471"/>
              </a:cxn>
              <a:cxn ang="0">
                <a:pos x="0" y="484"/>
              </a:cxn>
              <a:cxn ang="0">
                <a:pos x="8" y="486"/>
              </a:cxn>
            </a:cxnLst>
            <a:rect l="0" t="0" r="r" b="b"/>
            <a:pathLst>
              <a:path w="621" h="487">
                <a:moveTo>
                  <a:pt x="8" y="486"/>
                </a:moveTo>
                <a:lnTo>
                  <a:pt x="611" y="486"/>
                </a:lnTo>
                <a:lnTo>
                  <a:pt x="620" y="478"/>
                </a:lnTo>
                <a:lnTo>
                  <a:pt x="620" y="6"/>
                </a:lnTo>
                <a:lnTo>
                  <a:pt x="617" y="0"/>
                </a:lnTo>
                <a:lnTo>
                  <a:pt x="606" y="13"/>
                </a:lnTo>
                <a:lnTo>
                  <a:pt x="606" y="466"/>
                </a:lnTo>
                <a:lnTo>
                  <a:pt x="601" y="471"/>
                </a:lnTo>
                <a:lnTo>
                  <a:pt x="11" y="471"/>
                </a:lnTo>
                <a:lnTo>
                  <a:pt x="0" y="484"/>
                </a:lnTo>
                <a:lnTo>
                  <a:pt x="8" y="486"/>
                </a:lnTo>
              </a:path>
            </a:pathLst>
          </a:custGeom>
          <a:solidFill>
            <a:srgbClr val="919191"/>
          </a:solidFill>
          <a:ln w="12700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399439" name="Rectangle 79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1604963" y="4406900"/>
            <a:ext cx="860425" cy="644525"/>
          </a:xfrm>
          <a:prstGeom prst="rect">
            <a:avLst/>
          </a:prstGeom>
          <a:solidFill>
            <a:srgbClr val="808080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40" name="Rectangle 80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1550988" y="4352925"/>
            <a:ext cx="860425" cy="107950"/>
          </a:xfrm>
          <a:prstGeom prst="rect">
            <a:avLst/>
          </a:prstGeom>
          <a:gradFill rotWithShape="0">
            <a:gsLst>
              <a:gs pos="0">
                <a:srgbClr val="333399">
                  <a:gamma/>
                  <a:shade val="46275"/>
                  <a:invGamma/>
                </a:srgbClr>
              </a:gs>
              <a:gs pos="100000">
                <a:srgbClr val="333399"/>
              </a:gs>
            </a:gsLst>
            <a:lin ang="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41" name="Rectangle 81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1550988" y="4460875"/>
            <a:ext cx="376237" cy="536575"/>
          </a:xfrm>
          <a:prstGeom prst="rect">
            <a:avLst/>
          </a:prstGeom>
          <a:gradFill rotWithShape="0">
            <a:gsLst>
              <a:gs pos="0">
                <a:schemeClr val="hlink">
                  <a:gamma/>
                  <a:tint val="20000"/>
                  <a:invGamma/>
                </a:schemeClr>
              </a:gs>
              <a:gs pos="100000">
                <a:schemeClr val="hlink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42" name="Rectangle 82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1927225" y="4460875"/>
            <a:ext cx="484188" cy="5365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45" name="Rectangle 85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842963" y="4254500"/>
            <a:ext cx="860425" cy="644525"/>
          </a:xfrm>
          <a:prstGeom prst="rect">
            <a:avLst/>
          </a:prstGeom>
          <a:solidFill>
            <a:srgbClr val="808080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46" name="Rectangle 86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88988" y="4200525"/>
            <a:ext cx="860425" cy="107950"/>
          </a:xfrm>
          <a:prstGeom prst="rect">
            <a:avLst/>
          </a:prstGeom>
          <a:gradFill rotWithShape="0">
            <a:gsLst>
              <a:gs pos="0">
                <a:srgbClr val="333399">
                  <a:gamma/>
                  <a:shade val="46275"/>
                  <a:invGamma/>
                </a:srgbClr>
              </a:gs>
              <a:gs pos="100000">
                <a:srgbClr val="333399"/>
              </a:gs>
            </a:gsLst>
            <a:lin ang="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47" name="Rectangle 87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88988" y="4308475"/>
            <a:ext cx="376237" cy="536575"/>
          </a:xfrm>
          <a:prstGeom prst="rect">
            <a:avLst/>
          </a:prstGeom>
          <a:gradFill rotWithShape="0">
            <a:gsLst>
              <a:gs pos="0">
                <a:schemeClr val="hlink">
                  <a:gamma/>
                  <a:tint val="20000"/>
                  <a:invGamma/>
                </a:schemeClr>
              </a:gs>
              <a:gs pos="100000">
                <a:schemeClr val="hlink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48" name="Rectangle 88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1165225" y="4308475"/>
            <a:ext cx="484188" cy="5365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49" name="AutoShape 89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941388" y="4429125"/>
            <a:ext cx="1143000" cy="457200"/>
          </a:xfrm>
          <a:prstGeom prst="rightArrow">
            <a:avLst>
              <a:gd name="adj1" fmla="val 50000"/>
              <a:gd name="adj2" fmla="val 70833"/>
            </a:avLst>
          </a:prstGeom>
          <a:gradFill rotWithShape="0">
            <a:gsLst>
              <a:gs pos="0">
                <a:schemeClr val="accent2">
                  <a:gamma/>
                  <a:tint val="32549"/>
                  <a:invGamma/>
                </a:schemeClr>
              </a:gs>
              <a:gs pos="100000">
                <a:schemeClr val="accent2"/>
              </a:gs>
            </a:gsLst>
            <a:lin ang="0" scaled="1"/>
          </a:gra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51" name="Rectangle 91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776288" y="4200525"/>
            <a:ext cx="860425" cy="107950"/>
          </a:xfrm>
          <a:prstGeom prst="rect">
            <a:avLst/>
          </a:prstGeom>
          <a:solidFill>
            <a:schemeClr val="bg1"/>
          </a:solidFill>
          <a:ln w="38100">
            <a:solidFill>
              <a:srgbClr val="B2B2B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52" name="Rectangle 92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776288" y="4308475"/>
            <a:ext cx="376237" cy="536575"/>
          </a:xfrm>
          <a:prstGeom prst="rect">
            <a:avLst/>
          </a:prstGeom>
          <a:solidFill>
            <a:schemeClr val="bg1"/>
          </a:solidFill>
          <a:ln w="38100">
            <a:solidFill>
              <a:srgbClr val="B2B2B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53" name="Rectangle 93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1152525" y="4308475"/>
            <a:ext cx="484188" cy="536575"/>
          </a:xfrm>
          <a:prstGeom prst="rect">
            <a:avLst/>
          </a:prstGeom>
          <a:solidFill>
            <a:schemeClr val="bg1"/>
          </a:solidFill>
          <a:ln w="38100">
            <a:solidFill>
              <a:srgbClr val="B2B2B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54" name="AutoShape 94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1198563" y="4403725"/>
            <a:ext cx="873125" cy="457200"/>
          </a:xfrm>
          <a:prstGeom prst="rightArrow">
            <a:avLst>
              <a:gd name="adj1" fmla="val 50000"/>
              <a:gd name="adj2" fmla="val 71181"/>
            </a:avLst>
          </a:prstGeom>
          <a:solidFill>
            <a:schemeClr val="bg1"/>
          </a:solidFill>
          <a:ln w="12700">
            <a:solidFill>
              <a:srgbClr val="5F5F5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55" name="AutoShape 95"/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977900" y="4262438"/>
            <a:ext cx="554038" cy="554037"/>
          </a:xfrm>
          <a:custGeom>
            <a:avLst/>
            <a:gdLst>
              <a:gd name="G0" fmla="+- 2700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>
              <a:alpha val="2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99460" name="AutoShape 100"/>
          <p:cNvSpPr>
            <a:spLocks noChangeArrowheads="1"/>
          </p:cNvSpPr>
          <p:nvPr/>
        </p:nvSpPr>
        <p:spPr bwMode="auto">
          <a:xfrm>
            <a:off x="1441450" y="1866900"/>
            <a:ext cx="554038" cy="554038"/>
          </a:xfrm>
          <a:custGeom>
            <a:avLst/>
            <a:gdLst>
              <a:gd name="G0" fmla="+- 2700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000" b="1" dirty="0" smtClean="0">
                <a:solidFill>
                  <a:srgbClr val="000000"/>
                </a:solidFill>
              </a:rPr>
              <a:t>4. Résolution </a:t>
            </a:r>
            <a:r>
              <a:rPr lang="fr-FR" sz="3000" b="1" dirty="0">
                <a:solidFill>
                  <a:srgbClr val="000000"/>
                </a:solidFill>
              </a:rPr>
              <a:t>des problèmes liés au déploiement de logiciels</a:t>
            </a:r>
            <a:endParaRPr lang="en-US" sz="3000" b="1" dirty="0">
              <a:solidFill>
                <a:srgbClr val="000000"/>
              </a:solidFill>
            </a:endParaRPr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>
                <a:solidFill>
                  <a:srgbClr val="000000"/>
                </a:solidFill>
              </a:rPr>
              <a:t>Problèmes courants liés à l'utilisation de la stratégie de groupe pour déployer des logiciels</a:t>
            </a:r>
            <a:endParaRPr lang="en-US" dirty="0"/>
          </a:p>
          <a:p>
            <a:r>
              <a:rPr lang="fr-FR" dirty="0">
                <a:solidFill>
                  <a:srgbClr val="000000"/>
                </a:solidFill>
              </a:rPr>
              <a:t>Comment déterminer la cause du problème</a:t>
            </a:r>
            <a:endParaRPr lang="en-US" dirty="0"/>
          </a:p>
          <a:p>
            <a:r>
              <a:rPr lang="fr-FR" dirty="0">
                <a:solidFill>
                  <a:srgbClr val="000000"/>
                </a:solidFill>
              </a:rPr>
              <a:t>Comment résoudre les problèmes d'installation logicielle lors de l'utilisation de la stratégie de groupe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fr-FR" sz="2700" b="1" dirty="0">
                <a:solidFill>
                  <a:srgbClr val="C00000"/>
                </a:solidFill>
              </a:rPr>
              <a:t>Problèmes courants liés à l'utilisation de la stratégie de groupe pour déployer des logiciels</a:t>
            </a:r>
            <a:endParaRPr lang="en-US" sz="2700" b="1" dirty="0">
              <a:solidFill>
                <a:srgbClr val="C00000"/>
              </a:solidFill>
            </a:endParaRPr>
          </a:p>
        </p:txBody>
      </p:sp>
      <p:graphicFrame>
        <p:nvGraphicFramePr>
          <p:cNvPr id="408655" name="Group 79"/>
          <p:cNvGraphicFramePr>
            <a:graphicFrameLocks noGrp="1"/>
          </p:cNvGraphicFramePr>
          <p:nvPr/>
        </p:nvGraphicFramePr>
        <p:xfrm>
          <a:off x="174171" y="1231900"/>
          <a:ext cx="8795658" cy="5022533"/>
        </p:xfrm>
        <a:graphic>
          <a:graphicData uri="http://schemas.openxmlformats.org/drawingml/2006/table">
            <a:tbl>
              <a:tblPr/>
              <a:tblGrid>
                <a:gridCol w="3309258"/>
                <a:gridCol w="5486400"/>
              </a:tblGrid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Symptôme</a:t>
                      </a:r>
                      <a:endParaRPr kumimoji="0" lang="en-US" sz="26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Cause possible</a:t>
                      </a:r>
                      <a:endParaRPr kumimoji="0" lang="en-US" sz="26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</a:tr>
              <a:tr h="12287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Les applications n'apparaissent pas dans Ajouter ou supprimer des programmes</a:t>
                      </a:r>
                      <a:endParaRPr kumimoji="0" lang="en-US" sz="2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3"/>
                        </a:buBlip>
                        <a:tabLst/>
                      </a:pPr>
                      <a:r>
                        <a:rPr kumimoji="0" lang="fr-FR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L'application a été affectée, et non publiée</a:t>
                      </a: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3"/>
                        </a:buBlip>
                        <a:tabLst/>
                      </a:pPr>
                      <a:r>
                        <a:rPr kumimoji="0" lang="fr-FR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Aucun objet Stratégie de groupe n'a </a:t>
                      </a:r>
                      <a:br>
                        <a:rPr kumimoji="0" lang="fr-FR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</a:br>
                      <a:r>
                        <a:rPr kumimoji="0" lang="fr-FR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été appliqué</a:t>
                      </a: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303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Les applications n'apparaissent pas </a:t>
                      </a:r>
                      <a:br>
                        <a:rPr kumimoji="0" lang="fr-FR" sz="2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</a:br>
                      <a:r>
                        <a:rPr kumimoji="0" lang="fr-FR" sz="2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dans le menu Démarrer</a:t>
                      </a:r>
                      <a:endParaRPr kumimoji="0" lang="en-US" sz="2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3"/>
                        </a:buBlip>
                        <a:tabLst/>
                      </a:pPr>
                      <a:r>
                        <a:rPr kumimoji="0" lang="fr-FR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L'application a été publiée, et non affectée</a:t>
                      </a: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3"/>
                        </a:buBlip>
                        <a:tabLst/>
                      </a:pPr>
                      <a:r>
                        <a:rPr kumimoji="0" lang="fr-FR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Aucun objet Stratégie de groupe n'a </a:t>
                      </a:r>
                      <a:br>
                        <a:rPr kumimoji="0" lang="fr-FR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</a:br>
                      <a:r>
                        <a:rPr kumimoji="0" lang="fr-FR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été appliqué</a:t>
                      </a: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487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L'application apparaît, mais ne peut pas être installée</a:t>
                      </a:r>
                      <a:endParaRPr kumimoji="0" lang="en-US" sz="2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3"/>
                        </a:buBlip>
                        <a:tabLst/>
                      </a:pPr>
                      <a:r>
                        <a:rPr kumimoji="0" lang="fr-FR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Le point de distribution logicielle n'est pas accessible</a:t>
                      </a: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3"/>
                        </a:buBlip>
                        <a:tabLst/>
                      </a:pPr>
                      <a:r>
                        <a:rPr kumimoji="0" lang="fr-FR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Les applications précédemment installées empêchent toute nouvelle installation</a:t>
                      </a: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556000" y="1915886"/>
            <a:ext cx="5341257" cy="1364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3541488" y="3468913"/>
            <a:ext cx="5341257" cy="11321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3534230" y="4738913"/>
            <a:ext cx="5341257" cy="14586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Autofit/>
          </a:bodyPr>
          <a:lstStyle/>
          <a:p>
            <a:r>
              <a:rPr lang="fr-FR" sz="3000" b="1" dirty="0">
                <a:solidFill>
                  <a:srgbClr val="C00000"/>
                </a:solidFill>
              </a:rPr>
              <a:t>Comment déterminer la cause du problème</a:t>
            </a:r>
            <a:endParaRPr lang="en-US" sz="3000" b="1" dirty="0">
              <a:solidFill>
                <a:srgbClr val="C00000"/>
              </a:solidFill>
            </a:endParaRPr>
          </a:p>
        </p:txBody>
      </p:sp>
      <p:graphicFrame>
        <p:nvGraphicFramePr>
          <p:cNvPr id="409752" name="Group 152"/>
          <p:cNvGraphicFramePr>
            <a:graphicFrameLocks noGrp="1"/>
          </p:cNvGraphicFramePr>
          <p:nvPr/>
        </p:nvGraphicFramePr>
        <p:xfrm>
          <a:off x="203200" y="1225550"/>
          <a:ext cx="8766629" cy="5334953"/>
        </p:xfrm>
        <a:graphic>
          <a:graphicData uri="http://schemas.openxmlformats.org/drawingml/2006/table">
            <a:tbl>
              <a:tblPr/>
              <a:tblGrid>
                <a:gridCol w="3887903"/>
                <a:gridCol w="4878726"/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Cause</a:t>
                      </a:r>
                      <a:endParaRPr kumimoji="0" lang="en-US" sz="26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6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Méthode de test</a:t>
                      </a:r>
                      <a:endParaRPr kumimoji="0" lang="en-US" sz="26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L'application a été publiée, </a:t>
                      </a:r>
                      <a:br>
                        <a:rPr kumimoji="0" lang="fr-FR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</a:br>
                      <a:r>
                        <a:rPr kumimoji="0" lang="fr-FR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et non affectée</a:t>
                      </a:r>
                      <a:endParaRPr kumimoji="0" lang="en-US" sz="2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 rowSpan="3"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3"/>
                        </a:buBlip>
                        <a:tabLst/>
                      </a:pPr>
                      <a:r>
                        <a:rPr kumimoji="0" lang="fr-FR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Utiliser </a:t>
                      </a:r>
                      <a:r>
                        <a:rPr kumimoji="0" lang="fr-FR" sz="25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RSoP</a:t>
                      </a:r>
                      <a:r>
                        <a:rPr kumimoji="0" lang="fr-FR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pour déterminer quel objet Stratégie de groupe est appliqué</a:t>
                      </a: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L'application a été affectée, </a:t>
                      </a:r>
                      <a:br>
                        <a:rPr kumimoji="0" lang="fr-FR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</a:br>
                      <a:r>
                        <a:rPr kumimoji="0" lang="fr-FR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et non publiée</a:t>
                      </a:r>
                      <a:endParaRPr kumimoji="0" lang="en-US" sz="2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7921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Aucun objet Stratégie de groupe n'a été appliqué</a:t>
                      </a:r>
                      <a:endParaRPr kumimoji="0" lang="en-US" sz="25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8477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Le point de distribution logicielle n'est pas accessible</a:t>
                      </a:r>
                      <a:endParaRPr kumimoji="0" lang="en-US" sz="2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3"/>
                        </a:buBlip>
                        <a:tabLst/>
                      </a:pPr>
                      <a:r>
                        <a:rPr kumimoji="0" lang="fr-FR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Installer manuellement Windows Installer</a:t>
                      </a: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17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Les applications précédemment installées empêchent toute nouvelle installation</a:t>
                      </a:r>
                      <a:endParaRPr kumimoji="0" lang="en-US" sz="25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3"/>
                        </a:buBlip>
                        <a:tabLst/>
                      </a:pPr>
                      <a:r>
                        <a:rPr kumimoji="0" lang="fr-FR" sz="2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Créer le fichier journal Windows Installer</a:t>
                      </a:r>
                      <a:endParaRPr kumimoji="0" lang="en-US" sz="25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180116" y="2264229"/>
            <a:ext cx="4659085" cy="1364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4172859" y="4347031"/>
            <a:ext cx="4659085" cy="5878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4180118" y="5297716"/>
            <a:ext cx="4659085" cy="9434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Exercices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639048" cy="484472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ClrTx/>
            </a:pPr>
            <a:r>
              <a:rPr lang="fr-FR" dirty="0" smtClean="0"/>
              <a:t>Quelles sont les méthodes de déploiement d’une application à l’aide d’un GPO </a:t>
            </a:r>
            <a:r>
              <a:rPr lang="fr-FR" dirty="0" smtClean="0"/>
              <a:t>?</a:t>
            </a:r>
          </a:p>
          <a:p>
            <a:pPr marL="514350" indent="-514350">
              <a:buClrTx/>
            </a:pPr>
            <a:r>
              <a:rPr lang="fr-FR" i="1" dirty="0" smtClean="0"/>
              <a:t>Publication et Affectation</a:t>
            </a:r>
            <a:endParaRPr lang="fr-FR" dirty="0" smtClean="0"/>
          </a:p>
          <a:p>
            <a:pPr marL="514350" indent="-514350">
              <a:buClrTx/>
            </a:pPr>
            <a:r>
              <a:rPr lang="fr-FR" dirty="0" smtClean="0"/>
              <a:t>Quelle </a:t>
            </a:r>
            <a:r>
              <a:rPr lang="fr-FR" dirty="0" smtClean="0"/>
              <a:t>est la condition pour qu’une application soit déployée par le biais des stratégies de groupes </a:t>
            </a:r>
            <a:r>
              <a:rPr lang="fr-FR" dirty="0" smtClean="0"/>
              <a:t>?</a:t>
            </a:r>
          </a:p>
          <a:p>
            <a:pPr marL="514350" indent="-514350">
              <a:buClrTx/>
            </a:pPr>
            <a:r>
              <a:rPr lang="fr-FR" i="1" dirty="0" smtClean="0"/>
              <a:t>L’application doit être au format  MSI</a:t>
            </a:r>
            <a:endParaRPr lang="fr-FR" dirty="0" smtClean="0"/>
          </a:p>
          <a:p>
            <a:pPr marL="514350" indent="-514350">
              <a:buClrTx/>
            </a:pPr>
            <a:r>
              <a:rPr lang="fr-FR" dirty="0" smtClean="0"/>
              <a:t>Quel </a:t>
            </a:r>
            <a:r>
              <a:rPr lang="fr-FR" dirty="0" smtClean="0"/>
              <a:t>est le rôle de Windows Installer </a:t>
            </a:r>
            <a:r>
              <a:rPr lang="fr-FR" dirty="0" smtClean="0"/>
              <a:t>?</a:t>
            </a:r>
          </a:p>
          <a:p>
            <a:pPr marL="514350" indent="-514350">
              <a:buClrTx/>
            </a:pPr>
            <a:r>
              <a:rPr lang="fr-FR" i="1" dirty="0" smtClean="0"/>
              <a:t>Windows Installer est un service permettant de déployer et maintenir à niveau des applications. Il pourra donc installer de nouveaux composants propres à l’application sans intervention de l’utilisateur ainsi que la réparation des fichiers </a:t>
            </a:r>
            <a:r>
              <a:rPr lang="fr-FR" i="1" dirty="0" smtClean="0"/>
              <a:t>manquants</a:t>
            </a:r>
            <a:endParaRPr lang="fr-FR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639048" cy="4844723"/>
          </a:xfrm>
        </p:spPr>
        <p:txBody>
          <a:bodyPr>
            <a:normAutofit/>
          </a:bodyPr>
          <a:lstStyle/>
          <a:p>
            <a:pPr marL="514350" indent="-514350">
              <a:buClrTx/>
            </a:pPr>
            <a:r>
              <a:rPr lang="fr-FR" dirty="0" smtClean="0"/>
              <a:t>Vous </a:t>
            </a:r>
            <a:r>
              <a:rPr lang="fr-FR" dirty="0" smtClean="0"/>
              <a:t>voulez lors de la publication d’applications faire en sorte de classer les logiciels par fonction. Est-il possible de le faire </a:t>
            </a:r>
            <a:r>
              <a:rPr lang="fr-FR" dirty="0" smtClean="0"/>
              <a:t>?</a:t>
            </a:r>
          </a:p>
          <a:p>
            <a:pPr marL="514350" indent="-514350">
              <a:buClrTx/>
            </a:pPr>
            <a:r>
              <a:rPr lang="fr-FR" i="1" dirty="0" smtClean="0"/>
              <a:t>Oui, en créant des catégories, puis en organisant les applications par catégories</a:t>
            </a:r>
            <a:endParaRPr lang="fr-FR" dirty="0" smtClean="0"/>
          </a:p>
          <a:p>
            <a:pPr marL="514350" indent="-514350">
              <a:buClrTx/>
            </a:pPr>
            <a:r>
              <a:rPr lang="fr-FR" dirty="0" smtClean="0"/>
              <a:t>Comment les utilisateurs peuvent-ils consulter les applications publiées </a:t>
            </a:r>
            <a:r>
              <a:rPr lang="fr-FR" dirty="0" smtClean="0"/>
              <a:t>?</a:t>
            </a:r>
          </a:p>
          <a:p>
            <a:pPr marL="514350" indent="-514350">
              <a:buClrTx/>
            </a:pPr>
            <a:r>
              <a:rPr lang="fr-FR" i="1" dirty="0" smtClean="0"/>
              <a:t>Par le Panneau de configuration/ Ajout et suppression de programmes/Ajouter de nouveaux </a:t>
            </a:r>
            <a:r>
              <a:rPr lang="fr-FR" i="1" dirty="0" smtClean="0"/>
              <a:t>programmes</a:t>
            </a:r>
            <a:endParaRPr lang="fr-FR" dirty="0" smtClean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54152" y="3810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3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Exercices</a:t>
            </a:r>
            <a:endParaRPr kumimoji="0" lang="fr-FR" sz="33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14350" indent="-514350">
              <a:buClrTx/>
            </a:pPr>
            <a:r>
              <a:rPr lang="fr-FR" dirty="0" smtClean="0"/>
              <a:t>Comment les utilisateurs peuvent-ils consulter les applications affectées </a:t>
            </a:r>
            <a:r>
              <a:rPr lang="fr-FR" dirty="0" smtClean="0"/>
              <a:t>?</a:t>
            </a:r>
          </a:p>
          <a:p>
            <a:pPr marL="514350" indent="-514350">
              <a:buClrTx/>
            </a:pPr>
            <a:r>
              <a:rPr lang="fr-FR" i="1" dirty="0" smtClean="0"/>
              <a:t>Par le menu Démarrer ou les raccourcis sur le bureau de l’utilisateur</a:t>
            </a:r>
            <a:endParaRPr lang="fr-FR" dirty="0" smtClean="0"/>
          </a:p>
          <a:p>
            <a:pPr marL="514350" indent="-514350">
              <a:buClrTx/>
            </a:pPr>
            <a:r>
              <a:rPr lang="fr-FR" dirty="0" smtClean="0"/>
              <a:t>Vous </a:t>
            </a:r>
            <a:r>
              <a:rPr lang="fr-FR" dirty="0" smtClean="0"/>
              <a:t>souhaitez mettre à jour une application qui a été publiée à des utilisateurs. Comment allez-vous faire ?</a:t>
            </a:r>
          </a:p>
          <a:p>
            <a:pPr marL="514350" indent="-514350">
              <a:buClrTx/>
            </a:pPr>
            <a:r>
              <a:rPr lang="fr-FR" dirty="0" smtClean="0"/>
              <a:t>Pourquoi utilisez-vous des catégories de logiciels </a:t>
            </a:r>
            <a:r>
              <a:rPr lang="fr-FR" dirty="0" smtClean="0"/>
              <a:t>?</a:t>
            </a:r>
          </a:p>
          <a:p>
            <a:pPr marL="514350" indent="-514350">
              <a:buClrTx/>
            </a:pPr>
            <a:r>
              <a:rPr lang="fr-FR" i="1" dirty="0" smtClean="0"/>
              <a:t>Pour organiser les logiciels affectés et publiés en groupe logique</a:t>
            </a:r>
            <a:endParaRPr lang="fr-FR" dirty="0" smtClean="0"/>
          </a:p>
          <a:p>
            <a:endParaRPr lang="fr-FR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Exercices</a:t>
            </a:r>
            <a:endParaRPr lang="fr-FR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14350" indent="-514350">
              <a:buClrTx/>
            </a:pPr>
            <a:r>
              <a:rPr lang="fr-FR" dirty="0" smtClean="0"/>
              <a:t>Votre </a:t>
            </a:r>
            <a:r>
              <a:rPr lang="fr-FR" dirty="0" smtClean="0"/>
              <a:t>entreprise veut installer une nouvelle version d’un logiciel, en premier temps, sur quelques ordinateurs. En voulant garder l’ancienne version installée sur un ensemble d’ordinateurs, comment faire </a:t>
            </a:r>
            <a:r>
              <a:rPr lang="fr-FR" dirty="0" smtClean="0"/>
              <a:t>?</a:t>
            </a:r>
          </a:p>
          <a:p>
            <a:pPr marL="514350" indent="-514350">
              <a:buClrTx/>
            </a:pPr>
            <a:r>
              <a:rPr lang="fr-FR" i="1" dirty="0" smtClean="0"/>
              <a:t>Ajuster la priorité de l’extension pour chaque groupe d’ordinateurs de sorte que la version préférée est installée lorsqu’un utilisateur active le document.</a:t>
            </a:r>
            <a:endParaRPr lang="fr-FR" dirty="0" smtClean="0"/>
          </a:p>
          <a:p>
            <a:pPr marL="514350" lvl="0" indent="-514350">
              <a:buClrTx/>
              <a:buFont typeface="+mj-lt"/>
              <a:buAutoNum type="arabicPeriod" startAt="6"/>
            </a:pPr>
            <a:endParaRPr lang="fr-FR" dirty="0" smtClean="0"/>
          </a:p>
          <a:p>
            <a:endParaRPr lang="fr-FR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Exercices</a:t>
            </a:r>
            <a:endParaRPr lang="fr-FR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  <p:tag name="PPWINTOTALSEGMENTS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  <p:tag name="PPWINTOTALSEGMENTS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5,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5,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5,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5,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5"/>
  <p:tag name="PPWINTOTALSEGMENTS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  <p:tag name="PPWINTOTALSEGMENTS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TOTALSEGMENTS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  <p:tag name="PPWINTOTALSEGMENTS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TOTALSEGMENTS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TOTALSEGMENTS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TOTALSEGMENTS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9,13,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9,13,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9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1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10,1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10,14,15,19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10,14,15,19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10,14,1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,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,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6,11,1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6,11,16,2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6,11,16,20"/>
  <p:tag name="PPWINTOTALSEGMENTS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6,11,1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3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,25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,25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,25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,25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,25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,25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,25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,2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,25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,25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,2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7,12,17,21,24,2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,1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8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8,1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8,1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8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8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8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9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9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9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9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9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9,1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9,1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1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1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6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6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6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6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6,7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8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8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8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8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8,9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,3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,16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,16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,16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,16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"/>
  <p:tag name="PPWINTOTALSEGMENTS" val="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,17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,17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15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15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6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6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6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6"/>
  <p:tag name="PPWINTOTALSEGMENTS" val="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7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7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8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8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8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8"/>
  <p:tag name="PPWINTOTALSEGMENTS" val="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14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14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3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3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3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3"/>
  <p:tag name="PPWINTOTALSEGMENTS" val="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4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4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4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4"/>
  <p:tag name="PPWINTOTALSEGMENTS" val="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12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1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13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13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13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13"/>
  <p:tag name="PPWINTOTALSEGMENTS" val="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  <p:tag name="PPWINTOTALSEGMENTS" val="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  <p:tag name="PPWINTOTALSEGMENTS" val="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,9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,9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,9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,8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,8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  <p:tag name="PPWINTOTALSEGMENTS" val="0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6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6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6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6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5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5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3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3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,3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1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12"/>
  <p:tag name="PPWINTOTALSEGMENTS" val="0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1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8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8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8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9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9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9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9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9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9,10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9,10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1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1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1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1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6,12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6,12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6,12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6,12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6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7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7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7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9,13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9,13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,9,13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5621</TotalTime>
  <Words>880</Words>
  <Application>Microsoft PowerPoint</Application>
  <PresentationFormat>Affichage à l'écran (4:3)</PresentationFormat>
  <Paragraphs>199</Paragraphs>
  <Slides>20</Slides>
  <Notes>16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7" baseType="lpstr">
      <vt:lpstr>Arial</vt:lpstr>
      <vt:lpstr>Georgia</vt:lpstr>
      <vt:lpstr>Arial Narrow</vt:lpstr>
      <vt:lpstr>Wingdings 2</vt:lpstr>
      <vt:lpstr>Wingdings</vt:lpstr>
      <vt:lpstr>Civil</vt:lpstr>
      <vt:lpstr>Imagem de bitmap</vt:lpstr>
      <vt:lpstr>Chapitre 6   Déploiement et gestion des logiciels à l'aide d'une stratégie de groupe</vt:lpstr>
      <vt:lpstr>Plan du cours</vt:lpstr>
      <vt:lpstr>1. Présentation de la gestion du déploiement de logiciels</vt:lpstr>
      <vt:lpstr>2. Présentation de Windows Installer</vt:lpstr>
      <vt:lpstr>3. Déploiement de logiciels</vt:lpstr>
      <vt:lpstr>Présentation du processus de déploiement de logiciels</vt:lpstr>
      <vt:lpstr>Affectation de logiciels et publication de logiciels</vt:lpstr>
      <vt:lpstr>Définition des catégories de logiciels</vt:lpstr>
      <vt:lpstr>Définition de l'association de logiciels </vt:lpstr>
      <vt:lpstr>Définition de la modification de logiciels</vt:lpstr>
      <vt:lpstr>Types de mises à niveau de logiciels</vt:lpstr>
      <vt:lpstr>Fonctionnement du redéploiement de logiciels</vt:lpstr>
      <vt:lpstr>Méthodes de suppression de logiciels déployés</vt:lpstr>
      <vt:lpstr>4. Résolution des problèmes liés au déploiement de logiciels</vt:lpstr>
      <vt:lpstr>Problèmes courants liés à l'utilisation de la stratégie de groupe pour déployer des logiciels</vt:lpstr>
      <vt:lpstr>Comment déterminer la cause du problème</vt:lpstr>
      <vt:lpstr>Exercices</vt:lpstr>
      <vt:lpstr>Diapositive 18</vt:lpstr>
      <vt:lpstr>Exercices</vt:lpstr>
      <vt:lpstr>Exercices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#: Module Title</dc:title>
  <dc:creator>Annie Chowdhry</dc:creator>
  <cp:lastModifiedBy>Halima</cp:lastModifiedBy>
  <cp:revision>566</cp:revision>
  <dcterms:created xsi:type="dcterms:W3CDTF">2002-08-07T17:51:12Z</dcterms:created>
  <dcterms:modified xsi:type="dcterms:W3CDTF">2015-03-09T10:20:50Z</dcterms:modified>
</cp:coreProperties>
</file>