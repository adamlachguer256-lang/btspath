
<file path=[Content_Types].xml><?xml version="1.0" encoding="utf-8"?>
<Types xmlns="http://schemas.openxmlformats.org/package/2006/content-types">
  <Override PartName="/ppt/tags/tag8.xml" ContentType="application/vnd.openxmlformats-officedocument.presentationml.tags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6.xml" ContentType="application/vnd.openxmlformats-officedocument.presentationml.slideLayout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tags/tag49.xml" ContentType="application/vnd.openxmlformats-officedocument.presentationml.tags+xml"/>
  <Default Extension="xml" ContentType="application/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Default Extension="fntdata" ContentType="application/x-fontdata"/>
  <Override PartName="/ppt/tags/tag38.xml" ContentType="application/vnd.openxmlformats-officedocument.presentationml.tags+xml"/>
  <Override PartName="/ppt/tags/tag56.xml" ContentType="application/vnd.openxmlformats-officedocument.presentationml.tags+xml"/>
  <Override PartName="/ppt/notesSlides/notesSlide16.xml" ContentType="application/vnd.openxmlformats-officedocument.presentationml.notesSlide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tags/tag16.xml" ContentType="application/vnd.openxmlformats-officedocument.presentationml.tags+xml"/>
  <Override PartName="/ppt/tags/tag27.xml" ContentType="application/vnd.openxmlformats-officedocument.presentationml.tags+xml"/>
  <Override PartName="/ppt/tags/tag45.xml" ContentType="application/vnd.openxmlformats-officedocument.presentationml.tags+xml"/>
  <Override PartName="/ppt/tags/tag63.xml" ContentType="application/vnd.openxmlformats-officedocument.presentationml.tags+xml"/>
  <Override PartName="/ppt/tags/tag34.xml" ContentType="application/vnd.openxmlformats-officedocument.presentationml.tags+xml"/>
  <Override PartName="/ppt/notesSlides/notesSlide12.xml" ContentType="application/vnd.openxmlformats-officedocument.presentationml.notesSlide+xml"/>
  <Override PartName="/ppt/tags/tag52.xml" ContentType="application/vnd.openxmlformats-officedocument.presentationml.tags+xml"/>
  <Override PartName="/ppt/tags/tag12.xml" ContentType="application/vnd.openxmlformats-officedocument.presentationml.tags+xml"/>
  <Override PartName="/ppt/tags/tag23.xml" ContentType="application/vnd.openxmlformats-officedocument.presentationml.tags+xml"/>
  <Override PartName="/ppt/tags/tag32.xml" ContentType="application/vnd.openxmlformats-officedocument.presentationml.tags+xml"/>
  <Override PartName="/ppt/notesSlides/notesSlide7.xml" ContentType="application/vnd.openxmlformats-officedocument.presentationml.notesSlide+xml"/>
  <Override PartName="/ppt/tags/tag41.xml" ContentType="application/vnd.openxmlformats-officedocument.presentationml.tags+xml"/>
  <Override PartName="/ppt/notesSlides/notesSlide10.xml" ContentType="application/vnd.openxmlformats-officedocument.presentationml.notesSlide+xml"/>
  <Override PartName="/ppt/tags/tag50.xml" ContentType="application/vnd.openxmlformats-officedocument.presentationml.tags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21.xml" ContentType="application/vnd.openxmlformats-officedocument.presentationml.tags+xml"/>
  <Override PartName="/ppt/tags/tag30.xml" ContentType="application/vnd.openxmlformats-officedocument.presentationml.tags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tags/tag7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ags/tag5.xml" ContentType="application/vnd.openxmlformats-officedocument.presentationml.tags+xml"/>
  <Override PartName="/ppt/slides/slide1.xml" ContentType="application/vnd.openxmlformats-officedocument.presentationml.slide+xml"/>
  <Override PartName="/ppt/slides/slide15.xml" ContentType="application/vnd.openxmlformats-officedocument.presentationml.slide+xml"/>
  <Default Extension="jpeg" ContentType="image/jpeg"/>
  <Override PartName="/ppt/slideLayouts/slideLayout3.xml" ContentType="application/vnd.openxmlformats-officedocument.presentationml.slideLayout+xml"/>
  <Override PartName="/ppt/tags/tag3.xml" ContentType="application/vnd.openxmlformats-officedocument.presentationml.tags+xml"/>
  <Override PartName="/ppt/tags/tag39.xml" ContentType="application/vnd.openxmlformats-officedocument.presentationml.tags+xml"/>
  <Override PartName="/ppt/tags/tag59.xml" ContentType="application/vnd.openxmlformats-officedocument.presentationml.tags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ppt/tags/tag1.xml" ContentType="application/vnd.openxmlformats-officedocument.presentationml.tags+xml"/>
  <Override PartName="/ppt/tags/tag19.xml" ContentType="application/vnd.openxmlformats-officedocument.presentationml.tags+xml"/>
  <Override PartName="/ppt/tags/tag28.xml" ContentType="application/vnd.openxmlformats-officedocument.presentationml.tags+xml"/>
  <Override PartName="/ppt/tags/tag37.xml" ContentType="application/vnd.openxmlformats-officedocument.presentationml.tags+xml"/>
  <Override PartName="/ppt/tags/tag48.xml" ContentType="application/vnd.openxmlformats-officedocument.presentationml.tags+xml"/>
  <Override PartName="/ppt/tags/tag57.xml" ContentType="application/vnd.openxmlformats-officedocument.presentationml.tags+xml"/>
  <Override PartName="/ppt/notesSlides/notesSlide15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tags/tag17.xml" ContentType="application/vnd.openxmlformats-officedocument.presentationml.tags+xml"/>
  <Override PartName="/ppt/tags/tag26.xml" ContentType="application/vnd.openxmlformats-officedocument.presentationml.tags+xml"/>
  <Override PartName="/ppt/tags/tag35.xml" ContentType="application/vnd.openxmlformats-officedocument.presentationml.tags+xml"/>
  <Override PartName="/ppt/tags/tag46.xml" ContentType="application/vnd.openxmlformats-officedocument.presentationml.tags+xml"/>
  <Override PartName="/ppt/tags/tag55.xml" ContentType="application/vnd.openxmlformats-officedocument.presentationml.tags+xml"/>
  <Override PartName="/ppt/notesSlides/notesSlide13.xml" ContentType="application/vnd.openxmlformats-officedocument.presentationml.notesSlide+xml"/>
  <Override PartName="/ppt/tags/tag64.xml" ContentType="application/vnd.openxmlformats-officedocument.presentationml.tags+xml"/>
  <Override PartName="/ppt/slideLayouts/slideLayout10.xml" ContentType="application/vnd.openxmlformats-officedocument.presentationml.slideLayout+xml"/>
  <Override PartName="/ppt/tags/tag15.xml" ContentType="application/vnd.openxmlformats-officedocument.presentationml.tags+xml"/>
  <Override PartName="/ppt/tags/tag24.xml" ContentType="application/vnd.openxmlformats-officedocument.presentationml.tags+xml"/>
  <Override PartName="/ppt/tags/tag33.xml" ContentType="application/vnd.openxmlformats-officedocument.presentationml.tags+xml"/>
  <Override PartName="/ppt/notesSlides/notesSlide8.xml" ContentType="application/vnd.openxmlformats-officedocument.presentationml.notesSlide+xml"/>
  <Override PartName="/ppt/tags/tag44.xml" ContentType="application/vnd.openxmlformats-officedocument.presentationml.tags+xml"/>
  <Override PartName="/ppt/notesSlides/notesSlide11.xml" ContentType="application/vnd.openxmlformats-officedocument.presentationml.notesSlide+xml"/>
  <Override PartName="/ppt/tags/tag53.xml" ContentType="application/vnd.openxmlformats-officedocument.presentationml.tags+xml"/>
  <Override PartName="/ppt/tags/tag62.xml" ContentType="application/vnd.openxmlformats-officedocument.presentationml.tags+xml"/>
  <Override PartName="/ppt/tags/tag13.xml" ContentType="application/vnd.openxmlformats-officedocument.presentationml.tags+xml"/>
  <Override PartName="/ppt/tags/tag22.xml" ContentType="application/vnd.openxmlformats-officedocument.presentationml.tags+xml"/>
  <Override PartName="/ppt/tags/tag31.xml" ContentType="application/vnd.openxmlformats-officedocument.presentationml.tags+xml"/>
  <Override PartName="/ppt/notesSlides/notesSlide6.xml" ContentType="application/vnd.openxmlformats-officedocument.presentationml.notesSlide+xml"/>
  <Override PartName="/ppt/tags/tag40.xml" ContentType="application/vnd.openxmlformats-officedocument.presentationml.tags+xml"/>
  <Override PartName="/ppt/tags/tag42.xml" ContentType="application/vnd.openxmlformats-officedocument.presentationml.tags+xml"/>
  <Override PartName="/ppt/tags/tag51.xml" ContentType="application/vnd.openxmlformats-officedocument.presentationml.tags+xml"/>
  <Override PartName="/ppt/tags/tag60.xml" ContentType="application/vnd.openxmlformats-officedocument.presentationml.tags+xml"/>
  <Override PartName="/ppt/slides/slide8.xml" ContentType="application/vnd.openxmlformats-officedocument.presentationml.slide+xml"/>
  <Override PartName="/ppt/handoutMasters/handoutMaster1.xml" ContentType="application/vnd.openxmlformats-officedocument.presentationml.handoutMaster+xml"/>
  <Override PartName="/ppt/tags/tag11.xml" ContentType="application/vnd.openxmlformats-officedocument.presentationml.tags+xml"/>
  <Override PartName="/ppt/tags/tag20.xml" ContentType="application/vnd.openxmlformats-officedocument.presentationml.tags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tags/tag6.xml" ContentType="application/vnd.openxmlformats-officedocument.presentationml.tags+xml"/>
  <Override PartName="/ppt/slideMasters/slideMaster1.xml" ContentType="application/vnd.openxmlformats-officedocument.presentationml.slideMaster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ags/tag2.xml" ContentType="application/vnd.openxmlformats-officedocument.presentationml.tags+xml"/>
  <Override PartName="/ppt/tags/tag58.xml" ContentType="application/vnd.openxmlformats-officedocument.presentationml.tags+xml"/>
  <Default Extension="rels" ContentType="application/vnd.openxmlformats-package.relationships+xml"/>
  <Override PartName="/ppt/tags/tag29.xml" ContentType="application/vnd.openxmlformats-officedocument.presentationml.tags+xml"/>
  <Override PartName="/ppt/tags/tag47.xml" ContentType="application/vnd.openxmlformats-officedocument.presentationml.tags+xml"/>
  <Override PartName="/ppt/slides/slide12.xml" ContentType="application/vnd.openxmlformats-officedocument.presentationml.slide+xml"/>
  <Override PartName="/ppt/slideLayouts/slideLayout11.xml" ContentType="application/vnd.openxmlformats-officedocument.presentationml.slideLayout+xml"/>
  <Override PartName="/ppt/tags/tag18.xml" ContentType="application/vnd.openxmlformats-officedocument.presentationml.tags+xml"/>
  <Override PartName="/ppt/tags/tag36.xml" ContentType="application/vnd.openxmlformats-officedocument.presentationml.tags+xml"/>
  <Override PartName="/ppt/tags/tag54.xml" ContentType="application/vnd.openxmlformats-officedocument.presentationml.tags+xml"/>
  <Override PartName="/ppt/notesSlides/notesSlide14.xml" ContentType="application/vnd.openxmlformats-officedocument.presentationml.notesSlide+xml"/>
  <Override PartName="/ppt/tags/tag65.xml" ContentType="application/vnd.openxmlformats-officedocument.presentationml.tags+xml"/>
  <Override PartName="/ppt/commentAuthors.xml" ContentType="application/vnd.openxmlformats-officedocument.presentationml.commentAuthors+xml"/>
  <Override PartName="/ppt/tags/tag14.xml" ContentType="application/vnd.openxmlformats-officedocument.presentationml.tags+xml"/>
  <Override PartName="/ppt/tags/tag25.xml" ContentType="application/vnd.openxmlformats-officedocument.presentationml.tags+xml"/>
  <Override PartName="/ppt/tags/tag43.xml" ContentType="application/vnd.openxmlformats-officedocument.presentationml.tags+xml"/>
  <Override PartName="/ppt/notesSlides/notesSlide9.xml" ContentType="application/vnd.openxmlformats-officedocument.presentationml.notesSlide+xml"/>
  <Override PartName="/ppt/tags/tag61.xml" ContentType="application/vnd.openxmlformats-officedocument.presentationml.tag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61" r:id="rId1"/>
  </p:sldMasterIdLst>
  <p:notesMasterIdLst>
    <p:notesMasterId r:id="rId21"/>
  </p:notesMasterIdLst>
  <p:handoutMasterIdLst>
    <p:handoutMasterId r:id="rId22"/>
  </p:handoutMasterIdLst>
  <p:sldIdLst>
    <p:sldId id="256" r:id="rId2"/>
    <p:sldId id="257" r:id="rId3"/>
    <p:sldId id="312" r:id="rId4"/>
    <p:sldId id="392" r:id="rId5"/>
    <p:sldId id="388" r:id="rId6"/>
    <p:sldId id="389" r:id="rId7"/>
    <p:sldId id="393" r:id="rId8"/>
    <p:sldId id="373" r:id="rId9"/>
    <p:sldId id="385" r:id="rId10"/>
    <p:sldId id="314" r:id="rId11"/>
    <p:sldId id="364" r:id="rId12"/>
    <p:sldId id="398" r:id="rId13"/>
    <p:sldId id="396" r:id="rId14"/>
    <p:sldId id="315" r:id="rId15"/>
    <p:sldId id="399" r:id="rId16"/>
    <p:sldId id="400" r:id="rId17"/>
    <p:sldId id="378" r:id="rId18"/>
    <p:sldId id="387" r:id="rId19"/>
    <p:sldId id="379" r:id="rId20"/>
  </p:sldIdLst>
  <p:sldSz cx="9144000" cy="6858000" type="screen4x3"/>
  <p:notesSz cx="6858000" cy="9144000"/>
  <p:embeddedFontLst>
    <p:embeddedFont>
      <p:font typeface="Georgia" pitchFamily="18" charset="0"/>
      <p:regular r:id="rId23"/>
      <p:bold r:id="rId24"/>
      <p:italic r:id="rId25"/>
      <p:boldItalic r:id="rId26"/>
    </p:embeddedFont>
    <p:embeddedFont>
      <p:font typeface="Arial Narrow" pitchFamily="34" charset="0"/>
      <p:regular r:id="rId27"/>
      <p:bold r:id="rId28"/>
      <p:italic r:id="rId29"/>
      <p:boldItalic r:id="rId30"/>
    </p:embeddedFont>
    <p:embeddedFont>
      <p:font typeface="SimSun" pitchFamily="2" charset="-122"/>
      <p:regular r:id="rId31"/>
    </p:embeddedFont>
    <p:embeddedFont>
      <p:font typeface="Wingdings 2" pitchFamily="18" charset="2"/>
      <p:regular r:id="rId32"/>
    </p:embeddedFont>
  </p:embeddedFontLst>
  <p:defaultTextStyle>
    <a:defPPr>
      <a:defRPr lang="en-US"/>
    </a:defPPr>
    <a:lvl1pPr algn="ctr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Arial Narrow" pitchFamily="34" charset="0"/>
        <a:ea typeface="+mn-ea"/>
        <a:cs typeface="+mn-cs"/>
      </a:defRPr>
    </a:lvl1pPr>
    <a:lvl2pPr marL="457200" algn="ctr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Arial Narrow" pitchFamily="34" charset="0"/>
        <a:ea typeface="+mn-ea"/>
        <a:cs typeface="+mn-cs"/>
      </a:defRPr>
    </a:lvl2pPr>
    <a:lvl3pPr marL="914400" algn="ctr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Arial Narrow" pitchFamily="34" charset="0"/>
        <a:ea typeface="+mn-ea"/>
        <a:cs typeface="+mn-cs"/>
      </a:defRPr>
    </a:lvl3pPr>
    <a:lvl4pPr marL="1371600" algn="ctr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Arial Narrow" pitchFamily="34" charset="0"/>
        <a:ea typeface="+mn-ea"/>
        <a:cs typeface="+mn-cs"/>
      </a:defRPr>
    </a:lvl4pPr>
    <a:lvl5pPr marL="1828800" algn="ctr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Arial Narrow" pitchFamily="34" charset="0"/>
        <a:ea typeface="+mn-ea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Arial Narrow" pitchFamily="34" charset="0"/>
        <a:ea typeface="+mn-ea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Arial Narrow" pitchFamily="34" charset="0"/>
        <a:ea typeface="+mn-ea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Arial Narrow" pitchFamily="34" charset="0"/>
        <a:ea typeface="+mn-ea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Arial Narrow" pitchFamily="34" charset="0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User" initials="" lastIdx="1" clrIdx="0"/>
  <p:cmAuthor id="1" name="v-stewil" initials="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webPr encoding="windows-1252"/>
  <p:clrMru>
    <a:srgbClr val="333333"/>
    <a:srgbClr val="EEEFD7"/>
    <a:srgbClr val="D5D69C"/>
    <a:srgbClr val="DFE8F2"/>
    <a:srgbClr val="BBCDE3"/>
    <a:srgbClr val="E4E4BF"/>
    <a:srgbClr val="8DACD0"/>
    <a:srgbClr val="808080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vertBarState="minimized" horzBarState="maximized">
    <p:restoredLeft sz="15620" autoAdjust="0"/>
    <p:restoredTop sz="94660" autoAdjust="0"/>
  </p:normalViewPr>
  <p:slideViewPr>
    <p:cSldViewPr snapToGrid="0">
      <p:cViewPr>
        <p:scale>
          <a:sx n="80" d="100"/>
          <a:sy n="80" d="100"/>
        </p:scale>
        <p:origin x="-756" y="35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52" d="100"/>
          <a:sy n="52" d="100"/>
        </p:scale>
        <p:origin x="-1860" y="-90"/>
      </p:cViewPr>
      <p:guideLst>
        <p:guide orient="horz" pos="2880"/>
        <p:guide pos="2160"/>
      </p:guideLst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font" Target="fonts/font10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theme" Target="../theme/theme3.xml"/><Relationship Id="rId5" Type="http://schemas.openxmlformats.org/officeDocument/2006/relationships/tags" Target="../tags/tag9.xml"/><Relationship Id="rId4" Type="http://schemas.openxmlformats.org/officeDocument/2006/relationships/tags" Target="../tags/tag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hdr" sz="quarter"/>
            <p:custDataLst>
              <p:tags r:id="rId2"/>
            </p:custDataLst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278531" name="Rectangle 3"/>
          <p:cNvSpPr>
            <a:spLocks noGrp="1" noChangeArrowheads="1"/>
          </p:cNvSpPr>
          <p:nvPr>
            <p:ph type="dt" sz="quarter" idx="1"/>
            <p:custDataLst>
              <p:tags r:id="rId3"/>
            </p:custDataLst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278532" name="Rectangle 4"/>
          <p:cNvSpPr>
            <a:spLocks noGrp="1" noChangeArrowheads="1"/>
          </p:cNvSpPr>
          <p:nvPr>
            <p:ph type="ftr" sz="quarter" idx="2"/>
            <p:custDataLst>
              <p:tags r:id="rId4"/>
            </p:custDataLst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278533" name="Rectangle 5"/>
          <p:cNvSpPr>
            <a:spLocks noGrp="1" noChangeArrowheads="1"/>
          </p:cNvSpPr>
          <p:nvPr>
            <p:ph type="sldNum" sz="quarter" idx="3"/>
            <p:custDataLst>
              <p:tags r:id="rId5"/>
            </p:custDataLst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latin typeface="Arial" charset="0"/>
              </a:defRPr>
            </a:lvl1pPr>
          </a:lstStyle>
          <a:p>
            <a:fld id="{60AF8AFF-D336-45AA-92A4-806B1A330949}" type="slidenum">
              <a:rPr lang="en-US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theme" Target="../theme/theme2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  <p:custDataLst>
              <p:tags r:id="rId2"/>
            </p:custDataLst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  <p:custDataLst>
              <p:tags r:id="rId3"/>
            </p:custDataLst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51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  <p:custDataLst>
              <p:tags r:id="rId4"/>
            </p:custDataLst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  <p:custDataLst>
              <p:tags r:id="rId5"/>
            </p:custDataLst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  <p:custDataLst>
              <p:tags r:id="rId6"/>
            </p:custDataLst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latin typeface="Arial" charset="0"/>
              </a:defRPr>
            </a:lvl1pPr>
          </a:lstStyle>
          <a:p>
            <a:fld id="{909C3915-E582-43D2-BA74-5D23BB32774C}" type="slidenum">
              <a:rPr lang="en-US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0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slide" Target="../slides/slide3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34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slide" Target="../slides/slide4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35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slide" Target="../slides/slide5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36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slide" Target="../slides/slide6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37.xm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slide" Target="../slides/slide7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38.xml"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slide" Target="../slides/slide8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41.xml"/></Relationships>
</file>

<file path=ppt/notesSlides/_rels/notesSlide9.xml.rels><?xml version="1.0" encoding="UTF-8" standalone="yes"?>
<Relationships xmlns="http://schemas.openxmlformats.org/package/2006/relationships"><Relationship Id="rId3" Type="http://schemas.openxmlformats.org/officeDocument/2006/relationships/slide" Target="../slides/slide9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44.xml"/></Relationships>
</file>

<file path=ppt/notesSlides/_rels/notesSlide10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0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45.xml"/></Relationships>
</file>

<file path=ppt/notesSlides/_rels/notesSlide11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1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46.xml"/></Relationships>
</file>

<file path=ppt/notesSlides/_rels/notesSlide12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3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47.xml"/></Relationships>
</file>

<file path=ppt/notesSlides/_rels/notesSlide13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4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62.xml"/></Relationships>
</file>

<file path=ppt/notesSlides/_rels/notesSlide14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7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63.xml"/></Relationships>
</file>

<file path=ppt/notesSlides/_rels/notesSlide15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8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64.xml"/></Relationships>
</file>

<file path=ppt/notesSlides/_rels/notesSlide16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9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6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  <p:custDataLst>
              <p:tags r:id="rId1"/>
            </p:custDataLst>
          </p:nvPr>
        </p:nvSpPr>
        <p:spPr>
          <a:ln/>
        </p:spPr>
        <p:txBody>
          <a:bodyPr/>
          <a:lstStyle/>
          <a:p>
            <a:fld id="{624CA593-A246-4F6C-A1FB-13E05E1D7DEA}" type="slidenum">
              <a:rPr lang="en-US"/>
              <a:pPr/>
              <a:t>1</a:t>
            </a:fld>
            <a:endParaRPr lang="en-US"/>
          </a:p>
        </p:txBody>
      </p:sp>
      <p:sp>
        <p:nvSpPr>
          <p:cNvPr id="5027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27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  <p:custDataLst>
              <p:tags r:id="rId1"/>
            </p:custDataLst>
          </p:nvPr>
        </p:nvSpPr>
        <p:spPr>
          <a:ln/>
        </p:spPr>
        <p:txBody>
          <a:bodyPr/>
          <a:lstStyle/>
          <a:p>
            <a:fld id="{068C8E76-1F95-42D3-9ABF-B1918A5CD245}" type="slidenum">
              <a:rPr lang="en-US"/>
              <a:pPr/>
              <a:t>2</a:t>
            </a:fld>
            <a:endParaRPr lang="en-US"/>
          </a:p>
        </p:txBody>
      </p:sp>
      <p:sp>
        <p:nvSpPr>
          <p:cNvPr id="5038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38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  <p:custDataLst>
              <p:tags r:id="rId1"/>
            </p:custDataLst>
          </p:nvPr>
        </p:nvSpPr>
        <p:spPr>
          <a:ln/>
        </p:spPr>
        <p:txBody>
          <a:bodyPr/>
          <a:lstStyle/>
          <a:p>
            <a:fld id="{B891432B-6CDC-4AB1-B67C-2A73A1E37FD7}" type="slidenum">
              <a:rPr lang="en-US"/>
              <a:pPr/>
              <a:t>3</a:t>
            </a:fld>
            <a:endParaRPr lang="en-US"/>
          </a:p>
        </p:txBody>
      </p:sp>
      <p:sp>
        <p:nvSpPr>
          <p:cNvPr id="4792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92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  <p:custDataLst>
              <p:tags r:id="rId1"/>
            </p:custDataLst>
          </p:nvPr>
        </p:nvSpPr>
        <p:spPr>
          <a:ln/>
        </p:spPr>
        <p:txBody>
          <a:bodyPr/>
          <a:lstStyle/>
          <a:p>
            <a:fld id="{068C8E76-1F95-42D3-9ABF-B1918A5CD245}" type="slidenum">
              <a:rPr lang="en-US"/>
              <a:pPr/>
              <a:t>4</a:t>
            </a:fld>
            <a:endParaRPr lang="en-US"/>
          </a:p>
        </p:txBody>
      </p:sp>
      <p:sp>
        <p:nvSpPr>
          <p:cNvPr id="5038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38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  <p:custDataLst>
              <p:tags r:id="rId1"/>
            </p:custDataLst>
          </p:nvPr>
        </p:nvSpPr>
        <p:spPr>
          <a:ln/>
        </p:spPr>
        <p:txBody>
          <a:bodyPr/>
          <a:lstStyle/>
          <a:p>
            <a:fld id="{ACF16262-F418-4EED-9F6E-C86E2281BF36}" type="slidenum">
              <a:rPr lang="en-US"/>
              <a:pPr/>
              <a:t>5</a:t>
            </a:fld>
            <a:endParaRPr lang="en-US"/>
          </a:p>
        </p:txBody>
      </p:sp>
      <p:sp>
        <p:nvSpPr>
          <p:cNvPr id="5160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6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  <p:custDataLst>
              <p:tags r:id="rId1"/>
            </p:custDataLst>
          </p:nvPr>
        </p:nvSpPr>
        <p:spPr>
          <a:ln/>
        </p:spPr>
        <p:txBody>
          <a:bodyPr/>
          <a:lstStyle/>
          <a:p>
            <a:fld id="{5652B9B9-DF5A-4AD4-808F-D0D364E27BF6}" type="slidenum">
              <a:rPr lang="en-US"/>
              <a:pPr/>
              <a:t>6</a:t>
            </a:fld>
            <a:endParaRPr lang="en-US"/>
          </a:p>
        </p:txBody>
      </p:sp>
      <p:sp>
        <p:nvSpPr>
          <p:cNvPr id="5171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7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  <p:custDataLst>
              <p:tags r:id="rId1"/>
            </p:custDataLst>
          </p:nvPr>
        </p:nvSpPr>
        <p:spPr>
          <a:ln/>
        </p:spPr>
        <p:txBody>
          <a:bodyPr/>
          <a:lstStyle/>
          <a:p>
            <a:fld id="{068C8E76-1F95-42D3-9ABF-B1918A5CD245}" type="slidenum">
              <a:rPr lang="en-US"/>
              <a:pPr/>
              <a:t>7</a:t>
            </a:fld>
            <a:endParaRPr lang="en-US"/>
          </a:p>
        </p:txBody>
      </p:sp>
      <p:sp>
        <p:nvSpPr>
          <p:cNvPr id="5038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38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  <p:custDataLst>
              <p:tags r:id="rId1"/>
            </p:custDataLst>
          </p:nvPr>
        </p:nvSpPr>
        <p:spPr>
          <a:ln/>
        </p:spPr>
        <p:txBody>
          <a:bodyPr/>
          <a:lstStyle/>
          <a:p>
            <a:fld id="{B0BC8EED-094A-40FA-BA62-1B4AEADAA2F7}" type="slidenum">
              <a:rPr lang="en-US"/>
              <a:pPr/>
              <a:t>8</a:t>
            </a:fld>
            <a:endParaRPr lang="en-US"/>
          </a:p>
        </p:txBody>
      </p:sp>
      <p:sp>
        <p:nvSpPr>
          <p:cNvPr id="5058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58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  <p:custDataLst>
              <p:tags r:id="rId1"/>
            </p:custDataLst>
          </p:nvPr>
        </p:nvSpPr>
        <p:spPr>
          <a:ln/>
        </p:spPr>
        <p:txBody>
          <a:bodyPr/>
          <a:lstStyle/>
          <a:p>
            <a:fld id="{6896FEA8-0ABA-4E5E-B4AE-21FB2570522B}" type="slidenum">
              <a:rPr lang="en-US"/>
              <a:pPr/>
              <a:t>9</a:t>
            </a:fld>
            <a:endParaRPr lang="en-US"/>
          </a:p>
        </p:txBody>
      </p:sp>
      <p:sp>
        <p:nvSpPr>
          <p:cNvPr id="5068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68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  <p:custDataLst>
              <p:tags r:id="rId1"/>
            </p:custDataLst>
          </p:nvPr>
        </p:nvSpPr>
        <p:spPr>
          <a:ln/>
        </p:spPr>
        <p:txBody>
          <a:bodyPr/>
          <a:lstStyle/>
          <a:p>
            <a:fld id="{A5DFE3FC-75F5-4A74-B22E-947C84DA6D29}" type="slidenum">
              <a:rPr lang="en-US"/>
              <a:pPr/>
              <a:t>10</a:t>
            </a:fld>
            <a:endParaRPr lang="en-US"/>
          </a:p>
        </p:txBody>
      </p:sp>
      <p:sp>
        <p:nvSpPr>
          <p:cNvPr id="5079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79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  <p:custDataLst>
              <p:tags r:id="rId1"/>
            </p:custDataLst>
          </p:nvPr>
        </p:nvSpPr>
        <p:spPr>
          <a:ln/>
        </p:spPr>
        <p:txBody>
          <a:bodyPr/>
          <a:lstStyle/>
          <a:p>
            <a:fld id="{37E6C544-09BF-422E-B74B-03167FBE0ECF}" type="slidenum">
              <a:rPr lang="en-US"/>
              <a:pPr/>
              <a:t>11</a:t>
            </a:fld>
            <a:endParaRPr lang="en-US"/>
          </a:p>
        </p:txBody>
      </p:sp>
      <p:sp>
        <p:nvSpPr>
          <p:cNvPr id="5089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89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  <p:custDataLst>
              <p:tags r:id="rId1"/>
            </p:custDataLst>
          </p:nvPr>
        </p:nvSpPr>
        <p:spPr>
          <a:ln/>
        </p:spPr>
        <p:txBody>
          <a:bodyPr/>
          <a:lstStyle/>
          <a:p>
            <a:fld id="{068C8E76-1F95-42D3-9ABF-B1918A5CD245}" type="slidenum">
              <a:rPr lang="en-US"/>
              <a:pPr/>
              <a:t>13</a:t>
            </a:fld>
            <a:endParaRPr lang="en-US"/>
          </a:p>
        </p:txBody>
      </p:sp>
      <p:sp>
        <p:nvSpPr>
          <p:cNvPr id="5038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38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  <p:custDataLst>
              <p:tags r:id="rId1"/>
            </p:custDataLst>
          </p:nvPr>
        </p:nvSpPr>
        <p:spPr>
          <a:ln/>
        </p:spPr>
        <p:txBody>
          <a:bodyPr/>
          <a:lstStyle/>
          <a:p>
            <a:fld id="{5C9573CD-D6E5-43AC-94BF-2EEA2BB77387}" type="slidenum">
              <a:rPr lang="en-US"/>
              <a:pPr/>
              <a:t>14</a:t>
            </a:fld>
            <a:endParaRPr lang="en-US"/>
          </a:p>
        </p:txBody>
      </p:sp>
      <p:sp>
        <p:nvSpPr>
          <p:cNvPr id="4802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02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  <p:custDataLst>
              <p:tags r:id="rId1"/>
            </p:custDataLst>
          </p:nvPr>
        </p:nvSpPr>
        <p:spPr>
          <a:ln/>
        </p:spPr>
        <p:txBody>
          <a:bodyPr/>
          <a:lstStyle/>
          <a:p>
            <a:fld id="{F4B4E09E-A378-4EDF-A116-FE2DBF2E7EF9}" type="slidenum">
              <a:rPr lang="en-US"/>
              <a:pPr/>
              <a:t>17</a:t>
            </a:fld>
            <a:endParaRPr lang="en-US"/>
          </a:p>
        </p:txBody>
      </p:sp>
      <p:sp>
        <p:nvSpPr>
          <p:cNvPr id="5109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09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  <p:custDataLst>
              <p:tags r:id="rId1"/>
            </p:custDataLst>
          </p:nvPr>
        </p:nvSpPr>
        <p:spPr>
          <a:ln/>
        </p:spPr>
        <p:txBody>
          <a:bodyPr/>
          <a:lstStyle/>
          <a:p>
            <a:fld id="{AA3368CA-3497-4374-8F23-AF73B566A4FF}" type="slidenum">
              <a:rPr lang="en-US"/>
              <a:pPr/>
              <a:t>18</a:t>
            </a:fld>
            <a:endParaRPr lang="en-US"/>
          </a:p>
        </p:txBody>
      </p:sp>
      <p:sp>
        <p:nvSpPr>
          <p:cNvPr id="5120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  <p:custDataLst>
              <p:tags r:id="rId1"/>
            </p:custDataLst>
          </p:nvPr>
        </p:nvSpPr>
        <p:spPr>
          <a:ln/>
        </p:spPr>
        <p:txBody>
          <a:bodyPr/>
          <a:lstStyle/>
          <a:p>
            <a:fld id="{BDB80FA8-11DB-45D1-848C-31308F6C1E64}" type="slidenum">
              <a:rPr lang="en-US"/>
              <a:pPr/>
              <a:t>19</a:t>
            </a:fld>
            <a:endParaRPr lang="en-US"/>
          </a:p>
        </p:txBody>
      </p:sp>
      <p:sp>
        <p:nvSpPr>
          <p:cNvPr id="5130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30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8991600" y="3048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25146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Sous-titre 8"/>
          <p:cNvSpPr>
            <a:spLocks noGrp="1"/>
          </p:cNvSpPr>
          <p:nvPr>
            <p:ph type="subTitle" idx="1"/>
          </p:nvPr>
        </p:nvSpPr>
        <p:spPr>
          <a:xfrm>
            <a:off x="1371600" y="2819400"/>
            <a:ext cx="6400800" cy="1752600"/>
          </a:xfrm>
        </p:spPr>
        <p:txBody>
          <a:bodyPr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fr-FR" smtClean="0"/>
              <a:t>Cliquez pour modifier le style des sous-titres du masque</a:t>
            </a:r>
            <a:endParaRPr kumimoji="0" lang="en-US"/>
          </a:p>
        </p:txBody>
      </p:sp>
      <p:sp>
        <p:nvSpPr>
          <p:cNvPr id="28" name="Espace réservé de la date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2/26/2015</a:t>
            </a:fld>
            <a:endParaRPr lang="en-US"/>
          </a:p>
        </p:txBody>
      </p:sp>
      <p:sp>
        <p:nvSpPr>
          <p:cNvPr id="17" name="Espace réservé du pied de page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Connecteur droit 6"/>
          <p:cNvSpPr>
            <a:spLocks noChangeShapeType="1"/>
          </p:cNvSpPr>
          <p:nvPr/>
        </p:nvSpPr>
        <p:spPr bwMode="auto">
          <a:xfrm>
            <a:off x="155448" y="2420112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Ellipse 12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Ellipse 13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Espace réservé du numéro de diapositive 28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2C6B1FF6-39B9-40F5-8B67-33C6354A3D4F}" type="slidenum">
              <a:rPr kumimoji="0" lang="en-US" smtClean="0"/>
              <a:pPr/>
              <a:t>‹N°›</a:t>
            </a:fld>
            <a:endParaRPr kumimoji="0" lang="en-US" dirty="0">
              <a:solidFill>
                <a:schemeClr val="accent3">
                  <a:shade val="75000"/>
                </a:schemeClr>
              </a:solidFill>
            </a:endParaRPr>
          </a:p>
        </p:txBody>
      </p:sp>
      <p:sp>
        <p:nvSpPr>
          <p:cNvPr id="8" name="Titre 7"/>
          <p:cNvSpPr>
            <a:spLocks noGrp="1"/>
          </p:cNvSpPr>
          <p:nvPr>
            <p:ph type="ctrTitle"/>
          </p:nvPr>
        </p:nvSpPr>
        <p:spPr>
          <a:xfrm>
            <a:off x="685800" y="381000"/>
            <a:ext cx="7772400" cy="1752600"/>
          </a:xfrm>
        </p:spPr>
        <p:txBody>
          <a:bodyPr anchor="b"/>
          <a:lstStyle>
            <a:lvl1pPr>
              <a:defRPr sz="4200">
                <a:solidFill>
                  <a:schemeClr val="accent1"/>
                </a:solidFill>
              </a:defRPr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2/26/2015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4361688" y="1026372"/>
            <a:ext cx="457200" cy="441325"/>
          </a:xfrm>
        </p:spPr>
        <p:txBody>
          <a:bodyPr/>
          <a:lstStyle/>
          <a:p>
            <a:fld id="{2C6B1FF6-39B9-40F5-8B67-33C6354A3D4F}" type="slidenum">
              <a:rPr kumimoji="0" lang="en-US" smtClean="0"/>
              <a:pPr/>
              <a:t>‹N°›</a:t>
            </a:fld>
            <a:endParaRPr kumimoji="0" lang="en-US" dirty="0"/>
          </a:p>
        </p:txBody>
      </p:sp>
      <p:sp>
        <p:nvSpPr>
          <p:cNvPr id="8" name="Espace réservé du contenu 7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572000"/>
          </a:xfrm>
        </p:spPr>
        <p:txBody>
          <a:bodyPr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8991600" y="1905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152400" y="2286000"/>
            <a:ext cx="8833104" cy="304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5448" y="142352"/>
            <a:ext cx="8833104" cy="2139696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368426" y="2743200"/>
            <a:ext cx="6480174" cy="1673225"/>
          </a:xfrm>
        </p:spPr>
        <p:txBody>
          <a:bodyPr anchor="t"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2/26/2015</a:t>
            </a:fld>
            <a:endParaRPr lang="en-US"/>
          </a:p>
        </p:txBody>
      </p:sp>
      <p:sp>
        <p:nvSpPr>
          <p:cNvPr id="8" name="Connecteur droit 7"/>
          <p:cNvSpPr>
            <a:spLocks noChangeShapeType="1"/>
          </p:cNvSpPr>
          <p:nvPr/>
        </p:nvSpPr>
        <p:spPr bwMode="auto">
          <a:xfrm>
            <a:off x="152400" y="2438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Ellipse 9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Ellipse 10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2C6B1FF6-39B9-40F5-8B67-33C6354A3D4F}" type="slidenum">
              <a:rPr kumimoji="0" lang="en-US" smtClean="0"/>
              <a:pPr/>
              <a:t>‹N°›</a:t>
            </a:fld>
            <a:endParaRPr kumimoji="0" lang="en-US" dirty="0">
              <a:solidFill>
                <a:schemeClr val="accent3">
                  <a:shade val="75000"/>
                </a:schemeClr>
              </a:solidFill>
            </a:endParaRPr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533400"/>
            <a:ext cx="7772400" cy="1524000"/>
          </a:xfrm>
        </p:spPr>
        <p:txBody>
          <a:bodyPr anchor="b"/>
          <a:lstStyle>
            <a:lvl1pPr algn="ctr">
              <a:buNone/>
              <a:defRPr sz="4200" b="0" cap="none" baseline="0">
                <a:solidFill>
                  <a:srgbClr val="FFFFFF"/>
                </a:solidFill>
              </a:defRPr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</p:spPr>
        <p:txBody>
          <a:bodyPr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5791200" y="6409944"/>
            <a:ext cx="3044952" cy="365760"/>
          </a:xfrm>
        </p:spPr>
        <p:txBody>
          <a:bodyPr/>
          <a:lstStyle/>
          <a:p>
            <a:fld id="{9D21D778-B565-4D7E-94D7-64010A445B68}" type="datetimeFigureOut">
              <a:rPr lang="en-US" smtClean="0"/>
              <a:pPr/>
              <a:t>2/26/2015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B1FF6-39B9-40F5-8B67-33C6354A3D4F}" type="slidenum">
              <a:rPr kumimoji="0" lang="en-US" smtClean="0"/>
              <a:pPr/>
              <a:t>‹N°›</a:t>
            </a:fld>
            <a:endParaRPr kumimoji="0" lang="en-US"/>
          </a:p>
        </p:txBody>
      </p:sp>
      <p:sp>
        <p:nvSpPr>
          <p:cNvPr id="8" name="Connecteur droit 7"/>
          <p:cNvSpPr>
            <a:spLocks noChangeShapeType="1"/>
          </p:cNvSpPr>
          <p:nvPr/>
        </p:nvSpPr>
        <p:spPr bwMode="auto">
          <a:xfrm flipV="1">
            <a:off x="4563080" y="1575652"/>
            <a:ext cx="8921" cy="4819557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Espace réservé du contenu 9"/>
          <p:cNvSpPr>
            <a:spLocks noGrp="1"/>
          </p:cNvSpPr>
          <p:nvPr>
            <p:ph sz="half" idx="1"/>
          </p:nvPr>
        </p:nvSpPr>
        <p:spPr>
          <a:xfrm>
            <a:off x="301752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12" name="Espace réservé du contenu 11"/>
          <p:cNvSpPr>
            <a:spLocks noGrp="1"/>
          </p:cNvSpPr>
          <p:nvPr>
            <p:ph sz="half" idx="2"/>
          </p:nvPr>
        </p:nvSpPr>
        <p:spPr>
          <a:xfrm>
            <a:off x="4800600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is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necteur droit 9"/>
          <p:cNvSpPr>
            <a:spLocks noChangeShapeType="1"/>
          </p:cNvSpPr>
          <p:nvPr/>
        </p:nvSpPr>
        <p:spPr bwMode="auto">
          <a:xfrm flipV="1">
            <a:off x="4572000" y="2200275"/>
            <a:ext cx="0" cy="4187952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white">
          <a:xfrm>
            <a:off x="0" y="0"/>
            <a:ext cx="9144000" cy="1447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152400" y="1371600"/>
            <a:ext cx="8833104" cy="914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45923" y="6391656"/>
            <a:ext cx="8833104" cy="310896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4040188" cy="732974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lang="en-US" sz="2200" b="1" dirty="0" smtClean="0">
                <a:solidFill>
                  <a:srgbClr val="FFFFFF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3"/>
          </p:nvPr>
        </p:nvSpPr>
        <p:spPr>
          <a:xfrm>
            <a:off x="4791330" y="1524000"/>
            <a:ext cx="4041775" cy="731520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sz="2200" b="1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2/26/2015</a:t>
            </a:fld>
            <a:endParaRPr lang="en-US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>
          <a:xfrm>
            <a:off x="304800" y="6409944"/>
            <a:ext cx="3581400" cy="365760"/>
          </a:xfrm>
        </p:spPr>
        <p:txBody>
          <a:bodyPr/>
          <a:lstStyle/>
          <a:p>
            <a:endParaRPr kumimoji="0" lang="en-US"/>
          </a:p>
        </p:txBody>
      </p:sp>
      <p:sp>
        <p:nvSpPr>
          <p:cNvPr id="15" name="Connecteur droit 14"/>
          <p:cNvSpPr>
            <a:spLocks noChangeShapeType="1"/>
          </p:cNvSpPr>
          <p:nvPr/>
        </p:nvSpPr>
        <p:spPr bwMode="auto">
          <a:xfrm>
            <a:off x="152400" y="128016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4" name="Espace réservé du contenu 23"/>
          <p:cNvSpPr>
            <a:spLocks noGrp="1"/>
          </p:cNvSpPr>
          <p:nvPr>
            <p:ph sz="quarter" idx="2"/>
          </p:nvPr>
        </p:nvSpPr>
        <p:spPr>
          <a:xfrm>
            <a:off x="301752" y="2471383"/>
            <a:ext cx="4041648" cy="3818404"/>
          </a:xfrm>
        </p:spPr>
        <p:txBody>
          <a:bodyPr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26" name="Espace réservé du contenu 25"/>
          <p:cNvSpPr>
            <a:spLocks noGrp="1"/>
          </p:cNvSpPr>
          <p:nvPr>
            <p:ph sz="quarter" idx="4"/>
          </p:nvPr>
        </p:nvSpPr>
        <p:spPr>
          <a:xfrm>
            <a:off x="4800600" y="2471383"/>
            <a:ext cx="4038600" cy="3822192"/>
          </a:xfrm>
        </p:spPr>
        <p:txBody>
          <a:bodyPr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25" name="Ellipse 24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Ellipse 26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>
          <a:xfrm>
            <a:off x="4343400" y="1042416"/>
            <a:ext cx="457200" cy="441325"/>
          </a:xfrm>
        </p:spPr>
        <p:txBody>
          <a:bodyPr/>
          <a:lstStyle>
            <a:lvl1pPr algn="ctr">
              <a:defRPr/>
            </a:lvl1pPr>
          </a:lstStyle>
          <a:p>
            <a:pPr algn="ctr" eaLnBrk="1" latinLnBrk="0" hangingPunct="1"/>
            <a:fld id="{2C6B1FF6-39B9-40F5-8B67-33C6354A3D4F}" type="slidenum">
              <a:rPr kumimoji="0" lang="en-US" smtClean="0"/>
              <a:pPr algn="ctr" eaLnBrk="1" latinLnBrk="0" hangingPunct="1"/>
              <a:t>‹N°›</a:t>
            </a:fld>
            <a:endParaRPr kumimoji="0" lang="en-US" dirty="0"/>
          </a:p>
        </p:txBody>
      </p:sp>
      <p:sp>
        <p:nvSpPr>
          <p:cNvPr id="23" name="Titre 22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2/26/2015</a:t>
            </a:fld>
            <a:endParaRPr lang="en-US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xfrm>
            <a:off x="4343400" y="1036020"/>
            <a:ext cx="457200" cy="441325"/>
          </a:xfrm>
        </p:spPr>
        <p:txBody>
          <a:bodyPr/>
          <a:lstStyle/>
          <a:p>
            <a:fld id="{2C6B1FF6-39B9-40F5-8B67-33C6354A3D4F}" type="slidenum">
              <a:rPr kumimoji="0" lang="en-US" smtClean="0"/>
              <a:pPr/>
              <a:t>‹N°›</a:t>
            </a:fld>
            <a:endParaRPr kumimoji="0"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52400" y="158496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2/26/2015</a:t>
            </a:fld>
            <a:endParaRPr lang="en-US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4267200" y="6324600"/>
            <a:ext cx="609600" cy="441324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2C6B1FF6-39B9-40F5-8B67-33C6354A3D4F}" type="slidenum">
              <a:rPr kumimoji="0" lang="en-US" smtClean="0"/>
              <a:pPr/>
              <a:t>‹N°›</a:t>
            </a:fld>
            <a:endParaRPr kumimoji="0" lang="en-US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 avec légen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>
            <a:spLocks noChangeArrowheads="1"/>
          </p:cNvSpPr>
          <p:nvPr/>
        </p:nvSpPr>
        <p:spPr bwMode="auto">
          <a:xfrm>
            <a:off x="152400" y="152400"/>
            <a:ext cx="8833104" cy="304800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18872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81000" y="914400"/>
            <a:ext cx="2362200" cy="990600"/>
          </a:xfrm>
        </p:spPr>
        <p:txBody>
          <a:bodyPr anchor="b">
            <a:noAutofit/>
          </a:bodyPr>
          <a:lstStyle>
            <a:lvl1pPr algn="l">
              <a:buNone/>
              <a:defRPr sz="2200" b="1">
                <a:solidFill>
                  <a:srgbClr val="FFFFFF"/>
                </a:solidFill>
              </a:defRPr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2"/>
          </p:nvPr>
        </p:nvSpPr>
        <p:spPr>
          <a:xfrm>
            <a:off x="381000" y="1981200"/>
            <a:ext cx="2362200" cy="4144963"/>
          </a:xfrm>
        </p:spPr>
        <p:txBody>
          <a:bodyPr/>
          <a:lstStyle>
            <a:lvl1pPr marL="0" indent="0">
              <a:spcAft>
                <a:spcPts val="1000"/>
              </a:spcAft>
              <a:buNone/>
              <a:defRPr sz="1600">
                <a:solidFill>
                  <a:srgbClr val="FFFFFF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9" name="Connecteur droit 8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Espace réservé du contenu 19"/>
          <p:cNvSpPr>
            <a:spLocks noGrp="1"/>
          </p:cNvSpPr>
          <p:nvPr>
            <p:ph sz="quarter" idx="1"/>
          </p:nvPr>
        </p:nvSpPr>
        <p:spPr>
          <a:xfrm>
            <a:off x="3124200" y="685800"/>
            <a:ext cx="5638800" cy="5410200"/>
          </a:xfrm>
        </p:spPr>
        <p:txBody>
          <a:bodyPr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10" name="Ellipse 9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Ellipse 10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2C6B1FF6-39B9-40F5-8B67-33C6354A3D4F}" type="slidenum">
              <a:rPr kumimoji="0" lang="en-US" smtClean="0"/>
              <a:pPr/>
              <a:t>‹N°›</a:t>
            </a:fld>
            <a:endParaRPr kumimoji="0" lang="en-US" dirty="0">
              <a:solidFill>
                <a:schemeClr val="accent3">
                  <a:shade val="75000"/>
                </a:schemeClr>
              </a:solidFill>
            </a:endParaRPr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2/26/2015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383280" cy="365760"/>
          </a:xfrm>
        </p:spPr>
        <p:txBody>
          <a:bodyPr/>
          <a:lstStyle/>
          <a:p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onnecteur droit 20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auto">
          <a:xfrm>
            <a:off x="152400" y="152400"/>
            <a:ext cx="8833104" cy="301752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2" name="Ellipse 11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Ellipse 12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/>
          <a:p>
            <a:fld id="{2C6B1FF6-39B9-40F5-8B67-33C6354A3D4F}" type="slidenum">
              <a:rPr kumimoji="0" lang="en-US" smtClean="0"/>
              <a:pPr/>
              <a:t>‹N°›</a:t>
            </a:fld>
            <a:endParaRPr kumimoji="0" lang="en-US" dirty="0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000375" y="5029200"/>
            <a:ext cx="5867400" cy="1219200"/>
          </a:xfrm>
        </p:spPr>
        <p:txBody>
          <a:bodyPr anchor="t">
            <a:noAutofit/>
          </a:bodyPr>
          <a:lstStyle>
            <a:lvl1pPr algn="l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3000375" y="609600"/>
            <a:ext cx="5867400" cy="4267200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fr-FR" smtClean="0"/>
              <a:t>Cliquez sur l'icône pour ajouter une image</a:t>
            </a:r>
            <a:endParaRPr kumimoji="0" lang="en-US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381000" y="990600"/>
            <a:ext cx="2438400" cy="5257800"/>
          </a:xfrm>
        </p:spPr>
        <p:txBody>
          <a:bodyPr/>
          <a:lstStyle>
            <a:lvl1pPr marL="0" indent="0">
              <a:spcAft>
                <a:spcPts val="1000"/>
              </a:spcAft>
              <a:buFontTx/>
              <a:buNone/>
              <a:defRPr sz="16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5788152" y="6404984"/>
            <a:ext cx="3044952" cy="365760"/>
          </a:xfrm>
        </p:spPr>
        <p:txBody>
          <a:bodyPr/>
          <a:lstStyle/>
          <a:p>
            <a:fld id="{9D21D778-B565-4D7E-94D7-64010A445B68}" type="datetimeFigureOut">
              <a:rPr lang="en-US" smtClean="0"/>
              <a:pPr/>
              <a:t>2/26/2015</a:t>
            </a:fld>
            <a:endParaRPr lang="en-US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584448" cy="365760"/>
          </a:xfrm>
        </p:spPr>
        <p:txBody>
          <a:bodyPr/>
          <a:lstStyle/>
          <a:p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2/26/2015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B1FF6-39B9-40F5-8B67-33C6354A3D4F}" type="slidenum">
              <a:rPr kumimoji="0" lang="en-US" smtClean="0"/>
              <a:pPr/>
              <a:t>‹N°›</a:t>
            </a:fld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itre vertical et text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7010400" y="0"/>
            <a:ext cx="21336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Connecteur droit 12"/>
          <p:cNvSpPr>
            <a:spLocks noChangeShapeType="1"/>
          </p:cNvSpPr>
          <p:nvPr/>
        </p:nvSpPr>
        <p:spPr bwMode="auto">
          <a:xfrm rot="5400000">
            <a:off x="4021836" y="3278124"/>
            <a:ext cx="6245352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Ellipse 13"/>
          <p:cNvSpPr/>
          <p:nvPr/>
        </p:nvSpPr>
        <p:spPr>
          <a:xfrm>
            <a:off x="6839712" y="2925763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Ellipse 14"/>
          <p:cNvSpPr/>
          <p:nvPr/>
        </p:nvSpPr>
        <p:spPr>
          <a:xfrm>
            <a:off x="6934200" y="3020251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6915912" y="3009901"/>
            <a:ext cx="457200" cy="441325"/>
          </a:xfrm>
        </p:spPr>
        <p:txBody>
          <a:bodyPr/>
          <a:lstStyle/>
          <a:p>
            <a:fld id="{2C6B1FF6-39B9-40F5-8B67-33C6354A3D4F}" type="slidenum">
              <a:rPr kumimoji="0" lang="en-US" smtClean="0"/>
              <a:pPr/>
              <a:t>‹N°›</a:t>
            </a:fld>
            <a:endParaRPr kumimoji="0" lang="en-US" dirty="0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304800" y="304800"/>
            <a:ext cx="6553200" cy="5821366"/>
          </a:xfrm>
        </p:spPr>
        <p:txBody>
          <a:bodyPr vert="eaVert"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2/26/2015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7391400" y="304801"/>
            <a:ext cx="1447800" cy="5851525"/>
          </a:xfrm>
        </p:spPr>
        <p:txBody>
          <a:bodyPr vert="eaVert"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393371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Espace réservé de la date 13"/>
          <p:cNvSpPr>
            <a:spLocks noGrp="1"/>
          </p:cNvSpPr>
          <p:nvPr>
            <p:ph type="dt" sz="half" idx="2"/>
          </p:nvPr>
        </p:nvSpPr>
        <p:spPr>
          <a:xfrm>
            <a:off x="5791200" y="6404984"/>
            <a:ext cx="3044952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rgbClr val="FFFFFF"/>
                </a:solidFill>
              </a:defRPr>
            </a:lvl1pPr>
          </a:lstStyle>
          <a:p>
            <a:pPr algn="r" eaLnBrk="1" latinLnBrk="0" hangingPunct="1"/>
            <a:fld id="{9D21D778-B565-4D7E-94D7-64010A445B68}" type="datetimeFigureOut">
              <a:rPr lang="en-US" smtClean="0"/>
              <a:pPr algn="r" eaLnBrk="1" latinLnBrk="0" hangingPunct="1"/>
              <a:t>2/26/2015</a:t>
            </a:fld>
            <a:endParaRPr lang="en-US" sz="1400" dirty="0">
              <a:solidFill>
                <a:srgbClr val="FFFFFF"/>
              </a:solidFill>
            </a:endParaRP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3"/>
          </p:nvPr>
        </p:nvSpPr>
        <p:spPr>
          <a:xfrm>
            <a:off x="304800" y="6410848"/>
            <a:ext cx="35814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rgbClr val="FFFFFF"/>
                </a:solidFill>
              </a:defRPr>
            </a:lvl1pPr>
          </a:lstStyle>
          <a:p>
            <a:pPr algn="l" eaLnBrk="1" latinLnBrk="0" hangingPunct="1"/>
            <a:endParaRPr kumimoji="0" lang="en-US" dirty="0">
              <a:solidFill>
                <a:srgbClr val="FFFFFF"/>
              </a:solidFill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0" name="Connecteur droit 9"/>
          <p:cNvSpPr>
            <a:spLocks noChangeShapeType="1"/>
          </p:cNvSpPr>
          <p:nvPr/>
        </p:nvSpPr>
        <p:spPr bwMode="auto">
          <a:xfrm>
            <a:off x="152400" y="1276743"/>
            <a:ext cx="8833104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Ellipse 11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Ellipse 14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Espace réservé du numéro de diapositive 22"/>
          <p:cNvSpPr>
            <a:spLocks noGrp="1"/>
          </p:cNvSpPr>
          <p:nvPr>
            <p:ph type="sldNum" sz="quarter" idx="4"/>
          </p:nvPr>
        </p:nvSpPr>
        <p:spPr>
          <a:xfrm>
            <a:off x="4343400" y="1040174"/>
            <a:ext cx="457200" cy="441325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>
            <a:lvl1pPr algn="ctr" eaLnBrk="1" latinLnBrk="0" hangingPunct="1">
              <a:defRPr kumimoji="0" sz="1600"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pPr algn="ctr" eaLnBrk="1" latinLnBrk="0" hangingPunct="1"/>
            <a:fld id="{2C6B1FF6-39B9-40F5-8B67-33C6354A3D4F}" type="slidenum">
              <a:rPr kumimoji="0" lang="en-US" smtClean="0"/>
              <a:pPr algn="ctr" eaLnBrk="1" latinLnBrk="0" hangingPunct="1"/>
              <a:t>‹N°›</a:t>
            </a:fld>
            <a:endParaRPr kumimoji="0" lang="en-US" sz="1600" dirty="0">
              <a:solidFill>
                <a:schemeClr val="accent3">
                  <a:shade val="75000"/>
                </a:schemeClr>
              </a:solidFill>
            </a:endParaRPr>
          </a:p>
        </p:txBody>
      </p:sp>
      <p:sp>
        <p:nvSpPr>
          <p:cNvPr id="22" name="Espace réservé du titre 2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13" name="Espace réservé du texte 1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8534400" cy="459943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  <a:p>
            <a:pPr lvl="1" eaLnBrk="1" latinLnBrk="0" hangingPunct="1"/>
            <a:r>
              <a:rPr kumimoji="0" lang="fr-FR" smtClean="0"/>
              <a:t>Deuxième niveau</a:t>
            </a:r>
          </a:p>
          <a:p>
            <a:pPr lvl="2" eaLnBrk="1" latinLnBrk="0" hangingPunct="1"/>
            <a:r>
              <a:rPr kumimoji="0" lang="fr-FR" smtClean="0"/>
              <a:t>Troisième niveau</a:t>
            </a:r>
          </a:p>
          <a:p>
            <a:pPr lvl="3" eaLnBrk="1" latinLnBrk="0" hangingPunct="1"/>
            <a:r>
              <a:rPr kumimoji="0" lang="fr-FR" smtClean="0"/>
              <a:t>Quatrième niveau</a:t>
            </a:r>
          </a:p>
          <a:p>
            <a:pPr lvl="4" eaLnBrk="1" latinLnBrk="0" hangingPunct="1"/>
            <a:r>
              <a:rPr kumimoji="0" lang="fr-FR" smtClean="0"/>
              <a:t>Cinquième niveau</a:t>
            </a:r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ctr" rtl="0" eaLnBrk="1" latinLnBrk="0" hangingPunct="1">
        <a:spcBef>
          <a:spcPct val="0"/>
        </a:spcBef>
        <a:buNone/>
        <a:defRPr kumimoji="0" sz="3300" kern="1200">
          <a:solidFill>
            <a:schemeClr val="accent3">
              <a:shade val="75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"/>
        <a:buChar char=""/>
        <a:defRPr kumimoji="0"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ct val="20000"/>
        </a:spcBef>
        <a:buClr>
          <a:schemeClr val="accent3"/>
        </a:buClr>
        <a:buSzPct val="75000"/>
        <a:buFont typeface="Wingdings 2"/>
        <a:buChar char="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ct val="20000"/>
        </a:spcBef>
        <a:buClr>
          <a:schemeClr val="accent4"/>
        </a:buClr>
        <a:buSzPct val="70000"/>
        <a:buFont typeface="Wingdings"/>
        <a:buChar char="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ct val="20000"/>
        </a:spcBef>
        <a:buClr>
          <a:schemeClr val="accent5"/>
        </a:buClr>
        <a:buFontTx/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90000"/>
        <a:buChar char="•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rtl="0" eaLnBrk="1" latinLnBrk="0" hangingPunct="1">
        <a:spcBef>
          <a:spcPct val="20000"/>
        </a:spcBef>
        <a:buClr>
          <a:schemeClr val="accent4">
            <a:shade val="75000"/>
          </a:schemeClr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77440" indent="-182880" algn="l" rtl="0" eaLnBrk="1" latinLnBrk="0" hangingPunct="1">
        <a:spcBef>
          <a:spcPct val="20000"/>
        </a:spcBef>
        <a:buClr>
          <a:schemeClr val="accent2">
            <a:shade val="75000"/>
          </a:schemeClr>
        </a:buClr>
        <a:buSzPct val="90000"/>
        <a:buChar char="•"/>
        <a:defRPr kumimoji="0" sz="1400" kern="1200" cap="all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19.xml"/><Relationship Id="rId13" Type="http://schemas.openxmlformats.org/officeDocument/2006/relationships/tags" Target="../tags/tag24.xml"/><Relationship Id="rId18" Type="http://schemas.openxmlformats.org/officeDocument/2006/relationships/tags" Target="../tags/tag29.xml"/><Relationship Id="rId26" Type="http://schemas.openxmlformats.org/officeDocument/2006/relationships/image" Target="../media/image4.png"/><Relationship Id="rId3" Type="http://schemas.openxmlformats.org/officeDocument/2006/relationships/tags" Target="../tags/tag14.xml"/><Relationship Id="rId21" Type="http://schemas.openxmlformats.org/officeDocument/2006/relationships/tags" Target="../tags/tag32.xml"/><Relationship Id="rId34" Type="http://schemas.openxmlformats.org/officeDocument/2006/relationships/image" Target="../media/image12.png"/><Relationship Id="rId7" Type="http://schemas.openxmlformats.org/officeDocument/2006/relationships/tags" Target="../tags/tag18.xml"/><Relationship Id="rId12" Type="http://schemas.openxmlformats.org/officeDocument/2006/relationships/tags" Target="../tags/tag23.xml"/><Relationship Id="rId17" Type="http://schemas.openxmlformats.org/officeDocument/2006/relationships/tags" Target="../tags/tag28.xml"/><Relationship Id="rId25" Type="http://schemas.openxmlformats.org/officeDocument/2006/relationships/image" Target="../media/image3.png"/><Relationship Id="rId33" Type="http://schemas.openxmlformats.org/officeDocument/2006/relationships/image" Target="../media/image11.png"/><Relationship Id="rId38" Type="http://schemas.openxmlformats.org/officeDocument/2006/relationships/image" Target="../media/image16.png"/><Relationship Id="rId2" Type="http://schemas.openxmlformats.org/officeDocument/2006/relationships/tags" Target="../tags/tag13.xml"/><Relationship Id="rId16" Type="http://schemas.openxmlformats.org/officeDocument/2006/relationships/tags" Target="../tags/tag27.xml"/><Relationship Id="rId20" Type="http://schemas.openxmlformats.org/officeDocument/2006/relationships/tags" Target="../tags/tag31.xml"/><Relationship Id="rId29" Type="http://schemas.openxmlformats.org/officeDocument/2006/relationships/image" Target="../media/image7.png"/><Relationship Id="rId1" Type="http://schemas.openxmlformats.org/officeDocument/2006/relationships/tags" Target="../tags/tag12.xml"/><Relationship Id="rId6" Type="http://schemas.openxmlformats.org/officeDocument/2006/relationships/tags" Target="../tags/tag17.xml"/><Relationship Id="rId11" Type="http://schemas.openxmlformats.org/officeDocument/2006/relationships/tags" Target="../tags/tag22.xml"/><Relationship Id="rId24" Type="http://schemas.openxmlformats.org/officeDocument/2006/relationships/notesSlide" Target="../notesSlides/notesSlide3.xml"/><Relationship Id="rId32" Type="http://schemas.openxmlformats.org/officeDocument/2006/relationships/image" Target="../media/image10.png"/><Relationship Id="rId37" Type="http://schemas.openxmlformats.org/officeDocument/2006/relationships/image" Target="../media/image15.png"/><Relationship Id="rId5" Type="http://schemas.openxmlformats.org/officeDocument/2006/relationships/tags" Target="../tags/tag16.xml"/><Relationship Id="rId15" Type="http://schemas.openxmlformats.org/officeDocument/2006/relationships/tags" Target="../tags/tag26.xml"/><Relationship Id="rId23" Type="http://schemas.openxmlformats.org/officeDocument/2006/relationships/slideLayout" Target="../slideLayouts/slideLayout2.xml"/><Relationship Id="rId28" Type="http://schemas.openxmlformats.org/officeDocument/2006/relationships/image" Target="../media/image6.png"/><Relationship Id="rId36" Type="http://schemas.openxmlformats.org/officeDocument/2006/relationships/image" Target="../media/image14.png"/><Relationship Id="rId10" Type="http://schemas.openxmlformats.org/officeDocument/2006/relationships/tags" Target="../tags/tag21.xml"/><Relationship Id="rId19" Type="http://schemas.openxmlformats.org/officeDocument/2006/relationships/tags" Target="../tags/tag30.xml"/><Relationship Id="rId31" Type="http://schemas.openxmlformats.org/officeDocument/2006/relationships/image" Target="../media/image9.png"/><Relationship Id="rId4" Type="http://schemas.openxmlformats.org/officeDocument/2006/relationships/tags" Target="../tags/tag15.xml"/><Relationship Id="rId9" Type="http://schemas.openxmlformats.org/officeDocument/2006/relationships/tags" Target="../tags/tag20.xml"/><Relationship Id="rId14" Type="http://schemas.openxmlformats.org/officeDocument/2006/relationships/tags" Target="../tags/tag25.xml"/><Relationship Id="rId22" Type="http://schemas.openxmlformats.org/officeDocument/2006/relationships/tags" Target="../tags/tag33.xml"/><Relationship Id="rId27" Type="http://schemas.openxmlformats.org/officeDocument/2006/relationships/image" Target="../media/image5.png"/><Relationship Id="rId30" Type="http://schemas.openxmlformats.org/officeDocument/2006/relationships/image" Target="../media/image8.png"/><Relationship Id="rId35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21.png"/><Relationship Id="rId2" Type="http://schemas.openxmlformats.org/officeDocument/2006/relationships/tags" Target="../tags/tag40.xml"/><Relationship Id="rId1" Type="http://schemas.openxmlformats.org/officeDocument/2006/relationships/tags" Target="../tags/tag39.xml"/><Relationship Id="rId6" Type="http://schemas.openxmlformats.org/officeDocument/2006/relationships/image" Target="../media/image20.png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24.png"/><Relationship Id="rId2" Type="http://schemas.openxmlformats.org/officeDocument/2006/relationships/tags" Target="../tags/tag43.xml"/><Relationship Id="rId1" Type="http://schemas.openxmlformats.org/officeDocument/2006/relationships/tags" Target="../tags/tag4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notesSlide" Target="../notesSlides/notesSlide9.xml"/><Relationship Id="rId9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30.png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tags" Target="../tags/tag55.xml"/><Relationship Id="rId13" Type="http://schemas.openxmlformats.org/officeDocument/2006/relationships/tags" Target="../tags/tag60.xml"/><Relationship Id="rId18" Type="http://schemas.openxmlformats.org/officeDocument/2006/relationships/image" Target="../media/image31.png"/><Relationship Id="rId26" Type="http://schemas.openxmlformats.org/officeDocument/2006/relationships/image" Target="../media/image39.png"/><Relationship Id="rId3" Type="http://schemas.openxmlformats.org/officeDocument/2006/relationships/tags" Target="../tags/tag50.xml"/><Relationship Id="rId21" Type="http://schemas.openxmlformats.org/officeDocument/2006/relationships/image" Target="../media/image34.png"/><Relationship Id="rId7" Type="http://schemas.openxmlformats.org/officeDocument/2006/relationships/tags" Target="../tags/tag54.xml"/><Relationship Id="rId12" Type="http://schemas.openxmlformats.org/officeDocument/2006/relationships/tags" Target="../tags/tag59.xml"/><Relationship Id="rId17" Type="http://schemas.openxmlformats.org/officeDocument/2006/relationships/image" Target="../media/image3.png"/><Relationship Id="rId25" Type="http://schemas.openxmlformats.org/officeDocument/2006/relationships/image" Target="../media/image38.png"/><Relationship Id="rId2" Type="http://schemas.openxmlformats.org/officeDocument/2006/relationships/tags" Target="../tags/tag49.xml"/><Relationship Id="rId16" Type="http://schemas.openxmlformats.org/officeDocument/2006/relationships/notesSlide" Target="../notesSlides/notesSlide13.xml"/><Relationship Id="rId20" Type="http://schemas.openxmlformats.org/officeDocument/2006/relationships/image" Target="../media/image33.png"/><Relationship Id="rId1" Type="http://schemas.openxmlformats.org/officeDocument/2006/relationships/tags" Target="../tags/tag48.xml"/><Relationship Id="rId6" Type="http://schemas.openxmlformats.org/officeDocument/2006/relationships/tags" Target="../tags/tag53.xml"/><Relationship Id="rId11" Type="http://schemas.openxmlformats.org/officeDocument/2006/relationships/tags" Target="../tags/tag58.xml"/><Relationship Id="rId24" Type="http://schemas.openxmlformats.org/officeDocument/2006/relationships/image" Target="../media/image37.png"/><Relationship Id="rId5" Type="http://schemas.openxmlformats.org/officeDocument/2006/relationships/tags" Target="../tags/tag52.xml"/><Relationship Id="rId15" Type="http://schemas.openxmlformats.org/officeDocument/2006/relationships/slideLayout" Target="../slideLayouts/slideLayout2.xml"/><Relationship Id="rId23" Type="http://schemas.openxmlformats.org/officeDocument/2006/relationships/image" Target="../media/image36.png"/><Relationship Id="rId10" Type="http://schemas.openxmlformats.org/officeDocument/2006/relationships/tags" Target="../tags/tag57.xml"/><Relationship Id="rId19" Type="http://schemas.openxmlformats.org/officeDocument/2006/relationships/image" Target="../media/image32.png"/><Relationship Id="rId4" Type="http://schemas.openxmlformats.org/officeDocument/2006/relationships/tags" Target="../tags/tag51.xml"/><Relationship Id="rId9" Type="http://schemas.openxmlformats.org/officeDocument/2006/relationships/tags" Target="../tags/tag56.xml"/><Relationship Id="rId14" Type="http://schemas.openxmlformats.org/officeDocument/2006/relationships/tags" Target="../tags/tag61.xml"/><Relationship Id="rId22" Type="http://schemas.openxmlformats.org/officeDocument/2006/relationships/image" Target="../media/image35.png"/><Relationship Id="rId27" Type="http://schemas.openxmlformats.org/officeDocument/2006/relationships/image" Target="../media/image40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63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869723" y="2902857"/>
            <a:ext cx="7127875" cy="2960914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fr-FR" sz="4800" dirty="0" smtClean="0">
                <a:solidFill>
                  <a:srgbClr val="000000"/>
                </a:solidFill>
              </a:rPr>
              <a:t>Chapitre </a:t>
            </a:r>
            <a:r>
              <a:rPr lang="fr-FR" sz="4800" dirty="0">
                <a:solidFill>
                  <a:srgbClr val="000000"/>
                </a:solidFill>
              </a:rPr>
              <a:t> 4 </a:t>
            </a:r>
            <a:r>
              <a:rPr lang="fr-FR" sz="4800" dirty="0" smtClean="0">
                <a:solidFill>
                  <a:srgbClr val="000000"/>
                </a:solidFill>
              </a:rPr>
              <a:t/>
            </a:r>
            <a:br>
              <a:rPr lang="fr-FR" sz="4800" dirty="0" smtClean="0">
                <a:solidFill>
                  <a:srgbClr val="000000"/>
                </a:solidFill>
              </a:rPr>
            </a:br>
            <a:r>
              <a:rPr lang="fr-FR" sz="4800" dirty="0" smtClean="0">
                <a:solidFill>
                  <a:srgbClr val="000000"/>
                </a:solidFill>
              </a:rPr>
              <a:t> </a:t>
            </a:r>
            <a:r>
              <a:rPr lang="fr-FR" sz="4800" dirty="0">
                <a:solidFill>
                  <a:srgbClr val="000000"/>
                </a:solidFill>
              </a:rPr>
              <a:t>Implémentation de comptes d'utilisateurs, de groupes et d'ordinateurs</a:t>
            </a:r>
            <a:endParaRPr lang="en-US" sz="4800" dirty="0">
              <a:solidFill>
                <a:srgbClr val="00000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943959" y="1038163"/>
            <a:ext cx="319558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4800" dirty="0" smtClean="0">
                <a:solidFill>
                  <a:srgbClr val="000000"/>
                </a:solidFill>
              </a:rPr>
              <a:t>Module S44</a:t>
            </a:r>
            <a:endParaRPr lang="fr-FR" sz="4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6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 smtClean="0">
                <a:solidFill>
                  <a:srgbClr val="000000"/>
                </a:solidFill>
              </a:rPr>
              <a:t>Plan du cours</a:t>
            </a:r>
            <a:endParaRPr lang="en-US" b="1" dirty="0"/>
          </a:p>
        </p:txBody>
      </p:sp>
      <p:sp>
        <p:nvSpPr>
          <p:cNvPr id="32665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272724" y="2006019"/>
            <a:ext cx="8503920" cy="2420838"/>
          </a:xfrm>
        </p:spPr>
        <p:txBody>
          <a:bodyPr>
            <a:normAutofit fontScale="92500" lnSpcReduction="20000"/>
          </a:bodyPr>
          <a:lstStyle/>
          <a:p>
            <a:pPr marL="514350" indent="-514350">
              <a:buClr>
                <a:schemeClr val="tx1"/>
              </a:buClr>
              <a:buFont typeface="+mj-lt"/>
              <a:buAutoNum type="arabicPeriod"/>
            </a:pPr>
            <a:r>
              <a:rPr lang="fr-FR" sz="3300" dirty="0" smtClean="0"/>
              <a:t>Types de comptes</a:t>
            </a:r>
          </a:p>
          <a:p>
            <a:pPr marL="514350" indent="-514350">
              <a:buClr>
                <a:schemeClr val="tx1"/>
              </a:buClr>
              <a:buFont typeface="+mj-lt"/>
              <a:buAutoNum type="arabicPeriod"/>
            </a:pPr>
            <a:r>
              <a:rPr lang="fr-FR" sz="3300" dirty="0" smtClean="0"/>
              <a:t>Implémentation de comptes d’utilisateurs</a:t>
            </a:r>
          </a:p>
          <a:p>
            <a:pPr marL="514350" indent="-514350">
              <a:buClr>
                <a:schemeClr val="tx1"/>
              </a:buClr>
              <a:buFont typeface="+mj-lt"/>
              <a:buAutoNum type="arabicPeriod"/>
            </a:pPr>
            <a:r>
              <a:rPr lang="fr-FR" sz="3300" dirty="0" smtClean="0"/>
              <a:t>Implémentation de comptes de groupe</a:t>
            </a:r>
          </a:p>
          <a:p>
            <a:pPr marL="514350" indent="-514350">
              <a:buClr>
                <a:schemeClr val="tx1"/>
              </a:buClr>
              <a:buFont typeface="+mj-lt"/>
              <a:buAutoNum type="arabicPeriod"/>
            </a:pPr>
            <a:r>
              <a:rPr lang="fr-FR" sz="3300" dirty="0" smtClean="0"/>
              <a:t>Outils d’administration et tâches administratives</a:t>
            </a:r>
            <a:endParaRPr lang="en-US" sz="33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 smtClean="0">
                <a:solidFill>
                  <a:schemeClr val="tx1"/>
                </a:solidFill>
              </a:rPr>
              <a:t>1. Types </a:t>
            </a:r>
            <a:r>
              <a:rPr lang="fr-FR" b="1" dirty="0">
                <a:solidFill>
                  <a:schemeClr val="tx1"/>
                </a:solidFill>
              </a:rPr>
              <a:t>de comptes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407612" name="AutoShape 60"/>
          <p:cNvSpPr>
            <a:spLocks noChangeArrowheads="1"/>
          </p:cNvSpPr>
          <p:nvPr/>
        </p:nvSpPr>
        <p:spPr bwMode="auto">
          <a:xfrm>
            <a:off x="188686" y="1389063"/>
            <a:ext cx="6052458" cy="1639887"/>
          </a:xfrm>
          <a:prstGeom prst="roundRect">
            <a:avLst>
              <a:gd name="adj" fmla="val 4167"/>
            </a:avLst>
          </a:prstGeom>
          <a:solidFill>
            <a:srgbClr val="B3C8DF"/>
          </a:solidFill>
          <a:ln w="9525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wrap="none"/>
          <a:lstStyle/>
          <a:p>
            <a:pPr algn="l"/>
            <a:r>
              <a:rPr lang="fr-FR" sz="2600">
                <a:solidFill>
                  <a:srgbClr val="000000"/>
                </a:solidFill>
              </a:rPr>
              <a:t>Comptes d'utilisateurs</a:t>
            </a:r>
            <a:endParaRPr lang="en-US" sz="2600"/>
          </a:p>
        </p:txBody>
      </p:sp>
      <p:sp>
        <p:nvSpPr>
          <p:cNvPr id="407613" name="AutoShape 61"/>
          <p:cNvSpPr>
            <a:spLocks noChangeArrowheads="1"/>
          </p:cNvSpPr>
          <p:nvPr/>
        </p:nvSpPr>
        <p:spPr bwMode="auto">
          <a:xfrm>
            <a:off x="362856" y="1870075"/>
            <a:ext cx="5675087" cy="1038225"/>
          </a:xfrm>
          <a:prstGeom prst="roundRect">
            <a:avLst>
              <a:gd name="adj" fmla="val 4167"/>
            </a:avLst>
          </a:prstGeom>
          <a:gradFill rotWithShape="1">
            <a:gsLst>
              <a:gs pos="0">
                <a:srgbClr val="EEEFD7"/>
              </a:gs>
              <a:gs pos="100000">
                <a:srgbClr val="D5D69C"/>
              </a:gs>
            </a:gsLst>
            <a:lin ang="2700000" scaled="1"/>
          </a:gradFill>
          <a:ln w="9525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tIns="91440" anchor="ctr"/>
          <a:lstStyle/>
          <a:p>
            <a:pPr marL="225425" indent="-225425" algn="l">
              <a:lnSpc>
                <a:spcPct val="85000"/>
              </a:lnSpc>
              <a:spcBef>
                <a:spcPts val="0"/>
              </a:spcBef>
              <a:buSzPct val="80000"/>
              <a:buFontTx/>
              <a:buBlip>
                <a:blip r:embed="rId25"/>
              </a:buBlip>
            </a:pPr>
            <a:r>
              <a:rPr lang="fr-FR" sz="2400" b="0" dirty="0">
                <a:solidFill>
                  <a:srgbClr val="000000"/>
                </a:solidFill>
              </a:rPr>
              <a:t>Active une ouverture de session unique pour un utilisateur</a:t>
            </a:r>
            <a:endParaRPr lang="en-US" sz="2400" b="0" dirty="0"/>
          </a:p>
          <a:p>
            <a:pPr marL="225425" indent="-225425" algn="l">
              <a:spcBef>
                <a:spcPts val="0"/>
              </a:spcBef>
              <a:buSzPct val="80000"/>
              <a:buFontTx/>
              <a:buBlip>
                <a:blip r:embed="rId25"/>
              </a:buBlip>
            </a:pPr>
            <a:r>
              <a:rPr lang="fr-FR" sz="2400" b="0" dirty="0">
                <a:solidFill>
                  <a:srgbClr val="000000"/>
                </a:solidFill>
              </a:rPr>
              <a:t>Offre un accès aux ressources</a:t>
            </a:r>
            <a:endParaRPr lang="en-US" sz="2400" b="0" dirty="0">
              <a:solidFill>
                <a:srgbClr val="000000"/>
              </a:solidFill>
            </a:endParaRPr>
          </a:p>
        </p:txBody>
      </p:sp>
      <p:sp>
        <p:nvSpPr>
          <p:cNvPr id="407615" name="AutoShape 63"/>
          <p:cNvSpPr>
            <a:spLocks noChangeArrowheads="1"/>
          </p:cNvSpPr>
          <p:nvPr/>
        </p:nvSpPr>
        <p:spPr bwMode="auto">
          <a:xfrm>
            <a:off x="188685" y="3187700"/>
            <a:ext cx="6037943" cy="1527175"/>
          </a:xfrm>
          <a:prstGeom prst="roundRect">
            <a:avLst>
              <a:gd name="adj" fmla="val 4167"/>
            </a:avLst>
          </a:prstGeom>
          <a:solidFill>
            <a:srgbClr val="B3C8DF"/>
          </a:solidFill>
          <a:ln w="9525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wrap="none"/>
          <a:lstStyle/>
          <a:p>
            <a:pPr algn="l"/>
            <a:r>
              <a:rPr lang="fr-FR" sz="2600">
                <a:solidFill>
                  <a:srgbClr val="000000"/>
                </a:solidFill>
              </a:rPr>
              <a:t>Comptes d'ordinateurs</a:t>
            </a:r>
            <a:endParaRPr lang="en-US" sz="2600"/>
          </a:p>
        </p:txBody>
      </p:sp>
      <p:sp>
        <p:nvSpPr>
          <p:cNvPr id="407616" name="AutoShape 64"/>
          <p:cNvSpPr>
            <a:spLocks noChangeArrowheads="1"/>
          </p:cNvSpPr>
          <p:nvPr/>
        </p:nvSpPr>
        <p:spPr bwMode="auto">
          <a:xfrm>
            <a:off x="362857" y="3668713"/>
            <a:ext cx="5660572" cy="917575"/>
          </a:xfrm>
          <a:prstGeom prst="roundRect">
            <a:avLst>
              <a:gd name="adj" fmla="val 4167"/>
            </a:avLst>
          </a:prstGeom>
          <a:gradFill rotWithShape="1">
            <a:gsLst>
              <a:gs pos="0">
                <a:srgbClr val="EEEFD7"/>
              </a:gs>
              <a:gs pos="100000">
                <a:srgbClr val="D5D69C"/>
              </a:gs>
            </a:gsLst>
            <a:lin ang="2700000" scaled="1"/>
          </a:gradFill>
          <a:ln w="9525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tIns="91440" anchor="ctr"/>
          <a:lstStyle/>
          <a:p>
            <a:pPr marL="225425" indent="-225425" algn="l">
              <a:lnSpc>
                <a:spcPct val="85000"/>
              </a:lnSpc>
              <a:spcBef>
                <a:spcPct val="40000"/>
              </a:spcBef>
              <a:buSzPct val="80000"/>
              <a:buFontTx/>
              <a:buBlip>
                <a:blip r:embed="rId25"/>
              </a:buBlip>
            </a:pPr>
            <a:r>
              <a:rPr lang="fr-FR" sz="2400" b="0">
                <a:solidFill>
                  <a:srgbClr val="000000"/>
                </a:solidFill>
              </a:rPr>
              <a:t>Active l'authentification et l'audit de l'accès d'un ordinateur aux ressources</a:t>
            </a:r>
            <a:endParaRPr lang="en-US" sz="2400" b="0"/>
          </a:p>
        </p:txBody>
      </p:sp>
      <p:sp>
        <p:nvSpPr>
          <p:cNvPr id="407618" name="AutoShape 66"/>
          <p:cNvSpPr>
            <a:spLocks noChangeArrowheads="1"/>
          </p:cNvSpPr>
          <p:nvPr/>
        </p:nvSpPr>
        <p:spPr bwMode="auto">
          <a:xfrm>
            <a:off x="188686" y="4875213"/>
            <a:ext cx="6008914" cy="1220787"/>
          </a:xfrm>
          <a:prstGeom prst="roundRect">
            <a:avLst>
              <a:gd name="adj" fmla="val 4167"/>
            </a:avLst>
          </a:prstGeom>
          <a:solidFill>
            <a:srgbClr val="B3C8DF"/>
          </a:solidFill>
          <a:ln w="9525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wrap="none"/>
          <a:lstStyle/>
          <a:p>
            <a:pPr algn="l"/>
            <a:r>
              <a:rPr lang="fr-FR" sz="2600" dirty="0">
                <a:solidFill>
                  <a:srgbClr val="000000"/>
                </a:solidFill>
              </a:rPr>
              <a:t>Comptes de groupes</a:t>
            </a:r>
            <a:endParaRPr lang="en-US" sz="2600" dirty="0"/>
          </a:p>
        </p:txBody>
      </p:sp>
      <p:sp>
        <p:nvSpPr>
          <p:cNvPr id="407619" name="AutoShape 67"/>
          <p:cNvSpPr>
            <a:spLocks noChangeArrowheads="1"/>
          </p:cNvSpPr>
          <p:nvPr/>
        </p:nvSpPr>
        <p:spPr bwMode="auto">
          <a:xfrm>
            <a:off x="362857" y="5356225"/>
            <a:ext cx="5602514" cy="606425"/>
          </a:xfrm>
          <a:prstGeom prst="roundRect">
            <a:avLst>
              <a:gd name="adj" fmla="val 4167"/>
            </a:avLst>
          </a:prstGeom>
          <a:gradFill rotWithShape="1">
            <a:gsLst>
              <a:gs pos="0">
                <a:srgbClr val="EEEFD7"/>
              </a:gs>
              <a:gs pos="100000">
                <a:srgbClr val="D5D69C"/>
              </a:gs>
            </a:gsLst>
            <a:lin ang="2700000" scaled="1"/>
          </a:gradFill>
          <a:ln w="9525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tIns="91440" anchor="ctr"/>
          <a:lstStyle/>
          <a:p>
            <a:pPr marL="225425" indent="-225425" algn="l">
              <a:lnSpc>
                <a:spcPct val="85000"/>
              </a:lnSpc>
              <a:spcBef>
                <a:spcPct val="40000"/>
              </a:spcBef>
              <a:buSzPct val="80000"/>
              <a:buFontTx/>
              <a:buBlip>
                <a:blip r:embed="rId25"/>
              </a:buBlip>
            </a:pPr>
            <a:r>
              <a:rPr lang="fr-FR" sz="2400" b="0">
                <a:solidFill>
                  <a:srgbClr val="000000"/>
                </a:solidFill>
              </a:rPr>
              <a:t>Aide à simplifier l'administration</a:t>
            </a:r>
            <a:endParaRPr lang="en-US" sz="2400" b="0"/>
          </a:p>
        </p:txBody>
      </p:sp>
      <p:pic>
        <p:nvPicPr>
          <p:cNvPr id="407622" name="Picture 70" descr="Collection_SecurityGroup01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26" cstate="print"/>
          <a:srcRect/>
          <a:stretch>
            <a:fillRect/>
          </a:stretch>
        </p:blipFill>
        <p:spPr bwMode="auto">
          <a:xfrm>
            <a:off x="6249288" y="3036888"/>
            <a:ext cx="1292225" cy="1014412"/>
          </a:xfrm>
          <a:prstGeom prst="rect">
            <a:avLst/>
          </a:prstGeom>
          <a:noFill/>
        </p:spPr>
      </p:pic>
      <p:grpSp>
        <p:nvGrpSpPr>
          <p:cNvPr id="32" name="Groupe 31"/>
          <p:cNvGrpSpPr/>
          <p:nvPr/>
        </p:nvGrpSpPr>
        <p:grpSpPr>
          <a:xfrm>
            <a:off x="7641526" y="3060700"/>
            <a:ext cx="1365250" cy="984250"/>
            <a:chOff x="7641526" y="3060700"/>
            <a:chExt cx="1365250" cy="984250"/>
          </a:xfrm>
        </p:grpSpPr>
        <p:pic>
          <p:nvPicPr>
            <p:cNvPr id="407624" name="Picture 72" descr="Site01"/>
            <p:cNvPicPr>
              <a:picLocks noChangeAspect="1" noChangeArrowheads="1"/>
            </p:cNvPicPr>
            <p:nvPr>
              <p:custDataLst>
                <p:tags r:id="rId16"/>
              </p:custDataLst>
            </p:nvPr>
          </p:nvPicPr>
          <p:blipFill>
            <a:blip r:embed="rId27" cstate="print"/>
            <a:srcRect/>
            <a:stretch>
              <a:fillRect/>
            </a:stretch>
          </p:blipFill>
          <p:spPr bwMode="auto">
            <a:xfrm>
              <a:off x="7641526" y="3424238"/>
              <a:ext cx="1270000" cy="620712"/>
            </a:xfrm>
            <a:prstGeom prst="rect">
              <a:avLst/>
            </a:prstGeom>
            <a:noFill/>
          </p:spPr>
        </p:pic>
        <p:grpSp>
          <p:nvGrpSpPr>
            <p:cNvPr id="407650" name="Group 73"/>
            <p:cNvGrpSpPr>
              <a:grpSpLocks/>
            </p:cNvGrpSpPr>
            <p:nvPr>
              <p:custDataLst>
                <p:tags r:id="rId17"/>
              </p:custDataLst>
            </p:nvPr>
          </p:nvGrpSpPr>
          <p:grpSpPr bwMode="auto">
            <a:xfrm>
              <a:off x="7655813" y="3060700"/>
              <a:ext cx="850900" cy="809625"/>
              <a:chOff x="4210" y="1928"/>
              <a:chExt cx="536" cy="510"/>
            </a:xfrm>
          </p:grpSpPr>
          <p:pic>
            <p:nvPicPr>
              <p:cNvPr id="407626" name="Picture 74" descr="Computer_DesktopComputer01"/>
              <p:cNvPicPr>
                <a:picLocks noChangeAspect="1" noChangeArrowheads="1"/>
              </p:cNvPicPr>
              <p:nvPr>
                <p:custDataLst>
                  <p:tags r:id="rId20"/>
                </p:custDataLst>
              </p:nvPr>
            </p:nvPicPr>
            <p:blipFill>
              <a:blip r:embed="rId28" cstate="print"/>
              <a:srcRect/>
              <a:stretch>
                <a:fillRect/>
              </a:stretch>
            </p:blipFill>
            <p:spPr bwMode="auto">
              <a:xfrm>
                <a:off x="4395" y="1928"/>
                <a:ext cx="270" cy="303"/>
              </a:xfrm>
              <a:prstGeom prst="rect">
                <a:avLst/>
              </a:prstGeom>
              <a:noFill/>
            </p:spPr>
          </p:pic>
          <p:pic>
            <p:nvPicPr>
              <p:cNvPr id="407627" name="Picture 75" descr="Computer_DesktopComputer01"/>
              <p:cNvPicPr>
                <a:picLocks noChangeAspect="1" noChangeArrowheads="1"/>
              </p:cNvPicPr>
              <p:nvPr>
                <p:custDataLst>
                  <p:tags r:id="rId21"/>
                </p:custDataLst>
              </p:nvPr>
            </p:nvPicPr>
            <p:blipFill>
              <a:blip r:embed="rId28" cstate="print"/>
              <a:srcRect/>
              <a:stretch>
                <a:fillRect/>
              </a:stretch>
            </p:blipFill>
            <p:spPr bwMode="auto">
              <a:xfrm>
                <a:off x="4210" y="2126"/>
                <a:ext cx="270" cy="303"/>
              </a:xfrm>
              <a:prstGeom prst="rect">
                <a:avLst/>
              </a:prstGeom>
              <a:noFill/>
            </p:spPr>
          </p:pic>
          <p:pic>
            <p:nvPicPr>
              <p:cNvPr id="407628" name="Picture 76" descr="Computer_DesktopComputer01"/>
              <p:cNvPicPr>
                <a:picLocks noChangeAspect="1" noChangeArrowheads="1"/>
              </p:cNvPicPr>
              <p:nvPr>
                <p:custDataLst>
                  <p:tags r:id="rId22"/>
                </p:custDataLst>
              </p:nvPr>
            </p:nvPicPr>
            <p:blipFill>
              <a:blip r:embed="rId28" cstate="print"/>
              <a:srcRect/>
              <a:stretch>
                <a:fillRect/>
              </a:stretch>
            </p:blipFill>
            <p:spPr bwMode="auto">
              <a:xfrm>
                <a:off x="4476" y="2135"/>
                <a:ext cx="270" cy="303"/>
              </a:xfrm>
              <a:prstGeom prst="rect">
                <a:avLst/>
              </a:prstGeom>
              <a:noFill/>
            </p:spPr>
          </p:pic>
        </p:grpSp>
        <p:pic>
          <p:nvPicPr>
            <p:cNvPr id="407630" name="Picture 78" descr="Security_Secured01"/>
            <p:cNvPicPr>
              <a:picLocks noChangeAspect="1" noChangeArrowheads="1"/>
            </p:cNvPicPr>
            <p:nvPr>
              <p:custDataLst>
                <p:tags r:id="rId18"/>
              </p:custDataLst>
            </p:nvPr>
          </p:nvPicPr>
          <p:blipFill>
            <a:blip r:embed="rId29" cstate="print"/>
            <a:srcRect/>
            <a:stretch>
              <a:fillRect/>
            </a:stretch>
          </p:blipFill>
          <p:spPr bwMode="auto">
            <a:xfrm>
              <a:off x="8554338" y="3251200"/>
              <a:ext cx="346075" cy="557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407631" name="Picture 79" descr="Security_Permissions01"/>
            <p:cNvPicPr>
              <a:picLocks noChangeAspect="1" noChangeArrowheads="1"/>
            </p:cNvPicPr>
            <p:nvPr>
              <p:custDataLst>
                <p:tags r:id="rId19"/>
              </p:custDataLst>
            </p:nvPr>
          </p:nvPicPr>
          <p:blipFill>
            <a:blip r:embed="rId30" cstate="print"/>
            <a:srcRect/>
            <a:stretch>
              <a:fillRect/>
            </a:stretch>
          </p:blipFill>
          <p:spPr bwMode="auto">
            <a:xfrm>
              <a:off x="8736901" y="3630613"/>
              <a:ext cx="269875" cy="3794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pic>
        <p:nvPicPr>
          <p:cNvPr id="407633" name="Picture 81" descr="Users01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31" cstate="print"/>
          <a:srcRect/>
          <a:stretch>
            <a:fillRect/>
          </a:stretch>
        </p:blipFill>
        <p:spPr bwMode="auto">
          <a:xfrm>
            <a:off x="6555676" y="1389063"/>
            <a:ext cx="817562" cy="995362"/>
          </a:xfrm>
          <a:prstGeom prst="rect">
            <a:avLst/>
          </a:prstGeom>
          <a:noFill/>
        </p:spPr>
      </p:pic>
      <p:grpSp>
        <p:nvGrpSpPr>
          <p:cNvPr id="31" name="Groupe 30"/>
          <p:cNvGrpSpPr/>
          <p:nvPr/>
        </p:nvGrpSpPr>
        <p:grpSpPr>
          <a:xfrm>
            <a:off x="7768526" y="1438275"/>
            <a:ext cx="931862" cy="887413"/>
            <a:chOff x="7768526" y="1438275"/>
            <a:chExt cx="931862" cy="887413"/>
          </a:xfrm>
        </p:grpSpPr>
        <p:pic>
          <p:nvPicPr>
            <p:cNvPr id="407635" name="Picture 83" descr="Computer_DesktopComputer01"/>
            <p:cNvPicPr>
              <a:picLocks noChangeAspect="1" noChangeArrowheads="1"/>
            </p:cNvPicPr>
            <p:nvPr>
              <p:custDataLst>
                <p:tags r:id="rId13"/>
              </p:custDataLst>
            </p:nvPr>
          </p:nvPicPr>
          <p:blipFill>
            <a:blip r:embed="rId32" cstate="print"/>
            <a:srcRect/>
            <a:stretch>
              <a:fillRect/>
            </a:stretch>
          </p:blipFill>
          <p:spPr bwMode="auto">
            <a:xfrm>
              <a:off x="8090788" y="1438275"/>
              <a:ext cx="468313" cy="527050"/>
            </a:xfrm>
            <a:prstGeom prst="rect">
              <a:avLst/>
            </a:prstGeom>
            <a:noFill/>
          </p:spPr>
        </p:pic>
        <p:pic>
          <p:nvPicPr>
            <p:cNvPr id="407636" name="Picture 84" descr="Computer_DesktopComputer01"/>
            <p:cNvPicPr>
              <a:picLocks noChangeAspect="1" noChangeArrowheads="1"/>
            </p:cNvPicPr>
            <p:nvPr>
              <p:custDataLst>
                <p:tags r:id="rId14"/>
              </p:custDataLst>
            </p:nvPr>
          </p:nvPicPr>
          <p:blipFill>
            <a:blip r:embed="rId32" cstate="print"/>
            <a:srcRect/>
            <a:stretch>
              <a:fillRect/>
            </a:stretch>
          </p:blipFill>
          <p:spPr bwMode="auto">
            <a:xfrm>
              <a:off x="7768526" y="1782763"/>
              <a:ext cx="469900" cy="527050"/>
            </a:xfrm>
            <a:prstGeom prst="rect">
              <a:avLst/>
            </a:prstGeom>
            <a:noFill/>
          </p:spPr>
        </p:pic>
        <p:pic>
          <p:nvPicPr>
            <p:cNvPr id="407637" name="Picture 85" descr="Computer_DesktopComputer01"/>
            <p:cNvPicPr>
              <a:picLocks noChangeAspect="1" noChangeArrowheads="1"/>
            </p:cNvPicPr>
            <p:nvPr>
              <p:custDataLst>
                <p:tags r:id="rId15"/>
              </p:custDataLst>
            </p:nvPr>
          </p:nvPicPr>
          <p:blipFill>
            <a:blip r:embed="rId32" cstate="print"/>
            <a:srcRect/>
            <a:stretch>
              <a:fillRect/>
            </a:stretch>
          </p:blipFill>
          <p:spPr bwMode="auto">
            <a:xfrm>
              <a:off x="8230488" y="1798638"/>
              <a:ext cx="469900" cy="527050"/>
            </a:xfrm>
            <a:prstGeom prst="rect">
              <a:avLst/>
            </a:prstGeom>
            <a:noFill/>
          </p:spPr>
        </p:pic>
      </p:grpSp>
      <p:sp>
        <p:nvSpPr>
          <p:cNvPr id="407638" name="Freeform 86"/>
          <p:cNvSpPr>
            <a:spLocks/>
          </p:cNvSpPr>
          <p:nvPr>
            <p:custDataLst>
              <p:tags r:id="rId3"/>
            </p:custDataLst>
          </p:nvPr>
        </p:nvSpPr>
        <p:spPr bwMode="auto">
          <a:xfrm>
            <a:off x="8184451" y="2341563"/>
            <a:ext cx="377825" cy="673100"/>
          </a:xfrm>
          <a:custGeom>
            <a:avLst/>
            <a:gdLst/>
            <a:ahLst/>
            <a:cxnLst>
              <a:cxn ang="0">
                <a:pos x="96" y="277"/>
              </a:cxn>
              <a:cxn ang="0">
                <a:pos x="0" y="277"/>
              </a:cxn>
              <a:cxn ang="0">
                <a:pos x="155" y="424"/>
              </a:cxn>
              <a:cxn ang="0">
                <a:pos x="161" y="420"/>
              </a:cxn>
              <a:cxn ang="0">
                <a:pos x="306" y="274"/>
              </a:cxn>
              <a:cxn ang="0">
                <a:pos x="210" y="271"/>
              </a:cxn>
              <a:cxn ang="0">
                <a:pos x="155" y="0"/>
              </a:cxn>
              <a:cxn ang="0">
                <a:pos x="96" y="277"/>
              </a:cxn>
            </a:cxnLst>
            <a:rect l="0" t="0" r="r" b="b"/>
            <a:pathLst>
              <a:path w="306" h="424">
                <a:moveTo>
                  <a:pt x="96" y="277"/>
                </a:moveTo>
                <a:lnTo>
                  <a:pt x="0" y="277"/>
                </a:lnTo>
                <a:lnTo>
                  <a:pt x="155" y="424"/>
                </a:lnTo>
                <a:lnTo>
                  <a:pt x="161" y="420"/>
                </a:lnTo>
                <a:lnTo>
                  <a:pt x="306" y="274"/>
                </a:lnTo>
                <a:lnTo>
                  <a:pt x="210" y="271"/>
                </a:lnTo>
                <a:lnTo>
                  <a:pt x="155" y="0"/>
                </a:lnTo>
                <a:lnTo>
                  <a:pt x="96" y="277"/>
                </a:lnTo>
                <a:close/>
              </a:path>
            </a:pathLst>
          </a:custGeom>
          <a:solidFill>
            <a:srgbClr val="FF0000">
              <a:alpha val="75000"/>
            </a:srgbClr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pic>
        <p:nvPicPr>
          <p:cNvPr id="407640" name="Picture 88" descr="Site01"/>
          <p:cNvPicPr>
            <a:picLocks noChangeAspect="1" noChangeArrowheads="1"/>
          </p:cNvPicPr>
          <p:nvPr>
            <p:custDataLst>
              <p:tags r:id="rId4"/>
            </p:custDataLst>
          </p:nvPr>
        </p:nvPicPr>
        <p:blipFill>
          <a:blip r:embed="rId33"/>
          <a:srcRect/>
          <a:stretch>
            <a:fillRect/>
          </a:stretch>
        </p:blipFill>
        <p:spPr bwMode="auto">
          <a:xfrm>
            <a:off x="6639813" y="5133975"/>
            <a:ext cx="1978025" cy="981075"/>
          </a:xfrm>
          <a:prstGeom prst="rect">
            <a:avLst/>
          </a:prstGeom>
          <a:noFill/>
        </p:spPr>
      </p:pic>
      <p:pic>
        <p:nvPicPr>
          <p:cNvPr id="407641" name="Picture 89" descr="Security_keys"/>
          <p:cNvPicPr>
            <a:picLocks noChangeAspect="1" noChangeArrowheads="1"/>
          </p:cNvPicPr>
          <p:nvPr>
            <p:custDataLst>
              <p:tags r:id="rId5"/>
            </p:custDataLst>
          </p:nvPr>
        </p:nvPicPr>
        <p:blipFill>
          <a:blip r:embed="rId34" cstate="print"/>
          <a:srcRect/>
          <a:stretch>
            <a:fillRect/>
          </a:stretch>
        </p:blipFill>
        <p:spPr bwMode="auto">
          <a:xfrm>
            <a:off x="6711251" y="5443538"/>
            <a:ext cx="550862" cy="660400"/>
          </a:xfrm>
          <a:prstGeom prst="rect">
            <a:avLst/>
          </a:prstGeom>
          <a:noFill/>
        </p:spPr>
      </p:pic>
      <p:pic>
        <p:nvPicPr>
          <p:cNvPr id="407642" name="Picture 90" descr="Database"/>
          <p:cNvPicPr>
            <a:picLocks noChangeAspect="1" noChangeArrowheads="1"/>
          </p:cNvPicPr>
          <p:nvPr>
            <p:custDataLst>
              <p:tags r:id="rId6"/>
            </p:custDataLst>
          </p:nvPr>
        </p:nvPicPr>
        <p:blipFill>
          <a:blip r:embed="rId35" cstate="print"/>
          <a:srcRect/>
          <a:stretch>
            <a:fillRect/>
          </a:stretch>
        </p:blipFill>
        <p:spPr bwMode="auto">
          <a:xfrm>
            <a:off x="6979538" y="4946650"/>
            <a:ext cx="649288" cy="458788"/>
          </a:xfrm>
          <a:prstGeom prst="rect">
            <a:avLst/>
          </a:prstGeom>
          <a:noFill/>
        </p:spPr>
      </p:pic>
      <p:pic>
        <p:nvPicPr>
          <p:cNvPr id="407643" name="Picture 91" descr="NetworkPrinter01"/>
          <p:cNvPicPr>
            <a:picLocks noChangeAspect="1" noChangeArrowheads="1"/>
          </p:cNvPicPr>
          <p:nvPr>
            <p:custDataLst>
              <p:tags r:id="rId7"/>
            </p:custDataLst>
          </p:nvPr>
        </p:nvPicPr>
        <p:blipFill>
          <a:blip r:embed="rId36" cstate="print"/>
          <a:srcRect/>
          <a:stretch>
            <a:fillRect/>
          </a:stretch>
        </p:blipFill>
        <p:spPr bwMode="auto">
          <a:xfrm>
            <a:off x="7652638" y="4813300"/>
            <a:ext cx="763588" cy="755650"/>
          </a:xfrm>
          <a:prstGeom prst="rect">
            <a:avLst/>
          </a:prstGeom>
          <a:noFill/>
        </p:spPr>
      </p:pic>
      <p:pic>
        <p:nvPicPr>
          <p:cNvPr id="407645" name="Picture 93" descr="Folder_FolderOpen01"/>
          <p:cNvPicPr>
            <a:picLocks noChangeAspect="1" noChangeArrowheads="1"/>
          </p:cNvPicPr>
          <p:nvPr>
            <p:custDataLst>
              <p:tags r:id="rId8"/>
            </p:custDataLst>
          </p:nvPr>
        </p:nvPicPr>
        <p:blipFill>
          <a:blip r:embed="rId37" cstate="print"/>
          <a:srcRect/>
          <a:stretch>
            <a:fillRect/>
          </a:stretch>
        </p:blipFill>
        <p:spPr bwMode="auto">
          <a:xfrm>
            <a:off x="7544688" y="5565775"/>
            <a:ext cx="669925" cy="598488"/>
          </a:xfrm>
          <a:prstGeom prst="rect">
            <a:avLst/>
          </a:prstGeom>
          <a:noFill/>
        </p:spPr>
      </p:pic>
      <p:pic>
        <p:nvPicPr>
          <p:cNvPr id="407646" name="Picture 94" descr="Shared Hand-3"/>
          <p:cNvPicPr>
            <a:picLocks noChangeAspect="1" noChangeArrowheads="1"/>
          </p:cNvPicPr>
          <p:nvPr>
            <p:custDataLst>
              <p:tags r:id="rId9"/>
            </p:custDataLst>
          </p:nvPr>
        </p:nvPicPr>
        <p:blipFill>
          <a:blip r:embed="rId38"/>
          <a:srcRect/>
          <a:stretch>
            <a:fillRect/>
          </a:stretch>
        </p:blipFill>
        <p:spPr bwMode="auto">
          <a:xfrm>
            <a:off x="7441501" y="5926138"/>
            <a:ext cx="669925" cy="292100"/>
          </a:xfrm>
          <a:prstGeom prst="rect">
            <a:avLst/>
          </a:prstGeom>
          <a:noFill/>
        </p:spPr>
      </p:pic>
      <p:sp>
        <p:nvSpPr>
          <p:cNvPr id="407647" name="Freeform 95"/>
          <p:cNvSpPr>
            <a:spLocks/>
          </p:cNvSpPr>
          <p:nvPr>
            <p:custDataLst>
              <p:tags r:id="rId10"/>
            </p:custDataLst>
          </p:nvPr>
        </p:nvSpPr>
        <p:spPr bwMode="auto">
          <a:xfrm rot="7607327">
            <a:off x="8084439" y="4106862"/>
            <a:ext cx="715962" cy="646113"/>
          </a:xfrm>
          <a:custGeom>
            <a:avLst/>
            <a:gdLst/>
            <a:ahLst/>
            <a:cxnLst>
              <a:cxn ang="0">
                <a:pos x="430" y="149"/>
              </a:cxn>
              <a:cxn ang="0">
                <a:pos x="427" y="165"/>
              </a:cxn>
              <a:cxn ang="0">
                <a:pos x="425" y="182"/>
              </a:cxn>
              <a:cxn ang="0">
                <a:pos x="422" y="204"/>
              </a:cxn>
              <a:cxn ang="0">
                <a:pos x="671" y="98"/>
              </a:cxn>
              <a:cxn ang="0">
                <a:pos x="422" y="0"/>
              </a:cxn>
              <a:cxn ang="0">
                <a:pos x="425" y="20"/>
              </a:cxn>
              <a:cxn ang="0">
                <a:pos x="427" y="37"/>
              </a:cxn>
              <a:cxn ang="0">
                <a:pos x="430" y="53"/>
              </a:cxn>
              <a:cxn ang="0">
                <a:pos x="414" y="55"/>
              </a:cxn>
              <a:cxn ang="0">
                <a:pos x="396" y="58"/>
              </a:cxn>
              <a:cxn ang="0">
                <a:pos x="372" y="62"/>
              </a:cxn>
              <a:cxn ang="0">
                <a:pos x="343" y="69"/>
              </a:cxn>
              <a:cxn ang="0">
                <a:pos x="311" y="78"/>
              </a:cxn>
              <a:cxn ang="0">
                <a:pos x="275" y="90"/>
              </a:cxn>
              <a:cxn ang="0">
                <a:pos x="258" y="97"/>
              </a:cxn>
              <a:cxn ang="0">
                <a:pos x="239" y="105"/>
              </a:cxn>
              <a:cxn ang="0">
                <a:pos x="220" y="114"/>
              </a:cxn>
              <a:cxn ang="0">
                <a:pos x="201" y="124"/>
              </a:cxn>
              <a:cxn ang="0">
                <a:pos x="182" y="136"/>
              </a:cxn>
              <a:cxn ang="0">
                <a:pos x="164" y="147"/>
              </a:cxn>
              <a:cxn ang="0">
                <a:pos x="146" y="161"/>
              </a:cxn>
              <a:cxn ang="0">
                <a:pos x="127" y="175"/>
              </a:cxn>
              <a:cxn ang="0">
                <a:pos x="111" y="191"/>
              </a:cxn>
              <a:cxn ang="0">
                <a:pos x="94" y="208"/>
              </a:cxn>
              <a:cxn ang="0">
                <a:pos x="78" y="226"/>
              </a:cxn>
              <a:cxn ang="0">
                <a:pos x="64" y="246"/>
              </a:cxn>
              <a:cxn ang="0">
                <a:pos x="49" y="268"/>
              </a:cxn>
              <a:cxn ang="0">
                <a:pos x="38" y="290"/>
              </a:cxn>
              <a:cxn ang="0">
                <a:pos x="32" y="301"/>
              </a:cxn>
              <a:cxn ang="0">
                <a:pos x="26" y="314"/>
              </a:cxn>
              <a:cxn ang="0">
                <a:pos x="20" y="326"/>
              </a:cxn>
              <a:cxn ang="0">
                <a:pos x="16" y="339"/>
              </a:cxn>
              <a:cxn ang="0">
                <a:pos x="7" y="366"/>
              </a:cxn>
              <a:cxn ang="0">
                <a:pos x="0" y="395"/>
              </a:cxn>
              <a:cxn ang="0">
                <a:pos x="7" y="382"/>
              </a:cxn>
              <a:cxn ang="0">
                <a:pos x="13" y="369"/>
              </a:cxn>
              <a:cxn ang="0">
                <a:pos x="27" y="345"/>
              </a:cxn>
              <a:cxn ang="0">
                <a:pos x="42" y="323"/>
              </a:cxn>
              <a:cxn ang="0">
                <a:pos x="56" y="301"/>
              </a:cxn>
              <a:cxn ang="0">
                <a:pos x="72" y="282"/>
              </a:cxn>
              <a:cxn ang="0">
                <a:pos x="90" y="265"/>
              </a:cxn>
              <a:cxn ang="0">
                <a:pos x="106" y="249"/>
              </a:cxn>
              <a:cxn ang="0">
                <a:pos x="123" y="234"/>
              </a:cxn>
              <a:cxn ang="0">
                <a:pos x="140" y="221"/>
              </a:cxn>
              <a:cxn ang="0">
                <a:pos x="159" y="210"/>
              </a:cxn>
              <a:cxn ang="0">
                <a:pos x="177" y="200"/>
              </a:cxn>
              <a:cxn ang="0">
                <a:pos x="194" y="190"/>
              </a:cxn>
              <a:cxn ang="0">
                <a:pos x="213" y="182"/>
              </a:cxn>
              <a:cxn ang="0">
                <a:pos x="230" y="175"/>
              </a:cxn>
              <a:cxn ang="0">
                <a:pos x="248" y="168"/>
              </a:cxn>
              <a:cxn ang="0">
                <a:pos x="265" y="163"/>
              </a:cxn>
              <a:cxn ang="0">
                <a:pos x="281" y="159"/>
              </a:cxn>
              <a:cxn ang="0">
                <a:pos x="298" y="156"/>
              </a:cxn>
              <a:cxn ang="0">
                <a:pos x="329" y="150"/>
              </a:cxn>
              <a:cxn ang="0">
                <a:pos x="343" y="149"/>
              </a:cxn>
              <a:cxn ang="0">
                <a:pos x="356" y="147"/>
              </a:cxn>
              <a:cxn ang="0">
                <a:pos x="381" y="147"/>
              </a:cxn>
              <a:cxn ang="0">
                <a:pos x="401" y="147"/>
              </a:cxn>
              <a:cxn ang="0">
                <a:pos x="417" y="147"/>
              </a:cxn>
              <a:cxn ang="0">
                <a:pos x="430" y="149"/>
              </a:cxn>
            </a:cxnLst>
            <a:rect l="0" t="0" r="r" b="b"/>
            <a:pathLst>
              <a:path w="671" h="395">
                <a:moveTo>
                  <a:pt x="430" y="149"/>
                </a:moveTo>
                <a:lnTo>
                  <a:pt x="427" y="165"/>
                </a:lnTo>
                <a:lnTo>
                  <a:pt x="425" y="182"/>
                </a:lnTo>
                <a:lnTo>
                  <a:pt x="422" y="204"/>
                </a:lnTo>
                <a:lnTo>
                  <a:pt x="671" y="98"/>
                </a:lnTo>
                <a:lnTo>
                  <a:pt x="422" y="0"/>
                </a:lnTo>
                <a:lnTo>
                  <a:pt x="425" y="20"/>
                </a:lnTo>
                <a:lnTo>
                  <a:pt x="427" y="37"/>
                </a:lnTo>
                <a:lnTo>
                  <a:pt x="430" y="53"/>
                </a:lnTo>
                <a:lnTo>
                  <a:pt x="414" y="55"/>
                </a:lnTo>
                <a:lnTo>
                  <a:pt x="396" y="58"/>
                </a:lnTo>
                <a:lnTo>
                  <a:pt x="372" y="62"/>
                </a:lnTo>
                <a:lnTo>
                  <a:pt x="343" y="69"/>
                </a:lnTo>
                <a:lnTo>
                  <a:pt x="311" y="78"/>
                </a:lnTo>
                <a:lnTo>
                  <a:pt x="275" y="90"/>
                </a:lnTo>
                <a:lnTo>
                  <a:pt x="258" y="97"/>
                </a:lnTo>
                <a:lnTo>
                  <a:pt x="239" y="105"/>
                </a:lnTo>
                <a:lnTo>
                  <a:pt x="220" y="114"/>
                </a:lnTo>
                <a:lnTo>
                  <a:pt x="201" y="124"/>
                </a:lnTo>
                <a:lnTo>
                  <a:pt x="182" y="136"/>
                </a:lnTo>
                <a:lnTo>
                  <a:pt x="164" y="147"/>
                </a:lnTo>
                <a:lnTo>
                  <a:pt x="146" y="161"/>
                </a:lnTo>
                <a:lnTo>
                  <a:pt x="127" y="175"/>
                </a:lnTo>
                <a:lnTo>
                  <a:pt x="111" y="191"/>
                </a:lnTo>
                <a:lnTo>
                  <a:pt x="94" y="208"/>
                </a:lnTo>
                <a:lnTo>
                  <a:pt x="78" y="226"/>
                </a:lnTo>
                <a:lnTo>
                  <a:pt x="64" y="246"/>
                </a:lnTo>
                <a:lnTo>
                  <a:pt x="49" y="268"/>
                </a:lnTo>
                <a:lnTo>
                  <a:pt x="38" y="290"/>
                </a:lnTo>
                <a:lnTo>
                  <a:pt x="32" y="301"/>
                </a:lnTo>
                <a:lnTo>
                  <a:pt x="26" y="314"/>
                </a:lnTo>
                <a:lnTo>
                  <a:pt x="20" y="326"/>
                </a:lnTo>
                <a:lnTo>
                  <a:pt x="16" y="339"/>
                </a:lnTo>
                <a:lnTo>
                  <a:pt x="7" y="366"/>
                </a:lnTo>
                <a:lnTo>
                  <a:pt x="0" y="395"/>
                </a:lnTo>
                <a:lnTo>
                  <a:pt x="7" y="382"/>
                </a:lnTo>
                <a:lnTo>
                  <a:pt x="13" y="369"/>
                </a:lnTo>
                <a:lnTo>
                  <a:pt x="27" y="345"/>
                </a:lnTo>
                <a:lnTo>
                  <a:pt x="42" y="323"/>
                </a:lnTo>
                <a:lnTo>
                  <a:pt x="56" y="301"/>
                </a:lnTo>
                <a:lnTo>
                  <a:pt x="72" y="282"/>
                </a:lnTo>
                <a:lnTo>
                  <a:pt x="90" y="265"/>
                </a:lnTo>
                <a:lnTo>
                  <a:pt x="106" y="249"/>
                </a:lnTo>
                <a:lnTo>
                  <a:pt x="123" y="234"/>
                </a:lnTo>
                <a:lnTo>
                  <a:pt x="140" y="221"/>
                </a:lnTo>
                <a:lnTo>
                  <a:pt x="159" y="210"/>
                </a:lnTo>
                <a:lnTo>
                  <a:pt x="177" y="200"/>
                </a:lnTo>
                <a:lnTo>
                  <a:pt x="194" y="190"/>
                </a:lnTo>
                <a:lnTo>
                  <a:pt x="213" y="182"/>
                </a:lnTo>
                <a:lnTo>
                  <a:pt x="230" y="175"/>
                </a:lnTo>
                <a:lnTo>
                  <a:pt x="248" y="168"/>
                </a:lnTo>
                <a:lnTo>
                  <a:pt x="265" y="163"/>
                </a:lnTo>
                <a:lnTo>
                  <a:pt x="281" y="159"/>
                </a:lnTo>
                <a:lnTo>
                  <a:pt x="298" y="156"/>
                </a:lnTo>
                <a:lnTo>
                  <a:pt x="329" y="150"/>
                </a:lnTo>
                <a:lnTo>
                  <a:pt x="343" y="149"/>
                </a:lnTo>
                <a:lnTo>
                  <a:pt x="356" y="147"/>
                </a:lnTo>
                <a:lnTo>
                  <a:pt x="381" y="147"/>
                </a:lnTo>
                <a:lnTo>
                  <a:pt x="401" y="147"/>
                </a:lnTo>
                <a:lnTo>
                  <a:pt x="417" y="147"/>
                </a:lnTo>
                <a:lnTo>
                  <a:pt x="430" y="149"/>
                </a:lnTo>
                <a:close/>
              </a:path>
            </a:pathLst>
          </a:custGeom>
          <a:solidFill>
            <a:srgbClr val="FF0000">
              <a:alpha val="75000"/>
            </a:srgbClr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407648" name="Freeform 96"/>
          <p:cNvSpPr>
            <a:spLocks/>
          </p:cNvSpPr>
          <p:nvPr>
            <p:custDataLst>
              <p:tags r:id="rId11"/>
            </p:custDataLst>
          </p:nvPr>
        </p:nvSpPr>
        <p:spPr bwMode="auto">
          <a:xfrm rot="13992673" flipH="1">
            <a:off x="6498526" y="4106863"/>
            <a:ext cx="715962" cy="646112"/>
          </a:xfrm>
          <a:custGeom>
            <a:avLst/>
            <a:gdLst/>
            <a:ahLst/>
            <a:cxnLst>
              <a:cxn ang="0">
                <a:pos x="430" y="149"/>
              </a:cxn>
              <a:cxn ang="0">
                <a:pos x="427" y="165"/>
              </a:cxn>
              <a:cxn ang="0">
                <a:pos x="425" y="182"/>
              </a:cxn>
              <a:cxn ang="0">
                <a:pos x="422" y="204"/>
              </a:cxn>
              <a:cxn ang="0">
                <a:pos x="671" y="98"/>
              </a:cxn>
              <a:cxn ang="0">
                <a:pos x="422" y="0"/>
              </a:cxn>
              <a:cxn ang="0">
                <a:pos x="425" y="20"/>
              </a:cxn>
              <a:cxn ang="0">
                <a:pos x="427" y="37"/>
              </a:cxn>
              <a:cxn ang="0">
                <a:pos x="430" y="53"/>
              </a:cxn>
              <a:cxn ang="0">
                <a:pos x="414" y="55"/>
              </a:cxn>
              <a:cxn ang="0">
                <a:pos x="396" y="58"/>
              </a:cxn>
              <a:cxn ang="0">
                <a:pos x="372" y="62"/>
              </a:cxn>
              <a:cxn ang="0">
                <a:pos x="343" y="69"/>
              </a:cxn>
              <a:cxn ang="0">
                <a:pos x="311" y="78"/>
              </a:cxn>
              <a:cxn ang="0">
                <a:pos x="275" y="90"/>
              </a:cxn>
              <a:cxn ang="0">
                <a:pos x="258" y="97"/>
              </a:cxn>
              <a:cxn ang="0">
                <a:pos x="239" y="105"/>
              </a:cxn>
              <a:cxn ang="0">
                <a:pos x="220" y="114"/>
              </a:cxn>
              <a:cxn ang="0">
                <a:pos x="201" y="124"/>
              </a:cxn>
              <a:cxn ang="0">
                <a:pos x="182" y="136"/>
              </a:cxn>
              <a:cxn ang="0">
                <a:pos x="164" y="147"/>
              </a:cxn>
              <a:cxn ang="0">
                <a:pos x="146" y="161"/>
              </a:cxn>
              <a:cxn ang="0">
                <a:pos x="127" y="175"/>
              </a:cxn>
              <a:cxn ang="0">
                <a:pos x="111" y="191"/>
              </a:cxn>
              <a:cxn ang="0">
                <a:pos x="94" y="208"/>
              </a:cxn>
              <a:cxn ang="0">
                <a:pos x="78" y="226"/>
              </a:cxn>
              <a:cxn ang="0">
                <a:pos x="64" y="246"/>
              </a:cxn>
              <a:cxn ang="0">
                <a:pos x="49" y="268"/>
              </a:cxn>
              <a:cxn ang="0">
                <a:pos x="38" y="290"/>
              </a:cxn>
              <a:cxn ang="0">
                <a:pos x="32" y="301"/>
              </a:cxn>
              <a:cxn ang="0">
                <a:pos x="26" y="314"/>
              </a:cxn>
              <a:cxn ang="0">
                <a:pos x="20" y="326"/>
              </a:cxn>
              <a:cxn ang="0">
                <a:pos x="16" y="339"/>
              </a:cxn>
              <a:cxn ang="0">
                <a:pos x="7" y="366"/>
              </a:cxn>
              <a:cxn ang="0">
                <a:pos x="0" y="395"/>
              </a:cxn>
              <a:cxn ang="0">
                <a:pos x="7" y="382"/>
              </a:cxn>
              <a:cxn ang="0">
                <a:pos x="13" y="369"/>
              </a:cxn>
              <a:cxn ang="0">
                <a:pos x="27" y="345"/>
              </a:cxn>
              <a:cxn ang="0">
                <a:pos x="42" y="323"/>
              </a:cxn>
              <a:cxn ang="0">
                <a:pos x="56" y="301"/>
              </a:cxn>
              <a:cxn ang="0">
                <a:pos x="72" y="282"/>
              </a:cxn>
              <a:cxn ang="0">
                <a:pos x="90" y="265"/>
              </a:cxn>
              <a:cxn ang="0">
                <a:pos x="106" y="249"/>
              </a:cxn>
              <a:cxn ang="0">
                <a:pos x="123" y="234"/>
              </a:cxn>
              <a:cxn ang="0">
                <a:pos x="140" y="221"/>
              </a:cxn>
              <a:cxn ang="0">
                <a:pos x="159" y="210"/>
              </a:cxn>
              <a:cxn ang="0">
                <a:pos x="177" y="200"/>
              </a:cxn>
              <a:cxn ang="0">
                <a:pos x="194" y="190"/>
              </a:cxn>
              <a:cxn ang="0">
                <a:pos x="213" y="182"/>
              </a:cxn>
              <a:cxn ang="0">
                <a:pos x="230" y="175"/>
              </a:cxn>
              <a:cxn ang="0">
                <a:pos x="248" y="168"/>
              </a:cxn>
              <a:cxn ang="0">
                <a:pos x="265" y="163"/>
              </a:cxn>
              <a:cxn ang="0">
                <a:pos x="281" y="159"/>
              </a:cxn>
              <a:cxn ang="0">
                <a:pos x="298" y="156"/>
              </a:cxn>
              <a:cxn ang="0">
                <a:pos x="329" y="150"/>
              </a:cxn>
              <a:cxn ang="0">
                <a:pos x="343" y="149"/>
              </a:cxn>
              <a:cxn ang="0">
                <a:pos x="356" y="147"/>
              </a:cxn>
              <a:cxn ang="0">
                <a:pos x="381" y="147"/>
              </a:cxn>
              <a:cxn ang="0">
                <a:pos x="401" y="147"/>
              </a:cxn>
              <a:cxn ang="0">
                <a:pos x="417" y="147"/>
              </a:cxn>
              <a:cxn ang="0">
                <a:pos x="430" y="149"/>
              </a:cxn>
            </a:cxnLst>
            <a:rect l="0" t="0" r="r" b="b"/>
            <a:pathLst>
              <a:path w="671" h="395">
                <a:moveTo>
                  <a:pt x="430" y="149"/>
                </a:moveTo>
                <a:lnTo>
                  <a:pt x="427" y="165"/>
                </a:lnTo>
                <a:lnTo>
                  <a:pt x="425" y="182"/>
                </a:lnTo>
                <a:lnTo>
                  <a:pt x="422" y="204"/>
                </a:lnTo>
                <a:lnTo>
                  <a:pt x="671" y="98"/>
                </a:lnTo>
                <a:lnTo>
                  <a:pt x="422" y="0"/>
                </a:lnTo>
                <a:lnTo>
                  <a:pt x="425" y="20"/>
                </a:lnTo>
                <a:lnTo>
                  <a:pt x="427" y="37"/>
                </a:lnTo>
                <a:lnTo>
                  <a:pt x="430" y="53"/>
                </a:lnTo>
                <a:lnTo>
                  <a:pt x="414" y="55"/>
                </a:lnTo>
                <a:lnTo>
                  <a:pt x="396" y="58"/>
                </a:lnTo>
                <a:lnTo>
                  <a:pt x="372" y="62"/>
                </a:lnTo>
                <a:lnTo>
                  <a:pt x="343" y="69"/>
                </a:lnTo>
                <a:lnTo>
                  <a:pt x="311" y="78"/>
                </a:lnTo>
                <a:lnTo>
                  <a:pt x="275" y="90"/>
                </a:lnTo>
                <a:lnTo>
                  <a:pt x="258" y="97"/>
                </a:lnTo>
                <a:lnTo>
                  <a:pt x="239" y="105"/>
                </a:lnTo>
                <a:lnTo>
                  <a:pt x="220" y="114"/>
                </a:lnTo>
                <a:lnTo>
                  <a:pt x="201" y="124"/>
                </a:lnTo>
                <a:lnTo>
                  <a:pt x="182" y="136"/>
                </a:lnTo>
                <a:lnTo>
                  <a:pt x="164" y="147"/>
                </a:lnTo>
                <a:lnTo>
                  <a:pt x="146" y="161"/>
                </a:lnTo>
                <a:lnTo>
                  <a:pt x="127" y="175"/>
                </a:lnTo>
                <a:lnTo>
                  <a:pt x="111" y="191"/>
                </a:lnTo>
                <a:lnTo>
                  <a:pt x="94" y="208"/>
                </a:lnTo>
                <a:lnTo>
                  <a:pt x="78" y="226"/>
                </a:lnTo>
                <a:lnTo>
                  <a:pt x="64" y="246"/>
                </a:lnTo>
                <a:lnTo>
                  <a:pt x="49" y="268"/>
                </a:lnTo>
                <a:lnTo>
                  <a:pt x="38" y="290"/>
                </a:lnTo>
                <a:lnTo>
                  <a:pt x="32" y="301"/>
                </a:lnTo>
                <a:lnTo>
                  <a:pt x="26" y="314"/>
                </a:lnTo>
                <a:lnTo>
                  <a:pt x="20" y="326"/>
                </a:lnTo>
                <a:lnTo>
                  <a:pt x="16" y="339"/>
                </a:lnTo>
                <a:lnTo>
                  <a:pt x="7" y="366"/>
                </a:lnTo>
                <a:lnTo>
                  <a:pt x="0" y="395"/>
                </a:lnTo>
                <a:lnTo>
                  <a:pt x="7" y="382"/>
                </a:lnTo>
                <a:lnTo>
                  <a:pt x="13" y="369"/>
                </a:lnTo>
                <a:lnTo>
                  <a:pt x="27" y="345"/>
                </a:lnTo>
                <a:lnTo>
                  <a:pt x="42" y="323"/>
                </a:lnTo>
                <a:lnTo>
                  <a:pt x="56" y="301"/>
                </a:lnTo>
                <a:lnTo>
                  <a:pt x="72" y="282"/>
                </a:lnTo>
                <a:lnTo>
                  <a:pt x="90" y="265"/>
                </a:lnTo>
                <a:lnTo>
                  <a:pt x="106" y="249"/>
                </a:lnTo>
                <a:lnTo>
                  <a:pt x="123" y="234"/>
                </a:lnTo>
                <a:lnTo>
                  <a:pt x="140" y="221"/>
                </a:lnTo>
                <a:lnTo>
                  <a:pt x="159" y="210"/>
                </a:lnTo>
                <a:lnTo>
                  <a:pt x="177" y="200"/>
                </a:lnTo>
                <a:lnTo>
                  <a:pt x="194" y="190"/>
                </a:lnTo>
                <a:lnTo>
                  <a:pt x="213" y="182"/>
                </a:lnTo>
                <a:lnTo>
                  <a:pt x="230" y="175"/>
                </a:lnTo>
                <a:lnTo>
                  <a:pt x="248" y="168"/>
                </a:lnTo>
                <a:lnTo>
                  <a:pt x="265" y="163"/>
                </a:lnTo>
                <a:lnTo>
                  <a:pt x="281" y="159"/>
                </a:lnTo>
                <a:lnTo>
                  <a:pt x="298" y="156"/>
                </a:lnTo>
                <a:lnTo>
                  <a:pt x="329" y="150"/>
                </a:lnTo>
                <a:lnTo>
                  <a:pt x="343" y="149"/>
                </a:lnTo>
                <a:lnTo>
                  <a:pt x="356" y="147"/>
                </a:lnTo>
                <a:lnTo>
                  <a:pt x="381" y="147"/>
                </a:lnTo>
                <a:lnTo>
                  <a:pt x="401" y="147"/>
                </a:lnTo>
                <a:lnTo>
                  <a:pt x="417" y="147"/>
                </a:lnTo>
                <a:lnTo>
                  <a:pt x="430" y="149"/>
                </a:lnTo>
                <a:close/>
              </a:path>
            </a:pathLst>
          </a:custGeom>
          <a:solidFill>
            <a:srgbClr val="FF0000">
              <a:alpha val="75000"/>
            </a:srgbClr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407649" name="Freeform 97"/>
          <p:cNvSpPr>
            <a:spLocks/>
          </p:cNvSpPr>
          <p:nvPr>
            <p:custDataLst>
              <p:tags r:id="rId12"/>
            </p:custDataLst>
          </p:nvPr>
        </p:nvSpPr>
        <p:spPr bwMode="auto">
          <a:xfrm>
            <a:off x="6733476" y="2341563"/>
            <a:ext cx="377825" cy="673100"/>
          </a:xfrm>
          <a:custGeom>
            <a:avLst/>
            <a:gdLst/>
            <a:ahLst/>
            <a:cxnLst>
              <a:cxn ang="0">
                <a:pos x="96" y="277"/>
              </a:cxn>
              <a:cxn ang="0">
                <a:pos x="0" y="277"/>
              </a:cxn>
              <a:cxn ang="0">
                <a:pos x="155" y="424"/>
              </a:cxn>
              <a:cxn ang="0">
                <a:pos x="161" y="420"/>
              </a:cxn>
              <a:cxn ang="0">
                <a:pos x="306" y="274"/>
              </a:cxn>
              <a:cxn ang="0">
                <a:pos x="210" y="271"/>
              </a:cxn>
              <a:cxn ang="0">
                <a:pos x="155" y="0"/>
              </a:cxn>
              <a:cxn ang="0">
                <a:pos x="96" y="277"/>
              </a:cxn>
            </a:cxnLst>
            <a:rect l="0" t="0" r="r" b="b"/>
            <a:pathLst>
              <a:path w="306" h="424">
                <a:moveTo>
                  <a:pt x="96" y="277"/>
                </a:moveTo>
                <a:lnTo>
                  <a:pt x="0" y="277"/>
                </a:lnTo>
                <a:lnTo>
                  <a:pt x="155" y="424"/>
                </a:lnTo>
                <a:lnTo>
                  <a:pt x="161" y="420"/>
                </a:lnTo>
                <a:lnTo>
                  <a:pt x="306" y="274"/>
                </a:lnTo>
                <a:lnTo>
                  <a:pt x="210" y="271"/>
                </a:lnTo>
                <a:lnTo>
                  <a:pt x="155" y="0"/>
                </a:lnTo>
                <a:lnTo>
                  <a:pt x="96" y="277"/>
                </a:lnTo>
                <a:close/>
              </a:path>
            </a:pathLst>
          </a:custGeom>
          <a:solidFill>
            <a:srgbClr val="FF0000">
              <a:alpha val="75000"/>
            </a:srgbClr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1000"/>
                                        <p:tgtEl>
                                          <p:spTgt spid="407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1000"/>
                                        <p:tgtEl>
                                          <p:spTgt spid="407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1000"/>
                                        <p:tgtEl>
                                          <p:spTgt spid="407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1000"/>
                                        <p:tgtEl>
                                          <p:spTgt spid="4076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1000"/>
                                        <p:tgtEl>
                                          <p:spTgt spid="407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6" dur="1000"/>
                                        <p:tgtEl>
                                          <p:spTgt spid="407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9" dur="1000"/>
                                        <p:tgtEl>
                                          <p:spTgt spid="407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6" dur="1000"/>
                                        <p:tgtEl>
                                          <p:spTgt spid="4076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000"/>
                            </p:stCondLst>
                            <p:childTnLst>
                              <p:par>
                                <p:cTn id="38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0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5" dur="1000"/>
                                        <p:tgtEl>
                                          <p:spTgt spid="407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8" dur="1000"/>
                                        <p:tgtEl>
                                          <p:spTgt spid="407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1" dur="1000"/>
                                        <p:tgtEl>
                                          <p:spTgt spid="407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4" dur="1000"/>
                                        <p:tgtEl>
                                          <p:spTgt spid="4076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7" dur="1000"/>
                                        <p:tgtEl>
                                          <p:spTgt spid="4076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0" dur="1000"/>
                                        <p:tgtEl>
                                          <p:spTgt spid="4076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3" dur="1000"/>
                                        <p:tgtEl>
                                          <p:spTgt spid="4076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6" dur="1000"/>
                                        <p:tgtEl>
                                          <p:spTgt spid="4076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9" dur="1000"/>
                                        <p:tgtEl>
                                          <p:spTgt spid="4076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2" dur="1000"/>
                                        <p:tgtEl>
                                          <p:spTgt spid="4076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7612" grpId="0" animBg="1"/>
      <p:bldP spid="407613" grpId="0" animBg="1"/>
      <p:bldP spid="407615" grpId="0" animBg="1"/>
      <p:bldP spid="407616" grpId="0" animBg="1"/>
      <p:bldP spid="407618" grpId="0" animBg="1"/>
      <p:bldP spid="407619" grpId="0" animBg="1"/>
      <p:bldP spid="407638" grpId="0" animBg="1"/>
      <p:bldP spid="407647" grpId="0" animBg="1"/>
      <p:bldP spid="407648" grpId="0" animBg="1"/>
      <p:bldP spid="40764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658" name="Rectangle 2"/>
          <p:cNvSpPr>
            <a:spLocks noGrp="1" noChangeArrowheads="1"/>
          </p:cNvSpPr>
          <p:nvPr>
            <p:ph type="title"/>
          </p:nvPr>
        </p:nvSpPr>
        <p:spPr>
          <a:xfrm>
            <a:off x="188685" y="228600"/>
            <a:ext cx="8781143" cy="758952"/>
          </a:xfrm>
        </p:spPr>
        <p:txBody>
          <a:bodyPr>
            <a:normAutofit fontScale="90000"/>
          </a:bodyPr>
          <a:lstStyle/>
          <a:p>
            <a:pPr marL="514350" indent="-514350"/>
            <a:r>
              <a:rPr lang="fr-FR" b="1" dirty="0" smtClean="0">
                <a:solidFill>
                  <a:schemeClr val="tx1"/>
                </a:solidFill>
              </a:rPr>
              <a:t>2. Implémentation de comptes d’utilisateurs</a:t>
            </a:r>
          </a:p>
        </p:txBody>
      </p:sp>
      <p:sp>
        <p:nvSpPr>
          <p:cNvPr id="32665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299114" y="2468747"/>
            <a:ext cx="8503920" cy="1746993"/>
          </a:xfrm>
        </p:spPr>
        <p:txBody>
          <a:bodyPr>
            <a:normAutofit/>
          </a:bodyPr>
          <a:lstStyle/>
          <a:p>
            <a:pPr marL="514350" indent="-514350">
              <a:buClr>
                <a:schemeClr val="tx1"/>
              </a:buClr>
              <a:buFont typeface="Wingdings" pitchFamily="2" charset="2"/>
              <a:buChar char="q"/>
            </a:pPr>
            <a:r>
              <a:rPr lang="fr-FR" sz="3000" dirty="0" smtClean="0">
                <a:solidFill>
                  <a:srgbClr val="C00000"/>
                </a:solidFill>
              </a:rPr>
              <a:t>Définition d'un nom d'utilisateur principal</a:t>
            </a:r>
          </a:p>
          <a:p>
            <a:pPr marL="514350" indent="-514350">
              <a:buClr>
                <a:schemeClr val="tx1"/>
              </a:buClr>
              <a:buFont typeface="Wingdings" pitchFamily="2" charset="2"/>
              <a:buChar char="q"/>
            </a:pPr>
            <a:r>
              <a:rPr lang="fr-FR" sz="3000" dirty="0" smtClean="0">
                <a:solidFill>
                  <a:srgbClr val="C00000"/>
                </a:solidFill>
              </a:rPr>
              <a:t>Fonctionnement du routage des suffixes de </a:t>
            </a:r>
            <a:r>
              <a:rPr lang="fr-FR" sz="3000" dirty="0" smtClean="0">
                <a:solidFill>
                  <a:srgbClr val="C00000"/>
                </a:solidFill>
              </a:rPr>
              <a:t>noms</a:t>
            </a:r>
            <a:endParaRPr lang="en-US" sz="3000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890" name="Rectangle 2"/>
          <p:cNvSpPr>
            <a:spLocks noGrp="1" noChangeArrowheads="1"/>
          </p:cNvSpPr>
          <p:nvPr>
            <p:ph type="title"/>
          </p:nvPr>
        </p:nvSpPr>
        <p:spPr>
          <a:xfrm>
            <a:off x="188685" y="228600"/>
            <a:ext cx="8781143" cy="758952"/>
          </a:xfrm>
        </p:spPr>
        <p:txBody>
          <a:bodyPr>
            <a:normAutofit fontScale="90000"/>
          </a:bodyPr>
          <a:lstStyle/>
          <a:p>
            <a:r>
              <a:rPr lang="fr-FR" b="1" dirty="0">
                <a:solidFill>
                  <a:srgbClr val="C00000"/>
                </a:solidFill>
              </a:rPr>
              <a:t>Définition d'un nom d'utilisateur principal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421892" name="Rectangle 4"/>
          <p:cNvSpPr>
            <a:spLocks noChangeArrowheads="1"/>
          </p:cNvSpPr>
          <p:nvPr/>
        </p:nvSpPr>
        <p:spPr bwMode="auto">
          <a:xfrm>
            <a:off x="319314" y="1603374"/>
            <a:ext cx="8418285" cy="4478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marL="228600" indent="-228600" algn="l">
              <a:lnSpc>
                <a:spcPct val="90000"/>
              </a:lnSpc>
              <a:spcBef>
                <a:spcPct val="40000"/>
              </a:spcBef>
              <a:buClr>
                <a:srgbClr val="8DACD0"/>
              </a:buClr>
              <a:buSzPct val="70000"/>
              <a:buFont typeface="Wingdings" pitchFamily="2" charset="2"/>
              <a:buBlip>
                <a:blip r:embed="rId3"/>
              </a:buBlip>
            </a:pPr>
            <a:r>
              <a:rPr lang="fr-FR" sz="2600" dirty="0">
                <a:solidFill>
                  <a:srgbClr val="000000"/>
                </a:solidFill>
              </a:rPr>
              <a:t>Un nom d'ouverture de session utilisé uniquement pour la connexion à un réseau Windows Server 2003</a:t>
            </a:r>
            <a:endParaRPr lang="en-US" sz="2600" dirty="0"/>
          </a:p>
          <a:p>
            <a:pPr marL="228600" indent="-228600" algn="l">
              <a:lnSpc>
                <a:spcPct val="90000"/>
              </a:lnSpc>
              <a:spcBef>
                <a:spcPct val="40000"/>
              </a:spcBef>
              <a:buClr>
                <a:srgbClr val="8DACD0"/>
              </a:buClr>
              <a:buSzPct val="70000"/>
              <a:buFont typeface="Wingdings" pitchFamily="2" charset="2"/>
              <a:buBlip>
                <a:blip r:embed="rId3"/>
              </a:buBlip>
            </a:pPr>
            <a:endParaRPr lang="en-US" sz="2600" dirty="0"/>
          </a:p>
          <a:p>
            <a:pPr marL="228600" indent="-228600" algn="l">
              <a:lnSpc>
                <a:spcPct val="90000"/>
              </a:lnSpc>
              <a:spcBef>
                <a:spcPct val="40000"/>
              </a:spcBef>
              <a:buClr>
                <a:srgbClr val="8DACD0"/>
              </a:buClr>
              <a:buSzPct val="70000"/>
              <a:buFont typeface="Wingdings" pitchFamily="2" charset="2"/>
              <a:buBlip>
                <a:blip r:embed="rId3"/>
              </a:buBlip>
            </a:pPr>
            <a:endParaRPr lang="en-US" sz="2600" dirty="0"/>
          </a:p>
          <a:p>
            <a:pPr marL="631825" lvl="1" indent="-174625" algn="l">
              <a:spcBef>
                <a:spcPct val="40000"/>
              </a:spcBef>
              <a:buClr>
                <a:srgbClr val="8DACD0"/>
              </a:buClr>
              <a:buFont typeface="Wingdings" pitchFamily="2" charset="2"/>
              <a:buChar char=""/>
            </a:pPr>
            <a:endParaRPr lang="en-US" sz="2600" b="0" dirty="0"/>
          </a:p>
          <a:p>
            <a:pPr marL="228600" indent="-228600" algn="l">
              <a:lnSpc>
                <a:spcPct val="90000"/>
              </a:lnSpc>
              <a:spcBef>
                <a:spcPct val="40000"/>
              </a:spcBef>
              <a:buClr>
                <a:srgbClr val="8DACD0"/>
              </a:buClr>
              <a:buSzPct val="70000"/>
              <a:buFont typeface="Wingdings" pitchFamily="2" charset="2"/>
              <a:buBlip>
                <a:blip r:embed="rId3"/>
              </a:buBlip>
            </a:pPr>
            <a:r>
              <a:rPr lang="fr-FR" sz="2600" dirty="0">
                <a:solidFill>
                  <a:srgbClr val="000000"/>
                </a:solidFill>
              </a:rPr>
              <a:t>Avantages</a:t>
            </a:r>
            <a:endParaRPr lang="en-US" sz="2600" dirty="0"/>
          </a:p>
          <a:p>
            <a:pPr marL="631825" lvl="1" indent="-174625" algn="l">
              <a:spcBef>
                <a:spcPct val="40000"/>
              </a:spcBef>
              <a:buClr>
                <a:srgbClr val="8DACD0"/>
              </a:buClr>
              <a:buFont typeface="Wingdings" pitchFamily="2" charset="2"/>
              <a:buChar char="q"/>
            </a:pPr>
            <a:r>
              <a:rPr lang="fr-FR" sz="2600" b="0" dirty="0" smtClean="0">
                <a:solidFill>
                  <a:srgbClr val="000000"/>
                </a:solidFill>
              </a:rPr>
              <a:t> Unique </a:t>
            </a:r>
            <a:r>
              <a:rPr lang="fr-FR" sz="2600" b="0" dirty="0">
                <a:solidFill>
                  <a:srgbClr val="000000"/>
                </a:solidFill>
              </a:rPr>
              <a:t>dans Active Directory</a:t>
            </a:r>
            <a:endParaRPr lang="en-US" sz="2600" b="0" dirty="0"/>
          </a:p>
          <a:p>
            <a:pPr marL="631825" lvl="1" indent="-174625" algn="l">
              <a:spcBef>
                <a:spcPct val="40000"/>
              </a:spcBef>
              <a:buClr>
                <a:srgbClr val="8DACD0"/>
              </a:buClr>
              <a:buFont typeface="Wingdings" pitchFamily="2" charset="2"/>
              <a:buChar char="q"/>
            </a:pPr>
            <a:r>
              <a:rPr lang="fr-FR" sz="2600" b="0" dirty="0" smtClean="0">
                <a:solidFill>
                  <a:srgbClr val="000000"/>
                </a:solidFill>
              </a:rPr>
              <a:t> Peut </a:t>
            </a:r>
            <a:r>
              <a:rPr lang="fr-FR" sz="2600" b="0" dirty="0">
                <a:solidFill>
                  <a:srgbClr val="000000"/>
                </a:solidFill>
              </a:rPr>
              <a:t>être identique à l'adresse électronique d'un utilisateur</a:t>
            </a:r>
            <a:endParaRPr lang="en-US" sz="2600" b="0" dirty="0">
              <a:solidFill>
                <a:srgbClr val="000000"/>
              </a:solidFill>
            </a:endParaRPr>
          </a:p>
        </p:txBody>
      </p:sp>
      <p:sp>
        <p:nvSpPr>
          <p:cNvPr id="421893" name="AutoShape 5"/>
          <p:cNvSpPr>
            <a:spLocks noChangeArrowheads="1"/>
          </p:cNvSpPr>
          <p:nvPr/>
        </p:nvSpPr>
        <p:spPr bwMode="auto">
          <a:xfrm>
            <a:off x="2598738" y="2611438"/>
            <a:ext cx="3381375" cy="612775"/>
          </a:xfrm>
          <a:prstGeom prst="roundRect">
            <a:avLst>
              <a:gd name="adj" fmla="val 4167"/>
            </a:avLst>
          </a:prstGeom>
          <a:gradFill rotWithShape="1">
            <a:gsLst>
              <a:gs pos="0">
                <a:srgbClr val="8DACD0"/>
              </a:gs>
              <a:gs pos="100000">
                <a:srgbClr val="DEE7F1"/>
              </a:gs>
            </a:gsLst>
            <a:lin ang="2700000" scaled="1"/>
          </a:gradFill>
          <a:ln w="9525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wrap="none" anchor="ctr"/>
          <a:lstStyle/>
          <a:p>
            <a:r>
              <a:rPr lang="fr-FR" sz="2400">
                <a:solidFill>
                  <a:srgbClr val="000000"/>
                </a:solidFill>
              </a:rPr>
              <a:t>laurab@contoso.msft</a:t>
            </a:r>
            <a:endParaRPr lang="en-US" sz="2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8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1000"/>
                                        <p:tgtEl>
                                          <p:spTgt spid="4218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4218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89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1000"/>
                                        <p:tgtEl>
                                          <p:spTgt spid="42189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89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1000"/>
                                        <p:tgtEl>
                                          <p:spTgt spid="42189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89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" dur="1000"/>
                                        <p:tgtEl>
                                          <p:spTgt spid="42189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189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926" name="AutoShape 14"/>
          <p:cNvSpPr>
            <a:spLocks noChangeArrowheads="1"/>
          </p:cNvSpPr>
          <p:nvPr/>
        </p:nvSpPr>
        <p:spPr bwMode="auto">
          <a:xfrm>
            <a:off x="4996559" y="4368354"/>
            <a:ext cx="2220913" cy="2317454"/>
          </a:xfrm>
          <a:prstGeom prst="roundRect">
            <a:avLst>
              <a:gd name="adj" fmla="val 3569"/>
            </a:avLst>
          </a:prstGeom>
          <a:solidFill>
            <a:srgbClr val="FF0000">
              <a:alpha val="7001"/>
            </a:srgbClr>
          </a:solidFill>
          <a:ln w="9525">
            <a:solidFill>
              <a:srgbClr val="C0C0C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pic>
        <p:nvPicPr>
          <p:cNvPr id="422933" name="Picture 21" descr="2Domain01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417247" y="4711254"/>
            <a:ext cx="1566862" cy="1495425"/>
          </a:xfrm>
          <a:prstGeom prst="rect">
            <a:avLst/>
          </a:prstGeom>
          <a:noFill/>
        </p:spPr>
      </p:pic>
      <p:pic>
        <p:nvPicPr>
          <p:cNvPr id="422931" name="Picture 19" descr="Server01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439472" y="5170042"/>
            <a:ext cx="582612" cy="739775"/>
          </a:xfrm>
          <a:prstGeom prst="rect">
            <a:avLst/>
          </a:prstGeom>
          <a:noFill/>
        </p:spPr>
      </p:pic>
      <p:sp>
        <p:nvSpPr>
          <p:cNvPr id="422914" name="Rectangle 2"/>
          <p:cNvSpPr>
            <a:spLocks noGrp="1" noChangeArrowheads="1"/>
          </p:cNvSpPr>
          <p:nvPr>
            <p:ph type="title"/>
          </p:nvPr>
        </p:nvSpPr>
        <p:spPr>
          <a:xfrm>
            <a:off x="174171" y="228600"/>
            <a:ext cx="8781143" cy="758952"/>
          </a:xfrm>
        </p:spPr>
        <p:txBody>
          <a:bodyPr>
            <a:normAutofit/>
          </a:bodyPr>
          <a:lstStyle/>
          <a:p>
            <a:r>
              <a:rPr lang="fr-FR" sz="2600" b="1" dirty="0" smtClean="0">
                <a:solidFill>
                  <a:srgbClr val="C00000"/>
                </a:solidFill>
              </a:rPr>
              <a:t>Fonctionnement </a:t>
            </a:r>
            <a:r>
              <a:rPr lang="fr-FR" sz="2600" b="1" dirty="0">
                <a:solidFill>
                  <a:srgbClr val="C00000"/>
                </a:solidFill>
              </a:rPr>
              <a:t>du routage des suffixes de noms</a:t>
            </a:r>
            <a:endParaRPr lang="en-US" sz="2600" b="1" dirty="0">
              <a:solidFill>
                <a:srgbClr val="C00000"/>
              </a:solidFill>
            </a:endParaRPr>
          </a:p>
        </p:txBody>
      </p:sp>
      <p:sp>
        <p:nvSpPr>
          <p:cNvPr id="422919" name="AutoShape 7"/>
          <p:cNvSpPr>
            <a:spLocks noChangeArrowheads="1"/>
          </p:cNvSpPr>
          <p:nvPr/>
        </p:nvSpPr>
        <p:spPr bwMode="auto">
          <a:xfrm>
            <a:off x="795648" y="4430267"/>
            <a:ext cx="3573850" cy="2255541"/>
          </a:xfrm>
          <a:prstGeom prst="roundRect">
            <a:avLst>
              <a:gd name="adj" fmla="val 3569"/>
            </a:avLst>
          </a:prstGeom>
          <a:solidFill>
            <a:srgbClr val="BEEEC8">
              <a:alpha val="17000"/>
            </a:srgbClr>
          </a:solidFill>
          <a:ln w="9525">
            <a:solidFill>
              <a:srgbClr val="C0C0C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pic>
        <p:nvPicPr>
          <p:cNvPr id="422921" name="Picture 9" descr="2Domain01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432747" y="4723954"/>
            <a:ext cx="1566862" cy="1495425"/>
          </a:xfrm>
          <a:prstGeom prst="rect">
            <a:avLst/>
          </a:prstGeom>
          <a:noFill/>
        </p:spPr>
      </p:pic>
      <p:sp>
        <p:nvSpPr>
          <p:cNvPr id="422922" name="Rectangle 10"/>
          <p:cNvSpPr>
            <a:spLocks noChangeArrowheads="1"/>
          </p:cNvSpPr>
          <p:nvPr/>
        </p:nvSpPr>
        <p:spPr bwMode="auto">
          <a:xfrm>
            <a:off x="795292" y="4459068"/>
            <a:ext cx="183991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 eaLnBrk="1" hangingPunct="1"/>
            <a:r>
              <a:rPr lang="fr-FR" sz="2000" dirty="0" err="1" smtClean="0">
                <a:solidFill>
                  <a:srgbClr val="000000"/>
                </a:solidFill>
                <a:latin typeface="Arial" charset="0"/>
              </a:rPr>
              <a:t>Bts.local</a:t>
            </a:r>
            <a:endParaRPr lang="en-US" sz="2000" dirty="0">
              <a:latin typeface="Arial" charset="0"/>
            </a:endParaRPr>
          </a:p>
        </p:txBody>
      </p:sp>
      <p:pic>
        <p:nvPicPr>
          <p:cNvPr id="422924" name="Picture 12" descr="UserWithDesktopComputer01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898562" y="5221337"/>
            <a:ext cx="939800" cy="1179512"/>
          </a:xfrm>
          <a:prstGeom prst="rect">
            <a:avLst/>
          </a:prstGeom>
          <a:noFill/>
        </p:spPr>
      </p:pic>
      <p:sp>
        <p:nvSpPr>
          <p:cNvPr id="422925" name="Rectangle 13"/>
          <p:cNvSpPr>
            <a:spLocks noChangeArrowheads="1"/>
          </p:cNvSpPr>
          <p:nvPr/>
        </p:nvSpPr>
        <p:spPr bwMode="auto">
          <a:xfrm>
            <a:off x="801724" y="6305599"/>
            <a:ext cx="257086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/>
            <a:r>
              <a:rPr lang="fr-FR" dirty="0" smtClean="0">
                <a:solidFill>
                  <a:srgbClr val="000000"/>
                </a:solidFill>
                <a:latin typeface="Arial" charset="0"/>
              </a:rPr>
              <a:t>Ahmed@bts.local</a:t>
            </a:r>
            <a:endParaRPr lang="en-US" dirty="0"/>
          </a:p>
        </p:txBody>
      </p:sp>
      <p:sp>
        <p:nvSpPr>
          <p:cNvPr id="422927" name="Rectangle 15"/>
          <p:cNvSpPr>
            <a:spLocks noChangeArrowheads="1"/>
          </p:cNvSpPr>
          <p:nvPr/>
        </p:nvSpPr>
        <p:spPr bwMode="auto">
          <a:xfrm>
            <a:off x="5870550" y="4393281"/>
            <a:ext cx="1351652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 eaLnBrk="1" hangingPunct="1"/>
            <a:r>
              <a:rPr lang="fr-FR" sz="2000" dirty="0" err="1" smtClean="0">
                <a:solidFill>
                  <a:srgbClr val="000000"/>
                </a:solidFill>
                <a:latin typeface="Arial" charset="0"/>
              </a:rPr>
              <a:t>Prof.local</a:t>
            </a:r>
            <a:endParaRPr lang="en-US" sz="2000" dirty="0">
              <a:latin typeface="Arial" charset="0"/>
            </a:endParaRPr>
          </a:p>
        </p:txBody>
      </p:sp>
      <p:sp>
        <p:nvSpPr>
          <p:cNvPr id="422928" name="AutoShape 16"/>
          <p:cNvSpPr>
            <a:spLocks noChangeArrowheads="1"/>
          </p:cNvSpPr>
          <p:nvPr/>
        </p:nvSpPr>
        <p:spPr bwMode="auto">
          <a:xfrm>
            <a:off x="4040884" y="4552504"/>
            <a:ext cx="1309688" cy="863600"/>
          </a:xfrm>
          <a:prstGeom prst="leftRightArrow">
            <a:avLst>
              <a:gd name="adj1" fmla="val 46426"/>
              <a:gd name="adj2" fmla="val 40111"/>
            </a:avLst>
          </a:prstGeom>
          <a:solidFill>
            <a:srgbClr val="3399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/>
            <a:r>
              <a:rPr lang="fr-FR" sz="1500">
                <a:solidFill>
                  <a:srgbClr val="FFFFFF"/>
                </a:solidFill>
                <a:latin typeface="Arial" charset="0"/>
              </a:rPr>
              <a:t>Approbation</a:t>
            </a:r>
            <a:endParaRPr lang="en-US" sz="1500">
              <a:solidFill>
                <a:schemeClr val="bg1"/>
              </a:solidFill>
              <a:latin typeface="Arial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66255" y="1550168"/>
            <a:ext cx="8668987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buFont typeface="Wingdings" pitchFamily="2" charset="2"/>
              <a:buChar char="q"/>
            </a:pPr>
            <a:r>
              <a:rPr lang="fr-FR" sz="2400" dirty="0" smtClean="0"/>
              <a:t>C'est </a:t>
            </a:r>
            <a:r>
              <a:rPr lang="fr-FR" sz="2400" dirty="0" smtClean="0"/>
              <a:t>un mécanisme fournissant une </a:t>
            </a:r>
            <a:r>
              <a:rPr lang="fr-FR" sz="2400" dirty="0" smtClean="0"/>
              <a:t>résolution de </a:t>
            </a:r>
            <a:r>
              <a:rPr lang="fr-FR" sz="2400" dirty="0" smtClean="0"/>
              <a:t>noms entre </a:t>
            </a:r>
            <a:r>
              <a:rPr lang="fr-FR" sz="2400" dirty="0" smtClean="0"/>
              <a:t>forêts</a:t>
            </a:r>
          </a:p>
          <a:p>
            <a:pPr algn="l">
              <a:buFont typeface="Wingdings" pitchFamily="2" charset="2"/>
              <a:buChar char="q"/>
            </a:pPr>
            <a:r>
              <a:rPr lang="fr-FR" sz="2400" dirty="0" smtClean="0"/>
              <a:t>Lorsque </a:t>
            </a:r>
            <a:r>
              <a:rPr lang="fr-FR" sz="2400" dirty="0" smtClean="0"/>
              <a:t>deux forêts Windows Server 2003 sont connectées par une </a:t>
            </a:r>
            <a:r>
              <a:rPr lang="fr-FR" sz="2400" dirty="0" smtClean="0"/>
              <a:t>approbation de </a:t>
            </a:r>
            <a:r>
              <a:rPr lang="fr-FR" sz="2400" dirty="0" smtClean="0"/>
              <a:t>forêt, les suffixes des noms de </a:t>
            </a:r>
            <a:r>
              <a:rPr lang="fr-FR" sz="2400" dirty="0" smtClean="0"/>
              <a:t>domaines sont crées automatiquement</a:t>
            </a:r>
          </a:p>
          <a:p>
            <a:pPr algn="l">
              <a:buFont typeface="Wingdings" pitchFamily="2" charset="2"/>
              <a:buChar char="q"/>
            </a:pPr>
            <a:r>
              <a:rPr lang="fr-FR" sz="2400" dirty="0" smtClean="0"/>
              <a:t>Le </a:t>
            </a:r>
            <a:r>
              <a:rPr lang="fr-FR" sz="2400" dirty="0" smtClean="0"/>
              <a:t>routage des suffixes pour </a:t>
            </a:r>
            <a:r>
              <a:rPr lang="fr-FR" sz="2400" dirty="0" smtClean="0"/>
              <a:t>les arborescences </a:t>
            </a:r>
            <a:r>
              <a:rPr lang="fr-FR" sz="2400" dirty="0" smtClean="0"/>
              <a:t>de domaine que vous créez après l’établissement de </a:t>
            </a:r>
            <a:r>
              <a:rPr lang="fr-FR" sz="2400" dirty="0" smtClean="0"/>
              <a:t>l’approbation est </a:t>
            </a:r>
            <a:r>
              <a:rPr lang="fr-FR" sz="2400" dirty="0" smtClean="0"/>
              <a:t>désactivé par </a:t>
            </a:r>
            <a:r>
              <a:rPr lang="fr-FR" sz="2400" dirty="0" smtClean="0"/>
              <a:t>défaut. </a:t>
            </a:r>
            <a:endParaRPr lang="fr-FR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10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10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10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65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514350" indent="-514350"/>
            <a:r>
              <a:rPr lang="fr-FR" b="1" dirty="0" smtClean="0">
                <a:solidFill>
                  <a:schemeClr val="tx1"/>
                </a:solidFill>
              </a:rPr>
              <a:t>3. Implémentation de comptes de groupe</a:t>
            </a:r>
          </a:p>
        </p:txBody>
      </p:sp>
      <p:sp>
        <p:nvSpPr>
          <p:cNvPr id="32665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272723" y="2006019"/>
            <a:ext cx="8639047" cy="2899810"/>
          </a:xfrm>
        </p:spPr>
        <p:txBody>
          <a:bodyPr>
            <a:normAutofit lnSpcReduction="10000"/>
          </a:bodyPr>
          <a:lstStyle/>
          <a:p>
            <a:pPr marL="514350" indent="-514350">
              <a:buClr>
                <a:schemeClr val="tx1"/>
              </a:buClr>
              <a:buFont typeface="Wingdings" pitchFamily="2" charset="2"/>
              <a:buChar char="q"/>
            </a:pPr>
            <a:r>
              <a:rPr lang="fr-FR" sz="2800" b="1" dirty="0" smtClean="0">
                <a:solidFill>
                  <a:srgbClr val="C00000"/>
                </a:solidFill>
              </a:rPr>
              <a:t>Types de groupes</a:t>
            </a:r>
          </a:p>
          <a:p>
            <a:pPr marL="514350" indent="-514350">
              <a:buClr>
                <a:schemeClr val="tx1"/>
              </a:buClr>
              <a:buFont typeface="Wingdings" pitchFamily="2" charset="2"/>
              <a:buChar char="q"/>
            </a:pPr>
            <a:r>
              <a:rPr lang="fr-FR" sz="2800" b="1" dirty="0" smtClean="0">
                <a:solidFill>
                  <a:srgbClr val="C00000"/>
                </a:solidFill>
              </a:rPr>
              <a:t>Les groupes locaux de domaine</a:t>
            </a:r>
          </a:p>
          <a:p>
            <a:pPr marL="514350" indent="-514350">
              <a:buClr>
                <a:schemeClr val="tx1"/>
              </a:buClr>
              <a:buFont typeface="Wingdings" pitchFamily="2" charset="2"/>
              <a:buChar char="q"/>
            </a:pPr>
            <a:r>
              <a:rPr lang="fr-FR" sz="2800" b="1" dirty="0" smtClean="0">
                <a:solidFill>
                  <a:srgbClr val="C00000"/>
                </a:solidFill>
              </a:rPr>
              <a:t>Les groupes globaux</a:t>
            </a:r>
          </a:p>
          <a:p>
            <a:pPr marL="514350" indent="-514350">
              <a:buClr>
                <a:schemeClr val="tx1"/>
              </a:buClr>
              <a:buFont typeface="Wingdings" pitchFamily="2" charset="2"/>
              <a:buChar char="q"/>
            </a:pPr>
            <a:r>
              <a:rPr lang="fr-FR" sz="2800" b="1" dirty="0" smtClean="0">
                <a:solidFill>
                  <a:srgbClr val="C00000"/>
                </a:solidFill>
              </a:rPr>
              <a:t>groupes universels</a:t>
            </a:r>
          </a:p>
          <a:p>
            <a:pPr marL="514350" indent="-514350">
              <a:buClr>
                <a:schemeClr val="tx1"/>
              </a:buClr>
              <a:buFont typeface="Wingdings" pitchFamily="2" charset="2"/>
              <a:buChar char="q"/>
            </a:pPr>
            <a:r>
              <a:rPr lang="fr-FR" sz="2800" b="1" dirty="0" smtClean="0">
                <a:solidFill>
                  <a:srgbClr val="C00000"/>
                </a:solidFill>
              </a:rPr>
              <a:t>Instructions de planification d'une stratégie de groupe</a:t>
            </a:r>
            <a:endParaRPr lang="en-US" sz="28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2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>
                <a:solidFill>
                  <a:srgbClr val="C00000"/>
                </a:solidFill>
              </a:rPr>
              <a:t>Types de groupes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478217" name="AutoShape 9"/>
          <p:cNvSpPr>
            <a:spLocks noChangeArrowheads="1"/>
          </p:cNvSpPr>
          <p:nvPr/>
        </p:nvSpPr>
        <p:spPr bwMode="auto">
          <a:xfrm>
            <a:off x="232229" y="1352550"/>
            <a:ext cx="8650514" cy="1720850"/>
          </a:xfrm>
          <a:prstGeom prst="roundRect">
            <a:avLst>
              <a:gd name="adj" fmla="val 4167"/>
            </a:avLst>
          </a:prstGeom>
          <a:solidFill>
            <a:srgbClr val="B3C8DF"/>
          </a:solidFill>
          <a:ln w="9525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wrap="none"/>
          <a:lstStyle/>
          <a:p>
            <a:pPr algn="l"/>
            <a:r>
              <a:rPr lang="fr-FR" sz="2600">
                <a:solidFill>
                  <a:srgbClr val="000000"/>
                </a:solidFill>
              </a:rPr>
              <a:t>Groupes de distribution</a:t>
            </a:r>
            <a:endParaRPr lang="en-US" sz="2600"/>
          </a:p>
        </p:txBody>
      </p:sp>
      <p:sp>
        <p:nvSpPr>
          <p:cNvPr id="478218" name="AutoShape 10"/>
          <p:cNvSpPr>
            <a:spLocks noChangeArrowheads="1"/>
          </p:cNvSpPr>
          <p:nvPr/>
        </p:nvSpPr>
        <p:spPr bwMode="auto">
          <a:xfrm>
            <a:off x="333830" y="1847850"/>
            <a:ext cx="6676570" cy="1185636"/>
          </a:xfrm>
          <a:prstGeom prst="roundRect">
            <a:avLst>
              <a:gd name="adj" fmla="val 4167"/>
            </a:avLst>
          </a:prstGeom>
          <a:gradFill rotWithShape="1">
            <a:gsLst>
              <a:gs pos="0">
                <a:srgbClr val="EEEFD7"/>
              </a:gs>
              <a:gs pos="100000">
                <a:srgbClr val="D5D69C"/>
              </a:gs>
            </a:gsLst>
            <a:lin ang="2700000" scaled="1"/>
          </a:gradFill>
          <a:ln w="9525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tIns="91440" anchor="ctr"/>
          <a:lstStyle/>
          <a:p>
            <a:pPr marL="225425" indent="-225425" algn="l">
              <a:spcBef>
                <a:spcPts val="0"/>
              </a:spcBef>
              <a:buSzPct val="80000"/>
              <a:buFontTx/>
              <a:buBlip>
                <a:blip r:embed="rId5"/>
              </a:buBlip>
            </a:pPr>
            <a:r>
              <a:rPr lang="fr-FR" sz="2400" b="0" dirty="0">
                <a:solidFill>
                  <a:srgbClr val="000000"/>
                </a:solidFill>
              </a:rPr>
              <a:t>Utilisés uniquement avec les applications </a:t>
            </a:r>
            <a:r>
              <a:rPr lang="fr-FR" sz="2400" b="0" dirty="0" smtClean="0">
                <a:solidFill>
                  <a:srgbClr val="000000"/>
                </a:solidFill>
              </a:rPr>
              <a:t>de messagerie</a:t>
            </a:r>
            <a:endParaRPr lang="en-US" sz="2400" b="0" dirty="0"/>
          </a:p>
          <a:p>
            <a:pPr marL="225425" indent="-225425" algn="l">
              <a:spcBef>
                <a:spcPts val="0"/>
              </a:spcBef>
              <a:buSzPct val="80000"/>
              <a:buFontTx/>
              <a:buBlip>
                <a:blip r:embed="rId5"/>
              </a:buBlip>
            </a:pPr>
            <a:r>
              <a:rPr lang="fr-FR" sz="2400" b="0" dirty="0">
                <a:solidFill>
                  <a:srgbClr val="000000"/>
                </a:solidFill>
              </a:rPr>
              <a:t>Sans sécurité activée</a:t>
            </a:r>
            <a:endParaRPr lang="en-US" sz="2400" b="0" dirty="0">
              <a:solidFill>
                <a:srgbClr val="000000"/>
              </a:solidFill>
            </a:endParaRPr>
          </a:p>
        </p:txBody>
      </p:sp>
      <p:sp>
        <p:nvSpPr>
          <p:cNvPr id="478219" name="AutoShape 11"/>
          <p:cNvSpPr>
            <a:spLocks noChangeArrowheads="1"/>
          </p:cNvSpPr>
          <p:nvPr/>
        </p:nvSpPr>
        <p:spPr bwMode="auto">
          <a:xfrm>
            <a:off x="232229" y="3227388"/>
            <a:ext cx="8621485" cy="2192337"/>
          </a:xfrm>
          <a:prstGeom prst="roundRect">
            <a:avLst>
              <a:gd name="adj" fmla="val 4167"/>
            </a:avLst>
          </a:prstGeom>
          <a:solidFill>
            <a:srgbClr val="B3C8DF"/>
          </a:solidFill>
          <a:ln w="9525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wrap="none"/>
          <a:lstStyle/>
          <a:p>
            <a:pPr algn="l"/>
            <a:r>
              <a:rPr lang="fr-FR" sz="2600">
                <a:solidFill>
                  <a:srgbClr val="000000"/>
                </a:solidFill>
              </a:rPr>
              <a:t>Groupes de sécurité</a:t>
            </a:r>
            <a:endParaRPr lang="en-US" sz="2600"/>
          </a:p>
        </p:txBody>
      </p:sp>
      <p:sp>
        <p:nvSpPr>
          <p:cNvPr id="478220" name="AutoShape 12"/>
          <p:cNvSpPr>
            <a:spLocks noChangeArrowheads="1"/>
          </p:cNvSpPr>
          <p:nvPr/>
        </p:nvSpPr>
        <p:spPr bwMode="auto">
          <a:xfrm>
            <a:off x="406400" y="3690938"/>
            <a:ext cx="6487885" cy="1608137"/>
          </a:xfrm>
          <a:prstGeom prst="roundRect">
            <a:avLst>
              <a:gd name="adj" fmla="val 4167"/>
            </a:avLst>
          </a:prstGeom>
          <a:gradFill rotWithShape="1">
            <a:gsLst>
              <a:gs pos="0">
                <a:srgbClr val="EEEFD7"/>
              </a:gs>
              <a:gs pos="100000">
                <a:srgbClr val="D5D69C"/>
              </a:gs>
            </a:gsLst>
            <a:lin ang="2700000" scaled="1"/>
          </a:gradFill>
          <a:ln w="9525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tIns="91440" anchor="ctr"/>
          <a:lstStyle/>
          <a:p>
            <a:pPr marL="225425" indent="-225425" algn="l">
              <a:spcBef>
                <a:spcPts val="0"/>
              </a:spcBef>
              <a:buSzPct val="80000"/>
              <a:buFontTx/>
              <a:buBlip>
                <a:blip r:embed="rId5"/>
              </a:buBlip>
            </a:pPr>
            <a:r>
              <a:rPr lang="fr-FR" sz="2400" b="0" dirty="0">
                <a:solidFill>
                  <a:srgbClr val="000000"/>
                </a:solidFill>
              </a:rPr>
              <a:t>Servent à affecter des droits et des autorisations aux groupes d'utilisateurs </a:t>
            </a:r>
            <a:r>
              <a:rPr lang="fr-FR" sz="2400" b="0" dirty="0" smtClean="0">
                <a:solidFill>
                  <a:srgbClr val="000000"/>
                </a:solidFill>
              </a:rPr>
              <a:t>et </a:t>
            </a:r>
            <a:r>
              <a:rPr lang="fr-FR" sz="2400" b="0" dirty="0">
                <a:solidFill>
                  <a:srgbClr val="000000"/>
                </a:solidFill>
              </a:rPr>
              <a:t>d'ordinateurs</a:t>
            </a:r>
            <a:endParaRPr lang="en-US" sz="2400" b="0" dirty="0"/>
          </a:p>
          <a:p>
            <a:pPr marL="225425" indent="-225425" algn="l">
              <a:spcBef>
                <a:spcPts val="0"/>
              </a:spcBef>
              <a:buSzPct val="80000"/>
              <a:buFontTx/>
              <a:buBlip>
                <a:blip r:embed="rId5"/>
              </a:buBlip>
            </a:pPr>
            <a:r>
              <a:rPr lang="fr-FR" sz="2400" b="0" dirty="0">
                <a:solidFill>
                  <a:srgbClr val="000000"/>
                </a:solidFill>
              </a:rPr>
              <a:t>Utilisés de manière optimale lorsqu'ils </a:t>
            </a:r>
            <a:r>
              <a:rPr lang="fr-FR" sz="2400" b="0" dirty="0" smtClean="0">
                <a:solidFill>
                  <a:srgbClr val="000000"/>
                </a:solidFill>
              </a:rPr>
              <a:t>sont </a:t>
            </a:r>
            <a:r>
              <a:rPr lang="fr-FR" sz="2400" b="0" dirty="0">
                <a:solidFill>
                  <a:srgbClr val="000000"/>
                </a:solidFill>
              </a:rPr>
              <a:t>imbriqués</a:t>
            </a:r>
            <a:endParaRPr lang="en-US" sz="2400" b="0" dirty="0">
              <a:solidFill>
                <a:srgbClr val="000000"/>
              </a:solidFill>
            </a:endParaRPr>
          </a:p>
        </p:txBody>
      </p:sp>
      <p:pic>
        <p:nvPicPr>
          <p:cNvPr id="478221" name="Picture 13" descr="Collection_DistributionGroup01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6"/>
          <a:srcRect/>
          <a:stretch>
            <a:fillRect/>
          </a:stretch>
        </p:blipFill>
        <p:spPr bwMode="auto">
          <a:xfrm>
            <a:off x="7075694" y="1570038"/>
            <a:ext cx="1785938" cy="1404937"/>
          </a:xfrm>
          <a:prstGeom prst="rect">
            <a:avLst/>
          </a:prstGeom>
          <a:noFill/>
        </p:spPr>
      </p:pic>
      <p:pic>
        <p:nvPicPr>
          <p:cNvPr id="478222" name="Picture 14" descr="Collection_SecurityGroup01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7"/>
          <a:srcRect/>
          <a:stretch>
            <a:fillRect/>
          </a:stretch>
        </p:blipFill>
        <p:spPr bwMode="auto">
          <a:xfrm>
            <a:off x="7003577" y="3689573"/>
            <a:ext cx="1819275" cy="1430337"/>
          </a:xfrm>
          <a:prstGeom prst="rect">
            <a:avLst/>
          </a:prstGeom>
          <a:noFill/>
        </p:spPr>
      </p:pic>
      <p:sp>
        <p:nvSpPr>
          <p:cNvPr id="478223" name="AutoShape 15"/>
          <p:cNvSpPr>
            <a:spLocks noChangeArrowheads="1"/>
          </p:cNvSpPr>
          <p:nvPr/>
        </p:nvSpPr>
        <p:spPr bwMode="auto">
          <a:xfrm>
            <a:off x="246743" y="5570538"/>
            <a:ext cx="8592457" cy="588962"/>
          </a:xfrm>
          <a:prstGeom prst="roundRect">
            <a:avLst>
              <a:gd name="adj" fmla="val 11736"/>
            </a:avLst>
          </a:prstGeom>
          <a:solidFill>
            <a:srgbClr val="B3C8DF"/>
          </a:solidFill>
          <a:ln w="9525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anchor="ctr"/>
          <a:lstStyle/>
          <a:p>
            <a:pPr>
              <a:lnSpc>
                <a:spcPct val="85000"/>
              </a:lnSpc>
            </a:pPr>
            <a:r>
              <a:rPr lang="fr-FR" sz="2600">
                <a:solidFill>
                  <a:srgbClr val="000000"/>
                </a:solidFill>
              </a:rPr>
              <a:t>Le niveau fonctionnel détermine le type de groupe à créer</a:t>
            </a:r>
            <a:endParaRPr lang="en-US" sz="26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1000"/>
                                        <p:tgtEl>
                                          <p:spTgt spid="478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1000"/>
                                        <p:tgtEl>
                                          <p:spTgt spid="478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1000"/>
                                        <p:tgtEl>
                                          <p:spTgt spid="478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1000"/>
                                        <p:tgtEl>
                                          <p:spTgt spid="478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1000"/>
                                        <p:tgtEl>
                                          <p:spTgt spid="478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" dur="1000"/>
                                        <p:tgtEl>
                                          <p:spTgt spid="478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9" dur="1000"/>
                                        <p:tgtEl>
                                          <p:spTgt spid="478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8217" grpId="0" animBg="1"/>
      <p:bldP spid="478218" grpId="0" animBg="1"/>
      <p:bldP spid="478219" grpId="0" animBg="1"/>
      <p:bldP spid="478220" grpId="0" animBg="1"/>
      <p:bldP spid="47822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59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b="1" dirty="0" smtClean="0">
                <a:solidFill>
                  <a:srgbClr val="C00000"/>
                </a:solidFill>
              </a:rPr>
              <a:t>Les groupes </a:t>
            </a:r>
            <a:r>
              <a:rPr lang="fr-FR" b="1" dirty="0">
                <a:solidFill>
                  <a:srgbClr val="C00000"/>
                </a:solidFill>
              </a:rPr>
              <a:t>locaux de domaine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494597" name="Freeform 5"/>
          <p:cNvSpPr>
            <a:spLocks/>
          </p:cNvSpPr>
          <p:nvPr>
            <p:custDataLst>
              <p:tags r:id="rId1"/>
            </p:custDataLst>
          </p:nvPr>
        </p:nvSpPr>
        <p:spPr bwMode="auto">
          <a:xfrm>
            <a:off x="310711" y="3402013"/>
            <a:ext cx="1095375" cy="796925"/>
          </a:xfrm>
          <a:custGeom>
            <a:avLst/>
            <a:gdLst/>
            <a:ahLst/>
            <a:cxnLst>
              <a:cxn ang="0">
                <a:pos x="543" y="640"/>
              </a:cxn>
              <a:cxn ang="0">
                <a:pos x="1080" y="18"/>
              </a:cxn>
              <a:cxn ang="0">
                <a:pos x="1092" y="10"/>
              </a:cxn>
              <a:cxn ang="0">
                <a:pos x="1104" y="4"/>
              </a:cxn>
              <a:cxn ang="0">
                <a:pos x="1117" y="1"/>
              </a:cxn>
              <a:cxn ang="0">
                <a:pos x="1130" y="1"/>
              </a:cxn>
              <a:cxn ang="0">
                <a:pos x="1143" y="4"/>
              </a:cxn>
              <a:cxn ang="0">
                <a:pos x="1156" y="10"/>
              </a:cxn>
              <a:cxn ang="0">
                <a:pos x="1167" y="18"/>
              </a:cxn>
              <a:cxn ang="0">
                <a:pos x="1700" y="640"/>
              </a:cxn>
              <a:cxn ang="0">
                <a:pos x="2232" y="1264"/>
              </a:cxn>
              <a:cxn ang="0">
                <a:pos x="2237" y="1274"/>
              </a:cxn>
              <a:cxn ang="0">
                <a:pos x="2241" y="1285"/>
              </a:cxn>
              <a:cxn ang="0">
                <a:pos x="2242" y="1301"/>
              </a:cxn>
              <a:cxn ang="0">
                <a:pos x="2241" y="1312"/>
              </a:cxn>
              <a:cxn ang="0">
                <a:pos x="2236" y="1323"/>
              </a:cxn>
              <a:cxn ang="0">
                <a:pos x="2232" y="1330"/>
              </a:cxn>
              <a:cxn ang="0">
                <a:pos x="2227" y="1336"/>
              </a:cxn>
              <a:cxn ang="0">
                <a:pos x="2220" y="1342"/>
              </a:cxn>
              <a:cxn ang="0">
                <a:pos x="2202" y="1350"/>
              </a:cxn>
              <a:cxn ang="0">
                <a:pos x="2191" y="1353"/>
              </a:cxn>
              <a:cxn ang="0">
                <a:pos x="2179" y="1355"/>
              </a:cxn>
              <a:cxn ang="0">
                <a:pos x="1120" y="1355"/>
              </a:cxn>
              <a:cxn ang="0">
                <a:pos x="61" y="1355"/>
              </a:cxn>
              <a:cxn ang="0">
                <a:pos x="45" y="1352"/>
              </a:cxn>
              <a:cxn ang="0">
                <a:pos x="32" y="1346"/>
              </a:cxn>
              <a:cxn ang="0">
                <a:pos x="21" y="1339"/>
              </a:cxn>
              <a:cxn ang="0">
                <a:pos x="12" y="1330"/>
              </a:cxn>
              <a:cxn ang="0">
                <a:pos x="4" y="1316"/>
              </a:cxn>
              <a:cxn ang="0">
                <a:pos x="0" y="1301"/>
              </a:cxn>
              <a:cxn ang="0">
                <a:pos x="1" y="1285"/>
              </a:cxn>
              <a:cxn ang="0">
                <a:pos x="4" y="1274"/>
              </a:cxn>
              <a:cxn ang="0">
                <a:pos x="9" y="1264"/>
              </a:cxn>
              <a:cxn ang="0">
                <a:pos x="13" y="1258"/>
              </a:cxn>
            </a:cxnLst>
            <a:rect l="0" t="0" r="r" b="b"/>
            <a:pathLst>
              <a:path w="2242" h="1355">
                <a:moveTo>
                  <a:pt x="13" y="1258"/>
                </a:moveTo>
                <a:lnTo>
                  <a:pt x="543" y="640"/>
                </a:lnTo>
                <a:lnTo>
                  <a:pt x="1075" y="24"/>
                </a:lnTo>
                <a:lnTo>
                  <a:pt x="1080" y="18"/>
                </a:lnTo>
                <a:lnTo>
                  <a:pt x="1086" y="14"/>
                </a:lnTo>
                <a:lnTo>
                  <a:pt x="1092" y="10"/>
                </a:lnTo>
                <a:lnTo>
                  <a:pt x="1098" y="6"/>
                </a:lnTo>
                <a:lnTo>
                  <a:pt x="1104" y="4"/>
                </a:lnTo>
                <a:lnTo>
                  <a:pt x="1110" y="2"/>
                </a:lnTo>
                <a:lnTo>
                  <a:pt x="1117" y="1"/>
                </a:lnTo>
                <a:lnTo>
                  <a:pt x="1124" y="0"/>
                </a:lnTo>
                <a:lnTo>
                  <a:pt x="1130" y="1"/>
                </a:lnTo>
                <a:lnTo>
                  <a:pt x="1137" y="2"/>
                </a:lnTo>
                <a:lnTo>
                  <a:pt x="1143" y="4"/>
                </a:lnTo>
                <a:lnTo>
                  <a:pt x="1149" y="6"/>
                </a:lnTo>
                <a:lnTo>
                  <a:pt x="1156" y="10"/>
                </a:lnTo>
                <a:lnTo>
                  <a:pt x="1161" y="14"/>
                </a:lnTo>
                <a:lnTo>
                  <a:pt x="1167" y="18"/>
                </a:lnTo>
                <a:lnTo>
                  <a:pt x="1172" y="24"/>
                </a:lnTo>
                <a:lnTo>
                  <a:pt x="1700" y="640"/>
                </a:lnTo>
                <a:lnTo>
                  <a:pt x="2227" y="1258"/>
                </a:lnTo>
                <a:lnTo>
                  <a:pt x="2232" y="1264"/>
                </a:lnTo>
                <a:lnTo>
                  <a:pt x="2235" y="1271"/>
                </a:lnTo>
                <a:lnTo>
                  <a:pt x="2237" y="1274"/>
                </a:lnTo>
                <a:lnTo>
                  <a:pt x="2238" y="1278"/>
                </a:lnTo>
                <a:lnTo>
                  <a:pt x="2241" y="1285"/>
                </a:lnTo>
                <a:lnTo>
                  <a:pt x="2242" y="1293"/>
                </a:lnTo>
                <a:lnTo>
                  <a:pt x="2242" y="1301"/>
                </a:lnTo>
                <a:lnTo>
                  <a:pt x="2241" y="1308"/>
                </a:lnTo>
                <a:lnTo>
                  <a:pt x="2241" y="1312"/>
                </a:lnTo>
                <a:lnTo>
                  <a:pt x="2239" y="1316"/>
                </a:lnTo>
                <a:lnTo>
                  <a:pt x="2236" y="1323"/>
                </a:lnTo>
                <a:lnTo>
                  <a:pt x="2234" y="1326"/>
                </a:lnTo>
                <a:lnTo>
                  <a:pt x="2232" y="1330"/>
                </a:lnTo>
                <a:lnTo>
                  <a:pt x="2230" y="1333"/>
                </a:lnTo>
                <a:lnTo>
                  <a:pt x="2227" y="1336"/>
                </a:lnTo>
                <a:lnTo>
                  <a:pt x="2223" y="1339"/>
                </a:lnTo>
                <a:lnTo>
                  <a:pt x="2220" y="1342"/>
                </a:lnTo>
                <a:lnTo>
                  <a:pt x="2212" y="1346"/>
                </a:lnTo>
                <a:lnTo>
                  <a:pt x="2202" y="1350"/>
                </a:lnTo>
                <a:lnTo>
                  <a:pt x="2197" y="1352"/>
                </a:lnTo>
                <a:lnTo>
                  <a:pt x="2191" y="1353"/>
                </a:lnTo>
                <a:lnTo>
                  <a:pt x="2185" y="1354"/>
                </a:lnTo>
                <a:lnTo>
                  <a:pt x="2179" y="1355"/>
                </a:lnTo>
                <a:lnTo>
                  <a:pt x="1649" y="1355"/>
                </a:lnTo>
                <a:lnTo>
                  <a:pt x="1120" y="1355"/>
                </a:lnTo>
                <a:lnTo>
                  <a:pt x="591" y="1355"/>
                </a:lnTo>
                <a:lnTo>
                  <a:pt x="61" y="1355"/>
                </a:lnTo>
                <a:lnTo>
                  <a:pt x="50" y="1353"/>
                </a:lnTo>
                <a:lnTo>
                  <a:pt x="45" y="1352"/>
                </a:lnTo>
                <a:lnTo>
                  <a:pt x="40" y="1350"/>
                </a:lnTo>
                <a:lnTo>
                  <a:pt x="32" y="1346"/>
                </a:lnTo>
                <a:lnTo>
                  <a:pt x="24" y="1342"/>
                </a:lnTo>
                <a:lnTo>
                  <a:pt x="21" y="1339"/>
                </a:lnTo>
                <a:lnTo>
                  <a:pt x="17" y="1336"/>
                </a:lnTo>
                <a:lnTo>
                  <a:pt x="12" y="1330"/>
                </a:lnTo>
                <a:lnTo>
                  <a:pt x="7" y="1323"/>
                </a:lnTo>
                <a:lnTo>
                  <a:pt x="4" y="1316"/>
                </a:lnTo>
                <a:lnTo>
                  <a:pt x="2" y="1308"/>
                </a:lnTo>
                <a:lnTo>
                  <a:pt x="0" y="1301"/>
                </a:lnTo>
                <a:lnTo>
                  <a:pt x="0" y="1293"/>
                </a:lnTo>
                <a:lnTo>
                  <a:pt x="1" y="1285"/>
                </a:lnTo>
                <a:lnTo>
                  <a:pt x="3" y="1278"/>
                </a:lnTo>
                <a:lnTo>
                  <a:pt x="4" y="1274"/>
                </a:lnTo>
                <a:lnTo>
                  <a:pt x="5" y="1271"/>
                </a:lnTo>
                <a:lnTo>
                  <a:pt x="9" y="1264"/>
                </a:lnTo>
                <a:lnTo>
                  <a:pt x="11" y="1261"/>
                </a:lnTo>
                <a:lnTo>
                  <a:pt x="13" y="1258"/>
                </a:lnTo>
                <a:close/>
              </a:path>
            </a:pathLst>
          </a:custGeom>
          <a:solidFill>
            <a:srgbClr val="B3C8DF"/>
          </a:solidFill>
          <a:ln w="9525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rgbClr val="B2B2B2"/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494598" name="Picture 6" descr="Users01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77399" y="3175000"/>
            <a:ext cx="760412" cy="1025525"/>
          </a:xfrm>
          <a:prstGeom prst="rect">
            <a:avLst/>
          </a:prstGeom>
          <a:noFill/>
        </p:spPr>
      </p:pic>
      <p:pic>
        <p:nvPicPr>
          <p:cNvPr id="494599" name="Picture 7" descr="Collection_GlobalGroup01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164662" y="1365250"/>
            <a:ext cx="1269726" cy="997940"/>
          </a:xfrm>
          <a:prstGeom prst="rect">
            <a:avLst/>
          </a:prstGeom>
          <a:noFill/>
        </p:spPr>
      </p:pic>
      <p:sp>
        <p:nvSpPr>
          <p:cNvPr id="494623" name="Arc 31"/>
          <p:cNvSpPr>
            <a:spLocks/>
          </p:cNvSpPr>
          <p:nvPr/>
        </p:nvSpPr>
        <p:spPr bwMode="auto">
          <a:xfrm>
            <a:off x="404374" y="4329113"/>
            <a:ext cx="658812" cy="873125"/>
          </a:xfrm>
          <a:custGeom>
            <a:avLst/>
            <a:gdLst>
              <a:gd name="G0" fmla="+- 21600 0 0"/>
              <a:gd name="G1" fmla="+- 11930 0 0"/>
              <a:gd name="G2" fmla="+- 21600 0 0"/>
              <a:gd name="T0" fmla="*/ 6520 w 21600"/>
              <a:gd name="T1" fmla="*/ 27394 h 27394"/>
              <a:gd name="T2" fmla="*/ 3593 w 21600"/>
              <a:gd name="T3" fmla="*/ 0 h 27394"/>
              <a:gd name="T4" fmla="*/ 21600 w 21600"/>
              <a:gd name="T5" fmla="*/ 11930 h 273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7394" fill="none" extrusionOk="0">
                <a:moveTo>
                  <a:pt x="6519" y="27394"/>
                </a:moveTo>
                <a:cubicBezTo>
                  <a:pt x="2350" y="23329"/>
                  <a:pt x="0" y="17752"/>
                  <a:pt x="0" y="11930"/>
                </a:cubicBezTo>
                <a:cubicBezTo>
                  <a:pt x="-1" y="7686"/>
                  <a:pt x="1249" y="3537"/>
                  <a:pt x="3593" y="0"/>
                </a:cubicBezTo>
              </a:path>
              <a:path w="21600" h="27394" stroke="0" extrusionOk="0">
                <a:moveTo>
                  <a:pt x="6519" y="27394"/>
                </a:moveTo>
                <a:cubicBezTo>
                  <a:pt x="2350" y="23329"/>
                  <a:pt x="0" y="17752"/>
                  <a:pt x="0" y="11930"/>
                </a:cubicBezTo>
                <a:cubicBezTo>
                  <a:pt x="-1" y="7686"/>
                  <a:pt x="1249" y="3537"/>
                  <a:pt x="3593" y="0"/>
                </a:cubicBezTo>
                <a:lnTo>
                  <a:pt x="21600" y="11930"/>
                </a:lnTo>
                <a:close/>
              </a:path>
            </a:pathLst>
          </a:custGeom>
          <a:noFill/>
          <a:ln w="57150" cap="rnd">
            <a:solidFill>
              <a:srgbClr val="CC0000"/>
            </a:solidFill>
            <a:prstDash val="sysDot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fr-FR"/>
          </a:p>
        </p:txBody>
      </p:sp>
      <p:pic>
        <p:nvPicPr>
          <p:cNvPr id="494600" name="Picture 8" descr="Users01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405961" y="5118100"/>
            <a:ext cx="892175" cy="1087438"/>
          </a:xfrm>
          <a:prstGeom prst="rect">
            <a:avLst/>
          </a:prstGeom>
          <a:noFill/>
        </p:spPr>
      </p:pic>
      <p:sp>
        <p:nvSpPr>
          <p:cNvPr id="494626" name="Arc 34"/>
          <p:cNvSpPr>
            <a:spLocks/>
          </p:cNvSpPr>
          <p:nvPr/>
        </p:nvSpPr>
        <p:spPr bwMode="auto">
          <a:xfrm rot="20995081" flipH="1" flipV="1">
            <a:off x="256840" y="2402073"/>
            <a:ext cx="633809" cy="673636"/>
          </a:xfrm>
          <a:custGeom>
            <a:avLst/>
            <a:gdLst>
              <a:gd name="G0" fmla="+- 21600 0 0"/>
              <a:gd name="G1" fmla="+- 11930 0 0"/>
              <a:gd name="G2" fmla="+- 21600 0 0"/>
              <a:gd name="T0" fmla="*/ 6520 w 21600"/>
              <a:gd name="T1" fmla="*/ 27394 h 27394"/>
              <a:gd name="T2" fmla="*/ 3593 w 21600"/>
              <a:gd name="T3" fmla="*/ 0 h 27394"/>
              <a:gd name="T4" fmla="*/ 21600 w 21600"/>
              <a:gd name="T5" fmla="*/ 11930 h 273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7394" fill="none" extrusionOk="0">
                <a:moveTo>
                  <a:pt x="6519" y="27394"/>
                </a:moveTo>
                <a:cubicBezTo>
                  <a:pt x="2350" y="23329"/>
                  <a:pt x="0" y="17752"/>
                  <a:pt x="0" y="11930"/>
                </a:cubicBezTo>
                <a:cubicBezTo>
                  <a:pt x="-1" y="7686"/>
                  <a:pt x="1249" y="3537"/>
                  <a:pt x="3593" y="0"/>
                </a:cubicBezTo>
              </a:path>
              <a:path w="21600" h="27394" stroke="0" extrusionOk="0">
                <a:moveTo>
                  <a:pt x="6519" y="27394"/>
                </a:moveTo>
                <a:cubicBezTo>
                  <a:pt x="2350" y="23329"/>
                  <a:pt x="0" y="17752"/>
                  <a:pt x="0" y="11930"/>
                </a:cubicBezTo>
                <a:cubicBezTo>
                  <a:pt x="-1" y="7686"/>
                  <a:pt x="1249" y="3537"/>
                  <a:pt x="3593" y="0"/>
                </a:cubicBezTo>
                <a:lnTo>
                  <a:pt x="21600" y="11930"/>
                </a:lnTo>
                <a:close/>
              </a:path>
            </a:pathLst>
          </a:custGeom>
          <a:noFill/>
          <a:ln w="57150" cap="rnd">
            <a:solidFill>
              <a:srgbClr val="CC0000"/>
            </a:solidFill>
            <a:prstDash val="sysDot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494635" name="AutoShape 43"/>
          <p:cNvSpPr>
            <a:spLocks noChangeArrowheads="1"/>
          </p:cNvSpPr>
          <p:nvPr/>
        </p:nvSpPr>
        <p:spPr bwMode="auto">
          <a:xfrm>
            <a:off x="2861953" y="1792884"/>
            <a:ext cx="6059055" cy="2422860"/>
          </a:xfrm>
          <a:prstGeom prst="roundRect">
            <a:avLst>
              <a:gd name="adj" fmla="val 4167"/>
            </a:avLst>
          </a:prstGeom>
          <a:gradFill rotWithShape="1">
            <a:gsLst>
              <a:gs pos="0">
                <a:srgbClr val="EEEFD7"/>
              </a:gs>
              <a:gs pos="100000">
                <a:srgbClr val="D5D69C"/>
              </a:gs>
            </a:gsLst>
            <a:lin ang="2700000" scaled="1"/>
          </a:gradFill>
          <a:ln w="9525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tIns="91440" anchor="ctr"/>
          <a:lstStyle/>
          <a:p>
            <a:pPr marL="225425" indent="-225425" algn="l">
              <a:lnSpc>
                <a:spcPct val="85000"/>
              </a:lnSpc>
              <a:spcBef>
                <a:spcPct val="40000"/>
              </a:spcBef>
              <a:buSzPct val="80000"/>
              <a:buFontTx/>
              <a:buBlip>
                <a:blip r:embed="rId8"/>
              </a:buBlip>
            </a:pPr>
            <a:r>
              <a:rPr lang="fr-FR" sz="2400" b="0" dirty="0" smtClean="0">
                <a:solidFill>
                  <a:srgbClr val="000000"/>
                </a:solidFill>
              </a:rPr>
              <a:t>Des utilisateurs, des ordinateurs, des groupes universels et des </a:t>
            </a:r>
            <a:r>
              <a:rPr lang="fr-FR" sz="2400" b="0" dirty="0">
                <a:solidFill>
                  <a:srgbClr val="000000"/>
                </a:solidFill>
              </a:rPr>
              <a:t>groupes </a:t>
            </a:r>
            <a:r>
              <a:rPr lang="fr-FR" sz="2400" b="0" dirty="0" smtClean="0">
                <a:solidFill>
                  <a:srgbClr val="000000"/>
                </a:solidFill>
              </a:rPr>
              <a:t>globaux issus de n'importe quel domaine dans la forêt</a:t>
            </a:r>
          </a:p>
          <a:p>
            <a:pPr marL="225425" indent="-225425" algn="l">
              <a:lnSpc>
                <a:spcPct val="85000"/>
              </a:lnSpc>
              <a:spcBef>
                <a:spcPct val="40000"/>
              </a:spcBef>
              <a:buSzPct val="80000"/>
              <a:buFontTx/>
              <a:buBlip>
                <a:blip r:embed="rId8"/>
              </a:buBlip>
            </a:pPr>
            <a:r>
              <a:rPr lang="fr-FR" sz="2400" b="0" dirty="0" smtClean="0">
                <a:solidFill>
                  <a:srgbClr val="000000"/>
                </a:solidFill>
              </a:rPr>
              <a:t>Autres </a:t>
            </a:r>
            <a:r>
              <a:rPr lang="fr-FR" sz="2400" b="0" dirty="0">
                <a:solidFill>
                  <a:srgbClr val="000000"/>
                </a:solidFill>
              </a:rPr>
              <a:t>groupes de domaine locaux appartenant à son propre </a:t>
            </a:r>
            <a:r>
              <a:rPr lang="fr-FR" sz="2400" b="0" dirty="0" smtClean="0">
                <a:solidFill>
                  <a:srgbClr val="000000"/>
                </a:solidFill>
              </a:rPr>
              <a:t>domaine</a:t>
            </a:r>
          </a:p>
          <a:p>
            <a:pPr marL="225425" indent="-225425" algn="l">
              <a:lnSpc>
                <a:spcPct val="85000"/>
              </a:lnSpc>
              <a:spcBef>
                <a:spcPct val="40000"/>
              </a:spcBef>
              <a:buSzPct val="80000"/>
              <a:buFontTx/>
              <a:buBlip>
                <a:blip r:embed="rId8"/>
              </a:buBlip>
            </a:pPr>
            <a:r>
              <a:rPr lang="fr-FR" sz="2400" b="0" dirty="0" smtClean="0">
                <a:solidFill>
                  <a:srgbClr val="000000"/>
                </a:solidFill>
              </a:rPr>
              <a:t>Visible uniquement dans son propre domaine</a:t>
            </a:r>
            <a:endParaRPr lang="en-US" sz="2400" b="0" dirty="0">
              <a:solidFill>
                <a:srgbClr val="000000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1574799" y="4574738"/>
            <a:ext cx="7322457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buFont typeface="Wingdings" pitchFamily="2" charset="2"/>
              <a:buChar char="q"/>
            </a:pPr>
            <a:r>
              <a:rPr lang="fr-FR" sz="2400" dirty="0" smtClean="0">
                <a:solidFill>
                  <a:srgbClr val="C00000"/>
                </a:solidFill>
              </a:rPr>
              <a:t> Utilisez les lorsque vous souhaitez affecter des autorisations d’accès à des ressources qui se situent dans le même domaine que celui dans lequel vous créez le groupe local de domaine. </a:t>
            </a:r>
          </a:p>
        </p:txBody>
      </p:sp>
      <p:pic>
        <p:nvPicPr>
          <p:cNvPr id="12" name="Picture 8" descr="Collection_UniversalGroup01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1579419" y="1432168"/>
            <a:ext cx="1310309" cy="882269"/>
          </a:xfrm>
          <a:prstGeom prst="rect">
            <a:avLst/>
          </a:prstGeom>
          <a:noFill/>
        </p:spPr>
      </p:pic>
      <p:sp>
        <p:nvSpPr>
          <p:cNvPr id="13" name="Arc 34"/>
          <p:cNvSpPr>
            <a:spLocks/>
          </p:cNvSpPr>
          <p:nvPr/>
        </p:nvSpPr>
        <p:spPr bwMode="auto">
          <a:xfrm rot="1935023" flipH="1" flipV="1">
            <a:off x="1127672" y="2212849"/>
            <a:ext cx="610040" cy="1440613"/>
          </a:xfrm>
          <a:custGeom>
            <a:avLst/>
            <a:gdLst>
              <a:gd name="G0" fmla="+- 21600 0 0"/>
              <a:gd name="G1" fmla="+- 11930 0 0"/>
              <a:gd name="G2" fmla="+- 21600 0 0"/>
              <a:gd name="T0" fmla="*/ 6520 w 21600"/>
              <a:gd name="T1" fmla="*/ 27394 h 27394"/>
              <a:gd name="T2" fmla="*/ 3593 w 21600"/>
              <a:gd name="T3" fmla="*/ 0 h 27394"/>
              <a:gd name="T4" fmla="*/ 21600 w 21600"/>
              <a:gd name="T5" fmla="*/ 11930 h 273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7394" fill="none" extrusionOk="0">
                <a:moveTo>
                  <a:pt x="6519" y="27394"/>
                </a:moveTo>
                <a:cubicBezTo>
                  <a:pt x="2350" y="23329"/>
                  <a:pt x="0" y="17752"/>
                  <a:pt x="0" y="11930"/>
                </a:cubicBezTo>
                <a:cubicBezTo>
                  <a:pt x="-1" y="7686"/>
                  <a:pt x="1249" y="3537"/>
                  <a:pt x="3593" y="0"/>
                </a:cubicBezTo>
              </a:path>
              <a:path w="21600" h="27394" stroke="0" extrusionOk="0">
                <a:moveTo>
                  <a:pt x="6519" y="27394"/>
                </a:moveTo>
                <a:cubicBezTo>
                  <a:pt x="2350" y="23329"/>
                  <a:pt x="0" y="17752"/>
                  <a:pt x="0" y="11930"/>
                </a:cubicBezTo>
                <a:cubicBezTo>
                  <a:pt x="-1" y="7686"/>
                  <a:pt x="1249" y="3537"/>
                  <a:pt x="3593" y="0"/>
                </a:cubicBezTo>
                <a:lnTo>
                  <a:pt x="21600" y="11930"/>
                </a:lnTo>
                <a:close/>
              </a:path>
            </a:pathLst>
          </a:custGeom>
          <a:noFill/>
          <a:ln w="57150" cap="rnd">
            <a:solidFill>
              <a:srgbClr val="CC0000"/>
            </a:solidFill>
            <a:prstDash val="sysDot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1000"/>
                                        <p:tgtEl>
                                          <p:spTgt spid="4946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1000"/>
                                        <p:tgtEl>
                                          <p:spTgt spid="4946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1000"/>
                                        <p:tgtEl>
                                          <p:spTgt spid="4946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 smtClean="0">
                <a:solidFill>
                  <a:srgbClr val="C00000"/>
                </a:solidFill>
              </a:rPr>
              <a:t>Les </a:t>
            </a:r>
            <a:r>
              <a:rPr lang="fr-FR" b="1" dirty="0">
                <a:solidFill>
                  <a:srgbClr val="C00000"/>
                </a:solidFill>
              </a:rPr>
              <a:t>groupes globaux</a:t>
            </a:r>
            <a:endParaRPr lang="en-US" b="1" dirty="0">
              <a:solidFill>
                <a:srgbClr val="C00000"/>
              </a:solidFill>
            </a:endParaRPr>
          </a:p>
        </p:txBody>
      </p:sp>
      <p:grpSp>
        <p:nvGrpSpPr>
          <p:cNvPr id="12" name="Groupe 11"/>
          <p:cNvGrpSpPr/>
          <p:nvPr/>
        </p:nvGrpSpPr>
        <p:grpSpPr>
          <a:xfrm>
            <a:off x="5927797" y="926452"/>
            <a:ext cx="3073703" cy="3117108"/>
            <a:chOff x="2630712" y="2654300"/>
            <a:chExt cx="4046538" cy="3590925"/>
          </a:xfrm>
        </p:grpSpPr>
        <p:pic>
          <p:nvPicPr>
            <p:cNvPr id="409778" name="Picture 178" descr="Collection_GlobalGroup01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2630712" y="4054475"/>
              <a:ext cx="1184275" cy="930275"/>
            </a:xfrm>
            <a:prstGeom prst="rect">
              <a:avLst/>
            </a:prstGeom>
            <a:noFill/>
          </p:spPr>
        </p:pic>
        <p:pic>
          <p:nvPicPr>
            <p:cNvPr id="409798" name="Picture 198" descr="Collection_GlobalGroup01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3919538" y="2654300"/>
              <a:ext cx="1446212" cy="1136650"/>
            </a:xfrm>
            <a:prstGeom prst="rect">
              <a:avLst/>
            </a:prstGeom>
            <a:noFill/>
          </p:spPr>
        </p:pic>
        <p:pic>
          <p:nvPicPr>
            <p:cNvPr id="409799" name="Picture 199" descr="Users01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4977037" y="5172075"/>
              <a:ext cx="838200" cy="1023938"/>
            </a:xfrm>
            <a:prstGeom prst="rect">
              <a:avLst/>
            </a:prstGeom>
            <a:noFill/>
          </p:spPr>
        </p:pic>
        <p:pic>
          <p:nvPicPr>
            <p:cNvPr id="409777" name="Picture 177" descr="Users01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3759425" y="5221288"/>
              <a:ext cx="838200" cy="1023937"/>
            </a:xfrm>
            <a:prstGeom prst="rect">
              <a:avLst/>
            </a:prstGeom>
            <a:noFill/>
          </p:spPr>
        </p:pic>
        <p:sp>
          <p:nvSpPr>
            <p:cNvPr id="409807" name="Arc 207"/>
            <p:cNvSpPr>
              <a:spLocks/>
            </p:cNvSpPr>
            <p:nvPr/>
          </p:nvSpPr>
          <p:spPr bwMode="auto">
            <a:xfrm rot="-2503875">
              <a:off x="3256187" y="4794250"/>
              <a:ext cx="747713" cy="650875"/>
            </a:xfrm>
            <a:custGeom>
              <a:avLst/>
              <a:gdLst>
                <a:gd name="G0" fmla="+- 21600 0 0"/>
                <a:gd name="G1" fmla="+- 8903 0 0"/>
                <a:gd name="G2" fmla="+- 21600 0 0"/>
                <a:gd name="T0" fmla="*/ 2878 w 21600"/>
                <a:gd name="T1" fmla="*/ 19675 h 19675"/>
                <a:gd name="T2" fmla="*/ 1920 w 21600"/>
                <a:gd name="T3" fmla="*/ 0 h 19675"/>
                <a:gd name="T4" fmla="*/ 21600 w 21600"/>
                <a:gd name="T5" fmla="*/ 8903 h 196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9675" fill="none" extrusionOk="0">
                  <a:moveTo>
                    <a:pt x="2877" y="19675"/>
                  </a:moveTo>
                  <a:cubicBezTo>
                    <a:pt x="992" y="16398"/>
                    <a:pt x="0" y="12683"/>
                    <a:pt x="0" y="8903"/>
                  </a:cubicBezTo>
                  <a:cubicBezTo>
                    <a:pt x="-1" y="5832"/>
                    <a:pt x="654" y="2797"/>
                    <a:pt x="1920" y="0"/>
                  </a:cubicBezTo>
                </a:path>
                <a:path w="21600" h="19675" stroke="0" extrusionOk="0">
                  <a:moveTo>
                    <a:pt x="2877" y="19675"/>
                  </a:moveTo>
                  <a:cubicBezTo>
                    <a:pt x="992" y="16398"/>
                    <a:pt x="0" y="12683"/>
                    <a:pt x="0" y="8903"/>
                  </a:cubicBezTo>
                  <a:cubicBezTo>
                    <a:pt x="-1" y="5832"/>
                    <a:pt x="654" y="2797"/>
                    <a:pt x="1920" y="0"/>
                  </a:cubicBezTo>
                  <a:lnTo>
                    <a:pt x="21600" y="8903"/>
                  </a:lnTo>
                  <a:close/>
                </a:path>
              </a:pathLst>
            </a:custGeom>
            <a:noFill/>
            <a:ln w="57150" cap="rnd">
              <a:solidFill>
                <a:srgbClr val="CC0000"/>
              </a:solidFill>
              <a:prstDash val="sysDot"/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09809" name="Arc 209"/>
            <p:cNvSpPr>
              <a:spLocks/>
            </p:cNvSpPr>
            <p:nvPr/>
          </p:nvSpPr>
          <p:spPr bwMode="auto">
            <a:xfrm flipH="1">
              <a:off x="4804000" y="3279775"/>
              <a:ext cx="1873250" cy="2454275"/>
            </a:xfrm>
            <a:custGeom>
              <a:avLst/>
              <a:gdLst>
                <a:gd name="G0" fmla="+- 21600 0 0"/>
                <a:gd name="G1" fmla="+- 18631 0 0"/>
                <a:gd name="G2" fmla="+- 21600 0 0"/>
                <a:gd name="T0" fmla="*/ 8314 w 21600"/>
                <a:gd name="T1" fmla="*/ 35661 h 35661"/>
                <a:gd name="T2" fmla="*/ 10671 w 21600"/>
                <a:gd name="T3" fmla="*/ 0 h 35661"/>
                <a:gd name="T4" fmla="*/ 21600 w 21600"/>
                <a:gd name="T5" fmla="*/ 18631 h 356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35661" fill="none" extrusionOk="0">
                  <a:moveTo>
                    <a:pt x="8313" y="35661"/>
                  </a:moveTo>
                  <a:cubicBezTo>
                    <a:pt x="3067" y="31568"/>
                    <a:pt x="0" y="25285"/>
                    <a:pt x="0" y="18631"/>
                  </a:cubicBezTo>
                  <a:cubicBezTo>
                    <a:pt x="-1" y="10967"/>
                    <a:pt x="4060" y="3877"/>
                    <a:pt x="10670" y="-1"/>
                  </a:cubicBezTo>
                </a:path>
                <a:path w="21600" h="35661" stroke="0" extrusionOk="0">
                  <a:moveTo>
                    <a:pt x="8313" y="35661"/>
                  </a:moveTo>
                  <a:cubicBezTo>
                    <a:pt x="3067" y="31568"/>
                    <a:pt x="0" y="25285"/>
                    <a:pt x="0" y="18631"/>
                  </a:cubicBezTo>
                  <a:cubicBezTo>
                    <a:pt x="-1" y="10967"/>
                    <a:pt x="4060" y="3877"/>
                    <a:pt x="10670" y="-1"/>
                  </a:cubicBezTo>
                  <a:lnTo>
                    <a:pt x="21600" y="18631"/>
                  </a:lnTo>
                  <a:close/>
                </a:path>
              </a:pathLst>
            </a:custGeom>
            <a:noFill/>
            <a:ln w="57150" cap="rnd">
              <a:solidFill>
                <a:srgbClr val="CC0000"/>
              </a:solidFill>
              <a:prstDash val="sysDot"/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09810" name="Arc 210"/>
            <p:cNvSpPr>
              <a:spLocks/>
            </p:cNvSpPr>
            <p:nvPr/>
          </p:nvSpPr>
          <p:spPr bwMode="auto">
            <a:xfrm rot="2176836">
              <a:off x="3467325" y="3284538"/>
              <a:ext cx="457200" cy="985837"/>
            </a:xfrm>
            <a:custGeom>
              <a:avLst/>
              <a:gdLst>
                <a:gd name="G0" fmla="+- 21600 0 0"/>
                <a:gd name="G1" fmla="+- 15426 0 0"/>
                <a:gd name="G2" fmla="+- 21600 0 0"/>
                <a:gd name="T0" fmla="*/ 778 w 21600"/>
                <a:gd name="T1" fmla="*/ 21170 h 21170"/>
                <a:gd name="T2" fmla="*/ 6481 w 21600"/>
                <a:gd name="T3" fmla="*/ 0 h 21170"/>
                <a:gd name="T4" fmla="*/ 21600 w 21600"/>
                <a:gd name="T5" fmla="*/ 15426 h 21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170" fill="none" extrusionOk="0">
                  <a:moveTo>
                    <a:pt x="777" y="21170"/>
                  </a:moveTo>
                  <a:cubicBezTo>
                    <a:pt x="261" y="19299"/>
                    <a:pt x="0" y="17366"/>
                    <a:pt x="0" y="15426"/>
                  </a:cubicBezTo>
                  <a:cubicBezTo>
                    <a:pt x="-1" y="9622"/>
                    <a:pt x="2335" y="4062"/>
                    <a:pt x="6480" y="-1"/>
                  </a:cubicBezTo>
                </a:path>
                <a:path w="21600" h="21170" stroke="0" extrusionOk="0">
                  <a:moveTo>
                    <a:pt x="777" y="21170"/>
                  </a:moveTo>
                  <a:cubicBezTo>
                    <a:pt x="261" y="19299"/>
                    <a:pt x="0" y="17366"/>
                    <a:pt x="0" y="15426"/>
                  </a:cubicBezTo>
                  <a:cubicBezTo>
                    <a:pt x="-1" y="9622"/>
                    <a:pt x="2335" y="4062"/>
                    <a:pt x="6480" y="-1"/>
                  </a:cubicBezTo>
                  <a:lnTo>
                    <a:pt x="21600" y="15426"/>
                  </a:lnTo>
                  <a:close/>
                </a:path>
              </a:pathLst>
            </a:custGeom>
            <a:noFill/>
            <a:ln w="57150" cap="rnd">
              <a:solidFill>
                <a:srgbClr val="CC0000"/>
              </a:solidFill>
              <a:prstDash val="sysDot"/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3" name="Rectangle 12"/>
          <p:cNvSpPr/>
          <p:nvPr/>
        </p:nvSpPr>
        <p:spPr>
          <a:xfrm>
            <a:off x="172199" y="5420553"/>
            <a:ext cx="880555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buFont typeface="Wingdings" pitchFamily="2" charset="2"/>
              <a:buChar char="q"/>
            </a:pPr>
            <a:r>
              <a:rPr lang="fr-FR" sz="2400" dirty="0" smtClean="0">
                <a:solidFill>
                  <a:srgbClr val="C00000"/>
                </a:solidFill>
              </a:rPr>
              <a:t> Utilisez les pour organiser des utilisateurs ou des groupes d’utilisateurs. 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48442" y="4146986"/>
            <a:ext cx="880555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buFont typeface="Wingdings" pitchFamily="2" charset="2"/>
              <a:buChar char="q"/>
            </a:pPr>
            <a:r>
              <a:rPr lang="fr-FR" sz="2400" dirty="0" smtClean="0">
                <a:solidFill>
                  <a:srgbClr val="C00000"/>
                </a:solidFill>
              </a:rPr>
              <a:t> Ne les créez pas dans le but de permettre aux utilisateurs d’accéder à des ressources spécifiques à un domaine (visibles dans toute la forêt). </a:t>
            </a:r>
          </a:p>
        </p:txBody>
      </p:sp>
      <p:sp>
        <p:nvSpPr>
          <p:cNvPr id="17" name="AutoShape 43"/>
          <p:cNvSpPr>
            <a:spLocks noChangeArrowheads="1"/>
          </p:cNvSpPr>
          <p:nvPr/>
        </p:nvSpPr>
        <p:spPr bwMode="auto">
          <a:xfrm>
            <a:off x="199243" y="1697878"/>
            <a:ext cx="5702793" cy="2209104"/>
          </a:xfrm>
          <a:prstGeom prst="roundRect">
            <a:avLst>
              <a:gd name="adj" fmla="val 4167"/>
            </a:avLst>
          </a:prstGeom>
          <a:gradFill rotWithShape="1">
            <a:gsLst>
              <a:gs pos="0">
                <a:srgbClr val="EEEFD7"/>
              </a:gs>
              <a:gs pos="100000">
                <a:srgbClr val="D5D69C"/>
              </a:gs>
            </a:gsLst>
            <a:lin ang="2700000" scaled="1"/>
          </a:gradFill>
          <a:ln w="9525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tIns="91440" anchor="ctr"/>
          <a:lstStyle/>
          <a:p>
            <a:pPr marL="225425" indent="-225425" algn="l">
              <a:lnSpc>
                <a:spcPct val="85000"/>
              </a:lnSpc>
              <a:spcBef>
                <a:spcPct val="40000"/>
              </a:spcBef>
              <a:buSzPct val="80000"/>
              <a:buBlip>
                <a:blip r:embed="rId6"/>
              </a:buBlip>
            </a:pPr>
            <a:r>
              <a:rPr lang="fr-FR" sz="2400" b="0" dirty="0" smtClean="0">
                <a:solidFill>
                  <a:srgbClr val="000000"/>
                </a:solidFill>
              </a:rPr>
              <a:t>Des utilisateurs, des ordinateurs, des groupes globaux membres de son propre domaine</a:t>
            </a:r>
          </a:p>
          <a:p>
            <a:pPr marL="225425" indent="-225425" algn="l">
              <a:lnSpc>
                <a:spcPct val="85000"/>
              </a:lnSpc>
              <a:spcBef>
                <a:spcPct val="40000"/>
              </a:spcBef>
              <a:buSzPct val="80000"/>
              <a:buBlip>
                <a:blip r:embed="rId6"/>
              </a:buBlip>
            </a:pPr>
            <a:r>
              <a:rPr lang="fr-FR" sz="2400" b="0" dirty="0" smtClean="0">
                <a:solidFill>
                  <a:srgbClr val="000000"/>
                </a:solidFill>
              </a:rPr>
              <a:t>Visible dans son domaine et tous les domaines </a:t>
            </a:r>
            <a:r>
              <a:rPr lang="fr-FR" sz="2400" b="0" dirty="0" smtClean="0">
                <a:solidFill>
                  <a:srgbClr val="000000"/>
                </a:solidFill>
              </a:rPr>
              <a:t>approuvés</a:t>
            </a:r>
            <a:endParaRPr lang="en-US" sz="2400" b="0" dirty="0" smtClean="0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10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1000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8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 smtClean="0">
                <a:solidFill>
                  <a:srgbClr val="C00000"/>
                </a:solidFill>
              </a:rPr>
              <a:t>Les </a:t>
            </a:r>
            <a:r>
              <a:rPr lang="fr-FR" b="1" dirty="0">
                <a:solidFill>
                  <a:srgbClr val="C00000"/>
                </a:solidFill>
              </a:rPr>
              <a:t>groupes universels</a:t>
            </a:r>
            <a:endParaRPr lang="en-US" b="1" dirty="0">
              <a:solidFill>
                <a:srgbClr val="C00000"/>
              </a:solidFill>
            </a:endParaRPr>
          </a:p>
        </p:txBody>
      </p:sp>
      <p:grpSp>
        <p:nvGrpSpPr>
          <p:cNvPr id="11" name="Groupe 10"/>
          <p:cNvGrpSpPr/>
          <p:nvPr/>
        </p:nvGrpSpPr>
        <p:grpSpPr>
          <a:xfrm>
            <a:off x="5771408" y="1265916"/>
            <a:ext cx="3246167" cy="2961718"/>
            <a:chOff x="2524125" y="2904666"/>
            <a:chExt cx="3394075" cy="3613150"/>
          </a:xfrm>
        </p:grpSpPr>
        <p:pic>
          <p:nvPicPr>
            <p:cNvPr id="461831" name="Picture 7" descr="Users01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4025900" y="5384341"/>
              <a:ext cx="930275" cy="1133475"/>
            </a:xfrm>
            <a:prstGeom prst="rect">
              <a:avLst/>
            </a:prstGeom>
            <a:noFill/>
          </p:spPr>
        </p:pic>
        <p:pic>
          <p:nvPicPr>
            <p:cNvPr id="461832" name="Picture 8" descr="Collection_UniversalGroup01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3576638" y="2904666"/>
              <a:ext cx="1370012" cy="1076325"/>
            </a:xfrm>
            <a:prstGeom prst="rect">
              <a:avLst/>
            </a:prstGeom>
            <a:noFill/>
          </p:spPr>
        </p:pic>
        <p:sp>
          <p:nvSpPr>
            <p:cNvPr id="461860" name="Arc 36"/>
            <p:cNvSpPr>
              <a:spLocks/>
            </p:cNvSpPr>
            <p:nvPr/>
          </p:nvSpPr>
          <p:spPr bwMode="auto">
            <a:xfrm rot="18832067">
              <a:off x="3435351" y="5076366"/>
              <a:ext cx="538162" cy="884237"/>
            </a:xfrm>
            <a:custGeom>
              <a:avLst/>
              <a:gdLst>
                <a:gd name="G0" fmla="+- 21600 0 0"/>
                <a:gd name="G1" fmla="+- 7966 0 0"/>
                <a:gd name="G2" fmla="+- 21600 0 0"/>
                <a:gd name="T0" fmla="*/ 4448 w 21600"/>
                <a:gd name="T1" fmla="*/ 21094 h 21094"/>
                <a:gd name="T2" fmla="*/ 1522 w 21600"/>
                <a:gd name="T3" fmla="*/ 0 h 21094"/>
                <a:gd name="T4" fmla="*/ 21600 w 21600"/>
                <a:gd name="T5" fmla="*/ 7966 h 2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094" fill="none" extrusionOk="0">
                  <a:moveTo>
                    <a:pt x="4447" y="21094"/>
                  </a:moveTo>
                  <a:cubicBezTo>
                    <a:pt x="1563" y="17325"/>
                    <a:pt x="0" y="12711"/>
                    <a:pt x="0" y="7966"/>
                  </a:cubicBezTo>
                  <a:cubicBezTo>
                    <a:pt x="-1" y="5238"/>
                    <a:pt x="516" y="2535"/>
                    <a:pt x="1522" y="0"/>
                  </a:cubicBezTo>
                </a:path>
                <a:path w="21600" h="21094" stroke="0" extrusionOk="0">
                  <a:moveTo>
                    <a:pt x="4447" y="21094"/>
                  </a:moveTo>
                  <a:cubicBezTo>
                    <a:pt x="1563" y="17325"/>
                    <a:pt x="0" y="12711"/>
                    <a:pt x="0" y="7966"/>
                  </a:cubicBezTo>
                  <a:cubicBezTo>
                    <a:pt x="-1" y="5238"/>
                    <a:pt x="516" y="2535"/>
                    <a:pt x="1522" y="0"/>
                  </a:cubicBezTo>
                  <a:lnTo>
                    <a:pt x="21600" y="7966"/>
                  </a:lnTo>
                  <a:close/>
                </a:path>
              </a:pathLst>
            </a:custGeom>
            <a:noFill/>
            <a:ln w="57150" cap="rnd">
              <a:solidFill>
                <a:srgbClr val="CC0000"/>
              </a:solidFill>
              <a:prstDash val="sysDot"/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61861" name="Arc 37"/>
            <p:cNvSpPr>
              <a:spLocks/>
            </p:cNvSpPr>
            <p:nvPr/>
          </p:nvSpPr>
          <p:spPr bwMode="auto">
            <a:xfrm flipH="1">
              <a:off x="3846513" y="3501566"/>
              <a:ext cx="2071687" cy="2479675"/>
            </a:xfrm>
            <a:custGeom>
              <a:avLst/>
              <a:gdLst>
                <a:gd name="G0" fmla="+- 21600 0 0"/>
                <a:gd name="G1" fmla="+- 18631 0 0"/>
                <a:gd name="G2" fmla="+- 21600 0 0"/>
                <a:gd name="T0" fmla="*/ 8314 w 21600"/>
                <a:gd name="T1" fmla="*/ 35661 h 35661"/>
                <a:gd name="T2" fmla="*/ 10671 w 21600"/>
                <a:gd name="T3" fmla="*/ 0 h 35661"/>
                <a:gd name="T4" fmla="*/ 21600 w 21600"/>
                <a:gd name="T5" fmla="*/ 18631 h 356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35661" fill="none" extrusionOk="0">
                  <a:moveTo>
                    <a:pt x="8313" y="35661"/>
                  </a:moveTo>
                  <a:cubicBezTo>
                    <a:pt x="3067" y="31568"/>
                    <a:pt x="0" y="25285"/>
                    <a:pt x="0" y="18631"/>
                  </a:cubicBezTo>
                  <a:cubicBezTo>
                    <a:pt x="-1" y="10967"/>
                    <a:pt x="4060" y="3877"/>
                    <a:pt x="10670" y="-1"/>
                  </a:cubicBezTo>
                </a:path>
                <a:path w="21600" h="35661" stroke="0" extrusionOk="0">
                  <a:moveTo>
                    <a:pt x="8313" y="35661"/>
                  </a:moveTo>
                  <a:cubicBezTo>
                    <a:pt x="3067" y="31568"/>
                    <a:pt x="0" y="25285"/>
                    <a:pt x="0" y="18631"/>
                  </a:cubicBezTo>
                  <a:cubicBezTo>
                    <a:pt x="-1" y="10967"/>
                    <a:pt x="4060" y="3877"/>
                    <a:pt x="10670" y="-1"/>
                  </a:cubicBezTo>
                  <a:lnTo>
                    <a:pt x="21600" y="18631"/>
                  </a:lnTo>
                  <a:close/>
                </a:path>
              </a:pathLst>
            </a:custGeom>
            <a:noFill/>
            <a:ln w="57150" cap="rnd">
              <a:solidFill>
                <a:srgbClr val="CC0000"/>
              </a:solidFill>
              <a:prstDash val="sysDot"/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61862" name="Arc 38"/>
            <p:cNvSpPr>
              <a:spLocks/>
            </p:cNvSpPr>
            <p:nvPr/>
          </p:nvSpPr>
          <p:spPr bwMode="auto">
            <a:xfrm rot="1300649">
              <a:off x="3101975" y="3688891"/>
              <a:ext cx="579438" cy="866775"/>
            </a:xfrm>
            <a:custGeom>
              <a:avLst/>
              <a:gdLst>
                <a:gd name="G0" fmla="+- 21600 0 0"/>
                <a:gd name="G1" fmla="+- 15426 0 0"/>
                <a:gd name="G2" fmla="+- 21600 0 0"/>
                <a:gd name="T0" fmla="*/ 778 w 21600"/>
                <a:gd name="T1" fmla="*/ 21170 h 21170"/>
                <a:gd name="T2" fmla="*/ 6481 w 21600"/>
                <a:gd name="T3" fmla="*/ 0 h 21170"/>
                <a:gd name="T4" fmla="*/ 21600 w 21600"/>
                <a:gd name="T5" fmla="*/ 15426 h 21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170" fill="none" extrusionOk="0">
                  <a:moveTo>
                    <a:pt x="777" y="21170"/>
                  </a:moveTo>
                  <a:cubicBezTo>
                    <a:pt x="261" y="19299"/>
                    <a:pt x="0" y="17366"/>
                    <a:pt x="0" y="15426"/>
                  </a:cubicBezTo>
                  <a:cubicBezTo>
                    <a:pt x="-1" y="9622"/>
                    <a:pt x="2335" y="4062"/>
                    <a:pt x="6480" y="-1"/>
                  </a:cubicBezTo>
                </a:path>
                <a:path w="21600" h="21170" stroke="0" extrusionOk="0">
                  <a:moveTo>
                    <a:pt x="777" y="21170"/>
                  </a:moveTo>
                  <a:cubicBezTo>
                    <a:pt x="261" y="19299"/>
                    <a:pt x="0" y="17366"/>
                    <a:pt x="0" y="15426"/>
                  </a:cubicBezTo>
                  <a:cubicBezTo>
                    <a:pt x="-1" y="9622"/>
                    <a:pt x="2335" y="4062"/>
                    <a:pt x="6480" y="-1"/>
                  </a:cubicBezTo>
                  <a:lnTo>
                    <a:pt x="21600" y="15426"/>
                  </a:lnTo>
                  <a:close/>
                </a:path>
              </a:pathLst>
            </a:custGeom>
            <a:noFill/>
            <a:ln w="57150" cap="rnd">
              <a:solidFill>
                <a:srgbClr val="CC0000"/>
              </a:solidFill>
              <a:prstDash val="sysDot"/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pic>
          <p:nvPicPr>
            <p:cNvPr id="461863" name="Picture 39" descr="Collection_GlobalGroup01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2524125" y="4423904"/>
              <a:ext cx="1184275" cy="930275"/>
            </a:xfrm>
            <a:prstGeom prst="rect">
              <a:avLst/>
            </a:prstGeom>
            <a:noFill/>
          </p:spPr>
        </p:pic>
      </p:grpSp>
      <p:sp>
        <p:nvSpPr>
          <p:cNvPr id="12" name="AutoShape 43"/>
          <p:cNvSpPr>
            <a:spLocks noChangeArrowheads="1"/>
          </p:cNvSpPr>
          <p:nvPr/>
        </p:nvSpPr>
        <p:spPr bwMode="auto">
          <a:xfrm>
            <a:off x="187368" y="1733499"/>
            <a:ext cx="5584040" cy="2114106"/>
          </a:xfrm>
          <a:prstGeom prst="roundRect">
            <a:avLst>
              <a:gd name="adj" fmla="val 4167"/>
            </a:avLst>
          </a:prstGeom>
          <a:gradFill rotWithShape="1">
            <a:gsLst>
              <a:gs pos="0">
                <a:srgbClr val="EEEFD7"/>
              </a:gs>
              <a:gs pos="100000">
                <a:srgbClr val="D5D69C"/>
              </a:gs>
            </a:gsLst>
            <a:lin ang="2700000" scaled="1"/>
          </a:gradFill>
          <a:ln w="9525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tIns="91440" anchor="ctr"/>
          <a:lstStyle/>
          <a:p>
            <a:pPr marL="225425" indent="-225425" algn="l">
              <a:lnSpc>
                <a:spcPct val="85000"/>
              </a:lnSpc>
              <a:spcBef>
                <a:spcPct val="40000"/>
              </a:spcBef>
              <a:buSzPct val="80000"/>
              <a:buBlip>
                <a:blip r:embed="rId6"/>
              </a:buBlip>
            </a:pPr>
            <a:r>
              <a:rPr lang="fr-FR" sz="2400" b="0" dirty="0" smtClean="0">
                <a:solidFill>
                  <a:srgbClr val="000000"/>
                </a:solidFill>
              </a:rPr>
              <a:t>Des utilisateurs, des ordinateurs, des groupes globaux et d’autres groupes universels de n'importe quel domaine dans sa forêt</a:t>
            </a:r>
          </a:p>
          <a:p>
            <a:pPr marL="225425" indent="-225425" algn="l">
              <a:lnSpc>
                <a:spcPct val="85000"/>
              </a:lnSpc>
              <a:spcBef>
                <a:spcPct val="40000"/>
              </a:spcBef>
              <a:buSzPct val="80000"/>
              <a:buBlip>
                <a:blip r:embed="rId6"/>
              </a:buBlip>
            </a:pPr>
            <a:r>
              <a:rPr lang="fr-FR" sz="2400" b="0" dirty="0" smtClean="0">
                <a:solidFill>
                  <a:srgbClr val="000000"/>
                </a:solidFill>
              </a:rPr>
              <a:t>Visibles dans tous les domaines de la forêt</a:t>
            </a:r>
            <a:endParaRPr lang="en-US" sz="2400" b="0" dirty="0" smtClean="0">
              <a:solidFill>
                <a:srgbClr val="000000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78129" y="4175173"/>
            <a:ext cx="8965871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buFont typeface="Wingdings" pitchFamily="2" charset="2"/>
              <a:buChar char="q"/>
            </a:pPr>
            <a:r>
              <a:rPr lang="fr-FR" sz="2400" dirty="0" smtClean="0">
                <a:solidFill>
                  <a:srgbClr val="C00000"/>
                </a:solidFill>
              </a:rPr>
              <a:t> Utilisez les lorsque vous souhaitez imbriquer des groupes globaux. De cette manière, vous pouvez affecter des autorisations aux ressources connexes dans plusieurs domaines. </a:t>
            </a:r>
          </a:p>
          <a:p>
            <a:pPr algn="l">
              <a:buFont typeface="Wingdings" pitchFamily="2" charset="2"/>
              <a:buChar char="q"/>
            </a:pPr>
            <a:r>
              <a:rPr lang="fr-FR" sz="2400" dirty="0" smtClean="0">
                <a:solidFill>
                  <a:srgbClr val="C00000"/>
                </a:solidFill>
              </a:rPr>
              <a:t>Vous pouvez utiliser des groupes de distribution universels dans un domaine Windows Server 2003 en mode Windows 2000 mixte ou ultérieur.</a:t>
            </a:r>
            <a:endParaRPr lang="fr-FR" sz="2400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10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10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10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10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vert="horz" anchor="b">
            <a:normAutofit fontScale="90000"/>
          </a:bodyPr>
          <a:lstStyle/>
          <a:p>
            <a:r>
              <a:rPr lang="fr-FR" b="1" dirty="0" smtClean="0">
                <a:solidFill>
                  <a:srgbClr val="C00000"/>
                </a:solidFill>
              </a:rPr>
              <a:t>Stratégie d’utilisation de groupe dans un domaine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201881" y="1527047"/>
            <a:ext cx="8752113" cy="4850001"/>
          </a:xfrm>
        </p:spPr>
        <p:txBody>
          <a:bodyPr>
            <a:normAutofit fontScale="92500" lnSpcReduction="10000"/>
          </a:bodyPr>
          <a:lstStyle/>
          <a:p>
            <a:pPr marL="231775" indent="-231775">
              <a:buSzPct val="80000"/>
              <a:buBlip>
                <a:blip r:embed="rId2"/>
              </a:buBlip>
            </a:pPr>
            <a:r>
              <a:rPr lang="fr-FR" sz="2600" dirty="0" smtClean="0"/>
              <a:t>Pour attribuer </a:t>
            </a:r>
            <a:r>
              <a:rPr lang="fr-FR" sz="2600" dirty="0" smtClean="0"/>
              <a:t>les autorisations sur les ressources du </a:t>
            </a:r>
            <a:r>
              <a:rPr lang="fr-FR" sz="2600" dirty="0" smtClean="0"/>
              <a:t>réseau, plusieurs stratégies </a:t>
            </a:r>
            <a:r>
              <a:rPr lang="fr-FR" sz="2600" dirty="0" smtClean="0"/>
              <a:t>sont </a:t>
            </a:r>
            <a:r>
              <a:rPr lang="fr-FR" sz="2600" dirty="0" smtClean="0"/>
              <a:t>recommandées: </a:t>
            </a:r>
            <a:r>
              <a:rPr lang="fr-FR" altLang="zh-CN" sz="2600" dirty="0" smtClean="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rPr>
              <a:t>C </a:t>
            </a:r>
            <a:r>
              <a:rPr lang="fr-FR" altLang="zh-CN" sz="2600" dirty="0" smtClean="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rPr>
              <a:t>G A </a:t>
            </a:r>
            <a:r>
              <a:rPr lang="fr-FR" altLang="zh-CN" sz="2600" dirty="0" smtClean="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rPr>
              <a:t>, C </a:t>
            </a:r>
            <a:r>
              <a:rPr lang="fr-FR" altLang="zh-CN" sz="2600" dirty="0" smtClean="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rPr>
              <a:t>DL </a:t>
            </a:r>
            <a:r>
              <a:rPr lang="fr-FR" altLang="zh-CN" sz="2600" dirty="0" smtClean="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rPr>
              <a:t>A, C </a:t>
            </a:r>
            <a:r>
              <a:rPr lang="fr-FR" altLang="zh-CN" sz="2600" dirty="0" smtClean="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rPr>
              <a:t>G DL </a:t>
            </a:r>
            <a:r>
              <a:rPr lang="fr-FR" altLang="zh-CN" sz="2600" dirty="0" smtClean="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rPr>
              <a:t>A, C </a:t>
            </a:r>
            <a:r>
              <a:rPr lang="fr-FR" altLang="zh-CN" sz="2600" dirty="0" smtClean="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rPr>
              <a:t>G U DL </a:t>
            </a:r>
            <a:r>
              <a:rPr lang="fr-FR" altLang="zh-CN" sz="2600" dirty="0" smtClean="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rPr>
              <a:t>A, C </a:t>
            </a:r>
            <a:r>
              <a:rPr lang="fr-FR" altLang="zh-CN" sz="2600" dirty="0" smtClean="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rPr>
              <a:t>G L A</a:t>
            </a:r>
            <a:r>
              <a:rPr lang="en-IE" altLang="zh-CN" sz="2600" dirty="0" smtClean="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rPr>
              <a:t> </a:t>
            </a:r>
            <a:endParaRPr lang="en-IE" altLang="zh-CN" sz="2600" dirty="0" smtClean="0">
              <a:solidFill>
                <a:srgbClr val="000000"/>
              </a:solidFill>
              <a:ea typeface="SimSun" pitchFamily="2" charset="-122"/>
              <a:cs typeface="Times New Roman" pitchFamily="18" charset="0"/>
            </a:endParaRPr>
          </a:p>
          <a:p>
            <a:pPr marL="231775" indent="-231775">
              <a:buSzPct val="80000"/>
              <a:buBlip>
                <a:blip r:embed="rId2"/>
              </a:buBlip>
            </a:pPr>
            <a:r>
              <a:rPr lang="fr-FR" sz="2600" dirty="0" smtClean="0"/>
              <a:t>La </a:t>
            </a:r>
            <a:r>
              <a:rPr lang="fr-FR" sz="2600" dirty="0" smtClean="0"/>
              <a:t>stratégie privilégiée </a:t>
            </a:r>
            <a:r>
              <a:rPr lang="fr-FR" sz="2600" dirty="0" smtClean="0"/>
              <a:t>est : </a:t>
            </a:r>
            <a:r>
              <a:rPr lang="fr-FR" altLang="zh-CN" sz="2600" dirty="0" smtClean="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rPr>
              <a:t>C G DL </a:t>
            </a:r>
            <a:r>
              <a:rPr lang="fr-FR" altLang="zh-CN" sz="2600" dirty="0" smtClean="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rPr>
              <a:t>A</a:t>
            </a:r>
          </a:p>
          <a:p>
            <a:pPr marL="506095" lvl="1" indent="-231775">
              <a:buSzPct val="80000"/>
              <a:buFont typeface="Wingdings" pitchFamily="2" charset="2"/>
              <a:buChar char="§"/>
            </a:pPr>
            <a:r>
              <a:rPr lang="fr-FR" sz="2400" dirty="0" smtClean="0"/>
              <a:t>Rassemblez </a:t>
            </a:r>
            <a:r>
              <a:rPr lang="fr-FR" sz="2400" dirty="0" smtClean="0"/>
              <a:t>des </a:t>
            </a:r>
            <a:r>
              <a:rPr lang="fr-FR" sz="2400" b="1" dirty="0" smtClean="0"/>
              <a:t>comptes d’utilisateur (C) dans des groupes </a:t>
            </a:r>
            <a:r>
              <a:rPr lang="fr-FR" sz="2400" b="1" dirty="0" smtClean="0"/>
              <a:t>globaux (G).</a:t>
            </a:r>
          </a:p>
          <a:p>
            <a:pPr marL="506095" lvl="1" indent="-231775">
              <a:buSzPct val="80000"/>
              <a:buFont typeface="Wingdings" pitchFamily="2" charset="2"/>
              <a:buChar char="§"/>
            </a:pPr>
            <a:r>
              <a:rPr lang="fr-FR" sz="2400" b="1" dirty="0" smtClean="0"/>
              <a:t>Ajoutez </a:t>
            </a:r>
            <a:r>
              <a:rPr lang="fr-FR" sz="2400" b="1" dirty="0" smtClean="0"/>
              <a:t>les groupes globaux </a:t>
            </a:r>
            <a:r>
              <a:rPr lang="fr-FR" sz="2400" b="1" dirty="0" smtClean="0"/>
              <a:t>à </a:t>
            </a:r>
            <a:r>
              <a:rPr lang="fr-FR" sz="2400" dirty="0" smtClean="0"/>
              <a:t>un </a:t>
            </a:r>
            <a:r>
              <a:rPr lang="fr-FR" sz="2400" b="1" dirty="0" smtClean="0"/>
              <a:t>groupe local de domaine (DL</a:t>
            </a:r>
            <a:r>
              <a:rPr lang="fr-FR" sz="2400" b="1" dirty="0" smtClean="0"/>
              <a:t>).</a:t>
            </a:r>
          </a:p>
          <a:p>
            <a:pPr marL="506095" lvl="1" indent="-231775">
              <a:buSzPct val="80000"/>
              <a:buFont typeface="Wingdings" pitchFamily="2" charset="2"/>
              <a:buChar char="§"/>
            </a:pPr>
            <a:r>
              <a:rPr lang="fr-FR" sz="2400" dirty="0" smtClean="0"/>
              <a:t>Affectez </a:t>
            </a:r>
            <a:r>
              <a:rPr lang="fr-FR" sz="2400" dirty="0" smtClean="0"/>
              <a:t>les </a:t>
            </a:r>
            <a:r>
              <a:rPr lang="fr-FR" sz="2400" b="1" dirty="0" smtClean="0"/>
              <a:t>autorisations (A) </a:t>
            </a:r>
            <a:r>
              <a:rPr lang="fr-FR" sz="2400" b="1" dirty="0" smtClean="0"/>
              <a:t>sur </a:t>
            </a:r>
            <a:r>
              <a:rPr lang="fr-FR" sz="2400" b="1" dirty="0" smtClean="0"/>
              <a:t>le groupe local de domaine. </a:t>
            </a:r>
            <a:endParaRPr lang="fr-FR" sz="2400" b="1" dirty="0" smtClean="0"/>
          </a:p>
          <a:p>
            <a:pPr marL="231775" indent="-231775">
              <a:buSzPct val="80000"/>
              <a:buBlip>
                <a:blip r:embed="rId2"/>
              </a:buBlip>
            </a:pPr>
            <a:r>
              <a:rPr lang="fr-FR" sz="2600" b="1" dirty="0" smtClean="0"/>
              <a:t>Cette </a:t>
            </a:r>
            <a:r>
              <a:rPr lang="fr-FR" sz="2600" dirty="0" smtClean="0"/>
              <a:t>stratégie </a:t>
            </a:r>
            <a:r>
              <a:rPr lang="fr-FR" sz="2600" dirty="0" smtClean="0"/>
              <a:t>est aussi appelée A G DL P </a:t>
            </a:r>
            <a:r>
              <a:rPr lang="fr-FR" sz="2600" dirty="0" smtClean="0"/>
              <a:t>(</a:t>
            </a:r>
            <a:r>
              <a:rPr lang="fr-FR" sz="2600" b="1" dirty="0" err="1" smtClean="0"/>
              <a:t>Accounts</a:t>
            </a:r>
            <a:r>
              <a:rPr lang="fr-FR" sz="2600" b="1" dirty="0" smtClean="0"/>
              <a:t> </a:t>
            </a:r>
            <a:r>
              <a:rPr lang="fr-FR" sz="2600" b="1" dirty="0" smtClean="0"/>
              <a:t>Global group Domain Local group </a:t>
            </a:r>
            <a:r>
              <a:rPr lang="fr-FR" sz="2600" b="1" dirty="0" smtClean="0"/>
              <a:t>Permissions)</a:t>
            </a:r>
          </a:p>
          <a:p>
            <a:pPr marL="231775" indent="-231775">
              <a:buSzPct val="80000"/>
              <a:buBlip>
                <a:blip r:embed="rId2"/>
              </a:buBlip>
            </a:pPr>
            <a:r>
              <a:rPr lang="fr-FR" sz="2600" dirty="0" smtClean="0"/>
              <a:t>Une évolution </a:t>
            </a:r>
            <a:r>
              <a:rPr lang="fr-FR" sz="2600" dirty="0" smtClean="0"/>
              <a:t>de cette stratégie </a:t>
            </a:r>
            <a:r>
              <a:rPr lang="fr-FR" sz="2600" dirty="0" smtClean="0"/>
              <a:t>: C </a:t>
            </a:r>
            <a:r>
              <a:rPr lang="fr-FR" sz="2600" dirty="0" smtClean="0"/>
              <a:t>G U DL A.</a:t>
            </a:r>
            <a:endParaRPr lang="fr-FR" sz="2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3000"/>
                            </p:stCondLst>
                            <p:childTnLst>
                              <p:par>
                                <p:cTn id="22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9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658" name="Rectangle 2"/>
          <p:cNvSpPr>
            <a:spLocks noGrp="1" noChangeArrowheads="1"/>
          </p:cNvSpPr>
          <p:nvPr>
            <p:ph type="title"/>
          </p:nvPr>
        </p:nvSpPr>
        <p:spPr>
          <a:xfrm>
            <a:off x="188686" y="359226"/>
            <a:ext cx="8766628" cy="758952"/>
          </a:xfrm>
        </p:spPr>
        <p:txBody>
          <a:bodyPr>
            <a:normAutofit fontScale="90000"/>
          </a:bodyPr>
          <a:lstStyle/>
          <a:p>
            <a:pPr marL="514350" indent="-514350"/>
            <a:r>
              <a:rPr lang="fr-FR" b="1" dirty="0" smtClean="0">
                <a:solidFill>
                  <a:schemeClr val="tx1"/>
                </a:solidFill>
              </a:rPr>
              <a:t>4. Outils d’administration et tâches administratives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32665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287238" y="1886856"/>
            <a:ext cx="8503920" cy="3991430"/>
          </a:xfrm>
        </p:spPr>
        <p:txBody>
          <a:bodyPr>
            <a:noAutofit/>
          </a:bodyPr>
          <a:lstStyle/>
          <a:p>
            <a:pPr marL="514350" indent="-514350">
              <a:buClr>
                <a:schemeClr val="tx1"/>
              </a:buClr>
              <a:buFont typeface="Wingdings" pitchFamily="2" charset="2"/>
              <a:buChar char="q"/>
            </a:pPr>
            <a:r>
              <a:rPr lang="fr-FR" sz="2600" b="1" dirty="0" smtClean="0">
                <a:solidFill>
                  <a:srgbClr val="C00000"/>
                </a:solidFill>
              </a:rPr>
              <a:t>Outils permettant de créer et gérer plusieurs comptes</a:t>
            </a:r>
          </a:p>
          <a:p>
            <a:pPr marL="514350" indent="-514350">
              <a:buClr>
                <a:schemeClr val="tx1"/>
              </a:buClr>
              <a:buFont typeface="Wingdings" pitchFamily="2" charset="2"/>
              <a:buChar char="q"/>
            </a:pPr>
            <a:r>
              <a:rPr lang="fr-FR" sz="2600" b="1" dirty="0" smtClean="0">
                <a:solidFill>
                  <a:srgbClr val="C00000"/>
                </a:solidFill>
              </a:rPr>
              <a:t>Comment créer des comptes à l'aide de l'outil </a:t>
            </a:r>
            <a:r>
              <a:rPr lang="fr-FR" sz="2600" b="1" dirty="0" err="1" smtClean="0">
                <a:solidFill>
                  <a:srgbClr val="C00000"/>
                </a:solidFill>
              </a:rPr>
              <a:t>Csvde</a:t>
            </a:r>
            <a:endParaRPr lang="fr-FR" sz="2600" b="1" dirty="0" smtClean="0">
              <a:solidFill>
                <a:srgbClr val="C00000"/>
              </a:solidFill>
            </a:endParaRPr>
          </a:p>
          <a:p>
            <a:pPr marL="514350" indent="-514350">
              <a:buClr>
                <a:schemeClr val="tx1"/>
              </a:buClr>
              <a:buFont typeface="Wingdings" pitchFamily="2" charset="2"/>
              <a:buChar char="q"/>
            </a:pPr>
            <a:r>
              <a:rPr lang="fr-FR" sz="2600" b="1" dirty="0" smtClean="0">
                <a:solidFill>
                  <a:srgbClr val="C00000"/>
                </a:solidFill>
              </a:rPr>
              <a:t>Comment créer et gérer des comptes à l'aide de l'outil </a:t>
            </a:r>
            <a:r>
              <a:rPr lang="fr-FR" sz="2600" b="1" dirty="0" err="1" smtClean="0">
                <a:solidFill>
                  <a:srgbClr val="C00000"/>
                </a:solidFill>
              </a:rPr>
              <a:t>Ldifde</a:t>
            </a:r>
            <a:endParaRPr lang="fr-FR" sz="2600" b="1" dirty="0" smtClean="0">
              <a:solidFill>
                <a:srgbClr val="C00000"/>
              </a:solidFill>
            </a:endParaRPr>
          </a:p>
          <a:p>
            <a:pPr marL="514350" indent="-514350">
              <a:buClr>
                <a:schemeClr val="tx1"/>
              </a:buClr>
              <a:buFont typeface="Wingdings" pitchFamily="2" charset="2"/>
              <a:buChar char="q"/>
            </a:pPr>
            <a:r>
              <a:rPr lang="fr-FR" sz="2600" b="1" dirty="0" smtClean="0">
                <a:solidFill>
                  <a:srgbClr val="C00000"/>
                </a:solidFill>
              </a:rPr>
              <a:t>Comment créer et gérer des comptes à l'aide de l'environnement d'exécution de scripts Windows</a:t>
            </a:r>
            <a:endParaRPr lang="en-US" sz="2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650" name="Rectangle 2"/>
          <p:cNvSpPr>
            <a:spLocks noGrp="1" noChangeArrowheads="1"/>
          </p:cNvSpPr>
          <p:nvPr>
            <p:ph type="title"/>
          </p:nvPr>
        </p:nvSpPr>
        <p:spPr>
          <a:xfrm>
            <a:off x="185056" y="324530"/>
            <a:ext cx="8741229" cy="684212"/>
          </a:xfrm>
        </p:spPr>
        <p:txBody>
          <a:bodyPr>
            <a:noAutofit/>
          </a:bodyPr>
          <a:lstStyle/>
          <a:p>
            <a:r>
              <a:rPr lang="fr-FR" sz="2600" b="1" dirty="0">
                <a:solidFill>
                  <a:srgbClr val="C00000"/>
                </a:solidFill>
              </a:rPr>
              <a:t>Outils permettant de créer et gérer plusieurs comptes</a:t>
            </a:r>
            <a:endParaRPr lang="en-US" sz="2600" b="1" dirty="0">
              <a:solidFill>
                <a:srgbClr val="C00000"/>
              </a:solidFill>
            </a:endParaRPr>
          </a:p>
        </p:txBody>
      </p:sp>
      <p:sp>
        <p:nvSpPr>
          <p:cNvPr id="411671" name="AutoShape 23"/>
          <p:cNvSpPr>
            <a:spLocks noChangeArrowheads="1"/>
          </p:cNvSpPr>
          <p:nvPr/>
        </p:nvSpPr>
        <p:spPr bwMode="auto">
          <a:xfrm>
            <a:off x="537030" y="1327150"/>
            <a:ext cx="3974646" cy="2319338"/>
          </a:xfrm>
          <a:prstGeom prst="roundRect">
            <a:avLst>
              <a:gd name="adj" fmla="val 4167"/>
            </a:avLst>
          </a:prstGeom>
          <a:solidFill>
            <a:srgbClr val="B3C8DF"/>
          </a:solidFill>
          <a:ln w="9525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wrap="none"/>
          <a:lstStyle/>
          <a:p>
            <a:pPr>
              <a:lnSpc>
                <a:spcPct val="85000"/>
              </a:lnSpc>
            </a:pPr>
            <a:r>
              <a:rPr lang="fr-FR" sz="2200" dirty="0">
                <a:solidFill>
                  <a:srgbClr val="000000"/>
                </a:solidFill>
              </a:rPr>
              <a:t>Utilisateurs et ordinateurs </a:t>
            </a:r>
            <a:br>
              <a:rPr lang="fr-FR" sz="2200" dirty="0">
                <a:solidFill>
                  <a:srgbClr val="000000"/>
                </a:solidFill>
              </a:rPr>
            </a:br>
            <a:r>
              <a:rPr lang="fr-FR" sz="2200" dirty="0">
                <a:solidFill>
                  <a:srgbClr val="000000"/>
                </a:solidFill>
              </a:rPr>
              <a:t>Active Directory</a:t>
            </a:r>
            <a:endParaRPr lang="en-US" sz="2200" dirty="0"/>
          </a:p>
        </p:txBody>
      </p:sp>
      <p:sp>
        <p:nvSpPr>
          <p:cNvPr id="411672" name="AutoShape 24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423988" y="2008188"/>
            <a:ext cx="2943225" cy="1501775"/>
          </a:xfrm>
          <a:prstGeom prst="roundRect">
            <a:avLst>
              <a:gd name="adj" fmla="val 4167"/>
            </a:avLst>
          </a:prstGeom>
          <a:solidFill>
            <a:srgbClr val="F0F1E1"/>
          </a:solidFill>
          <a:ln w="9525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anchor="ctr"/>
          <a:lstStyle/>
          <a:p>
            <a:pPr marL="177800" indent="-177800" algn="l"/>
            <a:endParaRPr lang="fr-FR" b="0"/>
          </a:p>
        </p:txBody>
      </p:sp>
      <p:sp>
        <p:nvSpPr>
          <p:cNvPr id="411673" name="AutoShape 25"/>
          <p:cNvSpPr>
            <a:spLocks noChangeArrowheads="1"/>
          </p:cNvSpPr>
          <p:nvPr/>
        </p:nvSpPr>
        <p:spPr bwMode="auto">
          <a:xfrm>
            <a:off x="4686299" y="1327150"/>
            <a:ext cx="3978729" cy="2319338"/>
          </a:xfrm>
          <a:prstGeom prst="roundRect">
            <a:avLst>
              <a:gd name="adj" fmla="val 4167"/>
            </a:avLst>
          </a:prstGeom>
          <a:solidFill>
            <a:srgbClr val="B3C8DF"/>
          </a:solidFill>
          <a:ln w="9525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wrap="none"/>
          <a:lstStyle/>
          <a:p>
            <a:r>
              <a:rPr lang="fr-FR" sz="2200">
                <a:solidFill>
                  <a:srgbClr val="000000"/>
                </a:solidFill>
              </a:rPr>
              <a:t>Outils de service d'annuaire</a:t>
            </a:r>
            <a:endParaRPr lang="en-US" sz="2200"/>
          </a:p>
        </p:txBody>
      </p:sp>
      <p:sp>
        <p:nvSpPr>
          <p:cNvPr id="411674" name="AutoShape 26"/>
          <p:cNvSpPr>
            <a:spLocks noChangeArrowheads="1"/>
          </p:cNvSpPr>
          <p:nvPr/>
        </p:nvSpPr>
        <p:spPr bwMode="auto">
          <a:xfrm>
            <a:off x="4832350" y="1781175"/>
            <a:ext cx="2943225" cy="1728788"/>
          </a:xfrm>
          <a:prstGeom prst="roundRect">
            <a:avLst>
              <a:gd name="adj" fmla="val 4167"/>
            </a:avLst>
          </a:prstGeom>
          <a:solidFill>
            <a:srgbClr val="EEEFD7"/>
          </a:solidFill>
          <a:ln w="9525" algn="ctr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tIns="91440" anchor="ctr"/>
          <a:lstStyle/>
          <a:p>
            <a:pPr marL="233363" lvl="1" algn="l">
              <a:lnSpc>
                <a:spcPct val="85000"/>
              </a:lnSpc>
              <a:spcBef>
                <a:spcPct val="40000"/>
              </a:spcBef>
              <a:buSzPct val="80000"/>
              <a:buFontTx/>
              <a:buBlip>
                <a:blip r:embed="rId17"/>
              </a:buBlip>
            </a:pPr>
            <a:r>
              <a:rPr lang="fr-FR" sz="2200">
                <a:solidFill>
                  <a:srgbClr val="000000"/>
                </a:solidFill>
              </a:rPr>
              <a:t> Dsadd</a:t>
            </a:r>
            <a:endParaRPr lang="en-US" sz="2200"/>
          </a:p>
          <a:p>
            <a:pPr marL="233363" lvl="1" algn="l">
              <a:lnSpc>
                <a:spcPct val="85000"/>
              </a:lnSpc>
              <a:spcBef>
                <a:spcPct val="40000"/>
              </a:spcBef>
              <a:buSzPct val="80000"/>
              <a:buFontTx/>
              <a:buBlip>
                <a:blip r:embed="rId17"/>
              </a:buBlip>
            </a:pPr>
            <a:r>
              <a:rPr lang="fr-FR" sz="2200">
                <a:solidFill>
                  <a:srgbClr val="000000"/>
                </a:solidFill>
              </a:rPr>
              <a:t> Dsmod</a:t>
            </a:r>
            <a:endParaRPr lang="en-US" sz="2200"/>
          </a:p>
          <a:p>
            <a:pPr marL="233363" lvl="1" algn="l">
              <a:lnSpc>
                <a:spcPct val="85000"/>
              </a:lnSpc>
              <a:spcBef>
                <a:spcPct val="40000"/>
              </a:spcBef>
              <a:buSzPct val="80000"/>
              <a:buFontTx/>
              <a:buBlip>
                <a:blip r:embed="rId17"/>
              </a:buBlip>
            </a:pPr>
            <a:r>
              <a:rPr lang="fr-FR" sz="2200">
                <a:solidFill>
                  <a:srgbClr val="000000"/>
                </a:solidFill>
              </a:rPr>
              <a:t> Dsrm</a:t>
            </a:r>
            <a:endParaRPr lang="en-US" sz="2200">
              <a:solidFill>
                <a:srgbClr val="000000"/>
              </a:solidFill>
            </a:endParaRPr>
          </a:p>
        </p:txBody>
      </p:sp>
      <p:sp>
        <p:nvSpPr>
          <p:cNvPr id="411676" name="AutoShape 28"/>
          <p:cNvSpPr>
            <a:spLocks noChangeArrowheads="1"/>
          </p:cNvSpPr>
          <p:nvPr/>
        </p:nvSpPr>
        <p:spPr bwMode="auto">
          <a:xfrm>
            <a:off x="566058" y="3802063"/>
            <a:ext cx="3945618" cy="2395537"/>
          </a:xfrm>
          <a:prstGeom prst="roundRect">
            <a:avLst>
              <a:gd name="adj" fmla="val 4167"/>
            </a:avLst>
          </a:prstGeom>
          <a:solidFill>
            <a:srgbClr val="B3C8DF"/>
          </a:solidFill>
          <a:ln w="9525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wrap="none"/>
          <a:lstStyle/>
          <a:p>
            <a:r>
              <a:rPr lang="fr-FR" sz="2200" dirty="0">
                <a:solidFill>
                  <a:srgbClr val="000000"/>
                </a:solidFill>
              </a:rPr>
              <a:t>Outils </a:t>
            </a:r>
            <a:r>
              <a:rPr lang="fr-FR" sz="2200" dirty="0" err="1">
                <a:solidFill>
                  <a:srgbClr val="000000"/>
                </a:solidFill>
              </a:rPr>
              <a:t>Csvde</a:t>
            </a:r>
            <a:r>
              <a:rPr lang="fr-FR" sz="2200" dirty="0">
                <a:solidFill>
                  <a:srgbClr val="000000"/>
                </a:solidFill>
              </a:rPr>
              <a:t> et </a:t>
            </a:r>
            <a:r>
              <a:rPr lang="fr-FR" sz="2200" dirty="0" err="1">
                <a:solidFill>
                  <a:srgbClr val="000000"/>
                </a:solidFill>
              </a:rPr>
              <a:t>Ldifde</a:t>
            </a:r>
            <a:endParaRPr lang="en-US" sz="2200" dirty="0"/>
          </a:p>
        </p:txBody>
      </p:sp>
      <p:sp>
        <p:nvSpPr>
          <p:cNvPr id="411677" name="AutoShape 29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423988" y="4256088"/>
            <a:ext cx="2943225" cy="1804987"/>
          </a:xfrm>
          <a:prstGeom prst="roundRect">
            <a:avLst>
              <a:gd name="adj" fmla="val 4167"/>
            </a:avLst>
          </a:prstGeom>
          <a:solidFill>
            <a:srgbClr val="F0F1E1"/>
          </a:solidFill>
          <a:ln w="9525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anchor="ctr"/>
          <a:lstStyle/>
          <a:p>
            <a:pPr marL="177800" indent="-177800" algn="l"/>
            <a:endParaRPr lang="fr-FR" b="0"/>
          </a:p>
        </p:txBody>
      </p:sp>
      <p:sp>
        <p:nvSpPr>
          <p:cNvPr id="411679" name="AutoShape 31"/>
          <p:cNvSpPr>
            <a:spLocks noChangeArrowheads="1"/>
          </p:cNvSpPr>
          <p:nvPr/>
        </p:nvSpPr>
        <p:spPr bwMode="auto">
          <a:xfrm>
            <a:off x="4686300" y="3802063"/>
            <a:ext cx="3964214" cy="2408237"/>
          </a:xfrm>
          <a:prstGeom prst="roundRect">
            <a:avLst>
              <a:gd name="adj" fmla="val 4167"/>
            </a:avLst>
          </a:prstGeom>
          <a:solidFill>
            <a:srgbClr val="B3C8DF"/>
          </a:solidFill>
          <a:ln w="9525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wrap="none"/>
          <a:lstStyle/>
          <a:p>
            <a:pPr>
              <a:lnSpc>
                <a:spcPct val="85000"/>
              </a:lnSpc>
            </a:pPr>
            <a:r>
              <a:rPr lang="fr-FR" sz="2200">
                <a:solidFill>
                  <a:srgbClr val="000000"/>
                </a:solidFill>
              </a:rPr>
              <a:t>Environnement d'exécution </a:t>
            </a:r>
            <a:br>
              <a:rPr lang="fr-FR" sz="2200">
                <a:solidFill>
                  <a:srgbClr val="000000"/>
                </a:solidFill>
              </a:rPr>
            </a:br>
            <a:r>
              <a:rPr lang="fr-FR" sz="2200">
                <a:solidFill>
                  <a:srgbClr val="000000"/>
                </a:solidFill>
              </a:rPr>
              <a:t>de scripts Windows</a:t>
            </a:r>
            <a:endParaRPr lang="en-US" sz="2200"/>
          </a:p>
        </p:txBody>
      </p:sp>
      <p:sp>
        <p:nvSpPr>
          <p:cNvPr id="411680" name="AutoShape 32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4832350" y="4446588"/>
            <a:ext cx="2943225" cy="1627187"/>
          </a:xfrm>
          <a:prstGeom prst="roundRect">
            <a:avLst>
              <a:gd name="adj" fmla="val 4167"/>
            </a:avLst>
          </a:prstGeom>
          <a:solidFill>
            <a:srgbClr val="F0F1E1"/>
          </a:solidFill>
          <a:ln w="9525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anchor="ctr"/>
          <a:lstStyle/>
          <a:p>
            <a:pPr marL="177800" indent="-177800" algn="l"/>
            <a:endParaRPr lang="fr-FR" b="0"/>
          </a:p>
        </p:txBody>
      </p:sp>
      <p:pic>
        <p:nvPicPr>
          <p:cNvPr id="411681" name="Picture 33" descr="ActiveDirectory01"/>
          <p:cNvPicPr>
            <a:picLocks noChangeAspect="1" noChangeArrowheads="1"/>
          </p:cNvPicPr>
          <p:nvPr>
            <p:custDataLst>
              <p:tags r:id="rId4"/>
            </p:custDataLst>
          </p:nvPr>
        </p:nvPicPr>
        <p:blipFill>
          <a:blip r:embed="rId18"/>
          <a:srcRect/>
          <a:stretch>
            <a:fillRect/>
          </a:stretch>
        </p:blipFill>
        <p:spPr bwMode="auto">
          <a:xfrm>
            <a:off x="2012950" y="2287588"/>
            <a:ext cx="1476375" cy="968375"/>
          </a:xfrm>
          <a:prstGeom prst="rect">
            <a:avLst/>
          </a:prstGeom>
          <a:noFill/>
        </p:spPr>
      </p:pic>
      <p:pic>
        <p:nvPicPr>
          <p:cNvPr id="411682" name="Picture 34" descr="Team01"/>
          <p:cNvPicPr>
            <a:picLocks noChangeAspect="1" noChangeArrowheads="1"/>
          </p:cNvPicPr>
          <p:nvPr>
            <p:custDataLst>
              <p:tags r:id="rId5"/>
            </p:custDataLst>
          </p:nvPr>
        </p:nvPicPr>
        <p:blipFill>
          <a:blip r:embed="rId19" cstate="print"/>
          <a:srcRect/>
          <a:stretch>
            <a:fillRect/>
          </a:stretch>
        </p:blipFill>
        <p:spPr bwMode="auto">
          <a:xfrm>
            <a:off x="1627188" y="2387600"/>
            <a:ext cx="923925" cy="1027113"/>
          </a:xfrm>
          <a:prstGeom prst="rect">
            <a:avLst/>
          </a:prstGeom>
          <a:noFill/>
        </p:spPr>
      </p:pic>
      <p:pic>
        <p:nvPicPr>
          <p:cNvPr id="411683" name="Picture 35" descr="Computer_DesktopComputer01"/>
          <p:cNvPicPr>
            <a:picLocks noChangeAspect="1" noChangeArrowheads="1"/>
          </p:cNvPicPr>
          <p:nvPr>
            <p:custDataLst>
              <p:tags r:id="rId6"/>
            </p:custDataLst>
          </p:nvPr>
        </p:nvPicPr>
        <p:blipFill>
          <a:blip r:embed="rId20" cstate="print"/>
          <a:srcRect/>
          <a:stretch>
            <a:fillRect/>
          </a:stretch>
        </p:blipFill>
        <p:spPr bwMode="auto">
          <a:xfrm>
            <a:off x="3332163" y="2389188"/>
            <a:ext cx="901700" cy="1011237"/>
          </a:xfrm>
          <a:prstGeom prst="rect">
            <a:avLst/>
          </a:prstGeom>
          <a:noFill/>
        </p:spPr>
      </p:pic>
      <p:pic>
        <p:nvPicPr>
          <p:cNvPr id="411684" name="Picture 36" descr="Tools01"/>
          <p:cNvPicPr>
            <a:picLocks noChangeAspect="1" noChangeArrowheads="1"/>
          </p:cNvPicPr>
          <p:nvPr>
            <p:custDataLst>
              <p:tags r:id="rId7"/>
            </p:custDataLst>
          </p:nvPr>
        </p:nvPicPr>
        <p:blipFill>
          <a:blip r:embed="rId21"/>
          <a:srcRect/>
          <a:stretch>
            <a:fillRect/>
          </a:stretch>
        </p:blipFill>
        <p:spPr bwMode="auto">
          <a:xfrm>
            <a:off x="6356350" y="1855788"/>
            <a:ext cx="1092200" cy="1600200"/>
          </a:xfrm>
          <a:prstGeom prst="rect">
            <a:avLst/>
          </a:prstGeom>
          <a:noFill/>
        </p:spPr>
      </p:pic>
      <p:pic>
        <p:nvPicPr>
          <p:cNvPr id="411685" name="Picture 37" descr="2Domain01"/>
          <p:cNvPicPr>
            <a:picLocks noChangeAspect="1" noChangeArrowheads="1"/>
          </p:cNvPicPr>
          <p:nvPr>
            <p:custDataLst>
              <p:tags r:id="rId8"/>
            </p:custDataLst>
          </p:nvPr>
        </p:nvPicPr>
        <p:blipFill>
          <a:blip r:embed="rId22" cstate="print"/>
          <a:srcRect/>
          <a:stretch>
            <a:fillRect/>
          </a:stretch>
        </p:blipFill>
        <p:spPr bwMode="auto">
          <a:xfrm>
            <a:off x="3487738" y="4714875"/>
            <a:ext cx="947737" cy="835025"/>
          </a:xfrm>
          <a:prstGeom prst="rect">
            <a:avLst/>
          </a:prstGeom>
          <a:noFill/>
        </p:spPr>
      </p:pic>
      <p:pic>
        <p:nvPicPr>
          <p:cNvPr id="411686" name="Picture 38" descr="Document_Writing01"/>
          <p:cNvPicPr>
            <a:picLocks noChangeAspect="1" noChangeArrowheads="1"/>
          </p:cNvPicPr>
          <p:nvPr>
            <p:custDataLst>
              <p:tags r:id="rId9"/>
            </p:custDataLst>
          </p:nvPr>
        </p:nvPicPr>
        <p:blipFill>
          <a:blip r:embed="rId23" cstate="print"/>
          <a:srcRect/>
          <a:stretch>
            <a:fillRect/>
          </a:stretch>
        </p:blipFill>
        <p:spPr bwMode="auto">
          <a:xfrm>
            <a:off x="1498600" y="4630738"/>
            <a:ext cx="631825" cy="1020762"/>
          </a:xfrm>
          <a:prstGeom prst="rect">
            <a:avLst/>
          </a:prstGeom>
          <a:noFill/>
        </p:spPr>
      </p:pic>
      <p:sp>
        <p:nvSpPr>
          <p:cNvPr id="411687" name="AutoShape 39"/>
          <p:cNvSpPr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1895475" y="5024438"/>
            <a:ext cx="2008188" cy="331787"/>
          </a:xfrm>
          <a:prstGeom prst="rightArrow">
            <a:avLst>
              <a:gd name="adj1" fmla="val 55028"/>
              <a:gd name="adj2" fmla="val 134923"/>
            </a:avLst>
          </a:prstGeom>
          <a:solidFill>
            <a:srgbClr val="FF0000">
              <a:alpha val="75000"/>
            </a:srgbClr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pic>
        <p:nvPicPr>
          <p:cNvPr id="411688" name="Picture 40" descr="Collection_Group01"/>
          <p:cNvPicPr>
            <a:picLocks noChangeAspect="1" noChangeArrowheads="1"/>
          </p:cNvPicPr>
          <p:nvPr>
            <p:custDataLst>
              <p:tags r:id="rId11"/>
            </p:custDataLst>
          </p:nvPr>
        </p:nvPicPr>
        <p:blipFill>
          <a:blip r:embed="rId24" cstate="print"/>
          <a:srcRect/>
          <a:stretch>
            <a:fillRect/>
          </a:stretch>
        </p:blipFill>
        <p:spPr bwMode="auto">
          <a:xfrm>
            <a:off x="2271713" y="4694238"/>
            <a:ext cx="1060450" cy="768350"/>
          </a:xfrm>
          <a:prstGeom prst="rect">
            <a:avLst/>
          </a:prstGeom>
          <a:noFill/>
        </p:spPr>
      </p:pic>
      <p:pic>
        <p:nvPicPr>
          <p:cNvPr id="411689" name="Picture 41" descr="Computer_DesktopComputer01"/>
          <p:cNvPicPr>
            <a:picLocks noChangeAspect="1" noChangeArrowheads="1"/>
          </p:cNvPicPr>
          <p:nvPr>
            <p:custDataLst>
              <p:tags r:id="rId12"/>
            </p:custDataLst>
          </p:nvPr>
        </p:nvPicPr>
        <p:blipFill>
          <a:blip r:embed="rId25" cstate="print"/>
          <a:srcRect/>
          <a:stretch>
            <a:fillRect/>
          </a:stretch>
        </p:blipFill>
        <p:spPr bwMode="auto">
          <a:xfrm>
            <a:off x="2719388" y="5135563"/>
            <a:ext cx="568325" cy="636587"/>
          </a:xfrm>
          <a:prstGeom prst="rect">
            <a:avLst/>
          </a:prstGeom>
          <a:noFill/>
        </p:spPr>
      </p:pic>
      <p:pic>
        <p:nvPicPr>
          <p:cNvPr id="411690" name="Picture 42" descr="script-2"/>
          <p:cNvPicPr>
            <a:picLocks noChangeAspect="1" noChangeArrowheads="1"/>
          </p:cNvPicPr>
          <p:nvPr>
            <p:custDataLst>
              <p:tags r:id="rId13"/>
            </p:custDataLst>
          </p:nvPr>
        </p:nvPicPr>
        <p:blipFill>
          <a:blip r:embed="rId26"/>
          <a:srcRect/>
          <a:stretch>
            <a:fillRect/>
          </a:stretch>
        </p:blipFill>
        <p:spPr bwMode="auto">
          <a:xfrm>
            <a:off x="5711825" y="4579938"/>
            <a:ext cx="971550" cy="1362075"/>
          </a:xfrm>
          <a:prstGeom prst="rect">
            <a:avLst/>
          </a:prstGeom>
          <a:noFill/>
        </p:spPr>
      </p:pic>
      <p:pic>
        <p:nvPicPr>
          <p:cNvPr id="411691" name="Picture 43" descr="Computer_DesktopComputer01"/>
          <p:cNvPicPr>
            <a:picLocks noChangeAspect="1" noChangeArrowheads="1"/>
          </p:cNvPicPr>
          <p:nvPr>
            <p:custDataLst>
              <p:tags r:id="rId14"/>
            </p:custDataLst>
          </p:nvPr>
        </p:nvPicPr>
        <p:blipFill>
          <a:blip r:embed="rId27" cstate="print"/>
          <a:srcRect/>
          <a:stretch>
            <a:fillRect/>
          </a:stretch>
        </p:blipFill>
        <p:spPr bwMode="auto">
          <a:xfrm>
            <a:off x="6270625" y="5110163"/>
            <a:ext cx="809625" cy="906462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1000"/>
                                        <p:tgtEl>
                                          <p:spTgt spid="4116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1000"/>
                                        <p:tgtEl>
                                          <p:spTgt spid="4116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1000"/>
                                        <p:tgtEl>
                                          <p:spTgt spid="4116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1000"/>
                                        <p:tgtEl>
                                          <p:spTgt spid="411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1000"/>
                                        <p:tgtEl>
                                          <p:spTgt spid="4116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" dur="1000"/>
                                        <p:tgtEl>
                                          <p:spTgt spid="4116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1000"/>
                                        <p:tgtEl>
                                          <p:spTgt spid="411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1000"/>
                                        <p:tgtEl>
                                          <p:spTgt spid="411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5" dur="1000"/>
                                        <p:tgtEl>
                                          <p:spTgt spid="411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8" dur="1000"/>
                                        <p:tgtEl>
                                          <p:spTgt spid="411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1" dur="1000"/>
                                        <p:tgtEl>
                                          <p:spTgt spid="411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4" dur="1000"/>
                                        <p:tgtEl>
                                          <p:spTgt spid="4116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1000"/>
                                        <p:tgtEl>
                                          <p:spTgt spid="4116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0" dur="1000"/>
                                        <p:tgtEl>
                                          <p:spTgt spid="4116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3" dur="1000"/>
                                        <p:tgtEl>
                                          <p:spTgt spid="4116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8" dur="1000"/>
                                        <p:tgtEl>
                                          <p:spTgt spid="4116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1" dur="1000"/>
                                        <p:tgtEl>
                                          <p:spTgt spid="4116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4" dur="1000"/>
                                        <p:tgtEl>
                                          <p:spTgt spid="4116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7" dur="1000"/>
                                        <p:tgtEl>
                                          <p:spTgt spid="4116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1671" grpId="0" animBg="1"/>
      <p:bldP spid="411672" grpId="0" animBg="1"/>
      <p:bldP spid="411673" grpId="0" animBg="1"/>
      <p:bldP spid="411674" grpId="0" animBg="1"/>
      <p:bldP spid="411676" grpId="0" animBg="1"/>
      <p:bldP spid="411677" grpId="0" animBg="1"/>
      <p:bldP spid="411679" grpId="0" animBg="1"/>
      <p:bldP spid="411680" grpId="0" animBg="1"/>
      <p:bldP spid="41168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vert="horz" anchor="b">
            <a:noAutofit/>
          </a:bodyPr>
          <a:lstStyle/>
          <a:p>
            <a:r>
              <a:rPr lang="fr-FR" sz="2600" b="1" dirty="0" smtClean="0">
                <a:solidFill>
                  <a:srgbClr val="C00000"/>
                </a:solidFill>
              </a:rPr>
              <a:t>Comment créer des comptes à l'aide de l'outil Utilisateurs et ordinateurs  AD</a:t>
            </a:r>
            <a:endParaRPr lang="fr-FR" sz="2600" b="1" dirty="0">
              <a:solidFill>
                <a:srgbClr val="C0000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FR" dirty="0" smtClean="0"/>
              <a:t>La console Utilisateurs et ordinateurs Active Directory est un </a:t>
            </a:r>
            <a:r>
              <a:rPr lang="fr-FR" dirty="0" smtClean="0"/>
              <a:t>composant logiciel </a:t>
            </a:r>
            <a:r>
              <a:rPr lang="fr-FR" dirty="0" smtClean="0"/>
              <a:t>enfichable </a:t>
            </a:r>
            <a:r>
              <a:rPr lang="fr-FR" dirty="0" smtClean="0"/>
              <a:t>MMC.</a:t>
            </a:r>
          </a:p>
          <a:p>
            <a:r>
              <a:rPr lang="fr-FR" dirty="0" smtClean="0"/>
              <a:t>Vous </a:t>
            </a:r>
            <a:r>
              <a:rPr lang="fr-FR" dirty="0" smtClean="0"/>
              <a:t>pouvez </a:t>
            </a:r>
            <a:r>
              <a:rPr lang="fr-FR" dirty="0" smtClean="0"/>
              <a:t>l'utiliser </a:t>
            </a:r>
            <a:r>
              <a:rPr lang="fr-FR" dirty="0" smtClean="0"/>
              <a:t>pour gérer des </a:t>
            </a:r>
            <a:r>
              <a:rPr lang="fr-FR" dirty="0" smtClean="0"/>
              <a:t>comptes d’utilisateurs</a:t>
            </a:r>
            <a:r>
              <a:rPr lang="fr-FR" dirty="0" smtClean="0"/>
              <a:t>, d’ordinateurs et de groupes. </a:t>
            </a:r>
            <a:endParaRPr lang="fr-FR" dirty="0" smtClean="0"/>
          </a:p>
          <a:p>
            <a:r>
              <a:rPr lang="fr-FR" dirty="0" smtClean="0"/>
              <a:t>Il </a:t>
            </a:r>
            <a:r>
              <a:rPr lang="fr-FR" dirty="0" smtClean="0"/>
              <a:t>convient de l’utiliser lorsque </a:t>
            </a:r>
            <a:r>
              <a:rPr lang="fr-FR" dirty="0" smtClean="0"/>
              <a:t>vous gérez </a:t>
            </a:r>
            <a:r>
              <a:rPr lang="fr-FR" dirty="0" smtClean="0"/>
              <a:t>un petit nombre de comptes.</a:t>
            </a: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vert="horz" anchor="b">
            <a:noAutofit/>
          </a:bodyPr>
          <a:lstStyle/>
          <a:p>
            <a:r>
              <a:rPr lang="fr-FR" sz="2600" b="1" dirty="0" smtClean="0">
                <a:solidFill>
                  <a:srgbClr val="C00000"/>
                </a:solidFill>
              </a:rPr>
              <a:t>Comment créer des comptes à l'aide de l'outil </a:t>
            </a:r>
            <a:r>
              <a:rPr lang="fr-FR" sz="2600" b="1" dirty="0" smtClean="0">
                <a:solidFill>
                  <a:srgbClr val="C00000"/>
                </a:solidFill>
              </a:rPr>
              <a:t>service d’annuaire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Clr>
                <a:schemeClr val="tx1"/>
              </a:buClr>
              <a:buFont typeface="Wingdings" pitchFamily="2" charset="2"/>
              <a:buChar char="q"/>
            </a:pPr>
            <a:r>
              <a:rPr lang="fr-FR" dirty="0" smtClean="0"/>
              <a:t>Vous pouvez </a:t>
            </a:r>
            <a:r>
              <a:rPr lang="fr-FR" dirty="0" smtClean="0"/>
              <a:t>utiliser </a:t>
            </a:r>
            <a:r>
              <a:rPr lang="fr-FR" dirty="0" smtClean="0"/>
              <a:t>les outils de ligne de commande </a:t>
            </a:r>
            <a:r>
              <a:rPr lang="fr-FR" dirty="0" err="1" smtClean="0"/>
              <a:t>Dsadd</a:t>
            </a:r>
            <a:r>
              <a:rPr lang="fr-FR" dirty="0" smtClean="0"/>
              <a:t>, </a:t>
            </a:r>
            <a:r>
              <a:rPr lang="fr-FR" dirty="0" err="1" smtClean="0"/>
              <a:t>Dsmod</a:t>
            </a:r>
            <a:r>
              <a:rPr lang="fr-FR" dirty="0" smtClean="0"/>
              <a:t> et </a:t>
            </a:r>
            <a:r>
              <a:rPr lang="fr-FR" dirty="0" err="1" smtClean="0"/>
              <a:t>Dsrm</a:t>
            </a:r>
            <a:r>
              <a:rPr lang="fr-FR" dirty="0" smtClean="0"/>
              <a:t> pour gérer des comptes d’utilisateurs, d’ordinateurs et de groupes </a:t>
            </a:r>
            <a:r>
              <a:rPr lang="fr-FR" dirty="0" smtClean="0"/>
              <a:t>dans Active </a:t>
            </a:r>
            <a:r>
              <a:rPr lang="fr-FR" dirty="0" smtClean="0"/>
              <a:t>Directory. </a:t>
            </a:r>
            <a:endParaRPr lang="fr-FR" dirty="0" smtClean="0"/>
          </a:p>
          <a:p>
            <a:pPr>
              <a:buClr>
                <a:schemeClr val="tx1"/>
              </a:buClr>
              <a:buFont typeface="Wingdings" pitchFamily="2" charset="2"/>
              <a:buChar char="q"/>
            </a:pPr>
            <a:r>
              <a:rPr lang="fr-FR" dirty="0" smtClean="0"/>
              <a:t>Vous </a:t>
            </a:r>
            <a:r>
              <a:rPr lang="fr-FR" dirty="0" smtClean="0"/>
              <a:t>devez spécifier le type d’objet que vous souhaitez créer</a:t>
            </a:r>
            <a:r>
              <a:rPr lang="fr-FR" dirty="0" smtClean="0"/>
              <a:t>, modifier </a:t>
            </a:r>
            <a:r>
              <a:rPr lang="fr-FR" dirty="0" smtClean="0"/>
              <a:t>ou supprimer. </a:t>
            </a:r>
            <a:endParaRPr lang="fr-FR" dirty="0" smtClean="0"/>
          </a:p>
          <a:p>
            <a:pPr>
              <a:buClr>
                <a:schemeClr val="tx1"/>
              </a:buClr>
              <a:buFont typeface="Wingdings" pitchFamily="2" charset="2"/>
              <a:buChar char="q"/>
            </a:pPr>
            <a:r>
              <a:rPr lang="fr-FR" dirty="0" smtClean="0"/>
              <a:t>Exemple:</a:t>
            </a:r>
          </a:p>
          <a:p>
            <a:pPr>
              <a:buNone/>
            </a:pPr>
            <a:r>
              <a:rPr lang="fr-FR" b="1" dirty="0" err="1" smtClean="0"/>
              <a:t>dsadd</a:t>
            </a:r>
            <a:r>
              <a:rPr lang="fr-FR" b="1" dirty="0" smtClean="0"/>
              <a:t> user</a:t>
            </a:r>
          </a:p>
          <a:p>
            <a:pPr>
              <a:buNone/>
            </a:pPr>
            <a:r>
              <a:rPr lang="fr-FR" b="1" dirty="0" err="1" smtClean="0"/>
              <a:t>dsrm</a:t>
            </a:r>
            <a:r>
              <a:rPr lang="fr-FR" b="1" dirty="0" smtClean="0"/>
              <a:t> </a:t>
            </a:r>
            <a:r>
              <a:rPr lang="fr-FR" b="1" dirty="0" smtClean="0"/>
              <a:t>group </a:t>
            </a:r>
            <a:endParaRPr lang="fr-FR" b="1" dirty="0" smtClean="0"/>
          </a:p>
          <a:p>
            <a:pPr>
              <a:buClr>
                <a:schemeClr val="tx1"/>
              </a:buClr>
              <a:buFont typeface="Wingdings" pitchFamily="2" charset="2"/>
              <a:buChar char="q"/>
            </a:pPr>
            <a:r>
              <a:rPr lang="fr-FR" dirty="0" smtClean="0"/>
              <a:t>Les </a:t>
            </a:r>
            <a:r>
              <a:rPr lang="fr-FR" dirty="0" smtClean="0"/>
              <a:t>outils de ligne de commande permettent de créer un seul objet Active Directory à la fois</a:t>
            </a:r>
          </a:p>
          <a:p>
            <a:pPr>
              <a:buClr>
                <a:schemeClr val="tx1"/>
              </a:buClr>
              <a:buFont typeface="Wingdings" pitchFamily="2" charset="2"/>
              <a:buChar char="q"/>
            </a:pPr>
            <a:r>
              <a:rPr lang="fr-FR" dirty="0" smtClean="0"/>
              <a:t>Vous pouvez les utiliser dans des fichiers de commandes et des scripts.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426" name="Rectangle 2"/>
          <p:cNvSpPr>
            <a:spLocks noGrp="1" noChangeArrowheads="1"/>
          </p:cNvSpPr>
          <p:nvPr>
            <p:ph type="title"/>
          </p:nvPr>
        </p:nvSpPr>
        <p:spPr>
          <a:xfrm>
            <a:off x="301752" y="228599"/>
            <a:ext cx="8534400" cy="887681"/>
          </a:xfrm>
        </p:spPr>
        <p:txBody>
          <a:bodyPr>
            <a:noAutofit/>
          </a:bodyPr>
          <a:lstStyle/>
          <a:p>
            <a:r>
              <a:rPr lang="fr-FR" sz="2600" b="1" dirty="0">
                <a:solidFill>
                  <a:srgbClr val="C00000"/>
                </a:solidFill>
              </a:rPr>
              <a:t>Comment créer des comptes à l'aide de l'outil </a:t>
            </a:r>
            <a:r>
              <a:rPr lang="fr-FR" sz="2600" b="1" dirty="0" err="1">
                <a:solidFill>
                  <a:srgbClr val="C00000"/>
                </a:solidFill>
              </a:rPr>
              <a:t>Csvde</a:t>
            </a:r>
            <a:endParaRPr lang="en-US" sz="2600" b="1" dirty="0">
              <a:solidFill>
                <a:srgbClr val="C0000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67195" y="1506809"/>
            <a:ext cx="8615548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buFont typeface="Wingdings" pitchFamily="2" charset="2"/>
              <a:buChar char="q"/>
            </a:pPr>
            <a:r>
              <a:rPr lang="fr-FR" sz="2400" b="0" dirty="0" smtClean="0"/>
              <a:t>Vous pouvez </a:t>
            </a:r>
            <a:r>
              <a:rPr lang="fr-FR" sz="2400" b="0" dirty="0" smtClean="0"/>
              <a:t>l'utiliser pour </a:t>
            </a:r>
            <a:r>
              <a:rPr lang="fr-FR" sz="2400" b="0" dirty="0" smtClean="0"/>
              <a:t>créer </a:t>
            </a:r>
            <a:r>
              <a:rPr lang="fr-FR" sz="2400" b="0" dirty="0" smtClean="0"/>
              <a:t>plusieurs comptes </a:t>
            </a:r>
            <a:r>
              <a:rPr lang="fr-FR" sz="2400" b="0" dirty="0" smtClean="0"/>
              <a:t>dans </a:t>
            </a:r>
            <a:r>
              <a:rPr lang="fr-FR" sz="2400" b="0" dirty="0" smtClean="0"/>
              <a:t>AD. </a:t>
            </a:r>
          </a:p>
          <a:p>
            <a:pPr algn="l">
              <a:buFont typeface="Wingdings" pitchFamily="2" charset="2"/>
              <a:buChar char="q"/>
            </a:pPr>
            <a:r>
              <a:rPr lang="fr-FR" sz="2400" b="0" dirty="0" smtClean="0"/>
              <a:t>Vous ne pouvez pas l'utiliser pour modifier des comptes.</a:t>
            </a:r>
          </a:p>
          <a:p>
            <a:pPr algn="l">
              <a:buFont typeface="Wingdings" pitchFamily="2" charset="2"/>
              <a:buChar char="q"/>
            </a:pPr>
            <a:r>
              <a:rPr lang="fr-FR" sz="2400" b="0" dirty="0" smtClean="0"/>
              <a:t> </a:t>
            </a:r>
            <a:r>
              <a:rPr lang="fr-FR" sz="2400" b="0" dirty="0" smtClean="0"/>
              <a:t>Pour </a:t>
            </a:r>
            <a:r>
              <a:rPr lang="fr-FR" sz="2400" b="0" dirty="0" smtClean="0"/>
              <a:t>créer des comptes à l’aide de </a:t>
            </a:r>
            <a:r>
              <a:rPr lang="fr-FR" sz="2400" b="0" dirty="0" smtClean="0"/>
              <a:t>cet outil, effectuez </a:t>
            </a:r>
            <a:r>
              <a:rPr lang="fr-FR" sz="2400" b="0" dirty="0" smtClean="0"/>
              <a:t>les tâches suivantes </a:t>
            </a:r>
            <a:r>
              <a:rPr lang="fr-FR" sz="2400" b="0" dirty="0" smtClean="0"/>
              <a:t>:</a:t>
            </a:r>
          </a:p>
          <a:p>
            <a:pPr lvl="1" algn="l">
              <a:buFont typeface="Wingdings" pitchFamily="2" charset="2"/>
              <a:buChar char="§"/>
            </a:pPr>
            <a:r>
              <a:rPr lang="fr-FR" sz="2400" b="0" dirty="0" smtClean="0"/>
              <a:t> </a:t>
            </a:r>
            <a:r>
              <a:rPr lang="fr-FR" sz="2400" b="0" dirty="0" smtClean="0"/>
              <a:t>Créez </a:t>
            </a:r>
            <a:r>
              <a:rPr lang="fr-FR" sz="2400" b="0" dirty="0" smtClean="0"/>
              <a:t>le fichier </a:t>
            </a:r>
            <a:r>
              <a:rPr lang="fr-FR" sz="2400" b="0" dirty="0" err="1" smtClean="0"/>
              <a:t>Csvde</a:t>
            </a:r>
            <a:r>
              <a:rPr lang="fr-FR" sz="2400" b="0" dirty="0" smtClean="0"/>
              <a:t> à </a:t>
            </a:r>
            <a:r>
              <a:rPr lang="fr-FR" sz="2400" b="0" dirty="0" smtClean="0"/>
              <a:t>importer.</a:t>
            </a:r>
          </a:p>
          <a:p>
            <a:pPr lvl="1" algn="l"/>
            <a:r>
              <a:rPr lang="fr-FR" sz="2400" b="0" dirty="0" smtClean="0"/>
              <a:t>Exemple: </a:t>
            </a:r>
          </a:p>
          <a:p>
            <a:pPr lvl="1" algn="l"/>
            <a:r>
              <a:rPr lang="fr-FR" sz="2200" b="0" i="1" dirty="0" err="1" smtClean="0"/>
              <a:t>DN,objectClass,sAMAccountName,userPrincipalName</a:t>
            </a:r>
            <a:r>
              <a:rPr lang="fr-FR" sz="2200" b="0" i="1" dirty="0" smtClean="0"/>
              <a:t>, </a:t>
            </a:r>
            <a:r>
              <a:rPr lang="fr-FR" sz="2200" b="0" i="1" dirty="0" err="1" smtClean="0"/>
              <a:t>displayName</a:t>
            </a:r>
            <a:r>
              <a:rPr lang="fr-FR" sz="2200" b="0" i="1" dirty="0" smtClean="0"/>
              <a:t>, </a:t>
            </a:r>
            <a:r>
              <a:rPr lang="fr-FR" sz="2200" b="0" i="1" dirty="0" err="1" smtClean="0"/>
              <a:t>userAccountControl</a:t>
            </a:r>
            <a:endParaRPr lang="fr-FR" sz="2200" b="0" i="1" dirty="0" smtClean="0"/>
          </a:p>
          <a:p>
            <a:pPr lvl="1" algn="l"/>
            <a:r>
              <a:rPr lang="fr-FR" sz="2200" b="0" i="1" dirty="0" smtClean="0"/>
              <a:t>"</a:t>
            </a:r>
            <a:r>
              <a:rPr lang="fr-FR" sz="2200" b="0" i="1" dirty="0" err="1" smtClean="0"/>
              <a:t>cn</a:t>
            </a:r>
            <a:r>
              <a:rPr lang="fr-FR" sz="2200" b="0" i="1" dirty="0" smtClean="0"/>
              <a:t>=Laura </a:t>
            </a:r>
            <a:r>
              <a:rPr lang="fr-FR" sz="2200" b="0" i="1" dirty="0" err="1" smtClean="0"/>
              <a:t>Bartoli,ou</a:t>
            </a:r>
            <a:r>
              <a:rPr lang="fr-FR" sz="2200" b="0" i="1" dirty="0" smtClean="0"/>
              <a:t>=</a:t>
            </a:r>
            <a:r>
              <a:rPr lang="fr-FR" sz="2200" b="0" i="1" dirty="0" err="1" smtClean="0"/>
              <a:t>Human</a:t>
            </a:r>
            <a:r>
              <a:rPr lang="fr-FR" sz="2200" b="0" i="1" dirty="0" smtClean="0"/>
              <a:t> </a:t>
            </a:r>
            <a:r>
              <a:rPr lang="fr-FR" sz="2200" b="0" i="1" dirty="0" err="1" smtClean="0"/>
              <a:t>Resources</a:t>
            </a:r>
            <a:r>
              <a:rPr lang="fr-FR" sz="2200" b="0" i="1" dirty="0" smtClean="0"/>
              <a:t>, </a:t>
            </a:r>
            <a:r>
              <a:rPr lang="fr-FR" sz="2200" b="0" i="1" dirty="0" err="1" smtClean="0"/>
              <a:t>dc</a:t>
            </a:r>
            <a:r>
              <a:rPr lang="fr-FR" sz="2200" b="0" i="1" dirty="0" smtClean="0"/>
              <a:t>=</a:t>
            </a:r>
            <a:r>
              <a:rPr lang="fr-FR" sz="2200" b="0" i="1" dirty="0" err="1" smtClean="0"/>
              <a:t>asia</a:t>
            </a:r>
            <a:r>
              <a:rPr lang="fr-FR" sz="2200" b="0" i="1" dirty="0" smtClean="0"/>
              <a:t>, </a:t>
            </a:r>
            <a:r>
              <a:rPr lang="fr-FR" sz="2200" b="0" i="1" dirty="0" err="1" smtClean="0"/>
              <a:t>dc</a:t>
            </a:r>
            <a:r>
              <a:rPr lang="fr-FR" sz="2200" b="0" i="1" dirty="0" smtClean="0"/>
              <a:t>=</a:t>
            </a:r>
            <a:r>
              <a:rPr lang="fr-FR" sz="2200" b="0" i="1" dirty="0" err="1" smtClean="0"/>
              <a:t>contoso</a:t>
            </a:r>
            <a:r>
              <a:rPr lang="fr-FR" sz="2200" b="0" i="1" dirty="0" smtClean="0"/>
              <a:t>, </a:t>
            </a:r>
            <a:r>
              <a:rPr lang="fr-FR" sz="2200" b="0" i="1" dirty="0" err="1" smtClean="0"/>
              <a:t>dc</a:t>
            </a:r>
            <a:r>
              <a:rPr lang="fr-FR" sz="2200" b="0" i="1" dirty="0" smtClean="0"/>
              <a:t>=</a:t>
            </a:r>
            <a:r>
              <a:rPr lang="fr-FR" sz="2200" b="0" i="1" dirty="0" err="1" smtClean="0"/>
              <a:t>msft</a:t>
            </a:r>
            <a:r>
              <a:rPr lang="fr-FR" sz="2200" b="0" i="1" dirty="0" smtClean="0"/>
              <a:t>", </a:t>
            </a:r>
            <a:r>
              <a:rPr lang="fr-FR" sz="2200" b="0" i="1" dirty="0" err="1" smtClean="0"/>
              <a:t>user,laurab</a:t>
            </a:r>
            <a:r>
              <a:rPr lang="fr-FR" sz="2200" b="0" i="1" dirty="0" smtClean="0"/>
              <a:t>, laurab@contoso.msft</a:t>
            </a:r>
            <a:r>
              <a:rPr lang="fr-FR" sz="2200" b="0" i="1" dirty="0" smtClean="0"/>
              <a:t>, Laura </a:t>
            </a:r>
            <a:r>
              <a:rPr lang="fr-FR" sz="2200" b="0" i="1" dirty="0" smtClean="0"/>
              <a:t>Bartoli,514</a:t>
            </a:r>
          </a:p>
          <a:p>
            <a:pPr algn="l">
              <a:buFont typeface="Wingdings" pitchFamily="2" charset="2"/>
              <a:buChar char="q"/>
            </a:pPr>
            <a:r>
              <a:rPr lang="fr-FR" sz="2400" b="0" dirty="0" smtClean="0"/>
              <a:t>Exécutez la commande </a:t>
            </a:r>
            <a:r>
              <a:rPr lang="fr-FR" sz="2400" dirty="0" err="1" smtClean="0"/>
              <a:t>csvde</a:t>
            </a:r>
            <a:r>
              <a:rPr lang="fr-FR" sz="2400" b="0" dirty="0" smtClean="0"/>
              <a:t> </a:t>
            </a:r>
            <a:r>
              <a:rPr lang="fr-FR" sz="2400" b="0" dirty="0" smtClean="0"/>
              <a:t>:</a:t>
            </a:r>
            <a:endParaRPr lang="fr-FR" sz="2400" b="0" dirty="0" smtClean="0"/>
          </a:p>
          <a:p>
            <a:pPr algn="l"/>
            <a:r>
              <a:rPr lang="fr-FR" sz="2400" b="0" dirty="0" smtClean="0"/>
              <a:t> </a:t>
            </a:r>
            <a:r>
              <a:rPr lang="fr-FR" sz="2400" b="0" dirty="0" smtClean="0"/>
              <a:t>     </a:t>
            </a:r>
            <a:r>
              <a:rPr lang="fr-FR" sz="2400" b="0" i="1" dirty="0" err="1" smtClean="0"/>
              <a:t>csvde</a:t>
            </a:r>
            <a:r>
              <a:rPr lang="fr-FR" sz="2400" b="0" i="1" dirty="0" smtClean="0"/>
              <a:t> -i -f </a:t>
            </a:r>
            <a:r>
              <a:rPr lang="fr-FR" sz="2400" b="0" i="1" dirty="0" err="1" smtClean="0"/>
              <a:t>Nom_fichier</a:t>
            </a:r>
            <a:r>
              <a:rPr lang="fr-FR" sz="2400" b="0" i="1" dirty="0" smtClean="0"/>
              <a:t> -b </a:t>
            </a:r>
            <a:r>
              <a:rPr lang="fr-FR" sz="2400" b="0" i="1" dirty="0" err="1" smtClean="0"/>
              <a:t>Nom_Utilisateur</a:t>
            </a:r>
            <a:r>
              <a:rPr lang="fr-FR" sz="2400" b="0" i="1" dirty="0" smtClean="0"/>
              <a:t> </a:t>
            </a:r>
            <a:r>
              <a:rPr lang="fr-FR" sz="2400" b="0" i="1" dirty="0" smtClean="0"/>
              <a:t> Domaine  </a:t>
            </a:r>
            <a:r>
              <a:rPr lang="fr-FR" sz="2400" b="0" i="1" dirty="0" err="1" smtClean="0"/>
              <a:t>Mot_de_Passe</a:t>
            </a:r>
            <a:endParaRPr lang="fr-FR" sz="2400" b="0" i="1" dirty="0" smtClean="0"/>
          </a:p>
          <a:p>
            <a:pPr algn="l"/>
            <a:endParaRPr lang="fr-FR" sz="2600" b="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738" name="Rectangle 2"/>
          <p:cNvSpPr>
            <a:spLocks noGrp="1" noChangeArrowheads="1"/>
          </p:cNvSpPr>
          <p:nvPr>
            <p:ph type="title"/>
          </p:nvPr>
        </p:nvSpPr>
        <p:spPr>
          <a:xfrm>
            <a:off x="219535" y="310012"/>
            <a:ext cx="8692235" cy="684212"/>
          </a:xfrm>
        </p:spPr>
        <p:txBody>
          <a:bodyPr>
            <a:noAutofit/>
          </a:bodyPr>
          <a:lstStyle/>
          <a:p>
            <a:r>
              <a:rPr lang="fr-FR" sz="2600" b="1" dirty="0">
                <a:solidFill>
                  <a:srgbClr val="C00000"/>
                </a:solidFill>
              </a:rPr>
              <a:t>Comment créer et gérer des comptes à l'aide de l'outil </a:t>
            </a:r>
            <a:r>
              <a:rPr lang="fr-FR" sz="2600" b="1" dirty="0" err="1">
                <a:solidFill>
                  <a:srgbClr val="C00000"/>
                </a:solidFill>
              </a:rPr>
              <a:t>Ldifde</a:t>
            </a:r>
            <a:endParaRPr lang="en-US" sz="2600" b="1" dirty="0">
              <a:solidFill>
                <a:srgbClr val="C0000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31568" y="1459169"/>
            <a:ext cx="8627423" cy="43704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buFont typeface="Wingdings" pitchFamily="2" charset="2"/>
              <a:buChar char="q"/>
            </a:pPr>
            <a:r>
              <a:rPr lang="fr-FR" sz="2400" b="0" dirty="0" smtClean="0"/>
              <a:t>Vous </a:t>
            </a:r>
            <a:r>
              <a:rPr lang="fr-FR" sz="2400" b="0" dirty="0" smtClean="0"/>
              <a:t>pouvez </a:t>
            </a:r>
            <a:r>
              <a:rPr lang="fr-FR" sz="2400" b="0" dirty="0" smtClean="0"/>
              <a:t>l'utiliser pour </a:t>
            </a:r>
            <a:r>
              <a:rPr lang="fr-FR" sz="2400" b="0" dirty="0" smtClean="0"/>
              <a:t>créer et </a:t>
            </a:r>
            <a:r>
              <a:rPr lang="fr-FR" sz="2400" b="0" dirty="0" smtClean="0"/>
              <a:t>modifier plusieurs </a:t>
            </a:r>
            <a:r>
              <a:rPr lang="fr-FR" sz="2400" b="0" dirty="0" smtClean="0"/>
              <a:t>comptes</a:t>
            </a:r>
            <a:r>
              <a:rPr lang="fr-FR" sz="2400" b="0" dirty="0" smtClean="0"/>
              <a:t>.</a:t>
            </a:r>
          </a:p>
          <a:p>
            <a:pPr algn="l">
              <a:buFont typeface="Wingdings" pitchFamily="2" charset="2"/>
              <a:buChar char="q"/>
            </a:pPr>
            <a:r>
              <a:rPr lang="fr-FR" sz="2400" b="0" dirty="0" smtClean="0"/>
              <a:t>Pour l'utiliser, procédez </a:t>
            </a:r>
            <a:r>
              <a:rPr lang="fr-FR" sz="2400" b="0" dirty="0" smtClean="0"/>
              <a:t>comme suit </a:t>
            </a:r>
            <a:r>
              <a:rPr lang="fr-FR" sz="2400" b="0" dirty="0" smtClean="0"/>
              <a:t>:</a:t>
            </a:r>
          </a:p>
          <a:p>
            <a:pPr lvl="1" algn="l">
              <a:buFont typeface="Wingdings" pitchFamily="2" charset="2"/>
              <a:buChar char="§"/>
            </a:pPr>
            <a:r>
              <a:rPr lang="fr-FR" sz="2400" b="0" dirty="0" smtClean="0"/>
              <a:t> Préparez </a:t>
            </a:r>
            <a:r>
              <a:rPr lang="fr-FR" sz="2400" b="0" dirty="0" smtClean="0"/>
              <a:t>le fichier </a:t>
            </a:r>
            <a:r>
              <a:rPr lang="fr-FR" sz="2400" dirty="0" err="1" smtClean="0"/>
              <a:t>Ldifde</a:t>
            </a:r>
            <a:r>
              <a:rPr lang="fr-FR" sz="2400" b="0" dirty="0" smtClean="0"/>
              <a:t> à importer</a:t>
            </a:r>
            <a:r>
              <a:rPr lang="fr-FR" sz="2400" b="0" dirty="0" smtClean="0"/>
              <a:t>.</a:t>
            </a:r>
          </a:p>
          <a:p>
            <a:pPr algn="l"/>
            <a:r>
              <a:rPr lang="fr-FR" sz="2400" b="0" dirty="0" smtClean="0"/>
              <a:t>Exemple :</a:t>
            </a:r>
          </a:p>
          <a:p>
            <a:pPr marL="1081088" algn="l"/>
            <a:r>
              <a:rPr lang="fr-FR" sz="2200" b="0" dirty="0" smtClean="0"/>
              <a:t> </a:t>
            </a:r>
            <a:endParaRPr lang="fr-FR" sz="2200" b="0" dirty="0" smtClean="0"/>
          </a:p>
          <a:p>
            <a:pPr marL="1081088" algn="l"/>
            <a:endParaRPr lang="fr-FR" sz="2200" b="0" dirty="0" smtClean="0"/>
          </a:p>
          <a:p>
            <a:pPr marL="1081088" algn="l"/>
            <a:endParaRPr lang="fr-FR" sz="2200" b="0" dirty="0" smtClean="0"/>
          </a:p>
          <a:p>
            <a:pPr marL="1081088" algn="l"/>
            <a:endParaRPr lang="fr-FR" sz="2200" b="0" dirty="0" smtClean="0"/>
          </a:p>
          <a:p>
            <a:pPr marL="1081088" algn="l"/>
            <a:endParaRPr lang="fr-FR" sz="2200" b="0" dirty="0" smtClean="0"/>
          </a:p>
          <a:p>
            <a:pPr lvl="1" algn="l">
              <a:buFont typeface="Wingdings" pitchFamily="2" charset="2"/>
              <a:buChar char="§"/>
            </a:pPr>
            <a:r>
              <a:rPr lang="fr-FR" sz="2400" b="0" dirty="0" smtClean="0"/>
              <a:t> Exécutez </a:t>
            </a:r>
            <a:r>
              <a:rPr lang="fr-FR" sz="2400" b="0" dirty="0" smtClean="0"/>
              <a:t>la commande </a:t>
            </a:r>
            <a:r>
              <a:rPr lang="fr-FR" sz="2400" b="0" dirty="0" err="1" smtClean="0"/>
              <a:t>ldifde</a:t>
            </a:r>
            <a:r>
              <a:rPr lang="fr-FR" sz="2400" b="0" dirty="0" smtClean="0"/>
              <a:t> </a:t>
            </a:r>
            <a:r>
              <a:rPr lang="fr-FR" sz="2400" b="0" dirty="0" smtClean="0"/>
              <a:t>:</a:t>
            </a:r>
          </a:p>
          <a:p>
            <a:pPr lvl="1" algn="l">
              <a:buFont typeface="Wingdings" pitchFamily="2" charset="2"/>
              <a:buChar char="§"/>
            </a:pPr>
            <a:endParaRPr lang="fr-FR" sz="2400" b="0" dirty="0" smtClean="0"/>
          </a:p>
          <a:p>
            <a:pPr algn="l"/>
            <a:r>
              <a:rPr lang="fr-FR" sz="2400" i="1" dirty="0" err="1" smtClean="0"/>
              <a:t>ldifde</a:t>
            </a:r>
            <a:r>
              <a:rPr lang="fr-FR" sz="2400" i="1" dirty="0" smtClean="0"/>
              <a:t> .i .k .f </a:t>
            </a:r>
            <a:r>
              <a:rPr lang="fr-FR" sz="2400" i="1" dirty="0" err="1" smtClean="0"/>
              <a:t>nom_fichier</a:t>
            </a:r>
            <a:r>
              <a:rPr lang="fr-FR" sz="2400" i="1" dirty="0" smtClean="0"/>
              <a:t> -b </a:t>
            </a:r>
            <a:r>
              <a:rPr lang="fr-FR" sz="2400" i="1" dirty="0" err="1" smtClean="0"/>
              <a:t>Nom_Utilisateur</a:t>
            </a:r>
            <a:r>
              <a:rPr lang="fr-FR" sz="2400" i="1" dirty="0" smtClean="0"/>
              <a:t> Domaine </a:t>
            </a:r>
            <a:r>
              <a:rPr lang="fr-FR" sz="2400" i="1" dirty="0" smtClean="0"/>
              <a:t> </a:t>
            </a:r>
            <a:r>
              <a:rPr lang="fr-FR" sz="2400" i="1" dirty="0" err="1" smtClean="0"/>
              <a:t>Mot_de_Passe</a:t>
            </a:r>
            <a:endParaRPr lang="fr-FR" sz="2200" i="1" dirty="0"/>
          </a:p>
        </p:txBody>
      </p:sp>
      <p:sp>
        <p:nvSpPr>
          <p:cNvPr id="5" name="ZoneTexte 4"/>
          <p:cNvSpPr txBox="1"/>
          <p:nvPr/>
        </p:nvSpPr>
        <p:spPr>
          <a:xfrm>
            <a:off x="154379" y="3051957"/>
            <a:ext cx="4215741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fr-FR" sz="2200" i="1" dirty="0" err="1" smtClean="0"/>
              <a:t>dn</a:t>
            </a:r>
            <a:r>
              <a:rPr lang="fr-FR" sz="2200" i="1" dirty="0" smtClean="0"/>
              <a:t>: </a:t>
            </a:r>
            <a:r>
              <a:rPr lang="fr-FR" sz="2200" i="1" dirty="0" err="1" smtClean="0"/>
              <a:t>cn</a:t>
            </a:r>
            <a:r>
              <a:rPr lang="fr-FR" sz="2200" i="1" dirty="0" smtClean="0"/>
              <a:t>=</a:t>
            </a:r>
            <a:r>
              <a:rPr lang="fr-FR" sz="2200" i="1" dirty="0" err="1" smtClean="0"/>
              <a:t>Laura,ou</a:t>
            </a:r>
            <a:r>
              <a:rPr lang="fr-FR" sz="2200" i="1" dirty="0" smtClean="0"/>
              <a:t>= </a:t>
            </a:r>
            <a:r>
              <a:rPr lang="fr-FR" sz="2200" i="1" dirty="0" err="1" smtClean="0"/>
              <a:t>Human</a:t>
            </a:r>
            <a:r>
              <a:rPr lang="fr-FR" sz="2200" i="1" dirty="0" smtClean="0"/>
              <a:t> </a:t>
            </a:r>
            <a:r>
              <a:rPr lang="fr-FR" sz="2200" i="1" dirty="0" err="1" smtClean="0"/>
              <a:t>Resourc</a:t>
            </a:r>
            <a:r>
              <a:rPr lang="fr-FR" sz="2200" i="1" dirty="0" smtClean="0"/>
              <a:t>, </a:t>
            </a:r>
            <a:r>
              <a:rPr lang="fr-FR" sz="2200" i="1" dirty="0" err="1" smtClean="0"/>
              <a:t>dc</a:t>
            </a:r>
            <a:r>
              <a:rPr lang="fr-FR" sz="2200" i="1" dirty="0" smtClean="0"/>
              <a:t>=</a:t>
            </a:r>
            <a:r>
              <a:rPr lang="fr-FR" sz="2200" i="1" dirty="0" err="1" smtClean="0"/>
              <a:t>asia</a:t>
            </a:r>
            <a:r>
              <a:rPr lang="fr-FR" sz="2200" i="1" dirty="0" smtClean="0"/>
              <a:t>, </a:t>
            </a:r>
            <a:r>
              <a:rPr lang="fr-FR" sz="2200" i="1" dirty="0" err="1" smtClean="0"/>
              <a:t>dc</a:t>
            </a:r>
            <a:r>
              <a:rPr lang="fr-FR" sz="2200" i="1" dirty="0" smtClean="0"/>
              <a:t>=</a:t>
            </a:r>
            <a:r>
              <a:rPr lang="fr-FR" sz="2200" i="1" dirty="0" err="1" smtClean="0"/>
              <a:t>contoso</a:t>
            </a:r>
            <a:r>
              <a:rPr lang="fr-FR" sz="2200" i="1" dirty="0" smtClean="0"/>
              <a:t>, </a:t>
            </a:r>
            <a:r>
              <a:rPr lang="fr-FR" sz="2200" i="1" dirty="0" err="1" smtClean="0"/>
              <a:t>dc</a:t>
            </a:r>
            <a:r>
              <a:rPr lang="fr-FR" sz="2200" i="1" dirty="0" smtClean="0"/>
              <a:t>=</a:t>
            </a:r>
            <a:r>
              <a:rPr lang="fr-FR" sz="2200" i="1" dirty="0" err="1" smtClean="0"/>
              <a:t>msft</a:t>
            </a:r>
            <a:endParaRPr lang="fr-FR" sz="2200" i="1" dirty="0" smtClean="0"/>
          </a:p>
          <a:p>
            <a:pPr algn="l"/>
            <a:r>
              <a:rPr lang="fr-FR" sz="2200" i="1" dirty="0" err="1" smtClean="0"/>
              <a:t>Changetype</a:t>
            </a:r>
            <a:r>
              <a:rPr lang="fr-FR" sz="2200" i="1" dirty="0" smtClean="0"/>
              <a:t>: </a:t>
            </a:r>
            <a:r>
              <a:rPr lang="fr-FR" sz="2200" i="1" dirty="0" err="1" smtClean="0"/>
              <a:t>Add</a:t>
            </a:r>
            <a:endParaRPr lang="fr-FR" sz="2200" i="1" dirty="0" smtClean="0"/>
          </a:p>
          <a:p>
            <a:pPr algn="l"/>
            <a:r>
              <a:rPr lang="fr-FR" sz="2200" i="1" dirty="0" err="1" smtClean="0"/>
              <a:t>objectClass</a:t>
            </a:r>
            <a:r>
              <a:rPr lang="fr-FR" sz="2200" i="1" dirty="0" smtClean="0"/>
              <a:t>: </a:t>
            </a:r>
            <a:r>
              <a:rPr lang="fr-FR" sz="2200" i="1" dirty="0" smtClean="0"/>
              <a:t>user</a:t>
            </a:r>
            <a:endParaRPr lang="fr-FR" sz="2200" i="1" dirty="0" smtClean="0"/>
          </a:p>
        </p:txBody>
      </p:sp>
      <p:sp>
        <p:nvSpPr>
          <p:cNvPr id="6" name="Rectangle 5"/>
          <p:cNvSpPr/>
          <p:nvPr/>
        </p:nvSpPr>
        <p:spPr>
          <a:xfrm>
            <a:off x="4203865" y="3066347"/>
            <a:ext cx="4750129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fr-FR" sz="2200" i="1" dirty="0" err="1" smtClean="0"/>
              <a:t>SamAccountName</a:t>
            </a:r>
            <a:r>
              <a:rPr lang="fr-FR" sz="2200" i="1" dirty="0" smtClean="0"/>
              <a:t>: </a:t>
            </a:r>
            <a:r>
              <a:rPr lang="fr-FR" sz="2200" i="1" dirty="0" err="1" smtClean="0"/>
              <a:t>laurab</a:t>
            </a:r>
            <a:endParaRPr lang="fr-FR" sz="2200" i="1" dirty="0" smtClean="0"/>
          </a:p>
          <a:p>
            <a:pPr algn="l"/>
            <a:r>
              <a:rPr lang="fr-FR" sz="2200" i="1" dirty="0" err="1" smtClean="0"/>
              <a:t>userPrincipalName</a:t>
            </a:r>
            <a:r>
              <a:rPr lang="fr-FR" sz="2200" i="1" dirty="0" smtClean="0"/>
              <a:t>: laurab@contoso.msft</a:t>
            </a:r>
          </a:p>
          <a:p>
            <a:pPr algn="l"/>
            <a:r>
              <a:rPr lang="fr-FR" sz="2200" i="1" dirty="0" err="1" smtClean="0"/>
              <a:t>displayName</a:t>
            </a:r>
            <a:r>
              <a:rPr lang="fr-FR" sz="2200" i="1" dirty="0" smtClean="0"/>
              <a:t>: Laura Bartoli</a:t>
            </a:r>
          </a:p>
          <a:p>
            <a:pPr algn="l"/>
            <a:r>
              <a:rPr lang="fr-FR" sz="2200" i="1" dirty="0" err="1" smtClean="0"/>
              <a:t>userAccountControl</a:t>
            </a:r>
            <a:r>
              <a:rPr lang="fr-FR" sz="2200" i="1" dirty="0" smtClean="0"/>
              <a:t>: 514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10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1" dur="10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45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sz="2600" b="1" dirty="0">
                <a:solidFill>
                  <a:srgbClr val="C00000"/>
                </a:solidFill>
              </a:rPr>
              <a:t>Comment créer et gérer des comptes à l'aide de l'environnement d'exécution de scripts Windows</a:t>
            </a:r>
            <a:endParaRPr lang="en-US" sz="2600" b="1" dirty="0">
              <a:solidFill>
                <a:srgbClr val="C0000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43443" y="1482919"/>
            <a:ext cx="8734301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fr-FR" sz="2400" b="0" dirty="0" smtClean="0"/>
              <a:t>Le processus de création d’un objet Active </a:t>
            </a:r>
            <a:r>
              <a:rPr lang="fr-FR" sz="2400" b="0" dirty="0" smtClean="0"/>
              <a:t>Directory:</a:t>
            </a:r>
          </a:p>
          <a:p>
            <a:pPr marL="457200" indent="-457200" algn="l">
              <a:buFont typeface="+mj-lt"/>
              <a:buAutoNum type="arabicPeriod"/>
            </a:pPr>
            <a:r>
              <a:rPr lang="fr-FR" sz="2400" b="0" dirty="0" smtClean="0"/>
              <a:t>Utilisez le Bloc-notes pour créer un fichier texte avec une extension .</a:t>
            </a:r>
            <a:r>
              <a:rPr lang="fr-FR" sz="2400" b="0" dirty="0" err="1" smtClean="0"/>
              <a:t>vbs</a:t>
            </a:r>
            <a:r>
              <a:rPr lang="fr-FR" sz="2400" b="0" dirty="0" smtClean="0"/>
              <a:t>. Placez </a:t>
            </a:r>
            <a:r>
              <a:rPr lang="fr-FR" sz="2400" b="0" dirty="0" smtClean="0"/>
              <a:t>les commandes </a:t>
            </a:r>
            <a:r>
              <a:rPr lang="fr-FR" sz="2400" b="0" dirty="0" smtClean="0"/>
              <a:t>dans </a:t>
            </a:r>
            <a:r>
              <a:rPr lang="fr-FR" sz="2400" b="0" dirty="0" smtClean="0"/>
              <a:t>le fichier, puis enregistrez-le.</a:t>
            </a:r>
          </a:p>
          <a:p>
            <a:pPr marL="457200" indent="-457200" algn="l"/>
            <a:r>
              <a:rPr lang="fr-FR" sz="2400" b="0" dirty="0" smtClean="0"/>
              <a:t>Exemple: </a:t>
            </a:r>
          </a:p>
          <a:p>
            <a:pPr marL="914400" lvl="1" indent="-457200" algn="l"/>
            <a:r>
              <a:rPr lang="fr-FR" sz="2400" b="0" i="1" dirty="0" smtClean="0"/>
              <a:t>Set </a:t>
            </a:r>
            <a:r>
              <a:rPr lang="fr-FR" sz="2400" b="0" i="1" dirty="0" err="1" smtClean="0"/>
              <a:t>objOU</a:t>
            </a:r>
            <a:r>
              <a:rPr lang="fr-FR" sz="2400" b="0" i="1" dirty="0" smtClean="0"/>
              <a:t> </a:t>
            </a:r>
            <a:r>
              <a:rPr lang="fr-FR" sz="2400" b="0" i="1" dirty="0" smtClean="0"/>
              <a:t>=</a:t>
            </a:r>
            <a:r>
              <a:rPr lang="fr-FR" sz="2400" b="0" i="1" dirty="0" err="1" smtClean="0"/>
              <a:t>GetObject</a:t>
            </a:r>
            <a:r>
              <a:rPr lang="fr-FR" sz="2400" b="0" i="1" dirty="0" smtClean="0"/>
              <a:t>("LDAP://ou=management,dc=fabrikam,dc=com</a:t>
            </a:r>
            <a:r>
              <a:rPr lang="fr-FR" sz="2400" b="0" i="1" dirty="0" smtClean="0"/>
              <a:t>")</a:t>
            </a:r>
          </a:p>
          <a:p>
            <a:pPr lvl="1" algn="l"/>
            <a:r>
              <a:rPr lang="fr-FR" sz="2400" b="0" dirty="0" smtClean="0"/>
              <a:t>Set </a:t>
            </a:r>
            <a:r>
              <a:rPr lang="fr-FR" sz="2400" b="0" dirty="0" err="1" smtClean="0"/>
              <a:t>objUser</a:t>
            </a:r>
            <a:r>
              <a:rPr lang="fr-FR" sz="2400" b="0" dirty="0" smtClean="0"/>
              <a:t> = </a:t>
            </a:r>
            <a:r>
              <a:rPr lang="fr-FR" sz="2400" b="0" dirty="0" err="1" smtClean="0"/>
              <a:t>objOU.Create</a:t>
            </a:r>
            <a:r>
              <a:rPr lang="fr-FR" sz="2400" b="0" dirty="0" smtClean="0"/>
              <a:t>("User", "</a:t>
            </a:r>
            <a:r>
              <a:rPr lang="fr-FR" sz="2400" b="0" dirty="0" err="1" smtClean="0"/>
              <a:t>cn</a:t>
            </a:r>
            <a:r>
              <a:rPr lang="fr-FR" sz="2400" b="0" dirty="0" smtClean="0"/>
              <a:t>=</a:t>
            </a:r>
            <a:r>
              <a:rPr lang="fr-FR" sz="2400" b="0" dirty="0" err="1" smtClean="0"/>
              <a:t>MyerKen</a:t>
            </a:r>
            <a:r>
              <a:rPr lang="fr-FR" sz="2400" b="0" dirty="0" smtClean="0"/>
              <a:t>")</a:t>
            </a:r>
          </a:p>
          <a:p>
            <a:pPr lvl="1" algn="l"/>
            <a:r>
              <a:rPr lang="fr-FR" sz="2400" b="0" dirty="0" err="1" smtClean="0"/>
              <a:t>objUser.Put</a:t>
            </a:r>
            <a:r>
              <a:rPr lang="fr-FR" sz="2400" b="0" dirty="0" smtClean="0"/>
              <a:t> </a:t>
            </a:r>
            <a:r>
              <a:rPr lang="fr-FR" sz="2400" b="0" dirty="0" smtClean="0"/>
              <a:t>"</a:t>
            </a:r>
            <a:r>
              <a:rPr lang="fr-FR" sz="2400" b="0" dirty="0" err="1" smtClean="0"/>
              <a:t>sAMAccountName</a:t>
            </a:r>
            <a:r>
              <a:rPr lang="fr-FR" sz="2400" b="0" dirty="0" smtClean="0"/>
              <a:t>", "</a:t>
            </a:r>
            <a:r>
              <a:rPr lang="fr-FR" sz="2400" b="0" dirty="0" err="1" smtClean="0"/>
              <a:t>myerken</a:t>
            </a:r>
            <a:r>
              <a:rPr lang="fr-FR" sz="2400" b="0" dirty="0" smtClean="0"/>
              <a:t>"</a:t>
            </a:r>
          </a:p>
          <a:p>
            <a:pPr lvl="1" algn="l"/>
            <a:r>
              <a:rPr lang="fr-FR" sz="2400" b="0" dirty="0" err="1" smtClean="0"/>
              <a:t>objUser.SetInfo</a:t>
            </a:r>
            <a:endParaRPr lang="fr-FR" sz="2400" b="0" dirty="0" smtClean="0"/>
          </a:p>
          <a:p>
            <a:pPr lvl="1" algn="l"/>
            <a:r>
              <a:rPr lang="fr-FR" sz="2400" b="0" dirty="0" err="1" smtClean="0"/>
              <a:t>objUser.AccountDisabled</a:t>
            </a:r>
            <a:r>
              <a:rPr lang="fr-FR" sz="2400" b="0" dirty="0" smtClean="0"/>
              <a:t> = FALSE</a:t>
            </a:r>
          </a:p>
          <a:p>
            <a:pPr lvl="1" algn="l"/>
            <a:r>
              <a:rPr lang="fr-FR" sz="2400" b="0" dirty="0" err="1" smtClean="0"/>
              <a:t>objUser.ChangePassword</a:t>
            </a:r>
            <a:r>
              <a:rPr lang="fr-FR" sz="2400" b="0" dirty="0" smtClean="0"/>
              <a:t> "", "jl3R86df"</a:t>
            </a:r>
          </a:p>
          <a:p>
            <a:pPr lvl="1" algn="l"/>
            <a:r>
              <a:rPr lang="fr-FR" sz="2400" b="0" dirty="0" err="1" smtClean="0"/>
              <a:t>objUser.SetInfo</a:t>
            </a:r>
            <a:endParaRPr lang="fr-FR" sz="2400" b="0" dirty="0" smtClean="0"/>
          </a:p>
          <a:p>
            <a:pPr algn="l"/>
            <a:r>
              <a:rPr lang="fr-FR" sz="2400" b="0" dirty="0" smtClean="0"/>
              <a:t>2. Exécutez </a:t>
            </a:r>
            <a:r>
              <a:rPr lang="fr-FR" sz="2400" b="0" dirty="0" smtClean="0"/>
              <a:t>le script en tapant la commande </a:t>
            </a:r>
            <a:r>
              <a:rPr lang="fr-FR" sz="2400" b="0" dirty="0" smtClean="0"/>
              <a:t>:</a:t>
            </a:r>
            <a:endParaRPr lang="fr-FR" sz="2400" b="0" dirty="0" smtClean="0"/>
          </a:p>
          <a:p>
            <a:pPr algn="l"/>
            <a:r>
              <a:rPr lang="fr-FR" sz="2400" b="0" dirty="0" smtClean="0"/>
              <a:t> </a:t>
            </a:r>
            <a:r>
              <a:rPr lang="fr-FR" sz="2400" b="0" dirty="0" smtClean="0"/>
              <a:t>     Wscript.exe </a:t>
            </a:r>
            <a:r>
              <a:rPr lang="fr-FR" sz="2400" b="0" dirty="0" err="1" smtClean="0"/>
              <a:t>nom_fichier</a:t>
            </a:r>
            <a:endParaRPr lang="fr-FR" sz="2400" b="0" dirty="0" smtClean="0"/>
          </a:p>
          <a:p>
            <a:pPr algn="l"/>
            <a:endParaRPr lang="fr-FR" sz="2400" b="0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" dur="1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1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1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3" dur="1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6" dur="10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1" dur="10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4" dur="10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5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4,7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4,8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4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4,5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4,5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4,5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4,5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4,5,6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4,5,6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4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4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4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4,8,1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4,8,1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4,8,1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4,7,9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4,7,9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4,7,9,10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4,7,9,10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4,7,9,12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4,7,9,12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4,7,9,12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0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0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0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0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0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0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0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0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0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0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,2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,3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0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0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0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0"/>
</p:tagLst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vil">
  <a:themeElements>
    <a:clrScheme name="Nuances de gris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Civil">
      <a:majorFont>
        <a:latin typeface="Georgia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Georgia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Civil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70000"/>
                <a:satMod val="115000"/>
              </a:schemeClr>
              <a:schemeClr val="phClr">
                <a:tint val="85000"/>
              </a:schemeClr>
            </a:duotone>
          </a:blip>
          <a:tile tx="0" ty="0" sx="85000" sy="85000" flip="none" algn="tl"/>
        </a:blipFill>
        <a:blipFill>
          <a:blip xmlns:r="http://schemas.openxmlformats.org/officeDocument/2006/relationships" r:embed="rId2">
            <a:duotone>
              <a:schemeClr val="phClr">
                <a:shade val="65000"/>
                <a:satMod val="115000"/>
              </a:schemeClr>
              <a:schemeClr val="phClr">
                <a:tint val="85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Civic</Template>
  <TotalTime>8745</TotalTime>
  <Words>1117</Words>
  <Application>Microsoft PowerPoint</Application>
  <PresentationFormat>Affichage à l'écran (4:3)</PresentationFormat>
  <Paragraphs>156</Paragraphs>
  <Slides>19</Slides>
  <Notes>16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19</vt:i4>
      </vt:variant>
    </vt:vector>
  </HeadingPairs>
  <TitlesOfParts>
    <vt:vector size="27" baseType="lpstr">
      <vt:lpstr>Arial</vt:lpstr>
      <vt:lpstr>Georgia</vt:lpstr>
      <vt:lpstr>Arial Narrow</vt:lpstr>
      <vt:lpstr>Wingdings</vt:lpstr>
      <vt:lpstr>SimSun</vt:lpstr>
      <vt:lpstr>Times New Roman</vt:lpstr>
      <vt:lpstr>Wingdings 2</vt:lpstr>
      <vt:lpstr>Civil</vt:lpstr>
      <vt:lpstr>Chapitre  4   Implémentation de comptes d'utilisateurs, de groupes et d'ordinateurs</vt:lpstr>
      <vt:lpstr>Plan du cours</vt:lpstr>
      <vt:lpstr>1. Types de comptes</vt:lpstr>
      <vt:lpstr>2. Implémentation de comptes d’utilisateurs</vt:lpstr>
      <vt:lpstr>Définition d'un nom d'utilisateur principal</vt:lpstr>
      <vt:lpstr>Fonctionnement du routage des suffixes de noms</vt:lpstr>
      <vt:lpstr>3. Implémentation de comptes de groupe</vt:lpstr>
      <vt:lpstr>Types de groupes</vt:lpstr>
      <vt:lpstr>Les groupes locaux de domaine</vt:lpstr>
      <vt:lpstr>Les groupes globaux</vt:lpstr>
      <vt:lpstr>Les groupes universels</vt:lpstr>
      <vt:lpstr>Stratégie d’utilisation de groupe dans un domaine</vt:lpstr>
      <vt:lpstr>4. Outils d’administration et tâches administratives</vt:lpstr>
      <vt:lpstr>Outils permettant de créer et gérer plusieurs comptes</vt:lpstr>
      <vt:lpstr>Comment créer des comptes à l'aide de l'outil Utilisateurs et ordinateurs  AD</vt:lpstr>
      <vt:lpstr>Comment créer des comptes à l'aide de l'outil service d’annuaire</vt:lpstr>
      <vt:lpstr>Comment créer des comptes à l'aide de l'outil Csvde</vt:lpstr>
      <vt:lpstr>Comment créer et gérer des comptes à l'aide de l'outil Ldifde</vt:lpstr>
      <vt:lpstr>Comment créer et gérer des comptes à l'aide de l'environnement d'exécution de scripts Windows</vt:lpstr>
    </vt:vector>
  </TitlesOfParts>
  <Company>Microsoft Corporation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#: Module Title</dc:title>
  <dc:creator>User</dc:creator>
  <cp:lastModifiedBy>Halima</cp:lastModifiedBy>
  <cp:revision>761</cp:revision>
  <dcterms:created xsi:type="dcterms:W3CDTF">2002-08-07T17:51:12Z</dcterms:created>
  <dcterms:modified xsi:type="dcterms:W3CDTF">2015-02-26T16:52:50Z</dcterms:modified>
</cp:coreProperties>
</file>