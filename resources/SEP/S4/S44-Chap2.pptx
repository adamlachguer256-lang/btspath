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Override PartName="/ppt/tags/tag78.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tags/tag85.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notesSlides/notesSlide12.xml" ContentType="application/vnd.openxmlformats-officedocument.presentationml.notesSlide+xml"/>
  <Override PartName="/ppt/tags/tag34.xml" ContentType="application/vnd.openxmlformats-officedocument.presentationml.tags+xml"/>
  <Override PartName="/ppt/tags/tag52.xml" ContentType="application/vnd.openxmlformats-officedocument.presentationml.tags+xml"/>
  <Override PartName="/ppt/tags/tag8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tags/tag41.xml" ContentType="application/vnd.openxmlformats-officedocument.presentationml.tags+xml"/>
  <Override PartName="/ppt/tags/tag70.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tags/tag39.xml" ContentType="application/vnd.openxmlformats-officedocument.presentationml.tags+xml"/>
  <Override PartName="/ppt/tags/tag68.xml" ContentType="application/vnd.openxmlformats-officedocument.presentationml.tags+xml"/>
  <Override PartName="/ppt/tags/tag86.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ppt/tags/tag57.xml" ContentType="application/vnd.openxmlformats-officedocument.presentationml.tags+xml"/>
  <Override PartName="/ppt/tags/tag75.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tags/tag17.xml" ContentType="application/vnd.openxmlformats-officedocument.presentationml.tags+xml"/>
  <Override PartName="/ppt/tags/tag26.xml" ContentType="application/vnd.openxmlformats-officedocument.presentationml.tags+xml"/>
  <Override PartName="/ppt/notesSlides/notesSlide13.xml" ContentType="application/vnd.openxmlformats-officedocument.presentationml.notesSlide+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Override PartName="/ppt/tags/tag73.xml" ContentType="application/vnd.openxmlformats-officedocument.presentationml.tags+xml"/>
  <Override PartName="/ppt/tags/tag82.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tags/tag62.xml" ContentType="application/vnd.openxmlformats-officedocument.presentationml.tags+xml"/>
  <Override PartName="/ppt/tags/tag71.xml" ContentType="application/vnd.openxmlformats-officedocument.presentationml.tags+xml"/>
  <Override PartName="/ppt/tags/tag80.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notesSlides/notesSlide18.xml" ContentType="application/vnd.openxmlformats-officedocument.presentationml.notesSlide+xml"/>
  <Override PartName="/ppt/tags/tag58.xml" ContentType="application/vnd.openxmlformats-officedocument.presentationml.tags+xml"/>
  <Override PartName="/ppt/tags/tag69.xml" ContentType="application/vnd.openxmlformats-officedocument.presentationml.tags+xml"/>
  <Override PartName="/ppt/tags/tag87.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notesSlides/notesSlide14.xml" ContentType="application/vnd.openxmlformats-officedocument.presentationml.notesSlide+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83.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90.xml" ContentType="application/vnd.openxmlformats-officedocument.presentationml.tags+xml"/>
  <Override PartName="/ppt/notesSlides/notesSlide10.xml" ContentType="application/vnd.openxmlformats-officedocument.presentationml.notesSlide+xml"/>
  <Override PartName="/ppt/tags/tag32.xml" ContentType="application/vnd.openxmlformats-officedocument.presentationml.tags+xml"/>
  <Override PartName="/ppt/tags/tag5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Default Extension="jpeg" ContentType="image/jpeg"/>
  <Override PartName="/ppt/tags/tag3.xml" ContentType="application/vnd.openxmlformats-officedocument.presentationml.tags+xml"/>
  <Override PartName="/ppt/tags/tag59.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Override PartName="/ppt/slides/slide13.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notesSlides/notesSlide15.xml" ContentType="application/vnd.openxmlformats-officedocument.presentationml.notesSlide+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tags/tag8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28"/>
  </p:notesMasterIdLst>
  <p:handoutMasterIdLst>
    <p:handoutMasterId r:id="rId29"/>
  </p:handoutMasterIdLst>
  <p:sldIdLst>
    <p:sldId id="256" r:id="rId2"/>
    <p:sldId id="257" r:id="rId3"/>
    <p:sldId id="298" r:id="rId4"/>
    <p:sldId id="364" r:id="rId5"/>
    <p:sldId id="365" r:id="rId6"/>
    <p:sldId id="389" r:id="rId7"/>
    <p:sldId id="326" r:id="rId8"/>
    <p:sldId id="300" r:id="rId9"/>
    <p:sldId id="372" r:id="rId10"/>
    <p:sldId id="380" r:id="rId11"/>
    <p:sldId id="373" r:id="rId12"/>
    <p:sldId id="398" r:id="rId13"/>
    <p:sldId id="345" r:id="rId14"/>
    <p:sldId id="397" r:id="rId15"/>
    <p:sldId id="348" r:id="rId16"/>
    <p:sldId id="303" r:id="rId17"/>
    <p:sldId id="339" r:id="rId18"/>
    <p:sldId id="383" r:id="rId19"/>
    <p:sldId id="341" r:id="rId20"/>
    <p:sldId id="384" r:id="rId21"/>
    <p:sldId id="399" r:id="rId22"/>
    <p:sldId id="401" r:id="rId23"/>
    <p:sldId id="402" r:id="rId24"/>
    <p:sldId id="403" r:id="rId25"/>
    <p:sldId id="404" r:id="rId26"/>
    <p:sldId id="405" r:id="rId27"/>
  </p:sldIdLst>
  <p:sldSz cx="9144000" cy="6858000" type="screen4x3"/>
  <p:notesSz cx="6858000" cy="9144000"/>
  <p:embeddedFontLst>
    <p:embeddedFont>
      <p:font typeface="Georgia" pitchFamily="18" charset="0"/>
      <p:regular r:id="rId30"/>
      <p:bold r:id="rId31"/>
      <p:italic r:id="rId32"/>
      <p:boldItalic r:id="rId33"/>
    </p:embeddedFont>
    <p:embeddedFont>
      <p:font typeface="Arial Narrow" pitchFamily="34" charset="0"/>
      <p:regular r:id="rId34"/>
      <p:bold r:id="rId35"/>
      <p:italic r:id="rId36"/>
      <p:boldItalic r:id="rId37"/>
    </p:embeddedFont>
    <p:embeddedFont>
      <p:font typeface="Wingdings 2" pitchFamily="18" charset="2"/>
      <p:regular r:id="rId38"/>
    </p:embeddedFont>
  </p:embeddedFontLst>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1" name="v-stewil" initials="" lastIdx="5" clrIdx="1"/>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FCE1DA"/>
    <a:srgbClr val="EBFBFA"/>
    <a:srgbClr val="DEF8F7"/>
    <a:srgbClr val="D7F7F6"/>
    <a:srgbClr val="BBF1F0"/>
    <a:srgbClr val="FBDCD3"/>
    <a:srgbClr val="F7C0B1"/>
    <a:srgbClr val="FDEDE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snapVertSplitter="1" vertBarState="minimized" horzBarState="maximized">
    <p:restoredLeft sz="15620" autoAdjust="0"/>
    <p:restoredTop sz="94660" autoAdjust="0"/>
  </p:normalViewPr>
  <p:slideViewPr>
    <p:cSldViewPr snapToGrid="0">
      <p:cViewPr>
        <p:scale>
          <a:sx n="70" d="100"/>
          <a:sy n="70" d="100"/>
        </p:scale>
        <p:origin x="-1014" y="-72"/>
      </p:cViewPr>
      <p:guideLst>
        <p:guide orient="horz" pos="4319"/>
        <p:guide orient="horz" pos="348"/>
        <p:guide pos="2879"/>
        <p:guide pos="680"/>
        <p:guide pos="8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928"/>
    </p:cViewPr>
  </p:sorterViewPr>
  <p:notesViewPr>
    <p:cSldViewPr snapToGrid="0">
      <p:cViewPr varScale="1">
        <p:scale>
          <a:sx n="52" d="100"/>
          <a:sy n="52" d="100"/>
        </p:scale>
        <p:origin x="-1860"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8531" name="Rectangle 3"/>
          <p:cNvSpPr>
            <a:spLocks noGrp="1" noChangeArrowheads="1"/>
          </p:cNvSpPr>
          <p:nvPr>
            <p:ph type="dt" sz="quarter"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custDataLst>
              <p:tags r:id="rId4"/>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8533" name="Rectangle 5"/>
          <p:cNvSpPr>
            <a:spLocks noGrp="1" noChangeArrowheads="1"/>
          </p:cNvSpPr>
          <p:nvPr>
            <p:ph type="sldNum" sz="quarter" idx="3"/>
            <p:custDataLst>
              <p:tags r:id="rId5"/>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4CF0F26B-A5C9-48DD-8460-3524EB6DABFF}"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5123" name="Rectangle 3"/>
          <p:cNvSpPr>
            <a:spLocks noGrp="1" noChangeArrowheads="1"/>
          </p:cNvSpPr>
          <p:nvPr>
            <p:ph type="dt"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custDataLst>
              <p:tags r:id="rId4"/>
            </p:custDataLst>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custDataLst>
              <p:tags r:id="rId5"/>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5127" name="Rectangle 7"/>
          <p:cNvSpPr>
            <a:spLocks noGrp="1" noChangeArrowheads="1"/>
          </p:cNvSpPr>
          <p:nvPr>
            <p:ph type="sldNum" sz="quarter" idx="5"/>
            <p:custDataLst>
              <p:tags r:id="rId6"/>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42C303CD-4D2D-44DC-BC4D-C8AED3F87C1C}"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33.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35.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37.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39.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40.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55.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546DBCDB-6806-4FDD-BCFB-94A67EE8C80E}" type="slidenum">
              <a:rPr lang="en-US"/>
              <a:pPr/>
              <a:t>1</a:t>
            </a:fld>
            <a:endParaRPr lang="en-US"/>
          </a:p>
        </p:txBody>
      </p:sp>
      <p:sp>
        <p:nvSpPr>
          <p:cNvPr id="519170" name="Rectangle 2"/>
          <p:cNvSpPr>
            <a:spLocks noGrp="1" noRot="1" noChangeAspect="1" noChangeArrowheads="1" noTextEdit="1"/>
          </p:cNvSpPr>
          <p:nvPr>
            <p:ph type="sldImg"/>
          </p:nvPr>
        </p:nvSpPr>
        <p:spPr>
          <a:ln/>
        </p:spPr>
      </p:sp>
      <p:sp>
        <p:nvSpPr>
          <p:cNvPr id="51917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E8C28EA-7670-4059-8383-ECE14BDEBABC}" type="slidenum">
              <a:rPr lang="en-US"/>
              <a:pPr/>
              <a:t>2</a:t>
            </a:fld>
            <a:endParaRPr lang="en-US"/>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A8417A5F-5BAA-44C5-B41E-306DBA85BDCC}" type="slidenum">
              <a:rPr lang="en-US"/>
              <a:pPr/>
              <a:t>3</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28AEB51-0E21-431F-A334-BD96EF207B9E}" type="slidenum">
              <a:rPr lang="en-US"/>
              <a:pPr/>
              <a:t>4</a:t>
            </a:fld>
            <a:endParaRPr lang="en-US"/>
          </a:p>
        </p:txBody>
      </p:sp>
      <p:sp>
        <p:nvSpPr>
          <p:cNvPr id="522242" name="Rectangle 2"/>
          <p:cNvSpPr>
            <a:spLocks noGrp="1" noRot="1" noChangeAspect="1" noChangeArrowheads="1" noTextEdit="1"/>
          </p:cNvSpPr>
          <p:nvPr>
            <p:ph type="sldImg"/>
          </p:nvPr>
        </p:nvSpPr>
        <p:spPr>
          <a:ln/>
        </p:spPr>
      </p:sp>
      <p:sp>
        <p:nvSpPr>
          <p:cNvPr id="52224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834067B-8775-4C7B-8199-928B301044E1}" type="slidenum">
              <a:rPr lang="en-US"/>
              <a:pPr/>
              <a:t>5</a:t>
            </a:fld>
            <a:endParaRPr lang="en-US"/>
          </a:p>
        </p:txBody>
      </p:sp>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716E734-6A80-4FB5-9248-ED2B9F2F5A1D}" type="slidenum">
              <a:rPr lang="en-US"/>
              <a:pPr/>
              <a:t>6</a:t>
            </a:fld>
            <a:endParaRPr lang="en-US"/>
          </a:p>
        </p:txBody>
      </p:sp>
      <p:sp>
        <p:nvSpPr>
          <p:cNvPr id="528386" name="Rectangle 2"/>
          <p:cNvSpPr>
            <a:spLocks noGrp="1" noRot="1" noChangeAspect="1" noChangeArrowheads="1" noTextEdit="1"/>
          </p:cNvSpPr>
          <p:nvPr>
            <p:ph type="sldImg"/>
          </p:nvPr>
        </p:nvSpPr>
        <p:spPr>
          <a:ln/>
        </p:spPr>
      </p:sp>
      <p:sp>
        <p:nvSpPr>
          <p:cNvPr id="52838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068AC07-8ABF-4F5C-A268-3F792D8F8C7E}" type="slidenum">
              <a:rPr lang="en-US"/>
              <a:pPr/>
              <a:t>7</a:t>
            </a:fld>
            <a:endParaRPr lang="en-US"/>
          </a:p>
        </p:txBody>
      </p:sp>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820F892-560C-4162-9E8E-74D6CCFC2B94}" type="slidenum">
              <a:rPr lang="en-US"/>
              <a:pPr/>
              <a:t>8</a:t>
            </a:fld>
            <a:endParaRPr lang="en-US"/>
          </a:p>
        </p:txBody>
      </p:sp>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54DC526-CACA-4ED7-BEB0-C6D2A4BD338D}" type="slidenum">
              <a:rPr lang="en-US"/>
              <a:pPr/>
              <a:t>9</a:t>
            </a:fld>
            <a:endParaRPr lang="en-US"/>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CD41567-7A59-4D9D-A7F1-94017C77B2B7}" type="slidenum">
              <a:rPr lang="en-US"/>
              <a:pPr/>
              <a:t>10</a:t>
            </a:fld>
            <a:endParaRPr lang="en-US"/>
          </a:p>
        </p:txBody>
      </p:sp>
      <p:sp>
        <p:nvSpPr>
          <p:cNvPr id="532482" name="Rectangle 2"/>
          <p:cNvSpPr>
            <a:spLocks noGrp="1" noRot="1" noChangeAspect="1" noChangeArrowheads="1" noTextEdit="1"/>
          </p:cNvSpPr>
          <p:nvPr>
            <p:ph type="sldImg"/>
          </p:nvPr>
        </p:nvSpPr>
        <p:spPr>
          <a:ln/>
        </p:spPr>
      </p:sp>
      <p:sp>
        <p:nvSpPr>
          <p:cNvPr id="5324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C914832-BF95-48B5-B83E-C06CFBEF106F}" type="slidenum">
              <a:rPr lang="en-US"/>
              <a:pPr/>
              <a:t>11</a:t>
            </a:fld>
            <a:endParaRPr 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AB5CD48-690B-4ED9-B434-54B7E1498F23}" type="slidenum">
              <a:rPr lang="en-US"/>
              <a:pPr/>
              <a:t>12</a:t>
            </a:fld>
            <a:endParaRPr lang="en-US"/>
          </a:p>
        </p:txBody>
      </p:sp>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A78282D3-BC5E-4485-9458-203D00C0C197}" type="slidenum">
              <a:rPr lang="en-US"/>
              <a:pPr/>
              <a:t>13</a:t>
            </a:fld>
            <a:endParaRPr lang="en-US"/>
          </a:p>
        </p:txBody>
      </p:sp>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BE2CC42-1F7E-42AB-9B4A-46EFEC3A104E}" type="slidenum">
              <a:rPr lang="en-US"/>
              <a:pPr/>
              <a:t>14</a:t>
            </a:fld>
            <a:endParaRPr lang="en-US"/>
          </a:p>
        </p:txBody>
      </p:sp>
      <p:sp>
        <p:nvSpPr>
          <p:cNvPr id="537602" name="Rectangle 2"/>
          <p:cNvSpPr>
            <a:spLocks noGrp="1" noRot="1" noChangeAspect="1" noChangeArrowheads="1" noTextEdit="1"/>
          </p:cNvSpPr>
          <p:nvPr>
            <p:ph type="sldImg"/>
          </p:nvPr>
        </p:nvSpPr>
        <p:spPr>
          <a:ln/>
        </p:spPr>
      </p:sp>
      <p:sp>
        <p:nvSpPr>
          <p:cNvPr id="53760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ADAF63D-BD29-452D-A6CD-74B73A82C285}" type="slidenum">
              <a:rPr lang="en-US"/>
              <a:pPr/>
              <a:t>15</a:t>
            </a:fld>
            <a:endParaRPr lang="en-US"/>
          </a:p>
        </p:txBody>
      </p:sp>
      <p:sp>
        <p:nvSpPr>
          <p:cNvPr id="538626" name="Rectangle 2"/>
          <p:cNvSpPr>
            <a:spLocks noGrp="1" noRot="1" noChangeAspect="1" noChangeArrowheads="1" noTextEdit="1"/>
          </p:cNvSpPr>
          <p:nvPr>
            <p:ph type="sldImg"/>
          </p:nvPr>
        </p:nvSpPr>
        <p:spPr>
          <a:ln/>
        </p:spPr>
      </p:sp>
      <p:sp>
        <p:nvSpPr>
          <p:cNvPr id="53862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5C480AB0-85FB-4FDE-9E31-E61751B184CB}" type="slidenum">
              <a:rPr lang="en-US"/>
              <a:pPr/>
              <a:t>16</a:t>
            </a:fld>
            <a:endParaRPr lang="en-US"/>
          </a:p>
        </p:txBody>
      </p:sp>
      <p:sp>
        <p:nvSpPr>
          <p:cNvPr id="541698" name="Rectangle 2"/>
          <p:cNvSpPr>
            <a:spLocks noGrp="1" noRot="1" noChangeAspect="1" noChangeArrowheads="1" noTextEdit="1"/>
          </p:cNvSpPr>
          <p:nvPr>
            <p:ph type="sldImg"/>
          </p:nvPr>
        </p:nvSpPr>
        <p:spPr>
          <a:ln/>
        </p:spPr>
      </p:sp>
      <p:sp>
        <p:nvSpPr>
          <p:cNvPr id="54169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209DB54-9558-4420-963A-F3A231E60582}" type="slidenum">
              <a:rPr lang="en-US"/>
              <a:pPr/>
              <a:t>17</a:t>
            </a:fld>
            <a:endParaRPr lang="en-US"/>
          </a:p>
        </p:txBody>
      </p:sp>
      <p:sp>
        <p:nvSpPr>
          <p:cNvPr id="542722" name="Rectangle 2"/>
          <p:cNvSpPr>
            <a:spLocks noGrp="1" noRot="1" noChangeAspect="1" noChangeArrowheads="1" noTextEdit="1"/>
          </p:cNvSpPr>
          <p:nvPr>
            <p:ph type="sldImg"/>
          </p:nvPr>
        </p:nvSpPr>
        <p:spPr>
          <a:ln/>
        </p:spPr>
      </p:sp>
      <p:sp>
        <p:nvSpPr>
          <p:cNvPr id="54272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DD775C3-7299-44EC-B40A-EBB4EBA4D983}" type="slidenum">
              <a:rPr lang="en-US"/>
              <a:pPr/>
              <a:t>18</a:t>
            </a:fld>
            <a:endParaRPr lang="en-US"/>
          </a:p>
        </p:txBody>
      </p:sp>
      <p:sp>
        <p:nvSpPr>
          <p:cNvPr id="543746" name="Rectangle 2"/>
          <p:cNvSpPr>
            <a:spLocks noGrp="1" noRot="1" noChangeAspect="1" noChangeArrowheads="1" noTextEdit="1"/>
          </p:cNvSpPr>
          <p:nvPr>
            <p:ph type="sldImg"/>
          </p:nvPr>
        </p:nvSpPr>
        <p:spPr>
          <a:ln/>
        </p:spPr>
      </p:sp>
      <p:sp>
        <p:nvSpPr>
          <p:cNvPr id="54374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373E292-4E18-47D9-9554-509A47A50FCA}" type="slidenum">
              <a:rPr lang="en-US"/>
              <a:pPr/>
              <a:t>19</a:t>
            </a:fld>
            <a:endParaRPr lang="en-US"/>
          </a:p>
        </p:txBody>
      </p:sp>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DE063DE-22C4-4BB0-9DF9-BD516EB10B2F}" type="slidenum">
              <a:rPr lang="en-US"/>
              <a:pPr/>
              <a:t>20</a:t>
            </a:fld>
            <a:endParaRPr lang="en-US"/>
          </a:p>
        </p:txBody>
      </p:sp>
      <p:sp>
        <p:nvSpPr>
          <p:cNvPr id="545794" name="Rectangle 2"/>
          <p:cNvSpPr>
            <a:spLocks noGrp="1" noRot="1" noChangeAspect="1" noChangeArrowheads="1" noTextEdit="1"/>
          </p:cNvSpPr>
          <p:nvPr>
            <p:ph type="sldImg"/>
          </p:nvPr>
        </p:nvSpPr>
        <p:spPr>
          <a:ln/>
        </p:spPr>
      </p:sp>
      <p:sp>
        <p:nvSpPr>
          <p:cNvPr id="545795"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2/16/2015</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2/16/2015</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2/16/2015</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2/16/2015</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2/16/2015</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2/16/2015</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2/16/2015</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2/16/2015</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2/16/2015</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notesSlide" Target="../notesSlides/notesSlide12.xml"/><Relationship Id="rId18" Type="http://schemas.openxmlformats.org/officeDocument/2006/relationships/image" Target="../media/image12.png"/><Relationship Id="rId3" Type="http://schemas.openxmlformats.org/officeDocument/2006/relationships/tags" Target="../tags/tag24.xml"/><Relationship Id="rId21" Type="http://schemas.openxmlformats.org/officeDocument/2006/relationships/hyperlink" Target="../../MEDIA/2194A_2279A_02_A_DNS.HTML" TargetMode="External"/><Relationship Id="rId7" Type="http://schemas.openxmlformats.org/officeDocument/2006/relationships/tags" Target="../tags/tag28.xml"/><Relationship Id="rId12" Type="http://schemas.openxmlformats.org/officeDocument/2006/relationships/slideLayout" Target="../slideLayouts/slideLayout2.xml"/><Relationship Id="rId17" Type="http://schemas.openxmlformats.org/officeDocument/2006/relationships/image" Target="../media/image11.png"/><Relationship Id="rId2" Type="http://schemas.openxmlformats.org/officeDocument/2006/relationships/tags" Target="../tags/tag23.xml"/><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image" Target="../media/image9.png"/><Relationship Id="rId10" Type="http://schemas.openxmlformats.org/officeDocument/2006/relationships/tags" Target="../tags/tag31.xml"/><Relationship Id="rId19" Type="http://schemas.openxmlformats.org/officeDocument/2006/relationships/image" Target="../media/image13.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image" Target="../media/image8.png"/><Relationship Id="rId22" Type="http://schemas.openxmlformats.org/officeDocument/2006/relationships/image" Target="../media/image15.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image" Target="../media/image19.png"/><Relationship Id="rId3" Type="http://schemas.openxmlformats.org/officeDocument/2006/relationships/tags" Target="../tags/tag43.xml"/><Relationship Id="rId21" Type="http://schemas.openxmlformats.org/officeDocument/2006/relationships/image" Target="../media/image22.png"/><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image" Target="../media/image18.png"/><Relationship Id="rId2" Type="http://schemas.openxmlformats.org/officeDocument/2006/relationships/tags" Target="../tags/tag42.xml"/><Relationship Id="rId16" Type="http://schemas.openxmlformats.org/officeDocument/2006/relationships/notesSlide" Target="../notesSlides/notesSlide19.xml"/><Relationship Id="rId20" Type="http://schemas.openxmlformats.org/officeDocument/2006/relationships/image" Target="../media/image21.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25.png"/><Relationship Id="rId5" Type="http://schemas.openxmlformats.org/officeDocument/2006/relationships/tags" Target="../tags/tag45.xml"/><Relationship Id="rId15" Type="http://schemas.openxmlformats.org/officeDocument/2006/relationships/slideLayout" Target="../slideLayouts/slideLayout2.xml"/><Relationship Id="rId23" Type="http://schemas.openxmlformats.org/officeDocument/2006/relationships/image" Target="../media/image24.png"/><Relationship Id="rId10" Type="http://schemas.openxmlformats.org/officeDocument/2006/relationships/tags" Target="../tags/tag50.xml"/><Relationship Id="rId19" Type="http://schemas.openxmlformats.org/officeDocument/2006/relationships/image" Target="../media/image20.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tags" Target="../tags/tag73.xml"/><Relationship Id="rId26" Type="http://schemas.openxmlformats.org/officeDocument/2006/relationships/tags" Target="../tags/tag81.xml"/><Relationship Id="rId39" Type="http://schemas.openxmlformats.org/officeDocument/2006/relationships/image" Target="../media/image18.png"/><Relationship Id="rId3" Type="http://schemas.openxmlformats.org/officeDocument/2006/relationships/tags" Target="../tags/tag58.xml"/><Relationship Id="rId21" Type="http://schemas.openxmlformats.org/officeDocument/2006/relationships/tags" Target="../tags/tag76.xml"/><Relationship Id="rId34" Type="http://schemas.openxmlformats.org/officeDocument/2006/relationships/tags" Target="../tags/tag89.xml"/><Relationship Id="rId42" Type="http://schemas.openxmlformats.org/officeDocument/2006/relationships/image" Target="../media/image30.png"/><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tags" Target="../tags/tag72.xml"/><Relationship Id="rId25" Type="http://schemas.openxmlformats.org/officeDocument/2006/relationships/tags" Target="../tags/tag80.xml"/><Relationship Id="rId33" Type="http://schemas.openxmlformats.org/officeDocument/2006/relationships/tags" Target="../tags/tag88.xml"/><Relationship Id="rId38" Type="http://schemas.openxmlformats.org/officeDocument/2006/relationships/image" Target="../media/image27.png"/><Relationship Id="rId46" Type="http://schemas.openxmlformats.org/officeDocument/2006/relationships/image" Target="../media/image25.png"/><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tags" Target="../tags/tag75.xml"/><Relationship Id="rId29" Type="http://schemas.openxmlformats.org/officeDocument/2006/relationships/tags" Target="../tags/tag84.xml"/><Relationship Id="rId41" Type="http://schemas.openxmlformats.org/officeDocument/2006/relationships/image" Target="../media/image29.png"/><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24" Type="http://schemas.openxmlformats.org/officeDocument/2006/relationships/tags" Target="../tags/tag79.xml"/><Relationship Id="rId32" Type="http://schemas.openxmlformats.org/officeDocument/2006/relationships/tags" Target="../tags/tag87.xml"/><Relationship Id="rId37" Type="http://schemas.openxmlformats.org/officeDocument/2006/relationships/image" Target="../media/image26.png"/><Relationship Id="rId40" Type="http://schemas.openxmlformats.org/officeDocument/2006/relationships/image" Target="../media/image28.png"/><Relationship Id="rId45" Type="http://schemas.openxmlformats.org/officeDocument/2006/relationships/image" Target="../media/image33.png"/><Relationship Id="rId5" Type="http://schemas.openxmlformats.org/officeDocument/2006/relationships/tags" Target="../tags/tag60.xml"/><Relationship Id="rId15" Type="http://schemas.openxmlformats.org/officeDocument/2006/relationships/tags" Target="../tags/tag70.xml"/><Relationship Id="rId23" Type="http://schemas.openxmlformats.org/officeDocument/2006/relationships/tags" Target="../tags/tag78.xml"/><Relationship Id="rId28" Type="http://schemas.openxmlformats.org/officeDocument/2006/relationships/tags" Target="../tags/tag83.xml"/><Relationship Id="rId36" Type="http://schemas.openxmlformats.org/officeDocument/2006/relationships/notesSlide" Target="../notesSlides/notesSlide20.xml"/><Relationship Id="rId10" Type="http://schemas.openxmlformats.org/officeDocument/2006/relationships/tags" Target="../tags/tag65.xml"/><Relationship Id="rId19" Type="http://schemas.openxmlformats.org/officeDocument/2006/relationships/tags" Target="../tags/tag74.xml"/><Relationship Id="rId31" Type="http://schemas.openxmlformats.org/officeDocument/2006/relationships/tags" Target="../tags/tag86.xml"/><Relationship Id="rId44" Type="http://schemas.openxmlformats.org/officeDocument/2006/relationships/image" Target="../media/image32.png"/><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tags" Target="../tags/tag77.xml"/><Relationship Id="rId27" Type="http://schemas.openxmlformats.org/officeDocument/2006/relationships/tags" Target="../tags/tag82.xml"/><Relationship Id="rId30" Type="http://schemas.openxmlformats.org/officeDocument/2006/relationships/tags" Target="../tags/tag85.xml"/><Relationship Id="rId35" Type="http://schemas.openxmlformats.org/officeDocument/2006/relationships/slideLayout" Target="../slideLayouts/slideLayout2.xml"/><Relationship Id="rId4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ctrTitle"/>
          </p:nvPr>
        </p:nvSpPr>
        <p:spPr>
          <a:xfrm>
            <a:off x="1038452" y="2592388"/>
            <a:ext cx="6443662" cy="3113087"/>
          </a:xfrm>
        </p:spPr>
        <p:txBody>
          <a:bodyPr>
            <a:normAutofit fontScale="90000"/>
          </a:bodyPr>
          <a:lstStyle/>
          <a:p>
            <a:r>
              <a:rPr lang="fr-FR" b="1" dirty="0" smtClean="0">
                <a:solidFill>
                  <a:srgbClr val="000000"/>
                </a:solidFill>
              </a:rPr>
              <a:t>Chapitre 2 </a:t>
            </a:r>
            <a:br>
              <a:rPr lang="fr-FR" b="1" dirty="0" smtClean="0">
                <a:solidFill>
                  <a:srgbClr val="000000"/>
                </a:solidFill>
              </a:rPr>
            </a:br>
            <a:r>
              <a:rPr lang="fr-FR" b="1" dirty="0">
                <a:solidFill>
                  <a:srgbClr val="000000"/>
                </a:solidFill>
              </a:rPr>
              <a:t> </a:t>
            </a:r>
            <a:r>
              <a:rPr lang="fr-FR" b="1" dirty="0" smtClean="0">
                <a:solidFill>
                  <a:srgbClr val="000000"/>
                </a:solidFill>
              </a:rPr>
              <a:t> </a:t>
            </a:r>
            <a:r>
              <a:rPr lang="fr-FR" b="1" dirty="0">
                <a:solidFill>
                  <a:srgbClr val="000000"/>
                </a:solidFill>
              </a:rPr>
              <a:t>Implémentation d'une structure de forêt et de domaine Active Directory </a:t>
            </a:r>
            <a:endParaRPr lang="en-US" b="1" dirty="0">
              <a:solidFill>
                <a:srgbClr val="000000"/>
              </a:solidFill>
            </a:endParaRPr>
          </a:p>
        </p:txBody>
      </p:sp>
      <p:sp>
        <p:nvSpPr>
          <p:cNvPr id="4" name="ZoneTexte 3"/>
          <p:cNvSpPr txBox="1"/>
          <p:nvPr/>
        </p:nvSpPr>
        <p:spPr>
          <a:xfrm>
            <a:off x="2046514" y="624114"/>
            <a:ext cx="4920343" cy="923330"/>
          </a:xfrm>
          <a:prstGeom prst="rect">
            <a:avLst/>
          </a:prstGeom>
          <a:noFill/>
        </p:spPr>
        <p:txBody>
          <a:bodyPr wrap="square" rtlCol="0">
            <a:spAutoFit/>
          </a:bodyPr>
          <a:lstStyle/>
          <a:p>
            <a:r>
              <a:rPr lang="fr-FR" sz="5400" dirty="0" smtClean="0"/>
              <a:t>Module S44</a:t>
            </a:r>
            <a:endParaRPr lang="fr-FR" sz="5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fr-FR" b="1" dirty="0" smtClean="0">
                <a:solidFill>
                  <a:srgbClr val="000000"/>
                </a:solidFill>
              </a:rPr>
              <a:t>Plan du cours</a:t>
            </a:r>
            <a:endParaRPr lang="en-US" b="1" dirty="0"/>
          </a:p>
        </p:txBody>
      </p:sp>
      <p:sp>
        <p:nvSpPr>
          <p:cNvPr id="326659" name="Rectangle 3"/>
          <p:cNvSpPr>
            <a:spLocks noGrp="1" noChangeArrowheads="1"/>
          </p:cNvSpPr>
          <p:nvPr>
            <p:ph sz="quarter" idx="1"/>
          </p:nvPr>
        </p:nvSpPr>
        <p:spPr>
          <a:xfrm>
            <a:off x="301752" y="1933448"/>
            <a:ext cx="8503920" cy="2986895"/>
          </a:xfrm>
        </p:spPr>
        <p:txBody>
          <a:bodyPr/>
          <a:lstStyle/>
          <a:p>
            <a:pPr marL="514350" indent="-514350">
              <a:buClr>
                <a:schemeClr val="tx1"/>
              </a:buClr>
              <a:buFont typeface="+mj-lt"/>
              <a:buAutoNum type="arabicPeriod"/>
            </a:pPr>
            <a:r>
              <a:rPr lang="fr-FR" dirty="0">
                <a:solidFill>
                  <a:srgbClr val="000000"/>
                </a:solidFill>
              </a:rPr>
              <a:t>Création d'une structure de forêt et de domaine</a:t>
            </a:r>
            <a:endParaRPr lang="en-US" dirty="0"/>
          </a:p>
          <a:p>
            <a:pPr marL="514350" indent="-514350">
              <a:buClr>
                <a:schemeClr val="tx1"/>
              </a:buClr>
              <a:buFont typeface="+mj-lt"/>
              <a:buAutoNum type="arabicPeriod"/>
            </a:pPr>
            <a:r>
              <a:rPr lang="fr-FR" dirty="0">
                <a:solidFill>
                  <a:srgbClr val="000000"/>
                </a:solidFill>
              </a:rPr>
              <a:t>Analyse du système DNS intégré à Active Directory</a:t>
            </a:r>
            <a:endParaRPr lang="en-US" dirty="0"/>
          </a:p>
          <a:p>
            <a:pPr marL="514350" indent="-514350">
              <a:buClr>
                <a:schemeClr val="tx1"/>
              </a:buClr>
              <a:buFont typeface="+mj-lt"/>
              <a:buAutoNum type="arabicPeriod"/>
            </a:pPr>
            <a:r>
              <a:rPr lang="fr-FR" dirty="0">
                <a:solidFill>
                  <a:srgbClr val="000000"/>
                </a:solidFill>
              </a:rPr>
              <a:t>Augmentation des niveaux fonctionnels de la forêt et du domaine</a:t>
            </a:r>
            <a:endParaRPr lang="en-US" dirty="0"/>
          </a:p>
          <a:p>
            <a:pPr marL="514350" indent="-514350">
              <a:buClr>
                <a:schemeClr val="tx1"/>
              </a:buClr>
              <a:buFont typeface="+mj-lt"/>
              <a:buAutoNum type="arabicPeriod"/>
            </a:pPr>
            <a:r>
              <a:rPr lang="fr-FR" dirty="0">
                <a:solidFill>
                  <a:srgbClr val="000000"/>
                </a:solidFill>
              </a:rPr>
              <a:t>Création de relations d'approbation</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199572" y="323624"/>
            <a:ext cx="8755742" cy="684212"/>
          </a:xfrm>
        </p:spPr>
        <p:txBody>
          <a:bodyPr>
            <a:normAutofit/>
          </a:bodyPr>
          <a:lstStyle/>
          <a:p>
            <a:r>
              <a:rPr lang="fr-FR" sz="2600" b="1" dirty="0" smtClean="0">
                <a:solidFill>
                  <a:srgbClr val="000000"/>
                </a:solidFill>
              </a:rPr>
              <a:t>1. Création </a:t>
            </a:r>
            <a:r>
              <a:rPr lang="fr-FR" sz="2600" b="1" dirty="0">
                <a:solidFill>
                  <a:srgbClr val="000000"/>
                </a:solidFill>
              </a:rPr>
              <a:t>d'une structure de forêt et de domaine</a:t>
            </a:r>
            <a:endParaRPr lang="en-US" sz="2600" b="1" dirty="0">
              <a:solidFill>
                <a:srgbClr val="000000"/>
              </a:solidFill>
            </a:endParaRPr>
          </a:p>
        </p:txBody>
      </p:sp>
      <p:sp>
        <p:nvSpPr>
          <p:cNvPr id="393219" name="Rectangle 3"/>
          <p:cNvSpPr>
            <a:spLocks noGrp="1" noChangeArrowheads="1"/>
          </p:cNvSpPr>
          <p:nvPr>
            <p:ph sz="quarter" idx="1"/>
          </p:nvPr>
        </p:nvSpPr>
        <p:spPr>
          <a:xfrm>
            <a:off x="330780" y="2107619"/>
            <a:ext cx="8503920" cy="3422324"/>
          </a:xfrm>
        </p:spPr>
        <p:txBody>
          <a:bodyPr>
            <a:normAutofit/>
          </a:bodyPr>
          <a:lstStyle/>
          <a:p>
            <a:pPr>
              <a:lnSpc>
                <a:spcPct val="150000"/>
              </a:lnSpc>
              <a:buClrTx/>
            </a:pPr>
            <a:r>
              <a:rPr lang="fr-FR" sz="2400" b="1" dirty="0">
                <a:solidFill>
                  <a:srgbClr val="C00000"/>
                </a:solidFill>
              </a:rPr>
              <a:t>Conditions requises pour installer Active Directory</a:t>
            </a:r>
            <a:endParaRPr lang="en-US" sz="2400" b="1" dirty="0">
              <a:solidFill>
                <a:srgbClr val="C00000"/>
              </a:solidFill>
            </a:endParaRPr>
          </a:p>
          <a:p>
            <a:pPr>
              <a:lnSpc>
                <a:spcPct val="150000"/>
              </a:lnSpc>
              <a:buClrTx/>
            </a:pPr>
            <a:r>
              <a:rPr lang="fr-FR" sz="2400" b="1" dirty="0">
                <a:solidFill>
                  <a:srgbClr val="C00000"/>
                </a:solidFill>
              </a:rPr>
              <a:t>Processus d'installation d'Active Directory </a:t>
            </a:r>
            <a:endParaRPr lang="en-US" sz="2400" b="1" dirty="0">
              <a:solidFill>
                <a:srgbClr val="C00000"/>
              </a:solidFill>
            </a:endParaRPr>
          </a:p>
          <a:p>
            <a:pPr>
              <a:lnSpc>
                <a:spcPct val="150000"/>
              </a:lnSpc>
              <a:buClrTx/>
            </a:pPr>
            <a:r>
              <a:rPr lang="fr-FR" sz="2400" b="1" dirty="0" smtClean="0">
                <a:solidFill>
                  <a:srgbClr val="C00000"/>
                </a:solidFill>
              </a:rPr>
              <a:t>Comment </a:t>
            </a:r>
            <a:r>
              <a:rPr lang="fr-FR" sz="2400" b="1" dirty="0">
                <a:solidFill>
                  <a:srgbClr val="C00000"/>
                </a:solidFill>
              </a:rPr>
              <a:t>vérifier l'installation d'Active Directory</a:t>
            </a:r>
            <a:endParaRPr lang="en-US" sz="2400" b="1" dirty="0">
              <a:solidFill>
                <a:srgbClr val="C00000"/>
              </a:solidFill>
            </a:endParaRPr>
          </a:p>
          <a:p>
            <a:pPr>
              <a:lnSpc>
                <a:spcPct val="150000"/>
              </a:lnSpc>
              <a:buClrTx/>
            </a:pPr>
            <a:r>
              <a:rPr lang="fr-FR" sz="2400" b="1" dirty="0">
                <a:solidFill>
                  <a:srgbClr val="C00000"/>
                </a:solidFill>
              </a:rPr>
              <a:t>Comment résoudre les problèmes liés à l'installation d'Active Directory</a:t>
            </a:r>
            <a:endParaRPr lang="en-US" sz="2400" b="1" dirty="0">
              <a:solidFill>
                <a:srgbClr val="C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185057" y="266476"/>
            <a:ext cx="8755743" cy="684212"/>
          </a:xfrm>
        </p:spPr>
        <p:txBody>
          <a:bodyPr>
            <a:noAutofit/>
          </a:bodyPr>
          <a:lstStyle/>
          <a:p>
            <a:r>
              <a:rPr lang="fr-FR" sz="3000" b="1" dirty="0">
                <a:solidFill>
                  <a:srgbClr val="C00000"/>
                </a:solidFill>
              </a:rPr>
              <a:t>Conditions requises pour installer </a:t>
            </a:r>
            <a:r>
              <a:rPr lang="fr-FR" sz="3000" b="1" dirty="0" smtClean="0">
                <a:solidFill>
                  <a:srgbClr val="C00000"/>
                </a:solidFill>
              </a:rPr>
              <a:t>AD</a:t>
            </a:r>
            <a:endParaRPr lang="en-US" sz="3000" b="1" dirty="0">
              <a:solidFill>
                <a:srgbClr val="C00000"/>
              </a:solidFill>
            </a:endParaRPr>
          </a:p>
        </p:txBody>
      </p:sp>
      <p:sp>
        <p:nvSpPr>
          <p:cNvPr id="461827" name="Rectangle 3"/>
          <p:cNvSpPr>
            <a:spLocks noGrp="1" noChangeArrowheads="1"/>
          </p:cNvSpPr>
          <p:nvPr>
            <p:ph sz="quarter" idx="1"/>
          </p:nvPr>
        </p:nvSpPr>
        <p:spPr/>
        <p:txBody>
          <a:bodyPr/>
          <a:lstStyle/>
          <a:p>
            <a:pPr>
              <a:buClr>
                <a:srgbClr val="C00000"/>
              </a:buClr>
              <a:buFont typeface="Wingdings" pitchFamily="2" charset="2"/>
              <a:buChar char="q"/>
            </a:pPr>
            <a:r>
              <a:rPr lang="fr-FR" dirty="0">
                <a:solidFill>
                  <a:srgbClr val="000000"/>
                </a:solidFill>
              </a:rPr>
              <a:t>Un ordinateur fonctionnant sous Windows Server 2003</a:t>
            </a:r>
            <a:endParaRPr lang="en-US" dirty="0"/>
          </a:p>
          <a:p>
            <a:pPr>
              <a:buClr>
                <a:srgbClr val="C00000"/>
              </a:buClr>
              <a:buFont typeface="Wingdings" pitchFamily="2" charset="2"/>
              <a:buChar char="q"/>
            </a:pPr>
            <a:r>
              <a:rPr lang="fr-FR" dirty="0">
                <a:solidFill>
                  <a:srgbClr val="000000"/>
                </a:solidFill>
              </a:rPr>
              <a:t>Un espace disque minimum de 250 Mo et une partition formatée NTFS</a:t>
            </a:r>
            <a:endParaRPr lang="en-US" dirty="0"/>
          </a:p>
          <a:p>
            <a:pPr>
              <a:buClr>
                <a:srgbClr val="C00000"/>
              </a:buClr>
              <a:buFont typeface="Wingdings" pitchFamily="2" charset="2"/>
              <a:buChar char="q"/>
            </a:pPr>
            <a:r>
              <a:rPr lang="fr-FR" dirty="0">
                <a:solidFill>
                  <a:srgbClr val="000000"/>
                </a:solidFill>
              </a:rPr>
              <a:t>Des privilèges administratifs pour la création d'un domaine</a:t>
            </a:r>
            <a:endParaRPr lang="en-US" dirty="0">
              <a:solidFill>
                <a:srgbClr val="000000"/>
              </a:solidFill>
            </a:endParaRPr>
          </a:p>
          <a:p>
            <a:pPr>
              <a:buClr>
                <a:srgbClr val="C00000"/>
              </a:buClr>
              <a:buFont typeface="Wingdings" pitchFamily="2" charset="2"/>
              <a:buChar char="q"/>
            </a:pPr>
            <a:r>
              <a:rPr lang="fr-FR" dirty="0">
                <a:solidFill>
                  <a:srgbClr val="000000"/>
                </a:solidFill>
              </a:rPr>
              <a:t>TCP/IP installé et configuré pour utiliser DNS</a:t>
            </a:r>
            <a:endParaRPr lang="en-US" dirty="0"/>
          </a:p>
          <a:p>
            <a:pPr>
              <a:buClr>
                <a:srgbClr val="C00000"/>
              </a:buClr>
              <a:buFont typeface="Wingdings" pitchFamily="2" charset="2"/>
              <a:buChar char="q"/>
            </a:pPr>
            <a:r>
              <a:rPr lang="fr-FR" dirty="0">
                <a:solidFill>
                  <a:srgbClr val="000000"/>
                </a:solidFill>
              </a:rPr>
              <a:t>Un serveur DNS faisant autorité pour gérer les ressources SRV</a:t>
            </a:r>
            <a:endParaRPr lang="en-US"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61827">
                                            <p:txEl>
                                              <p:pRg st="0" end="0"/>
                                            </p:txEl>
                                          </p:spTgt>
                                        </p:tgtEl>
                                        <p:attrNameLst>
                                          <p:attrName>style.visibility</p:attrName>
                                        </p:attrNameLst>
                                      </p:cBhvr>
                                      <p:to>
                                        <p:strVal val="visible"/>
                                      </p:to>
                                    </p:set>
                                    <p:animEffect transition="in" filter="checkerboard(across)">
                                      <p:cBhvr>
                                        <p:cTn id="7" dur="1000"/>
                                        <p:tgtEl>
                                          <p:spTgt spid="461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61827">
                                            <p:txEl>
                                              <p:pRg st="1" end="1"/>
                                            </p:txEl>
                                          </p:spTgt>
                                        </p:tgtEl>
                                        <p:attrNameLst>
                                          <p:attrName>style.visibility</p:attrName>
                                        </p:attrNameLst>
                                      </p:cBhvr>
                                      <p:to>
                                        <p:strVal val="visible"/>
                                      </p:to>
                                    </p:set>
                                    <p:animEffect transition="in" filter="checkerboard(across)">
                                      <p:cBhvr>
                                        <p:cTn id="12" dur="1000"/>
                                        <p:tgtEl>
                                          <p:spTgt spid="461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61827">
                                            <p:txEl>
                                              <p:pRg st="2" end="2"/>
                                            </p:txEl>
                                          </p:spTgt>
                                        </p:tgtEl>
                                        <p:attrNameLst>
                                          <p:attrName>style.visibility</p:attrName>
                                        </p:attrNameLst>
                                      </p:cBhvr>
                                      <p:to>
                                        <p:strVal val="visible"/>
                                      </p:to>
                                    </p:set>
                                    <p:animEffect transition="in" filter="checkerboard(across)">
                                      <p:cBhvr>
                                        <p:cTn id="17" dur="1000"/>
                                        <p:tgtEl>
                                          <p:spTgt spid="4618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61827">
                                            <p:txEl>
                                              <p:pRg st="3" end="3"/>
                                            </p:txEl>
                                          </p:spTgt>
                                        </p:tgtEl>
                                        <p:attrNameLst>
                                          <p:attrName>style.visibility</p:attrName>
                                        </p:attrNameLst>
                                      </p:cBhvr>
                                      <p:to>
                                        <p:strVal val="visible"/>
                                      </p:to>
                                    </p:set>
                                    <p:animEffect transition="in" filter="checkerboard(across)">
                                      <p:cBhvr>
                                        <p:cTn id="22" dur="1000"/>
                                        <p:tgtEl>
                                          <p:spTgt spid="4618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61827">
                                            <p:txEl>
                                              <p:pRg st="4" end="4"/>
                                            </p:txEl>
                                          </p:spTgt>
                                        </p:tgtEl>
                                        <p:attrNameLst>
                                          <p:attrName>style.visibility</p:attrName>
                                        </p:attrNameLst>
                                      </p:cBhvr>
                                      <p:to>
                                        <p:strVal val="visible"/>
                                      </p:to>
                                    </p:set>
                                    <p:animEffect transition="in" filter="checkerboard(across)">
                                      <p:cBhvr>
                                        <p:cTn id="27" dur="1000"/>
                                        <p:tgtEl>
                                          <p:spTgt spid="461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9" name="AutoShape 7"/>
          <p:cNvSpPr>
            <a:spLocks noChangeArrowheads="1"/>
          </p:cNvSpPr>
          <p:nvPr/>
        </p:nvSpPr>
        <p:spPr bwMode="auto">
          <a:xfrm>
            <a:off x="188686" y="1389063"/>
            <a:ext cx="8781143" cy="469741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r>
              <a:rPr lang="fr-FR" sz="2400" dirty="0">
                <a:solidFill>
                  <a:srgbClr val="000000"/>
                </a:solidFill>
              </a:rPr>
              <a:t>Processus d'installation </a:t>
            </a:r>
            <a:endParaRPr lang="en-US" sz="2400" dirty="0"/>
          </a:p>
          <a:p>
            <a:pPr algn="l"/>
            <a:endParaRPr lang="en-US" sz="2400" b="0" dirty="0"/>
          </a:p>
        </p:txBody>
      </p:sp>
      <p:sp>
        <p:nvSpPr>
          <p:cNvPr id="463880" name="AutoShape 8"/>
          <p:cNvSpPr>
            <a:spLocks noChangeArrowheads="1"/>
          </p:cNvSpPr>
          <p:nvPr/>
        </p:nvSpPr>
        <p:spPr bwMode="auto">
          <a:xfrm>
            <a:off x="290286" y="1892300"/>
            <a:ext cx="8534400" cy="40735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20000"/>
              </a:spcBef>
              <a:buSzPct val="80000"/>
              <a:buFontTx/>
              <a:buBlip>
                <a:blip r:embed="rId3"/>
              </a:buBlip>
            </a:pPr>
            <a:r>
              <a:rPr lang="fr-FR" sz="2200" dirty="0">
                <a:solidFill>
                  <a:srgbClr val="000000"/>
                </a:solidFill>
              </a:rPr>
              <a:t>Démarre le protocole de sécurité et définit la stratégie de sécurité</a:t>
            </a:r>
            <a:endParaRPr lang="en-US" sz="2200" dirty="0"/>
          </a:p>
          <a:p>
            <a:pPr marL="231775" indent="-231775" algn="l">
              <a:lnSpc>
                <a:spcPct val="90000"/>
              </a:lnSpc>
              <a:spcBef>
                <a:spcPct val="20000"/>
              </a:spcBef>
              <a:buSzPct val="80000"/>
              <a:buFontTx/>
              <a:buBlip>
                <a:blip r:embed="rId3"/>
              </a:buBlip>
            </a:pPr>
            <a:r>
              <a:rPr lang="fr-FR" sz="2200" dirty="0">
                <a:solidFill>
                  <a:srgbClr val="000000"/>
                </a:solidFill>
              </a:rPr>
              <a:t>Crée :</a:t>
            </a:r>
            <a:r>
              <a:rPr lang="en-US" sz="2200" dirty="0"/>
              <a:t> </a:t>
            </a:r>
          </a:p>
          <a:p>
            <a:pPr marL="682625" lvl="1" indent="-225425" algn="l">
              <a:lnSpc>
                <a:spcPct val="90000"/>
              </a:lnSpc>
              <a:spcBef>
                <a:spcPct val="20000"/>
              </a:spcBef>
              <a:buSzPct val="80000"/>
              <a:buFont typeface="Wingdings" pitchFamily="2" charset="2"/>
              <a:buChar char="q"/>
            </a:pPr>
            <a:r>
              <a:rPr lang="fr-FR" sz="2200" dirty="0">
                <a:solidFill>
                  <a:srgbClr val="000000"/>
                </a:solidFill>
              </a:rPr>
              <a:t>les partitions Active Directory, ainsi que la base de données et les fichiers journaux</a:t>
            </a:r>
            <a:endParaRPr lang="en-US" sz="2200" dirty="0"/>
          </a:p>
          <a:p>
            <a:pPr marL="682625" lvl="1" indent="-225425" algn="l">
              <a:lnSpc>
                <a:spcPct val="90000"/>
              </a:lnSpc>
              <a:spcBef>
                <a:spcPct val="20000"/>
              </a:spcBef>
              <a:buSzPct val="80000"/>
              <a:buFont typeface="Wingdings" pitchFamily="2" charset="2"/>
              <a:buChar char="q"/>
            </a:pPr>
            <a:r>
              <a:rPr lang="fr-FR" sz="2200" dirty="0">
                <a:solidFill>
                  <a:srgbClr val="000000"/>
                </a:solidFill>
              </a:rPr>
              <a:t>le domaine racine de la forêt</a:t>
            </a:r>
            <a:endParaRPr lang="en-US" sz="2200" dirty="0"/>
          </a:p>
          <a:p>
            <a:pPr marL="682625" lvl="1" indent="-225425" algn="l">
              <a:lnSpc>
                <a:spcPct val="90000"/>
              </a:lnSpc>
              <a:spcBef>
                <a:spcPct val="20000"/>
              </a:spcBef>
              <a:buSzPct val="80000"/>
              <a:buFont typeface="Wingdings" pitchFamily="2" charset="2"/>
              <a:buChar char="q"/>
            </a:pPr>
            <a:r>
              <a:rPr lang="fr-FR" sz="2200" dirty="0">
                <a:solidFill>
                  <a:srgbClr val="000000"/>
                </a:solidFill>
              </a:rPr>
              <a:t>le dossier SYSVOL</a:t>
            </a:r>
            <a:endParaRPr lang="en-US" sz="2200" dirty="0"/>
          </a:p>
          <a:p>
            <a:pPr marL="231775" indent="-231775" algn="l">
              <a:lnSpc>
                <a:spcPct val="90000"/>
              </a:lnSpc>
              <a:spcBef>
                <a:spcPct val="20000"/>
              </a:spcBef>
              <a:buSzPct val="80000"/>
              <a:buFontTx/>
              <a:buBlip>
                <a:blip r:embed="rId3"/>
              </a:buBlip>
            </a:pPr>
            <a:r>
              <a:rPr lang="fr-FR" sz="2200" dirty="0">
                <a:solidFill>
                  <a:srgbClr val="000000"/>
                </a:solidFill>
              </a:rPr>
              <a:t>Configure l'appartenance au site du contrôleur de domaine</a:t>
            </a:r>
            <a:endParaRPr lang="en-US" sz="2200" dirty="0"/>
          </a:p>
          <a:p>
            <a:pPr marL="231775" indent="-231775" algn="l">
              <a:lnSpc>
                <a:spcPct val="90000"/>
              </a:lnSpc>
              <a:spcBef>
                <a:spcPct val="20000"/>
              </a:spcBef>
              <a:buSzPct val="80000"/>
              <a:buFontTx/>
              <a:buBlip>
                <a:blip r:embed="rId3"/>
              </a:buBlip>
            </a:pPr>
            <a:r>
              <a:rPr lang="fr-FR" sz="2200" dirty="0">
                <a:solidFill>
                  <a:srgbClr val="000000"/>
                </a:solidFill>
              </a:rPr>
              <a:t>Active la sécurité sur le service d'annuaire et sur les dossiers de réplication de fichier</a:t>
            </a:r>
            <a:endParaRPr lang="en-US" sz="2200" dirty="0"/>
          </a:p>
          <a:p>
            <a:pPr marL="231775" indent="-231775" algn="l">
              <a:lnSpc>
                <a:spcPct val="90000"/>
              </a:lnSpc>
              <a:spcBef>
                <a:spcPct val="20000"/>
              </a:spcBef>
              <a:buSzPct val="80000"/>
              <a:buFontTx/>
              <a:buBlip>
                <a:blip r:embed="rId3"/>
              </a:buBlip>
            </a:pPr>
            <a:r>
              <a:rPr lang="fr-FR" sz="2200" dirty="0">
                <a:solidFill>
                  <a:srgbClr val="000000"/>
                </a:solidFill>
              </a:rPr>
              <a:t>Applique le mot de passe pour le mode de restauration</a:t>
            </a:r>
            <a:endParaRPr lang="en-US" sz="2200" dirty="0">
              <a:solidFill>
                <a:srgbClr val="000000"/>
              </a:solidFill>
            </a:endParaRPr>
          </a:p>
        </p:txBody>
      </p:sp>
      <p:sp>
        <p:nvSpPr>
          <p:cNvPr id="463874" name="Rectangle 2"/>
          <p:cNvSpPr>
            <a:spLocks noGrp="1" noChangeArrowheads="1"/>
          </p:cNvSpPr>
          <p:nvPr>
            <p:ph type="title"/>
          </p:nvPr>
        </p:nvSpPr>
        <p:spPr/>
        <p:txBody>
          <a:bodyPr>
            <a:normAutofit/>
          </a:bodyPr>
          <a:lstStyle/>
          <a:p>
            <a:r>
              <a:rPr lang="fr-FR" sz="3000" b="1" dirty="0">
                <a:solidFill>
                  <a:srgbClr val="C00000"/>
                </a:solidFill>
              </a:rPr>
              <a:t>Processus d'installation d'Active Directory </a:t>
            </a:r>
            <a:endParaRPr lang="en-US" sz="3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63880">
                                            <p:txEl>
                                              <p:pRg st="0" end="0"/>
                                            </p:txEl>
                                          </p:spTgt>
                                        </p:tgtEl>
                                        <p:attrNameLst>
                                          <p:attrName>style.visibility</p:attrName>
                                        </p:attrNameLst>
                                      </p:cBhvr>
                                      <p:to>
                                        <p:strVal val="visible"/>
                                      </p:to>
                                    </p:set>
                                    <p:animEffect transition="in" filter="checkerboard(across)">
                                      <p:cBhvr>
                                        <p:cTn id="7" dur="1000"/>
                                        <p:tgtEl>
                                          <p:spTgt spid="4638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63880">
                                            <p:txEl>
                                              <p:pRg st="1" end="1"/>
                                            </p:txEl>
                                          </p:spTgt>
                                        </p:tgtEl>
                                        <p:attrNameLst>
                                          <p:attrName>style.visibility</p:attrName>
                                        </p:attrNameLst>
                                      </p:cBhvr>
                                      <p:to>
                                        <p:strVal val="visible"/>
                                      </p:to>
                                    </p:set>
                                    <p:animEffect transition="in" filter="checkerboard(across)">
                                      <p:cBhvr>
                                        <p:cTn id="12" dur="1000"/>
                                        <p:tgtEl>
                                          <p:spTgt spid="463880">
                                            <p:txEl>
                                              <p:pRg st="1" end="1"/>
                                            </p:txEl>
                                          </p:spTgt>
                                        </p:tgtEl>
                                      </p:cBhvr>
                                    </p:animEffect>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463880">
                                            <p:txEl>
                                              <p:pRg st="2" end="2"/>
                                            </p:txEl>
                                          </p:spTgt>
                                        </p:tgtEl>
                                        <p:attrNameLst>
                                          <p:attrName>style.visibility</p:attrName>
                                        </p:attrNameLst>
                                      </p:cBhvr>
                                      <p:to>
                                        <p:strVal val="visible"/>
                                      </p:to>
                                    </p:set>
                                    <p:animEffect transition="in" filter="checkerboard(across)">
                                      <p:cBhvr>
                                        <p:cTn id="16" dur="1000"/>
                                        <p:tgtEl>
                                          <p:spTgt spid="463880">
                                            <p:txEl>
                                              <p:pRg st="2" end="2"/>
                                            </p:txEl>
                                          </p:spTgt>
                                        </p:tgtEl>
                                      </p:cBhvr>
                                    </p:animEffect>
                                  </p:childTnLst>
                                </p:cTn>
                              </p:par>
                            </p:childTnLst>
                          </p:cTn>
                        </p:par>
                        <p:par>
                          <p:cTn id="17" fill="hold">
                            <p:stCondLst>
                              <p:cond delay="2000"/>
                            </p:stCondLst>
                            <p:childTnLst>
                              <p:par>
                                <p:cTn id="18" presetID="5" presetClass="entr" presetSubtype="10" fill="hold" nodeType="afterEffect">
                                  <p:stCondLst>
                                    <p:cond delay="0"/>
                                  </p:stCondLst>
                                  <p:childTnLst>
                                    <p:set>
                                      <p:cBhvr>
                                        <p:cTn id="19" dur="1" fill="hold">
                                          <p:stCondLst>
                                            <p:cond delay="0"/>
                                          </p:stCondLst>
                                        </p:cTn>
                                        <p:tgtEl>
                                          <p:spTgt spid="463880">
                                            <p:txEl>
                                              <p:pRg st="3" end="3"/>
                                            </p:txEl>
                                          </p:spTgt>
                                        </p:tgtEl>
                                        <p:attrNameLst>
                                          <p:attrName>style.visibility</p:attrName>
                                        </p:attrNameLst>
                                      </p:cBhvr>
                                      <p:to>
                                        <p:strVal val="visible"/>
                                      </p:to>
                                    </p:set>
                                    <p:animEffect transition="in" filter="checkerboard(across)">
                                      <p:cBhvr>
                                        <p:cTn id="20" dur="1000"/>
                                        <p:tgtEl>
                                          <p:spTgt spid="463880">
                                            <p:txEl>
                                              <p:pRg st="3" end="3"/>
                                            </p:txEl>
                                          </p:spTgt>
                                        </p:tgtEl>
                                      </p:cBhvr>
                                    </p:animEffect>
                                  </p:childTnLst>
                                </p:cTn>
                              </p:par>
                            </p:childTnLst>
                          </p:cTn>
                        </p:par>
                        <p:par>
                          <p:cTn id="21" fill="hold">
                            <p:stCondLst>
                              <p:cond delay="3000"/>
                            </p:stCondLst>
                            <p:childTnLst>
                              <p:par>
                                <p:cTn id="22" presetID="5" presetClass="entr" presetSubtype="10" fill="hold" nodeType="afterEffect">
                                  <p:stCondLst>
                                    <p:cond delay="0"/>
                                  </p:stCondLst>
                                  <p:childTnLst>
                                    <p:set>
                                      <p:cBhvr>
                                        <p:cTn id="23" dur="1" fill="hold">
                                          <p:stCondLst>
                                            <p:cond delay="0"/>
                                          </p:stCondLst>
                                        </p:cTn>
                                        <p:tgtEl>
                                          <p:spTgt spid="463880">
                                            <p:txEl>
                                              <p:pRg st="4" end="4"/>
                                            </p:txEl>
                                          </p:spTgt>
                                        </p:tgtEl>
                                        <p:attrNameLst>
                                          <p:attrName>style.visibility</p:attrName>
                                        </p:attrNameLst>
                                      </p:cBhvr>
                                      <p:to>
                                        <p:strVal val="visible"/>
                                      </p:to>
                                    </p:set>
                                    <p:animEffect transition="in" filter="checkerboard(across)">
                                      <p:cBhvr>
                                        <p:cTn id="24" dur="1000"/>
                                        <p:tgtEl>
                                          <p:spTgt spid="463880">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463880">
                                            <p:txEl>
                                              <p:pRg st="5" end="5"/>
                                            </p:txEl>
                                          </p:spTgt>
                                        </p:tgtEl>
                                        <p:attrNameLst>
                                          <p:attrName>style.visibility</p:attrName>
                                        </p:attrNameLst>
                                      </p:cBhvr>
                                      <p:to>
                                        <p:strVal val="visible"/>
                                      </p:to>
                                    </p:set>
                                    <p:animEffect transition="in" filter="checkerboard(across)">
                                      <p:cBhvr>
                                        <p:cTn id="29" dur="1000"/>
                                        <p:tgtEl>
                                          <p:spTgt spid="463880">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463880">
                                            <p:txEl>
                                              <p:pRg st="6" end="6"/>
                                            </p:txEl>
                                          </p:spTgt>
                                        </p:tgtEl>
                                        <p:attrNameLst>
                                          <p:attrName>style.visibility</p:attrName>
                                        </p:attrNameLst>
                                      </p:cBhvr>
                                      <p:to>
                                        <p:strVal val="visible"/>
                                      </p:to>
                                    </p:set>
                                    <p:animEffect transition="in" filter="checkerboard(across)">
                                      <p:cBhvr>
                                        <p:cTn id="34" dur="1000"/>
                                        <p:tgtEl>
                                          <p:spTgt spid="463880">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463880">
                                            <p:txEl>
                                              <p:pRg st="7" end="7"/>
                                            </p:txEl>
                                          </p:spTgt>
                                        </p:tgtEl>
                                        <p:attrNameLst>
                                          <p:attrName>style.visibility</p:attrName>
                                        </p:attrNameLst>
                                      </p:cBhvr>
                                      <p:to>
                                        <p:strVal val="visible"/>
                                      </p:to>
                                    </p:set>
                                    <p:animEffect transition="in" filter="checkerboard(across)">
                                      <p:cBhvr>
                                        <p:cTn id="39" dur="1000"/>
                                        <p:tgtEl>
                                          <p:spTgt spid="4638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258210" y="315686"/>
            <a:ext cx="8534400" cy="758952"/>
          </a:xfrm>
        </p:spPr>
        <p:txBody>
          <a:bodyPr>
            <a:noAutofit/>
          </a:bodyPr>
          <a:lstStyle/>
          <a:p>
            <a:r>
              <a:rPr lang="fr-FR" sz="3000" b="1" dirty="0">
                <a:solidFill>
                  <a:srgbClr val="C00000"/>
                </a:solidFill>
              </a:rPr>
              <a:t>Comment vérifier l'installation d'Active Directory</a:t>
            </a:r>
            <a:endParaRPr lang="en-US" sz="3000" b="1" dirty="0">
              <a:solidFill>
                <a:srgbClr val="C00000"/>
              </a:solidFill>
            </a:endParaRPr>
          </a:p>
        </p:txBody>
      </p:sp>
      <p:sp>
        <p:nvSpPr>
          <p:cNvPr id="500742" name="AutoShape 6"/>
          <p:cNvSpPr>
            <a:spLocks noChangeArrowheads="1"/>
          </p:cNvSpPr>
          <p:nvPr/>
        </p:nvSpPr>
        <p:spPr bwMode="auto">
          <a:xfrm>
            <a:off x="329292" y="1742621"/>
            <a:ext cx="8466365" cy="335189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3"/>
              </a:buBlip>
            </a:pPr>
            <a:r>
              <a:rPr lang="fr-FR" sz="2600" dirty="0">
                <a:solidFill>
                  <a:srgbClr val="000000"/>
                </a:solidFill>
              </a:rPr>
              <a:t>Contrôler la création de </a:t>
            </a:r>
            <a:r>
              <a:rPr lang="fr-FR" sz="2600" dirty="0" smtClean="0">
                <a:solidFill>
                  <a:srgbClr val="000000"/>
                </a:solidFill>
              </a:rPr>
              <a:t>: </a:t>
            </a:r>
            <a:endParaRPr lang="en-US" sz="2600" dirty="0"/>
          </a:p>
          <a:p>
            <a:pPr marL="682625" lvl="1" indent="-225425" algn="l">
              <a:lnSpc>
                <a:spcPct val="90000"/>
              </a:lnSpc>
              <a:spcBef>
                <a:spcPct val="40000"/>
              </a:spcBef>
              <a:buSzPct val="80000"/>
              <a:buFont typeface="Wingdings" pitchFamily="2" charset="2"/>
              <a:buChar char="q"/>
            </a:pPr>
            <a:r>
              <a:rPr lang="fr-FR" sz="2600" dirty="0">
                <a:solidFill>
                  <a:srgbClr val="000000"/>
                </a:solidFill>
              </a:rPr>
              <a:t>SYSVOL et de ses partages</a:t>
            </a:r>
            <a:endParaRPr lang="en-US" sz="2600" dirty="0"/>
          </a:p>
          <a:p>
            <a:pPr marL="682625" lvl="1" indent="-225425" algn="l">
              <a:lnSpc>
                <a:spcPct val="90000"/>
              </a:lnSpc>
              <a:spcBef>
                <a:spcPct val="40000"/>
              </a:spcBef>
              <a:buSzPct val="80000"/>
              <a:buFont typeface="Wingdings" pitchFamily="2" charset="2"/>
              <a:buChar char="q"/>
            </a:pPr>
            <a:r>
              <a:rPr lang="fr-FR" sz="2600" dirty="0">
                <a:solidFill>
                  <a:srgbClr val="000000"/>
                </a:solidFill>
              </a:rPr>
              <a:t>la base de données d'annuaire et les fichiers journaux</a:t>
            </a:r>
            <a:endParaRPr lang="en-US" sz="2600" dirty="0"/>
          </a:p>
          <a:p>
            <a:pPr marL="682625" lvl="1" indent="-225425" algn="l">
              <a:lnSpc>
                <a:spcPct val="90000"/>
              </a:lnSpc>
              <a:spcBef>
                <a:spcPct val="40000"/>
              </a:spcBef>
              <a:buSzPct val="80000"/>
              <a:buFont typeface="Wingdings" pitchFamily="2" charset="2"/>
              <a:buChar char="q"/>
            </a:pPr>
            <a:r>
              <a:rPr lang="fr-FR" sz="2600" dirty="0">
                <a:solidFill>
                  <a:srgbClr val="000000"/>
                </a:solidFill>
              </a:rPr>
              <a:t>la structure Active Directory par défaut</a:t>
            </a:r>
            <a:endParaRPr lang="en-US" sz="2600" dirty="0"/>
          </a:p>
          <a:p>
            <a:pPr marL="231775" indent="-231775" algn="l">
              <a:lnSpc>
                <a:spcPct val="90000"/>
              </a:lnSpc>
              <a:spcBef>
                <a:spcPct val="40000"/>
              </a:spcBef>
              <a:buSzPct val="80000"/>
              <a:buFontTx/>
              <a:buBlip>
                <a:blip r:embed="rId3"/>
              </a:buBlip>
            </a:pPr>
            <a:r>
              <a:rPr lang="fr-FR" sz="2600" dirty="0">
                <a:solidFill>
                  <a:srgbClr val="000000"/>
                </a:solidFill>
              </a:rPr>
              <a:t>Vérifier les résultats de l'installation en analysant les journaux d'événements</a:t>
            </a:r>
            <a:endParaRPr lang="en-US" sz="26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00742">
                                            <p:txEl>
                                              <p:pRg st="0" end="0"/>
                                            </p:txEl>
                                          </p:spTgt>
                                        </p:tgtEl>
                                        <p:attrNameLst>
                                          <p:attrName>style.visibility</p:attrName>
                                        </p:attrNameLst>
                                      </p:cBhvr>
                                      <p:to>
                                        <p:strVal val="visible"/>
                                      </p:to>
                                    </p:set>
                                    <p:animEffect transition="in" filter="checkerboard(across)">
                                      <p:cBhvr>
                                        <p:cTn id="7" dur="1000"/>
                                        <p:tgtEl>
                                          <p:spTgt spid="500742">
                                            <p:txEl>
                                              <p:pRg st="0" end="0"/>
                                            </p:txEl>
                                          </p:spTgt>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500742">
                                            <p:txEl>
                                              <p:pRg st="1" end="1"/>
                                            </p:txEl>
                                          </p:spTgt>
                                        </p:tgtEl>
                                        <p:attrNameLst>
                                          <p:attrName>style.visibility</p:attrName>
                                        </p:attrNameLst>
                                      </p:cBhvr>
                                      <p:to>
                                        <p:strVal val="visible"/>
                                      </p:to>
                                    </p:set>
                                    <p:animEffect transition="in" filter="checkerboard(across)">
                                      <p:cBhvr>
                                        <p:cTn id="11" dur="1000"/>
                                        <p:tgtEl>
                                          <p:spTgt spid="500742">
                                            <p:txEl>
                                              <p:pRg st="1" end="1"/>
                                            </p:txEl>
                                          </p:spTgt>
                                        </p:tgtEl>
                                      </p:cBhvr>
                                    </p:animEffect>
                                  </p:childTnLst>
                                </p:cTn>
                              </p:par>
                            </p:childTnLst>
                          </p:cTn>
                        </p:par>
                        <p:par>
                          <p:cTn id="12" fill="hold">
                            <p:stCondLst>
                              <p:cond delay="2000"/>
                            </p:stCondLst>
                            <p:childTnLst>
                              <p:par>
                                <p:cTn id="13" presetID="5" presetClass="entr" presetSubtype="10" fill="hold" nodeType="afterEffect">
                                  <p:stCondLst>
                                    <p:cond delay="0"/>
                                  </p:stCondLst>
                                  <p:childTnLst>
                                    <p:set>
                                      <p:cBhvr>
                                        <p:cTn id="14" dur="1" fill="hold">
                                          <p:stCondLst>
                                            <p:cond delay="0"/>
                                          </p:stCondLst>
                                        </p:cTn>
                                        <p:tgtEl>
                                          <p:spTgt spid="500742">
                                            <p:txEl>
                                              <p:pRg st="2" end="2"/>
                                            </p:txEl>
                                          </p:spTgt>
                                        </p:tgtEl>
                                        <p:attrNameLst>
                                          <p:attrName>style.visibility</p:attrName>
                                        </p:attrNameLst>
                                      </p:cBhvr>
                                      <p:to>
                                        <p:strVal val="visible"/>
                                      </p:to>
                                    </p:set>
                                    <p:animEffect transition="in" filter="checkerboard(across)">
                                      <p:cBhvr>
                                        <p:cTn id="15" dur="1000"/>
                                        <p:tgtEl>
                                          <p:spTgt spid="500742">
                                            <p:txEl>
                                              <p:pRg st="2" end="2"/>
                                            </p:txEl>
                                          </p:spTgt>
                                        </p:tgtEl>
                                      </p:cBhvr>
                                    </p:animEffect>
                                  </p:childTnLst>
                                </p:cTn>
                              </p:par>
                            </p:childTnLst>
                          </p:cTn>
                        </p:par>
                        <p:par>
                          <p:cTn id="16" fill="hold">
                            <p:stCondLst>
                              <p:cond delay="3000"/>
                            </p:stCondLst>
                            <p:childTnLst>
                              <p:par>
                                <p:cTn id="17" presetID="5" presetClass="entr" presetSubtype="10" fill="hold" nodeType="afterEffect">
                                  <p:stCondLst>
                                    <p:cond delay="0"/>
                                  </p:stCondLst>
                                  <p:childTnLst>
                                    <p:set>
                                      <p:cBhvr>
                                        <p:cTn id="18" dur="1" fill="hold">
                                          <p:stCondLst>
                                            <p:cond delay="0"/>
                                          </p:stCondLst>
                                        </p:cTn>
                                        <p:tgtEl>
                                          <p:spTgt spid="500742">
                                            <p:txEl>
                                              <p:pRg st="3" end="3"/>
                                            </p:txEl>
                                          </p:spTgt>
                                        </p:tgtEl>
                                        <p:attrNameLst>
                                          <p:attrName>style.visibility</p:attrName>
                                        </p:attrNameLst>
                                      </p:cBhvr>
                                      <p:to>
                                        <p:strVal val="visible"/>
                                      </p:to>
                                    </p:set>
                                    <p:animEffect transition="in" filter="checkerboard(across)">
                                      <p:cBhvr>
                                        <p:cTn id="19" dur="1000"/>
                                        <p:tgtEl>
                                          <p:spTgt spid="50074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500742">
                                            <p:txEl>
                                              <p:pRg st="4" end="4"/>
                                            </p:txEl>
                                          </p:spTgt>
                                        </p:tgtEl>
                                        <p:attrNameLst>
                                          <p:attrName>style.visibility</p:attrName>
                                        </p:attrNameLst>
                                      </p:cBhvr>
                                      <p:to>
                                        <p:strVal val="visible"/>
                                      </p:to>
                                    </p:set>
                                    <p:animEffect transition="in" filter="checkerboard(across)">
                                      <p:cBhvr>
                                        <p:cTn id="24" dur="1000"/>
                                        <p:tgtEl>
                                          <p:spTgt spid="5007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174171" y="344712"/>
            <a:ext cx="8795658" cy="758952"/>
          </a:xfrm>
        </p:spPr>
        <p:txBody>
          <a:bodyPr>
            <a:noAutofit/>
          </a:bodyPr>
          <a:lstStyle/>
          <a:p>
            <a:r>
              <a:rPr lang="fr-FR" sz="3000" b="1" dirty="0">
                <a:solidFill>
                  <a:srgbClr val="C00000"/>
                </a:solidFill>
              </a:rPr>
              <a:t>Comment résoudre les problèmes liés à l'installation d'Active Directory</a:t>
            </a:r>
            <a:endParaRPr lang="en-US" sz="3000" b="1" dirty="0">
              <a:solidFill>
                <a:srgbClr val="C00000"/>
              </a:solidFill>
            </a:endParaRPr>
          </a:p>
        </p:txBody>
      </p:sp>
      <p:graphicFrame>
        <p:nvGraphicFramePr>
          <p:cNvPr id="4" name="Tableau 3"/>
          <p:cNvGraphicFramePr>
            <a:graphicFrameLocks noGrp="1"/>
          </p:cNvGraphicFramePr>
          <p:nvPr/>
        </p:nvGraphicFramePr>
        <p:xfrm>
          <a:off x="174198" y="1251825"/>
          <a:ext cx="8795658" cy="2250246"/>
        </p:xfrm>
        <a:graphic>
          <a:graphicData uri="http://schemas.openxmlformats.org/drawingml/2006/table">
            <a:tbl>
              <a:tblPr/>
              <a:tblGrid>
                <a:gridCol w="2764453"/>
                <a:gridCol w="6031205"/>
              </a:tblGrid>
              <a:tr h="619711">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400" b="1" i="0" u="none" strike="noStrike" cap="none" normalizeH="0" baseline="0" dirty="0" smtClean="0">
                          <a:ln>
                            <a:noFill/>
                          </a:ln>
                          <a:solidFill>
                            <a:srgbClr val="000000"/>
                          </a:solidFill>
                          <a:effectLst/>
                          <a:latin typeface="Arial Narrow" pitchFamily="34" charset="0"/>
                        </a:rPr>
                        <a:t>Symptôme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000000"/>
                          </a:solidFill>
                          <a:effectLst/>
                          <a:latin typeface="Arial Narrow" pitchFamily="34" charset="0"/>
                        </a:rPr>
                        <a:t>Causes éventuelles</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1630535">
                <a:tc>
                  <a:txBody>
                    <a:bodyPr/>
                    <a:lstStyle/>
                    <a:p>
                      <a:pPr marL="0" marR="0" lvl="0" indent="0" algn="l" defTabSz="914400" rtl="0" eaLnBrk="0" fontAlgn="base" latinLnBrk="0" hangingPunct="0">
                        <a:lnSpc>
                          <a:spcPct val="85000"/>
                        </a:lnSpc>
                        <a:spcBef>
                          <a:spcPct val="20000"/>
                        </a:spcBef>
                        <a:spcAft>
                          <a:spcPct val="0"/>
                        </a:spcAft>
                        <a:buClrTx/>
                        <a:buSzTx/>
                        <a:buFontTx/>
                        <a:buNone/>
                        <a:tabLst/>
                      </a:pPr>
                      <a:r>
                        <a:rPr kumimoji="0" lang="fr-FR" sz="2200" b="1" i="0" u="none" strike="noStrike" cap="none" normalizeH="0" baseline="0" dirty="0" smtClean="0">
                          <a:ln>
                            <a:noFill/>
                          </a:ln>
                          <a:solidFill>
                            <a:srgbClr val="000000"/>
                          </a:solidFill>
                          <a:effectLst/>
                          <a:latin typeface="Arial Narrow" pitchFamily="34" charset="0"/>
                        </a:rPr>
                        <a:t>Accès refusé lors de la création ou de l'ajout d'un contrôleur de domaine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Vous n'avez pas ouvert une session avec un compte du groupe Administrateurs locaux</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Vos informations d'identification n'appartiennent pas à un compte d'utilisateur membre du groupe </a:t>
                      </a:r>
                      <a:r>
                        <a:rPr kumimoji="0" lang="fr-FR" sz="2200" b="0" i="0" u="none" strike="noStrike" cap="none" normalizeH="0" baseline="0" dirty="0" err="1" smtClean="0">
                          <a:ln>
                            <a:noFill/>
                          </a:ln>
                          <a:solidFill>
                            <a:srgbClr val="000000"/>
                          </a:solidFill>
                          <a:effectLst/>
                          <a:latin typeface="Arial Narrow" pitchFamily="34" charset="0"/>
                        </a:rPr>
                        <a:t>Admins</a:t>
                      </a:r>
                      <a:r>
                        <a:rPr kumimoji="0" lang="fr-FR" sz="2200" b="0" i="0" u="none" strike="noStrike" cap="none" normalizeH="0" baseline="0" dirty="0" smtClean="0">
                          <a:ln>
                            <a:noFill/>
                          </a:ln>
                          <a:solidFill>
                            <a:srgbClr val="000000"/>
                          </a:solidFill>
                          <a:effectLst/>
                          <a:latin typeface="Arial Narrow" pitchFamily="34" charset="0"/>
                        </a:rPr>
                        <a:t> du domaine ou Administrateurs de l'entreprise</a:t>
                      </a:r>
                      <a:endParaRPr kumimoji="0" lang="en-US" sz="2200" b="0"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5" name="Tableau 4"/>
          <p:cNvGraphicFramePr>
            <a:graphicFrameLocks noGrp="1"/>
          </p:cNvGraphicFramePr>
          <p:nvPr/>
        </p:nvGraphicFramePr>
        <p:xfrm>
          <a:off x="174174" y="3501571"/>
          <a:ext cx="8795658" cy="1080475"/>
        </p:xfrm>
        <a:graphic>
          <a:graphicData uri="http://schemas.openxmlformats.org/drawingml/2006/table">
            <a:tbl>
              <a:tblPr/>
              <a:tblGrid>
                <a:gridCol w="2764453"/>
                <a:gridCol w="6031205"/>
              </a:tblGrid>
              <a:tr h="1080475">
                <a:tc>
                  <a:txBody>
                    <a:bodyPr/>
                    <a:lstStyle/>
                    <a:p>
                      <a:pPr marL="0" marR="0" lvl="0" indent="0" algn="l" defTabSz="914400" rtl="0" eaLnBrk="0" fontAlgn="base" latinLnBrk="0" hangingPunct="0">
                        <a:lnSpc>
                          <a:spcPct val="85000"/>
                        </a:lnSpc>
                        <a:spcBef>
                          <a:spcPct val="20000"/>
                        </a:spcBef>
                        <a:spcAft>
                          <a:spcPct val="0"/>
                        </a:spcAft>
                        <a:buClr>
                          <a:srgbClr val="8DACD0"/>
                        </a:buClr>
                        <a:buSzPct val="70000"/>
                        <a:buFont typeface="Wingdings" pitchFamily="2" charset="2"/>
                        <a:buNone/>
                        <a:tabLst/>
                      </a:pPr>
                      <a:r>
                        <a:rPr kumimoji="0" lang="fr-FR" sz="2200" b="1" i="0" u="none" strike="noStrike" cap="none" normalizeH="0" baseline="0" dirty="0" smtClean="0">
                          <a:ln>
                            <a:noFill/>
                          </a:ln>
                          <a:solidFill>
                            <a:srgbClr val="000000"/>
                          </a:solidFill>
                          <a:effectLst/>
                          <a:latin typeface="Arial Narrow" pitchFamily="34" charset="0"/>
                        </a:rPr>
                        <a:t>Les noms de domaine DNS ou NetBIOS ne sont pas uniques </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Un autre domaine possède le même nom DNS ou NetBIOS</a:t>
                      </a:r>
                      <a:endParaRPr kumimoji="0" lang="en-US" sz="22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6" name="Tableau 5"/>
          <p:cNvGraphicFramePr>
            <a:graphicFrameLocks noGrp="1"/>
          </p:cNvGraphicFramePr>
          <p:nvPr/>
        </p:nvGraphicFramePr>
        <p:xfrm>
          <a:off x="174171" y="5591630"/>
          <a:ext cx="8795658" cy="1016182"/>
        </p:xfrm>
        <a:graphic>
          <a:graphicData uri="http://schemas.openxmlformats.org/drawingml/2006/table">
            <a:tbl>
              <a:tblPr/>
              <a:tblGrid>
                <a:gridCol w="2764453"/>
                <a:gridCol w="6031205"/>
              </a:tblGrid>
              <a:tr h="1016182">
                <a:tc>
                  <a:txBody>
                    <a:bodyPr/>
                    <a:lstStyle/>
                    <a:p>
                      <a:pPr marL="0" marR="0" lvl="0" indent="0" algn="l" defTabSz="914400" rtl="0" eaLnBrk="0" fontAlgn="base" latinLnBrk="0" hangingPunct="0">
                        <a:lnSpc>
                          <a:spcPct val="85000"/>
                        </a:lnSpc>
                        <a:spcBef>
                          <a:spcPct val="20000"/>
                        </a:spcBef>
                        <a:spcAft>
                          <a:spcPct val="0"/>
                        </a:spcAft>
                        <a:buClr>
                          <a:srgbClr val="8DACD0"/>
                        </a:buClr>
                        <a:buSzPct val="70000"/>
                        <a:buFont typeface="Wingdings" pitchFamily="2" charset="2"/>
                        <a:buNone/>
                        <a:tabLst/>
                      </a:pPr>
                      <a:r>
                        <a:rPr kumimoji="0" lang="fr-FR" sz="2200" b="1" i="0" u="none" strike="noStrike" cap="none" normalizeH="0" baseline="0" dirty="0" smtClean="0">
                          <a:ln>
                            <a:noFill/>
                          </a:ln>
                          <a:solidFill>
                            <a:srgbClr val="000000"/>
                          </a:solidFill>
                          <a:effectLst/>
                          <a:latin typeface="Arial Narrow" pitchFamily="34" charset="0"/>
                        </a:rPr>
                        <a:t>Impossible d'accéder au domaine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Erreur réseau</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Erreur DNS</a:t>
                      </a:r>
                      <a:endParaRPr kumimoji="0" lang="en-US" sz="2200" b="0"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 name="Tableau 6"/>
          <p:cNvGraphicFramePr>
            <a:graphicFrameLocks noGrp="1"/>
          </p:cNvGraphicFramePr>
          <p:nvPr/>
        </p:nvGraphicFramePr>
        <p:xfrm>
          <a:off x="174174" y="4590144"/>
          <a:ext cx="8795658" cy="1005467"/>
        </p:xfrm>
        <a:graphic>
          <a:graphicData uri="http://schemas.openxmlformats.org/drawingml/2006/table">
            <a:tbl>
              <a:tblPr/>
              <a:tblGrid>
                <a:gridCol w="2764453"/>
                <a:gridCol w="6031205"/>
              </a:tblGrid>
              <a:tr h="1005467">
                <a:tc>
                  <a:txBody>
                    <a:bodyPr/>
                    <a:lstStyle/>
                    <a:p>
                      <a:pPr marL="0" marR="0" lvl="0" indent="0" algn="l" defTabSz="914400" rtl="0" eaLnBrk="0" fontAlgn="base" latinLnBrk="0" hangingPunct="0">
                        <a:lnSpc>
                          <a:spcPct val="85000"/>
                        </a:lnSpc>
                        <a:spcBef>
                          <a:spcPct val="20000"/>
                        </a:spcBef>
                        <a:spcAft>
                          <a:spcPct val="0"/>
                        </a:spcAft>
                        <a:buClr>
                          <a:srgbClr val="8DACD0"/>
                        </a:buClr>
                        <a:buSzPct val="70000"/>
                        <a:buFont typeface="Wingdings" pitchFamily="2" charset="2"/>
                        <a:buNone/>
                        <a:tabLst/>
                      </a:pPr>
                      <a:r>
                        <a:rPr kumimoji="0" lang="fr-FR" sz="2200" b="1" i="0" u="none" strike="noStrike" cap="none" normalizeH="0" baseline="0" dirty="0" smtClean="0">
                          <a:ln>
                            <a:noFill/>
                          </a:ln>
                          <a:solidFill>
                            <a:srgbClr val="000000"/>
                          </a:solidFill>
                          <a:effectLst/>
                          <a:latin typeface="Arial Narrow" pitchFamily="34" charset="0"/>
                        </a:rPr>
                        <a:t>Espace disque insuffisant</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20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L'espace disque disponible est inférieur au minimum requis pour installer Active Directory</a:t>
                      </a:r>
                      <a:endParaRPr kumimoji="0" lang="en-US" sz="22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5"/>
                                        </p:tgtEl>
                                        <p:attrNameLst>
                                          <p:attrName>style.opacity</p:attrName>
                                        </p:attrNameLst>
                                      </p:cBhvr>
                                      <p:to>
                                        <p:strVal val="0.25"/>
                                      </p:to>
                                    </p:set>
                                    <p:animEffect filter="image" prLst="opacity: 0.25">
                                      <p:cBhvr rctx="IE">
                                        <p:cTn id="7" dur="indefinite"/>
                                        <p:tgtEl>
                                          <p:spTgt spid="5"/>
                                        </p:tgtEl>
                                      </p:cBhvr>
                                    </p:animEffect>
                                  </p:childTnLst>
                                </p:cTn>
                              </p:par>
                              <p:par>
                                <p:cTn id="8" presetID="9" presetClass="emph" presetSubtype="0" nodeType="withEffect">
                                  <p:stCondLst>
                                    <p:cond delay="0"/>
                                  </p:stCondLst>
                                  <p:childTnLst>
                                    <p:set>
                                      <p:cBhvr rctx="PPT">
                                        <p:cTn id="9" dur="indefinite"/>
                                        <p:tgtEl>
                                          <p:spTgt spid="7"/>
                                        </p:tgtEl>
                                        <p:attrNameLst>
                                          <p:attrName>style.opacity</p:attrName>
                                        </p:attrNameLst>
                                      </p:cBhvr>
                                      <p:to>
                                        <p:strVal val="0.25"/>
                                      </p:to>
                                    </p:set>
                                    <p:animEffect filter="image" prLst="opacity: 0.25">
                                      <p:cBhvr rctx="IE">
                                        <p:cTn id="10" dur="indefinite"/>
                                        <p:tgtEl>
                                          <p:spTgt spid="7"/>
                                        </p:tgtEl>
                                      </p:cBhvr>
                                    </p:animEffect>
                                  </p:childTnLst>
                                </p:cTn>
                              </p:par>
                              <p:par>
                                <p:cTn id="11" presetID="9" presetClass="emph" presetSubtype="0" nodeType="withEffect">
                                  <p:stCondLst>
                                    <p:cond delay="0"/>
                                  </p:stCondLst>
                                  <p:childTnLst>
                                    <p:set>
                                      <p:cBhvr rctx="PPT">
                                        <p:cTn id="12" dur="indefinite"/>
                                        <p:tgtEl>
                                          <p:spTgt spid="6"/>
                                        </p:tgtEl>
                                        <p:attrNameLst>
                                          <p:attrName>style.opacity</p:attrName>
                                        </p:attrNameLst>
                                      </p:cBhvr>
                                      <p:to>
                                        <p:strVal val="0.25"/>
                                      </p:to>
                                    </p:set>
                                    <p:animEffect filter="image" prLst="opacity: 0.25">
                                      <p:cBhvr rctx="IE">
                                        <p:cTn id="13" dur="indefinite"/>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mph" presetSubtype="0" nodeType="clickEffect">
                                  <p:stCondLst>
                                    <p:cond delay="0"/>
                                  </p:stCondLst>
                                  <p:childTnLst>
                                    <p:set>
                                      <p:cBhvr rctx="PPT">
                                        <p:cTn id="17" dur="indefinite"/>
                                        <p:tgtEl>
                                          <p:spTgt spid="5"/>
                                        </p:tgtEl>
                                        <p:attrNameLst>
                                          <p:attrName>style.opacity</p:attrName>
                                        </p:attrNameLst>
                                      </p:cBhvr>
                                      <p:to>
                                        <p:strVal val="1"/>
                                      </p:to>
                                    </p:set>
                                    <p:animEffect filter="image" prLst="opacity: 1">
                                      <p:cBhvr rctx="IE">
                                        <p:cTn id="18" dur="indefinite"/>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mph" presetSubtype="0" nodeType="clickEffect">
                                  <p:stCondLst>
                                    <p:cond delay="0"/>
                                  </p:stCondLst>
                                  <p:childTnLst>
                                    <p:set>
                                      <p:cBhvr rctx="PPT">
                                        <p:cTn id="22" dur="indefinite"/>
                                        <p:tgtEl>
                                          <p:spTgt spid="7"/>
                                        </p:tgtEl>
                                        <p:attrNameLst>
                                          <p:attrName>style.opacity</p:attrName>
                                        </p:attrNameLst>
                                      </p:cBhvr>
                                      <p:to>
                                        <p:strVal val="1"/>
                                      </p:to>
                                    </p:set>
                                    <p:animEffect filter="image" prLst="opacity: 1">
                                      <p:cBhvr rctx="IE">
                                        <p:cTn id="23" dur="indefinite"/>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mph" presetSubtype="0" nodeType="clickEffect">
                                  <p:stCondLst>
                                    <p:cond delay="0"/>
                                  </p:stCondLst>
                                  <p:childTnLst>
                                    <p:set>
                                      <p:cBhvr rctx="PPT">
                                        <p:cTn id="27" dur="indefinite"/>
                                        <p:tgtEl>
                                          <p:spTgt spid="6"/>
                                        </p:tgtEl>
                                        <p:attrNameLst>
                                          <p:attrName>style.opacity</p:attrName>
                                        </p:attrNameLst>
                                      </p:cBhvr>
                                      <p:to>
                                        <p:strVal val="1"/>
                                      </p:to>
                                    </p:set>
                                    <p:animEffect filter="image" prLst="opacity: 1">
                                      <p:cBhvr rctx="IE">
                                        <p:cTn id="28"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8" name="Rectangle 4"/>
          <p:cNvSpPr>
            <a:spLocks noGrp="1" noChangeArrowheads="1"/>
          </p:cNvSpPr>
          <p:nvPr>
            <p:ph type="title"/>
          </p:nvPr>
        </p:nvSpPr>
        <p:spPr>
          <a:xfrm>
            <a:off x="199570" y="0"/>
            <a:ext cx="8755743" cy="1138919"/>
          </a:xfrm>
        </p:spPr>
        <p:txBody>
          <a:bodyPr>
            <a:noAutofit/>
          </a:bodyPr>
          <a:lstStyle/>
          <a:p>
            <a:r>
              <a:rPr lang="fr-FR" sz="3000" b="1" dirty="0" smtClean="0">
                <a:solidFill>
                  <a:srgbClr val="000000"/>
                </a:solidFill>
              </a:rPr>
              <a:t>2. Analyse </a:t>
            </a:r>
            <a:r>
              <a:rPr lang="fr-FR" sz="3000" b="1" dirty="0">
                <a:solidFill>
                  <a:srgbClr val="000000"/>
                </a:solidFill>
              </a:rPr>
              <a:t>du système DNS intégré à Active Directory</a:t>
            </a:r>
            <a:endParaRPr lang="en-US" sz="3000" b="1" dirty="0">
              <a:solidFill>
                <a:srgbClr val="000000"/>
              </a:solidFill>
            </a:endParaRPr>
          </a:p>
        </p:txBody>
      </p:sp>
      <p:sp>
        <p:nvSpPr>
          <p:cNvPr id="395269" name="Rectangle 5"/>
          <p:cNvSpPr>
            <a:spLocks noGrp="1" noChangeArrowheads="1"/>
          </p:cNvSpPr>
          <p:nvPr>
            <p:ph sz="quarter" idx="1"/>
          </p:nvPr>
        </p:nvSpPr>
        <p:spPr/>
        <p:txBody>
          <a:bodyPr>
            <a:normAutofit/>
          </a:bodyPr>
          <a:lstStyle/>
          <a:p>
            <a:pPr>
              <a:buClrTx/>
              <a:buFont typeface="Wingdings" pitchFamily="2" charset="2"/>
              <a:buChar char="q"/>
            </a:pPr>
            <a:r>
              <a:rPr lang="fr-FR" dirty="0">
                <a:solidFill>
                  <a:srgbClr val="C00000"/>
                </a:solidFill>
              </a:rPr>
              <a:t>Espaces de noms DNS et Active Directory</a:t>
            </a:r>
            <a:endParaRPr lang="en-US" dirty="0">
              <a:solidFill>
                <a:srgbClr val="C00000"/>
              </a:solidFill>
            </a:endParaRPr>
          </a:p>
          <a:p>
            <a:pPr>
              <a:buClrTx/>
              <a:buFont typeface="Wingdings" pitchFamily="2" charset="2"/>
              <a:buChar char="q"/>
            </a:pPr>
            <a:r>
              <a:rPr lang="fr-FR" dirty="0">
                <a:solidFill>
                  <a:srgbClr val="C00000"/>
                </a:solidFill>
              </a:rPr>
              <a:t>Définition des zones intégrées à Active Directory</a:t>
            </a:r>
            <a:endParaRPr lang="en-US" dirty="0">
              <a:solidFill>
                <a:srgbClr val="C00000"/>
              </a:solidFill>
            </a:endParaRPr>
          </a:p>
          <a:p>
            <a:pPr>
              <a:buClrTx/>
              <a:buFont typeface="Wingdings" pitchFamily="2" charset="2"/>
              <a:buChar char="q"/>
            </a:pPr>
            <a:r>
              <a:rPr lang="fr-FR" dirty="0">
                <a:solidFill>
                  <a:srgbClr val="C00000"/>
                </a:solidFill>
              </a:rPr>
              <a:t>Définition des enregistrements de ressources SRV</a:t>
            </a:r>
            <a:r>
              <a:rPr lang="en-US" dirty="0">
                <a:solidFill>
                  <a:srgbClr val="C00000"/>
                </a:solidFill>
              </a:rPr>
              <a:t> </a:t>
            </a:r>
          </a:p>
          <a:p>
            <a:pPr>
              <a:buClrTx/>
              <a:buFont typeface="Wingdings" pitchFamily="2" charset="2"/>
              <a:buChar char="q"/>
            </a:pPr>
            <a:r>
              <a:rPr lang="fr-FR" dirty="0">
                <a:solidFill>
                  <a:srgbClr val="C00000"/>
                </a:solidFill>
              </a:rPr>
              <a:t>Enregistrements SRV enregistrés par les contrôleurs de domaine</a:t>
            </a:r>
            <a:endParaRPr lang="en-US" dirty="0">
              <a:solidFill>
                <a:srgbClr val="C00000"/>
              </a:solidFill>
            </a:endParaRPr>
          </a:p>
          <a:p>
            <a:pPr>
              <a:buClrTx/>
              <a:buFont typeface="Wingdings" pitchFamily="2" charset="2"/>
              <a:buChar char="q"/>
            </a:pPr>
            <a:r>
              <a:rPr lang="fr-FR" dirty="0">
                <a:solidFill>
                  <a:srgbClr val="C00000"/>
                </a:solidFill>
              </a:rPr>
              <a:t>Comment analyser les enregistrements enregistrés par un contrôleur de domaine</a:t>
            </a:r>
            <a:endParaRPr lang="en-US" dirty="0">
              <a:solidFill>
                <a:srgbClr val="C00000"/>
              </a:solidFill>
            </a:endParaRPr>
          </a:p>
          <a:p>
            <a:pPr>
              <a:buClrTx/>
              <a:buFont typeface="Wingdings" pitchFamily="2" charset="2"/>
              <a:buChar char="q"/>
            </a:pPr>
            <a:r>
              <a:rPr lang="fr-FR" dirty="0" smtClean="0">
                <a:solidFill>
                  <a:srgbClr val="C00000"/>
                </a:solidFill>
              </a:rPr>
              <a:t>Utilisation </a:t>
            </a:r>
            <a:r>
              <a:rPr lang="fr-FR" dirty="0">
                <a:solidFill>
                  <a:srgbClr val="C00000"/>
                </a:solidFill>
              </a:rPr>
              <a:t>de DNS par les ordinateurs clients pour trouver un </a:t>
            </a:r>
            <a:r>
              <a:rPr lang="fr-FR" dirty="0" smtClean="0">
                <a:solidFill>
                  <a:srgbClr val="C00000"/>
                </a:solidFill>
              </a:rPr>
              <a:t>contrôleur </a:t>
            </a:r>
            <a:r>
              <a:rPr lang="fr-FR" dirty="0">
                <a:solidFill>
                  <a:srgbClr val="C00000"/>
                </a:solidFill>
              </a:rPr>
              <a:t>de domaine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8210" name="Picture 2" descr="Site01"/>
          <p:cNvPicPr>
            <a:picLocks noChangeAspect="1" noChangeArrowheads="1"/>
          </p:cNvPicPr>
          <p:nvPr/>
        </p:nvPicPr>
        <p:blipFill>
          <a:blip r:embed="rId4"/>
          <a:srcRect/>
          <a:stretch>
            <a:fillRect/>
          </a:stretch>
        </p:blipFill>
        <p:spPr bwMode="auto">
          <a:xfrm>
            <a:off x="338138" y="3270250"/>
            <a:ext cx="8456612" cy="2566988"/>
          </a:xfrm>
          <a:prstGeom prst="rect">
            <a:avLst/>
          </a:prstGeom>
          <a:noFill/>
        </p:spPr>
      </p:pic>
      <p:sp>
        <p:nvSpPr>
          <p:cNvPr id="478242" name="Line 34"/>
          <p:cNvSpPr>
            <a:spLocks noChangeShapeType="1"/>
          </p:cNvSpPr>
          <p:nvPr/>
        </p:nvSpPr>
        <p:spPr bwMode="auto">
          <a:xfrm flipH="1" flipV="1">
            <a:off x="6450013" y="4049713"/>
            <a:ext cx="506412" cy="527050"/>
          </a:xfrm>
          <a:prstGeom prst="line">
            <a:avLst/>
          </a:prstGeom>
          <a:noFill/>
          <a:ln w="38100">
            <a:solidFill>
              <a:srgbClr val="808080"/>
            </a:solidFill>
            <a:round/>
            <a:headEnd/>
            <a:tailEnd/>
          </a:ln>
          <a:effectLst/>
        </p:spPr>
        <p:txBody>
          <a:bodyPr wrap="none" tIns="594360" anchor="b"/>
          <a:lstStyle/>
          <a:p>
            <a:endParaRPr lang="fr-FR"/>
          </a:p>
        </p:txBody>
      </p:sp>
      <p:pic>
        <p:nvPicPr>
          <p:cNvPr id="478211" name="Picture 3" descr="Internet01"/>
          <p:cNvPicPr>
            <a:picLocks noChangeAspect="1" noChangeArrowheads="1"/>
          </p:cNvPicPr>
          <p:nvPr/>
        </p:nvPicPr>
        <p:blipFill>
          <a:blip r:embed="rId5"/>
          <a:srcRect/>
          <a:stretch>
            <a:fillRect/>
          </a:stretch>
        </p:blipFill>
        <p:spPr bwMode="auto">
          <a:xfrm>
            <a:off x="1335088" y="1711325"/>
            <a:ext cx="1689100" cy="1684338"/>
          </a:xfrm>
          <a:prstGeom prst="rect">
            <a:avLst/>
          </a:prstGeom>
          <a:noFill/>
        </p:spPr>
      </p:pic>
      <p:sp>
        <p:nvSpPr>
          <p:cNvPr id="478212" name="Rectangle 4"/>
          <p:cNvSpPr>
            <a:spLocks noGrp="1" noChangeArrowheads="1"/>
          </p:cNvSpPr>
          <p:nvPr>
            <p:ph type="title"/>
          </p:nvPr>
        </p:nvSpPr>
        <p:spPr/>
        <p:txBody>
          <a:bodyPr>
            <a:normAutofit/>
          </a:bodyPr>
          <a:lstStyle/>
          <a:p>
            <a:r>
              <a:rPr lang="fr-FR" sz="3000" b="1" dirty="0">
                <a:solidFill>
                  <a:srgbClr val="C00000"/>
                </a:solidFill>
              </a:rPr>
              <a:t>Espaces de noms DNS et Active Directory</a:t>
            </a:r>
            <a:endParaRPr lang="en-US" sz="3000" b="1" dirty="0">
              <a:solidFill>
                <a:srgbClr val="C00000"/>
              </a:solidFill>
            </a:endParaRPr>
          </a:p>
        </p:txBody>
      </p:sp>
      <p:sp>
        <p:nvSpPr>
          <p:cNvPr id="478214" name="Line 6"/>
          <p:cNvSpPr>
            <a:spLocks noChangeShapeType="1"/>
          </p:cNvSpPr>
          <p:nvPr/>
        </p:nvSpPr>
        <p:spPr bwMode="auto">
          <a:xfrm flipV="1">
            <a:off x="5062538" y="4037013"/>
            <a:ext cx="506412" cy="527050"/>
          </a:xfrm>
          <a:prstGeom prst="line">
            <a:avLst/>
          </a:prstGeom>
          <a:noFill/>
          <a:ln w="38100">
            <a:solidFill>
              <a:srgbClr val="808080"/>
            </a:solidFill>
            <a:round/>
            <a:headEnd/>
            <a:tailEnd/>
          </a:ln>
          <a:effectLst/>
        </p:spPr>
        <p:txBody>
          <a:bodyPr wrap="none" tIns="594360" anchor="b"/>
          <a:lstStyle/>
          <a:p>
            <a:endParaRPr lang="fr-FR"/>
          </a:p>
        </p:txBody>
      </p:sp>
      <p:sp>
        <p:nvSpPr>
          <p:cNvPr id="478215" name="Text Box 7"/>
          <p:cNvSpPr txBox="1">
            <a:spLocks noChangeArrowheads="1"/>
          </p:cNvSpPr>
          <p:nvPr/>
        </p:nvSpPr>
        <p:spPr bwMode="auto">
          <a:xfrm>
            <a:off x="2997200" y="4186238"/>
            <a:ext cx="1143000" cy="228600"/>
          </a:xfrm>
          <a:prstGeom prst="rect">
            <a:avLst/>
          </a:prstGeom>
          <a:noFill/>
          <a:ln w="12700">
            <a:noFill/>
            <a:miter lim="800000"/>
            <a:headEnd/>
            <a:tailEnd/>
          </a:ln>
          <a:effectLst/>
        </p:spPr>
        <p:txBody>
          <a:bodyPr wrap="none" anchor="ctr"/>
          <a:lstStyle/>
          <a:p>
            <a:r>
              <a:rPr lang="fr-FR">
                <a:solidFill>
                  <a:srgbClr val="000000"/>
                </a:solidFill>
              </a:rPr>
              <a:t>training</a:t>
            </a:r>
            <a:endParaRPr lang="en-US"/>
          </a:p>
        </p:txBody>
      </p:sp>
      <p:sp>
        <p:nvSpPr>
          <p:cNvPr id="478216" name="Text Box 8"/>
          <p:cNvSpPr txBox="1">
            <a:spLocks noChangeArrowheads="1"/>
          </p:cNvSpPr>
          <p:nvPr/>
        </p:nvSpPr>
        <p:spPr bwMode="auto">
          <a:xfrm>
            <a:off x="2381250" y="3652838"/>
            <a:ext cx="1514475" cy="207962"/>
          </a:xfrm>
          <a:prstGeom prst="rect">
            <a:avLst/>
          </a:prstGeom>
          <a:noFill/>
          <a:ln w="12700">
            <a:noFill/>
            <a:miter lim="800000"/>
            <a:headEnd/>
            <a:tailEnd/>
          </a:ln>
          <a:effectLst/>
        </p:spPr>
        <p:txBody>
          <a:bodyPr wrap="none" anchor="ctr"/>
          <a:lstStyle/>
          <a:p>
            <a:r>
              <a:rPr lang="fr-FR">
                <a:solidFill>
                  <a:srgbClr val="000000"/>
                </a:solidFill>
              </a:rPr>
              <a:t>microsoft</a:t>
            </a:r>
            <a:endParaRPr lang="en-US"/>
          </a:p>
        </p:txBody>
      </p:sp>
      <p:sp>
        <p:nvSpPr>
          <p:cNvPr id="478217" name="Line 9"/>
          <p:cNvSpPr>
            <a:spLocks noChangeShapeType="1"/>
          </p:cNvSpPr>
          <p:nvPr/>
        </p:nvSpPr>
        <p:spPr bwMode="auto">
          <a:xfrm>
            <a:off x="2192338" y="2357438"/>
            <a:ext cx="0" cy="1314450"/>
          </a:xfrm>
          <a:prstGeom prst="line">
            <a:avLst/>
          </a:prstGeom>
          <a:noFill/>
          <a:ln w="38100">
            <a:solidFill>
              <a:schemeClr val="tx1"/>
            </a:solidFill>
            <a:round/>
            <a:headEnd/>
            <a:tailEnd/>
          </a:ln>
          <a:effectLst/>
        </p:spPr>
        <p:txBody>
          <a:bodyPr wrap="none" lIns="45720" rIns="45720" anchor="ctr"/>
          <a:lstStyle/>
          <a:p>
            <a:endParaRPr lang="fr-FR"/>
          </a:p>
        </p:txBody>
      </p:sp>
      <p:sp>
        <p:nvSpPr>
          <p:cNvPr id="478218" name="Text Box 10"/>
          <p:cNvSpPr txBox="1">
            <a:spLocks noChangeArrowheads="1"/>
          </p:cNvSpPr>
          <p:nvPr/>
        </p:nvSpPr>
        <p:spPr bwMode="auto">
          <a:xfrm>
            <a:off x="742889" y="5945188"/>
            <a:ext cx="1514475" cy="207962"/>
          </a:xfrm>
          <a:prstGeom prst="rect">
            <a:avLst/>
          </a:prstGeom>
          <a:noFill/>
          <a:ln w="12700">
            <a:noFill/>
            <a:miter lim="800000"/>
            <a:headEnd/>
            <a:tailEnd/>
          </a:ln>
          <a:effectLst/>
        </p:spPr>
        <p:txBody>
          <a:bodyPr wrap="none" anchor="ctr"/>
          <a:lstStyle/>
          <a:p>
            <a:pPr algn="l"/>
            <a:r>
              <a:rPr lang="fr-FR" dirty="0">
                <a:solidFill>
                  <a:srgbClr val="000000"/>
                </a:solidFill>
              </a:rPr>
              <a:t>= nœud DNS (domaine ou ordinateur)</a:t>
            </a:r>
            <a:endParaRPr lang="en-US" dirty="0"/>
          </a:p>
        </p:txBody>
      </p:sp>
      <p:sp>
        <p:nvSpPr>
          <p:cNvPr id="478219" name="Oval 11"/>
          <p:cNvSpPr>
            <a:spLocks noChangeArrowheads="1"/>
          </p:cNvSpPr>
          <p:nvPr/>
        </p:nvSpPr>
        <p:spPr bwMode="auto">
          <a:xfrm>
            <a:off x="212664" y="5910263"/>
            <a:ext cx="530225" cy="27622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sp>
        <p:nvSpPr>
          <p:cNvPr id="478220" name="Text Box 12"/>
          <p:cNvSpPr txBox="1">
            <a:spLocks noChangeArrowheads="1"/>
          </p:cNvSpPr>
          <p:nvPr/>
        </p:nvSpPr>
        <p:spPr bwMode="auto">
          <a:xfrm>
            <a:off x="6318928" y="5945188"/>
            <a:ext cx="1514475" cy="207962"/>
          </a:xfrm>
          <a:prstGeom prst="rect">
            <a:avLst/>
          </a:prstGeom>
          <a:noFill/>
          <a:ln w="12700">
            <a:noFill/>
            <a:miter lim="800000"/>
            <a:headEnd/>
            <a:tailEnd/>
          </a:ln>
          <a:effectLst/>
        </p:spPr>
        <p:txBody>
          <a:bodyPr wrap="none" anchor="ctr"/>
          <a:lstStyle/>
          <a:p>
            <a:pPr algn="l"/>
            <a:r>
              <a:rPr lang="fr-FR">
                <a:solidFill>
                  <a:srgbClr val="000000"/>
                </a:solidFill>
              </a:rPr>
              <a:t>= Domaine Active Directory</a:t>
            </a:r>
            <a:endParaRPr lang="en-US"/>
          </a:p>
        </p:txBody>
      </p:sp>
      <p:sp>
        <p:nvSpPr>
          <p:cNvPr id="478221" name="Text Box 13"/>
          <p:cNvSpPr txBox="1">
            <a:spLocks noChangeArrowheads="1"/>
          </p:cNvSpPr>
          <p:nvPr/>
        </p:nvSpPr>
        <p:spPr bwMode="auto">
          <a:xfrm>
            <a:off x="766763" y="4483100"/>
            <a:ext cx="635000" cy="241300"/>
          </a:xfrm>
          <a:prstGeom prst="rect">
            <a:avLst/>
          </a:prstGeom>
          <a:noFill/>
          <a:ln w="12700">
            <a:noFill/>
            <a:miter lim="800000"/>
            <a:headEnd/>
            <a:tailEnd/>
          </a:ln>
          <a:effectLst/>
        </p:spPr>
        <p:txBody>
          <a:bodyPr wrap="none" anchor="ctr"/>
          <a:lstStyle/>
          <a:p>
            <a:r>
              <a:rPr lang="fr-FR">
                <a:solidFill>
                  <a:srgbClr val="000000"/>
                </a:solidFill>
              </a:rPr>
              <a:t>sales</a:t>
            </a:r>
            <a:endParaRPr lang="en-US"/>
          </a:p>
        </p:txBody>
      </p:sp>
      <p:sp>
        <p:nvSpPr>
          <p:cNvPr id="478222" name="Text Box 14"/>
          <p:cNvSpPr txBox="1">
            <a:spLocks noChangeArrowheads="1"/>
          </p:cNvSpPr>
          <p:nvPr/>
        </p:nvSpPr>
        <p:spPr bwMode="auto">
          <a:xfrm>
            <a:off x="2257425" y="5253038"/>
            <a:ext cx="1143000" cy="228600"/>
          </a:xfrm>
          <a:prstGeom prst="rect">
            <a:avLst/>
          </a:prstGeom>
          <a:noFill/>
          <a:ln w="12700">
            <a:noFill/>
            <a:miter lim="800000"/>
            <a:headEnd/>
            <a:tailEnd/>
          </a:ln>
          <a:effectLst/>
        </p:spPr>
        <p:txBody>
          <a:bodyPr wrap="none" anchor="ctr"/>
          <a:lstStyle/>
          <a:p>
            <a:r>
              <a:rPr lang="fr-FR">
                <a:solidFill>
                  <a:srgbClr val="000000"/>
                </a:solidFill>
              </a:rPr>
              <a:t>computer1</a:t>
            </a:r>
            <a:endParaRPr lang="en-US"/>
          </a:p>
        </p:txBody>
      </p:sp>
      <p:sp>
        <p:nvSpPr>
          <p:cNvPr id="478223" name="Text Box 15"/>
          <p:cNvSpPr txBox="1">
            <a:spLocks noChangeArrowheads="1"/>
          </p:cNvSpPr>
          <p:nvPr/>
        </p:nvSpPr>
        <p:spPr bwMode="auto">
          <a:xfrm>
            <a:off x="3257550" y="1958975"/>
            <a:ext cx="1720850" cy="207963"/>
          </a:xfrm>
          <a:prstGeom prst="rect">
            <a:avLst/>
          </a:prstGeom>
          <a:noFill/>
          <a:ln w="12700">
            <a:noFill/>
            <a:miter lim="800000"/>
            <a:headEnd/>
            <a:tailEnd/>
          </a:ln>
          <a:effectLst/>
        </p:spPr>
        <p:txBody>
          <a:bodyPr wrap="none" anchor="ctr"/>
          <a:lstStyle/>
          <a:p>
            <a:pPr algn="l"/>
            <a:r>
              <a:rPr lang="fr-FR">
                <a:solidFill>
                  <a:srgbClr val="000000"/>
                </a:solidFill>
              </a:rPr>
              <a:t>Domaine racine DNS</a:t>
            </a:r>
            <a:endParaRPr lang="en-US"/>
          </a:p>
        </p:txBody>
      </p:sp>
      <p:sp>
        <p:nvSpPr>
          <p:cNvPr id="478224" name="Oval 16"/>
          <p:cNvSpPr>
            <a:spLocks noChangeArrowheads="1"/>
          </p:cNvSpPr>
          <p:nvPr>
            <p:custDataLst>
              <p:tags r:id="rId1"/>
            </p:custDataLst>
          </p:nvPr>
        </p:nvSpPr>
        <p:spPr bwMode="auto">
          <a:xfrm>
            <a:off x="1774825" y="1833563"/>
            <a:ext cx="833438" cy="484187"/>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US" sz="2400">
                <a:effectLst>
                  <a:outerShdw blurRad="38100" dist="38100" dir="2700000" algn="tl">
                    <a:srgbClr val="FFFFFF"/>
                  </a:outerShdw>
                </a:effectLst>
                <a:latin typeface="Arial" charset="0"/>
              </a:rPr>
              <a:t>« . »</a:t>
            </a:r>
          </a:p>
        </p:txBody>
      </p:sp>
      <p:sp>
        <p:nvSpPr>
          <p:cNvPr id="478225" name="Oval 17"/>
          <p:cNvSpPr>
            <a:spLocks noChangeArrowheads="1"/>
          </p:cNvSpPr>
          <p:nvPr/>
        </p:nvSpPr>
        <p:spPr bwMode="auto">
          <a:xfrm>
            <a:off x="1774825" y="2544763"/>
            <a:ext cx="833438" cy="484187"/>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fr-FR" dirty="0" err="1" smtClean="0">
                <a:solidFill>
                  <a:srgbClr val="000000"/>
                </a:solidFill>
                <a:effectLst>
                  <a:outerShdw blurRad="38100" dist="38100" dir="2700000" algn="tl">
                    <a:srgbClr val="FFFFFF"/>
                  </a:outerShdw>
                </a:effectLst>
                <a:latin typeface="Arial" charset="0"/>
              </a:rPr>
              <a:t>msft</a:t>
            </a:r>
            <a:r>
              <a:rPr lang="fr-FR" dirty="0" smtClean="0">
                <a:solidFill>
                  <a:srgbClr val="000000"/>
                </a:solidFill>
                <a:effectLst>
                  <a:outerShdw blurRad="38100" dist="38100" dir="2700000" algn="tl">
                    <a:srgbClr val="FFFFFF"/>
                  </a:outerShdw>
                </a:effectLst>
                <a:latin typeface="Arial" charset="0"/>
              </a:rPr>
              <a:t>.</a:t>
            </a:r>
            <a:endParaRPr lang="en-US" dirty="0">
              <a:effectLst>
                <a:outerShdw blurRad="38100" dist="38100" dir="2700000" algn="tl">
                  <a:srgbClr val="FFFFFF"/>
                </a:outerShdw>
              </a:effectLst>
              <a:latin typeface="Arial" charset="0"/>
            </a:endParaRPr>
          </a:p>
        </p:txBody>
      </p:sp>
      <p:sp>
        <p:nvSpPr>
          <p:cNvPr id="478226" name="Line 18"/>
          <p:cNvSpPr>
            <a:spLocks noChangeShapeType="1"/>
          </p:cNvSpPr>
          <p:nvPr/>
        </p:nvSpPr>
        <p:spPr bwMode="auto">
          <a:xfrm>
            <a:off x="2811463" y="4235450"/>
            <a:ext cx="0" cy="833438"/>
          </a:xfrm>
          <a:prstGeom prst="line">
            <a:avLst/>
          </a:prstGeom>
          <a:noFill/>
          <a:ln w="38100">
            <a:solidFill>
              <a:schemeClr val="tx1"/>
            </a:solidFill>
            <a:round/>
            <a:headEnd/>
            <a:tailEnd/>
          </a:ln>
          <a:effectLst/>
        </p:spPr>
        <p:txBody>
          <a:bodyPr wrap="none" lIns="45720" rIns="45720" anchor="ctr"/>
          <a:lstStyle/>
          <a:p>
            <a:endParaRPr lang="fr-FR"/>
          </a:p>
        </p:txBody>
      </p:sp>
      <p:sp>
        <p:nvSpPr>
          <p:cNvPr id="478227" name="Freeform 19"/>
          <p:cNvSpPr>
            <a:spLocks/>
          </p:cNvSpPr>
          <p:nvPr/>
        </p:nvSpPr>
        <p:spPr bwMode="auto">
          <a:xfrm>
            <a:off x="1522413" y="3729038"/>
            <a:ext cx="1222375" cy="568325"/>
          </a:xfrm>
          <a:custGeom>
            <a:avLst/>
            <a:gdLst/>
            <a:ahLst/>
            <a:cxnLst>
              <a:cxn ang="0">
                <a:pos x="0" y="358"/>
              </a:cxn>
              <a:cxn ang="0">
                <a:pos x="412" y="0"/>
              </a:cxn>
              <a:cxn ang="0">
                <a:pos x="770" y="358"/>
              </a:cxn>
            </a:cxnLst>
            <a:rect l="0" t="0" r="r" b="b"/>
            <a:pathLst>
              <a:path w="770" h="358">
                <a:moveTo>
                  <a:pt x="0" y="358"/>
                </a:moveTo>
                <a:lnTo>
                  <a:pt x="412" y="0"/>
                </a:lnTo>
                <a:lnTo>
                  <a:pt x="770" y="358"/>
                </a:lnTo>
              </a:path>
            </a:pathLst>
          </a:custGeom>
          <a:noFill/>
          <a:ln w="38100" cap="flat" cmpd="sng">
            <a:solidFill>
              <a:schemeClr val="tx1"/>
            </a:solidFill>
            <a:prstDash val="solid"/>
            <a:round/>
            <a:headEnd type="none" w="med" len="med"/>
            <a:tailEnd type="none" w="med" len="med"/>
          </a:ln>
          <a:effectLst/>
        </p:spPr>
        <p:txBody>
          <a:bodyPr wrap="none" lIns="45720" rIns="45720" anchor="ctr"/>
          <a:lstStyle/>
          <a:p>
            <a:endParaRPr lang="fr-FR"/>
          </a:p>
        </p:txBody>
      </p:sp>
      <p:sp>
        <p:nvSpPr>
          <p:cNvPr id="478228" name="Oval 20"/>
          <p:cNvSpPr>
            <a:spLocks noChangeArrowheads="1"/>
          </p:cNvSpPr>
          <p:nvPr/>
        </p:nvSpPr>
        <p:spPr bwMode="auto">
          <a:xfrm>
            <a:off x="1841500" y="3579813"/>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sp>
        <p:nvSpPr>
          <p:cNvPr id="478229" name="Oval 21"/>
          <p:cNvSpPr>
            <a:spLocks noChangeArrowheads="1"/>
          </p:cNvSpPr>
          <p:nvPr/>
        </p:nvSpPr>
        <p:spPr bwMode="auto">
          <a:xfrm>
            <a:off x="1127125" y="4111625"/>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sp>
        <p:nvSpPr>
          <p:cNvPr id="478230" name="Oval 22"/>
          <p:cNvSpPr>
            <a:spLocks noChangeArrowheads="1"/>
          </p:cNvSpPr>
          <p:nvPr/>
        </p:nvSpPr>
        <p:spPr bwMode="auto">
          <a:xfrm>
            <a:off x="2436813" y="4111625"/>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sp>
        <p:nvSpPr>
          <p:cNvPr id="478231" name="Oval 23"/>
          <p:cNvSpPr>
            <a:spLocks noChangeArrowheads="1"/>
          </p:cNvSpPr>
          <p:nvPr/>
        </p:nvSpPr>
        <p:spPr bwMode="auto">
          <a:xfrm>
            <a:off x="2436813" y="4767263"/>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sp>
        <p:nvSpPr>
          <p:cNvPr id="478232" name="AutoShape 24"/>
          <p:cNvSpPr>
            <a:spLocks noChangeArrowheads="1"/>
          </p:cNvSpPr>
          <p:nvPr/>
        </p:nvSpPr>
        <p:spPr bwMode="auto">
          <a:xfrm>
            <a:off x="1114425" y="1260475"/>
            <a:ext cx="2117725" cy="3810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solidFill>
                  <a:srgbClr val="000000"/>
                </a:solidFill>
              </a:rPr>
              <a:t>Espace de noms DNS</a:t>
            </a:r>
            <a:endParaRPr lang="en-US"/>
          </a:p>
        </p:txBody>
      </p:sp>
      <p:sp>
        <p:nvSpPr>
          <p:cNvPr id="478233" name="AutoShape 25"/>
          <p:cNvSpPr>
            <a:spLocks noChangeArrowheads="1"/>
          </p:cNvSpPr>
          <p:nvPr/>
        </p:nvSpPr>
        <p:spPr bwMode="auto">
          <a:xfrm>
            <a:off x="4130675" y="2741613"/>
            <a:ext cx="3197225" cy="3810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solidFill>
                  <a:srgbClr val="000000"/>
                </a:solidFill>
              </a:rPr>
              <a:t>Espace de noms Active Directory</a:t>
            </a:r>
            <a:endParaRPr lang="en-US"/>
          </a:p>
        </p:txBody>
      </p:sp>
      <p:pic>
        <p:nvPicPr>
          <p:cNvPr id="478234" name="Picture 26" descr="2Domain01"/>
          <p:cNvPicPr>
            <a:picLocks noChangeAspect="1" noChangeArrowheads="1"/>
          </p:cNvPicPr>
          <p:nvPr/>
        </p:nvPicPr>
        <p:blipFill>
          <a:blip r:embed="rId6" cstate="print"/>
          <a:srcRect/>
          <a:stretch>
            <a:fillRect/>
          </a:stretch>
        </p:blipFill>
        <p:spPr bwMode="auto">
          <a:xfrm>
            <a:off x="5518150" y="3217863"/>
            <a:ext cx="979488" cy="863600"/>
          </a:xfrm>
          <a:prstGeom prst="rect">
            <a:avLst/>
          </a:prstGeom>
          <a:noFill/>
        </p:spPr>
      </p:pic>
      <p:sp>
        <p:nvSpPr>
          <p:cNvPr id="478235" name="Text Box 27"/>
          <p:cNvSpPr txBox="1">
            <a:spLocks noChangeArrowheads="1"/>
          </p:cNvSpPr>
          <p:nvPr/>
        </p:nvSpPr>
        <p:spPr bwMode="auto">
          <a:xfrm>
            <a:off x="5259388" y="3736975"/>
            <a:ext cx="1527175" cy="304800"/>
          </a:xfrm>
          <a:prstGeom prst="rect">
            <a:avLst/>
          </a:prstGeom>
          <a:noFill/>
          <a:ln w="12700">
            <a:noFill/>
            <a:miter lim="800000"/>
            <a:headEnd/>
            <a:tailEnd/>
          </a:ln>
          <a:effectLst/>
        </p:spPr>
        <p:txBody>
          <a:bodyPr wrap="none" anchor="ctr"/>
          <a:lstStyle/>
          <a:p>
            <a:r>
              <a:rPr lang="fr-FR">
                <a:solidFill>
                  <a:srgbClr val="000000"/>
                </a:solidFill>
              </a:rPr>
              <a:t>microsoft.msft</a:t>
            </a:r>
            <a:endParaRPr lang="en-US"/>
          </a:p>
        </p:txBody>
      </p:sp>
      <p:pic>
        <p:nvPicPr>
          <p:cNvPr id="478236" name="Picture 28" descr="2Domain01"/>
          <p:cNvPicPr>
            <a:picLocks noChangeAspect="1" noChangeArrowheads="1"/>
          </p:cNvPicPr>
          <p:nvPr/>
        </p:nvPicPr>
        <p:blipFill>
          <a:blip r:embed="rId6" cstate="print"/>
          <a:srcRect/>
          <a:stretch>
            <a:fillRect/>
          </a:stretch>
        </p:blipFill>
        <p:spPr bwMode="auto">
          <a:xfrm>
            <a:off x="4437063" y="4054475"/>
            <a:ext cx="979487" cy="863600"/>
          </a:xfrm>
          <a:prstGeom prst="rect">
            <a:avLst/>
          </a:prstGeom>
          <a:noFill/>
        </p:spPr>
      </p:pic>
      <p:sp>
        <p:nvSpPr>
          <p:cNvPr id="478237" name="Text Box 29"/>
          <p:cNvSpPr txBox="1">
            <a:spLocks noChangeArrowheads="1"/>
          </p:cNvSpPr>
          <p:nvPr/>
        </p:nvSpPr>
        <p:spPr bwMode="auto">
          <a:xfrm>
            <a:off x="3876675" y="4992688"/>
            <a:ext cx="1946275" cy="207962"/>
          </a:xfrm>
          <a:prstGeom prst="rect">
            <a:avLst/>
          </a:prstGeom>
          <a:noFill/>
          <a:ln w="12700">
            <a:noFill/>
            <a:miter lim="800000"/>
            <a:headEnd/>
            <a:tailEnd/>
          </a:ln>
          <a:effectLst/>
        </p:spPr>
        <p:txBody>
          <a:bodyPr wrap="none" anchor="ctr"/>
          <a:lstStyle/>
          <a:p>
            <a:r>
              <a:rPr lang="fr-FR">
                <a:solidFill>
                  <a:srgbClr val="000000"/>
                </a:solidFill>
              </a:rPr>
              <a:t>sales.microsoft.msft</a:t>
            </a:r>
            <a:endParaRPr lang="en-US"/>
          </a:p>
        </p:txBody>
      </p:sp>
      <p:pic>
        <p:nvPicPr>
          <p:cNvPr id="478238" name="Picture 30" descr="2Domain01"/>
          <p:cNvPicPr>
            <a:picLocks noChangeAspect="1" noChangeArrowheads="1"/>
          </p:cNvPicPr>
          <p:nvPr/>
        </p:nvPicPr>
        <p:blipFill>
          <a:blip r:embed="rId6" cstate="print"/>
          <a:srcRect/>
          <a:stretch>
            <a:fillRect/>
          </a:stretch>
        </p:blipFill>
        <p:spPr bwMode="auto">
          <a:xfrm>
            <a:off x="6546850" y="4052888"/>
            <a:ext cx="979488" cy="863600"/>
          </a:xfrm>
          <a:prstGeom prst="rect">
            <a:avLst/>
          </a:prstGeom>
          <a:noFill/>
        </p:spPr>
      </p:pic>
      <p:sp>
        <p:nvSpPr>
          <p:cNvPr id="478239" name="Text Box 31"/>
          <p:cNvSpPr txBox="1">
            <a:spLocks noChangeArrowheads="1"/>
          </p:cNvSpPr>
          <p:nvPr/>
        </p:nvSpPr>
        <p:spPr bwMode="auto">
          <a:xfrm>
            <a:off x="6091238" y="4976813"/>
            <a:ext cx="2093912" cy="207962"/>
          </a:xfrm>
          <a:prstGeom prst="rect">
            <a:avLst/>
          </a:prstGeom>
          <a:noFill/>
          <a:ln w="12700">
            <a:noFill/>
            <a:miter lim="800000"/>
            <a:headEnd/>
            <a:tailEnd/>
          </a:ln>
          <a:effectLst/>
        </p:spPr>
        <p:txBody>
          <a:bodyPr wrap="none" anchor="ctr"/>
          <a:lstStyle/>
          <a:p>
            <a:r>
              <a:rPr lang="fr-FR">
                <a:solidFill>
                  <a:srgbClr val="000000"/>
                </a:solidFill>
              </a:rPr>
              <a:t>training.microsoft.msft</a:t>
            </a:r>
            <a:endParaRPr lang="en-US"/>
          </a:p>
        </p:txBody>
      </p:sp>
      <p:pic>
        <p:nvPicPr>
          <p:cNvPr id="478240" name="Picture 32" descr="2Domain01"/>
          <p:cNvPicPr>
            <a:picLocks noChangeAspect="1" noChangeArrowheads="1"/>
          </p:cNvPicPr>
          <p:nvPr/>
        </p:nvPicPr>
        <p:blipFill>
          <a:blip r:embed="rId7" cstate="print"/>
          <a:srcRect/>
          <a:stretch>
            <a:fillRect/>
          </a:stretch>
        </p:blipFill>
        <p:spPr bwMode="auto">
          <a:xfrm>
            <a:off x="5907766" y="5876925"/>
            <a:ext cx="434975" cy="384175"/>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normAutofit/>
          </a:bodyPr>
          <a:lstStyle/>
          <a:p>
            <a:r>
              <a:rPr lang="fr-FR" sz="2600" b="1" dirty="0">
                <a:solidFill>
                  <a:srgbClr val="C00000"/>
                </a:solidFill>
              </a:rPr>
              <a:t>Définition des zones intégrées à Active Directory</a:t>
            </a:r>
            <a:endParaRPr lang="en-US" sz="2600" b="1" dirty="0">
              <a:solidFill>
                <a:srgbClr val="C00000"/>
              </a:solidFill>
            </a:endParaRPr>
          </a:p>
        </p:txBody>
      </p:sp>
      <p:sp>
        <p:nvSpPr>
          <p:cNvPr id="489476" name="AutoShape 4"/>
          <p:cNvSpPr>
            <a:spLocks noChangeArrowheads="1"/>
          </p:cNvSpPr>
          <p:nvPr/>
        </p:nvSpPr>
        <p:spPr bwMode="auto">
          <a:xfrm>
            <a:off x="174172" y="1535113"/>
            <a:ext cx="8781142" cy="4514850"/>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r>
              <a:rPr lang="fr-FR" sz="2400" dirty="0">
                <a:solidFill>
                  <a:srgbClr val="000000"/>
                </a:solidFill>
              </a:rPr>
              <a:t>Zones intégrées à Active Directory</a:t>
            </a:r>
            <a:endParaRPr lang="en-US" sz="2400" dirty="0"/>
          </a:p>
          <a:p>
            <a:pPr algn="l"/>
            <a:endParaRPr lang="en-US" sz="2400" b="0" dirty="0"/>
          </a:p>
        </p:txBody>
      </p:sp>
      <p:sp>
        <p:nvSpPr>
          <p:cNvPr id="489477" name="AutoShape 5"/>
          <p:cNvSpPr>
            <a:spLocks noChangeArrowheads="1"/>
          </p:cNvSpPr>
          <p:nvPr/>
        </p:nvSpPr>
        <p:spPr bwMode="auto">
          <a:xfrm>
            <a:off x="348343" y="2095500"/>
            <a:ext cx="8432799" cy="37941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75000"/>
              </a:lnSpc>
              <a:spcBef>
                <a:spcPct val="40000"/>
              </a:spcBef>
              <a:buClr>
                <a:srgbClr val="8DACD0"/>
              </a:buClr>
              <a:buSzPct val="70000"/>
              <a:buFont typeface="Wingdings" pitchFamily="2" charset="2"/>
              <a:buBlip>
                <a:blip r:embed="rId3"/>
              </a:buBlip>
            </a:pPr>
            <a:r>
              <a:rPr lang="fr-FR" sz="2400" dirty="0">
                <a:solidFill>
                  <a:srgbClr val="000000"/>
                </a:solidFill>
              </a:rPr>
              <a:t>Des zones DNS principales et de stub enregistrées comme des objets dans la base de données Active Directory</a:t>
            </a:r>
            <a:endParaRPr lang="en-US" sz="2400" dirty="0">
              <a:cs typeface="Times New Roman" pitchFamily="18" charset="0"/>
            </a:endParaRPr>
          </a:p>
          <a:p>
            <a:pPr marL="231775" indent="-231775" algn="l">
              <a:lnSpc>
                <a:spcPct val="75000"/>
              </a:lnSpc>
              <a:spcBef>
                <a:spcPct val="40000"/>
              </a:spcBef>
              <a:buClr>
                <a:srgbClr val="8DACD0"/>
              </a:buClr>
              <a:buSzPct val="70000"/>
              <a:buFont typeface="Wingdings" pitchFamily="2" charset="2"/>
              <a:buBlip>
                <a:blip r:embed="rId3"/>
              </a:buBlip>
            </a:pPr>
            <a:r>
              <a:rPr lang="fr-FR" sz="2400" dirty="0">
                <a:solidFill>
                  <a:srgbClr val="000000"/>
                </a:solidFill>
              </a:rPr>
              <a:t>Peuvent être enregistrées dans une partition de domaine ou une application</a:t>
            </a:r>
            <a:endParaRPr lang="en-US" sz="2400" dirty="0">
              <a:cs typeface="Times New Roman" pitchFamily="18" charset="0"/>
            </a:endParaRPr>
          </a:p>
          <a:p>
            <a:pPr marL="231775" indent="-231775" algn="l">
              <a:lnSpc>
                <a:spcPct val="75000"/>
              </a:lnSpc>
              <a:spcBef>
                <a:spcPct val="40000"/>
              </a:spcBef>
              <a:buClr>
                <a:srgbClr val="8DACD0"/>
              </a:buClr>
              <a:buSzPct val="70000"/>
              <a:buFont typeface="Wingdings" pitchFamily="2" charset="2"/>
              <a:buBlip>
                <a:blip r:embed="rId3"/>
              </a:buBlip>
            </a:pPr>
            <a:r>
              <a:rPr lang="fr-FR" sz="2400" dirty="0">
                <a:solidFill>
                  <a:srgbClr val="000000"/>
                </a:solidFill>
              </a:rPr>
              <a:t>Présentent les avantages suivants</a:t>
            </a:r>
            <a:endParaRPr lang="en-US" sz="2400" dirty="0">
              <a:cs typeface="Times New Roman" pitchFamily="18" charset="0"/>
            </a:endParaRPr>
          </a:p>
          <a:p>
            <a:pPr marL="693738" lvl="1" indent="-236538" algn="l">
              <a:lnSpc>
                <a:spcPct val="75000"/>
              </a:lnSpc>
              <a:spcBef>
                <a:spcPct val="40000"/>
              </a:spcBef>
              <a:buClr>
                <a:srgbClr val="8DACD0"/>
              </a:buClr>
              <a:buFont typeface="Wingdings" pitchFamily="2" charset="2"/>
              <a:buChar char=""/>
            </a:pPr>
            <a:r>
              <a:rPr lang="fr-FR" sz="2400" b="0" dirty="0">
                <a:solidFill>
                  <a:srgbClr val="000000"/>
                </a:solidFill>
              </a:rPr>
              <a:t>Réplication </a:t>
            </a:r>
            <a:r>
              <a:rPr lang="fr-FR" sz="2400" b="0" dirty="0" err="1">
                <a:solidFill>
                  <a:srgbClr val="000000"/>
                </a:solidFill>
              </a:rPr>
              <a:t>multimaître</a:t>
            </a:r>
            <a:endParaRPr lang="en-US" sz="2400" b="0" dirty="0">
              <a:cs typeface="Times New Roman" pitchFamily="18" charset="0"/>
            </a:endParaRPr>
          </a:p>
          <a:p>
            <a:pPr marL="693738" lvl="1" indent="-236538" algn="l">
              <a:lnSpc>
                <a:spcPct val="75000"/>
              </a:lnSpc>
              <a:spcBef>
                <a:spcPct val="40000"/>
              </a:spcBef>
              <a:buClr>
                <a:srgbClr val="8DACD0"/>
              </a:buClr>
              <a:buFont typeface="Wingdings" pitchFamily="2" charset="2"/>
              <a:buChar char=""/>
            </a:pPr>
            <a:r>
              <a:rPr lang="fr-FR" sz="2400" b="0" dirty="0">
                <a:solidFill>
                  <a:srgbClr val="000000"/>
                </a:solidFill>
              </a:rPr>
              <a:t>Mises à jour dynamiques sécurisées</a:t>
            </a:r>
            <a:endParaRPr lang="en-US" sz="2400" b="0" dirty="0">
              <a:cs typeface="Times New Roman" pitchFamily="18" charset="0"/>
            </a:endParaRPr>
          </a:p>
          <a:p>
            <a:pPr marL="693738" lvl="1" indent="-236538" algn="l">
              <a:lnSpc>
                <a:spcPct val="75000"/>
              </a:lnSpc>
              <a:spcBef>
                <a:spcPct val="40000"/>
              </a:spcBef>
              <a:buClr>
                <a:srgbClr val="8DACD0"/>
              </a:buClr>
              <a:buFont typeface="Wingdings" pitchFamily="2" charset="2"/>
              <a:buChar char=""/>
            </a:pPr>
            <a:r>
              <a:rPr lang="fr-FR" sz="2400" b="0" dirty="0">
                <a:solidFill>
                  <a:srgbClr val="000000"/>
                </a:solidFill>
              </a:rPr>
              <a:t>Transferts de zones standard vers d'autres serveurs DNS</a:t>
            </a:r>
            <a:endParaRPr lang="en-US" sz="2400" b="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9477">
                                            <p:txEl>
                                              <p:pRg st="0" end="0"/>
                                            </p:txEl>
                                          </p:spTgt>
                                        </p:tgtEl>
                                        <p:attrNameLst>
                                          <p:attrName>style.visibility</p:attrName>
                                        </p:attrNameLst>
                                      </p:cBhvr>
                                      <p:to>
                                        <p:strVal val="visible"/>
                                      </p:to>
                                    </p:set>
                                    <p:animEffect transition="in" filter="checkerboard(across)">
                                      <p:cBhvr>
                                        <p:cTn id="7" dur="1000"/>
                                        <p:tgtEl>
                                          <p:spTgt spid="4894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9477">
                                            <p:txEl>
                                              <p:pRg st="1" end="1"/>
                                            </p:txEl>
                                          </p:spTgt>
                                        </p:tgtEl>
                                        <p:attrNameLst>
                                          <p:attrName>style.visibility</p:attrName>
                                        </p:attrNameLst>
                                      </p:cBhvr>
                                      <p:to>
                                        <p:strVal val="visible"/>
                                      </p:to>
                                    </p:set>
                                    <p:animEffect transition="in" filter="checkerboard(across)">
                                      <p:cBhvr>
                                        <p:cTn id="12" dur="1000"/>
                                        <p:tgtEl>
                                          <p:spTgt spid="4894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89477">
                                            <p:txEl>
                                              <p:pRg st="2" end="2"/>
                                            </p:txEl>
                                          </p:spTgt>
                                        </p:tgtEl>
                                        <p:attrNameLst>
                                          <p:attrName>style.visibility</p:attrName>
                                        </p:attrNameLst>
                                      </p:cBhvr>
                                      <p:to>
                                        <p:strVal val="visible"/>
                                      </p:to>
                                    </p:set>
                                    <p:animEffect transition="in" filter="checkerboard(across)">
                                      <p:cBhvr>
                                        <p:cTn id="17" dur="1000"/>
                                        <p:tgtEl>
                                          <p:spTgt spid="489477">
                                            <p:txEl>
                                              <p:pRg st="2" end="2"/>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489477">
                                            <p:txEl>
                                              <p:pRg st="3" end="3"/>
                                            </p:txEl>
                                          </p:spTgt>
                                        </p:tgtEl>
                                        <p:attrNameLst>
                                          <p:attrName>style.visibility</p:attrName>
                                        </p:attrNameLst>
                                      </p:cBhvr>
                                      <p:to>
                                        <p:strVal val="visible"/>
                                      </p:to>
                                    </p:set>
                                    <p:animEffect transition="in" filter="checkerboard(across)">
                                      <p:cBhvr>
                                        <p:cTn id="21" dur="1000"/>
                                        <p:tgtEl>
                                          <p:spTgt spid="489477">
                                            <p:txEl>
                                              <p:pRg st="3" end="3"/>
                                            </p:txEl>
                                          </p:spTgt>
                                        </p:tgtEl>
                                      </p:cBhvr>
                                    </p:animEffect>
                                  </p:childTnLst>
                                </p:cTn>
                              </p:par>
                            </p:childTnLst>
                          </p:cTn>
                        </p:par>
                        <p:par>
                          <p:cTn id="22" fill="hold">
                            <p:stCondLst>
                              <p:cond delay="2000"/>
                            </p:stCondLst>
                            <p:childTnLst>
                              <p:par>
                                <p:cTn id="23" presetID="5" presetClass="entr" presetSubtype="10" fill="hold" nodeType="afterEffect">
                                  <p:stCondLst>
                                    <p:cond delay="0"/>
                                  </p:stCondLst>
                                  <p:childTnLst>
                                    <p:set>
                                      <p:cBhvr>
                                        <p:cTn id="24" dur="1" fill="hold">
                                          <p:stCondLst>
                                            <p:cond delay="0"/>
                                          </p:stCondLst>
                                        </p:cTn>
                                        <p:tgtEl>
                                          <p:spTgt spid="489477">
                                            <p:txEl>
                                              <p:pRg st="4" end="4"/>
                                            </p:txEl>
                                          </p:spTgt>
                                        </p:tgtEl>
                                        <p:attrNameLst>
                                          <p:attrName>style.visibility</p:attrName>
                                        </p:attrNameLst>
                                      </p:cBhvr>
                                      <p:to>
                                        <p:strVal val="visible"/>
                                      </p:to>
                                    </p:set>
                                    <p:animEffect transition="in" filter="checkerboard(across)">
                                      <p:cBhvr>
                                        <p:cTn id="25" dur="1000"/>
                                        <p:tgtEl>
                                          <p:spTgt spid="489477">
                                            <p:txEl>
                                              <p:pRg st="4" end="4"/>
                                            </p:txEl>
                                          </p:spTgt>
                                        </p:tgtEl>
                                      </p:cBhvr>
                                    </p:animEffect>
                                  </p:childTnLst>
                                </p:cTn>
                              </p:par>
                            </p:childTnLst>
                          </p:cTn>
                        </p:par>
                        <p:par>
                          <p:cTn id="26" fill="hold">
                            <p:stCondLst>
                              <p:cond delay="3000"/>
                            </p:stCondLst>
                            <p:childTnLst>
                              <p:par>
                                <p:cTn id="27" presetID="5" presetClass="entr" presetSubtype="10" fill="hold" nodeType="afterEffect">
                                  <p:stCondLst>
                                    <p:cond delay="0"/>
                                  </p:stCondLst>
                                  <p:childTnLst>
                                    <p:set>
                                      <p:cBhvr>
                                        <p:cTn id="28" dur="1" fill="hold">
                                          <p:stCondLst>
                                            <p:cond delay="0"/>
                                          </p:stCondLst>
                                        </p:cTn>
                                        <p:tgtEl>
                                          <p:spTgt spid="489477">
                                            <p:txEl>
                                              <p:pRg st="5" end="5"/>
                                            </p:txEl>
                                          </p:spTgt>
                                        </p:tgtEl>
                                        <p:attrNameLst>
                                          <p:attrName>style.visibility</p:attrName>
                                        </p:attrNameLst>
                                      </p:cBhvr>
                                      <p:to>
                                        <p:strVal val="visible"/>
                                      </p:to>
                                    </p:set>
                                    <p:animEffect transition="in" filter="checkerboard(across)">
                                      <p:cBhvr>
                                        <p:cTn id="29" dur="1000"/>
                                        <p:tgtEl>
                                          <p:spTgt spid="48947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228600" y="486556"/>
            <a:ext cx="8712200" cy="609600"/>
          </a:xfrm>
        </p:spPr>
        <p:txBody>
          <a:bodyPr>
            <a:noAutofit/>
          </a:bodyPr>
          <a:lstStyle/>
          <a:p>
            <a:r>
              <a:rPr lang="fr-FR" sz="3000" b="1" dirty="0">
                <a:solidFill>
                  <a:srgbClr val="C00000"/>
                </a:solidFill>
              </a:rPr>
              <a:t>Définition des enregistrements de ressources SRV</a:t>
            </a:r>
            <a:endParaRPr lang="en-US" sz="3000" b="1" dirty="0">
              <a:solidFill>
                <a:srgbClr val="C00000"/>
              </a:solidFill>
            </a:endParaRPr>
          </a:p>
        </p:txBody>
      </p:sp>
      <p:sp>
        <p:nvSpPr>
          <p:cNvPr id="480259" name="Rectangle 3"/>
          <p:cNvSpPr>
            <a:spLocks noChangeArrowheads="1"/>
          </p:cNvSpPr>
          <p:nvPr/>
        </p:nvSpPr>
        <p:spPr bwMode="auto">
          <a:xfrm>
            <a:off x="339725" y="1477282"/>
            <a:ext cx="8412389" cy="4578350"/>
          </a:xfrm>
          <a:prstGeom prst="rect">
            <a:avLst/>
          </a:prstGeom>
          <a:noFill/>
          <a:ln w="9525">
            <a:noFill/>
            <a:miter lim="800000"/>
            <a:headEnd/>
            <a:tailEnd/>
          </a:ln>
          <a:effectLst/>
        </p:spPr>
        <p:txBody>
          <a:bodyPr lIns="0" tIns="0" rIns="0" bIns="0"/>
          <a:lstStyle/>
          <a:p>
            <a:pPr marL="231775" indent="-231775" algn="l">
              <a:spcBef>
                <a:spcPct val="40000"/>
              </a:spcBef>
              <a:buClr>
                <a:srgbClr val="8DACD0"/>
              </a:buClr>
              <a:buSzPct val="70000"/>
              <a:buFont typeface="Wingdings" pitchFamily="2" charset="2"/>
              <a:buBlip>
                <a:blip r:embed="rId3"/>
              </a:buBlip>
            </a:pPr>
            <a:r>
              <a:rPr lang="fr-FR" sz="2400" dirty="0">
                <a:solidFill>
                  <a:srgbClr val="000000"/>
                </a:solidFill>
              </a:rPr>
              <a:t>Les enregistrements de ressources SRV sont des enregistrements DNS qui mettent en correspondance un service et l'ordinateur fournissant ce service</a:t>
            </a:r>
            <a:endParaRPr lang="en-US" sz="2400" dirty="0"/>
          </a:p>
          <a:p>
            <a:pPr marL="231775" indent="-231775" algn="l">
              <a:spcBef>
                <a:spcPct val="40000"/>
              </a:spcBef>
              <a:buClr>
                <a:srgbClr val="8DACD0"/>
              </a:buClr>
              <a:buSzPct val="70000"/>
              <a:buFont typeface="Wingdings" pitchFamily="2" charset="2"/>
              <a:buBlip>
                <a:blip r:embed="rId3"/>
              </a:buBlip>
            </a:pPr>
            <a:r>
              <a:rPr lang="fr-FR" sz="2400" dirty="0">
                <a:solidFill>
                  <a:srgbClr val="000000"/>
                </a:solidFill>
              </a:rPr>
              <a:t>Format des enregistrements SRV </a:t>
            </a:r>
            <a:endParaRPr lang="en-US" sz="2400" dirty="0"/>
          </a:p>
          <a:p>
            <a:pPr marL="231775" indent="-231775" algn="l">
              <a:spcBef>
                <a:spcPct val="40000"/>
              </a:spcBef>
              <a:buClr>
                <a:srgbClr val="8DACD0"/>
              </a:buClr>
              <a:buSzPct val="70000"/>
              <a:buFont typeface="Wingdings" pitchFamily="2" charset="2"/>
              <a:buNone/>
            </a:pPr>
            <a:endParaRPr lang="en-US" sz="2400" dirty="0"/>
          </a:p>
          <a:p>
            <a:pPr marL="231775" indent="-231775" algn="l">
              <a:spcBef>
                <a:spcPct val="40000"/>
              </a:spcBef>
              <a:buClr>
                <a:srgbClr val="8DACD0"/>
              </a:buClr>
              <a:buSzPct val="70000"/>
              <a:buFont typeface="Wingdings" pitchFamily="2" charset="2"/>
              <a:buBlip>
                <a:blip r:embed="rId3"/>
              </a:buBlip>
            </a:pPr>
            <a:endParaRPr lang="fr-FR" sz="2400" dirty="0" smtClean="0">
              <a:solidFill>
                <a:srgbClr val="000000"/>
              </a:solidFill>
            </a:endParaRPr>
          </a:p>
          <a:p>
            <a:pPr marL="231775" indent="-231775" algn="l">
              <a:spcBef>
                <a:spcPct val="40000"/>
              </a:spcBef>
              <a:buClr>
                <a:srgbClr val="8DACD0"/>
              </a:buClr>
              <a:buSzPct val="70000"/>
              <a:buFont typeface="Wingdings" pitchFamily="2" charset="2"/>
              <a:buBlip>
                <a:blip r:embed="rId3"/>
              </a:buBlip>
            </a:pPr>
            <a:r>
              <a:rPr lang="fr-FR" sz="2400" dirty="0" smtClean="0">
                <a:solidFill>
                  <a:srgbClr val="000000"/>
                </a:solidFill>
              </a:rPr>
              <a:t>Exemple</a:t>
            </a:r>
            <a:endParaRPr lang="en-US" sz="2400" dirty="0">
              <a:solidFill>
                <a:srgbClr val="000000"/>
              </a:solidFill>
            </a:endParaRPr>
          </a:p>
        </p:txBody>
      </p:sp>
      <p:sp>
        <p:nvSpPr>
          <p:cNvPr id="480260" name="Text Box 4"/>
          <p:cNvSpPr txBox="1">
            <a:spLocks noChangeArrowheads="1"/>
          </p:cNvSpPr>
          <p:nvPr/>
        </p:nvSpPr>
        <p:spPr bwMode="auto">
          <a:xfrm>
            <a:off x="1205593" y="4792889"/>
            <a:ext cx="7749721" cy="615950"/>
          </a:xfrm>
          <a:prstGeom prst="rect">
            <a:avLst/>
          </a:prstGeom>
          <a:noFill/>
          <a:ln w="9525">
            <a:noFill/>
            <a:miter lim="800000"/>
            <a:headEnd/>
            <a:tailEnd/>
          </a:ln>
          <a:effectLst/>
        </p:spPr>
        <p:txBody>
          <a:bodyPr anchor="ctr"/>
          <a:lstStyle/>
          <a:p>
            <a:pPr algn="l"/>
            <a:r>
              <a:rPr lang="fr-FR" sz="2200" i="1" dirty="0" err="1">
                <a:solidFill>
                  <a:srgbClr val="000000"/>
                </a:solidFill>
              </a:rPr>
              <a:t>_ldap</a:t>
            </a:r>
            <a:r>
              <a:rPr lang="fr-FR" sz="2200" i="1" dirty="0">
                <a:solidFill>
                  <a:srgbClr val="000000"/>
                </a:solidFill>
              </a:rPr>
              <a:t>.</a:t>
            </a:r>
            <a:r>
              <a:rPr lang="fr-FR" sz="2200" i="1" dirty="0" err="1">
                <a:solidFill>
                  <a:srgbClr val="000000"/>
                </a:solidFill>
              </a:rPr>
              <a:t>_tcp.contoso.msft</a:t>
            </a:r>
            <a:r>
              <a:rPr lang="fr-FR" sz="2200" i="1" dirty="0">
                <a:solidFill>
                  <a:srgbClr val="000000"/>
                </a:solidFill>
              </a:rPr>
              <a:t> 600 IN SRV 0 100 389 </a:t>
            </a:r>
            <a:r>
              <a:rPr lang="fr-FR" sz="2200" i="1" dirty="0" err="1">
                <a:solidFill>
                  <a:srgbClr val="000000"/>
                </a:solidFill>
              </a:rPr>
              <a:t>london.contoso.msft</a:t>
            </a:r>
            <a:endParaRPr lang="en-US" sz="2200" i="1" dirty="0"/>
          </a:p>
        </p:txBody>
      </p:sp>
      <p:sp>
        <p:nvSpPr>
          <p:cNvPr id="480303" name="Text Box 47"/>
          <p:cNvSpPr txBox="1">
            <a:spLocks noChangeArrowheads="1"/>
          </p:cNvSpPr>
          <p:nvPr/>
        </p:nvSpPr>
        <p:spPr bwMode="auto">
          <a:xfrm>
            <a:off x="1062491" y="3183846"/>
            <a:ext cx="7849280" cy="615950"/>
          </a:xfrm>
          <a:prstGeom prst="rect">
            <a:avLst/>
          </a:prstGeom>
          <a:noFill/>
          <a:ln w="9525">
            <a:noFill/>
            <a:miter lim="800000"/>
            <a:headEnd/>
            <a:tailEnd/>
          </a:ln>
          <a:effectLst/>
        </p:spPr>
        <p:txBody>
          <a:bodyPr anchor="ctr"/>
          <a:lstStyle/>
          <a:p>
            <a:pPr algn="l"/>
            <a:r>
              <a:rPr lang="fr-FR" sz="2200" i="1" dirty="0">
                <a:solidFill>
                  <a:srgbClr val="000000"/>
                </a:solidFill>
              </a:rPr>
              <a:t>_ Service.</a:t>
            </a:r>
            <a:r>
              <a:rPr lang="fr-FR" sz="2200" i="1" dirty="0" err="1">
                <a:solidFill>
                  <a:srgbClr val="000000"/>
                </a:solidFill>
              </a:rPr>
              <a:t>_Protocole.Nom</a:t>
            </a:r>
            <a:r>
              <a:rPr lang="fr-FR" sz="2200" i="1" dirty="0">
                <a:solidFill>
                  <a:srgbClr val="000000"/>
                </a:solidFill>
              </a:rPr>
              <a:t> </a:t>
            </a:r>
            <a:r>
              <a:rPr lang="fr-FR" sz="2200" i="1" dirty="0" err="1">
                <a:solidFill>
                  <a:srgbClr val="000000"/>
                </a:solidFill>
              </a:rPr>
              <a:t>Ttl</a:t>
            </a:r>
            <a:r>
              <a:rPr lang="fr-FR" sz="2200" i="1" dirty="0">
                <a:solidFill>
                  <a:srgbClr val="000000"/>
                </a:solidFill>
              </a:rPr>
              <a:t> Classe SRV Priorité Poids Port Cible</a:t>
            </a:r>
            <a:endParaRPr lang="en-US" sz="2200" i="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0259">
                                            <p:txEl>
                                              <p:pRg st="0" end="0"/>
                                            </p:txEl>
                                          </p:spTgt>
                                        </p:tgtEl>
                                        <p:attrNameLst>
                                          <p:attrName>style.visibility</p:attrName>
                                        </p:attrNameLst>
                                      </p:cBhvr>
                                      <p:to>
                                        <p:strVal val="visible"/>
                                      </p:to>
                                    </p:set>
                                    <p:animEffect transition="in" filter="checkerboard(across)">
                                      <p:cBhvr>
                                        <p:cTn id="7" dur="1000"/>
                                        <p:tgtEl>
                                          <p:spTgt spid="480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0259">
                                            <p:txEl>
                                              <p:pRg st="1" end="1"/>
                                            </p:txEl>
                                          </p:spTgt>
                                        </p:tgtEl>
                                        <p:attrNameLst>
                                          <p:attrName>style.visibility</p:attrName>
                                        </p:attrNameLst>
                                      </p:cBhvr>
                                      <p:to>
                                        <p:strVal val="visible"/>
                                      </p:to>
                                    </p:set>
                                    <p:animEffect transition="in" filter="checkerboard(across)">
                                      <p:cBhvr>
                                        <p:cTn id="12" dur="1000"/>
                                        <p:tgtEl>
                                          <p:spTgt spid="480259">
                                            <p:txEl>
                                              <p:pRg st="1" end="1"/>
                                            </p:txEl>
                                          </p:spTgt>
                                        </p:tgtEl>
                                      </p:cBhvr>
                                    </p:animEffect>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480303"/>
                                        </p:tgtEl>
                                        <p:attrNameLst>
                                          <p:attrName>style.visibility</p:attrName>
                                        </p:attrNameLst>
                                      </p:cBhvr>
                                      <p:to>
                                        <p:strVal val="visible"/>
                                      </p:to>
                                    </p:set>
                                    <p:animEffect transition="in" filter="box(in)">
                                      <p:cBhvr>
                                        <p:cTn id="16" dur="500"/>
                                        <p:tgtEl>
                                          <p:spTgt spid="480303"/>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480259">
                                            <p:txEl>
                                              <p:pRg st="4" end="4"/>
                                            </p:txEl>
                                          </p:spTgt>
                                        </p:tgtEl>
                                        <p:attrNameLst>
                                          <p:attrName>style.visibility</p:attrName>
                                        </p:attrNameLst>
                                      </p:cBhvr>
                                      <p:to>
                                        <p:strVal val="visible"/>
                                      </p:to>
                                    </p:set>
                                    <p:animEffect transition="in" filter="checkerboard(across)">
                                      <p:cBhvr>
                                        <p:cTn id="21" dur="1000"/>
                                        <p:tgtEl>
                                          <p:spTgt spid="480259">
                                            <p:txEl>
                                              <p:pRg st="4" end="4"/>
                                            </p:txEl>
                                          </p:spTgt>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480260"/>
                                        </p:tgtEl>
                                        <p:attrNameLst>
                                          <p:attrName>style.visibility</p:attrName>
                                        </p:attrNameLst>
                                      </p:cBhvr>
                                      <p:to>
                                        <p:strVal val="visible"/>
                                      </p:to>
                                    </p:set>
                                    <p:animEffect transition="in" filter="box(in)">
                                      <p:cBhvr>
                                        <p:cTn id="25" dur="500"/>
                                        <p:tgtEl>
                                          <p:spTgt spid="480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0" grpId="0"/>
      <p:bldP spid="48030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188682" y="376522"/>
            <a:ext cx="8723089" cy="684212"/>
          </a:xfrm>
        </p:spPr>
        <p:txBody>
          <a:bodyPr>
            <a:noAutofit/>
          </a:bodyPr>
          <a:lstStyle/>
          <a:p>
            <a:pPr>
              <a:lnSpc>
                <a:spcPct val="85000"/>
              </a:lnSpc>
            </a:pPr>
            <a:r>
              <a:rPr lang="fr-FR" sz="3000" b="1" dirty="0" smtClean="0">
                <a:solidFill>
                  <a:srgbClr val="C00000"/>
                </a:solidFill>
              </a:rPr>
              <a:t>Utilisation </a:t>
            </a:r>
            <a:r>
              <a:rPr lang="fr-FR" sz="3000" b="1" dirty="0">
                <a:solidFill>
                  <a:srgbClr val="C00000"/>
                </a:solidFill>
              </a:rPr>
              <a:t>de DNS par les ordinateurs clients pour trouver un </a:t>
            </a:r>
            <a:r>
              <a:rPr lang="fr-FR" sz="3000" b="1" dirty="0" smtClean="0">
                <a:solidFill>
                  <a:srgbClr val="C00000"/>
                </a:solidFill>
              </a:rPr>
              <a:t>DC</a:t>
            </a:r>
            <a:endParaRPr lang="en-US" sz="3000" b="1" dirty="0">
              <a:solidFill>
                <a:srgbClr val="C00000"/>
              </a:solidFill>
            </a:endParaRPr>
          </a:p>
        </p:txBody>
      </p:sp>
      <p:pic>
        <p:nvPicPr>
          <p:cNvPr id="483359" name="Picture 31" descr="Computer_DesktopComputer01"/>
          <p:cNvPicPr>
            <a:picLocks noChangeAspect="1" noChangeArrowheads="1"/>
          </p:cNvPicPr>
          <p:nvPr>
            <p:custDataLst>
              <p:tags r:id="rId1"/>
            </p:custDataLst>
          </p:nvPr>
        </p:nvPicPr>
        <p:blipFill>
          <a:blip r:embed="rId14"/>
          <a:srcRect/>
          <a:stretch>
            <a:fillRect/>
          </a:stretch>
        </p:blipFill>
        <p:spPr bwMode="auto">
          <a:xfrm>
            <a:off x="2509397" y="4119563"/>
            <a:ext cx="1801812" cy="2019300"/>
          </a:xfrm>
          <a:prstGeom prst="rect">
            <a:avLst/>
          </a:prstGeom>
          <a:noFill/>
        </p:spPr>
      </p:pic>
      <p:pic>
        <p:nvPicPr>
          <p:cNvPr id="483347" name="Picture 19" descr="Server01"/>
          <p:cNvPicPr>
            <a:picLocks noChangeAspect="1" noChangeArrowheads="1"/>
          </p:cNvPicPr>
          <p:nvPr>
            <p:custDataLst>
              <p:tags r:id="rId2"/>
            </p:custDataLst>
          </p:nvPr>
        </p:nvPicPr>
        <p:blipFill>
          <a:blip r:embed="rId15"/>
          <a:srcRect/>
          <a:stretch>
            <a:fillRect/>
          </a:stretch>
        </p:blipFill>
        <p:spPr bwMode="auto">
          <a:xfrm>
            <a:off x="3328547" y="1379538"/>
            <a:ext cx="1492250" cy="1757362"/>
          </a:xfrm>
          <a:prstGeom prst="rect">
            <a:avLst/>
          </a:prstGeom>
          <a:noFill/>
        </p:spPr>
      </p:pic>
      <p:sp>
        <p:nvSpPr>
          <p:cNvPr id="483349" name="AutoShape 21"/>
          <p:cNvSpPr>
            <a:spLocks noChangeArrowheads="1"/>
          </p:cNvSpPr>
          <p:nvPr/>
        </p:nvSpPr>
        <p:spPr bwMode="auto">
          <a:xfrm>
            <a:off x="4384234" y="1878013"/>
            <a:ext cx="1249363" cy="35401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r>
              <a:rPr lang="fr-FR">
                <a:solidFill>
                  <a:srgbClr val="000000"/>
                </a:solidFill>
              </a:rPr>
              <a:t>Serveur DNS</a:t>
            </a:r>
            <a:endParaRPr lang="en-US"/>
          </a:p>
        </p:txBody>
      </p:sp>
      <p:pic>
        <p:nvPicPr>
          <p:cNvPr id="483333" name="Picture 5" descr="Policy_Writing01"/>
          <p:cNvPicPr>
            <a:picLocks noChangeAspect="1" noChangeArrowheads="1"/>
          </p:cNvPicPr>
          <p:nvPr>
            <p:custDataLst>
              <p:tags r:id="rId3"/>
            </p:custDataLst>
          </p:nvPr>
        </p:nvPicPr>
        <p:blipFill>
          <a:blip r:embed="rId16" cstate="print"/>
          <a:srcRect/>
          <a:stretch>
            <a:fillRect/>
          </a:stretch>
        </p:blipFill>
        <p:spPr bwMode="auto">
          <a:xfrm>
            <a:off x="2506222" y="1712913"/>
            <a:ext cx="657225" cy="915987"/>
          </a:xfrm>
          <a:prstGeom prst="rect">
            <a:avLst/>
          </a:prstGeom>
          <a:noFill/>
        </p:spPr>
      </p:pic>
      <p:pic>
        <p:nvPicPr>
          <p:cNvPr id="483335" name="Picture 7" descr="Server01"/>
          <p:cNvPicPr>
            <a:picLocks noChangeAspect="1" noChangeArrowheads="1"/>
          </p:cNvPicPr>
          <p:nvPr>
            <p:custDataLst>
              <p:tags r:id="rId4"/>
            </p:custDataLst>
          </p:nvPr>
        </p:nvPicPr>
        <p:blipFill>
          <a:blip r:embed="rId15"/>
          <a:srcRect/>
          <a:stretch>
            <a:fillRect/>
          </a:stretch>
        </p:blipFill>
        <p:spPr bwMode="auto">
          <a:xfrm>
            <a:off x="5568509" y="3306763"/>
            <a:ext cx="1554163" cy="1830387"/>
          </a:xfrm>
          <a:prstGeom prst="rect">
            <a:avLst/>
          </a:prstGeom>
          <a:noFill/>
        </p:spPr>
      </p:pic>
      <p:pic>
        <p:nvPicPr>
          <p:cNvPr id="483336" name="Picture 8" descr="ServerProcess01"/>
          <p:cNvPicPr>
            <a:picLocks noChangeAspect="1" noChangeArrowheads="1"/>
          </p:cNvPicPr>
          <p:nvPr>
            <p:custDataLst>
              <p:tags r:id="rId5"/>
            </p:custDataLst>
          </p:nvPr>
        </p:nvPicPr>
        <p:blipFill>
          <a:blip r:embed="rId17"/>
          <a:srcRect/>
          <a:stretch>
            <a:fillRect/>
          </a:stretch>
        </p:blipFill>
        <p:spPr bwMode="auto">
          <a:xfrm>
            <a:off x="6108259" y="3973513"/>
            <a:ext cx="1290638" cy="990600"/>
          </a:xfrm>
          <a:prstGeom prst="rect">
            <a:avLst/>
          </a:prstGeom>
          <a:noFill/>
        </p:spPr>
      </p:pic>
      <p:pic>
        <p:nvPicPr>
          <p:cNvPr id="483338" name="Picture 10" descr="Policy01"/>
          <p:cNvPicPr>
            <a:picLocks noChangeAspect="1" noChangeArrowheads="1"/>
          </p:cNvPicPr>
          <p:nvPr>
            <p:custDataLst>
              <p:tags r:id="rId6"/>
            </p:custDataLst>
          </p:nvPr>
        </p:nvPicPr>
        <p:blipFill>
          <a:blip r:embed="rId18" cstate="print"/>
          <a:srcRect/>
          <a:stretch>
            <a:fillRect/>
          </a:stretch>
        </p:blipFill>
        <p:spPr bwMode="auto">
          <a:xfrm>
            <a:off x="2803084" y="2030413"/>
            <a:ext cx="661988" cy="920750"/>
          </a:xfrm>
          <a:prstGeom prst="rect">
            <a:avLst/>
          </a:prstGeom>
          <a:noFill/>
        </p:spPr>
      </p:pic>
      <p:pic>
        <p:nvPicPr>
          <p:cNvPr id="483339" name="Picture 11" descr="Document_BoxesWriting01"/>
          <p:cNvPicPr>
            <a:picLocks noChangeAspect="1" noChangeArrowheads="1"/>
          </p:cNvPicPr>
          <p:nvPr>
            <p:custDataLst>
              <p:tags r:id="rId7"/>
            </p:custDataLst>
          </p:nvPr>
        </p:nvPicPr>
        <p:blipFill>
          <a:blip r:embed="rId19" cstate="print"/>
          <a:srcRect/>
          <a:stretch>
            <a:fillRect/>
          </a:stretch>
        </p:blipFill>
        <p:spPr bwMode="auto">
          <a:xfrm>
            <a:off x="3176147" y="2308225"/>
            <a:ext cx="588962" cy="958850"/>
          </a:xfrm>
          <a:prstGeom prst="rect">
            <a:avLst/>
          </a:prstGeom>
          <a:noFill/>
        </p:spPr>
      </p:pic>
      <p:sp>
        <p:nvSpPr>
          <p:cNvPr id="483350" name="AutoShape 22"/>
          <p:cNvSpPr>
            <a:spLocks noChangeArrowheads="1"/>
          </p:cNvSpPr>
          <p:nvPr/>
        </p:nvSpPr>
        <p:spPr bwMode="auto">
          <a:xfrm>
            <a:off x="4179447" y="5827713"/>
            <a:ext cx="698500" cy="29845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r>
              <a:rPr lang="fr-FR">
                <a:solidFill>
                  <a:srgbClr val="000000"/>
                </a:solidFill>
              </a:rPr>
              <a:t>Client</a:t>
            </a:r>
            <a:endParaRPr lang="en-US"/>
          </a:p>
        </p:txBody>
      </p:sp>
      <p:sp>
        <p:nvSpPr>
          <p:cNvPr id="483356" name="AutoShape 28"/>
          <p:cNvSpPr>
            <a:spLocks noChangeArrowheads="1"/>
          </p:cNvSpPr>
          <p:nvPr/>
        </p:nvSpPr>
        <p:spPr bwMode="auto">
          <a:xfrm>
            <a:off x="5233547" y="5181600"/>
            <a:ext cx="2212975" cy="354013"/>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r>
              <a:rPr lang="fr-FR">
                <a:solidFill>
                  <a:srgbClr val="000000"/>
                </a:solidFill>
              </a:rPr>
              <a:t>Contrôleur de domaine</a:t>
            </a:r>
            <a:endParaRPr lang="en-US"/>
          </a:p>
        </p:txBody>
      </p:sp>
      <p:pic>
        <p:nvPicPr>
          <p:cNvPr id="483346" name="Picture 18" descr="logon_xp"/>
          <p:cNvPicPr>
            <a:picLocks noChangeAspect="1" noChangeArrowheads="1"/>
          </p:cNvPicPr>
          <p:nvPr>
            <p:custDataLst>
              <p:tags r:id="rId8"/>
            </p:custDataLst>
          </p:nvPr>
        </p:nvPicPr>
        <p:blipFill>
          <a:blip r:embed="rId20"/>
          <a:srcRect/>
          <a:stretch>
            <a:fillRect/>
          </a:stretch>
        </p:blipFill>
        <p:spPr bwMode="auto">
          <a:xfrm>
            <a:off x="2071247" y="4589463"/>
            <a:ext cx="1470025" cy="957262"/>
          </a:xfrm>
          <a:prstGeom prst="rect">
            <a:avLst/>
          </a:prstGeom>
          <a:noFill/>
          <a:ln w="19050">
            <a:solidFill>
              <a:srgbClr val="0000FF"/>
            </a:solidFill>
            <a:miter lim="800000"/>
            <a:headEnd/>
            <a:tailEnd/>
          </a:ln>
        </p:spPr>
      </p:pic>
      <p:sp>
        <p:nvSpPr>
          <p:cNvPr id="483360" name="Arc 32"/>
          <p:cNvSpPr>
            <a:spLocks/>
          </p:cNvSpPr>
          <p:nvPr>
            <p:custDataLst>
              <p:tags r:id="rId9"/>
            </p:custDataLst>
          </p:nvPr>
        </p:nvSpPr>
        <p:spPr bwMode="auto">
          <a:xfrm>
            <a:off x="4404872" y="2305050"/>
            <a:ext cx="1858962" cy="1338263"/>
          </a:xfrm>
          <a:custGeom>
            <a:avLst/>
            <a:gdLst>
              <a:gd name="G0" fmla="+- 0 0 0"/>
              <a:gd name="G1" fmla="+- 20594 0 0"/>
              <a:gd name="G2" fmla="+- 21600 0 0"/>
              <a:gd name="T0" fmla="*/ 6517 w 20753"/>
              <a:gd name="T1" fmla="*/ 0 h 20594"/>
              <a:gd name="T2" fmla="*/ 20753 w 20753"/>
              <a:gd name="T3" fmla="*/ 14605 h 20594"/>
              <a:gd name="T4" fmla="*/ 0 w 20753"/>
              <a:gd name="T5" fmla="*/ 20594 h 20594"/>
            </a:gdLst>
            <a:ahLst/>
            <a:cxnLst>
              <a:cxn ang="0">
                <a:pos x="T0" y="T1"/>
              </a:cxn>
              <a:cxn ang="0">
                <a:pos x="T2" y="T3"/>
              </a:cxn>
              <a:cxn ang="0">
                <a:pos x="T4" y="T5"/>
              </a:cxn>
            </a:cxnLst>
            <a:rect l="0" t="0" r="r" b="b"/>
            <a:pathLst>
              <a:path w="20753" h="20594" fill="none" extrusionOk="0">
                <a:moveTo>
                  <a:pt x="6516" y="0"/>
                </a:moveTo>
                <a:cubicBezTo>
                  <a:pt x="13406" y="2180"/>
                  <a:pt x="18749" y="7661"/>
                  <a:pt x="20753" y="14604"/>
                </a:cubicBezTo>
              </a:path>
              <a:path w="20753" h="20594" stroke="0" extrusionOk="0">
                <a:moveTo>
                  <a:pt x="6516" y="0"/>
                </a:moveTo>
                <a:cubicBezTo>
                  <a:pt x="13406" y="2180"/>
                  <a:pt x="18749" y="7661"/>
                  <a:pt x="20753" y="14604"/>
                </a:cubicBezTo>
                <a:lnTo>
                  <a:pt x="0" y="20594"/>
                </a:lnTo>
                <a:close/>
              </a:path>
            </a:pathLst>
          </a:custGeom>
          <a:noFill/>
          <a:ln w="76200" cap="rnd">
            <a:solidFill>
              <a:srgbClr val="CC0000"/>
            </a:solidFill>
            <a:prstDash val="sysDot"/>
            <a:round/>
            <a:headEnd type="triangle" w="med" len="med"/>
            <a:tailEnd type="triangle" w="med" len="med"/>
          </a:ln>
          <a:effectLst/>
        </p:spPr>
        <p:txBody>
          <a:bodyPr wrap="none" anchor="ctr"/>
          <a:lstStyle/>
          <a:p>
            <a:endParaRPr lang="fr-FR"/>
          </a:p>
        </p:txBody>
      </p:sp>
      <p:sp>
        <p:nvSpPr>
          <p:cNvPr id="483363" name="Arc 35"/>
          <p:cNvSpPr>
            <a:spLocks/>
          </p:cNvSpPr>
          <p:nvPr>
            <p:custDataLst>
              <p:tags r:id="rId10"/>
            </p:custDataLst>
          </p:nvPr>
        </p:nvSpPr>
        <p:spPr bwMode="auto">
          <a:xfrm>
            <a:off x="4176272" y="3643313"/>
            <a:ext cx="1357312" cy="1403350"/>
          </a:xfrm>
          <a:custGeom>
            <a:avLst/>
            <a:gdLst>
              <a:gd name="G0" fmla="+- 3065 0 0"/>
              <a:gd name="G1" fmla="+- 0 0 0"/>
              <a:gd name="G2" fmla="+- 21600 0 0"/>
              <a:gd name="T0" fmla="*/ 15157 w 15157"/>
              <a:gd name="T1" fmla="*/ 17898 h 21600"/>
              <a:gd name="T2" fmla="*/ 0 w 15157"/>
              <a:gd name="T3" fmla="*/ 21381 h 21600"/>
              <a:gd name="T4" fmla="*/ 3065 w 15157"/>
              <a:gd name="T5" fmla="*/ 0 h 21600"/>
            </a:gdLst>
            <a:ahLst/>
            <a:cxnLst>
              <a:cxn ang="0">
                <a:pos x="T0" y="T1"/>
              </a:cxn>
              <a:cxn ang="0">
                <a:pos x="T2" y="T3"/>
              </a:cxn>
              <a:cxn ang="0">
                <a:pos x="T4" y="T5"/>
              </a:cxn>
            </a:cxnLst>
            <a:rect l="0" t="0" r="r" b="b"/>
            <a:pathLst>
              <a:path w="15157" h="21600" fill="none" extrusionOk="0">
                <a:moveTo>
                  <a:pt x="15157" y="17898"/>
                </a:moveTo>
                <a:cubicBezTo>
                  <a:pt x="11585" y="20310"/>
                  <a:pt x="7374" y="21599"/>
                  <a:pt x="3065" y="21600"/>
                </a:cubicBezTo>
                <a:cubicBezTo>
                  <a:pt x="2039" y="21600"/>
                  <a:pt x="1015" y="21526"/>
                  <a:pt x="-1" y="21381"/>
                </a:cubicBezTo>
              </a:path>
              <a:path w="15157" h="21600" stroke="0" extrusionOk="0">
                <a:moveTo>
                  <a:pt x="15157" y="17898"/>
                </a:moveTo>
                <a:cubicBezTo>
                  <a:pt x="11585" y="20310"/>
                  <a:pt x="7374" y="21599"/>
                  <a:pt x="3065" y="21600"/>
                </a:cubicBezTo>
                <a:cubicBezTo>
                  <a:pt x="2039" y="21600"/>
                  <a:pt x="1015" y="21526"/>
                  <a:pt x="-1" y="21381"/>
                </a:cubicBezTo>
                <a:lnTo>
                  <a:pt x="3065" y="0"/>
                </a:lnTo>
                <a:close/>
              </a:path>
            </a:pathLst>
          </a:custGeom>
          <a:noFill/>
          <a:ln w="76200" cap="rnd">
            <a:solidFill>
              <a:srgbClr val="CC0000"/>
            </a:solidFill>
            <a:prstDash val="sysDot"/>
            <a:round/>
            <a:headEnd type="triangle" w="med" len="med"/>
            <a:tailEnd type="triangle" w="med" len="med"/>
          </a:ln>
          <a:effectLst/>
        </p:spPr>
        <p:txBody>
          <a:bodyPr wrap="none" anchor="ctr"/>
          <a:lstStyle/>
          <a:p>
            <a:endParaRPr lang="fr-FR"/>
          </a:p>
        </p:txBody>
      </p:sp>
      <p:sp>
        <p:nvSpPr>
          <p:cNvPr id="483364" name="Arc 36"/>
          <p:cNvSpPr>
            <a:spLocks/>
          </p:cNvSpPr>
          <p:nvPr>
            <p:custDataLst>
              <p:tags r:id="rId11"/>
            </p:custDataLst>
          </p:nvPr>
        </p:nvSpPr>
        <p:spPr bwMode="auto">
          <a:xfrm>
            <a:off x="2436372" y="2862263"/>
            <a:ext cx="1935162" cy="1263650"/>
          </a:xfrm>
          <a:custGeom>
            <a:avLst/>
            <a:gdLst>
              <a:gd name="G0" fmla="+- 21600 0 0"/>
              <a:gd name="G1" fmla="+- 10946 0 0"/>
              <a:gd name="G2" fmla="+- 21600 0 0"/>
              <a:gd name="T0" fmla="*/ 1737 w 21600"/>
              <a:gd name="T1" fmla="*/ 19433 h 19433"/>
              <a:gd name="T2" fmla="*/ 2979 w 21600"/>
              <a:gd name="T3" fmla="*/ 0 h 19433"/>
              <a:gd name="T4" fmla="*/ 21600 w 21600"/>
              <a:gd name="T5" fmla="*/ 10946 h 19433"/>
            </a:gdLst>
            <a:ahLst/>
            <a:cxnLst>
              <a:cxn ang="0">
                <a:pos x="T0" y="T1"/>
              </a:cxn>
              <a:cxn ang="0">
                <a:pos x="T2" y="T3"/>
              </a:cxn>
              <a:cxn ang="0">
                <a:pos x="T4" y="T5"/>
              </a:cxn>
            </a:cxnLst>
            <a:rect l="0" t="0" r="r" b="b"/>
            <a:pathLst>
              <a:path w="21600" h="19433" fill="none" extrusionOk="0">
                <a:moveTo>
                  <a:pt x="1737" y="19432"/>
                </a:moveTo>
                <a:cubicBezTo>
                  <a:pt x="590" y="16750"/>
                  <a:pt x="0" y="13863"/>
                  <a:pt x="0" y="10946"/>
                </a:cubicBezTo>
                <a:cubicBezTo>
                  <a:pt x="-1" y="7097"/>
                  <a:pt x="1028" y="3318"/>
                  <a:pt x="2978" y="-1"/>
                </a:cubicBezTo>
              </a:path>
              <a:path w="21600" h="19433" stroke="0" extrusionOk="0">
                <a:moveTo>
                  <a:pt x="1737" y="19432"/>
                </a:moveTo>
                <a:cubicBezTo>
                  <a:pt x="590" y="16750"/>
                  <a:pt x="0" y="13863"/>
                  <a:pt x="0" y="10946"/>
                </a:cubicBezTo>
                <a:cubicBezTo>
                  <a:pt x="-1" y="7097"/>
                  <a:pt x="1028" y="3318"/>
                  <a:pt x="2978" y="-1"/>
                </a:cubicBezTo>
                <a:lnTo>
                  <a:pt x="21600" y="10946"/>
                </a:lnTo>
                <a:close/>
              </a:path>
            </a:pathLst>
          </a:custGeom>
          <a:noFill/>
          <a:ln w="76200" cap="rnd">
            <a:solidFill>
              <a:srgbClr val="CC0000"/>
            </a:solidFill>
            <a:prstDash val="sysDot"/>
            <a:round/>
            <a:headEnd type="triangle" w="med" len="med"/>
            <a:tailEnd type="triangle" w="med" len="med"/>
          </a:ln>
          <a:effectLst/>
        </p:spPr>
        <p:txBody>
          <a:bodyPr wrap="none" anchor="ctr"/>
          <a:lstStyle/>
          <a:p>
            <a:endParaRPr lang="fr-FR"/>
          </a:p>
        </p:txBody>
      </p:sp>
      <p:pic>
        <p:nvPicPr>
          <p:cNvPr id="483367" name="Picture 39" descr="media icon">
            <a:hlinkClick r:id="rId21" action="ppaction://hlinkfile"/>
          </p:cNvPr>
          <p:cNvPicPr>
            <a:picLocks noGrp="1" noChangeAspect="1" noChangeArrowheads="1"/>
          </p:cNvPicPr>
          <p:nvPr>
            <p:ph idx="1"/>
          </p:nvPr>
        </p:nvPicPr>
        <p:blipFill>
          <a:blip r:embed="rId22"/>
          <a:srcRect/>
          <a:stretch>
            <a:fillRect/>
          </a:stretch>
        </p:blipFill>
        <p:spPr>
          <a:xfrm>
            <a:off x="7219269" y="5668963"/>
            <a:ext cx="1445759" cy="693327"/>
          </a:xfrm>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a:xfrm>
            <a:off x="174171" y="330198"/>
            <a:ext cx="8781143" cy="758952"/>
          </a:xfrm>
        </p:spPr>
        <p:txBody>
          <a:bodyPr>
            <a:noAutofit/>
          </a:bodyPr>
          <a:lstStyle/>
          <a:p>
            <a:r>
              <a:rPr lang="fr-FR" sz="3000" b="1" dirty="0" smtClean="0">
                <a:solidFill>
                  <a:srgbClr val="000000"/>
                </a:solidFill>
              </a:rPr>
              <a:t>3.  Augmentation </a:t>
            </a:r>
            <a:r>
              <a:rPr lang="fr-FR" sz="3000" b="1" dirty="0">
                <a:solidFill>
                  <a:srgbClr val="000000"/>
                </a:solidFill>
              </a:rPr>
              <a:t>des niveaux fonctionnels de la forêt et du domaine</a:t>
            </a:r>
            <a:endParaRPr lang="en-US" sz="3000" b="1" dirty="0">
              <a:solidFill>
                <a:srgbClr val="000000"/>
              </a:solidFill>
            </a:endParaRPr>
          </a:p>
        </p:txBody>
      </p:sp>
      <p:sp>
        <p:nvSpPr>
          <p:cNvPr id="442371" name="Rectangle 3"/>
          <p:cNvSpPr>
            <a:spLocks noGrp="1" noChangeArrowheads="1"/>
          </p:cNvSpPr>
          <p:nvPr>
            <p:ph sz="quarter" idx="1"/>
          </p:nvPr>
        </p:nvSpPr>
        <p:spPr>
          <a:xfrm>
            <a:off x="328181" y="2507522"/>
            <a:ext cx="8503920" cy="2241900"/>
          </a:xfrm>
        </p:spPr>
        <p:txBody>
          <a:bodyPr/>
          <a:lstStyle/>
          <a:p>
            <a:r>
              <a:rPr lang="fr-FR" dirty="0">
                <a:solidFill>
                  <a:srgbClr val="C00000"/>
                </a:solidFill>
              </a:rPr>
              <a:t>Définition des fonctionnalités des forêts et des domaines</a:t>
            </a:r>
            <a:r>
              <a:rPr lang="en-US" dirty="0">
                <a:solidFill>
                  <a:srgbClr val="C00000"/>
                </a:solidFill>
              </a:rPr>
              <a:t> </a:t>
            </a:r>
          </a:p>
          <a:p>
            <a:r>
              <a:rPr lang="fr-FR" dirty="0">
                <a:solidFill>
                  <a:srgbClr val="C00000"/>
                </a:solidFill>
              </a:rPr>
              <a:t>Conditions requises pour activer les nouvelles fonctionnalités de Windows Server </a:t>
            </a:r>
            <a:r>
              <a:rPr lang="fr-FR" dirty="0" smtClean="0">
                <a:solidFill>
                  <a:srgbClr val="C00000"/>
                </a:solidFill>
              </a:rPr>
              <a:t>2003</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noAutofit/>
          </a:bodyPr>
          <a:lstStyle/>
          <a:p>
            <a:r>
              <a:rPr lang="fr-FR" sz="2600" b="1" dirty="0">
                <a:solidFill>
                  <a:srgbClr val="C00000"/>
                </a:solidFill>
              </a:rPr>
              <a:t>Définition des fonctionnalités des forêts et des domaines</a:t>
            </a:r>
            <a:endParaRPr lang="en-US" sz="2600" b="1" dirty="0">
              <a:solidFill>
                <a:srgbClr val="C00000"/>
              </a:solidFill>
            </a:endParaRPr>
          </a:p>
        </p:txBody>
      </p:sp>
      <p:graphicFrame>
        <p:nvGraphicFramePr>
          <p:cNvPr id="511101" name="Group 125"/>
          <p:cNvGraphicFramePr>
            <a:graphicFrameLocks noGrp="1"/>
          </p:cNvGraphicFramePr>
          <p:nvPr/>
        </p:nvGraphicFramePr>
        <p:xfrm>
          <a:off x="203200" y="2251524"/>
          <a:ext cx="8752113" cy="3866071"/>
        </p:xfrm>
        <a:graphic>
          <a:graphicData uri="http://schemas.openxmlformats.org/drawingml/2006/table">
            <a:tbl>
              <a:tblPr/>
              <a:tblGrid>
                <a:gridCol w="3184820"/>
                <a:gridCol w="2746804"/>
                <a:gridCol w="2820489"/>
              </a:tblGrid>
              <a:tr h="381000">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400" b="1" i="0" u="none" strike="noStrike" cap="none" normalizeH="0" baseline="0" dirty="0" smtClean="0">
                          <a:ln>
                            <a:noFill/>
                          </a:ln>
                          <a:solidFill>
                            <a:srgbClr val="000000"/>
                          </a:solidFill>
                          <a:effectLst/>
                          <a:latin typeface="Arial Narrow" pitchFamily="34" charset="0"/>
                        </a:rPr>
                        <a:t>Environnement réseau</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sz="2400" b="1" i="0" u="none" strike="noStrike" cap="none" normalizeH="0" baseline="0" dirty="0" smtClean="0">
                          <a:ln>
                            <a:noFill/>
                          </a:ln>
                          <a:solidFill>
                            <a:srgbClr val="000000"/>
                          </a:solidFill>
                          <a:effectLst/>
                          <a:latin typeface="Arial Narrow" pitchFamily="34" charset="0"/>
                        </a:rPr>
                        <a:t>Niveaux fonctionnels </a:t>
                      </a:r>
                      <a:br>
                        <a:rPr kumimoji="0" lang="fr-FR" sz="2400" b="1" i="0" u="none" strike="noStrike" cap="none" normalizeH="0" baseline="0" dirty="0" smtClean="0">
                          <a:ln>
                            <a:noFill/>
                          </a:ln>
                          <a:solidFill>
                            <a:srgbClr val="000000"/>
                          </a:solidFill>
                          <a:effectLst/>
                          <a:latin typeface="Arial Narrow" pitchFamily="34" charset="0"/>
                        </a:rPr>
                      </a:br>
                      <a:r>
                        <a:rPr kumimoji="0" lang="fr-FR" sz="2400" b="1" i="0" u="none" strike="noStrike" cap="none" normalizeH="0" baseline="0" dirty="0" smtClean="0">
                          <a:ln>
                            <a:noFill/>
                          </a:ln>
                          <a:solidFill>
                            <a:srgbClr val="000000"/>
                          </a:solidFill>
                          <a:effectLst/>
                          <a:latin typeface="Arial Narrow" pitchFamily="34" charset="0"/>
                        </a:rPr>
                        <a:t>du domaine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sz="2400" b="1" i="0" u="none" strike="noStrike" cap="none" normalizeH="0" baseline="0" dirty="0" smtClean="0">
                          <a:ln>
                            <a:noFill/>
                          </a:ln>
                          <a:solidFill>
                            <a:srgbClr val="000000"/>
                          </a:solidFill>
                          <a:effectLst/>
                          <a:latin typeface="Arial Narrow" pitchFamily="34" charset="0"/>
                        </a:rPr>
                        <a:t>Niveaux fonctionnels </a:t>
                      </a:r>
                      <a:br>
                        <a:rPr kumimoji="0" lang="fr-FR" sz="2400" b="1" i="0" u="none" strike="noStrike" cap="none" normalizeH="0" baseline="0" dirty="0" smtClean="0">
                          <a:ln>
                            <a:noFill/>
                          </a:ln>
                          <a:solidFill>
                            <a:srgbClr val="000000"/>
                          </a:solidFill>
                          <a:effectLst/>
                          <a:latin typeface="Arial Narrow" pitchFamily="34" charset="0"/>
                        </a:rPr>
                      </a:br>
                      <a:r>
                        <a:rPr kumimoji="0" lang="fr-FR" sz="2400" b="1" i="0" u="none" strike="noStrike" cap="none" normalizeH="0" baseline="0" dirty="0" smtClean="0">
                          <a:ln>
                            <a:noFill/>
                          </a:ln>
                          <a:solidFill>
                            <a:srgbClr val="000000"/>
                          </a:solidFill>
                          <a:effectLst/>
                          <a:latin typeface="Arial Narrow" pitchFamily="34" charset="0"/>
                        </a:rPr>
                        <a:t>de la forêt</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736600">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dirty="0" smtClean="0">
                          <a:ln>
                            <a:noFill/>
                          </a:ln>
                          <a:solidFill>
                            <a:srgbClr val="000000"/>
                          </a:solidFill>
                          <a:effectLst/>
                          <a:latin typeface="Arial Narrow" pitchFamily="34" charset="0"/>
                        </a:rPr>
                        <a:t>Domaine en mode mixte Windows 2000</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7937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dirty="0" smtClean="0">
                          <a:ln>
                            <a:noFill/>
                          </a:ln>
                          <a:solidFill>
                            <a:srgbClr val="000000"/>
                          </a:solidFill>
                          <a:effectLst/>
                          <a:latin typeface="Arial Narrow" pitchFamily="34" charset="0"/>
                        </a:rPr>
                        <a:t>Domaine en mode natif Windows 2000</a:t>
                      </a:r>
                      <a:endParaRPr kumimoji="0" lang="en-US" sz="2200" b="1"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7921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dirty="0" smtClean="0">
                          <a:ln>
                            <a:noFill/>
                          </a:ln>
                          <a:solidFill>
                            <a:srgbClr val="000000"/>
                          </a:solidFill>
                          <a:effectLst/>
                          <a:latin typeface="Arial Narrow" pitchFamily="34" charset="0"/>
                        </a:rPr>
                        <a:t>Domaine Windows Server 2003</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7937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dirty="0" smtClean="0">
                          <a:ln>
                            <a:noFill/>
                          </a:ln>
                          <a:solidFill>
                            <a:srgbClr val="000000"/>
                          </a:solidFill>
                          <a:effectLst/>
                          <a:latin typeface="Arial Narrow" pitchFamily="34" charset="0"/>
                        </a:rPr>
                        <a:t>Windows Server 2003 version préliminaire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endParaRPr kumimoji="0" lang="fr-FR"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
        <p:nvSpPr>
          <p:cNvPr id="511054" name="Rectangle 78"/>
          <p:cNvSpPr>
            <a:spLocks noChangeArrowheads="1"/>
          </p:cNvSpPr>
          <p:nvPr/>
        </p:nvSpPr>
        <p:spPr bwMode="auto">
          <a:xfrm>
            <a:off x="203200" y="1217613"/>
            <a:ext cx="8723086" cy="830997"/>
          </a:xfrm>
          <a:prstGeom prst="rect">
            <a:avLst/>
          </a:prstGeom>
          <a:noFill/>
          <a:ln w="9525" algn="ctr">
            <a:noFill/>
            <a:miter lim="800000"/>
            <a:headEnd/>
            <a:tailEnd/>
          </a:ln>
          <a:effectLst/>
        </p:spPr>
        <p:txBody>
          <a:bodyPr wrap="square">
            <a:spAutoFit/>
          </a:bodyPr>
          <a:lstStyle/>
          <a:p>
            <a:pPr algn="l"/>
            <a:r>
              <a:rPr lang="fr-FR" sz="2400" dirty="0">
                <a:solidFill>
                  <a:srgbClr val="000000"/>
                </a:solidFill>
              </a:rPr>
              <a:t>Activation des fonctionnalités Active Directory au niveau du domaine ou de la forêt</a:t>
            </a:r>
            <a:endParaRPr lang="en-US" sz="2400" dirty="0"/>
          </a:p>
        </p:txBody>
      </p:sp>
      <p:pic>
        <p:nvPicPr>
          <p:cNvPr id="511063" name="Picture 87" descr="Validate_CheckMark01"/>
          <p:cNvPicPr>
            <a:picLocks noChangeAspect="1" noChangeArrowheads="1"/>
          </p:cNvPicPr>
          <p:nvPr/>
        </p:nvPicPr>
        <p:blipFill>
          <a:blip r:embed="rId3" cstate="print"/>
          <a:srcRect/>
          <a:stretch>
            <a:fillRect/>
          </a:stretch>
        </p:blipFill>
        <p:spPr bwMode="auto">
          <a:xfrm>
            <a:off x="4294188" y="3065463"/>
            <a:ext cx="685800" cy="649287"/>
          </a:xfrm>
          <a:prstGeom prst="rect">
            <a:avLst/>
          </a:prstGeom>
          <a:noFill/>
        </p:spPr>
      </p:pic>
      <p:pic>
        <p:nvPicPr>
          <p:cNvPr id="511064" name="Picture 88" descr="Validate_CheckMark01"/>
          <p:cNvPicPr>
            <a:picLocks noChangeAspect="1" noChangeArrowheads="1"/>
          </p:cNvPicPr>
          <p:nvPr/>
        </p:nvPicPr>
        <p:blipFill>
          <a:blip r:embed="rId3" cstate="print"/>
          <a:srcRect/>
          <a:stretch>
            <a:fillRect/>
          </a:stretch>
        </p:blipFill>
        <p:spPr bwMode="auto">
          <a:xfrm>
            <a:off x="4294188" y="3863975"/>
            <a:ext cx="685800" cy="649288"/>
          </a:xfrm>
          <a:prstGeom prst="rect">
            <a:avLst/>
          </a:prstGeom>
          <a:noFill/>
        </p:spPr>
      </p:pic>
      <p:pic>
        <p:nvPicPr>
          <p:cNvPr id="511065" name="Picture 89" descr="Validate_CheckMark01"/>
          <p:cNvPicPr>
            <a:picLocks noChangeAspect="1" noChangeArrowheads="1"/>
          </p:cNvPicPr>
          <p:nvPr/>
        </p:nvPicPr>
        <p:blipFill>
          <a:blip r:embed="rId3" cstate="print"/>
          <a:srcRect/>
          <a:stretch>
            <a:fillRect/>
          </a:stretch>
        </p:blipFill>
        <p:spPr bwMode="auto">
          <a:xfrm>
            <a:off x="4294188" y="4662488"/>
            <a:ext cx="685800" cy="649287"/>
          </a:xfrm>
          <a:prstGeom prst="rect">
            <a:avLst/>
          </a:prstGeom>
          <a:noFill/>
        </p:spPr>
      </p:pic>
      <p:pic>
        <p:nvPicPr>
          <p:cNvPr id="511066" name="Picture 90" descr="Validate_CheckMark01"/>
          <p:cNvPicPr>
            <a:picLocks noChangeAspect="1" noChangeArrowheads="1"/>
          </p:cNvPicPr>
          <p:nvPr/>
        </p:nvPicPr>
        <p:blipFill>
          <a:blip r:embed="rId3" cstate="print"/>
          <a:srcRect/>
          <a:stretch>
            <a:fillRect/>
          </a:stretch>
        </p:blipFill>
        <p:spPr bwMode="auto">
          <a:xfrm>
            <a:off x="4294188" y="5462588"/>
            <a:ext cx="685800" cy="649287"/>
          </a:xfrm>
          <a:prstGeom prst="rect">
            <a:avLst/>
          </a:prstGeom>
          <a:noFill/>
        </p:spPr>
      </p:pic>
      <p:pic>
        <p:nvPicPr>
          <p:cNvPr id="511067" name="Picture 91" descr="Validate_CheckMark01"/>
          <p:cNvPicPr>
            <a:picLocks noChangeAspect="1" noChangeArrowheads="1"/>
          </p:cNvPicPr>
          <p:nvPr/>
        </p:nvPicPr>
        <p:blipFill>
          <a:blip r:embed="rId3" cstate="print"/>
          <a:srcRect/>
          <a:stretch>
            <a:fillRect/>
          </a:stretch>
        </p:blipFill>
        <p:spPr bwMode="auto">
          <a:xfrm>
            <a:off x="6430963" y="3868738"/>
            <a:ext cx="685800" cy="649287"/>
          </a:xfrm>
          <a:prstGeom prst="rect">
            <a:avLst/>
          </a:prstGeom>
          <a:noFill/>
        </p:spPr>
      </p:pic>
      <p:pic>
        <p:nvPicPr>
          <p:cNvPr id="511068" name="Picture 92" descr="Validate_CheckMark01"/>
          <p:cNvPicPr>
            <a:picLocks noChangeAspect="1" noChangeArrowheads="1"/>
          </p:cNvPicPr>
          <p:nvPr/>
        </p:nvPicPr>
        <p:blipFill>
          <a:blip r:embed="rId3" cstate="print"/>
          <a:srcRect/>
          <a:stretch>
            <a:fillRect/>
          </a:stretch>
        </p:blipFill>
        <p:spPr bwMode="auto">
          <a:xfrm>
            <a:off x="6430963" y="4618038"/>
            <a:ext cx="685800" cy="649287"/>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301752" y="286656"/>
            <a:ext cx="8534400" cy="758952"/>
          </a:xfrm>
        </p:spPr>
        <p:txBody>
          <a:bodyPr>
            <a:noAutofit/>
          </a:bodyPr>
          <a:lstStyle/>
          <a:p>
            <a:r>
              <a:rPr lang="fr-FR" sz="2600" b="1" dirty="0">
                <a:solidFill>
                  <a:srgbClr val="C00000"/>
                </a:solidFill>
              </a:rPr>
              <a:t>Conditions requises pour activer les nouvelles fonctionnalités de Windows Server 2003</a:t>
            </a:r>
            <a:endParaRPr lang="en-US" sz="2600" b="1" dirty="0">
              <a:solidFill>
                <a:srgbClr val="C00000"/>
              </a:solidFill>
            </a:endParaRPr>
          </a:p>
        </p:txBody>
      </p:sp>
      <p:graphicFrame>
        <p:nvGraphicFramePr>
          <p:cNvPr id="445527" name="Group 87"/>
          <p:cNvGraphicFramePr>
            <a:graphicFrameLocks noGrp="1"/>
          </p:cNvGraphicFramePr>
          <p:nvPr/>
        </p:nvGraphicFramePr>
        <p:xfrm>
          <a:off x="200479" y="1430791"/>
          <a:ext cx="8740320" cy="4897437"/>
        </p:xfrm>
        <a:graphic>
          <a:graphicData uri="http://schemas.openxmlformats.org/drawingml/2006/table">
            <a:tbl>
              <a:tblPr/>
              <a:tblGrid>
                <a:gridCol w="2444597"/>
                <a:gridCol w="2912259"/>
                <a:gridCol w="3383464"/>
              </a:tblGrid>
              <a:tr h="864964">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400" b="1" i="0" u="none" strike="noStrike" cap="none" normalizeH="0" baseline="0" dirty="0" smtClean="0">
                          <a:ln>
                            <a:noFill/>
                          </a:ln>
                          <a:solidFill>
                            <a:srgbClr val="000000"/>
                          </a:solidFill>
                          <a:effectLst/>
                          <a:latin typeface="Arial Narrow" pitchFamily="34" charset="0"/>
                        </a:rPr>
                        <a:t>Condition requise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sz="2400" b="1" i="0" u="none" strike="noStrike" cap="none" normalizeH="0" baseline="0" dirty="0" smtClean="0">
                          <a:ln>
                            <a:noFill/>
                          </a:ln>
                          <a:solidFill>
                            <a:srgbClr val="000000"/>
                          </a:solidFill>
                          <a:effectLst/>
                          <a:latin typeface="Arial Narrow" pitchFamily="34" charset="0"/>
                        </a:rPr>
                        <a:t>Domaine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sz="2400" b="1" i="0" u="none" strike="noStrike" cap="none" normalizeH="0" baseline="0" dirty="0" smtClean="0">
                          <a:ln>
                            <a:noFill/>
                          </a:ln>
                          <a:solidFill>
                            <a:srgbClr val="000000"/>
                          </a:solidFill>
                          <a:effectLst/>
                          <a:latin typeface="Arial Narrow" pitchFamily="34" charset="0"/>
                        </a:rPr>
                        <a:t>Forêt</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1391674">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smtClean="0">
                          <a:ln>
                            <a:noFill/>
                          </a:ln>
                          <a:solidFill>
                            <a:srgbClr val="000000"/>
                          </a:solidFill>
                          <a:effectLst/>
                          <a:latin typeface="Arial Narrow" pitchFamily="34" charset="0"/>
                        </a:rPr>
                        <a:t>Les contrôleurs de domaine doivent fonctionner sous :</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smtClean="0">
                          <a:ln>
                            <a:noFill/>
                          </a:ln>
                          <a:solidFill>
                            <a:srgbClr val="000000"/>
                          </a:solidFill>
                          <a:effectLst/>
                          <a:latin typeface="Arial Narrow" pitchFamily="34" charset="0"/>
                        </a:rPr>
                        <a:t>Windows Server 2003</a:t>
                      </a:r>
                      <a:endParaRPr kumimoji="0" lang="en-US" sz="2200" b="0"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smtClean="0">
                          <a:ln>
                            <a:noFill/>
                          </a:ln>
                          <a:solidFill>
                            <a:srgbClr val="000000"/>
                          </a:solidFill>
                          <a:effectLst/>
                          <a:latin typeface="Arial Narrow" pitchFamily="34" charset="0"/>
                        </a:rPr>
                        <a:t>Windows Server 2003</a:t>
                      </a:r>
                      <a:endParaRPr kumimoji="0" lang="en-US" sz="2200" b="0"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2491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smtClean="0">
                          <a:ln>
                            <a:noFill/>
                          </a:ln>
                          <a:solidFill>
                            <a:srgbClr val="000000"/>
                          </a:solidFill>
                          <a:effectLst/>
                          <a:latin typeface="Arial Narrow" pitchFamily="34" charset="0"/>
                        </a:rPr>
                        <a:t>Le niveau fonctionnel du domaine doit être :</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smtClean="0">
                          <a:ln>
                            <a:noFill/>
                          </a:ln>
                          <a:solidFill>
                            <a:srgbClr val="000000"/>
                          </a:solidFill>
                          <a:effectLst/>
                          <a:latin typeface="Arial Narrow" pitchFamily="34" charset="0"/>
                        </a:rPr>
                        <a:t>Élevé au niveau </a:t>
                      </a:r>
                      <a:br>
                        <a:rPr kumimoji="0" lang="fr-FR" sz="2200" b="0" i="0" u="none" strike="noStrike" cap="none" normalizeH="0" baseline="0" smtClean="0">
                          <a:ln>
                            <a:noFill/>
                          </a:ln>
                          <a:solidFill>
                            <a:srgbClr val="000000"/>
                          </a:solidFill>
                          <a:effectLst/>
                          <a:latin typeface="Arial Narrow" pitchFamily="34" charset="0"/>
                        </a:rPr>
                      </a:br>
                      <a:r>
                        <a:rPr kumimoji="0" lang="fr-FR" sz="2200" b="0" i="0" u="none" strike="noStrike" cap="none" normalizeH="0" baseline="0" smtClean="0">
                          <a:ln>
                            <a:noFill/>
                          </a:ln>
                          <a:solidFill>
                            <a:srgbClr val="000000"/>
                          </a:solidFill>
                          <a:effectLst/>
                          <a:latin typeface="Arial Narrow" pitchFamily="34" charset="0"/>
                        </a:rPr>
                        <a:t>Windows Server 2003</a:t>
                      </a:r>
                      <a:endParaRPr kumimoji="0" lang="en-US" sz="2200" b="0"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smtClean="0">
                          <a:ln>
                            <a:noFill/>
                          </a:ln>
                          <a:solidFill>
                            <a:srgbClr val="000000"/>
                          </a:solidFill>
                          <a:effectLst/>
                          <a:latin typeface="Arial Narrow" pitchFamily="34" charset="0"/>
                        </a:rPr>
                        <a:t>Capable de passer au niveau Windows Server 2003 </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39167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smtClean="0">
                          <a:ln>
                            <a:noFill/>
                          </a:ln>
                          <a:solidFill>
                            <a:srgbClr val="000000"/>
                          </a:solidFill>
                          <a:effectLst/>
                          <a:latin typeface="Arial Narrow" pitchFamily="34" charset="0"/>
                        </a:rPr>
                        <a:t>Administrateur :</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smtClean="0">
                          <a:ln>
                            <a:noFill/>
                          </a:ln>
                          <a:solidFill>
                            <a:srgbClr val="000000"/>
                          </a:solidFill>
                          <a:effectLst/>
                          <a:latin typeface="Arial Narrow" pitchFamily="34" charset="0"/>
                        </a:rPr>
                        <a:t>L'administrateur de domaine doit augmenter le niveau fonctionnel du domaine</a:t>
                      </a:r>
                      <a:endParaRPr kumimoji="0" lang="en-US" sz="2200" b="0"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sz="2200" b="0" i="0" u="none" strike="noStrike" cap="none" normalizeH="0" baseline="0" dirty="0" smtClean="0">
                          <a:ln>
                            <a:noFill/>
                          </a:ln>
                          <a:solidFill>
                            <a:srgbClr val="000000"/>
                          </a:solidFill>
                          <a:effectLst/>
                          <a:latin typeface="Arial Narrow" pitchFamily="34" charset="0"/>
                        </a:rPr>
                        <a:t>L'administrateur de l'entreprise doit augmenter le niveau fonctionnel de la forêt</a:t>
                      </a:r>
                      <a:endParaRPr kumimoji="0" lang="en-US" sz="22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fr-FR" dirty="0" smtClean="0">
                <a:solidFill>
                  <a:srgbClr val="000000"/>
                </a:solidFill>
              </a:rPr>
              <a:t>4.  Création </a:t>
            </a:r>
            <a:r>
              <a:rPr lang="fr-FR" dirty="0">
                <a:solidFill>
                  <a:srgbClr val="000000"/>
                </a:solidFill>
              </a:rPr>
              <a:t>de relations d'approbation</a:t>
            </a:r>
            <a:endParaRPr lang="en-US" dirty="0">
              <a:solidFill>
                <a:srgbClr val="000000"/>
              </a:solidFill>
            </a:endParaRPr>
          </a:p>
        </p:txBody>
      </p:sp>
      <p:sp>
        <p:nvSpPr>
          <p:cNvPr id="398339" name="Rectangle 3"/>
          <p:cNvSpPr>
            <a:spLocks noGrp="1" noChangeArrowheads="1"/>
          </p:cNvSpPr>
          <p:nvPr>
            <p:ph sz="quarter" idx="1"/>
          </p:nvPr>
        </p:nvSpPr>
        <p:spPr>
          <a:xfrm>
            <a:off x="329048" y="1977424"/>
            <a:ext cx="8503920" cy="3222373"/>
          </a:xfrm>
        </p:spPr>
        <p:txBody>
          <a:bodyPr/>
          <a:lstStyle/>
          <a:p>
            <a:r>
              <a:rPr lang="fr-FR" dirty="0">
                <a:solidFill>
                  <a:srgbClr val="C00000"/>
                </a:solidFill>
              </a:rPr>
              <a:t>Types d'approbations</a:t>
            </a:r>
            <a:endParaRPr lang="en-US" dirty="0">
              <a:solidFill>
                <a:srgbClr val="C00000"/>
              </a:solidFill>
            </a:endParaRPr>
          </a:p>
          <a:p>
            <a:r>
              <a:rPr lang="fr-FR" dirty="0">
                <a:solidFill>
                  <a:srgbClr val="C00000"/>
                </a:solidFill>
              </a:rPr>
              <a:t>Définition des objets du domaine approuvé</a:t>
            </a:r>
            <a:endParaRPr lang="en-US" dirty="0">
              <a:solidFill>
                <a:srgbClr val="C00000"/>
              </a:solidFill>
            </a:endParaRPr>
          </a:p>
          <a:p>
            <a:r>
              <a:rPr lang="fr-FR" dirty="0">
                <a:solidFill>
                  <a:srgbClr val="C00000"/>
                </a:solidFill>
              </a:rPr>
              <a:t>Comment fonctionnent les approbations dans une forêt</a:t>
            </a:r>
            <a:endParaRPr lang="en-US" dirty="0">
              <a:solidFill>
                <a:srgbClr val="C00000"/>
              </a:solidFill>
            </a:endParaRPr>
          </a:p>
          <a:p>
            <a:r>
              <a:rPr lang="fr-FR" dirty="0">
                <a:solidFill>
                  <a:srgbClr val="C00000"/>
                </a:solidFill>
              </a:rPr>
              <a:t>Comment fonctionnent les approbations entre les </a:t>
            </a:r>
            <a:r>
              <a:rPr lang="fr-FR" dirty="0" smtClean="0">
                <a:solidFill>
                  <a:srgbClr val="C00000"/>
                </a:solidFill>
              </a:rPr>
              <a:t>forêts</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305" name="AutoShape 81"/>
          <p:cNvSpPr>
            <a:spLocks noChangeArrowheads="1"/>
          </p:cNvSpPr>
          <p:nvPr/>
        </p:nvSpPr>
        <p:spPr bwMode="auto">
          <a:xfrm>
            <a:off x="5707063" y="1263650"/>
            <a:ext cx="2790825" cy="4270375"/>
          </a:xfrm>
          <a:prstGeom prst="roundRect">
            <a:avLst>
              <a:gd name="adj" fmla="val 3569"/>
            </a:avLst>
          </a:prstGeom>
          <a:solidFill>
            <a:srgbClr val="FDEDE9"/>
          </a:solidFill>
          <a:ln w="9525">
            <a:solidFill>
              <a:srgbClr val="C0C0C0"/>
            </a:solidFill>
            <a:round/>
            <a:headEnd/>
            <a:tailEnd/>
          </a:ln>
          <a:effectLst/>
        </p:spPr>
        <p:txBody>
          <a:bodyPr wrap="none" anchor="ctr"/>
          <a:lstStyle/>
          <a:p>
            <a:endParaRPr lang="fr-FR"/>
          </a:p>
        </p:txBody>
      </p:sp>
      <p:sp>
        <p:nvSpPr>
          <p:cNvPr id="436304" name="AutoShape 80"/>
          <p:cNvSpPr>
            <a:spLocks noChangeArrowheads="1"/>
          </p:cNvSpPr>
          <p:nvPr/>
        </p:nvSpPr>
        <p:spPr bwMode="auto">
          <a:xfrm>
            <a:off x="434975" y="1277938"/>
            <a:ext cx="5003800" cy="4233862"/>
          </a:xfrm>
          <a:prstGeom prst="roundRect">
            <a:avLst>
              <a:gd name="adj" fmla="val 3569"/>
            </a:avLst>
          </a:prstGeom>
          <a:solidFill>
            <a:srgbClr val="EBFBFA"/>
          </a:solidFill>
          <a:ln w="9525">
            <a:solidFill>
              <a:srgbClr val="C0C0C0"/>
            </a:solidFill>
            <a:round/>
            <a:headEnd/>
            <a:tailEnd/>
          </a:ln>
          <a:effectLst/>
        </p:spPr>
        <p:txBody>
          <a:bodyPr wrap="none" anchor="ctr"/>
          <a:lstStyle/>
          <a:p>
            <a:endParaRPr lang="fr-FR"/>
          </a:p>
        </p:txBody>
      </p:sp>
      <p:sp>
        <p:nvSpPr>
          <p:cNvPr id="436311" name="Line 87"/>
          <p:cNvSpPr>
            <a:spLocks noChangeShapeType="1"/>
          </p:cNvSpPr>
          <p:nvPr/>
        </p:nvSpPr>
        <p:spPr bwMode="auto">
          <a:xfrm>
            <a:off x="4527550" y="2836863"/>
            <a:ext cx="427038" cy="776287"/>
          </a:xfrm>
          <a:prstGeom prst="line">
            <a:avLst/>
          </a:prstGeom>
          <a:noFill/>
          <a:ln w="28575">
            <a:solidFill>
              <a:srgbClr val="808080"/>
            </a:solidFill>
            <a:round/>
            <a:headEnd/>
            <a:tailEnd/>
          </a:ln>
          <a:effectLst/>
        </p:spPr>
        <p:txBody>
          <a:bodyPr/>
          <a:lstStyle/>
          <a:p>
            <a:endParaRPr lang="fr-FR"/>
          </a:p>
        </p:txBody>
      </p:sp>
      <p:sp>
        <p:nvSpPr>
          <p:cNvPr id="436296" name="Line 72"/>
          <p:cNvSpPr>
            <a:spLocks noChangeShapeType="1"/>
          </p:cNvSpPr>
          <p:nvPr/>
        </p:nvSpPr>
        <p:spPr bwMode="auto">
          <a:xfrm>
            <a:off x="7534275" y="2684463"/>
            <a:ext cx="427038" cy="776287"/>
          </a:xfrm>
          <a:prstGeom prst="line">
            <a:avLst/>
          </a:prstGeom>
          <a:noFill/>
          <a:ln w="28575">
            <a:solidFill>
              <a:srgbClr val="808080"/>
            </a:solidFill>
            <a:round/>
            <a:headEnd/>
            <a:tailEnd/>
          </a:ln>
          <a:effectLst/>
        </p:spPr>
        <p:txBody>
          <a:bodyPr/>
          <a:lstStyle/>
          <a:p>
            <a:endParaRPr lang="fr-FR"/>
          </a:p>
        </p:txBody>
      </p:sp>
      <p:sp>
        <p:nvSpPr>
          <p:cNvPr id="436292" name="Line 68"/>
          <p:cNvSpPr>
            <a:spLocks noChangeShapeType="1"/>
          </p:cNvSpPr>
          <p:nvPr/>
        </p:nvSpPr>
        <p:spPr bwMode="auto">
          <a:xfrm flipH="1">
            <a:off x="6289675" y="2671763"/>
            <a:ext cx="427038" cy="776287"/>
          </a:xfrm>
          <a:prstGeom prst="line">
            <a:avLst/>
          </a:prstGeom>
          <a:noFill/>
          <a:ln w="28575">
            <a:solidFill>
              <a:srgbClr val="808080"/>
            </a:solidFill>
            <a:round/>
            <a:headEnd/>
            <a:tailEnd/>
          </a:ln>
          <a:effectLst/>
        </p:spPr>
        <p:txBody>
          <a:bodyPr/>
          <a:lstStyle/>
          <a:p>
            <a:endParaRPr lang="fr-FR"/>
          </a:p>
        </p:txBody>
      </p:sp>
      <p:sp>
        <p:nvSpPr>
          <p:cNvPr id="436290" name="Line 66"/>
          <p:cNvSpPr>
            <a:spLocks noChangeShapeType="1"/>
          </p:cNvSpPr>
          <p:nvPr/>
        </p:nvSpPr>
        <p:spPr bwMode="auto">
          <a:xfrm>
            <a:off x="3543300" y="4046538"/>
            <a:ext cx="427038" cy="776287"/>
          </a:xfrm>
          <a:prstGeom prst="line">
            <a:avLst/>
          </a:prstGeom>
          <a:noFill/>
          <a:ln w="28575">
            <a:solidFill>
              <a:srgbClr val="808080"/>
            </a:solidFill>
            <a:round/>
            <a:headEnd/>
            <a:tailEnd/>
          </a:ln>
          <a:effectLst/>
        </p:spPr>
        <p:txBody>
          <a:bodyPr/>
          <a:lstStyle/>
          <a:p>
            <a:endParaRPr lang="fr-FR"/>
          </a:p>
        </p:txBody>
      </p:sp>
      <p:sp>
        <p:nvSpPr>
          <p:cNvPr id="436247" name="Line 23"/>
          <p:cNvSpPr>
            <a:spLocks noChangeShapeType="1"/>
          </p:cNvSpPr>
          <p:nvPr/>
        </p:nvSpPr>
        <p:spPr bwMode="auto">
          <a:xfrm flipH="1">
            <a:off x="3279775" y="2786063"/>
            <a:ext cx="427038" cy="776287"/>
          </a:xfrm>
          <a:prstGeom prst="line">
            <a:avLst/>
          </a:prstGeom>
          <a:noFill/>
          <a:ln w="28575">
            <a:solidFill>
              <a:srgbClr val="808080"/>
            </a:solidFill>
            <a:round/>
            <a:headEnd/>
            <a:tailEnd/>
          </a:ln>
          <a:effectLst/>
        </p:spPr>
        <p:txBody>
          <a:bodyPr/>
          <a:lstStyle/>
          <a:p>
            <a:endParaRPr lang="fr-FR"/>
          </a:p>
        </p:txBody>
      </p:sp>
      <p:pic>
        <p:nvPicPr>
          <p:cNvPr id="436285" name="Picture 61" descr="2Domain01"/>
          <p:cNvPicPr>
            <a:picLocks noChangeAspect="1" noChangeArrowheads="1"/>
          </p:cNvPicPr>
          <p:nvPr/>
        </p:nvPicPr>
        <p:blipFill>
          <a:blip r:embed="rId4" cstate="print"/>
          <a:srcRect/>
          <a:stretch>
            <a:fillRect/>
          </a:stretch>
        </p:blipFill>
        <p:spPr bwMode="auto">
          <a:xfrm>
            <a:off x="3590925" y="2022475"/>
            <a:ext cx="1065213" cy="941388"/>
          </a:xfrm>
          <a:prstGeom prst="rect">
            <a:avLst/>
          </a:prstGeom>
          <a:noFill/>
        </p:spPr>
      </p:pic>
      <p:sp>
        <p:nvSpPr>
          <p:cNvPr id="436283" name="Line 59"/>
          <p:cNvSpPr>
            <a:spLocks noChangeShapeType="1"/>
          </p:cNvSpPr>
          <p:nvPr/>
        </p:nvSpPr>
        <p:spPr bwMode="auto">
          <a:xfrm flipH="1">
            <a:off x="1692275" y="2849563"/>
            <a:ext cx="414338" cy="750887"/>
          </a:xfrm>
          <a:prstGeom prst="line">
            <a:avLst/>
          </a:prstGeom>
          <a:noFill/>
          <a:ln w="28575">
            <a:solidFill>
              <a:srgbClr val="808080"/>
            </a:solidFill>
            <a:round/>
            <a:headEnd/>
            <a:tailEnd/>
          </a:ln>
          <a:effectLst/>
        </p:spPr>
        <p:txBody>
          <a:bodyPr/>
          <a:lstStyle/>
          <a:p>
            <a:endParaRPr lang="fr-FR"/>
          </a:p>
        </p:txBody>
      </p:sp>
      <p:pic>
        <p:nvPicPr>
          <p:cNvPr id="436284" name="Picture 60" descr="2Domain01"/>
          <p:cNvPicPr>
            <a:picLocks noChangeAspect="1" noChangeArrowheads="1"/>
          </p:cNvPicPr>
          <p:nvPr/>
        </p:nvPicPr>
        <p:blipFill>
          <a:blip r:embed="rId4" cstate="print"/>
          <a:srcRect/>
          <a:stretch>
            <a:fillRect/>
          </a:stretch>
        </p:blipFill>
        <p:spPr bwMode="auto">
          <a:xfrm>
            <a:off x="1965325" y="2022475"/>
            <a:ext cx="1065213" cy="941388"/>
          </a:xfrm>
          <a:prstGeom prst="rect">
            <a:avLst/>
          </a:prstGeom>
          <a:noFill/>
        </p:spPr>
      </p:pic>
      <p:sp>
        <p:nvSpPr>
          <p:cNvPr id="436266" name="Arc 42"/>
          <p:cNvSpPr>
            <a:spLocks/>
          </p:cNvSpPr>
          <p:nvPr/>
        </p:nvSpPr>
        <p:spPr bwMode="auto">
          <a:xfrm flipV="1">
            <a:off x="5262563" y="3605213"/>
            <a:ext cx="2584450" cy="1042987"/>
          </a:xfrm>
          <a:custGeom>
            <a:avLst/>
            <a:gdLst>
              <a:gd name="G0" fmla="+- 18556 0 0"/>
              <a:gd name="G1" fmla="+- 21600 0 0"/>
              <a:gd name="G2" fmla="+- 21600 0 0"/>
              <a:gd name="T0" fmla="*/ 0 w 36059"/>
              <a:gd name="T1" fmla="*/ 10544 h 21600"/>
              <a:gd name="T2" fmla="*/ 36059 w 36059"/>
              <a:gd name="T3" fmla="*/ 8943 h 21600"/>
              <a:gd name="T4" fmla="*/ 18556 w 36059"/>
              <a:gd name="T5" fmla="*/ 21600 h 21600"/>
            </a:gdLst>
            <a:ahLst/>
            <a:cxnLst>
              <a:cxn ang="0">
                <a:pos x="T0" y="T1"/>
              </a:cxn>
              <a:cxn ang="0">
                <a:pos x="T2" y="T3"/>
              </a:cxn>
              <a:cxn ang="0">
                <a:pos x="T4" y="T5"/>
              </a:cxn>
            </a:cxnLst>
            <a:rect l="0" t="0" r="r" b="b"/>
            <a:pathLst>
              <a:path w="36059" h="21600" fill="none" extrusionOk="0">
                <a:moveTo>
                  <a:pt x="0" y="10544"/>
                </a:moveTo>
                <a:cubicBezTo>
                  <a:pt x="3895" y="4005"/>
                  <a:pt x="10944" y="-1"/>
                  <a:pt x="18556" y="0"/>
                </a:cubicBezTo>
                <a:cubicBezTo>
                  <a:pt x="25487" y="0"/>
                  <a:pt x="31997" y="3326"/>
                  <a:pt x="36059" y="8942"/>
                </a:cubicBezTo>
              </a:path>
              <a:path w="36059" h="21600" stroke="0" extrusionOk="0">
                <a:moveTo>
                  <a:pt x="0" y="10544"/>
                </a:moveTo>
                <a:cubicBezTo>
                  <a:pt x="3895" y="4005"/>
                  <a:pt x="10944" y="-1"/>
                  <a:pt x="18556" y="0"/>
                </a:cubicBezTo>
                <a:cubicBezTo>
                  <a:pt x="25487" y="0"/>
                  <a:pt x="31997" y="3326"/>
                  <a:pt x="36059" y="8942"/>
                </a:cubicBezTo>
                <a:lnTo>
                  <a:pt x="18556" y="21600"/>
                </a:lnTo>
                <a:close/>
              </a:path>
            </a:pathLst>
          </a:custGeom>
          <a:noFill/>
          <a:ln w="50800">
            <a:solidFill>
              <a:srgbClr val="CC0000"/>
            </a:solidFill>
            <a:round/>
            <a:headEnd/>
            <a:tailEnd type="triangle" w="med" len="med"/>
          </a:ln>
          <a:effectLst/>
        </p:spPr>
        <p:txBody>
          <a:bodyPr wrap="none" tIns="27432" bIns="27432" anchor="ctr"/>
          <a:lstStyle/>
          <a:p>
            <a:endParaRPr lang="fr-FR"/>
          </a:p>
        </p:txBody>
      </p:sp>
      <p:sp>
        <p:nvSpPr>
          <p:cNvPr id="436226" name="Rectangle 2"/>
          <p:cNvSpPr>
            <a:spLocks noGrp="1" noChangeArrowheads="1"/>
          </p:cNvSpPr>
          <p:nvPr>
            <p:ph type="title"/>
          </p:nvPr>
        </p:nvSpPr>
        <p:spPr>
          <a:xfrm>
            <a:off x="174171" y="228600"/>
            <a:ext cx="8795658" cy="758952"/>
          </a:xfrm>
        </p:spPr>
        <p:txBody>
          <a:bodyPr>
            <a:normAutofit/>
          </a:bodyPr>
          <a:lstStyle/>
          <a:p>
            <a:r>
              <a:rPr lang="fr-FR" sz="3000" b="1" dirty="0">
                <a:solidFill>
                  <a:srgbClr val="C00000"/>
                </a:solidFill>
              </a:rPr>
              <a:t>Types d'approbations</a:t>
            </a:r>
            <a:endParaRPr lang="en-US" sz="3000" b="1" dirty="0">
              <a:solidFill>
                <a:srgbClr val="C00000"/>
              </a:solidFill>
            </a:endParaRPr>
          </a:p>
        </p:txBody>
      </p:sp>
      <p:sp>
        <p:nvSpPr>
          <p:cNvPr id="436242" name="Text Box 18"/>
          <p:cNvSpPr txBox="1">
            <a:spLocks noChangeArrowheads="1"/>
          </p:cNvSpPr>
          <p:nvPr/>
        </p:nvSpPr>
        <p:spPr bwMode="auto">
          <a:xfrm rot="4855">
            <a:off x="3741738" y="2390775"/>
            <a:ext cx="784225" cy="542925"/>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Forêt</a:t>
            </a:r>
            <a:endParaRPr lang="en-US" sz="1600"/>
          </a:p>
          <a:p>
            <a:r>
              <a:rPr lang="fr-FR" sz="1600">
                <a:solidFill>
                  <a:srgbClr val="000000"/>
                </a:solidFill>
              </a:rPr>
              <a:t>(racine)</a:t>
            </a:r>
            <a:endParaRPr lang="en-US" sz="1600">
              <a:solidFill>
                <a:srgbClr val="000000"/>
              </a:solidFill>
            </a:endParaRPr>
          </a:p>
        </p:txBody>
      </p:sp>
      <p:sp>
        <p:nvSpPr>
          <p:cNvPr id="436244" name="Line 20"/>
          <p:cNvSpPr>
            <a:spLocks noChangeShapeType="1"/>
          </p:cNvSpPr>
          <p:nvPr/>
        </p:nvSpPr>
        <p:spPr bwMode="auto">
          <a:xfrm flipH="1">
            <a:off x="955675" y="4081463"/>
            <a:ext cx="477838" cy="890587"/>
          </a:xfrm>
          <a:prstGeom prst="line">
            <a:avLst/>
          </a:prstGeom>
          <a:noFill/>
          <a:ln w="28575">
            <a:solidFill>
              <a:srgbClr val="808080"/>
            </a:solidFill>
            <a:round/>
            <a:headEnd/>
            <a:tailEnd/>
          </a:ln>
          <a:effectLst/>
        </p:spPr>
        <p:txBody>
          <a:bodyPr/>
          <a:lstStyle/>
          <a:p>
            <a:endParaRPr lang="fr-FR"/>
          </a:p>
        </p:txBody>
      </p:sp>
      <p:sp>
        <p:nvSpPr>
          <p:cNvPr id="436245" name="AutoShape 21"/>
          <p:cNvSpPr>
            <a:spLocks noChangeArrowheads="1"/>
          </p:cNvSpPr>
          <p:nvPr/>
        </p:nvSpPr>
        <p:spPr bwMode="auto">
          <a:xfrm>
            <a:off x="2306638" y="1417638"/>
            <a:ext cx="2095500" cy="56197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solidFill>
                  <a:srgbClr val="000000"/>
                </a:solidFill>
              </a:rPr>
              <a:t>Arborescence/Racine</a:t>
            </a:r>
            <a:endParaRPr lang="en-US"/>
          </a:p>
          <a:p>
            <a:pPr>
              <a:lnSpc>
                <a:spcPct val="85000"/>
              </a:lnSpc>
            </a:pPr>
            <a:r>
              <a:rPr lang="fr-FR">
                <a:solidFill>
                  <a:srgbClr val="000000"/>
                </a:solidFill>
              </a:rPr>
              <a:t>Approbation</a:t>
            </a:r>
            <a:endParaRPr lang="en-US">
              <a:solidFill>
                <a:srgbClr val="000000"/>
              </a:solidFill>
            </a:endParaRPr>
          </a:p>
        </p:txBody>
      </p:sp>
      <p:sp>
        <p:nvSpPr>
          <p:cNvPr id="436256" name="AutoShape 32"/>
          <p:cNvSpPr>
            <a:spLocks noChangeArrowheads="1"/>
          </p:cNvSpPr>
          <p:nvPr/>
        </p:nvSpPr>
        <p:spPr bwMode="auto">
          <a:xfrm>
            <a:off x="4991100" y="1417637"/>
            <a:ext cx="1511300" cy="686933"/>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a:solidFill>
                  <a:srgbClr val="C00000"/>
                </a:solidFill>
              </a:rPr>
              <a:t>Forêt</a:t>
            </a:r>
            <a:endParaRPr lang="en-US" sz="2200">
              <a:solidFill>
                <a:srgbClr val="C00000"/>
              </a:solidFill>
            </a:endParaRPr>
          </a:p>
          <a:p>
            <a:pPr>
              <a:lnSpc>
                <a:spcPct val="85000"/>
              </a:lnSpc>
            </a:pPr>
            <a:r>
              <a:rPr lang="fr-FR" sz="2200">
                <a:solidFill>
                  <a:srgbClr val="C00000"/>
                </a:solidFill>
              </a:rPr>
              <a:t>Approbation</a:t>
            </a:r>
            <a:endParaRPr lang="en-US" sz="2200">
              <a:solidFill>
                <a:srgbClr val="C00000"/>
              </a:solidFill>
            </a:endParaRPr>
          </a:p>
        </p:txBody>
      </p:sp>
      <p:sp>
        <p:nvSpPr>
          <p:cNvPr id="436261" name="Arc 37"/>
          <p:cNvSpPr>
            <a:spLocks/>
          </p:cNvSpPr>
          <p:nvPr/>
        </p:nvSpPr>
        <p:spPr bwMode="auto">
          <a:xfrm flipV="1">
            <a:off x="1757363" y="3763963"/>
            <a:ext cx="1560512" cy="811212"/>
          </a:xfrm>
          <a:custGeom>
            <a:avLst/>
            <a:gdLst>
              <a:gd name="G0" fmla="+- 18556 0 0"/>
              <a:gd name="G1" fmla="+- 21600 0 0"/>
              <a:gd name="G2" fmla="+- 21600 0 0"/>
              <a:gd name="T0" fmla="*/ 0 w 36059"/>
              <a:gd name="T1" fmla="*/ 10544 h 21600"/>
              <a:gd name="T2" fmla="*/ 36059 w 36059"/>
              <a:gd name="T3" fmla="*/ 8943 h 21600"/>
              <a:gd name="T4" fmla="*/ 18556 w 36059"/>
              <a:gd name="T5" fmla="*/ 21600 h 21600"/>
            </a:gdLst>
            <a:ahLst/>
            <a:cxnLst>
              <a:cxn ang="0">
                <a:pos x="T0" y="T1"/>
              </a:cxn>
              <a:cxn ang="0">
                <a:pos x="T2" y="T3"/>
              </a:cxn>
              <a:cxn ang="0">
                <a:pos x="T4" y="T5"/>
              </a:cxn>
            </a:cxnLst>
            <a:rect l="0" t="0" r="r" b="b"/>
            <a:pathLst>
              <a:path w="36059" h="21600" fill="none" extrusionOk="0">
                <a:moveTo>
                  <a:pt x="0" y="10544"/>
                </a:moveTo>
                <a:cubicBezTo>
                  <a:pt x="3895" y="4005"/>
                  <a:pt x="10944" y="-1"/>
                  <a:pt x="18556" y="0"/>
                </a:cubicBezTo>
                <a:cubicBezTo>
                  <a:pt x="25487" y="0"/>
                  <a:pt x="31997" y="3326"/>
                  <a:pt x="36059" y="8942"/>
                </a:cubicBezTo>
              </a:path>
              <a:path w="36059" h="21600" stroke="0" extrusionOk="0">
                <a:moveTo>
                  <a:pt x="0" y="10544"/>
                </a:moveTo>
                <a:cubicBezTo>
                  <a:pt x="3895" y="4005"/>
                  <a:pt x="10944" y="-1"/>
                  <a:pt x="18556" y="0"/>
                </a:cubicBezTo>
                <a:cubicBezTo>
                  <a:pt x="25487" y="0"/>
                  <a:pt x="31997" y="3326"/>
                  <a:pt x="36059" y="8942"/>
                </a:cubicBezTo>
                <a:lnTo>
                  <a:pt x="18556" y="21600"/>
                </a:lnTo>
                <a:close/>
              </a:path>
            </a:pathLst>
          </a:custGeom>
          <a:noFill/>
          <a:ln w="50800">
            <a:solidFill>
              <a:srgbClr val="CC0000"/>
            </a:solidFill>
            <a:round/>
            <a:headEnd/>
            <a:tailEnd type="triangle" w="med" len="med"/>
          </a:ln>
          <a:effectLst/>
        </p:spPr>
        <p:txBody>
          <a:bodyPr wrap="none" tIns="27432" bIns="27432" anchor="ctr"/>
          <a:lstStyle/>
          <a:p>
            <a:endParaRPr lang="fr-FR"/>
          </a:p>
        </p:txBody>
      </p:sp>
      <p:sp>
        <p:nvSpPr>
          <p:cNvPr id="436262" name="AutoShape 38"/>
          <p:cNvSpPr>
            <a:spLocks noChangeArrowheads="1"/>
          </p:cNvSpPr>
          <p:nvPr/>
        </p:nvSpPr>
        <p:spPr bwMode="auto">
          <a:xfrm>
            <a:off x="1349829" y="4629149"/>
            <a:ext cx="1886857" cy="610507"/>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a:solidFill>
                  <a:srgbClr val="C00000"/>
                </a:solidFill>
              </a:rPr>
              <a:t>Approbation </a:t>
            </a:r>
            <a:br>
              <a:rPr lang="fr-FR" sz="2200">
                <a:solidFill>
                  <a:srgbClr val="C00000"/>
                </a:solidFill>
              </a:rPr>
            </a:br>
            <a:r>
              <a:rPr lang="fr-FR" sz="2200">
                <a:solidFill>
                  <a:srgbClr val="C00000"/>
                </a:solidFill>
              </a:rPr>
              <a:t>raccourcie</a:t>
            </a:r>
            <a:endParaRPr lang="en-US" sz="2200">
              <a:solidFill>
                <a:srgbClr val="C00000"/>
              </a:solidFill>
            </a:endParaRPr>
          </a:p>
        </p:txBody>
      </p:sp>
      <p:sp>
        <p:nvSpPr>
          <p:cNvPr id="436267" name="AutoShape 43"/>
          <p:cNvSpPr>
            <a:spLocks noChangeArrowheads="1"/>
          </p:cNvSpPr>
          <p:nvPr/>
        </p:nvSpPr>
        <p:spPr bwMode="auto">
          <a:xfrm>
            <a:off x="6500132" y="4545013"/>
            <a:ext cx="1584325" cy="796244"/>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a:solidFill>
                  <a:srgbClr val="C00000"/>
                </a:solidFill>
              </a:rPr>
              <a:t>Externe</a:t>
            </a:r>
            <a:endParaRPr lang="en-US" sz="2200">
              <a:solidFill>
                <a:srgbClr val="C00000"/>
              </a:solidFill>
            </a:endParaRPr>
          </a:p>
          <a:p>
            <a:pPr>
              <a:lnSpc>
                <a:spcPct val="85000"/>
              </a:lnSpc>
            </a:pPr>
            <a:r>
              <a:rPr lang="fr-FR" sz="2200">
                <a:solidFill>
                  <a:srgbClr val="C00000"/>
                </a:solidFill>
              </a:rPr>
              <a:t>Approbation</a:t>
            </a:r>
            <a:endParaRPr lang="en-US" sz="2200">
              <a:solidFill>
                <a:srgbClr val="C00000"/>
              </a:solidFill>
            </a:endParaRPr>
          </a:p>
        </p:txBody>
      </p:sp>
      <p:grpSp>
        <p:nvGrpSpPr>
          <p:cNvPr id="436312" name="Group 48"/>
          <p:cNvGrpSpPr>
            <a:grpSpLocks/>
          </p:cNvGrpSpPr>
          <p:nvPr/>
        </p:nvGrpSpPr>
        <p:grpSpPr bwMode="auto">
          <a:xfrm>
            <a:off x="3524250" y="5575300"/>
            <a:ext cx="1660525" cy="803275"/>
            <a:chOff x="2207" y="3512"/>
            <a:chExt cx="897" cy="506"/>
          </a:xfrm>
        </p:grpSpPr>
        <p:sp>
          <p:nvSpPr>
            <p:cNvPr id="436269" name="Oval 45"/>
            <p:cNvSpPr>
              <a:spLocks noChangeArrowheads="1"/>
            </p:cNvSpPr>
            <p:nvPr>
              <p:custDataLst>
                <p:tags r:id="rId1"/>
              </p:custDataLst>
            </p:nvPr>
          </p:nvSpPr>
          <p:spPr bwMode="auto">
            <a:xfrm>
              <a:off x="2223" y="3512"/>
              <a:ext cx="864" cy="506"/>
            </a:xfrm>
            <a:prstGeom prst="ellipse">
              <a:avLst/>
            </a:prstGeom>
            <a:gradFill rotWithShape="1">
              <a:gsLst>
                <a:gs pos="0">
                  <a:srgbClr val="E8F6E4"/>
                </a:gs>
                <a:gs pos="100000">
                  <a:srgbClr val="ADE2A1"/>
                </a:gs>
              </a:gsLst>
              <a:lin ang="2700000" scaled="1"/>
            </a:gradFill>
            <a:ln w="9525" algn="ctr">
              <a:solidFill>
                <a:srgbClr val="808080"/>
              </a:solidFill>
              <a:round/>
              <a:headEnd/>
              <a:tailEnd/>
            </a:ln>
            <a:effectLst>
              <a:outerShdw dist="35921" dir="2700000" algn="ctr" rotWithShape="0">
                <a:srgbClr val="B2B2B2"/>
              </a:outerShdw>
            </a:effectLst>
          </p:spPr>
          <p:txBody>
            <a:bodyPr/>
            <a:lstStyle/>
            <a:p>
              <a:endParaRPr lang="fr-FR"/>
            </a:p>
          </p:txBody>
        </p:sp>
        <p:sp>
          <p:nvSpPr>
            <p:cNvPr id="436270" name="Text Box 46"/>
            <p:cNvSpPr txBox="1">
              <a:spLocks noChangeArrowheads="1"/>
            </p:cNvSpPr>
            <p:nvPr/>
          </p:nvSpPr>
          <p:spPr bwMode="auto">
            <a:xfrm rot="4855">
              <a:off x="2207" y="3675"/>
              <a:ext cx="897" cy="188"/>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Kerberos</a:t>
              </a:r>
              <a:endParaRPr lang="en-US" sz="1600"/>
            </a:p>
          </p:txBody>
        </p:sp>
      </p:grpSp>
      <p:sp>
        <p:nvSpPr>
          <p:cNvPr id="436271" name="Line 47"/>
          <p:cNvSpPr>
            <a:spLocks noChangeShapeType="1"/>
          </p:cNvSpPr>
          <p:nvPr/>
        </p:nvSpPr>
        <p:spPr bwMode="auto">
          <a:xfrm flipH="1">
            <a:off x="4410075" y="4157663"/>
            <a:ext cx="795338" cy="1385887"/>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6273" name="AutoShape 49"/>
          <p:cNvSpPr>
            <a:spLocks noChangeArrowheads="1"/>
          </p:cNvSpPr>
          <p:nvPr/>
        </p:nvSpPr>
        <p:spPr bwMode="auto">
          <a:xfrm>
            <a:off x="4523014" y="4717370"/>
            <a:ext cx="1427843" cy="827087"/>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a:solidFill>
                  <a:srgbClr val="C00000"/>
                </a:solidFill>
              </a:rPr>
              <a:t>Domaine </a:t>
            </a:r>
            <a:endParaRPr lang="en-US" sz="2200">
              <a:solidFill>
                <a:srgbClr val="C00000"/>
              </a:solidFill>
            </a:endParaRPr>
          </a:p>
          <a:p>
            <a:pPr>
              <a:lnSpc>
                <a:spcPct val="85000"/>
              </a:lnSpc>
            </a:pPr>
            <a:r>
              <a:rPr lang="fr-FR" sz="2200">
                <a:solidFill>
                  <a:srgbClr val="C00000"/>
                </a:solidFill>
              </a:rPr>
              <a:t>Approbation</a:t>
            </a:r>
            <a:endParaRPr lang="en-US" sz="2200">
              <a:solidFill>
                <a:srgbClr val="C00000"/>
              </a:solidFill>
            </a:endParaRPr>
          </a:p>
        </p:txBody>
      </p:sp>
      <p:sp>
        <p:nvSpPr>
          <p:cNvPr id="436274" name="Text Box 50"/>
          <p:cNvSpPr txBox="1">
            <a:spLocks noChangeArrowheads="1"/>
          </p:cNvSpPr>
          <p:nvPr/>
        </p:nvSpPr>
        <p:spPr bwMode="auto">
          <a:xfrm rot="4855">
            <a:off x="1982788" y="2640013"/>
            <a:ext cx="1052512"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D</a:t>
            </a:r>
            <a:endParaRPr lang="en-US" sz="1600"/>
          </a:p>
        </p:txBody>
      </p:sp>
      <p:sp>
        <p:nvSpPr>
          <p:cNvPr id="436280" name="Text Box 56"/>
          <p:cNvSpPr txBox="1">
            <a:spLocks noChangeArrowheads="1"/>
          </p:cNvSpPr>
          <p:nvPr/>
        </p:nvSpPr>
        <p:spPr bwMode="auto">
          <a:xfrm rot="4855">
            <a:off x="511175" y="1266825"/>
            <a:ext cx="1362075" cy="404813"/>
          </a:xfrm>
          <a:prstGeom prst="rect">
            <a:avLst/>
          </a:prstGeom>
          <a:noFill/>
          <a:ln w="9525" algn="ctr">
            <a:noFill/>
            <a:miter lim="800000"/>
            <a:headEnd/>
            <a:tailEnd/>
          </a:ln>
          <a:effectLst/>
        </p:spPr>
        <p:txBody>
          <a:bodyPr/>
          <a:lstStyle/>
          <a:p>
            <a:r>
              <a:rPr lang="fr-FR" sz="2400">
                <a:solidFill>
                  <a:srgbClr val="000000"/>
                </a:solidFill>
              </a:rPr>
              <a:t>Forêt 1</a:t>
            </a:r>
            <a:endParaRPr lang="en-US" sz="2400"/>
          </a:p>
        </p:txBody>
      </p:sp>
      <p:pic>
        <p:nvPicPr>
          <p:cNvPr id="436286" name="Picture 62" descr="2Domain01"/>
          <p:cNvPicPr>
            <a:picLocks noChangeAspect="1" noChangeArrowheads="1"/>
          </p:cNvPicPr>
          <p:nvPr/>
        </p:nvPicPr>
        <p:blipFill>
          <a:blip r:embed="rId4" cstate="print"/>
          <a:srcRect/>
          <a:stretch>
            <a:fillRect/>
          </a:stretch>
        </p:blipFill>
        <p:spPr bwMode="auto">
          <a:xfrm>
            <a:off x="2765425" y="3292475"/>
            <a:ext cx="1065213" cy="941388"/>
          </a:xfrm>
          <a:prstGeom prst="rect">
            <a:avLst/>
          </a:prstGeom>
          <a:noFill/>
        </p:spPr>
      </p:pic>
      <p:pic>
        <p:nvPicPr>
          <p:cNvPr id="436287" name="Picture 63" descr="2Domain01"/>
          <p:cNvPicPr>
            <a:picLocks noChangeAspect="1" noChangeArrowheads="1"/>
          </p:cNvPicPr>
          <p:nvPr/>
        </p:nvPicPr>
        <p:blipFill>
          <a:blip r:embed="rId4" cstate="print"/>
          <a:srcRect/>
          <a:stretch>
            <a:fillRect/>
          </a:stretch>
        </p:blipFill>
        <p:spPr bwMode="auto">
          <a:xfrm>
            <a:off x="4391025" y="3292475"/>
            <a:ext cx="1065213" cy="941388"/>
          </a:xfrm>
          <a:prstGeom prst="rect">
            <a:avLst/>
          </a:prstGeom>
          <a:noFill/>
        </p:spPr>
      </p:pic>
      <p:pic>
        <p:nvPicPr>
          <p:cNvPr id="436288" name="Picture 64" descr="2Domain01"/>
          <p:cNvPicPr>
            <a:picLocks noChangeAspect="1" noChangeArrowheads="1"/>
          </p:cNvPicPr>
          <p:nvPr/>
        </p:nvPicPr>
        <p:blipFill>
          <a:blip r:embed="rId4" cstate="print"/>
          <a:srcRect/>
          <a:stretch>
            <a:fillRect/>
          </a:stretch>
        </p:blipFill>
        <p:spPr bwMode="auto">
          <a:xfrm>
            <a:off x="1254125" y="3292475"/>
            <a:ext cx="1065213" cy="941388"/>
          </a:xfrm>
          <a:prstGeom prst="rect">
            <a:avLst/>
          </a:prstGeom>
          <a:noFill/>
        </p:spPr>
      </p:pic>
      <p:pic>
        <p:nvPicPr>
          <p:cNvPr id="436289" name="Picture 65" descr="2Domain01"/>
          <p:cNvPicPr>
            <a:picLocks noChangeAspect="1" noChangeArrowheads="1"/>
          </p:cNvPicPr>
          <p:nvPr/>
        </p:nvPicPr>
        <p:blipFill>
          <a:blip r:embed="rId4" cstate="print"/>
          <a:srcRect/>
          <a:stretch>
            <a:fillRect/>
          </a:stretch>
        </p:blipFill>
        <p:spPr bwMode="auto">
          <a:xfrm>
            <a:off x="661988" y="4481513"/>
            <a:ext cx="1065212" cy="941387"/>
          </a:xfrm>
          <a:prstGeom prst="rect">
            <a:avLst/>
          </a:prstGeom>
          <a:noFill/>
        </p:spPr>
      </p:pic>
      <p:sp>
        <p:nvSpPr>
          <p:cNvPr id="436277" name="Text Box 53"/>
          <p:cNvSpPr txBox="1">
            <a:spLocks noChangeArrowheads="1"/>
          </p:cNvSpPr>
          <p:nvPr/>
        </p:nvSpPr>
        <p:spPr bwMode="auto">
          <a:xfrm rot="4855">
            <a:off x="4406900" y="3897313"/>
            <a:ext cx="1052513"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B</a:t>
            </a:r>
            <a:endParaRPr lang="en-US" sz="1600"/>
          </a:p>
        </p:txBody>
      </p:sp>
      <p:sp>
        <p:nvSpPr>
          <p:cNvPr id="436276" name="Text Box 52"/>
          <p:cNvSpPr txBox="1">
            <a:spLocks noChangeArrowheads="1"/>
          </p:cNvSpPr>
          <p:nvPr/>
        </p:nvSpPr>
        <p:spPr bwMode="auto">
          <a:xfrm rot="4855">
            <a:off x="2770188" y="3922713"/>
            <a:ext cx="1052512"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A</a:t>
            </a:r>
            <a:endParaRPr lang="en-US" sz="1600"/>
          </a:p>
        </p:txBody>
      </p:sp>
      <p:sp>
        <p:nvSpPr>
          <p:cNvPr id="436275" name="Text Box 51"/>
          <p:cNvSpPr txBox="1">
            <a:spLocks noChangeArrowheads="1"/>
          </p:cNvSpPr>
          <p:nvPr/>
        </p:nvSpPr>
        <p:spPr bwMode="auto">
          <a:xfrm rot="4855">
            <a:off x="1236663" y="3935413"/>
            <a:ext cx="1042987"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E</a:t>
            </a:r>
            <a:endParaRPr lang="en-US" sz="1600"/>
          </a:p>
        </p:txBody>
      </p:sp>
      <p:sp>
        <p:nvSpPr>
          <p:cNvPr id="436282" name="Text Box 58"/>
          <p:cNvSpPr txBox="1">
            <a:spLocks noChangeArrowheads="1"/>
          </p:cNvSpPr>
          <p:nvPr/>
        </p:nvSpPr>
        <p:spPr bwMode="auto">
          <a:xfrm rot="4855">
            <a:off x="674688" y="5110163"/>
            <a:ext cx="1033462"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F</a:t>
            </a:r>
            <a:endParaRPr lang="en-US" sz="1600"/>
          </a:p>
        </p:txBody>
      </p:sp>
      <p:pic>
        <p:nvPicPr>
          <p:cNvPr id="436291" name="Picture 67" descr="2Domain01"/>
          <p:cNvPicPr>
            <a:picLocks noChangeAspect="1" noChangeArrowheads="1"/>
          </p:cNvPicPr>
          <p:nvPr/>
        </p:nvPicPr>
        <p:blipFill>
          <a:blip r:embed="rId4" cstate="print"/>
          <a:srcRect/>
          <a:stretch>
            <a:fillRect/>
          </a:stretch>
        </p:blipFill>
        <p:spPr bwMode="auto">
          <a:xfrm>
            <a:off x="6575425" y="1857375"/>
            <a:ext cx="1065213" cy="941388"/>
          </a:xfrm>
          <a:prstGeom prst="rect">
            <a:avLst/>
          </a:prstGeom>
          <a:noFill/>
        </p:spPr>
      </p:pic>
      <p:sp>
        <p:nvSpPr>
          <p:cNvPr id="436278" name="Text Box 54"/>
          <p:cNvSpPr txBox="1">
            <a:spLocks noChangeArrowheads="1"/>
          </p:cNvSpPr>
          <p:nvPr/>
        </p:nvSpPr>
        <p:spPr bwMode="auto">
          <a:xfrm rot="4855">
            <a:off x="6726238" y="2238375"/>
            <a:ext cx="784225" cy="542925"/>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Forêt</a:t>
            </a:r>
            <a:endParaRPr lang="en-US" sz="1600"/>
          </a:p>
          <a:p>
            <a:r>
              <a:rPr lang="fr-FR" sz="1600">
                <a:solidFill>
                  <a:srgbClr val="000000"/>
                </a:solidFill>
              </a:rPr>
              <a:t>(racine)</a:t>
            </a:r>
            <a:endParaRPr lang="en-US" sz="1600">
              <a:solidFill>
                <a:srgbClr val="000000"/>
              </a:solidFill>
            </a:endParaRPr>
          </a:p>
        </p:txBody>
      </p:sp>
      <p:pic>
        <p:nvPicPr>
          <p:cNvPr id="436295" name="Picture 71" descr="2Domain01"/>
          <p:cNvPicPr>
            <a:picLocks noChangeAspect="1" noChangeArrowheads="1"/>
          </p:cNvPicPr>
          <p:nvPr/>
        </p:nvPicPr>
        <p:blipFill>
          <a:blip r:embed="rId4" cstate="print"/>
          <a:srcRect/>
          <a:stretch>
            <a:fillRect/>
          </a:stretch>
        </p:blipFill>
        <p:spPr bwMode="auto">
          <a:xfrm>
            <a:off x="5737225" y="3292475"/>
            <a:ext cx="1065213" cy="941388"/>
          </a:xfrm>
          <a:prstGeom prst="rect">
            <a:avLst/>
          </a:prstGeom>
          <a:noFill/>
        </p:spPr>
      </p:pic>
      <p:sp>
        <p:nvSpPr>
          <p:cNvPr id="436279" name="Text Box 55"/>
          <p:cNvSpPr txBox="1">
            <a:spLocks noChangeArrowheads="1"/>
          </p:cNvSpPr>
          <p:nvPr/>
        </p:nvSpPr>
        <p:spPr bwMode="auto">
          <a:xfrm rot="4855">
            <a:off x="5745163" y="3922713"/>
            <a:ext cx="1042987"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P</a:t>
            </a:r>
            <a:endParaRPr lang="en-US" sz="1600"/>
          </a:p>
        </p:txBody>
      </p:sp>
      <p:pic>
        <p:nvPicPr>
          <p:cNvPr id="436297" name="Picture 73" descr="2Domain01"/>
          <p:cNvPicPr>
            <a:picLocks noChangeAspect="1" noChangeArrowheads="1"/>
          </p:cNvPicPr>
          <p:nvPr/>
        </p:nvPicPr>
        <p:blipFill>
          <a:blip r:embed="rId4" cstate="print"/>
          <a:srcRect/>
          <a:stretch>
            <a:fillRect/>
          </a:stretch>
        </p:blipFill>
        <p:spPr bwMode="auto">
          <a:xfrm>
            <a:off x="7388225" y="3279775"/>
            <a:ext cx="1065213" cy="941388"/>
          </a:xfrm>
          <a:prstGeom prst="rect">
            <a:avLst/>
          </a:prstGeom>
          <a:noFill/>
        </p:spPr>
      </p:pic>
      <p:sp>
        <p:nvSpPr>
          <p:cNvPr id="436298" name="Text Box 74"/>
          <p:cNvSpPr txBox="1">
            <a:spLocks noChangeArrowheads="1"/>
          </p:cNvSpPr>
          <p:nvPr/>
        </p:nvSpPr>
        <p:spPr bwMode="auto">
          <a:xfrm rot="4855">
            <a:off x="7388225" y="3910013"/>
            <a:ext cx="1062038"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Q</a:t>
            </a:r>
            <a:endParaRPr lang="en-US" sz="1600"/>
          </a:p>
        </p:txBody>
      </p:sp>
      <p:sp>
        <p:nvSpPr>
          <p:cNvPr id="436299" name="Line 75"/>
          <p:cNvSpPr>
            <a:spLocks noChangeShapeType="1"/>
          </p:cNvSpPr>
          <p:nvPr/>
        </p:nvSpPr>
        <p:spPr bwMode="auto">
          <a:xfrm flipV="1">
            <a:off x="2597150" y="2100263"/>
            <a:ext cx="1439863" cy="80962"/>
          </a:xfrm>
          <a:prstGeom prst="line">
            <a:avLst/>
          </a:prstGeom>
          <a:noFill/>
          <a:ln w="50800">
            <a:solidFill>
              <a:srgbClr val="CC0000"/>
            </a:solidFill>
            <a:round/>
            <a:headEnd type="triangle" w="med" len="med"/>
            <a:tailEnd type="triangle" w="med" len="med"/>
          </a:ln>
          <a:effectLst/>
        </p:spPr>
        <p:txBody>
          <a:bodyPr wrap="none" tIns="27432" bIns="27432" anchor="ctr"/>
          <a:lstStyle/>
          <a:p>
            <a:endParaRPr lang="fr-FR"/>
          </a:p>
        </p:txBody>
      </p:sp>
      <p:sp>
        <p:nvSpPr>
          <p:cNvPr id="436300" name="Line 76"/>
          <p:cNvSpPr>
            <a:spLocks noChangeShapeType="1"/>
          </p:cNvSpPr>
          <p:nvPr/>
        </p:nvSpPr>
        <p:spPr bwMode="auto">
          <a:xfrm flipV="1">
            <a:off x="4279900" y="2027238"/>
            <a:ext cx="2703513" cy="184150"/>
          </a:xfrm>
          <a:prstGeom prst="line">
            <a:avLst/>
          </a:prstGeom>
          <a:noFill/>
          <a:ln w="50800">
            <a:solidFill>
              <a:srgbClr val="CC0000"/>
            </a:solidFill>
            <a:round/>
            <a:headEnd type="triangle" w="med" len="med"/>
            <a:tailEnd type="triangle" w="med" len="med"/>
          </a:ln>
          <a:effectLst/>
        </p:spPr>
        <p:txBody>
          <a:bodyPr wrap="none" tIns="27432" bIns="27432" anchor="ctr"/>
          <a:lstStyle/>
          <a:p>
            <a:endParaRPr lang="fr-FR"/>
          </a:p>
        </p:txBody>
      </p:sp>
      <p:sp>
        <p:nvSpPr>
          <p:cNvPr id="436301" name="Line 77"/>
          <p:cNvSpPr>
            <a:spLocks noChangeShapeType="1"/>
          </p:cNvSpPr>
          <p:nvPr/>
        </p:nvSpPr>
        <p:spPr bwMode="auto">
          <a:xfrm>
            <a:off x="1482725" y="2365375"/>
            <a:ext cx="444500" cy="854075"/>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6246" name="AutoShape 22"/>
          <p:cNvSpPr>
            <a:spLocks noChangeArrowheads="1"/>
          </p:cNvSpPr>
          <p:nvPr/>
        </p:nvSpPr>
        <p:spPr bwMode="auto">
          <a:xfrm>
            <a:off x="696913" y="1811338"/>
            <a:ext cx="1371600" cy="58896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solidFill>
                  <a:srgbClr val="000000"/>
                </a:solidFill>
              </a:rPr>
              <a:t>Approbation</a:t>
            </a:r>
            <a:br>
              <a:rPr lang="fr-FR">
                <a:solidFill>
                  <a:srgbClr val="000000"/>
                </a:solidFill>
              </a:rPr>
            </a:br>
            <a:r>
              <a:rPr lang="fr-FR">
                <a:solidFill>
                  <a:srgbClr val="000000"/>
                </a:solidFill>
              </a:rPr>
              <a:t>Parent/Enfant</a:t>
            </a:r>
            <a:endParaRPr lang="en-US"/>
          </a:p>
        </p:txBody>
      </p:sp>
      <p:sp>
        <p:nvSpPr>
          <p:cNvPr id="436306" name="Text Box 82"/>
          <p:cNvSpPr txBox="1">
            <a:spLocks noChangeArrowheads="1"/>
          </p:cNvSpPr>
          <p:nvPr/>
        </p:nvSpPr>
        <p:spPr bwMode="auto">
          <a:xfrm rot="4855">
            <a:off x="7456488" y="1277938"/>
            <a:ext cx="1017587" cy="419100"/>
          </a:xfrm>
          <a:prstGeom prst="rect">
            <a:avLst/>
          </a:prstGeom>
          <a:noFill/>
          <a:ln w="9525">
            <a:noFill/>
            <a:miter lim="800000"/>
            <a:headEnd/>
            <a:tailEnd/>
          </a:ln>
          <a:effectLst/>
        </p:spPr>
        <p:txBody>
          <a:bodyPr wrap="none" tIns="27432" bIns="27432" anchor="ctr">
            <a:spAutoFit/>
          </a:bodyPr>
          <a:lstStyle/>
          <a:p>
            <a:r>
              <a:rPr lang="fr-FR" sz="2400">
                <a:solidFill>
                  <a:srgbClr val="000000"/>
                </a:solidFill>
              </a:rPr>
              <a:t>Forêt 2</a:t>
            </a:r>
            <a:endParaRPr lang="en-US" sz="2400"/>
          </a:p>
        </p:txBody>
      </p:sp>
      <p:pic>
        <p:nvPicPr>
          <p:cNvPr id="436309" name="Picture 85" descr="2Domain01"/>
          <p:cNvPicPr>
            <a:picLocks noChangeAspect="1" noChangeArrowheads="1"/>
          </p:cNvPicPr>
          <p:nvPr/>
        </p:nvPicPr>
        <p:blipFill>
          <a:blip r:embed="rId4" cstate="print"/>
          <a:srcRect/>
          <a:stretch>
            <a:fillRect/>
          </a:stretch>
        </p:blipFill>
        <p:spPr bwMode="auto">
          <a:xfrm>
            <a:off x="3282950" y="4506913"/>
            <a:ext cx="1065213" cy="941387"/>
          </a:xfrm>
          <a:prstGeom prst="rect">
            <a:avLst/>
          </a:prstGeom>
          <a:noFill/>
        </p:spPr>
      </p:pic>
      <p:sp>
        <p:nvSpPr>
          <p:cNvPr id="436310" name="Text Box 86"/>
          <p:cNvSpPr txBox="1">
            <a:spLocks noChangeArrowheads="1"/>
          </p:cNvSpPr>
          <p:nvPr/>
        </p:nvSpPr>
        <p:spPr bwMode="auto">
          <a:xfrm rot="4855">
            <a:off x="3300413" y="5137150"/>
            <a:ext cx="1052512" cy="298450"/>
          </a:xfrm>
          <a:prstGeom prst="rect">
            <a:avLst/>
          </a:prstGeom>
          <a:noFill/>
          <a:ln w="9525">
            <a:noFill/>
            <a:miter lim="800000"/>
            <a:headEnd/>
            <a:tailEnd/>
          </a:ln>
          <a:effectLst/>
        </p:spPr>
        <p:txBody>
          <a:bodyPr wrap="none" tIns="27432" bIns="27432" anchor="ctr">
            <a:spAutoFit/>
          </a:bodyPr>
          <a:lstStyle/>
          <a:p>
            <a:r>
              <a:rPr lang="fr-FR" sz="1600">
                <a:solidFill>
                  <a:srgbClr val="000000"/>
                </a:solidFill>
              </a:rPr>
              <a:t>Domaine C</a:t>
            </a:r>
            <a:endParaRPr 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6301"/>
                                        </p:tgtEl>
                                        <p:attrNameLst>
                                          <p:attrName>style.visibility</p:attrName>
                                        </p:attrNameLst>
                                      </p:cBhvr>
                                      <p:to>
                                        <p:strVal val="visible"/>
                                      </p:to>
                                    </p:set>
                                    <p:animEffect transition="in" filter="checkerboard(across)">
                                      <p:cBhvr>
                                        <p:cTn id="7" dur="1000"/>
                                        <p:tgtEl>
                                          <p:spTgt spid="43630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36246"/>
                                        </p:tgtEl>
                                        <p:attrNameLst>
                                          <p:attrName>style.visibility</p:attrName>
                                        </p:attrNameLst>
                                      </p:cBhvr>
                                      <p:to>
                                        <p:strVal val="visible"/>
                                      </p:to>
                                    </p:set>
                                    <p:animEffect transition="in" filter="checkerboard(across)">
                                      <p:cBhvr>
                                        <p:cTn id="10" dur="1000"/>
                                        <p:tgtEl>
                                          <p:spTgt spid="43624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436245"/>
                                        </p:tgtEl>
                                        <p:attrNameLst>
                                          <p:attrName>style.visibility</p:attrName>
                                        </p:attrNameLst>
                                      </p:cBhvr>
                                      <p:to>
                                        <p:strVal val="visible"/>
                                      </p:to>
                                    </p:set>
                                    <p:animEffect transition="in" filter="checkerboard(across)">
                                      <p:cBhvr>
                                        <p:cTn id="15" dur="1000"/>
                                        <p:tgtEl>
                                          <p:spTgt spid="436245"/>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436299"/>
                                        </p:tgtEl>
                                        <p:attrNameLst>
                                          <p:attrName>style.visibility</p:attrName>
                                        </p:attrNameLst>
                                      </p:cBhvr>
                                      <p:to>
                                        <p:strVal val="visible"/>
                                      </p:to>
                                    </p:set>
                                    <p:animEffect transition="in" filter="checkerboard(across)">
                                      <p:cBhvr>
                                        <p:cTn id="18" dur="1000"/>
                                        <p:tgtEl>
                                          <p:spTgt spid="436299"/>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436261"/>
                                        </p:tgtEl>
                                        <p:attrNameLst>
                                          <p:attrName>style.visibility</p:attrName>
                                        </p:attrNameLst>
                                      </p:cBhvr>
                                      <p:to>
                                        <p:strVal val="visible"/>
                                      </p:to>
                                    </p:set>
                                    <p:animEffect transition="in" filter="checkerboard(across)">
                                      <p:cBhvr>
                                        <p:cTn id="23" dur="1000"/>
                                        <p:tgtEl>
                                          <p:spTgt spid="436261"/>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436262"/>
                                        </p:tgtEl>
                                        <p:attrNameLst>
                                          <p:attrName>style.visibility</p:attrName>
                                        </p:attrNameLst>
                                      </p:cBhvr>
                                      <p:to>
                                        <p:strVal val="visible"/>
                                      </p:to>
                                    </p:set>
                                    <p:animEffect transition="in" filter="checkerboard(across)">
                                      <p:cBhvr>
                                        <p:cTn id="26" dur="1000"/>
                                        <p:tgtEl>
                                          <p:spTgt spid="436262"/>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436271"/>
                                        </p:tgtEl>
                                        <p:attrNameLst>
                                          <p:attrName>style.visibility</p:attrName>
                                        </p:attrNameLst>
                                      </p:cBhvr>
                                      <p:to>
                                        <p:strVal val="visible"/>
                                      </p:to>
                                    </p:set>
                                    <p:animEffect transition="in" filter="checkerboard(across)">
                                      <p:cBhvr>
                                        <p:cTn id="31" dur="1000"/>
                                        <p:tgtEl>
                                          <p:spTgt spid="43627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36273"/>
                                        </p:tgtEl>
                                        <p:attrNameLst>
                                          <p:attrName>style.visibility</p:attrName>
                                        </p:attrNameLst>
                                      </p:cBhvr>
                                      <p:to>
                                        <p:strVal val="visible"/>
                                      </p:to>
                                    </p:set>
                                    <p:animEffect transition="in" filter="checkerboard(across)">
                                      <p:cBhvr>
                                        <p:cTn id="34" dur="1000"/>
                                        <p:tgtEl>
                                          <p:spTgt spid="436273"/>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436300"/>
                                        </p:tgtEl>
                                        <p:attrNameLst>
                                          <p:attrName>style.visibility</p:attrName>
                                        </p:attrNameLst>
                                      </p:cBhvr>
                                      <p:to>
                                        <p:strVal val="visible"/>
                                      </p:to>
                                    </p:set>
                                    <p:animEffect transition="in" filter="checkerboard(across)">
                                      <p:cBhvr>
                                        <p:cTn id="39" dur="1000"/>
                                        <p:tgtEl>
                                          <p:spTgt spid="436300"/>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436256"/>
                                        </p:tgtEl>
                                        <p:attrNameLst>
                                          <p:attrName>style.visibility</p:attrName>
                                        </p:attrNameLst>
                                      </p:cBhvr>
                                      <p:to>
                                        <p:strVal val="visible"/>
                                      </p:to>
                                    </p:set>
                                    <p:animEffect transition="in" filter="checkerboard(across)">
                                      <p:cBhvr>
                                        <p:cTn id="42" dur="1000"/>
                                        <p:tgtEl>
                                          <p:spTgt spid="43625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36266"/>
                                        </p:tgtEl>
                                        <p:attrNameLst>
                                          <p:attrName>style.visibility</p:attrName>
                                        </p:attrNameLst>
                                      </p:cBhvr>
                                      <p:to>
                                        <p:strVal val="visible"/>
                                      </p:to>
                                    </p:set>
                                    <p:animEffect transition="in" filter="checkerboard(across)">
                                      <p:cBhvr>
                                        <p:cTn id="47" dur="1000"/>
                                        <p:tgtEl>
                                          <p:spTgt spid="436266"/>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436267"/>
                                        </p:tgtEl>
                                        <p:attrNameLst>
                                          <p:attrName>style.visibility</p:attrName>
                                        </p:attrNameLst>
                                      </p:cBhvr>
                                      <p:to>
                                        <p:strVal val="visible"/>
                                      </p:to>
                                    </p:set>
                                    <p:animEffect transition="in" filter="checkerboard(across)">
                                      <p:cBhvr>
                                        <p:cTn id="50" dur="1000"/>
                                        <p:tgtEl>
                                          <p:spTgt spid="436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66" grpId="0" animBg="1"/>
      <p:bldP spid="436245" grpId="0" animBg="1"/>
      <p:bldP spid="436256" grpId="0" animBg="1"/>
      <p:bldP spid="436261" grpId="0" animBg="1"/>
      <p:bldP spid="436262" grpId="0" animBg="1"/>
      <p:bldP spid="436267" grpId="0" animBg="1"/>
      <p:bldP spid="436271" grpId="0" animBg="1"/>
      <p:bldP spid="436273" grpId="0" animBg="1"/>
      <p:bldP spid="436299" grpId="0" animBg="1"/>
      <p:bldP spid="436300" grpId="0" animBg="1"/>
      <p:bldP spid="436301" grpId="0" animBg="1"/>
      <p:bldP spid="43624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6" name="AutoShape 4"/>
          <p:cNvSpPr>
            <a:spLocks noChangeArrowheads="1"/>
          </p:cNvSpPr>
          <p:nvPr/>
        </p:nvSpPr>
        <p:spPr bwMode="auto">
          <a:xfrm>
            <a:off x="449943" y="1535112"/>
            <a:ext cx="8352863" cy="4038373"/>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r>
              <a:rPr lang="fr-FR" sz="2400" dirty="0">
                <a:solidFill>
                  <a:srgbClr val="000000"/>
                </a:solidFill>
              </a:rPr>
              <a:t>Objets de domaine </a:t>
            </a:r>
            <a:r>
              <a:rPr lang="fr-FR" sz="2400" dirty="0" smtClean="0">
                <a:solidFill>
                  <a:srgbClr val="000000"/>
                </a:solidFill>
              </a:rPr>
              <a:t>approuvés TDO</a:t>
            </a: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endParaRPr lang="fr-FR" sz="2400" dirty="0" smtClean="0">
              <a:solidFill>
                <a:srgbClr val="000000"/>
              </a:solidFill>
            </a:endParaRPr>
          </a:p>
          <a:p>
            <a:pPr algn="l"/>
            <a:r>
              <a:rPr lang="fr-FR" sz="2400" dirty="0" smtClean="0"/>
              <a:t>St</a:t>
            </a:r>
            <a:r>
              <a:rPr lang="en-US" sz="2400" dirty="0" err="1" smtClean="0"/>
              <a:t>ocké</a:t>
            </a:r>
            <a:r>
              <a:rPr lang="en-US" sz="2400" dirty="0" smtClean="0"/>
              <a:t> </a:t>
            </a:r>
            <a:r>
              <a:rPr lang="en-US" sz="2400" dirty="0" err="1" smtClean="0"/>
              <a:t>dans</a:t>
            </a:r>
            <a:r>
              <a:rPr lang="en-US" sz="2400" dirty="0" smtClean="0"/>
              <a:t> le </a:t>
            </a:r>
            <a:r>
              <a:rPr lang="en-US" sz="2400" dirty="0" err="1" smtClean="0"/>
              <a:t>conteneur</a:t>
            </a:r>
            <a:r>
              <a:rPr lang="en-US" sz="2400" dirty="0" smtClean="0"/>
              <a:t> System du </a:t>
            </a:r>
            <a:r>
              <a:rPr lang="en-US" sz="2400" dirty="0" err="1" smtClean="0"/>
              <a:t>domaine</a:t>
            </a:r>
            <a:r>
              <a:rPr lang="en-US" sz="2400" dirty="0" smtClean="0"/>
              <a:t> de </a:t>
            </a:r>
            <a:r>
              <a:rPr lang="en-US" sz="2400" dirty="0" err="1" smtClean="0"/>
              <a:t>l’approbation</a:t>
            </a:r>
            <a:endParaRPr lang="en-US" sz="2400" dirty="0"/>
          </a:p>
        </p:txBody>
      </p:sp>
      <p:sp>
        <p:nvSpPr>
          <p:cNvPr id="494597" name="AutoShape 5"/>
          <p:cNvSpPr>
            <a:spLocks noChangeArrowheads="1"/>
          </p:cNvSpPr>
          <p:nvPr/>
        </p:nvSpPr>
        <p:spPr bwMode="auto">
          <a:xfrm>
            <a:off x="887104" y="2178049"/>
            <a:ext cx="7697337" cy="233589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75000"/>
              </a:lnSpc>
              <a:spcBef>
                <a:spcPct val="40000"/>
              </a:spcBef>
              <a:buClr>
                <a:srgbClr val="8DACD0"/>
              </a:buClr>
              <a:buSzPct val="70000"/>
              <a:buFont typeface="Wingdings" pitchFamily="2" charset="2"/>
              <a:buBlip>
                <a:blip r:embed="rId3"/>
              </a:buBlip>
            </a:pPr>
            <a:r>
              <a:rPr lang="fr-FR" sz="2600">
                <a:solidFill>
                  <a:srgbClr val="000000"/>
                </a:solidFill>
              </a:rPr>
              <a:t>Représentent chaque relation d'approbation dans un domaine particulier</a:t>
            </a:r>
            <a:endParaRPr lang="en-US" sz="2600">
              <a:cs typeface="Times New Roman" pitchFamily="18" charset="0"/>
            </a:endParaRPr>
          </a:p>
          <a:p>
            <a:pPr marL="231775" indent="-231775" algn="l">
              <a:lnSpc>
                <a:spcPct val="75000"/>
              </a:lnSpc>
              <a:spcBef>
                <a:spcPct val="40000"/>
              </a:spcBef>
              <a:buClr>
                <a:srgbClr val="8DACD0"/>
              </a:buClr>
              <a:buSzPct val="70000"/>
              <a:buFont typeface="Wingdings" pitchFamily="2" charset="2"/>
              <a:buBlip>
                <a:blip r:embed="rId3"/>
              </a:buBlip>
            </a:pPr>
            <a:r>
              <a:rPr lang="fr-FR" sz="2600">
                <a:solidFill>
                  <a:srgbClr val="000000"/>
                </a:solidFill>
              </a:rPr>
              <a:t>Enregistrent des informations comme le type d'approbation et la transitivité</a:t>
            </a:r>
            <a:endParaRPr lang="en-US" sz="2600">
              <a:solidFill>
                <a:srgbClr val="000000"/>
              </a:solidFill>
            </a:endParaRPr>
          </a:p>
        </p:txBody>
      </p:sp>
      <p:sp>
        <p:nvSpPr>
          <p:cNvPr id="494594" name="Rectangle 2"/>
          <p:cNvSpPr>
            <a:spLocks noGrp="1" noChangeArrowheads="1"/>
          </p:cNvSpPr>
          <p:nvPr>
            <p:ph type="title"/>
          </p:nvPr>
        </p:nvSpPr>
        <p:spPr>
          <a:xfrm>
            <a:off x="165275" y="324135"/>
            <a:ext cx="8534400" cy="758952"/>
          </a:xfrm>
        </p:spPr>
        <p:txBody>
          <a:bodyPr>
            <a:noAutofit/>
          </a:bodyPr>
          <a:lstStyle/>
          <a:p>
            <a:r>
              <a:rPr lang="fr-FR" sz="3000" b="1" dirty="0">
                <a:solidFill>
                  <a:srgbClr val="C00000"/>
                </a:solidFill>
              </a:rPr>
              <a:t>Définition des objets du domaine approuvé</a:t>
            </a:r>
            <a:endParaRPr lang="en-US" sz="3000" b="1" dirty="0">
              <a:solidFill>
                <a:srgbClr val="C0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a:xfrm>
            <a:off x="214085" y="324531"/>
            <a:ext cx="8668658" cy="684212"/>
          </a:xfrm>
        </p:spPr>
        <p:txBody>
          <a:bodyPr>
            <a:noAutofit/>
          </a:bodyPr>
          <a:lstStyle/>
          <a:p>
            <a:r>
              <a:rPr lang="fr-FR" sz="3000" b="1" dirty="0">
                <a:solidFill>
                  <a:srgbClr val="C00000"/>
                </a:solidFill>
              </a:rPr>
              <a:t>Comment fonctionnent les approbations dans une forêt</a:t>
            </a:r>
            <a:endParaRPr lang="en-US" sz="3000" b="1" dirty="0">
              <a:solidFill>
                <a:srgbClr val="C00000"/>
              </a:solidFill>
            </a:endParaRPr>
          </a:p>
        </p:txBody>
      </p:sp>
      <p:pic>
        <p:nvPicPr>
          <p:cNvPr id="438601" name="Picture 329" descr="2Domain01"/>
          <p:cNvPicPr>
            <a:picLocks noChangeAspect="1" noChangeArrowheads="1"/>
          </p:cNvPicPr>
          <p:nvPr/>
        </p:nvPicPr>
        <p:blipFill>
          <a:blip r:embed="rId17"/>
          <a:srcRect/>
          <a:stretch>
            <a:fillRect/>
          </a:stretch>
        </p:blipFill>
        <p:spPr bwMode="auto">
          <a:xfrm>
            <a:off x="6267450" y="2744788"/>
            <a:ext cx="1739900" cy="1538287"/>
          </a:xfrm>
          <a:prstGeom prst="rect">
            <a:avLst/>
          </a:prstGeom>
          <a:noFill/>
        </p:spPr>
      </p:pic>
      <p:pic>
        <p:nvPicPr>
          <p:cNvPr id="438600" name="Picture 328" descr="2Domain01"/>
          <p:cNvPicPr>
            <a:picLocks noChangeAspect="1" noChangeArrowheads="1"/>
          </p:cNvPicPr>
          <p:nvPr/>
        </p:nvPicPr>
        <p:blipFill>
          <a:blip r:embed="rId17"/>
          <a:srcRect/>
          <a:stretch>
            <a:fillRect/>
          </a:stretch>
        </p:blipFill>
        <p:spPr bwMode="auto">
          <a:xfrm>
            <a:off x="4946650" y="1411288"/>
            <a:ext cx="1739900" cy="1538287"/>
          </a:xfrm>
          <a:prstGeom prst="rect">
            <a:avLst/>
          </a:prstGeom>
          <a:noFill/>
        </p:spPr>
      </p:pic>
      <p:pic>
        <p:nvPicPr>
          <p:cNvPr id="438599" name="Picture 327" descr="2Domain01"/>
          <p:cNvPicPr>
            <a:picLocks noChangeAspect="1" noChangeArrowheads="1"/>
          </p:cNvPicPr>
          <p:nvPr/>
        </p:nvPicPr>
        <p:blipFill>
          <a:blip r:embed="rId17"/>
          <a:srcRect/>
          <a:stretch>
            <a:fillRect/>
          </a:stretch>
        </p:blipFill>
        <p:spPr bwMode="auto">
          <a:xfrm>
            <a:off x="3562350" y="3951288"/>
            <a:ext cx="1739900" cy="1538287"/>
          </a:xfrm>
          <a:prstGeom prst="rect">
            <a:avLst/>
          </a:prstGeom>
          <a:noFill/>
        </p:spPr>
      </p:pic>
      <p:pic>
        <p:nvPicPr>
          <p:cNvPr id="438598" name="Picture 326" descr="2Domain01"/>
          <p:cNvPicPr>
            <a:picLocks noChangeAspect="1" noChangeArrowheads="1"/>
          </p:cNvPicPr>
          <p:nvPr/>
        </p:nvPicPr>
        <p:blipFill>
          <a:blip r:embed="rId17"/>
          <a:srcRect/>
          <a:stretch>
            <a:fillRect/>
          </a:stretch>
        </p:blipFill>
        <p:spPr bwMode="auto">
          <a:xfrm>
            <a:off x="971550" y="3951288"/>
            <a:ext cx="1739900" cy="1538287"/>
          </a:xfrm>
          <a:prstGeom prst="rect">
            <a:avLst/>
          </a:prstGeom>
          <a:noFill/>
        </p:spPr>
      </p:pic>
      <p:pic>
        <p:nvPicPr>
          <p:cNvPr id="438597" name="Picture 325" descr="2Domain01"/>
          <p:cNvPicPr>
            <a:picLocks noChangeAspect="1" noChangeArrowheads="1"/>
          </p:cNvPicPr>
          <p:nvPr/>
        </p:nvPicPr>
        <p:blipFill>
          <a:blip r:embed="rId17"/>
          <a:srcRect/>
          <a:stretch>
            <a:fillRect/>
          </a:stretch>
        </p:blipFill>
        <p:spPr bwMode="auto">
          <a:xfrm>
            <a:off x="2279650" y="2147888"/>
            <a:ext cx="1739900" cy="1538287"/>
          </a:xfrm>
          <a:prstGeom prst="rect">
            <a:avLst/>
          </a:prstGeom>
          <a:noFill/>
        </p:spPr>
      </p:pic>
      <p:sp>
        <p:nvSpPr>
          <p:cNvPr id="438278" name="Rectangle 6"/>
          <p:cNvSpPr>
            <a:spLocks noChangeArrowheads="1"/>
          </p:cNvSpPr>
          <p:nvPr/>
        </p:nvSpPr>
        <p:spPr bwMode="auto">
          <a:xfrm>
            <a:off x="6508750" y="2324100"/>
            <a:ext cx="1593850" cy="328613"/>
          </a:xfrm>
          <a:prstGeom prst="rect">
            <a:avLst/>
          </a:prstGeom>
          <a:noFill/>
          <a:ln w="6350" algn="ctr">
            <a:noFill/>
            <a:miter lim="800000"/>
            <a:headEnd/>
            <a:tailEnd/>
          </a:ln>
          <a:effectLst/>
        </p:spPr>
        <p:txBody>
          <a:bodyPr wrap="none" tIns="27432" bIns="27432">
            <a:spAutoFit/>
          </a:bodyPr>
          <a:lstStyle/>
          <a:p>
            <a:r>
              <a:rPr lang="fr-FR">
                <a:solidFill>
                  <a:srgbClr val="000000"/>
                </a:solidFill>
              </a:rPr>
              <a:t>Arborescence 1</a:t>
            </a:r>
            <a:endParaRPr lang="en-US"/>
          </a:p>
        </p:txBody>
      </p:sp>
      <p:sp>
        <p:nvSpPr>
          <p:cNvPr id="438279" name="Rectangle 7"/>
          <p:cNvSpPr>
            <a:spLocks noChangeArrowheads="1"/>
          </p:cNvSpPr>
          <p:nvPr/>
        </p:nvSpPr>
        <p:spPr bwMode="auto">
          <a:xfrm>
            <a:off x="2349500" y="4540250"/>
            <a:ext cx="1593850" cy="328613"/>
          </a:xfrm>
          <a:prstGeom prst="rect">
            <a:avLst/>
          </a:prstGeom>
          <a:noFill/>
          <a:ln w="6350">
            <a:noFill/>
            <a:miter lim="800000"/>
            <a:headEnd/>
            <a:tailEnd/>
          </a:ln>
          <a:effectLst/>
        </p:spPr>
        <p:txBody>
          <a:bodyPr wrap="none" tIns="27432" bIns="27432">
            <a:spAutoFit/>
          </a:bodyPr>
          <a:lstStyle/>
          <a:p>
            <a:pPr algn="l"/>
            <a:r>
              <a:rPr lang="fr-FR">
                <a:solidFill>
                  <a:srgbClr val="000000"/>
                </a:solidFill>
              </a:rPr>
              <a:t>Arborescence 2</a:t>
            </a:r>
            <a:endParaRPr lang="en-US"/>
          </a:p>
        </p:txBody>
      </p:sp>
      <p:sp>
        <p:nvSpPr>
          <p:cNvPr id="438281" name="Text Box 9"/>
          <p:cNvSpPr txBox="1">
            <a:spLocks noChangeArrowheads="1"/>
          </p:cNvSpPr>
          <p:nvPr/>
        </p:nvSpPr>
        <p:spPr bwMode="auto">
          <a:xfrm>
            <a:off x="4768850" y="2987675"/>
            <a:ext cx="1133475" cy="328613"/>
          </a:xfrm>
          <a:prstGeom prst="rect">
            <a:avLst/>
          </a:prstGeom>
          <a:noFill/>
          <a:ln w="6350">
            <a:noFill/>
            <a:miter lim="800000"/>
            <a:headEnd/>
            <a:tailEnd/>
          </a:ln>
          <a:effectLst/>
        </p:spPr>
        <p:txBody>
          <a:bodyPr wrap="none" tIns="27432" bIns="27432">
            <a:spAutoFit/>
          </a:bodyPr>
          <a:lstStyle/>
          <a:p>
            <a:r>
              <a:rPr lang="fr-FR">
                <a:solidFill>
                  <a:srgbClr val="000000"/>
                </a:solidFill>
              </a:rPr>
              <a:t>Domaine 1</a:t>
            </a:r>
            <a:endParaRPr lang="en-US"/>
          </a:p>
        </p:txBody>
      </p:sp>
      <p:sp>
        <p:nvSpPr>
          <p:cNvPr id="438291" name="Text Box 19"/>
          <p:cNvSpPr txBox="1">
            <a:spLocks noChangeArrowheads="1"/>
          </p:cNvSpPr>
          <p:nvPr/>
        </p:nvSpPr>
        <p:spPr bwMode="auto">
          <a:xfrm>
            <a:off x="901700" y="2590800"/>
            <a:ext cx="1617663" cy="603250"/>
          </a:xfrm>
          <a:prstGeom prst="rect">
            <a:avLst/>
          </a:prstGeom>
          <a:noFill/>
          <a:ln w="6350" algn="ctr">
            <a:noFill/>
            <a:miter lim="800000"/>
            <a:headEnd/>
            <a:tailEnd/>
          </a:ln>
          <a:effectLst/>
        </p:spPr>
        <p:txBody>
          <a:bodyPr wrap="none" tIns="27432" bIns="27432">
            <a:spAutoFit/>
          </a:bodyPr>
          <a:lstStyle/>
          <a:p>
            <a:r>
              <a:rPr lang="fr-FR">
                <a:solidFill>
                  <a:srgbClr val="000000"/>
                </a:solidFill>
              </a:rPr>
              <a:t>Domaine racine</a:t>
            </a:r>
            <a:br>
              <a:rPr lang="fr-FR">
                <a:solidFill>
                  <a:srgbClr val="000000"/>
                </a:solidFill>
              </a:rPr>
            </a:br>
            <a:r>
              <a:rPr lang="fr-FR">
                <a:solidFill>
                  <a:srgbClr val="000000"/>
                </a:solidFill>
              </a:rPr>
              <a:t> d'arborescence</a:t>
            </a:r>
            <a:endParaRPr lang="en-US">
              <a:solidFill>
                <a:srgbClr val="000000"/>
              </a:solidFill>
            </a:endParaRPr>
          </a:p>
        </p:txBody>
      </p:sp>
      <p:sp>
        <p:nvSpPr>
          <p:cNvPr id="438292" name="Text Box 20"/>
          <p:cNvSpPr txBox="1">
            <a:spLocks noChangeArrowheads="1"/>
          </p:cNvSpPr>
          <p:nvPr/>
        </p:nvSpPr>
        <p:spPr bwMode="auto">
          <a:xfrm>
            <a:off x="6022975" y="1366838"/>
            <a:ext cx="1582738" cy="603250"/>
          </a:xfrm>
          <a:prstGeom prst="rect">
            <a:avLst/>
          </a:prstGeom>
          <a:noFill/>
          <a:ln w="6350" algn="ctr">
            <a:noFill/>
            <a:miter lim="800000"/>
            <a:headEnd/>
            <a:tailEnd/>
          </a:ln>
          <a:effectLst/>
        </p:spPr>
        <p:txBody>
          <a:bodyPr wrap="none" tIns="27432" bIns="27432">
            <a:spAutoFit/>
          </a:bodyPr>
          <a:lstStyle/>
          <a:p>
            <a:r>
              <a:rPr lang="fr-FR">
                <a:solidFill>
                  <a:srgbClr val="000000"/>
                </a:solidFill>
              </a:rPr>
              <a:t>Domaine racine</a:t>
            </a:r>
            <a:br>
              <a:rPr lang="fr-FR">
                <a:solidFill>
                  <a:srgbClr val="000000"/>
                </a:solidFill>
              </a:rPr>
            </a:br>
            <a:r>
              <a:rPr lang="fr-FR">
                <a:solidFill>
                  <a:srgbClr val="000000"/>
                </a:solidFill>
              </a:rPr>
              <a:t>de forêt</a:t>
            </a:r>
            <a:endParaRPr lang="en-US">
              <a:solidFill>
                <a:srgbClr val="000000"/>
              </a:solidFill>
            </a:endParaRPr>
          </a:p>
        </p:txBody>
      </p:sp>
      <p:sp>
        <p:nvSpPr>
          <p:cNvPr id="438294" name="Line 22"/>
          <p:cNvSpPr>
            <a:spLocks noChangeShapeType="1"/>
          </p:cNvSpPr>
          <p:nvPr/>
        </p:nvSpPr>
        <p:spPr bwMode="auto">
          <a:xfrm flipV="1">
            <a:off x="3660775" y="2032000"/>
            <a:ext cx="1662113" cy="733425"/>
          </a:xfrm>
          <a:prstGeom prst="line">
            <a:avLst/>
          </a:prstGeom>
          <a:noFill/>
          <a:ln w="50800">
            <a:solidFill>
              <a:srgbClr val="CC0000"/>
            </a:solidFill>
            <a:round/>
            <a:headEnd type="triangle" w="med" len="med"/>
            <a:tailEnd/>
          </a:ln>
          <a:effectLst/>
        </p:spPr>
        <p:txBody>
          <a:bodyPr wrap="none" tIns="27432" bIns="27432" anchor="ctr"/>
          <a:lstStyle/>
          <a:p>
            <a:endParaRPr lang="fr-FR"/>
          </a:p>
        </p:txBody>
      </p:sp>
      <p:sp>
        <p:nvSpPr>
          <p:cNvPr id="438295" name="Line 23"/>
          <p:cNvSpPr>
            <a:spLocks noChangeShapeType="1"/>
          </p:cNvSpPr>
          <p:nvPr/>
        </p:nvSpPr>
        <p:spPr bwMode="auto">
          <a:xfrm flipV="1">
            <a:off x="3627438" y="1849438"/>
            <a:ext cx="1684337" cy="763587"/>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8299" name="Line 27"/>
          <p:cNvSpPr>
            <a:spLocks noChangeAspect="1" noChangeShapeType="1"/>
          </p:cNvSpPr>
          <p:nvPr/>
        </p:nvSpPr>
        <p:spPr bwMode="auto">
          <a:xfrm flipH="1" flipV="1">
            <a:off x="6019800" y="2941638"/>
            <a:ext cx="468313" cy="719137"/>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8300" name="Line 28"/>
          <p:cNvSpPr>
            <a:spLocks noChangeAspect="1" noChangeShapeType="1"/>
          </p:cNvSpPr>
          <p:nvPr/>
        </p:nvSpPr>
        <p:spPr bwMode="auto">
          <a:xfrm flipH="1" flipV="1">
            <a:off x="5816600" y="2978150"/>
            <a:ext cx="577850" cy="863600"/>
          </a:xfrm>
          <a:prstGeom prst="line">
            <a:avLst/>
          </a:prstGeom>
          <a:noFill/>
          <a:ln w="50800">
            <a:solidFill>
              <a:srgbClr val="CC0000"/>
            </a:solidFill>
            <a:round/>
            <a:headEnd type="triangle" w="med" len="med"/>
            <a:tailEnd/>
          </a:ln>
          <a:effectLst/>
        </p:spPr>
        <p:txBody>
          <a:bodyPr wrap="none" tIns="27432" bIns="27432" anchor="ctr"/>
          <a:lstStyle/>
          <a:p>
            <a:endParaRPr lang="fr-FR"/>
          </a:p>
        </p:txBody>
      </p:sp>
      <p:sp>
        <p:nvSpPr>
          <p:cNvPr id="438431" name="Text Box 159"/>
          <p:cNvSpPr txBox="1">
            <a:spLocks noChangeArrowheads="1"/>
          </p:cNvSpPr>
          <p:nvPr/>
        </p:nvSpPr>
        <p:spPr bwMode="auto">
          <a:xfrm>
            <a:off x="6527800" y="4259263"/>
            <a:ext cx="1133475" cy="328612"/>
          </a:xfrm>
          <a:prstGeom prst="rect">
            <a:avLst/>
          </a:prstGeom>
          <a:noFill/>
          <a:ln w="6350">
            <a:noFill/>
            <a:miter lim="800000"/>
            <a:headEnd/>
            <a:tailEnd/>
          </a:ln>
          <a:effectLst/>
        </p:spPr>
        <p:txBody>
          <a:bodyPr wrap="none" tIns="27432" bIns="27432">
            <a:spAutoFit/>
          </a:bodyPr>
          <a:lstStyle/>
          <a:p>
            <a:r>
              <a:rPr lang="fr-FR">
                <a:solidFill>
                  <a:srgbClr val="000000"/>
                </a:solidFill>
              </a:rPr>
              <a:t>Domaine 2</a:t>
            </a:r>
            <a:endParaRPr lang="en-US"/>
          </a:p>
        </p:txBody>
      </p:sp>
      <p:sp>
        <p:nvSpPr>
          <p:cNvPr id="438432" name="Line 160"/>
          <p:cNvSpPr>
            <a:spLocks noChangeAspect="1" noChangeShapeType="1"/>
          </p:cNvSpPr>
          <p:nvPr/>
        </p:nvSpPr>
        <p:spPr bwMode="auto">
          <a:xfrm flipH="1" flipV="1">
            <a:off x="3627438" y="3787775"/>
            <a:ext cx="325437" cy="498475"/>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8433" name="Line 161"/>
          <p:cNvSpPr>
            <a:spLocks noChangeAspect="1" noChangeShapeType="1"/>
          </p:cNvSpPr>
          <p:nvPr/>
        </p:nvSpPr>
        <p:spPr bwMode="auto">
          <a:xfrm flipH="1" flipV="1">
            <a:off x="3509963" y="3952875"/>
            <a:ext cx="376237" cy="563563"/>
          </a:xfrm>
          <a:prstGeom prst="line">
            <a:avLst/>
          </a:prstGeom>
          <a:noFill/>
          <a:ln w="50800">
            <a:solidFill>
              <a:srgbClr val="CC0000"/>
            </a:solidFill>
            <a:round/>
            <a:headEnd type="triangle" w="med" len="med"/>
            <a:tailEnd/>
          </a:ln>
          <a:effectLst/>
        </p:spPr>
        <p:txBody>
          <a:bodyPr wrap="none" tIns="27432" bIns="27432" anchor="ctr"/>
          <a:lstStyle/>
          <a:p>
            <a:endParaRPr lang="fr-FR"/>
          </a:p>
        </p:txBody>
      </p:sp>
      <p:sp>
        <p:nvSpPr>
          <p:cNvPr id="438434" name="Line 162"/>
          <p:cNvSpPr>
            <a:spLocks noChangeAspect="1" noChangeShapeType="1"/>
          </p:cNvSpPr>
          <p:nvPr/>
        </p:nvSpPr>
        <p:spPr bwMode="auto">
          <a:xfrm flipV="1">
            <a:off x="2330450" y="3976688"/>
            <a:ext cx="330200" cy="493712"/>
          </a:xfrm>
          <a:prstGeom prst="line">
            <a:avLst/>
          </a:prstGeom>
          <a:noFill/>
          <a:ln w="50800">
            <a:solidFill>
              <a:srgbClr val="CC0000"/>
            </a:solidFill>
            <a:round/>
            <a:headEnd type="triangle" w="med" len="med"/>
            <a:tailEnd/>
          </a:ln>
          <a:effectLst/>
        </p:spPr>
        <p:txBody>
          <a:bodyPr wrap="none" tIns="27432" bIns="27432" anchor="ctr"/>
          <a:lstStyle/>
          <a:p>
            <a:endParaRPr lang="fr-FR"/>
          </a:p>
        </p:txBody>
      </p:sp>
      <p:sp>
        <p:nvSpPr>
          <p:cNvPr id="438435" name="Line 163"/>
          <p:cNvSpPr>
            <a:spLocks noChangeAspect="1" noChangeShapeType="1"/>
          </p:cNvSpPr>
          <p:nvPr/>
        </p:nvSpPr>
        <p:spPr bwMode="auto">
          <a:xfrm flipV="1">
            <a:off x="2163763" y="3760788"/>
            <a:ext cx="382587" cy="587375"/>
          </a:xfrm>
          <a:prstGeom prst="line">
            <a:avLst/>
          </a:prstGeom>
          <a:noFill/>
          <a:ln w="50800">
            <a:solidFill>
              <a:srgbClr val="CC0000"/>
            </a:solidFill>
            <a:round/>
            <a:headEnd/>
            <a:tailEnd type="triangle" w="med" len="med"/>
          </a:ln>
          <a:effectLst/>
        </p:spPr>
        <p:txBody>
          <a:bodyPr wrap="none" tIns="27432" bIns="27432" anchor="ctr"/>
          <a:lstStyle/>
          <a:p>
            <a:endParaRPr lang="fr-FR"/>
          </a:p>
        </p:txBody>
      </p:sp>
      <p:sp>
        <p:nvSpPr>
          <p:cNvPr id="438458" name="Text Box 186"/>
          <p:cNvSpPr txBox="1">
            <a:spLocks noChangeArrowheads="1"/>
          </p:cNvSpPr>
          <p:nvPr/>
        </p:nvSpPr>
        <p:spPr bwMode="auto">
          <a:xfrm>
            <a:off x="4256088" y="5487988"/>
            <a:ext cx="1163637" cy="328612"/>
          </a:xfrm>
          <a:prstGeom prst="rect">
            <a:avLst/>
          </a:prstGeom>
          <a:noFill/>
          <a:ln w="6350">
            <a:noFill/>
            <a:miter lim="800000"/>
            <a:headEnd/>
            <a:tailEnd/>
          </a:ln>
          <a:effectLst/>
        </p:spPr>
        <p:txBody>
          <a:bodyPr wrap="none" tIns="27432" bIns="27432">
            <a:spAutoFit/>
          </a:bodyPr>
          <a:lstStyle/>
          <a:p>
            <a:pPr algn="l"/>
            <a:r>
              <a:rPr lang="fr-FR">
                <a:solidFill>
                  <a:srgbClr val="000000"/>
                </a:solidFill>
              </a:rPr>
              <a:t>Domaine C</a:t>
            </a:r>
            <a:endParaRPr lang="en-US"/>
          </a:p>
        </p:txBody>
      </p:sp>
      <p:pic>
        <p:nvPicPr>
          <p:cNvPr id="438550" name="Picture 278" descr="User_UserD01"/>
          <p:cNvPicPr>
            <a:picLocks noChangeAspect="1" noChangeArrowheads="1"/>
          </p:cNvPicPr>
          <p:nvPr/>
        </p:nvPicPr>
        <p:blipFill>
          <a:blip r:embed="rId18" cstate="print"/>
          <a:srcRect/>
          <a:stretch>
            <a:fillRect/>
          </a:stretch>
        </p:blipFill>
        <p:spPr bwMode="auto">
          <a:xfrm>
            <a:off x="942975" y="4349750"/>
            <a:ext cx="468313" cy="1062038"/>
          </a:xfrm>
          <a:prstGeom prst="rect">
            <a:avLst/>
          </a:prstGeom>
          <a:noFill/>
        </p:spPr>
      </p:pic>
      <p:pic>
        <p:nvPicPr>
          <p:cNvPr id="438552" name="Picture 280" descr="Server01"/>
          <p:cNvPicPr>
            <a:picLocks noChangeAspect="1" noChangeArrowheads="1"/>
          </p:cNvPicPr>
          <p:nvPr>
            <p:custDataLst>
              <p:tags r:id="rId1"/>
            </p:custDataLst>
          </p:nvPr>
        </p:nvPicPr>
        <p:blipFill>
          <a:blip r:embed="rId19" cstate="print"/>
          <a:srcRect/>
          <a:stretch>
            <a:fillRect/>
          </a:stretch>
        </p:blipFill>
        <p:spPr bwMode="auto">
          <a:xfrm>
            <a:off x="1522413" y="4564063"/>
            <a:ext cx="671512" cy="788987"/>
          </a:xfrm>
          <a:prstGeom prst="rect">
            <a:avLst/>
          </a:prstGeom>
          <a:noFill/>
        </p:spPr>
      </p:pic>
      <p:pic>
        <p:nvPicPr>
          <p:cNvPr id="438551" name="Picture 279" descr="ActiveDirectory01"/>
          <p:cNvPicPr>
            <a:picLocks noChangeAspect="1" noChangeArrowheads="1"/>
          </p:cNvPicPr>
          <p:nvPr>
            <p:custDataLst>
              <p:tags r:id="rId2"/>
            </p:custDataLst>
          </p:nvPr>
        </p:nvPicPr>
        <p:blipFill>
          <a:blip r:embed="rId20" cstate="print"/>
          <a:srcRect/>
          <a:stretch>
            <a:fillRect/>
          </a:stretch>
        </p:blipFill>
        <p:spPr bwMode="auto">
          <a:xfrm>
            <a:off x="1900238" y="4932363"/>
            <a:ext cx="546100" cy="358775"/>
          </a:xfrm>
          <a:prstGeom prst="rect">
            <a:avLst/>
          </a:prstGeom>
          <a:noFill/>
        </p:spPr>
      </p:pic>
      <p:pic>
        <p:nvPicPr>
          <p:cNvPr id="438555" name="Picture 283" descr="Server01"/>
          <p:cNvPicPr>
            <a:picLocks noChangeAspect="1" noChangeArrowheads="1"/>
          </p:cNvPicPr>
          <p:nvPr>
            <p:custDataLst>
              <p:tags r:id="rId3"/>
            </p:custDataLst>
          </p:nvPr>
        </p:nvPicPr>
        <p:blipFill>
          <a:blip r:embed="rId19" cstate="print"/>
          <a:srcRect/>
          <a:stretch>
            <a:fillRect/>
          </a:stretch>
        </p:blipFill>
        <p:spPr bwMode="auto">
          <a:xfrm>
            <a:off x="2782888" y="2660650"/>
            <a:ext cx="671512" cy="788988"/>
          </a:xfrm>
          <a:prstGeom prst="rect">
            <a:avLst/>
          </a:prstGeom>
          <a:noFill/>
        </p:spPr>
      </p:pic>
      <p:pic>
        <p:nvPicPr>
          <p:cNvPr id="438556" name="Picture 284" descr="ActiveDirectory01"/>
          <p:cNvPicPr>
            <a:picLocks noChangeAspect="1" noChangeArrowheads="1"/>
          </p:cNvPicPr>
          <p:nvPr>
            <p:custDataLst>
              <p:tags r:id="rId4"/>
            </p:custDataLst>
          </p:nvPr>
        </p:nvPicPr>
        <p:blipFill>
          <a:blip r:embed="rId20" cstate="print"/>
          <a:srcRect/>
          <a:stretch>
            <a:fillRect/>
          </a:stretch>
        </p:blipFill>
        <p:spPr bwMode="auto">
          <a:xfrm>
            <a:off x="3160713" y="3028950"/>
            <a:ext cx="546100" cy="358775"/>
          </a:xfrm>
          <a:prstGeom prst="rect">
            <a:avLst/>
          </a:prstGeom>
          <a:noFill/>
        </p:spPr>
      </p:pic>
      <p:pic>
        <p:nvPicPr>
          <p:cNvPr id="438558" name="Picture 286" descr="Server01"/>
          <p:cNvPicPr>
            <a:picLocks noChangeAspect="1" noChangeArrowheads="1"/>
          </p:cNvPicPr>
          <p:nvPr>
            <p:custDataLst>
              <p:tags r:id="rId5"/>
            </p:custDataLst>
          </p:nvPr>
        </p:nvPicPr>
        <p:blipFill>
          <a:blip r:embed="rId19" cstate="print"/>
          <a:srcRect/>
          <a:stretch>
            <a:fillRect/>
          </a:stretch>
        </p:blipFill>
        <p:spPr bwMode="auto">
          <a:xfrm>
            <a:off x="5503863" y="1643063"/>
            <a:ext cx="671512" cy="788987"/>
          </a:xfrm>
          <a:prstGeom prst="rect">
            <a:avLst/>
          </a:prstGeom>
          <a:noFill/>
        </p:spPr>
      </p:pic>
      <p:pic>
        <p:nvPicPr>
          <p:cNvPr id="438559" name="Picture 287" descr="ActiveDirectory01"/>
          <p:cNvPicPr>
            <a:picLocks noChangeAspect="1" noChangeArrowheads="1"/>
          </p:cNvPicPr>
          <p:nvPr>
            <p:custDataLst>
              <p:tags r:id="rId6"/>
            </p:custDataLst>
          </p:nvPr>
        </p:nvPicPr>
        <p:blipFill>
          <a:blip r:embed="rId20" cstate="print"/>
          <a:srcRect/>
          <a:stretch>
            <a:fillRect/>
          </a:stretch>
        </p:blipFill>
        <p:spPr bwMode="auto">
          <a:xfrm>
            <a:off x="5881688" y="2011363"/>
            <a:ext cx="546100" cy="358775"/>
          </a:xfrm>
          <a:prstGeom prst="rect">
            <a:avLst/>
          </a:prstGeom>
          <a:noFill/>
        </p:spPr>
      </p:pic>
      <p:pic>
        <p:nvPicPr>
          <p:cNvPr id="438562" name="Picture 290" descr="Server01"/>
          <p:cNvPicPr>
            <a:picLocks noChangeAspect="1" noChangeArrowheads="1"/>
          </p:cNvPicPr>
          <p:nvPr>
            <p:custDataLst>
              <p:tags r:id="rId7"/>
            </p:custDataLst>
          </p:nvPr>
        </p:nvPicPr>
        <p:blipFill>
          <a:blip r:embed="rId19" cstate="print"/>
          <a:srcRect/>
          <a:stretch>
            <a:fillRect/>
          </a:stretch>
        </p:blipFill>
        <p:spPr bwMode="auto">
          <a:xfrm>
            <a:off x="4027488" y="3884613"/>
            <a:ext cx="671512" cy="788987"/>
          </a:xfrm>
          <a:prstGeom prst="rect">
            <a:avLst/>
          </a:prstGeom>
          <a:noFill/>
        </p:spPr>
      </p:pic>
      <p:pic>
        <p:nvPicPr>
          <p:cNvPr id="438563" name="Picture 291" descr="ActiveDirectory01"/>
          <p:cNvPicPr>
            <a:picLocks noChangeAspect="1" noChangeArrowheads="1"/>
          </p:cNvPicPr>
          <p:nvPr>
            <p:custDataLst>
              <p:tags r:id="rId8"/>
            </p:custDataLst>
          </p:nvPr>
        </p:nvPicPr>
        <p:blipFill>
          <a:blip r:embed="rId20" cstate="print"/>
          <a:srcRect/>
          <a:stretch>
            <a:fillRect/>
          </a:stretch>
        </p:blipFill>
        <p:spPr bwMode="auto">
          <a:xfrm>
            <a:off x="4405313" y="4252913"/>
            <a:ext cx="546100" cy="358775"/>
          </a:xfrm>
          <a:prstGeom prst="rect">
            <a:avLst/>
          </a:prstGeom>
          <a:noFill/>
        </p:spPr>
      </p:pic>
      <p:pic>
        <p:nvPicPr>
          <p:cNvPr id="438564" name="Picture 292" descr="Security_Permissions01"/>
          <p:cNvPicPr>
            <a:picLocks noChangeAspect="1" noChangeArrowheads="1"/>
          </p:cNvPicPr>
          <p:nvPr/>
        </p:nvPicPr>
        <p:blipFill>
          <a:blip r:embed="rId21" cstate="print"/>
          <a:srcRect/>
          <a:stretch>
            <a:fillRect/>
          </a:stretch>
        </p:blipFill>
        <p:spPr bwMode="auto">
          <a:xfrm rot="2225089">
            <a:off x="4946650" y="4429125"/>
            <a:ext cx="585788" cy="414338"/>
          </a:xfrm>
          <a:prstGeom prst="rect">
            <a:avLst/>
          </a:prstGeom>
          <a:noFill/>
          <a:ln w="9525">
            <a:noFill/>
            <a:miter lim="800000"/>
            <a:headEnd/>
            <a:tailEnd/>
          </a:ln>
        </p:spPr>
      </p:pic>
      <p:pic>
        <p:nvPicPr>
          <p:cNvPr id="438568" name="Picture 296" descr="NetworkPrinter01"/>
          <p:cNvPicPr>
            <a:picLocks noChangeAspect="1" noChangeArrowheads="1"/>
          </p:cNvPicPr>
          <p:nvPr/>
        </p:nvPicPr>
        <p:blipFill>
          <a:blip r:embed="rId22" cstate="print"/>
          <a:srcRect/>
          <a:stretch>
            <a:fillRect/>
          </a:stretch>
        </p:blipFill>
        <p:spPr bwMode="auto">
          <a:xfrm>
            <a:off x="3789363" y="4773613"/>
            <a:ext cx="650875" cy="644525"/>
          </a:xfrm>
          <a:prstGeom prst="rect">
            <a:avLst/>
          </a:prstGeom>
          <a:noFill/>
        </p:spPr>
      </p:pic>
      <p:sp>
        <p:nvSpPr>
          <p:cNvPr id="438594" name="Text Box 322"/>
          <p:cNvSpPr txBox="1">
            <a:spLocks noChangeArrowheads="1"/>
          </p:cNvSpPr>
          <p:nvPr/>
        </p:nvSpPr>
        <p:spPr bwMode="auto">
          <a:xfrm>
            <a:off x="2505075" y="3640138"/>
            <a:ext cx="1163638" cy="328612"/>
          </a:xfrm>
          <a:prstGeom prst="rect">
            <a:avLst/>
          </a:prstGeom>
          <a:noFill/>
          <a:ln w="6350">
            <a:noFill/>
            <a:miter lim="800000"/>
            <a:headEnd/>
            <a:tailEnd/>
          </a:ln>
          <a:effectLst/>
        </p:spPr>
        <p:txBody>
          <a:bodyPr wrap="none" tIns="27432" bIns="27432">
            <a:spAutoFit/>
          </a:bodyPr>
          <a:lstStyle/>
          <a:p>
            <a:pPr algn="l"/>
            <a:r>
              <a:rPr lang="fr-FR">
                <a:solidFill>
                  <a:srgbClr val="000000"/>
                </a:solidFill>
              </a:rPr>
              <a:t>Domaine A</a:t>
            </a:r>
            <a:endParaRPr lang="en-US"/>
          </a:p>
        </p:txBody>
      </p:sp>
      <p:sp>
        <p:nvSpPr>
          <p:cNvPr id="438595" name="Text Box 323"/>
          <p:cNvSpPr txBox="1">
            <a:spLocks noChangeArrowheads="1"/>
          </p:cNvSpPr>
          <p:nvPr/>
        </p:nvSpPr>
        <p:spPr bwMode="auto">
          <a:xfrm>
            <a:off x="1028700" y="5487988"/>
            <a:ext cx="1163638" cy="328612"/>
          </a:xfrm>
          <a:prstGeom prst="rect">
            <a:avLst/>
          </a:prstGeom>
          <a:noFill/>
          <a:ln w="6350">
            <a:noFill/>
            <a:miter lim="800000"/>
            <a:headEnd/>
            <a:tailEnd/>
          </a:ln>
          <a:effectLst/>
        </p:spPr>
        <p:txBody>
          <a:bodyPr wrap="none" tIns="27432" bIns="27432">
            <a:spAutoFit/>
          </a:bodyPr>
          <a:lstStyle/>
          <a:p>
            <a:pPr algn="l"/>
            <a:r>
              <a:rPr lang="fr-FR">
                <a:solidFill>
                  <a:srgbClr val="000000"/>
                </a:solidFill>
              </a:rPr>
              <a:t>Domaine B</a:t>
            </a:r>
            <a:endParaRPr lang="en-US"/>
          </a:p>
        </p:txBody>
      </p:sp>
      <p:sp>
        <p:nvSpPr>
          <p:cNvPr id="438596" name="Arc 324"/>
          <p:cNvSpPr>
            <a:spLocks/>
          </p:cNvSpPr>
          <p:nvPr/>
        </p:nvSpPr>
        <p:spPr bwMode="auto">
          <a:xfrm rot="21383693" flipV="1">
            <a:off x="2270125" y="5218113"/>
            <a:ext cx="1771650" cy="806450"/>
          </a:xfrm>
          <a:custGeom>
            <a:avLst/>
            <a:gdLst>
              <a:gd name="G0" fmla="+- 19721 0 0"/>
              <a:gd name="G1" fmla="+- 21600 0 0"/>
              <a:gd name="G2" fmla="+- 21600 0 0"/>
              <a:gd name="T0" fmla="*/ 0 w 37224"/>
              <a:gd name="T1" fmla="*/ 12789 h 21600"/>
              <a:gd name="T2" fmla="*/ 37224 w 37224"/>
              <a:gd name="T3" fmla="*/ 8943 h 21600"/>
              <a:gd name="T4" fmla="*/ 19721 w 37224"/>
              <a:gd name="T5" fmla="*/ 21600 h 21600"/>
            </a:gdLst>
            <a:ahLst/>
            <a:cxnLst>
              <a:cxn ang="0">
                <a:pos x="T0" y="T1"/>
              </a:cxn>
              <a:cxn ang="0">
                <a:pos x="T2" y="T3"/>
              </a:cxn>
              <a:cxn ang="0">
                <a:pos x="T4" y="T5"/>
              </a:cxn>
            </a:cxnLst>
            <a:rect l="0" t="0" r="r" b="b"/>
            <a:pathLst>
              <a:path w="37224" h="21600" fill="none" extrusionOk="0">
                <a:moveTo>
                  <a:pt x="-1" y="12788"/>
                </a:moveTo>
                <a:cubicBezTo>
                  <a:pt x="3475" y="5009"/>
                  <a:pt x="11200" y="-1"/>
                  <a:pt x="19721" y="0"/>
                </a:cubicBezTo>
                <a:cubicBezTo>
                  <a:pt x="26652" y="0"/>
                  <a:pt x="33162" y="3326"/>
                  <a:pt x="37224" y="8942"/>
                </a:cubicBezTo>
              </a:path>
              <a:path w="37224" h="21600" stroke="0" extrusionOk="0">
                <a:moveTo>
                  <a:pt x="-1" y="12788"/>
                </a:moveTo>
                <a:cubicBezTo>
                  <a:pt x="3475" y="5009"/>
                  <a:pt x="11200" y="-1"/>
                  <a:pt x="19721" y="0"/>
                </a:cubicBezTo>
                <a:cubicBezTo>
                  <a:pt x="26652" y="0"/>
                  <a:pt x="33162" y="3326"/>
                  <a:pt x="37224" y="8942"/>
                </a:cubicBezTo>
                <a:lnTo>
                  <a:pt x="19721" y="21600"/>
                </a:lnTo>
                <a:close/>
              </a:path>
            </a:pathLst>
          </a:custGeom>
          <a:noFill/>
          <a:ln w="50800">
            <a:solidFill>
              <a:srgbClr val="CC0000"/>
            </a:solidFill>
            <a:round/>
            <a:headEnd/>
            <a:tailEnd type="triangle" w="med" len="med"/>
          </a:ln>
          <a:effectLst/>
        </p:spPr>
        <p:txBody>
          <a:bodyPr wrap="none" tIns="27432" bIns="27432" anchor="ctr"/>
          <a:lstStyle/>
          <a:p>
            <a:endParaRPr lang="fr-FR"/>
          </a:p>
        </p:txBody>
      </p:sp>
      <p:pic>
        <p:nvPicPr>
          <p:cNvPr id="438603" name="Picture 331" descr="Folder_FolderOpen01"/>
          <p:cNvPicPr>
            <a:picLocks noChangeAspect="1" noChangeArrowheads="1"/>
          </p:cNvPicPr>
          <p:nvPr>
            <p:custDataLst>
              <p:tags r:id="rId9"/>
            </p:custDataLst>
          </p:nvPr>
        </p:nvPicPr>
        <p:blipFill>
          <a:blip r:embed="rId23" cstate="print"/>
          <a:srcRect/>
          <a:stretch>
            <a:fillRect/>
          </a:stretch>
        </p:blipFill>
        <p:spPr bwMode="auto">
          <a:xfrm>
            <a:off x="4597400" y="4794250"/>
            <a:ext cx="609600" cy="544513"/>
          </a:xfrm>
          <a:prstGeom prst="rect">
            <a:avLst/>
          </a:prstGeom>
          <a:noFill/>
        </p:spPr>
      </p:pic>
      <p:pic>
        <p:nvPicPr>
          <p:cNvPr id="438604" name="Picture 332" descr="Shared Hand-3"/>
          <p:cNvPicPr>
            <a:picLocks noChangeAspect="1" noChangeArrowheads="1"/>
          </p:cNvPicPr>
          <p:nvPr>
            <p:custDataLst>
              <p:tags r:id="rId10"/>
            </p:custDataLst>
          </p:nvPr>
        </p:nvPicPr>
        <p:blipFill>
          <a:blip r:embed="rId24"/>
          <a:srcRect/>
          <a:stretch>
            <a:fillRect/>
          </a:stretch>
        </p:blipFill>
        <p:spPr bwMode="auto">
          <a:xfrm>
            <a:off x="4503738" y="5122863"/>
            <a:ext cx="609600" cy="265112"/>
          </a:xfrm>
          <a:prstGeom prst="rect">
            <a:avLst/>
          </a:prstGeom>
          <a:noFill/>
        </p:spPr>
      </p:pic>
      <p:pic>
        <p:nvPicPr>
          <p:cNvPr id="438606" name="Picture 334" descr="Server01"/>
          <p:cNvPicPr>
            <a:picLocks noChangeAspect="1" noChangeArrowheads="1"/>
          </p:cNvPicPr>
          <p:nvPr>
            <p:custDataLst>
              <p:tags r:id="rId11"/>
            </p:custDataLst>
          </p:nvPr>
        </p:nvPicPr>
        <p:blipFill>
          <a:blip r:embed="rId19" cstate="print"/>
          <a:srcRect/>
          <a:stretch>
            <a:fillRect/>
          </a:stretch>
        </p:blipFill>
        <p:spPr bwMode="auto">
          <a:xfrm>
            <a:off x="6770688" y="2711450"/>
            <a:ext cx="671512" cy="788988"/>
          </a:xfrm>
          <a:prstGeom prst="rect">
            <a:avLst/>
          </a:prstGeom>
          <a:noFill/>
        </p:spPr>
      </p:pic>
      <p:pic>
        <p:nvPicPr>
          <p:cNvPr id="438607" name="Picture 335" descr="ActiveDirectory01"/>
          <p:cNvPicPr>
            <a:picLocks noChangeAspect="1" noChangeArrowheads="1"/>
          </p:cNvPicPr>
          <p:nvPr>
            <p:custDataLst>
              <p:tags r:id="rId12"/>
            </p:custDataLst>
          </p:nvPr>
        </p:nvPicPr>
        <p:blipFill>
          <a:blip r:embed="rId20" cstate="print"/>
          <a:srcRect/>
          <a:stretch>
            <a:fillRect/>
          </a:stretch>
        </p:blipFill>
        <p:spPr bwMode="auto">
          <a:xfrm>
            <a:off x="7148513" y="3079750"/>
            <a:ext cx="546100" cy="358775"/>
          </a:xfrm>
          <a:prstGeom prst="rect">
            <a:avLst/>
          </a:prstGeom>
          <a:noFill/>
        </p:spPr>
      </p:pic>
      <p:pic>
        <p:nvPicPr>
          <p:cNvPr id="438608" name="Picture 336" descr="Security_Permissions01"/>
          <p:cNvPicPr>
            <a:picLocks noChangeAspect="1" noChangeArrowheads="1"/>
          </p:cNvPicPr>
          <p:nvPr/>
        </p:nvPicPr>
        <p:blipFill>
          <a:blip r:embed="rId21" cstate="print"/>
          <a:srcRect/>
          <a:stretch>
            <a:fillRect/>
          </a:stretch>
        </p:blipFill>
        <p:spPr bwMode="auto">
          <a:xfrm rot="2225089">
            <a:off x="7689850" y="3255963"/>
            <a:ext cx="585788" cy="414337"/>
          </a:xfrm>
          <a:prstGeom prst="rect">
            <a:avLst/>
          </a:prstGeom>
          <a:noFill/>
          <a:ln w="9525">
            <a:noFill/>
            <a:miter lim="800000"/>
            <a:headEnd/>
            <a:tailEnd/>
          </a:ln>
        </p:spPr>
      </p:pic>
      <p:pic>
        <p:nvPicPr>
          <p:cNvPr id="438609" name="Picture 337" descr="NetworkPrinter01"/>
          <p:cNvPicPr>
            <a:picLocks noChangeAspect="1" noChangeArrowheads="1"/>
          </p:cNvPicPr>
          <p:nvPr/>
        </p:nvPicPr>
        <p:blipFill>
          <a:blip r:embed="rId22" cstate="print"/>
          <a:srcRect/>
          <a:stretch>
            <a:fillRect/>
          </a:stretch>
        </p:blipFill>
        <p:spPr bwMode="auto">
          <a:xfrm>
            <a:off x="6532563" y="3600450"/>
            <a:ext cx="650875" cy="644525"/>
          </a:xfrm>
          <a:prstGeom prst="rect">
            <a:avLst/>
          </a:prstGeom>
          <a:noFill/>
        </p:spPr>
      </p:pic>
      <p:grpSp>
        <p:nvGrpSpPr>
          <p:cNvPr id="438616" name="Group 338"/>
          <p:cNvGrpSpPr>
            <a:grpSpLocks/>
          </p:cNvGrpSpPr>
          <p:nvPr/>
        </p:nvGrpSpPr>
        <p:grpSpPr bwMode="auto">
          <a:xfrm>
            <a:off x="7246938" y="3621088"/>
            <a:ext cx="703262" cy="593725"/>
            <a:chOff x="4565" y="2281"/>
            <a:chExt cx="443" cy="374"/>
          </a:xfrm>
        </p:grpSpPr>
        <p:pic>
          <p:nvPicPr>
            <p:cNvPr id="438611" name="Picture 339" descr="Folder_FolderOpen01"/>
            <p:cNvPicPr>
              <a:picLocks noChangeAspect="1" noChangeArrowheads="1"/>
            </p:cNvPicPr>
            <p:nvPr>
              <p:custDataLst>
                <p:tags r:id="rId13"/>
              </p:custDataLst>
            </p:nvPr>
          </p:nvPicPr>
          <p:blipFill>
            <a:blip r:embed="rId23" cstate="print"/>
            <a:srcRect/>
            <a:stretch>
              <a:fillRect/>
            </a:stretch>
          </p:blipFill>
          <p:spPr bwMode="auto">
            <a:xfrm>
              <a:off x="4624" y="2281"/>
              <a:ext cx="384" cy="343"/>
            </a:xfrm>
            <a:prstGeom prst="rect">
              <a:avLst/>
            </a:prstGeom>
            <a:noFill/>
          </p:spPr>
        </p:pic>
        <p:pic>
          <p:nvPicPr>
            <p:cNvPr id="438612" name="Picture 340" descr="Shared Hand-3"/>
            <p:cNvPicPr>
              <a:picLocks noChangeAspect="1" noChangeArrowheads="1"/>
            </p:cNvPicPr>
            <p:nvPr>
              <p:custDataLst>
                <p:tags r:id="rId14"/>
              </p:custDataLst>
            </p:nvPr>
          </p:nvPicPr>
          <p:blipFill>
            <a:blip r:embed="rId24"/>
            <a:srcRect/>
            <a:stretch>
              <a:fillRect/>
            </a:stretch>
          </p:blipFill>
          <p:spPr bwMode="auto">
            <a:xfrm>
              <a:off x="4565" y="2488"/>
              <a:ext cx="384" cy="167"/>
            </a:xfrm>
            <a:prstGeom prst="rect">
              <a:avLst/>
            </a:prstGeom>
            <a:noFill/>
          </p:spPr>
        </p:pic>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871" name="AutoShape 255"/>
          <p:cNvSpPr>
            <a:spLocks noChangeArrowheads="1"/>
          </p:cNvSpPr>
          <p:nvPr/>
        </p:nvSpPr>
        <p:spPr bwMode="auto">
          <a:xfrm>
            <a:off x="4652963" y="1292225"/>
            <a:ext cx="3611562" cy="4751388"/>
          </a:xfrm>
          <a:prstGeom prst="roundRect">
            <a:avLst>
              <a:gd name="adj" fmla="val 3569"/>
            </a:avLst>
          </a:prstGeom>
          <a:solidFill>
            <a:srgbClr val="FDEDE9"/>
          </a:solidFill>
          <a:ln w="9525" algn="ctr">
            <a:solidFill>
              <a:srgbClr val="C0C0C0"/>
            </a:solidFill>
            <a:round/>
            <a:headEnd/>
            <a:tailEnd/>
          </a:ln>
          <a:effectLst/>
        </p:spPr>
        <p:txBody>
          <a:bodyPr wrap="none" anchor="ctr"/>
          <a:lstStyle/>
          <a:p>
            <a:endParaRPr lang="fr-FR"/>
          </a:p>
        </p:txBody>
      </p:sp>
      <p:sp>
        <p:nvSpPr>
          <p:cNvPr id="495870" name="AutoShape 254"/>
          <p:cNvSpPr>
            <a:spLocks noChangeArrowheads="1"/>
          </p:cNvSpPr>
          <p:nvPr/>
        </p:nvSpPr>
        <p:spPr bwMode="auto">
          <a:xfrm>
            <a:off x="434975" y="1277938"/>
            <a:ext cx="3611563" cy="4751387"/>
          </a:xfrm>
          <a:prstGeom prst="roundRect">
            <a:avLst>
              <a:gd name="adj" fmla="val 3569"/>
            </a:avLst>
          </a:prstGeom>
          <a:solidFill>
            <a:srgbClr val="EBFBFA"/>
          </a:solidFill>
          <a:ln w="9525">
            <a:solidFill>
              <a:srgbClr val="C0C0C0"/>
            </a:solidFill>
            <a:round/>
            <a:headEnd/>
            <a:tailEnd/>
          </a:ln>
          <a:effectLst/>
        </p:spPr>
        <p:txBody>
          <a:bodyPr wrap="none" anchor="ctr"/>
          <a:lstStyle/>
          <a:p>
            <a:endParaRPr lang="fr-FR"/>
          </a:p>
        </p:txBody>
      </p:sp>
      <p:sp>
        <p:nvSpPr>
          <p:cNvPr id="495623" name="Rectangle 7"/>
          <p:cNvSpPr>
            <a:spLocks noGrp="1" noChangeArrowheads="1"/>
          </p:cNvSpPr>
          <p:nvPr>
            <p:ph type="title"/>
          </p:nvPr>
        </p:nvSpPr>
        <p:spPr>
          <a:xfrm>
            <a:off x="185057" y="377390"/>
            <a:ext cx="8755743" cy="684212"/>
          </a:xfrm>
        </p:spPr>
        <p:txBody>
          <a:bodyPr>
            <a:noAutofit/>
          </a:bodyPr>
          <a:lstStyle/>
          <a:p>
            <a:r>
              <a:rPr lang="fr-FR" sz="3000" b="1" dirty="0">
                <a:solidFill>
                  <a:srgbClr val="C00000"/>
                </a:solidFill>
              </a:rPr>
              <a:t>Comment fonctionnent les approbations entre les forêts</a:t>
            </a:r>
            <a:endParaRPr lang="en-US" sz="3000" b="1" dirty="0">
              <a:solidFill>
                <a:srgbClr val="C00000"/>
              </a:solidFill>
            </a:endParaRPr>
          </a:p>
        </p:txBody>
      </p:sp>
      <p:pic>
        <p:nvPicPr>
          <p:cNvPr id="495795" name="Picture 179" descr="2Domain01"/>
          <p:cNvPicPr>
            <a:picLocks noChangeAspect="1" noChangeArrowheads="1"/>
          </p:cNvPicPr>
          <p:nvPr>
            <p:custDataLst>
              <p:tags r:id="rId1"/>
            </p:custDataLst>
          </p:nvPr>
        </p:nvPicPr>
        <p:blipFill>
          <a:blip r:embed="rId37" cstate="print"/>
          <a:srcRect/>
          <a:stretch>
            <a:fillRect/>
          </a:stretch>
        </p:blipFill>
        <p:spPr bwMode="auto">
          <a:xfrm>
            <a:off x="1976438" y="1597025"/>
            <a:ext cx="1657350" cy="1465263"/>
          </a:xfrm>
          <a:prstGeom prst="rect">
            <a:avLst/>
          </a:prstGeom>
          <a:noFill/>
        </p:spPr>
      </p:pic>
      <p:pic>
        <p:nvPicPr>
          <p:cNvPr id="495796" name="Picture 180" descr="Server01"/>
          <p:cNvPicPr>
            <a:picLocks noChangeAspect="1" noChangeArrowheads="1"/>
          </p:cNvPicPr>
          <p:nvPr>
            <p:custDataLst>
              <p:tags r:id="rId2"/>
            </p:custDataLst>
          </p:nvPr>
        </p:nvPicPr>
        <p:blipFill>
          <a:blip r:embed="rId38" cstate="print"/>
          <a:srcRect/>
          <a:stretch>
            <a:fillRect/>
          </a:stretch>
        </p:blipFill>
        <p:spPr bwMode="auto">
          <a:xfrm>
            <a:off x="2430463" y="1860550"/>
            <a:ext cx="720725" cy="849313"/>
          </a:xfrm>
          <a:prstGeom prst="rect">
            <a:avLst/>
          </a:prstGeom>
          <a:noFill/>
        </p:spPr>
      </p:pic>
      <p:sp>
        <p:nvSpPr>
          <p:cNvPr id="495797" name="Text Box 181"/>
          <p:cNvSpPr txBox="1">
            <a:spLocks noChangeArrowheads="1"/>
          </p:cNvSpPr>
          <p:nvPr/>
        </p:nvSpPr>
        <p:spPr bwMode="auto">
          <a:xfrm>
            <a:off x="1965325" y="2727325"/>
            <a:ext cx="1682750" cy="301621"/>
          </a:xfrm>
          <a:prstGeom prst="rect">
            <a:avLst/>
          </a:prstGeom>
          <a:noFill/>
          <a:ln w="6350">
            <a:noFill/>
            <a:miter lim="800000"/>
            <a:headEnd/>
            <a:tailEnd/>
          </a:ln>
          <a:effectLst/>
        </p:spPr>
        <p:txBody>
          <a:bodyPr tIns="27432" bIns="27432">
            <a:spAutoFit/>
          </a:bodyPr>
          <a:lstStyle/>
          <a:p>
            <a:r>
              <a:rPr lang="fr-FR" sz="1600" dirty="0" err="1" smtClean="0">
                <a:solidFill>
                  <a:srgbClr val="000000"/>
                </a:solidFill>
              </a:rPr>
              <a:t>BtsSri.local</a:t>
            </a:r>
            <a:endParaRPr lang="en-US" sz="1600" dirty="0"/>
          </a:p>
        </p:txBody>
      </p:sp>
      <p:pic>
        <p:nvPicPr>
          <p:cNvPr id="495799" name="Picture 183" descr="2Domain01"/>
          <p:cNvPicPr>
            <a:picLocks noChangeAspect="1" noChangeArrowheads="1"/>
          </p:cNvPicPr>
          <p:nvPr>
            <p:custDataLst>
              <p:tags r:id="rId3"/>
            </p:custDataLst>
          </p:nvPr>
        </p:nvPicPr>
        <p:blipFill>
          <a:blip r:embed="rId37" cstate="print"/>
          <a:srcRect/>
          <a:stretch>
            <a:fillRect/>
          </a:stretch>
        </p:blipFill>
        <p:spPr bwMode="auto">
          <a:xfrm>
            <a:off x="5256893" y="1554616"/>
            <a:ext cx="1657350" cy="1465262"/>
          </a:xfrm>
          <a:prstGeom prst="rect">
            <a:avLst/>
          </a:prstGeom>
          <a:noFill/>
        </p:spPr>
      </p:pic>
      <p:pic>
        <p:nvPicPr>
          <p:cNvPr id="495800" name="Picture 184" descr="Server01"/>
          <p:cNvPicPr>
            <a:picLocks noChangeAspect="1" noChangeArrowheads="1"/>
          </p:cNvPicPr>
          <p:nvPr>
            <p:custDataLst>
              <p:tags r:id="rId4"/>
            </p:custDataLst>
          </p:nvPr>
        </p:nvPicPr>
        <p:blipFill>
          <a:blip r:embed="rId38" cstate="print"/>
          <a:srcRect/>
          <a:stretch>
            <a:fillRect/>
          </a:stretch>
        </p:blipFill>
        <p:spPr bwMode="auto">
          <a:xfrm>
            <a:off x="5768975" y="1789113"/>
            <a:ext cx="720725" cy="849312"/>
          </a:xfrm>
          <a:prstGeom prst="rect">
            <a:avLst/>
          </a:prstGeom>
          <a:noFill/>
        </p:spPr>
      </p:pic>
      <p:sp>
        <p:nvSpPr>
          <p:cNvPr id="495801" name="Text Box 185"/>
          <p:cNvSpPr txBox="1">
            <a:spLocks noChangeArrowheads="1"/>
          </p:cNvSpPr>
          <p:nvPr/>
        </p:nvSpPr>
        <p:spPr bwMode="auto">
          <a:xfrm>
            <a:off x="5303838" y="2655888"/>
            <a:ext cx="1682750" cy="301621"/>
          </a:xfrm>
          <a:prstGeom prst="rect">
            <a:avLst/>
          </a:prstGeom>
          <a:noFill/>
          <a:ln w="6350">
            <a:noFill/>
            <a:miter lim="800000"/>
            <a:headEnd/>
            <a:tailEnd/>
          </a:ln>
          <a:effectLst/>
        </p:spPr>
        <p:txBody>
          <a:bodyPr tIns="27432" bIns="27432">
            <a:spAutoFit/>
          </a:bodyPr>
          <a:lstStyle/>
          <a:p>
            <a:r>
              <a:rPr lang="fr-FR" sz="1600" dirty="0" err="1" smtClean="0">
                <a:solidFill>
                  <a:srgbClr val="000000"/>
                </a:solidFill>
              </a:rPr>
              <a:t>BtsCg.local</a:t>
            </a:r>
            <a:endParaRPr lang="en-US" sz="1600" dirty="0"/>
          </a:p>
        </p:txBody>
      </p:sp>
      <p:sp>
        <p:nvSpPr>
          <p:cNvPr id="495802" name="Line 186"/>
          <p:cNvSpPr>
            <a:spLocks noChangeShapeType="1"/>
          </p:cNvSpPr>
          <p:nvPr/>
        </p:nvSpPr>
        <p:spPr bwMode="auto">
          <a:xfrm>
            <a:off x="3286125" y="1931988"/>
            <a:ext cx="2336800" cy="0"/>
          </a:xfrm>
          <a:prstGeom prst="line">
            <a:avLst/>
          </a:prstGeom>
          <a:noFill/>
          <a:ln w="50800">
            <a:solidFill>
              <a:srgbClr val="CC0000"/>
            </a:solidFill>
            <a:round/>
            <a:headEnd type="triangle" w="med" len="med"/>
            <a:tailEnd type="triangle" w="med" len="med"/>
          </a:ln>
          <a:effectLst/>
        </p:spPr>
        <p:txBody>
          <a:bodyPr anchor="ctr"/>
          <a:lstStyle/>
          <a:p>
            <a:endParaRPr lang="fr-FR"/>
          </a:p>
        </p:txBody>
      </p:sp>
      <p:sp>
        <p:nvSpPr>
          <p:cNvPr id="495803" name="Text Box 187"/>
          <p:cNvSpPr txBox="1">
            <a:spLocks noChangeArrowheads="1"/>
          </p:cNvSpPr>
          <p:nvPr/>
        </p:nvSpPr>
        <p:spPr bwMode="auto">
          <a:xfrm>
            <a:off x="3451225" y="1544638"/>
            <a:ext cx="2278063" cy="328612"/>
          </a:xfrm>
          <a:prstGeom prst="rect">
            <a:avLst/>
          </a:prstGeom>
          <a:noFill/>
          <a:ln w="6350">
            <a:noFill/>
            <a:miter lim="800000"/>
            <a:headEnd/>
            <a:tailEnd/>
          </a:ln>
          <a:effectLst/>
        </p:spPr>
        <p:txBody>
          <a:bodyPr tIns="27432" bIns="27432">
            <a:spAutoFit/>
          </a:bodyPr>
          <a:lstStyle/>
          <a:p>
            <a:pPr algn="l"/>
            <a:r>
              <a:rPr lang="fr-FR">
                <a:solidFill>
                  <a:srgbClr val="000000"/>
                </a:solidFill>
              </a:rPr>
              <a:t>Approbation de forêt</a:t>
            </a:r>
            <a:endParaRPr lang="en-US"/>
          </a:p>
        </p:txBody>
      </p:sp>
      <p:sp>
        <p:nvSpPr>
          <p:cNvPr id="495804" name="Line 188"/>
          <p:cNvSpPr>
            <a:spLocks noChangeShapeType="1"/>
          </p:cNvSpPr>
          <p:nvPr/>
        </p:nvSpPr>
        <p:spPr bwMode="auto">
          <a:xfrm>
            <a:off x="6559550" y="2992438"/>
            <a:ext cx="361950" cy="708025"/>
          </a:xfrm>
          <a:prstGeom prst="line">
            <a:avLst/>
          </a:prstGeom>
          <a:noFill/>
          <a:ln w="50800">
            <a:solidFill>
              <a:srgbClr val="CC0000"/>
            </a:solidFill>
            <a:round/>
            <a:headEnd type="triangle" w="med" len="med"/>
            <a:tailEnd type="triangle" w="med" len="med"/>
          </a:ln>
          <a:effectLst/>
        </p:spPr>
        <p:txBody>
          <a:bodyPr anchor="ctr"/>
          <a:lstStyle/>
          <a:p>
            <a:endParaRPr lang="fr-FR"/>
          </a:p>
        </p:txBody>
      </p:sp>
      <p:sp>
        <p:nvSpPr>
          <p:cNvPr id="495805" name="Line 189"/>
          <p:cNvSpPr>
            <a:spLocks noChangeShapeType="1"/>
          </p:cNvSpPr>
          <p:nvPr/>
        </p:nvSpPr>
        <p:spPr bwMode="auto">
          <a:xfrm flipH="1">
            <a:off x="2176463" y="3017838"/>
            <a:ext cx="361950" cy="708025"/>
          </a:xfrm>
          <a:prstGeom prst="line">
            <a:avLst/>
          </a:prstGeom>
          <a:noFill/>
          <a:ln w="50800">
            <a:solidFill>
              <a:srgbClr val="CC0000"/>
            </a:solidFill>
            <a:round/>
            <a:headEnd type="triangle" w="med" len="med"/>
            <a:tailEnd type="triangle" w="med" len="med"/>
          </a:ln>
          <a:effectLst/>
        </p:spPr>
        <p:txBody>
          <a:bodyPr anchor="ctr"/>
          <a:lstStyle/>
          <a:p>
            <a:endParaRPr lang="fr-FR"/>
          </a:p>
        </p:txBody>
      </p:sp>
      <p:pic>
        <p:nvPicPr>
          <p:cNvPr id="495806" name="Picture 190" descr="2Domain01"/>
          <p:cNvPicPr>
            <a:picLocks noChangeAspect="1" noChangeArrowheads="1"/>
          </p:cNvPicPr>
          <p:nvPr/>
        </p:nvPicPr>
        <p:blipFill>
          <a:blip r:embed="rId39"/>
          <a:srcRect/>
          <a:stretch>
            <a:fillRect/>
          </a:stretch>
        </p:blipFill>
        <p:spPr bwMode="auto">
          <a:xfrm>
            <a:off x="606425" y="3427413"/>
            <a:ext cx="2622550" cy="2319337"/>
          </a:xfrm>
          <a:prstGeom prst="rect">
            <a:avLst/>
          </a:prstGeom>
          <a:noFill/>
        </p:spPr>
      </p:pic>
      <p:pic>
        <p:nvPicPr>
          <p:cNvPr id="495807" name="Picture 191" descr="2Domain01"/>
          <p:cNvPicPr>
            <a:picLocks noChangeAspect="1" noChangeArrowheads="1"/>
          </p:cNvPicPr>
          <p:nvPr/>
        </p:nvPicPr>
        <p:blipFill>
          <a:blip r:embed="rId39"/>
          <a:srcRect/>
          <a:stretch>
            <a:fillRect/>
          </a:stretch>
        </p:blipFill>
        <p:spPr bwMode="auto">
          <a:xfrm>
            <a:off x="5894388" y="3427413"/>
            <a:ext cx="2622550" cy="2319337"/>
          </a:xfrm>
          <a:prstGeom prst="rect">
            <a:avLst/>
          </a:prstGeom>
          <a:noFill/>
        </p:spPr>
      </p:pic>
      <p:pic>
        <p:nvPicPr>
          <p:cNvPr id="495809" name="Picture 193" descr="Server01"/>
          <p:cNvPicPr>
            <a:picLocks noChangeAspect="1" noChangeArrowheads="1"/>
          </p:cNvPicPr>
          <p:nvPr>
            <p:custDataLst>
              <p:tags r:id="rId5"/>
            </p:custDataLst>
          </p:nvPr>
        </p:nvPicPr>
        <p:blipFill>
          <a:blip r:embed="rId38" cstate="print"/>
          <a:srcRect/>
          <a:stretch>
            <a:fillRect/>
          </a:stretch>
        </p:blipFill>
        <p:spPr bwMode="auto">
          <a:xfrm>
            <a:off x="7485063" y="2711450"/>
            <a:ext cx="720725" cy="849313"/>
          </a:xfrm>
          <a:prstGeom prst="rect">
            <a:avLst/>
          </a:prstGeom>
          <a:noFill/>
        </p:spPr>
      </p:pic>
      <p:pic>
        <p:nvPicPr>
          <p:cNvPr id="495811" name="Picture 195" descr="ActiveDirectory01"/>
          <p:cNvPicPr>
            <a:picLocks noChangeAspect="1" noChangeArrowheads="1"/>
          </p:cNvPicPr>
          <p:nvPr>
            <p:custDataLst>
              <p:tags r:id="rId6"/>
            </p:custDataLst>
          </p:nvPr>
        </p:nvPicPr>
        <p:blipFill>
          <a:blip r:embed="rId40" cstate="print"/>
          <a:srcRect/>
          <a:stretch>
            <a:fillRect/>
          </a:stretch>
        </p:blipFill>
        <p:spPr bwMode="auto">
          <a:xfrm>
            <a:off x="7610475" y="3049588"/>
            <a:ext cx="742950" cy="487362"/>
          </a:xfrm>
          <a:prstGeom prst="rect">
            <a:avLst/>
          </a:prstGeom>
          <a:noFill/>
        </p:spPr>
      </p:pic>
      <p:pic>
        <p:nvPicPr>
          <p:cNvPr id="495812" name="Picture 196" descr="Internet01"/>
          <p:cNvPicPr>
            <a:picLocks noChangeAspect="1" noChangeArrowheads="1"/>
          </p:cNvPicPr>
          <p:nvPr>
            <p:custDataLst>
              <p:tags r:id="rId7"/>
            </p:custDataLst>
          </p:nvPr>
        </p:nvPicPr>
        <p:blipFill>
          <a:blip r:embed="rId41" cstate="print"/>
          <a:srcRect/>
          <a:stretch>
            <a:fillRect/>
          </a:stretch>
        </p:blipFill>
        <p:spPr bwMode="auto">
          <a:xfrm>
            <a:off x="7710488" y="2960688"/>
            <a:ext cx="409575" cy="407987"/>
          </a:xfrm>
          <a:prstGeom prst="rect">
            <a:avLst/>
          </a:prstGeom>
          <a:noFill/>
        </p:spPr>
      </p:pic>
      <p:pic>
        <p:nvPicPr>
          <p:cNvPr id="495813" name="Picture 197" descr="Search01"/>
          <p:cNvPicPr>
            <a:picLocks noChangeAspect="1" noChangeArrowheads="1"/>
          </p:cNvPicPr>
          <p:nvPr>
            <p:custDataLst>
              <p:tags r:id="rId8"/>
            </p:custDataLst>
          </p:nvPr>
        </p:nvPicPr>
        <p:blipFill>
          <a:blip r:embed="rId42" cstate="print"/>
          <a:srcRect/>
          <a:stretch>
            <a:fillRect/>
          </a:stretch>
        </p:blipFill>
        <p:spPr bwMode="auto">
          <a:xfrm rot="-2136353">
            <a:off x="7959725" y="2886075"/>
            <a:ext cx="323850" cy="665163"/>
          </a:xfrm>
          <a:prstGeom prst="rect">
            <a:avLst/>
          </a:prstGeom>
          <a:noFill/>
        </p:spPr>
      </p:pic>
      <p:pic>
        <p:nvPicPr>
          <p:cNvPr id="495815" name="Picture 199" descr="Server01"/>
          <p:cNvPicPr>
            <a:picLocks noChangeAspect="1" noChangeArrowheads="1"/>
          </p:cNvPicPr>
          <p:nvPr>
            <p:custDataLst>
              <p:tags r:id="rId9"/>
            </p:custDataLst>
          </p:nvPr>
        </p:nvPicPr>
        <p:blipFill>
          <a:blip r:embed="rId38" cstate="print"/>
          <a:srcRect/>
          <a:stretch>
            <a:fillRect/>
          </a:stretch>
        </p:blipFill>
        <p:spPr bwMode="auto">
          <a:xfrm>
            <a:off x="712788" y="2711450"/>
            <a:ext cx="720725" cy="849313"/>
          </a:xfrm>
          <a:prstGeom prst="rect">
            <a:avLst/>
          </a:prstGeom>
          <a:noFill/>
        </p:spPr>
      </p:pic>
      <p:pic>
        <p:nvPicPr>
          <p:cNvPr id="495817" name="Picture 201" descr="ActiveDirectory01"/>
          <p:cNvPicPr>
            <a:picLocks noChangeAspect="1" noChangeArrowheads="1"/>
          </p:cNvPicPr>
          <p:nvPr>
            <p:custDataLst>
              <p:tags r:id="rId10"/>
            </p:custDataLst>
          </p:nvPr>
        </p:nvPicPr>
        <p:blipFill>
          <a:blip r:embed="rId40" cstate="print"/>
          <a:srcRect/>
          <a:stretch>
            <a:fillRect/>
          </a:stretch>
        </p:blipFill>
        <p:spPr bwMode="auto">
          <a:xfrm>
            <a:off x="838200" y="3049588"/>
            <a:ext cx="742950" cy="487362"/>
          </a:xfrm>
          <a:prstGeom prst="rect">
            <a:avLst/>
          </a:prstGeom>
          <a:noFill/>
        </p:spPr>
      </p:pic>
      <p:pic>
        <p:nvPicPr>
          <p:cNvPr id="495818" name="Picture 202" descr="Internet01"/>
          <p:cNvPicPr>
            <a:picLocks noChangeAspect="1" noChangeArrowheads="1"/>
          </p:cNvPicPr>
          <p:nvPr>
            <p:custDataLst>
              <p:tags r:id="rId11"/>
            </p:custDataLst>
          </p:nvPr>
        </p:nvPicPr>
        <p:blipFill>
          <a:blip r:embed="rId41" cstate="print"/>
          <a:srcRect/>
          <a:stretch>
            <a:fillRect/>
          </a:stretch>
        </p:blipFill>
        <p:spPr bwMode="auto">
          <a:xfrm>
            <a:off x="938213" y="2960688"/>
            <a:ext cx="409575" cy="407987"/>
          </a:xfrm>
          <a:prstGeom prst="rect">
            <a:avLst/>
          </a:prstGeom>
          <a:noFill/>
        </p:spPr>
      </p:pic>
      <p:pic>
        <p:nvPicPr>
          <p:cNvPr id="495819" name="Picture 203" descr="Search01"/>
          <p:cNvPicPr>
            <a:picLocks noChangeAspect="1" noChangeArrowheads="1"/>
          </p:cNvPicPr>
          <p:nvPr>
            <p:custDataLst>
              <p:tags r:id="rId12"/>
            </p:custDataLst>
          </p:nvPr>
        </p:nvPicPr>
        <p:blipFill>
          <a:blip r:embed="rId42" cstate="print"/>
          <a:srcRect/>
          <a:stretch>
            <a:fillRect/>
          </a:stretch>
        </p:blipFill>
        <p:spPr bwMode="auto">
          <a:xfrm rot="-2136353">
            <a:off x="1187450" y="2886075"/>
            <a:ext cx="323850" cy="665163"/>
          </a:xfrm>
          <a:prstGeom prst="rect">
            <a:avLst/>
          </a:prstGeom>
          <a:noFill/>
        </p:spPr>
      </p:pic>
      <p:sp>
        <p:nvSpPr>
          <p:cNvPr id="495820" name="Text Box 204"/>
          <p:cNvSpPr txBox="1">
            <a:spLocks noChangeArrowheads="1"/>
          </p:cNvSpPr>
          <p:nvPr/>
        </p:nvSpPr>
        <p:spPr bwMode="auto">
          <a:xfrm>
            <a:off x="712788" y="2108200"/>
            <a:ext cx="1073150" cy="542925"/>
          </a:xfrm>
          <a:prstGeom prst="rect">
            <a:avLst/>
          </a:prstGeom>
          <a:noFill/>
          <a:ln w="6350">
            <a:noFill/>
            <a:miter lim="800000"/>
            <a:headEnd/>
            <a:tailEnd/>
          </a:ln>
          <a:effectLst/>
        </p:spPr>
        <p:txBody>
          <a:bodyPr tIns="27432" bIns="27432">
            <a:spAutoFit/>
          </a:bodyPr>
          <a:lstStyle/>
          <a:p>
            <a:r>
              <a:rPr lang="fr-FR" sz="1600">
                <a:solidFill>
                  <a:srgbClr val="000000"/>
                </a:solidFill>
              </a:rPr>
              <a:t>Catalogue global</a:t>
            </a:r>
            <a:endParaRPr lang="en-US" sz="1600"/>
          </a:p>
        </p:txBody>
      </p:sp>
      <p:sp>
        <p:nvSpPr>
          <p:cNvPr id="495821" name="Text Box 205"/>
          <p:cNvSpPr txBox="1">
            <a:spLocks noChangeArrowheads="1"/>
          </p:cNvSpPr>
          <p:nvPr/>
        </p:nvSpPr>
        <p:spPr bwMode="auto">
          <a:xfrm>
            <a:off x="7302500" y="2108200"/>
            <a:ext cx="1073150" cy="542925"/>
          </a:xfrm>
          <a:prstGeom prst="rect">
            <a:avLst/>
          </a:prstGeom>
          <a:noFill/>
          <a:ln w="6350">
            <a:noFill/>
            <a:miter lim="800000"/>
            <a:headEnd/>
            <a:tailEnd/>
          </a:ln>
          <a:effectLst/>
        </p:spPr>
        <p:txBody>
          <a:bodyPr tIns="27432" bIns="27432">
            <a:spAutoFit/>
          </a:bodyPr>
          <a:lstStyle/>
          <a:p>
            <a:r>
              <a:rPr lang="fr-FR" sz="1600">
                <a:solidFill>
                  <a:srgbClr val="000000"/>
                </a:solidFill>
              </a:rPr>
              <a:t>Catalogue global</a:t>
            </a:r>
            <a:endParaRPr lang="en-US" sz="1600"/>
          </a:p>
        </p:txBody>
      </p:sp>
      <p:pic>
        <p:nvPicPr>
          <p:cNvPr id="495823" name="Picture 207" descr="Computer_DesktopComputer01"/>
          <p:cNvPicPr>
            <a:picLocks noChangeAspect="1" noChangeArrowheads="1"/>
          </p:cNvPicPr>
          <p:nvPr>
            <p:custDataLst>
              <p:tags r:id="rId13"/>
            </p:custDataLst>
          </p:nvPr>
        </p:nvPicPr>
        <p:blipFill>
          <a:blip r:embed="rId43" cstate="print"/>
          <a:srcRect/>
          <a:stretch>
            <a:fillRect/>
          </a:stretch>
        </p:blipFill>
        <p:spPr bwMode="auto">
          <a:xfrm>
            <a:off x="2571750" y="4368800"/>
            <a:ext cx="717550" cy="803275"/>
          </a:xfrm>
          <a:prstGeom prst="rect">
            <a:avLst/>
          </a:prstGeom>
          <a:noFill/>
        </p:spPr>
      </p:pic>
      <p:pic>
        <p:nvPicPr>
          <p:cNvPr id="495824" name="Picture 208" descr="User_UserHalfD01"/>
          <p:cNvPicPr>
            <a:picLocks noChangeAspect="1" noChangeArrowheads="1"/>
          </p:cNvPicPr>
          <p:nvPr>
            <p:custDataLst>
              <p:tags r:id="rId14"/>
            </p:custDataLst>
          </p:nvPr>
        </p:nvPicPr>
        <p:blipFill>
          <a:blip r:embed="rId44" cstate="print"/>
          <a:srcRect/>
          <a:stretch>
            <a:fillRect/>
          </a:stretch>
        </p:blipFill>
        <p:spPr bwMode="auto">
          <a:xfrm>
            <a:off x="2352675" y="4492625"/>
            <a:ext cx="560388" cy="882650"/>
          </a:xfrm>
          <a:prstGeom prst="rect">
            <a:avLst/>
          </a:prstGeom>
          <a:noFill/>
        </p:spPr>
      </p:pic>
      <p:pic>
        <p:nvPicPr>
          <p:cNvPr id="495825" name="Picture 209" descr="Server01"/>
          <p:cNvPicPr>
            <a:picLocks noChangeAspect="1" noChangeArrowheads="1"/>
          </p:cNvPicPr>
          <p:nvPr/>
        </p:nvPicPr>
        <p:blipFill>
          <a:blip r:embed="rId38" cstate="print"/>
          <a:srcRect/>
          <a:stretch>
            <a:fillRect/>
          </a:stretch>
        </p:blipFill>
        <p:spPr bwMode="auto">
          <a:xfrm>
            <a:off x="6337300" y="3971925"/>
            <a:ext cx="720725" cy="849313"/>
          </a:xfrm>
          <a:prstGeom prst="rect">
            <a:avLst/>
          </a:prstGeom>
          <a:noFill/>
        </p:spPr>
      </p:pic>
      <p:pic>
        <p:nvPicPr>
          <p:cNvPr id="495826" name="Picture 210" descr="Server01"/>
          <p:cNvPicPr>
            <a:picLocks noChangeAspect="1" noChangeArrowheads="1"/>
          </p:cNvPicPr>
          <p:nvPr/>
        </p:nvPicPr>
        <p:blipFill>
          <a:blip r:embed="rId38" cstate="print"/>
          <a:srcRect/>
          <a:stretch>
            <a:fillRect/>
          </a:stretch>
        </p:blipFill>
        <p:spPr bwMode="auto">
          <a:xfrm>
            <a:off x="7329488" y="4649788"/>
            <a:ext cx="720725" cy="849312"/>
          </a:xfrm>
          <a:prstGeom prst="rect">
            <a:avLst/>
          </a:prstGeom>
          <a:noFill/>
        </p:spPr>
      </p:pic>
      <p:pic>
        <p:nvPicPr>
          <p:cNvPr id="495828" name="Picture 212" descr="Folder_FolderOpen01"/>
          <p:cNvPicPr>
            <a:picLocks noChangeAspect="1" noChangeArrowheads="1"/>
          </p:cNvPicPr>
          <p:nvPr>
            <p:custDataLst>
              <p:tags r:id="rId15"/>
            </p:custDataLst>
          </p:nvPr>
        </p:nvPicPr>
        <p:blipFill>
          <a:blip r:embed="rId45" cstate="print"/>
          <a:srcRect/>
          <a:stretch>
            <a:fillRect/>
          </a:stretch>
        </p:blipFill>
        <p:spPr bwMode="auto">
          <a:xfrm>
            <a:off x="7862888" y="4805363"/>
            <a:ext cx="639762" cy="573087"/>
          </a:xfrm>
          <a:prstGeom prst="rect">
            <a:avLst/>
          </a:prstGeom>
          <a:noFill/>
        </p:spPr>
      </p:pic>
      <p:pic>
        <p:nvPicPr>
          <p:cNvPr id="495829" name="Picture 213" descr="Shared Hand-3"/>
          <p:cNvPicPr>
            <a:picLocks noChangeAspect="1" noChangeArrowheads="1"/>
          </p:cNvPicPr>
          <p:nvPr>
            <p:custDataLst>
              <p:tags r:id="rId16"/>
            </p:custDataLst>
          </p:nvPr>
        </p:nvPicPr>
        <p:blipFill>
          <a:blip r:embed="rId46"/>
          <a:srcRect/>
          <a:stretch>
            <a:fillRect/>
          </a:stretch>
        </p:blipFill>
        <p:spPr bwMode="auto">
          <a:xfrm>
            <a:off x="7764463" y="5149850"/>
            <a:ext cx="639762" cy="279400"/>
          </a:xfrm>
          <a:prstGeom prst="rect">
            <a:avLst/>
          </a:prstGeom>
          <a:noFill/>
        </p:spPr>
      </p:pic>
      <p:sp>
        <p:nvSpPr>
          <p:cNvPr id="495830" name="Text Box 214"/>
          <p:cNvSpPr txBox="1">
            <a:spLocks noChangeArrowheads="1"/>
          </p:cNvSpPr>
          <p:nvPr/>
        </p:nvSpPr>
        <p:spPr bwMode="auto">
          <a:xfrm>
            <a:off x="6977063" y="4192588"/>
            <a:ext cx="1001712" cy="301621"/>
          </a:xfrm>
          <a:prstGeom prst="rect">
            <a:avLst/>
          </a:prstGeom>
          <a:noFill/>
          <a:ln w="6350">
            <a:noFill/>
            <a:miter lim="800000"/>
            <a:headEnd/>
            <a:tailEnd/>
          </a:ln>
          <a:effectLst/>
        </p:spPr>
        <p:txBody>
          <a:bodyPr tIns="27432" bIns="27432">
            <a:spAutoFit/>
          </a:bodyPr>
          <a:lstStyle/>
          <a:p>
            <a:pPr algn="l"/>
            <a:r>
              <a:rPr lang="fr-FR" sz="1600" dirty="0" smtClean="0">
                <a:solidFill>
                  <a:srgbClr val="000000"/>
                </a:solidFill>
              </a:rPr>
              <a:t>CG2</a:t>
            </a:r>
            <a:endParaRPr lang="en-US" sz="1600" dirty="0"/>
          </a:p>
        </p:txBody>
      </p:sp>
      <p:sp>
        <p:nvSpPr>
          <p:cNvPr id="495831" name="Text Box 215"/>
          <p:cNvSpPr txBox="1">
            <a:spLocks noChangeArrowheads="1"/>
          </p:cNvSpPr>
          <p:nvPr/>
        </p:nvSpPr>
        <p:spPr bwMode="auto">
          <a:xfrm>
            <a:off x="754063" y="5732463"/>
            <a:ext cx="2252662" cy="301621"/>
          </a:xfrm>
          <a:prstGeom prst="rect">
            <a:avLst/>
          </a:prstGeom>
          <a:noFill/>
          <a:ln w="6350">
            <a:noFill/>
            <a:miter lim="800000"/>
            <a:headEnd/>
            <a:tailEnd/>
          </a:ln>
          <a:effectLst/>
        </p:spPr>
        <p:txBody>
          <a:bodyPr tIns="27432" bIns="27432">
            <a:spAutoFit/>
          </a:bodyPr>
          <a:lstStyle/>
          <a:p>
            <a:pPr algn="l"/>
            <a:r>
              <a:rPr lang="fr-FR" sz="1600" dirty="0" smtClean="0">
                <a:solidFill>
                  <a:srgbClr val="000000"/>
                </a:solidFill>
              </a:rPr>
              <a:t>Sri2.</a:t>
            </a:r>
            <a:r>
              <a:rPr lang="fr-FR" sz="1600" dirty="0" err="1" smtClean="0">
                <a:solidFill>
                  <a:srgbClr val="000000"/>
                </a:solidFill>
              </a:rPr>
              <a:t>BtsSri.local</a:t>
            </a:r>
            <a:endParaRPr lang="en-US" sz="1600" dirty="0"/>
          </a:p>
        </p:txBody>
      </p:sp>
      <p:sp>
        <p:nvSpPr>
          <p:cNvPr id="495832" name="Text Box 216"/>
          <p:cNvSpPr txBox="1">
            <a:spLocks noChangeArrowheads="1"/>
          </p:cNvSpPr>
          <p:nvPr/>
        </p:nvSpPr>
        <p:spPr bwMode="auto">
          <a:xfrm>
            <a:off x="6267450" y="5751513"/>
            <a:ext cx="1897063" cy="301621"/>
          </a:xfrm>
          <a:prstGeom prst="rect">
            <a:avLst/>
          </a:prstGeom>
          <a:noFill/>
          <a:ln w="6350">
            <a:noFill/>
            <a:miter lim="800000"/>
            <a:headEnd/>
            <a:tailEnd/>
          </a:ln>
          <a:effectLst/>
        </p:spPr>
        <p:txBody>
          <a:bodyPr tIns="27432" bIns="27432">
            <a:spAutoFit/>
          </a:bodyPr>
          <a:lstStyle/>
          <a:p>
            <a:pPr algn="r"/>
            <a:r>
              <a:rPr lang="fr-FR" sz="1600" dirty="0" smtClean="0">
                <a:solidFill>
                  <a:srgbClr val="000000"/>
                </a:solidFill>
              </a:rPr>
              <a:t>CG2.</a:t>
            </a:r>
            <a:r>
              <a:rPr lang="fr-FR" sz="1600" dirty="0" err="1" smtClean="0">
                <a:solidFill>
                  <a:srgbClr val="000000"/>
                </a:solidFill>
              </a:rPr>
              <a:t>BtsCg.local</a:t>
            </a:r>
            <a:endParaRPr lang="en-US" sz="1600" dirty="0"/>
          </a:p>
        </p:txBody>
      </p:sp>
      <p:sp>
        <p:nvSpPr>
          <p:cNvPr id="495833" name="Text Box 217"/>
          <p:cNvSpPr txBox="1">
            <a:spLocks noChangeArrowheads="1"/>
          </p:cNvSpPr>
          <p:nvPr/>
        </p:nvSpPr>
        <p:spPr bwMode="auto">
          <a:xfrm>
            <a:off x="781050" y="5148263"/>
            <a:ext cx="597807" cy="301621"/>
          </a:xfrm>
          <a:prstGeom prst="rect">
            <a:avLst/>
          </a:prstGeom>
          <a:noFill/>
          <a:ln w="6350">
            <a:noFill/>
            <a:miter lim="800000"/>
            <a:headEnd/>
            <a:tailEnd/>
          </a:ln>
          <a:effectLst/>
        </p:spPr>
        <p:txBody>
          <a:bodyPr wrap="square" tIns="27432" bIns="27432">
            <a:spAutoFit/>
          </a:bodyPr>
          <a:lstStyle/>
          <a:p>
            <a:pPr algn="l"/>
            <a:r>
              <a:rPr lang="en-US" sz="1600" dirty="0" smtClean="0"/>
              <a:t>SRi2</a:t>
            </a:r>
            <a:endParaRPr lang="en-US" sz="1600" dirty="0"/>
          </a:p>
        </p:txBody>
      </p:sp>
      <p:pic>
        <p:nvPicPr>
          <p:cNvPr id="495834" name="Picture 218" descr="Server01"/>
          <p:cNvPicPr>
            <a:picLocks noChangeAspect="1" noChangeArrowheads="1"/>
          </p:cNvPicPr>
          <p:nvPr/>
        </p:nvPicPr>
        <p:blipFill>
          <a:blip r:embed="rId38" cstate="print"/>
          <a:srcRect/>
          <a:stretch>
            <a:fillRect/>
          </a:stretch>
        </p:blipFill>
        <p:spPr bwMode="auto">
          <a:xfrm>
            <a:off x="989013" y="4314825"/>
            <a:ext cx="720725" cy="849313"/>
          </a:xfrm>
          <a:prstGeom prst="rect">
            <a:avLst/>
          </a:prstGeom>
          <a:noFill/>
        </p:spPr>
      </p:pic>
      <p:grpSp>
        <p:nvGrpSpPr>
          <p:cNvPr id="495880" name="Group 264"/>
          <p:cNvGrpSpPr>
            <a:grpSpLocks/>
          </p:cNvGrpSpPr>
          <p:nvPr/>
        </p:nvGrpSpPr>
        <p:grpSpPr bwMode="auto">
          <a:xfrm>
            <a:off x="914400" y="3557588"/>
            <a:ext cx="801688" cy="757237"/>
            <a:chOff x="576" y="2241"/>
            <a:chExt cx="505" cy="477"/>
          </a:xfrm>
        </p:grpSpPr>
        <p:sp>
          <p:nvSpPr>
            <p:cNvPr id="495836" name="Arc 220"/>
            <p:cNvSpPr>
              <a:spLocks/>
            </p:cNvSpPr>
            <p:nvPr>
              <p:custDataLst>
                <p:tags r:id="rId33"/>
              </p:custDataLst>
            </p:nvPr>
          </p:nvSpPr>
          <p:spPr bwMode="auto">
            <a:xfrm>
              <a:off x="576" y="2241"/>
              <a:ext cx="505" cy="477"/>
            </a:xfrm>
            <a:custGeom>
              <a:avLst/>
              <a:gdLst>
                <a:gd name="G0" fmla="+- 21600 0 0"/>
                <a:gd name="G1" fmla="+- 5121 0 0"/>
                <a:gd name="G2" fmla="+- 21600 0 0"/>
                <a:gd name="T0" fmla="*/ 6319 w 21600"/>
                <a:gd name="T1" fmla="*/ 20387 h 20387"/>
                <a:gd name="T2" fmla="*/ 616 w 21600"/>
                <a:gd name="T3" fmla="*/ 0 h 20387"/>
                <a:gd name="T4" fmla="*/ 21600 w 21600"/>
                <a:gd name="T5" fmla="*/ 5121 h 20387"/>
              </a:gdLst>
              <a:ahLst/>
              <a:cxnLst>
                <a:cxn ang="0">
                  <a:pos x="T0" y="T1"/>
                </a:cxn>
                <a:cxn ang="0">
                  <a:pos x="T2" y="T3"/>
                </a:cxn>
                <a:cxn ang="0">
                  <a:pos x="T4" y="T5"/>
                </a:cxn>
              </a:cxnLst>
              <a:rect l="0" t="0" r="r" b="b"/>
              <a:pathLst>
                <a:path w="21600" h="20387" fill="none" extrusionOk="0">
                  <a:moveTo>
                    <a:pt x="6318" y="20387"/>
                  </a:moveTo>
                  <a:cubicBezTo>
                    <a:pt x="2272" y="16336"/>
                    <a:pt x="0" y="10846"/>
                    <a:pt x="0" y="5121"/>
                  </a:cubicBezTo>
                  <a:cubicBezTo>
                    <a:pt x="-1" y="3395"/>
                    <a:pt x="206" y="1676"/>
                    <a:pt x="615" y="-1"/>
                  </a:cubicBezTo>
                </a:path>
                <a:path w="21600" h="20387" stroke="0" extrusionOk="0">
                  <a:moveTo>
                    <a:pt x="6318" y="20387"/>
                  </a:moveTo>
                  <a:cubicBezTo>
                    <a:pt x="2272" y="16336"/>
                    <a:pt x="0" y="10846"/>
                    <a:pt x="0" y="5121"/>
                  </a:cubicBezTo>
                  <a:cubicBezTo>
                    <a:pt x="-1" y="3395"/>
                    <a:pt x="206" y="1676"/>
                    <a:pt x="615" y="-1"/>
                  </a:cubicBezTo>
                  <a:lnTo>
                    <a:pt x="21600" y="5121"/>
                  </a:lnTo>
                  <a:close/>
                </a:path>
              </a:pathLst>
            </a:custGeom>
            <a:noFill/>
            <a:ln w="50800">
              <a:solidFill>
                <a:srgbClr val="CC0000"/>
              </a:solidFill>
              <a:round/>
              <a:headEnd type="triangle" w="med" len="med"/>
              <a:tailEnd type="triangle" w="med" len="med"/>
            </a:ln>
            <a:effectLst/>
          </p:spPr>
          <p:txBody>
            <a:bodyPr anchor="ctr"/>
            <a:lstStyle/>
            <a:p>
              <a:endParaRPr lang="fr-FR"/>
            </a:p>
          </p:txBody>
        </p:sp>
        <p:sp>
          <p:nvSpPr>
            <p:cNvPr id="495837" name="AutoShape 221"/>
            <p:cNvSpPr>
              <a:spLocks noChangeArrowheads="1"/>
            </p:cNvSpPr>
            <p:nvPr>
              <p:custDataLst>
                <p:tags r:id="rId34"/>
              </p:custDataLst>
            </p:nvPr>
          </p:nvSpPr>
          <p:spPr bwMode="auto">
            <a:xfrm>
              <a:off x="664" y="2370"/>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2</a:t>
              </a:r>
            </a:p>
          </p:txBody>
        </p:sp>
      </p:grpSp>
      <p:grpSp>
        <p:nvGrpSpPr>
          <p:cNvPr id="495878" name="Group 262"/>
          <p:cNvGrpSpPr>
            <a:grpSpLocks/>
          </p:cNvGrpSpPr>
          <p:nvPr/>
        </p:nvGrpSpPr>
        <p:grpSpPr bwMode="auto">
          <a:xfrm>
            <a:off x="2847975" y="3073400"/>
            <a:ext cx="927100" cy="1323975"/>
            <a:chOff x="1794" y="1936"/>
            <a:chExt cx="584" cy="834"/>
          </a:xfrm>
        </p:grpSpPr>
        <p:sp>
          <p:nvSpPr>
            <p:cNvPr id="495839" name="Arc 223"/>
            <p:cNvSpPr>
              <a:spLocks/>
            </p:cNvSpPr>
            <p:nvPr>
              <p:custDataLst>
                <p:tags r:id="rId31"/>
              </p:custDataLst>
            </p:nvPr>
          </p:nvSpPr>
          <p:spPr bwMode="auto">
            <a:xfrm>
              <a:off x="1794" y="1936"/>
              <a:ext cx="511" cy="834"/>
            </a:xfrm>
            <a:custGeom>
              <a:avLst/>
              <a:gdLst>
                <a:gd name="G0" fmla="+- 0 0 0"/>
                <a:gd name="G1" fmla="+- 12410 0 0"/>
                <a:gd name="G2" fmla="+- 21600 0 0"/>
                <a:gd name="T0" fmla="*/ 17679 w 21600"/>
                <a:gd name="T1" fmla="*/ 0 h 32157"/>
                <a:gd name="T2" fmla="*/ 8753 w 21600"/>
                <a:gd name="T3" fmla="*/ 32157 h 32157"/>
                <a:gd name="T4" fmla="*/ 0 w 21600"/>
                <a:gd name="T5" fmla="*/ 12410 h 32157"/>
              </a:gdLst>
              <a:ahLst/>
              <a:cxnLst>
                <a:cxn ang="0">
                  <a:pos x="T0" y="T1"/>
                </a:cxn>
                <a:cxn ang="0">
                  <a:pos x="T2" y="T3"/>
                </a:cxn>
                <a:cxn ang="0">
                  <a:pos x="T4" y="T5"/>
                </a:cxn>
              </a:cxnLst>
              <a:rect l="0" t="0" r="r" b="b"/>
              <a:pathLst>
                <a:path w="21600" h="32157" fill="none" extrusionOk="0">
                  <a:moveTo>
                    <a:pt x="17679" y="-1"/>
                  </a:moveTo>
                  <a:cubicBezTo>
                    <a:pt x="20230" y="3635"/>
                    <a:pt x="21600" y="7968"/>
                    <a:pt x="21600" y="12410"/>
                  </a:cubicBezTo>
                  <a:cubicBezTo>
                    <a:pt x="21600" y="20953"/>
                    <a:pt x="16563" y="28694"/>
                    <a:pt x="8753" y="32157"/>
                  </a:cubicBezTo>
                </a:path>
                <a:path w="21600" h="32157" stroke="0" extrusionOk="0">
                  <a:moveTo>
                    <a:pt x="17679" y="-1"/>
                  </a:moveTo>
                  <a:cubicBezTo>
                    <a:pt x="20230" y="3635"/>
                    <a:pt x="21600" y="7968"/>
                    <a:pt x="21600" y="12410"/>
                  </a:cubicBezTo>
                  <a:cubicBezTo>
                    <a:pt x="21600" y="20953"/>
                    <a:pt x="16563" y="28694"/>
                    <a:pt x="8753" y="32157"/>
                  </a:cubicBezTo>
                  <a:lnTo>
                    <a:pt x="0" y="12410"/>
                  </a:lnTo>
                  <a:close/>
                </a:path>
              </a:pathLst>
            </a:custGeom>
            <a:noFill/>
            <a:ln w="50800">
              <a:solidFill>
                <a:srgbClr val="CC0000"/>
              </a:solidFill>
              <a:round/>
              <a:headEnd type="triangle" w="med" len="med"/>
              <a:tailEnd type="triangle" w="med" len="med"/>
            </a:ln>
            <a:effectLst/>
          </p:spPr>
          <p:txBody>
            <a:bodyPr anchor="ctr"/>
            <a:lstStyle/>
            <a:p>
              <a:endParaRPr lang="fr-FR"/>
            </a:p>
          </p:txBody>
        </p:sp>
        <p:sp>
          <p:nvSpPr>
            <p:cNvPr id="495840" name="AutoShape 224"/>
            <p:cNvSpPr>
              <a:spLocks noChangeArrowheads="1"/>
            </p:cNvSpPr>
            <p:nvPr>
              <p:custDataLst>
                <p:tags r:id="rId32"/>
              </p:custDataLst>
            </p:nvPr>
          </p:nvSpPr>
          <p:spPr bwMode="auto">
            <a:xfrm>
              <a:off x="2218" y="2284"/>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4</a:t>
              </a:r>
            </a:p>
          </p:txBody>
        </p:sp>
      </p:grpSp>
      <p:grpSp>
        <p:nvGrpSpPr>
          <p:cNvPr id="495881" name="Group 265"/>
          <p:cNvGrpSpPr>
            <a:grpSpLocks/>
          </p:cNvGrpSpPr>
          <p:nvPr/>
        </p:nvGrpSpPr>
        <p:grpSpPr bwMode="auto">
          <a:xfrm>
            <a:off x="6577013" y="1943100"/>
            <a:ext cx="919162" cy="850900"/>
            <a:chOff x="4143" y="1224"/>
            <a:chExt cx="579" cy="536"/>
          </a:xfrm>
        </p:grpSpPr>
        <p:sp>
          <p:nvSpPr>
            <p:cNvPr id="495842" name="Arc 226"/>
            <p:cNvSpPr>
              <a:spLocks/>
            </p:cNvSpPr>
            <p:nvPr>
              <p:custDataLst>
                <p:tags r:id="rId29"/>
              </p:custDataLst>
            </p:nvPr>
          </p:nvSpPr>
          <p:spPr bwMode="auto">
            <a:xfrm>
              <a:off x="4143" y="1255"/>
              <a:ext cx="579" cy="505"/>
            </a:xfrm>
            <a:custGeom>
              <a:avLst/>
              <a:gdLst>
                <a:gd name="G0" fmla="+- 0 0 0"/>
                <a:gd name="G1" fmla="+- 21600 0 0"/>
                <a:gd name="G2" fmla="+- 21600 0 0"/>
                <a:gd name="T0" fmla="*/ 0 w 21507"/>
                <a:gd name="T1" fmla="*/ 0 h 21600"/>
                <a:gd name="T2" fmla="*/ 21507 w 21507"/>
                <a:gd name="T3" fmla="*/ 19594 h 21600"/>
                <a:gd name="T4" fmla="*/ 0 w 21507"/>
                <a:gd name="T5" fmla="*/ 21600 h 21600"/>
              </a:gdLst>
              <a:ahLst/>
              <a:cxnLst>
                <a:cxn ang="0">
                  <a:pos x="T0" y="T1"/>
                </a:cxn>
                <a:cxn ang="0">
                  <a:pos x="T2" y="T3"/>
                </a:cxn>
                <a:cxn ang="0">
                  <a:pos x="T4" y="T5"/>
                </a:cxn>
              </a:cxnLst>
              <a:rect l="0" t="0" r="r" b="b"/>
              <a:pathLst>
                <a:path w="21507" h="21600" fill="none" extrusionOk="0">
                  <a:moveTo>
                    <a:pt x="-1" y="0"/>
                  </a:moveTo>
                  <a:cubicBezTo>
                    <a:pt x="11152" y="0"/>
                    <a:pt x="20470" y="8490"/>
                    <a:pt x="21506" y="19594"/>
                  </a:cubicBezTo>
                </a:path>
                <a:path w="21507" h="21600" stroke="0" extrusionOk="0">
                  <a:moveTo>
                    <a:pt x="-1" y="0"/>
                  </a:moveTo>
                  <a:cubicBezTo>
                    <a:pt x="11152" y="0"/>
                    <a:pt x="20470" y="8490"/>
                    <a:pt x="21506" y="19594"/>
                  </a:cubicBezTo>
                  <a:lnTo>
                    <a:pt x="0" y="21600"/>
                  </a:lnTo>
                  <a:close/>
                </a:path>
              </a:pathLst>
            </a:custGeom>
            <a:noFill/>
            <a:ln w="50800">
              <a:solidFill>
                <a:srgbClr val="CC0000"/>
              </a:solidFill>
              <a:round/>
              <a:headEnd type="triangle" w="med" len="med"/>
              <a:tailEnd type="triangle" w="med" len="med"/>
            </a:ln>
            <a:effectLst/>
          </p:spPr>
          <p:txBody>
            <a:bodyPr anchor="ctr"/>
            <a:lstStyle/>
            <a:p>
              <a:endParaRPr lang="fr-FR"/>
            </a:p>
          </p:txBody>
        </p:sp>
        <p:sp>
          <p:nvSpPr>
            <p:cNvPr id="495843" name="AutoShape 227"/>
            <p:cNvSpPr>
              <a:spLocks noChangeArrowheads="1"/>
            </p:cNvSpPr>
            <p:nvPr>
              <p:custDataLst>
                <p:tags r:id="rId30"/>
              </p:custDataLst>
            </p:nvPr>
          </p:nvSpPr>
          <p:spPr bwMode="auto">
            <a:xfrm>
              <a:off x="4397" y="1224"/>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6</a:t>
              </a:r>
            </a:p>
          </p:txBody>
        </p:sp>
      </p:grpSp>
      <p:grpSp>
        <p:nvGrpSpPr>
          <p:cNvPr id="495876" name="Group 260"/>
          <p:cNvGrpSpPr>
            <a:grpSpLocks/>
          </p:cNvGrpSpPr>
          <p:nvPr/>
        </p:nvGrpSpPr>
        <p:grpSpPr bwMode="auto">
          <a:xfrm>
            <a:off x="1585913" y="4935538"/>
            <a:ext cx="723900" cy="295275"/>
            <a:chOff x="999" y="3109"/>
            <a:chExt cx="456" cy="186"/>
          </a:xfrm>
        </p:grpSpPr>
        <p:sp>
          <p:nvSpPr>
            <p:cNvPr id="495845" name="Line 229"/>
            <p:cNvSpPr>
              <a:spLocks noChangeShapeType="1"/>
            </p:cNvSpPr>
            <p:nvPr>
              <p:custDataLst>
                <p:tags r:id="rId27"/>
              </p:custDataLst>
            </p:nvPr>
          </p:nvSpPr>
          <p:spPr bwMode="auto">
            <a:xfrm>
              <a:off x="999" y="3179"/>
              <a:ext cx="456" cy="0"/>
            </a:xfrm>
            <a:prstGeom prst="line">
              <a:avLst/>
            </a:prstGeom>
            <a:noFill/>
            <a:ln w="50800">
              <a:solidFill>
                <a:srgbClr val="CC0000"/>
              </a:solidFill>
              <a:round/>
              <a:headEnd type="triangle" w="med" len="med"/>
              <a:tailEnd/>
            </a:ln>
            <a:effectLst/>
          </p:spPr>
          <p:txBody>
            <a:bodyPr anchor="ctr"/>
            <a:lstStyle/>
            <a:p>
              <a:endParaRPr lang="fr-FR"/>
            </a:p>
          </p:txBody>
        </p:sp>
        <p:sp>
          <p:nvSpPr>
            <p:cNvPr id="495846" name="AutoShape 230"/>
            <p:cNvSpPr>
              <a:spLocks noChangeArrowheads="1"/>
            </p:cNvSpPr>
            <p:nvPr>
              <p:custDataLst>
                <p:tags r:id="rId28"/>
              </p:custDataLst>
            </p:nvPr>
          </p:nvSpPr>
          <p:spPr bwMode="auto">
            <a:xfrm>
              <a:off x="1180" y="3109"/>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1</a:t>
              </a:r>
            </a:p>
          </p:txBody>
        </p:sp>
      </p:grpSp>
      <p:grpSp>
        <p:nvGrpSpPr>
          <p:cNvPr id="495877" name="Group 261"/>
          <p:cNvGrpSpPr>
            <a:grpSpLocks/>
          </p:cNvGrpSpPr>
          <p:nvPr/>
        </p:nvGrpSpPr>
        <p:grpSpPr bwMode="auto">
          <a:xfrm>
            <a:off x="1758950" y="4435475"/>
            <a:ext cx="673100" cy="295275"/>
            <a:chOff x="1108" y="2794"/>
            <a:chExt cx="424" cy="186"/>
          </a:xfrm>
        </p:grpSpPr>
        <p:sp>
          <p:nvSpPr>
            <p:cNvPr id="495848" name="Line 232"/>
            <p:cNvSpPr>
              <a:spLocks noChangeShapeType="1"/>
            </p:cNvSpPr>
            <p:nvPr>
              <p:custDataLst>
                <p:tags r:id="rId25"/>
              </p:custDataLst>
            </p:nvPr>
          </p:nvSpPr>
          <p:spPr bwMode="auto">
            <a:xfrm>
              <a:off x="1108" y="2902"/>
              <a:ext cx="424" cy="0"/>
            </a:xfrm>
            <a:prstGeom prst="line">
              <a:avLst/>
            </a:prstGeom>
            <a:noFill/>
            <a:ln w="50800">
              <a:solidFill>
                <a:srgbClr val="CC0000"/>
              </a:solidFill>
              <a:round/>
              <a:headEnd/>
              <a:tailEnd type="triangle" w="med" len="med"/>
            </a:ln>
            <a:effectLst/>
          </p:spPr>
          <p:txBody>
            <a:bodyPr anchor="ctr"/>
            <a:lstStyle/>
            <a:p>
              <a:endParaRPr lang="fr-FR"/>
            </a:p>
          </p:txBody>
        </p:sp>
        <p:sp>
          <p:nvSpPr>
            <p:cNvPr id="495849" name="AutoShape 233"/>
            <p:cNvSpPr>
              <a:spLocks noChangeArrowheads="1"/>
            </p:cNvSpPr>
            <p:nvPr>
              <p:custDataLst>
                <p:tags r:id="rId26"/>
              </p:custDataLst>
            </p:nvPr>
          </p:nvSpPr>
          <p:spPr bwMode="auto">
            <a:xfrm>
              <a:off x="1180" y="2794"/>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3</a:t>
              </a:r>
            </a:p>
          </p:txBody>
        </p:sp>
      </p:grpSp>
      <p:grpSp>
        <p:nvGrpSpPr>
          <p:cNvPr id="495879" name="Group 263"/>
          <p:cNvGrpSpPr>
            <a:grpSpLocks/>
          </p:cNvGrpSpPr>
          <p:nvPr/>
        </p:nvGrpSpPr>
        <p:grpSpPr bwMode="auto">
          <a:xfrm>
            <a:off x="2951163" y="2773363"/>
            <a:ext cx="2522537" cy="1757362"/>
            <a:chOff x="1859" y="1747"/>
            <a:chExt cx="1589" cy="1107"/>
          </a:xfrm>
        </p:grpSpPr>
        <p:sp>
          <p:nvSpPr>
            <p:cNvPr id="495851" name="Arc 235"/>
            <p:cNvSpPr>
              <a:spLocks/>
            </p:cNvSpPr>
            <p:nvPr>
              <p:custDataLst>
                <p:tags r:id="rId23"/>
              </p:custDataLst>
            </p:nvPr>
          </p:nvSpPr>
          <p:spPr bwMode="auto">
            <a:xfrm>
              <a:off x="1859" y="1747"/>
              <a:ext cx="1589" cy="1107"/>
            </a:xfrm>
            <a:custGeom>
              <a:avLst/>
              <a:gdLst>
                <a:gd name="G0" fmla="+- 0 0 0"/>
                <a:gd name="G1" fmla="+- 0 0 0"/>
                <a:gd name="G2" fmla="+- 21600 0 0"/>
                <a:gd name="T0" fmla="*/ 21361 w 21361"/>
                <a:gd name="T1" fmla="*/ 3203 h 21374"/>
                <a:gd name="T2" fmla="*/ 3117 w 21361"/>
                <a:gd name="T3" fmla="*/ 21374 h 21374"/>
                <a:gd name="T4" fmla="*/ 0 w 21361"/>
                <a:gd name="T5" fmla="*/ 0 h 21374"/>
              </a:gdLst>
              <a:ahLst/>
              <a:cxnLst>
                <a:cxn ang="0">
                  <a:pos x="T0" y="T1"/>
                </a:cxn>
                <a:cxn ang="0">
                  <a:pos x="T2" y="T3"/>
                </a:cxn>
                <a:cxn ang="0">
                  <a:pos x="T4" y="T5"/>
                </a:cxn>
              </a:cxnLst>
              <a:rect l="0" t="0" r="r" b="b"/>
              <a:pathLst>
                <a:path w="21361" h="21374" fill="none" extrusionOk="0">
                  <a:moveTo>
                    <a:pt x="21361" y="3203"/>
                  </a:moveTo>
                  <a:cubicBezTo>
                    <a:pt x="19949" y="12618"/>
                    <a:pt x="12538" y="19999"/>
                    <a:pt x="3116" y="21373"/>
                  </a:cubicBezTo>
                </a:path>
                <a:path w="21361" h="21374" stroke="0" extrusionOk="0">
                  <a:moveTo>
                    <a:pt x="21361" y="3203"/>
                  </a:moveTo>
                  <a:cubicBezTo>
                    <a:pt x="19949" y="12618"/>
                    <a:pt x="12538" y="19999"/>
                    <a:pt x="3116" y="21373"/>
                  </a:cubicBezTo>
                  <a:lnTo>
                    <a:pt x="0" y="0"/>
                  </a:lnTo>
                  <a:close/>
                </a:path>
              </a:pathLst>
            </a:custGeom>
            <a:noFill/>
            <a:ln w="50800">
              <a:solidFill>
                <a:srgbClr val="CC0000"/>
              </a:solidFill>
              <a:round/>
              <a:headEnd type="triangle" w="med" len="med"/>
              <a:tailEnd/>
            </a:ln>
            <a:effectLst/>
          </p:spPr>
          <p:txBody>
            <a:bodyPr anchor="ctr"/>
            <a:lstStyle/>
            <a:p>
              <a:endParaRPr lang="fr-FR"/>
            </a:p>
          </p:txBody>
        </p:sp>
        <p:sp>
          <p:nvSpPr>
            <p:cNvPr id="495852" name="AutoShape 236"/>
            <p:cNvSpPr>
              <a:spLocks noChangeArrowheads="1"/>
            </p:cNvSpPr>
            <p:nvPr>
              <p:custDataLst>
                <p:tags r:id="rId24"/>
              </p:custDataLst>
            </p:nvPr>
          </p:nvSpPr>
          <p:spPr bwMode="auto">
            <a:xfrm>
              <a:off x="2548" y="2594"/>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5</a:t>
              </a:r>
            </a:p>
          </p:txBody>
        </p:sp>
      </p:grpSp>
      <p:grpSp>
        <p:nvGrpSpPr>
          <p:cNvPr id="495882" name="Group 266"/>
          <p:cNvGrpSpPr>
            <a:grpSpLocks/>
          </p:cNvGrpSpPr>
          <p:nvPr/>
        </p:nvGrpSpPr>
        <p:grpSpPr bwMode="auto">
          <a:xfrm>
            <a:off x="3236913" y="2790825"/>
            <a:ext cx="2522537" cy="1965325"/>
            <a:chOff x="2039" y="1758"/>
            <a:chExt cx="1589" cy="1238"/>
          </a:xfrm>
        </p:grpSpPr>
        <p:sp>
          <p:nvSpPr>
            <p:cNvPr id="495854" name="Arc 238"/>
            <p:cNvSpPr>
              <a:spLocks/>
            </p:cNvSpPr>
            <p:nvPr>
              <p:custDataLst>
                <p:tags r:id="rId21"/>
              </p:custDataLst>
            </p:nvPr>
          </p:nvSpPr>
          <p:spPr bwMode="auto">
            <a:xfrm>
              <a:off x="2039" y="1758"/>
              <a:ext cx="1589" cy="1238"/>
            </a:xfrm>
            <a:custGeom>
              <a:avLst/>
              <a:gdLst>
                <a:gd name="G0" fmla="+- 0 0 0"/>
                <a:gd name="G1" fmla="+- 0 0 0"/>
                <a:gd name="G2" fmla="+- 21600 0 0"/>
                <a:gd name="T0" fmla="*/ 21361 w 21361"/>
                <a:gd name="T1" fmla="*/ 3203 h 21596"/>
                <a:gd name="T2" fmla="*/ 425 w 21361"/>
                <a:gd name="T3" fmla="*/ 21596 h 21596"/>
                <a:gd name="T4" fmla="*/ 0 w 21361"/>
                <a:gd name="T5" fmla="*/ 0 h 21596"/>
              </a:gdLst>
              <a:ahLst/>
              <a:cxnLst>
                <a:cxn ang="0">
                  <a:pos x="T0" y="T1"/>
                </a:cxn>
                <a:cxn ang="0">
                  <a:pos x="T2" y="T3"/>
                </a:cxn>
                <a:cxn ang="0">
                  <a:pos x="T4" y="T5"/>
                </a:cxn>
              </a:cxnLst>
              <a:rect l="0" t="0" r="r" b="b"/>
              <a:pathLst>
                <a:path w="21361" h="21596" fill="none" extrusionOk="0">
                  <a:moveTo>
                    <a:pt x="21361" y="3203"/>
                  </a:moveTo>
                  <a:cubicBezTo>
                    <a:pt x="19799" y="13618"/>
                    <a:pt x="10954" y="21388"/>
                    <a:pt x="424" y="21595"/>
                  </a:cubicBezTo>
                </a:path>
                <a:path w="21361" h="21596" stroke="0" extrusionOk="0">
                  <a:moveTo>
                    <a:pt x="21361" y="3203"/>
                  </a:moveTo>
                  <a:cubicBezTo>
                    <a:pt x="19799" y="13618"/>
                    <a:pt x="10954" y="21388"/>
                    <a:pt x="424" y="21595"/>
                  </a:cubicBezTo>
                  <a:lnTo>
                    <a:pt x="0" y="0"/>
                  </a:lnTo>
                  <a:close/>
                </a:path>
              </a:pathLst>
            </a:custGeom>
            <a:noFill/>
            <a:ln w="50800">
              <a:solidFill>
                <a:srgbClr val="CC0000"/>
              </a:solidFill>
              <a:round/>
              <a:headEnd/>
              <a:tailEnd type="triangle" w="med" len="med"/>
            </a:ln>
            <a:effectLst/>
          </p:spPr>
          <p:txBody>
            <a:bodyPr anchor="ctr"/>
            <a:lstStyle/>
            <a:p>
              <a:endParaRPr lang="fr-FR"/>
            </a:p>
          </p:txBody>
        </p:sp>
        <p:sp>
          <p:nvSpPr>
            <p:cNvPr id="495855" name="AutoShape 239"/>
            <p:cNvSpPr>
              <a:spLocks noChangeArrowheads="1"/>
            </p:cNvSpPr>
            <p:nvPr>
              <p:custDataLst>
                <p:tags r:id="rId22"/>
              </p:custDataLst>
            </p:nvPr>
          </p:nvSpPr>
          <p:spPr bwMode="auto">
            <a:xfrm>
              <a:off x="2869" y="2725"/>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7</a:t>
              </a:r>
            </a:p>
          </p:txBody>
        </p:sp>
      </p:grpSp>
      <p:grpSp>
        <p:nvGrpSpPr>
          <p:cNvPr id="495883" name="Group 267"/>
          <p:cNvGrpSpPr>
            <a:grpSpLocks/>
          </p:cNvGrpSpPr>
          <p:nvPr/>
        </p:nvGrpSpPr>
        <p:grpSpPr bwMode="auto">
          <a:xfrm>
            <a:off x="3244850" y="4197350"/>
            <a:ext cx="3006725" cy="835025"/>
            <a:chOff x="2044" y="2644"/>
            <a:chExt cx="1894" cy="526"/>
          </a:xfrm>
        </p:grpSpPr>
        <p:sp>
          <p:nvSpPr>
            <p:cNvPr id="495857" name="Arc 241"/>
            <p:cNvSpPr>
              <a:spLocks/>
            </p:cNvSpPr>
            <p:nvPr>
              <p:custDataLst>
                <p:tags r:id="rId19"/>
              </p:custDataLst>
            </p:nvPr>
          </p:nvSpPr>
          <p:spPr bwMode="auto">
            <a:xfrm>
              <a:off x="2044" y="2644"/>
              <a:ext cx="1894" cy="483"/>
            </a:xfrm>
            <a:custGeom>
              <a:avLst/>
              <a:gdLst>
                <a:gd name="G0" fmla="+- 0 0 0"/>
                <a:gd name="G1" fmla="+- 0 0 0"/>
                <a:gd name="G2" fmla="+- 21600 0 0"/>
                <a:gd name="T0" fmla="*/ 19695 w 19695"/>
                <a:gd name="T1" fmla="*/ 8870 h 21596"/>
                <a:gd name="T2" fmla="*/ 425 w 19695"/>
                <a:gd name="T3" fmla="*/ 21596 h 21596"/>
                <a:gd name="T4" fmla="*/ 0 w 19695"/>
                <a:gd name="T5" fmla="*/ 0 h 21596"/>
              </a:gdLst>
              <a:ahLst/>
              <a:cxnLst>
                <a:cxn ang="0">
                  <a:pos x="T0" y="T1"/>
                </a:cxn>
                <a:cxn ang="0">
                  <a:pos x="T2" y="T3"/>
                </a:cxn>
                <a:cxn ang="0">
                  <a:pos x="T4" y="T5"/>
                </a:cxn>
              </a:cxnLst>
              <a:rect l="0" t="0" r="r" b="b"/>
              <a:pathLst>
                <a:path w="19695" h="21596" fill="none" extrusionOk="0">
                  <a:moveTo>
                    <a:pt x="19694" y="8869"/>
                  </a:moveTo>
                  <a:cubicBezTo>
                    <a:pt x="16268" y="16477"/>
                    <a:pt x="8767" y="21431"/>
                    <a:pt x="424" y="21595"/>
                  </a:cubicBezTo>
                </a:path>
                <a:path w="19695" h="21596" stroke="0" extrusionOk="0">
                  <a:moveTo>
                    <a:pt x="19694" y="8869"/>
                  </a:moveTo>
                  <a:cubicBezTo>
                    <a:pt x="16268" y="16477"/>
                    <a:pt x="8767" y="21431"/>
                    <a:pt x="424" y="21595"/>
                  </a:cubicBezTo>
                  <a:lnTo>
                    <a:pt x="0" y="0"/>
                  </a:lnTo>
                  <a:close/>
                </a:path>
              </a:pathLst>
            </a:custGeom>
            <a:noFill/>
            <a:ln w="50800">
              <a:solidFill>
                <a:srgbClr val="CC0000"/>
              </a:solidFill>
              <a:round/>
              <a:headEnd type="triangle" w="med" len="med"/>
              <a:tailEnd type="triangle" w="med" len="med"/>
            </a:ln>
            <a:effectLst/>
          </p:spPr>
          <p:txBody>
            <a:bodyPr anchor="ctr"/>
            <a:lstStyle/>
            <a:p>
              <a:endParaRPr lang="fr-FR"/>
            </a:p>
          </p:txBody>
        </p:sp>
        <p:sp>
          <p:nvSpPr>
            <p:cNvPr id="495858" name="AutoShape 242"/>
            <p:cNvSpPr>
              <a:spLocks noChangeArrowheads="1"/>
            </p:cNvSpPr>
            <p:nvPr>
              <p:custDataLst>
                <p:tags r:id="rId20"/>
              </p:custDataLst>
            </p:nvPr>
          </p:nvSpPr>
          <p:spPr bwMode="auto">
            <a:xfrm>
              <a:off x="3126" y="2984"/>
              <a:ext cx="159"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8</a:t>
              </a:r>
            </a:p>
          </p:txBody>
        </p:sp>
      </p:grpSp>
      <p:grpSp>
        <p:nvGrpSpPr>
          <p:cNvPr id="495884" name="Group 268"/>
          <p:cNvGrpSpPr>
            <a:grpSpLocks/>
          </p:cNvGrpSpPr>
          <p:nvPr/>
        </p:nvGrpSpPr>
        <p:grpSpPr bwMode="auto">
          <a:xfrm>
            <a:off x="3187700" y="4654550"/>
            <a:ext cx="4076700" cy="906463"/>
            <a:chOff x="2008" y="2932"/>
            <a:chExt cx="2568" cy="571"/>
          </a:xfrm>
        </p:grpSpPr>
        <p:sp>
          <p:nvSpPr>
            <p:cNvPr id="495860" name="Arc 244"/>
            <p:cNvSpPr>
              <a:spLocks/>
            </p:cNvSpPr>
            <p:nvPr>
              <p:custDataLst>
                <p:tags r:id="rId17"/>
              </p:custDataLst>
            </p:nvPr>
          </p:nvSpPr>
          <p:spPr bwMode="auto">
            <a:xfrm>
              <a:off x="2008" y="2932"/>
              <a:ext cx="2568" cy="483"/>
            </a:xfrm>
            <a:custGeom>
              <a:avLst/>
              <a:gdLst>
                <a:gd name="G0" fmla="+- 16214 0 0"/>
                <a:gd name="G1" fmla="+- 0 0 0"/>
                <a:gd name="G2" fmla="+- 21600 0 0"/>
                <a:gd name="T0" fmla="*/ 35091 w 35091"/>
                <a:gd name="T1" fmla="*/ 10498 h 21600"/>
                <a:gd name="T2" fmla="*/ 0 w 35091"/>
                <a:gd name="T3" fmla="*/ 14271 h 21600"/>
                <a:gd name="T4" fmla="*/ 16214 w 35091"/>
                <a:gd name="T5" fmla="*/ 0 h 21600"/>
              </a:gdLst>
              <a:ahLst/>
              <a:cxnLst>
                <a:cxn ang="0">
                  <a:pos x="T0" y="T1"/>
                </a:cxn>
                <a:cxn ang="0">
                  <a:pos x="T2" y="T3"/>
                </a:cxn>
                <a:cxn ang="0">
                  <a:pos x="T4" y="T5"/>
                </a:cxn>
              </a:cxnLst>
              <a:rect l="0" t="0" r="r" b="b"/>
              <a:pathLst>
                <a:path w="35091" h="21600" fill="none" extrusionOk="0">
                  <a:moveTo>
                    <a:pt x="35091" y="10498"/>
                  </a:moveTo>
                  <a:cubicBezTo>
                    <a:pt x="31280" y="17350"/>
                    <a:pt x="24055" y="21599"/>
                    <a:pt x="16214" y="21600"/>
                  </a:cubicBezTo>
                  <a:cubicBezTo>
                    <a:pt x="10007" y="21600"/>
                    <a:pt x="4100" y="18930"/>
                    <a:pt x="-1" y="14271"/>
                  </a:cubicBezTo>
                </a:path>
                <a:path w="35091" h="21600" stroke="0" extrusionOk="0">
                  <a:moveTo>
                    <a:pt x="35091" y="10498"/>
                  </a:moveTo>
                  <a:cubicBezTo>
                    <a:pt x="31280" y="17350"/>
                    <a:pt x="24055" y="21599"/>
                    <a:pt x="16214" y="21600"/>
                  </a:cubicBezTo>
                  <a:cubicBezTo>
                    <a:pt x="10007" y="21600"/>
                    <a:pt x="4100" y="18930"/>
                    <a:pt x="-1" y="14271"/>
                  </a:cubicBezTo>
                  <a:lnTo>
                    <a:pt x="16214" y="0"/>
                  </a:lnTo>
                  <a:close/>
                </a:path>
              </a:pathLst>
            </a:custGeom>
            <a:noFill/>
            <a:ln w="50800">
              <a:solidFill>
                <a:srgbClr val="CC0000"/>
              </a:solidFill>
              <a:round/>
              <a:headEnd type="triangle" w="med" len="med"/>
              <a:tailEnd/>
            </a:ln>
            <a:effectLst/>
          </p:spPr>
          <p:txBody>
            <a:bodyPr anchor="ctr"/>
            <a:lstStyle/>
            <a:p>
              <a:endParaRPr lang="fr-FR"/>
            </a:p>
          </p:txBody>
        </p:sp>
        <p:sp>
          <p:nvSpPr>
            <p:cNvPr id="495861" name="AutoShape 245"/>
            <p:cNvSpPr>
              <a:spLocks noChangeArrowheads="1"/>
            </p:cNvSpPr>
            <p:nvPr>
              <p:custDataLst>
                <p:tags r:id="rId18"/>
              </p:custDataLst>
            </p:nvPr>
          </p:nvSpPr>
          <p:spPr bwMode="auto">
            <a:xfrm>
              <a:off x="3260" y="3317"/>
              <a:ext cx="160" cy="18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000">
                  <a:solidFill>
                    <a:srgbClr val="990033"/>
                  </a:solidFill>
                </a:rPr>
                <a:t>9</a:t>
              </a:r>
            </a:p>
          </p:txBody>
        </p:sp>
      </p:grpSp>
      <p:sp>
        <p:nvSpPr>
          <p:cNvPr id="495873" name="Text Box 257"/>
          <p:cNvSpPr txBox="1">
            <a:spLocks noChangeArrowheads="1"/>
          </p:cNvSpPr>
          <p:nvPr/>
        </p:nvSpPr>
        <p:spPr bwMode="auto">
          <a:xfrm rot="4855">
            <a:off x="403225" y="1276350"/>
            <a:ext cx="1362075" cy="404813"/>
          </a:xfrm>
          <a:prstGeom prst="rect">
            <a:avLst/>
          </a:prstGeom>
          <a:noFill/>
          <a:ln w="9525" algn="ctr">
            <a:noFill/>
            <a:miter lim="800000"/>
            <a:headEnd/>
            <a:tailEnd/>
          </a:ln>
          <a:effectLst/>
        </p:spPr>
        <p:txBody>
          <a:bodyPr/>
          <a:lstStyle/>
          <a:p>
            <a:r>
              <a:rPr lang="fr-FR" sz="2400">
                <a:solidFill>
                  <a:srgbClr val="000000"/>
                </a:solidFill>
              </a:rPr>
              <a:t>Forêt 1</a:t>
            </a:r>
            <a:endParaRPr lang="en-US" sz="2400"/>
          </a:p>
        </p:txBody>
      </p:sp>
      <p:sp>
        <p:nvSpPr>
          <p:cNvPr id="495874" name="Text Box 258"/>
          <p:cNvSpPr txBox="1">
            <a:spLocks noChangeArrowheads="1"/>
          </p:cNvSpPr>
          <p:nvPr/>
        </p:nvSpPr>
        <p:spPr bwMode="auto">
          <a:xfrm rot="4855">
            <a:off x="7169150" y="1276350"/>
            <a:ext cx="1017588" cy="419100"/>
          </a:xfrm>
          <a:prstGeom prst="rect">
            <a:avLst/>
          </a:prstGeom>
          <a:noFill/>
          <a:ln w="9525">
            <a:noFill/>
            <a:miter lim="800000"/>
            <a:headEnd/>
            <a:tailEnd/>
          </a:ln>
          <a:effectLst/>
        </p:spPr>
        <p:txBody>
          <a:bodyPr wrap="none" tIns="27432" bIns="27432" anchor="ctr">
            <a:spAutoFit/>
          </a:bodyPr>
          <a:lstStyle/>
          <a:p>
            <a:r>
              <a:rPr lang="fr-FR" sz="2400">
                <a:solidFill>
                  <a:srgbClr val="000000"/>
                </a:solidFill>
              </a:rPr>
              <a:t>Forêt 2</a:t>
            </a:r>
            <a:endParaRPr lang="en-US" sz="2400"/>
          </a:p>
        </p:txBody>
      </p:sp>
      <p:grpSp>
        <p:nvGrpSpPr>
          <p:cNvPr id="495885" name="Group 269"/>
          <p:cNvGrpSpPr>
            <a:grpSpLocks/>
          </p:cNvGrpSpPr>
          <p:nvPr/>
        </p:nvGrpSpPr>
        <p:grpSpPr bwMode="auto">
          <a:xfrm>
            <a:off x="609600" y="6051550"/>
            <a:ext cx="914400" cy="425450"/>
            <a:chOff x="384" y="3024"/>
            <a:chExt cx="720" cy="336"/>
          </a:xfrm>
        </p:grpSpPr>
        <p:sp>
          <p:nvSpPr>
            <p:cNvPr id="495886" name="Oval 27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495887" name="Group 271"/>
            <p:cNvGrpSpPr>
              <a:grpSpLocks/>
            </p:cNvGrpSpPr>
            <p:nvPr/>
          </p:nvGrpSpPr>
          <p:grpSpPr bwMode="auto">
            <a:xfrm>
              <a:off x="480" y="3096"/>
              <a:ext cx="240" cy="192"/>
              <a:chOff x="480" y="3096"/>
              <a:chExt cx="240" cy="192"/>
            </a:xfrm>
          </p:grpSpPr>
          <p:sp>
            <p:nvSpPr>
              <p:cNvPr id="495888" name="Oval 27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95889" name="Freeform 273"/>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495890" name="Group 274"/>
          <p:cNvGrpSpPr>
            <a:grpSpLocks/>
          </p:cNvGrpSpPr>
          <p:nvPr/>
        </p:nvGrpSpPr>
        <p:grpSpPr bwMode="auto">
          <a:xfrm>
            <a:off x="1096963" y="6142038"/>
            <a:ext cx="304800" cy="244475"/>
            <a:chOff x="768" y="3096"/>
            <a:chExt cx="240" cy="192"/>
          </a:xfrm>
        </p:grpSpPr>
        <p:sp>
          <p:nvSpPr>
            <p:cNvPr id="495891" name="Oval 27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95892" name="Rectangle 276"/>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95876"/>
                                        </p:tgtEl>
                                        <p:attrNameLst>
                                          <p:attrName>style.visibility</p:attrName>
                                        </p:attrNameLst>
                                      </p:cBhvr>
                                      <p:to>
                                        <p:strVal val="visible"/>
                                      </p:to>
                                    </p:set>
                                    <p:animEffect transition="in" filter="wipe(right)">
                                      <p:cBhvr>
                                        <p:cTn id="7" dur="500"/>
                                        <p:tgtEl>
                                          <p:spTgt spid="4958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95880"/>
                                        </p:tgtEl>
                                        <p:attrNameLst>
                                          <p:attrName>style.visibility</p:attrName>
                                        </p:attrNameLst>
                                      </p:cBhvr>
                                      <p:to>
                                        <p:strVal val="visible"/>
                                      </p:to>
                                    </p:set>
                                    <p:animEffect transition="in" filter="wipe(down)">
                                      <p:cBhvr>
                                        <p:cTn id="12" dur="500"/>
                                        <p:tgtEl>
                                          <p:spTgt spid="4958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5877"/>
                                        </p:tgtEl>
                                        <p:attrNameLst>
                                          <p:attrName>style.visibility</p:attrName>
                                        </p:attrNameLst>
                                      </p:cBhvr>
                                      <p:to>
                                        <p:strVal val="visible"/>
                                      </p:to>
                                    </p:set>
                                    <p:animEffect transition="in" filter="wipe(left)">
                                      <p:cBhvr>
                                        <p:cTn id="17" dur="500"/>
                                        <p:tgtEl>
                                          <p:spTgt spid="4958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95878"/>
                                        </p:tgtEl>
                                        <p:attrNameLst>
                                          <p:attrName>style.visibility</p:attrName>
                                        </p:attrNameLst>
                                      </p:cBhvr>
                                      <p:to>
                                        <p:strVal val="visible"/>
                                      </p:to>
                                    </p:set>
                                    <p:animEffect transition="in" filter="wipe(down)">
                                      <p:cBhvr>
                                        <p:cTn id="22" dur="500"/>
                                        <p:tgtEl>
                                          <p:spTgt spid="4958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5879"/>
                                        </p:tgtEl>
                                        <p:attrNameLst>
                                          <p:attrName>style.visibility</p:attrName>
                                        </p:attrNameLst>
                                      </p:cBhvr>
                                      <p:to>
                                        <p:strVal val="visible"/>
                                      </p:to>
                                    </p:set>
                                    <p:animEffect transition="in" filter="wipe(left)">
                                      <p:cBhvr>
                                        <p:cTn id="27" dur="500"/>
                                        <p:tgtEl>
                                          <p:spTgt spid="4958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95881"/>
                                        </p:tgtEl>
                                        <p:attrNameLst>
                                          <p:attrName>style.visibility</p:attrName>
                                        </p:attrNameLst>
                                      </p:cBhvr>
                                      <p:to>
                                        <p:strVal val="visible"/>
                                      </p:to>
                                    </p:set>
                                    <p:animEffect transition="in" filter="wipe(up)">
                                      <p:cBhvr>
                                        <p:cTn id="32" dur="500"/>
                                        <p:tgtEl>
                                          <p:spTgt spid="4958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495882"/>
                                        </p:tgtEl>
                                        <p:attrNameLst>
                                          <p:attrName>style.visibility</p:attrName>
                                        </p:attrNameLst>
                                      </p:cBhvr>
                                      <p:to>
                                        <p:strVal val="visible"/>
                                      </p:to>
                                    </p:set>
                                    <p:animEffect transition="in" filter="wipe(up)">
                                      <p:cBhvr>
                                        <p:cTn id="37" dur="500"/>
                                        <p:tgtEl>
                                          <p:spTgt spid="4958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95883"/>
                                        </p:tgtEl>
                                        <p:attrNameLst>
                                          <p:attrName>style.visibility</p:attrName>
                                        </p:attrNameLst>
                                      </p:cBhvr>
                                      <p:to>
                                        <p:strVal val="visible"/>
                                      </p:to>
                                    </p:set>
                                    <p:animEffect transition="in" filter="wipe(left)">
                                      <p:cBhvr>
                                        <p:cTn id="42" dur="500"/>
                                        <p:tgtEl>
                                          <p:spTgt spid="49588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95884"/>
                                        </p:tgtEl>
                                        <p:attrNameLst>
                                          <p:attrName>style.visibility</p:attrName>
                                        </p:attrNameLst>
                                      </p:cBhvr>
                                      <p:to>
                                        <p:strVal val="visible"/>
                                      </p:to>
                                    </p:set>
                                    <p:animEffect transition="in" filter="wipe(left)">
                                      <p:cBhvr>
                                        <p:cTn id="47" dur="500"/>
                                        <p:tgtEl>
                                          <p:spTgt spid="495884"/>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495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a:xfrm>
            <a:off x="301752" y="1527048"/>
            <a:ext cx="8503920" cy="5105764"/>
          </a:xfrm>
        </p:spPr>
        <p:txBody>
          <a:bodyPr>
            <a:normAutofit fontScale="92500" lnSpcReduction="20000"/>
          </a:bodyPr>
          <a:lstStyle/>
          <a:p>
            <a:pPr lvl="0">
              <a:buClrTx/>
              <a:buFont typeface="Wingdings" pitchFamily="2" charset="2"/>
              <a:buChar char="q"/>
            </a:pPr>
            <a:r>
              <a:rPr lang="fr-FR" dirty="0" smtClean="0"/>
              <a:t>Quel(s type(s) de zones peuvent être intégrées à </a:t>
            </a:r>
            <a:r>
              <a:rPr lang="fr-FR" dirty="0" smtClean="0"/>
              <a:t>AD?</a:t>
            </a:r>
            <a:endParaRPr lang="fr-FR" dirty="0" smtClean="0"/>
          </a:p>
          <a:p>
            <a:pPr>
              <a:buClrTx/>
              <a:buFont typeface="Wingdings" pitchFamily="2" charset="2"/>
              <a:buChar char="q"/>
            </a:pPr>
            <a:r>
              <a:rPr lang="fr-FR" i="1" dirty="0" smtClean="0"/>
              <a:t>les </a:t>
            </a:r>
            <a:r>
              <a:rPr lang="fr-FR" i="1" dirty="0" smtClean="0"/>
              <a:t>zones primaires et les zones de stub. </a:t>
            </a:r>
            <a:endParaRPr lang="fr-FR" dirty="0" smtClean="0"/>
          </a:p>
          <a:p>
            <a:pPr lvl="0">
              <a:buClrTx/>
              <a:buFont typeface="Wingdings" pitchFamily="2" charset="2"/>
              <a:buChar char="q"/>
            </a:pPr>
            <a:r>
              <a:rPr lang="fr-FR" dirty="0" smtClean="0"/>
              <a:t>Quelles sont les conditions requises pour que les données d’une zone DNS soient stockées dans </a:t>
            </a:r>
            <a:r>
              <a:rPr lang="fr-FR" dirty="0" smtClean="0"/>
              <a:t>AD </a:t>
            </a:r>
            <a:r>
              <a:rPr lang="fr-FR" dirty="0" smtClean="0"/>
              <a:t>?</a:t>
            </a:r>
          </a:p>
          <a:p>
            <a:pPr>
              <a:buClrTx/>
              <a:buFont typeface="Wingdings" pitchFamily="2" charset="2"/>
              <a:buChar char="q"/>
            </a:pPr>
            <a:r>
              <a:rPr lang="fr-FR" i="1" dirty="0" smtClean="0"/>
              <a:t>Vous devez utiliser un serveur DNS </a:t>
            </a:r>
            <a:r>
              <a:rPr lang="fr-FR" i="1" dirty="0" smtClean="0"/>
              <a:t>qui doit </a:t>
            </a:r>
            <a:r>
              <a:rPr lang="fr-FR" i="1" dirty="0" smtClean="0"/>
              <a:t>être un contrôleur de </a:t>
            </a:r>
            <a:r>
              <a:rPr lang="fr-FR" i="1" dirty="0" smtClean="0"/>
              <a:t>domaine</a:t>
            </a:r>
          </a:p>
          <a:p>
            <a:pPr>
              <a:buClrTx/>
              <a:buFont typeface="Wingdings" pitchFamily="2" charset="2"/>
              <a:buChar char="q"/>
            </a:pPr>
            <a:r>
              <a:rPr lang="fr-FR" dirty="0" smtClean="0"/>
              <a:t>Quels sont les principaux avantages des zones intégrées Active Directory ?</a:t>
            </a:r>
          </a:p>
          <a:p>
            <a:pPr>
              <a:buClrTx/>
              <a:buFont typeface="Wingdings" pitchFamily="2" charset="2"/>
              <a:buChar char="q"/>
            </a:pPr>
            <a:r>
              <a:rPr lang="fr-FR" i="1" dirty="0" smtClean="0"/>
              <a:t>La tolérance de panne, la sécurité et une duplication des grandes zones plus efficace.</a:t>
            </a:r>
          </a:p>
          <a:p>
            <a:pPr>
              <a:buClrTx/>
              <a:buFont typeface="Wingdings" pitchFamily="2" charset="2"/>
              <a:buChar char="q"/>
            </a:pPr>
            <a:r>
              <a:rPr lang="fr-FR" dirty="0" smtClean="0"/>
              <a:t>Quel type d’enregistrement standard est utilisé par les services DNS Ms pour aider les utilisateurs et les applications à localiser les services de domaine AD?</a:t>
            </a:r>
          </a:p>
          <a:p>
            <a:pPr>
              <a:buClrTx/>
              <a:buFont typeface="Wingdings" pitchFamily="2" charset="2"/>
              <a:buChar char="q"/>
            </a:pPr>
            <a:r>
              <a:rPr lang="fr-FR" i="1" dirty="0" smtClean="0"/>
              <a:t>Il s’agit des enregistrements de </a:t>
            </a:r>
            <a:r>
              <a:rPr lang="fr-FR" i="1" dirty="0" smtClean="0"/>
              <a:t>SRV</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heckerboard(across)">
                                      <p:cBhvr>
                                        <p:cTn id="4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dirty="0"/>
          </a:p>
        </p:txBody>
      </p:sp>
      <p:sp>
        <p:nvSpPr>
          <p:cNvPr id="3" name="Espace réservé du contenu 2"/>
          <p:cNvSpPr>
            <a:spLocks noGrp="1"/>
          </p:cNvSpPr>
          <p:nvPr>
            <p:ph sz="quarter" idx="1"/>
          </p:nvPr>
        </p:nvSpPr>
        <p:spPr>
          <a:xfrm>
            <a:off x="301752" y="1527048"/>
            <a:ext cx="8503920" cy="4846456"/>
          </a:xfrm>
        </p:spPr>
        <p:txBody>
          <a:bodyPr>
            <a:noAutofit/>
          </a:bodyPr>
          <a:lstStyle/>
          <a:p>
            <a:pPr lvl="0">
              <a:buClrTx/>
              <a:buFont typeface="Wingdings" pitchFamily="2" charset="2"/>
              <a:buChar char="q"/>
            </a:pPr>
            <a:r>
              <a:rPr lang="fr-FR" sz="2600" dirty="0" smtClean="0"/>
              <a:t>Est-il possible d’annuler le passage d’un niveau fonctionnel à l’autre ?</a:t>
            </a:r>
          </a:p>
          <a:p>
            <a:pPr>
              <a:buClrTx/>
              <a:buFont typeface="Wingdings" pitchFamily="2" charset="2"/>
              <a:buChar char="q"/>
            </a:pPr>
            <a:r>
              <a:rPr lang="fr-FR" sz="2600" i="1" dirty="0" smtClean="0"/>
              <a:t>Non. il n’est pas possible d’annuler cette opération.</a:t>
            </a:r>
          </a:p>
          <a:p>
            <a:pPr lvl="0">
              <a:buClrTx/>
              <a:buFont typeface="Wingdings" pitchFamily="2" charset="2"/>
              <a:buChar char="q"/>
            </a:pPr>
            <a:r>
              <a:rPr lang="fr-FR" sz="2600" dirty="0" smtClean="0"/>
              <a:t>Quelle condition est-elle nécessaire pour atteindre le niveau fonctionnel de forêt Windows Server 2003 ?</a:t>
            </a:r>
          </a:p>
          <a:p>
            <a:pPr>
              <a:buClrTx/>
              <a:buFont typeface="Wingdings" pitchFamily="2" charset="2"/>
              <a:buChar char="q"/>
            </a:pPr>
            <a:r>
              <a:rPr lang="fr-FR" sz="2600" i="1" dirty="0" smtClean="0"/>
              <a:t>Il est nécessaire que tous les </a:t>
            </a:r>
            <a:r>
              <a:rPr lang="fr-FR" sz="2600" i="1" dirty="0" smtClean="0"/>
              <a:t>DC de </a:t>
            </a:r>
            <a:r>
              <a:rPr lang="fr-FR" sz="2600" i="1" dirty="0" smtClean="0"/>
              <a:t>tous les domaines de la forêt fonctionnent sous </a:t>
            </a:r>
            <a:r>
              <a:rPr lang="fr-FR" sz="2600" i="1" dirty="0" smtClean="0"/>
              <a:t>Win </a:t>
            </a:r>
            <a:r>
              <a:rPr lang="fr-FR" sz="2600" i="1" dirty="0" smtClean="0"/>
              <a:t>Server 2003</a:t>
            </a:r>
          </a:p>
          <a:p>
            <a:pPr>
              <a:buClrTx/>
              <a:buFont typeface="Wingdings" pitchFamily="2" charset="2"/>
              <a:buChar char="q"/>
            </a:pPr>
            <a:r>
              <a:rPr lang="fr-FR" sz="2600" dirty="0" smtClean="0"/>
              <a:t>Quel outil utilisez-vous pour rehausser le niveau fonctionnel des forêts ?</a:t>
            </a:r>
          </a:p>
          <a:p>
            <a:pPr>
              <a:buClrTx/>
              <a:buFont typeface="Wingdings" pitchFamily="2" charset="2"/>
              <a:buChar char="q"/>
            </a:pPr>
            <a:r>
              <a:rPr lang="fr-FR" sz="2600" i="1" dirty="0" smtClean="0"/>
              <a:t>La console de gestion MMC Domaines et approbations Active Directory.</a:t>
            </a:r>
          </a:p>
          <a:p>
            <a:endParaRPr lang="fr-FR"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dirty="0"/>
          </a:p>
        </p:txBody>
      </p:sp>
      <p:sp>
        <p:nvSpPr>
          <p:cNvPr id="3" name="Espace réservé du contenu 2"/>
          <p:cNvSpPr>
            <a:spLocks noGrp="1"/>
          </p:cNvSpPr>
          <p:nvPr>
            <p:ph sz="quarter" idx="1"/>
          </p:nvPr>
        </p:nvSpPr>
        <p:spPr>
          <a:xfrm>
            <a:off x="301751" y="1527047"/>
            <a:ext cx="8651179" cy="5037525"/>
          </a:xfrm>
        </p:spPr>
        <p:txBody>
          <a:bodyPr>
            <a:normAutofit fontScale="92500" lnSpcReduction="20000"/>
          </a:bodyPr>
          <a:lstStyle/>
          <a:p>
            <a:pPr lvl="0">
              <a:buClrTx/>
              <a:buFont typeface="Wingdings" pitchFamily="2" charset="2"/>
              <a:buChar char="q"/>
            </a:pPr>
            <a:r>
              <a:rPr lang="fr-FR" dirty="0" smtClean="0"/>
              <a:t>Sur quel type de partition d’AD pouvez-vous enregistrer une zone DNS intégrée à AD ?</a:t>
            </a:r>
          </a:p>
          <a:p>
            <a:pPr>
              <a:buClrTx/>
              <a:buFont typeface="Wingdings" pitchFamily="2" charset="2"/>
              <a:buChar char="q"/>
            </a:pPr>
            <a:r>
              <a:rPr lang="fr-FR" i="1" dirty="0" smtClean="0"/>
              <a:t>Partition de domaine et partition d’application</a:t>
            </a:r>
            <a:endParaRPr lang="fr-FR" dirty="0" smtClean="0"/>
          </a:p>
          <a:p>
            <a:pPr lvl="0">
              <a:buClrTx/>
              <a:buFont typeface="Wingdings" pitchFamily="2" charset="2"/>
              <a:buChar char="q"/>
            </a:pPr>
            <a:r>
              <a:rPr lang="fr-FR" dirty="0" smtClean="0"/>
              <a:t>Quel l’intérêt de créer sa propre partition </a:t>
            </a:r>
            <a:r>
              <a:rPr lang="fr-FR" dirty="0" smtClean="0"/>
              <a:t>d’application</a:t>
            </a:r>
            <a:r>
              <a:rPr lang="fr-FR" dirty="0" smtClean="0"/>
              <a:t> </a:t>
            </a:r>
            <a:r>
              <a:rPr lang="fr-FR" dirty="0" smtClean="0"/>
              <a:t>pour </a:t>
            </a:r>
            <a:r>
              <a:rPr lang="fr-FR" dirty="0" smtClean="0"/>
              <a:t>enregistrer une zone DNS intégrée à AD ?</a:t>
            </a:r>
          </a:p>
          <a:p>
            <a:pPr>
              <a:buClrTx/>
              <a:buFont typeface="Wingdings" pitchFamily="2" charset="2"/>
              <a:buChar char="q"/>
            </a:pPr>
            <a:r>
              <a:rPr lang="fr-FR" i="1" dirty="0" smtClean="0"/>
              <a:t>L’intérêt c’est de pouvoir choisir quel contrôleur de domaine sera impliqué dans la réplication de la zone intégrée à </a:t>
            </a:r>
            <a:r>
              <a:rPr lang="fr-FR" i="1" dirty="0" smtClean="0"/>
              <a:t>AD</a:t>
            </a:r>
          </a:p>
          <a:p>
            <a:pPr lvl="0">
              <a:buClrTx/>
              <a:buFont typeface="Wingdings" pitchFamily="2" charset="2"/>
              <a:buChar char="q"/>
            </a:pPr>
            <a:r>
              <a:rPr lang="fr-FR" dirty="0" smtClean="0"/>
              <a:t>Comment s’appelle le fichier de base d’annuaire Active Directory ? Où est-il stocké par défaut ?</a:t>
            </a:r>
          </a:p>
          <a:p>
            <a:pPr>
              <a:buClrTx/>
              <a:buFont typeface="Wingdings" pitchFamily="2" charset="2"/>
              <a:buChar char="q"/>
            </a:pPr>
            <a:r>
              <a:rPr lang="fr-FR" i="1" dirty="0" smtClean="0"/>
              <a:t>Le fichier de base d’annuaire Active Directory se nomme NTDS.dit est stocké par défaut sous le répertoire %</a:t>
            </a:r>
            <a:r>
              <a:rPr lang="fr-FR" i="1" dirty="0" err="1" smtClean="0"/>
              <a:t>systmroot</a:t>
            </a:r>
            <a:r>
              <a:rPr lang="fr-FR" i="1" dirty="0" smtClean="0"/>
              <a:t>%\</a:t>
            </a:r>
            <a:r>
              <a:rPr lang="fr-FR" i="1" dirty="0" err="1" smtClean="0"/>
              <a:t>ntds</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dirty="0"/>
          </a:p>
        </p:txBody>
      </p:sp>
      <p:sp>
        <p:nvSpPr>
          <p:cNvPr id="3" name="Espace réservé du contenu 2"/>
          <p:cNvSpPr>
            <a:spLocks noGrp="1"/>
          </p:cNvSpPr>
          <p:nvPr>
            <p:ph sz="quarter" idx="1"/>
          </p:nvPr>
        </p:nvSpPr>
        <p:spPr/>
        <p:txBody>
          <a:bodyPr>
            <a:normAutofit/>
          </a:bodyPr>
          <a:lstStyle/>
          <a:p>
            <a:pPr lvl="0">
              <a:buClrTx/>
              <a:buFont typeface="Wingdings" pitchFamily="2" charset="2"/>
              <a:buChar char="q"/>
            </a:pPr>
            <a:r>
              <a:rPr lang="fr-FR" dirty="0" smtClean="0"/>
              <a:t>Quels sont les éléments indispensables à l’installation d’Active Directory ?</a:t>
            </a:r>
          </a:p>
          <a:p>
            <a:pPr>
              <a:buClrTx/>
              <a:buFont typeface="Wingdings" pitchFamily="2" charset="2"/>
              <a:buChar char="q"/>
            </a:pPr>
            <a:r>
              <a:rPr lang="fr-FR" i="1" dirty="0" smtClean="0"/>
              <a:t>Il faut disposer d’une partition NTFS pour stocker le volume système partagé, un serveur membre ou autonome fonctionnant avec le protocole TCP/IP ainsi qu’un serveur DNS supportant les enregistrements dynamiques et de type ressources SRV.</a:t>
            </a:r>
            <a:endParaRPr lang="fr-FR" dirty="0" smtClean="0"/>
          </a:p>
          <a:p>
            <a:pPr lvl="0">
              <a:buClrTx/>
              <a:buFont typeface="Wingdings" pitchFamily="2" charset="2"/>
              <a:buChar char="q"/>
            </a:pPr>
            <a:r>
              <a:rPr lang="fr-FR" dirty="0" smtClean="0"/>
              <a:t>Comment s’appelle le répertoire système partagé ?</a:t>
            </a:r>
          </a:p>
          <a:p>
            <a:pPr>
              <a:buClrTx/>
              <a:buFont typeface="Wingdings" pitchFamily="2" charset="2"/>
              <a:buChar char="q"/>
            </a:pPr>
            <a:r>
              <a:rPr lang="fr-FR" i="1" dirty="0" err="1" smtClean="0"/>
              <a:t>Sysvol</a:t>
            </a:r>
            <a:endParaRPr lang="fr-FR" dirty="0" smtClean="0"/>
          </a:p>
          <a:p>
            <a:endParaRPr lang="fr-FR"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dirty="0"/>
          </a:p>
        </p:txBody>
      </p:sp>
      <p:sp>
        <p:nvSpPr>
          <p:cNvPr id="3" name="Espace réservé du contenu 2"/>
          <p:cNvSpPr>
            <a:spLocks noGrp="1"/>
          </p:cNvSpPr>
          <p:nvPr>
            <p:ph sz="quarter" idx="1"/>
          </p:nvPr>
        </p:nvSpPr>
        <p:spPr/>
        <p:txBody>
          <a:bodyPr>
            <a:normAutofit lnSpcReduction="10000"/>
          </a:bodyPr>
          <a:lstStyle/>
          <a:p>
            <a:pPr lvl="0">
              <a:buClrTx/>
              <a:buFont typeface="Wingdings" pitchFamily="2" charset="2"/>
              <a:buChar char="q"/>
            </a:pPr>
            <a:r>
              <a:rPr lang="fr-FR" dirty="0" smtClean="0"/>
              <a:t>Quelles sont les différences entre les espaces de noms du système DNS et d'Active Directory ?</a:t>
            </a:r>
          </a:p>
          <a:p>
            <a:pPr>
              <a:buClrTx/>
              <a:buFont typeface="Wingdings" pitchFamily="2" charset="2"/>
              <a:buChar char="q"/>
            </a:pPr>
            <a:r>
              <a:rPr lang="fr-FR" i="1" dirty="0" smtClean="0"/>
              <a:t>L'espace de noms du système DNS consiste en enregistrements de ressource stockés dans des zones. L'espace de noms d'Active Directory consiste en objets stockés dans des domaines.</a:t>
            </a:r>
          </a:p>
          <a:p>
            <a:pPr lvl="0">
              <a:buClrTx/>
              <a:buFont typeface="Wingdings" pitchFamily="2" charset="2"/>
              <a:buChar char="q"/>
            </a:pPr>
            <a:r>
              <a:rPr lang="fr-FR" dirty="0" smtClean="0"/>
              <a:t>À quoi servent les enregistrements de ressource SRV utilisés dans un domaine AD?</a:t>
            </a:r>
          </a:p>
          <a:p>
            <a:pPr>
              <a:buClrTx/>
              <a:buFont typeface="Wingdings" pitchFamily="2" charset="2"/>
              <a:buChar char="q"/>
            </a:pPr>
            <a:r>
              <a:rPr lang="fr-FR" i="1" dirty="0" smtClean="0"/>
              <a:t>Les enregistrements de ressource SRV sont utilisés pour déterminer l'emplacement des serveurs offrant un service dont a besoin le client. </a:t>
            </a:r>
            <a:endParaRPr lang="fr-FR"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dirty="0"/>
          </a:p>
        </p:txBody>
      </p:sp>
      <p:sp>
        <p:nvSpPr>
          <p:cNvPr id="3" name="Espace réservé du contenu 2"/>
          <p:cNvSpPr>
            <a:spLocks noGrp="1"/>
          </p:cNvSpPr>
          <p:nvPr>
            <p:ph sz="quarter" idx="1"/>
          </p:nvPr>
        </p:nvSpPr>
        <p:spPr>
          <a:xfrm>
            <a:off x="301752" y="1527047"/>
            <a:ext cx="8503920" cy="5146707"/>
          </a:xfrm>
        </p:spPr>
        <p:txBody>
          <a:bodyPr>
            <a:normAutofit/>
          </a:bodyPr>
          <a:lstStyle/>
          <a:p>
            <a:pPr lvl="0">
              <a:buClrTx/>
              <a:buFont typeface="Wingdings" pitchFamily="2" charset="2"/>
              <a:buChar char="q"/>
            </a:pPr>
            <a:r>
              <a:rPr lang="fr-FR" dirty="0" smtClean="0"/>
              <a:t>Quel </a:t>
            </a:r>
            <a:r>
              <a:rPr lang="fr-FR" dirty="0" smtClean="0"/>
              <a:t>est le rôle du niveau fonctionnel d’un domaine ?</a:t>
            </a:r>
          </a:p>
          <a:p>
            <a:pPr>
              <a:buClrTx/>
              <a:buFont typeface="Wingdings" pitchFamily="2" charset="2"/>
              <a:buChar char="q"/>
            </a:pPr>
            <a:r>
              <a:rPr lang="fr-FR" i="1" dirty="0" smtClean="0"/>
              <a:t>Dans un domaine composé de plusieurs contrôleurs de domaine utilisant des versions Windows différentes, le domaine doit se comporter selon un mode fonctionnel garantissant la compatibilité des échanges et des fonctionnalités.</a:t>
            </a:r>
            <a:endParaRPr lang="fr-FR" dirty="0" smtClean="0"/>
          </a:p>
          <a:p>
            <a:pPr>
              <a:buClrTx/>
              <a:buFont typeface="Wingdings" pitchFamily="2" charset="2"/>
              <a:buChar char="q"/>
            </a:pPr>
            <a:r>
              <a:rPr lang="fr-FR" dirty="0" smtClean="0"/>
              <a:t>Quel </a:t>
            </a:r>
            <a:r>
              <a:rPr lang="fr-FR" dirty="0" smtClean="0"/>
              <a:t>type d’approbation est mis en place entre domaines Windows 2003 au sein d’une même forêt ?</a:t>
            </a:r>
          </a:p>
          <a:p>
            <a:pPr>
              <a:buClrTx/>
              <a:buFont typeface="Wingdings" pitchFamily="2" charset="2"/>
              <a:buChar char="q"/>
            </a:pPr>
            <a:r>
              <a:rPr lang="fr-FR" i="1" dirty="0" smtClean="0"/>
              <a:t>Approbation bidirectionnelle et transitive</a:t>
            </a:r>
            <a:endParaRPr lang="fr-FR" dirty="0" smtClean="0"/>
          </a:p>
          <a:p>
            <a:pPr lvl="0">
              <a:buClrTx/>
              <a:buFont typeface="Wingdings" pitchFamily="2" charset="2"/>
              <a:buChar char="q"/>
            </a:pPr>
            <a:r>
              <a:rPr lang="fr-FR" dirty="0" smtClean="0"/>
              <a:t>Quelles relation d’approbation existe-t-il entre </a:t>
            </a:r>
            <a:r>
              <a:rPr lang="fr-FR" dirty="0" smtClean="0"/>
              <a:t>domaines Windows </a:t>
            </a:r>
            <a:r>
              <a:rPr lang="fr-FR" dirty="0" smtClean="0"/>
              <a:t>2003</a:t>
            </a:r>
            <a:r>
              <a:rPr lang="fr-FR" dirty="0" smtClean="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xml><?xml version="1.0" encoding="utf-8"?>
<p:tagLst xmlns:a="http://schemas.openxmlformats.org/drawingml/2006/main" xmlns:r="http://schemas.openxmlformats.org/officeDocument/2006/relationships" xmlns:p="http://schemas.openxmlformats.org/presentationml/2006/main">
  <p:tag name="PPTAGGERGROUP" val="1"/>
</p:tagLst>
</file>

<file path=ppt/tags/tag23.xml><?xml version="1.0" encoding="utf-8"?>
<p:tagLst xmlns:a="http://schemas.openxmlformats.org/drawingml/2006/main" xmlns:r="http://schemas.openxmlformats.org/officeDocument/2006/relationships" xmlns:p="http://schemas.openxmlformats.org/presentationml/2006/main">
  <p:tag name="PPTAGGERGROUP" val="1"/>
</p:tagLst>
</file>

<file path=ppt/tags/tag24.xml><?xml version="1.0" encoding="utf-8"?>
<p:tagLst xmlns:a="http://schemas.openxmlformats.org/drawingml/2006/main" xmlns:r="http://schemas.openxmlformats.org/officeDocument/2006/relationships" xmlns:p="http://schemas.openxmlformats.org/presentationml/2006/main">
  <p:tag name="PPTAGGERGROUP" val="1"/>
</p:tagLst>
</file>

<file path=ppt/tags/tag25.xml><?xml version="1.0" encoding="utf-8"?>
<p:tagLst xmlns:a="http://schemas.openxmlformats.org/drawingml/2006/main" xmlns:r="http://schemas.openxmlformats.org/officeDocument/2006/relationships" xmlns:p="http://schemas.openxmlformats.org/presentationml/2006/main">
  <p:tag name="PPTAGGERGROUP" val="1"/>
</p:tagLst>
</file>

<file path=ppt/tags/tag26.xml><?xml version="1.0" encoding="utf-8"?>
<p:tagLst xmlns:a="http://schemas.openxmlformats.org/drawingml/2006/main" xmlns:r="http://schemas.openxmlformats.org/officeDocument/2006/relationships" xmlns:p="http://schemas.openxmlformats.org/presentationml/2006/main">
  <p:tag name="PPTAGGERGROUP" val="1"/>
</p:tagLst>
</file>

<file path=ppt/tags/tag27.xml><?xml version="1.0" encoding="utf-8"?>
<p:tagLst xmlns:a="http://schemas.openxmlformats.org/drawingml/2006/main" xmlns:r="http://schemas.openxmlformats.org/officeDocument/2006/relationships" xmlns:p="http://schemas.openxmlformats.org/presentationml/2006/main">
  <p:tag name="PPTAGGERGROUP" val="1"/>
</p:tagLst>
</file>

<file path=ppt/tags/tag28.xml><?xml version="1.0" encoding="utf-8"?>
<p:tagLst xmlns:a="http://schemas.openxmlformats.org/drawingml/2006/main" xmlns:r="http://schemas.openxmlformats.org/officeDocument/2006/relationships" xmlns:p="http://schemas.openxmlformats.org/presentationml/2006/main">
  <p:tag name="PPTAGGERGROUP" val="1"/>
</p:tagLst>
</file>

<file path=ppt/tags/tag29.xml><?xml version="1.0" encoding="utf-8"?>
<p:tagLst xmlns:a="http://schemas.openxmlformats.org/drawingml/2006/main" xmlns:r="http://schemas.openxmlformats.org/officeDocument/2006/relationships" xmlns:p="http://schemas.openxmlformats.org/presentationml/2006/main">
  <p:tag name="PPTAGGERGROUP" val="1"/>
</p:tagLst>
</file>

<file path=ppt/tags/tag30.xml><?xml version="1.0" encoding="utf-8"?>
<p:tagLst xmlns:a="http://schemas.openxmlformats.org/drawingml/2006/main" xmlns:r="http://schemas.openxmlformats.org/officeDocument/2006/relationships" xmlns:p="http://schemas.openxmlformats.org/presentationml/2006/main">
  <p:tag name="PPTAGGERGROUP" val="1"/>
</p:tagLst>
</file>

<file path=ppt/tags/tag31.xml><?xml version="1.0" encoding="utf-8"?>
<p:tagLst xmlns:a="http://schemas.openxmlformats.org/drawingml/2006/main" xmlns:r="http://schemas.openxmlformats.org/officeDocument/2006/relationships" xmlns:p="http://schemas.openxmlformats.org/presentationml/2006/main">
  <p:tag name="PPTAGGERGROUP" val="1"/>
</p:tagLst>
</file>

<file path=ppt/tags/tag32.xml><?xml version="1.0" encoding="utf-8"?>
<p:tagLst xmlns:a="http://schemas.openxmlformats.org/drawingml/2006/main" xmlns:r="http://schemas.openxmlformats.org/officeDocument/2006/relationships" xmlns:p="http://schemas.openxmlformats.org/presentationml/2006/main">
  <p:tag name="PPTAGGERGROUP" val="1"/>
</p:tagLst>
</file>

<file path=ppt/tags/tag33.xml><?xml version="1.0" encoding="utf-8"?>
<p:tagLst xmlns:a="http://schemas.openxmlformats.org/drawingml/2006/main" xmlns:r="http://schemas.openxmlformats.org/officeDocument/2006/relationships" xmlns:p="http://schemas.openxmlformats.org/presentationml/2006/main">
  <p:tag name="PPWINTOTALSEGMENTS" val="0"/>
</p:tagLst>
</file>

<file path=ppt/tags/tag34.xml><?xml version="1.0" encoding="utf-8"?>
<p:tagLst xmlns:a="http://schemas.openxmlformats.org/drawingml/2006/main" xmlns:r="http://schemas.openxmlformats.org/officeDocument/2006/relationships" xmlns:p="http://schemas.openxmlformats.org/presentationml/2006/main">
  <p:tag name="PPWINTOTALSEGMENTS" val="0"/>
</p:tagLst>
</file>

<file path=ppt/tags/tag35.xml><?xml version="1.0" encoding="utf-8"?>
<p:tagLst xmlns:a="http://schemas.openxmlformats.org/drawingml/2006/main" xmlns:r="http://schemas.openxmlformats.org/officeDocument/2006/relationships" xmlns:p="http://schemas.openxmlformats.org/presentationml/2006/main">
  <p:tag name="PPWINTOTALSEGMENTS" val="0"/>
</p:tagLst>
</file>

<file path=ppt/tags/tag36.xml><?xml version="1.0" encoding="utf-8"?>
<p:tagLst xmlns:a="http://schemas.openxmlformats.org/drawingml/2006/main" xmlns:r="http://schemas.openxmlformats.org/officeDocument/2006/relationships" xmlns:p="http://schemas.openxmlformats.org/presentationml/2006/main">
  <p:tag name="PPWINTOTALSEGMENTS" val="0"/>
</p:tagLst>
</file>

<file path=ppt/tags/tag37.xml><?xml version="1.0" encoding="utf-8"?>
<p:tagLst xmlns:a="http://schemas.openxmlformats.org/drawingml/2006/main" xmlns:r="http://schemas.openxmlformats.org/officeDocument/2006/relationships" xmlns:p="http://schemas.openxmlformats.org/presentationml/2006/main">
  <p:tag name="PPWINTOTALSEGMENTS" val="0"/>
</p:tagLst>
</file>

<file path=ppt/tags/tag38.xml><?xml version="1.0" encoding="utf-8"?>
<p:tagLst xmlns:a="http://schemas.openxmlformats.org/drawingml/2006/main" xmlns:r="http://schemas.openxmlformats.org/officeDocument/2006/relationships" xmlns:p="http://schemas.openxmlformats.org/presentationml/2006/main">
  <p:tag name="PPTAGGERGROUP" val="1"/>
</p:tagLst>
</file>

<file path=ppt/tags/tag39.xml><?xml version="1.0" encoding="utf-8"?>
<p:tagLst xmlns:a="http://schemas.openxmlformats.org/drawingml/2006/main" xmlns:r="http://schemas.openxmlformats.org/officeDocument/2006/relationships" xmlns:p="http://schemas.openxmlformats.org/presentationml/2006/main">
  <p:tag name="PPWINTOTALSEGMENTS" val="0"/>
</p:tagLst>
</file>

<file path=ppt/tags/tag40.xml><?xml version="1.0" encoding="utf-8"?>
<p:tagLst xmlns:a="http://schemas.openxmlformats.org/drawingml/2006/main" xmlns:r="http://schemas.openxmlformats.org/officeDocument/2006/relationships" xmlns:p="http://schemas.openxmlformats.org/presentationml/2006/main">
  <p:tag name="PPWINTOTALSEGMENTS" val="0"/>
</p:tagLst>
</file>

<file path=ppt/tags/tag41.xml><?xml version="1.0" encoding="utf-8"?>
<p:tagLst xmlns:a="http://schemas.openxmlformats.org/drawingml/2006/main" xmlns:r="http://schemas.openxmlformats.org/officeDocument/2006/relationships" xmlns:p="http://schemas.openxmlformats.org/presentationml/2006/main">
  <p:tag name="PPTAGGERGROUP" val="1"/>
</p:tagLst>
</file>

<file path=ppt/tags/tag42.xml><?xml version="1.0" encoding="utf-8"?>
<p:tagLst xmlns:a="http://schemas.openxmlformats.org/drawingml/2006/main" xmlns:r="http://schemas.openxmlformats.org/officeDocument/2006/relationships" xmlns:p="http://schemas.openxmlformats.org/presentationml/2006/main">
  <p:tag name="PPTAGGERGROUP" val="1"/>
</p:tagLst>
</file>

<file path=ppt/tags/tag43.xml><?xml version="1.0" encoding="utf-8"?>
<p:tagLst xmlns:a="http://schemas.openxmlformats.org/drawingml/2006/main" xmlns:r="http://schemas.openxmlformats.org/officeDocument/2006/relationships" xmlns:p="http://schemas.openxmlformats.org/presentationml/2006/main">
  <p:tag name="PPTAGGERGROUP" val="2"/>
</p:tagLst>
</file>

<file path=ppt/tags/tag44.xml><?xml version="1.0" encoding="utf-8"?>
<p:tagLst xmlns:a="http://schemas.openxmlformats.org/drawingml/2006/main" xmlns:r="http://schemas.openxmlformats.org/officeDocument/2006/relationships" xmlns:p="http://schemas.openxmlformats.org/presentationml/2006/main">
  <p:tag name="PPTAGGERGROUP" val="2"/>
</p:tagLst>
</file>

<file path=ppt/tags/tag45.xml><?xml version="1.0" encoding="utf-8"?>
<p:tagLst xmlns:a="http://schemas.openxmlformats.org/drawingml/2006/main" xmlns:r="http://schemas.openxmlformats.org/officeDocument/2006/relationships" xmlns:p="http://schemas.openxmlformats.org/presentationml/2006/main">
  <p:tag name="PPTAGGERGROUP" val="3"/>
</p:tagLst>
</file>

<file path=ppt/tags/tag46.xml><?xml version="1.0" encoding="utf-8"?>
<p:tagLst xmlns:a="http://schemas.openxmlformats.org/drawingml/2006/main" xmlns:r="http://schemas.openxmlformats.org/officeDocument/2006/relationships" xmlns:p="http://schemas.openxmlformats.org/presentationml/2006/main">
  <p:tag name="PPTAGGERGROUP" val="3"/>
</p:tagLst>
</file>

<file path=ppt/tags/tag47.xml><?xml version="1.0" encoding="utf-8"?>
<p:tagLst xmlns:a="http://schemas.openxmlformats.org/drawingml/2006/main" xmlns:r="http://schemas.openxmlformats.org/officeDocument/2006/relationships" xmlns:p="http://schemas.openxmlformats.org/presentationml/2006/main">
  <p:tag name="PPTAGGERGROUP" val="4"/>
</p:tagLst>
</file>

<file path=ppt/tags/tag48.xml><?xml version="1.0" encoding="utf-8"?>
<p:tagLst xmlns:a="http://schemas.openxmlformats.org/drawingml/2006/main" xmlns:r="http://schemas.openxmlformats.org/officeDocument/2006/relationships" xmlns:p="http://schemas.openxmlformats.org/presentationml/2006/main">
  <p:tag name="PPTAGGERGROUP" val="4"/>
</p:tagLst>
</file>

<file path=ppt/tags/tag49.xml><?xml version="1.0" encoding="utf-8"?>
<p:tagLst xmlns:a="http://schemas.openxmlformats.org/drawingml/2006/main" xmlns:r="http://schemas.openxmlformats.org/officeDocument/2006/relationships" xmlns:p="http://schemas.openxmlformats.org/presentationml/2006/main">
  <p:tag name="PPTAGGERGROUP" val="5"/>
</p:tagLst>
</file>

<file path=ppt/tags/tag50.xml><?xml version="1.0" encoding="utf-8"?>
<p:tagLst xmlns:a="http://schemas.openxmlformats.org/drawingml/2006/main" xmlns:r="http://schemas.openxmlformats.org/officeDocument/2006/relationships" xmlns:p="http://schemas.openxmlformats.org/presentationml/2006/main">
  <p:tag name="PPTAGGERGROUP" val="5"/>
</p:tagLst>
</file>

<file path=ppt/tags/tag51.xml><?xml version="1.0" encoding="utf-8"?>
<p:tagLst xmlns:a="http://schemas.openxmlformats.org/drawingml/2006/main" xmlns:r="http://schemas.openxmlformats.org/officeDocument/2006/relationships" xmlns:p="http://schemas.openxmlformats.org/presentationml/2006/main">
  <p:tag name="PPTAGGERGROUP" val="6"/>
</p:tagLst>
</file>

<file path=ppt/tags/tag52.xml><?xml version="1.0" encoding="utf-8"?>
<p:tagLst xmlns:a="http://schemas.openxmlformats.org/drawingml/2006/main" xmlns:r="http://schemas.openxmlformats.org/officeDocument/2006/relationships" xmlns:p="http://schemas.openxmlformats.org/presentationml/2006/main">
  <p:tag name="PPTAGGERGROUP" val="6"/>
</p:tagLst>
</file>

<file path=ppt/tags/tag53.xml><?xml version="1.0" encoding="utf-8"?>
<p:tagLst xmlns:a="http://schemas.openxmlformats.org/drawingml/2006/main" xmlns:r="http://schemas.openxmlformats.org/officeDocument/2006/relationships" xmlns:p="http://schemas.openxmlformats.org/presentationml/2006/main">
  <p:tag name="PPTAGGERGROUP" val="7"/>
</p:tagLst>
</file>

<file path=ppt/tags/tag54.xml><?xml version="1.0" encoding="utf-8"?>
<p:tagLst xmlns:a="http://schemas.openxmlformats.org/drawingml/2006/main" xmlns:r="http://schemas.openxmlformats.org/officeDocument/2006/relationships" xmlns:p="http://schemas.openxmlformats.org/presentationml/2006/main">
  <p:tag name="PPTAGGERGROUP" val="7"/>
</p:tagLst>
</file>

<file path=ppt/tags/tag55.xml><?xml version="1.0" encoding="utf-8"?>
<p:tagLst xmlns:a="http://schemas.openxmlformats.org/drawingml/2006/main" xmlns:r="http://schemas.openxmlformats.org/officeDocument/2006/relationships" xmlns:p="http://schemas.openxmlformats.org/presentationml/2006/main">
  <p:tag name="PPWINTOTALSEGMENTS" val="0"/>
</p:tagLst>
</file>

<file path=ppt/tags/tag56.xml><?xml version="1.0" encoding="utf-8"?>
<p:tagLst xmlns:a="http://schemas.openxmlformats.org/drawingml/2006/main" xmlns:r="http://schemas.openxmlformats.org/officeDocument/2006/relationships" xmlns:p="http://schemas.openxmlformats.org/presentationml/2006/main">
  <p:tag name="PPTAGGERGROUP" val="1"/>
</p:tagLst>
</file>

<file path=ppt/tags/tag57.xml><?xml version="1.0" encoding="utf-8"?>
<p:tagLst xmlns:a="http://schemas.openxmlformats.org/drawingml/2006/main" xmlns:r="http://schemas.openxmlformats.org/officeDocument/2006/relationships" xmlns:p="http://schemas.openxmlformats.org/presentationml/2006/main">
  <p:tag name="PPTAGGERGROUP" val="1"/>
</p:tagLst>
</file>

<file path=ppt/tags/tag58.xml><?xml version="1.0" encoding="utf-8"?>
<p:tagLst xmlns:a="http://schemas.openxmlformats.org/drawingml/2006/main" xmlns:r="http://schemas.openxmlformats.org/officeDocument/2006/relationships" xmlns:p="http://schemas.openxmlformats.org/presentationml/2006/main">
  <p:tag name="PPTAGGERGROUP" val="2"/>
</p:tagLst>
</file>

<file path=ppt/tags/tag59.xml><?xml version="1.0" encoding="utf-8"?>
<p:tagLst xmlns:a="http://schemas.openxmlformats.org/drawingml/2006/main" xmlns:r="http://schemas.openxmlformats.org/officeDocument/2006/relationships" xmlns:p="http://schemas.openxmlformats.org/presentationml/2006/main">
  <p:tag name="PPTAGGERGROUP" val="2"/>
</p:tagLst>
</file>

<file path=ppt/tags/tag60.xml><?xml version="1.0" encoding="utf-8"?>
<p:tagLst xmlns:a="http://schemas.openxmlformats.org/drawingml/2006/main" xmlns:r="http://schemas.openxmlformats.org/officeDocument/2006/relationships" xmlns:p="http://schemas.openxmlformats.org/presentationml/2006/main">
  <p:tag name="PPTAGGERGROUP" val="3"/>
</p:tagLst>
</file>

<file path=ppt/tags/tag61.xml><?xml version="1.0" encoding="utf-8"?>
<p:tagLst xmlns:a="http://schemas.openxmlformats.org/drawingml/2006/main" xmlns:r="http://schemas.openxmlformats.org/officeDocument/2006/relationships" xmlns:p="http://schemas.openxmlformats.org/presentationml/2006/main">
  <p:tag name="PPTAGGERGROUP" val="3,18"/>
</p:tagLst>
</file>

<file path=ppt/tags/tag62.xml><?xml version="1.0" encoding="utf-8"?>
<p:tagLst xmlns:a="http://schemas.openxmlformats.org/drawingml/2006/main" xmlns:r="http://schemas.openxmlformats.org/officeDocument/2006/relationships" xmlns:p="http://schemas.openxmlformats.org/presentationml/2006/main">
  <p:tag name="PPTAGGERGROUP" val="3,18"/>
</p:tagLst>
</file>

<file path=ppt/tags/tag63.xml><?xml version="1.0" encoding="utf-8"?>
<p:tagLst xmlns:a="http://schemas.openxmlformats.org/drawingml/2006/main" xmlns:r="http://schemas.openxmlformats.org/officeDocument/2006/relationships" xmlns:p="http://schemas.openxmlformats.org/presentationml/2006/main">
  <p:tag name="PPTAGGERGROUP" val="3,18"/>
</p:tagLst>
</file>

<file path=ppt/tags/tag64.xml><?xml version="1.0" encoding="utf-8"?>
<p:tagLst xmlns:a="http://schemas.openxmlformats.org/drawingml/2006/main" xmlns:r="http://schemas.openxmlformats.org/officeDocument/2006/relationships" xmlns:p="http://schemas.openxmlformats.org/presentationml/2006/main">
  <p:tag name="PPTAGGERGROUP" val="4"/>
</p:tagLst>
</file>

<file path=ppt/tags/tag65.xml><?xml version="1.0" encoding="utf-8"?>
<p:tagLst xmlns:a="http://schemas.openxmlformats.org/drawingml/2006/main" xmlns:r="http://schemas.openxmlformats.org/officeDocument/2006/relationships" xmlns:p="http://schemas.openxmlformats.org/presentationml/2006/main">
  <p:tag name="PPTAGGERGROUP" val="4,19"/>
</p:tagLst>
</file>

<file path=ppt/tags/tag66.xml><?xml version="1.0" encoding="utf-8"?>
<p:tagLst xmlns:a="http://schemas.openxmlformats.org/drawingml/2006/main" xmlns:r="http://schemas.openxmlformats.org/officeDocument/2006/relationships" xmlns:p="http://schemas.openxmlformats.org/presentationml/2006/main">
  <p:tag name="PPTAGGERGROUP" val="4,19"/>
</p:tagLst>
</file>

<file path=ppt/tags/tag67.xml><?xml version="1.0" encoding="utf-8"?>
<p:tagLst xmlns:a="http://schemas.openxmlformats.org/drawingml/2006/main" xmlns:r="http://schemas.openxmlformats.org/officeDocument/2006/relationships" xmlns:p="http://schemas.openxmlformats.org/presentationml/2006/main">
  <p:tag name="PPTAGGERGROUP" val="4,19"/>
</p:tagLst>
</file>

<file path=ppt/tags/tag68.xml><?xml version="1.0" encoding="utf-8"?>
<p:tagLst xmlns:a="http://schemas.openxmlformats.org/drawingml/2006/main" xmlns:r="http://schemas.openxmlformats.org/officeDocument/2006/relationships" xmlns:p="http://schemas.openxmlformats.org/presentationml/2006/main">
  <p:tag name="PPTAGGERGROUP" val="5"/>
</p:tagLst>
</file>

<file path=ppt/tags/tag69.xml><?xml version="1.0" encoding="utf-8"?>
<p:tagLst xmlns:a="http://schemas.openxmlformats.org/drawingml/2006/main" xmlns:r="http://schemas.openxmlformats.org/officeDocument/2006/relationships" xmlns:p="http://schemas.openxmlformats.org/presentationml/2006/main">
  <p:tag name="PPTAGGERGROUP" val="5"/>
</p:tagLst>
</file>

<file path=ppt/tags/tag70.xml><?xml version="1.0" encoding="utf-8"?>
<p:tagLst xmlns:a="http://schemas.openxmlformats.org/drawingml/2006/main" xmlns:r="http://schemas.openxmlformats.org/officeDocument/2006/relationships" xmlns:p="http://schemas.openxmlformats.org/presentationml/2006/main">
  <p:tag name="PPTAGGERGROUP" val="6"/>
</p:tagLst>
</file>

<file path=ppt/tags/tag71.xml><?xml version="1.0" encoding="utf-8"?>
<p:tagLst xmlns:a="http://schemas.openxmlformats.org/drawingml/2006/main" xmlns:r="http://schemas.openxmlformats.org/officeDocument/2006/relationships" xmlns:p="http://schemas.openxmlformats.org/presentationml/2006/main">
  <p:tag name="PPTAGGERGROUP" val="6"/>
</p:tagLst>
</file>

<file path=ppt/tags/tag72.xml><?xml version="1.0" encoding="utf-8"?>
<p:tagLst xmlns:a="http://schemas.openxmlformats.org/drawingml/2006/main" xmlns:r="http://schemas.openxmlformats.org/officeDocument/2006/relationships" xmlns:p="http://schemas.openxmlformats.org/presentationml/2006/main">
  <p:tag name="PPTAGGERGROUP" val="15"/>
</p:tagLst>
</file>

<file path=ppt/tags/tag73.xml><?xml version="1.0" encoding="utf-8"?>
<p:tagLst xmlns:a="http://schemas.openxmlformats.org/drawingml/2006/main" xmlns:r="http://schemas.openxmlformats.org/officeDocument/2006/relationships" xmlns:p="http://schemas.openxmlformats.org/presentationml/2006/main">
  <p:tag name="PPTAGGERGROUP" val="15"/>
  <p:tag name="PPWINTOTALSEGMENTS" val="0"/>
</p:tagLst>
</file>

<file path=ppt/tags/tag74.xml><?xml version="1.0" encoding="utf-8"?>
<p:tagLst xmlns:a="http://schemas.openxmlformats.org/drawingml/2006/main" xmlns:r="http://schemas.openxmlformats.org/officeDocument/2006/relationships" xmlns:p="http://schemas.openxmlformats.org/presentationml/2006/main">
  <p:tag name="PPTAGGERGROUP" val="14"/>
</p:tagLst>
</file>

<file path=ppt/tags/tag75.xml><?xml version="1.0" encoding="utf-8"?>
<p:tagLst xmlns:a="http://schemas.openxmlformats.org/drawingml/2006/main" xmlns:r="http://schemas.openxmlformats.org/officeDocument/2006/relationships" xmlns:p="http://schemas.openxmlformats.org/presentationml/2006/main">
  <p:tag name="PPTAGGERGROUP" val="14"/>
  <p:tag name="PPWINTOTALSEGMENTS" val="0"/>
</p:tagLst>
</file>

<file path=ppt/tags/tag76.xml><?xml version="1.0" encoding="utf-8"?>
<p:tagLst xmlns:a="http://schemas.openxmlformats.org/drawingml/2006/main" xmlns:r="http://schemas.openxmlformats.org/officeDocument/2006/relationships" xmlns:p="http://schemas.openxmlformats.org/presentationml/2006/main">
  <p:tag name="PPTAGGERGROUP" val="13"/>
</p:tagLst>
</file>

<file path=ppt/tags/tag77.xml><?xml version="1.0" encoding="utf-8"?>
<p:tagLst xmlns:a="http://schemas.openxmlformats.org/drawingml/2006/main" xmlns:r="http://schemas.openxmlformats.org/officeDocument/2006/relationships" xmlns:p="http://schemas.openxmlformats.org/presentationml/2006/main">
  <p:tag name="PPTAGGERGROUP" val="13"/>
  <p:tag name="PPWINTOTALSEGMENTS" val="0"/>
</p:tagLst>
</file>

<file path=ppt/tags/tag78.xml><?xml version="1.0" encoding="utf-8"?>
<p:tagLst xmlns:a="http://schemas.openxmlformats.org/drawingml/2006/main" xmlns:r="http://schemas.openxmlformats.org/officeDocument/2006/relationships" xmlns:p="http://schemas.openxmlformats.org/presentationml/2006/main">
  <p:tag name="PPTAGGERGROUP" val="12"/>
</p:tagLst>
</file>

<file path=ppt/tags/tag79.xml><?xml version="1.0" encoding="utf-8"?>
<p:tagLst xmlns:a="http://schemas.openxmlformats.org/drawingml/2006/main" xmlns:r="http://schemas.openxmlformats.org/officeDocument/2006/relationships" xmlns:p="http://schemas.openxmlformats.org/presentationml/2006/main">
  <p:tag name="PPTAGGERGROUP" val="12"/>
  <p:tag name="PPWINTOTALSEGMENTS" val="0"/>
</p:tagLst>
</file>

<file path=ppt/tags/tag80.xml><?xml version="1.0" encoding="utf-8"?>
<p:tagLst xmlns:a="http://schemas.openxmlformats.org/drawingml/2006/main" xmlns:r="http://schemas.openxmlformats.org/officeDocument/2006/relationships" xmlns:p="http://schemas.openxmlformats.org/presentationml/2006/main">
  <p:tag name="PPTAGGERGROUP" val="11"/>
</p:tagLst>
</file>

<file path=ppt/tags/tag81.xml><?xml version="1.0" encoding="utf-8"?>
<p:tagLst xmlns:a="http://schemas.openxmlformats.org/drawingml/2006/main" xmlns:r="http://schemas.openxmlformats.org/officeDocument/2006/relationships" xmlns:p="http://schemas.openxmlformats.org/presentationml/2006/main">
  <p:tag name="PPTAGGERGROUP" val="11"/>
  <p:tag name="PPWINTOTALSEGMENTS" val="0"/>
</p:tagLst>
</file>

<file path=ppt/tags/tag82.xml><?xml version="1.0" encoding="utf-8"?>
<p:tagLst xmlns:a="http://schemas.openxmlformats.org/drawingml/2006/main" xmlns:r="http://schemas.openxmlformats.org/officeDocument/2006/relationships" xmlns:p="http://schemas.openxmlformats.org/presentationml/2006/main">
  <p:tag name="PPTAGGERGROUP" val="10"/>
</p:tagLst>
</file>

<file path=ppt/tags/tag83.xml><?xml version="1.0" encoding="utf-8"?>
<p:tagLst xmlns:a="http://schemas.openxmlformats.org/drawingml/2006/main" xmlns:r="http://schemas.openxmlformats.org/officeDocument/2006/relationships" xmlns:p="http://schemas.openxmlformats.org/presentationml/2006/main">
  <p:tag name="PPTAGGERGROUP" val="10"/>
  <p:tag name="PPWINTOTALSEGMENTS" val="0"/>
</p:tagLst>
</file>

<file path=ppt/tags/tag84.xml><?xml version="1.0" encoding="utf-8"?>
<p:tagLst xmlns:a="http://schemas.openxmlformats.org/drawingml/2006/main" xmlns:r="http://schemas.openxmlformats.org/officeDocument/2006/relationships" xmlns:p="http://schemas.openxmlformats.org/presentationml/2006/main">
  <p:tag name="PPTAGGERGROUP" val="9"/>
</p:tagLst>
</file>

<file path=ppt/tags/tag85.xml><?xml version="1.0" encoding="utf-8"?>
<p:tagLst xmlns:a="http://schemas.openxmlformats.org/drawingml/2006/main" xmlns:r="http://schemas.openxmlformats.org/officeDocument/2006/relationships" xmlns:p="http://schemas.openxmlformats.org/presentationml/2006/main">
  <p:tag name="PPTAGGERGROUP" val="9"/>
  <p:tag name="PPWINTOTALSEGMENTS" val="0"/>
</p:tagLst>
</file>

<file path=ppt/tags/tag86.xml><?xml version="1.0" encoding="utf-8"?>
<p:tagLst xmlns:a="http://schemas.openxmlformats.org/drawingml/2006/main" xmlns:r="http://schemas.openxmlformats.org/officeDocument/2006/relationships" xmlns:p="http://schemas.openxmlformats.org/presentationml/2006/main">
  <p:tag name="PPTAGGERGROUP" val="8"/>
</p:tagLst>
</file>

<file path=ppt/tags/tag87.xml><?xml version="1.0" encoding="utf-8"?>
<p:tagLst xmlns:a="http://schemas.openxmlformats.org/drawingml/2006/main" xmlns:r="http://schemas.openxmlformats.org/officeDocument/2006/relationships" xmlns:p="http://schemas.openxmlformats.org/presentationml/2006/main">
  <p:tag name="PPTAGGERGROUP" val="8"/>
  <p:tag name="PPWINTOTALSEGMENTS" val="0"/>
</p:tagLst>
</file>

<file path=ppt/tags/tag88.xml><?xml version="1.0" encoding="utf-8"?>
<p:tagLst xmlns:a="http://schemas.openxmlformats.org/drawingml/2006/main" xmlns:r="http://schemas.openxmlformats.org/officeDocument/2006/relationships" xmlns:p="http://schemas.openxmlformats.org/presentationml/2006/main">
  <p:tag name="PPTAGGERGROUP" val="7"/>
</p:tagLst>
</file>

<file path=ppt/tags/tag89.xml><?xml version="1.0" encoding="utf-8"?>
<p:tagLst xmlns:a="http://schemas.openxmlformats.org/drawingml/2006/main" xmlns:r="http://schemas.openxmlformats.org/officeDocument/2006/relationships" xmlns:p="http://schemas.openxmlformats.org/presentationml/2006/main">
  <p:tag name="PPTAGGERGROUP" val="7"/>
  <p:tag name="PPWINTOTALSEGMENTS" val="0"/>
</p:tagLst>
</file>

<file path=ppt/tags/tag90.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11454</TotalTime>
  <Words>1096</Words>
  <Application>Microsoft PowerPoint</Application>
  <PresentationFormat>Affichage à l'écran (4:3)</PresentationFormat>
  <Paragraphs>248</Paragraphs>
  <Slides>26</Slides>
  <Notes>20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26</vt:i4>
      </vt:variant>
    </vt:vector>
  </HeadingPairs>
  <TitlesOfParts>
    <vt:vector size="33" baseType="lpstr">
      <vt:lpstr>Arial</vt:lpstr>
      <vt:lpstr>Georgia</vt:lpstr>
      <vt:lpstr>Arial Narrow</vt:lpstr>
      <vt:lpstr>Wingdings 2</vt:lpstr>
      <vt:lpstr>Wingdings</vt:lpstr>
      <vt:lpstr>Times New Roman</vt:lpstr>
      <vt:lpstr>Civil</vt:lpstr>
      <vt:lpstr>Chapitre 2    Implémentation d'une structure de forêt et de domaine Active Directory </vt:lpstr>
      <vt:lpstr>Plan du cours</vt:lpstr>
      <vt:lpstr>1. Création d'une structure de forêt et de domaine</vt:lpstr>
      <vt:lpstr>Conditions requises pour installer AD</vt:lpstr>
      <vt:lpstr>Processus d'installation d'Active Directory </vt:lpstr>
      <vt:lpstr>Comment vérifier l'installation d'Active Directory</vt:lpstr>
      <vt:lpstr>Comment résoudre les problèmes liés à l'installation d'Active Directory</vt:lpstr>
      <vt:lpstr>2. Analyse du système DNS intégré à Active Directory</vt:lpstr>
      <vt:lpstr>Espaces de noms DNS et Active Directory</vt:lpstr>
      <vt:lpstr>Définition des zones intégrées à Active Directory</vt:lpstr>
      <vt:lpstr>Définition des enregistrements de ressources SRV</vt:lpstr>
      <vt:lpstr>Utilisation de DNS par les ordinateurs clients pour trouver un DC</vt:lpstr>
      <vt:lpstr>3.  Augmentation des niveaux fonctionnels de la forêt et du domaine</vt:lpstr>
      <vt:lpstr>Définition des fonctionnalités des forêts et des domaines</vt:lpstr>
      <vt:lpstr>Conditions requises pour activer les nouvelles fonctionnalités de Windows Server 2003</vt:lpstr>
      <vt:lpstr>4.  Création de relations d'approbation</vt:lpstr>
      <vt:lpstr>Types d'approbations</vt:lpstr>
      <vt:lpstr>Définition des objets du domaine approuvé</vt:lpstr>
      <vt:lpstr>Comment fonctionnent les approbations dans une forêt</vt:lpstr>
      <vt:lpstr>Comment fonctionnent les approbations entre les forêts</vt:lpstr>
      <vt:lpstr>Exercices</vt:lpstr>
      <vt:lpstr>Exercices</vt:lpstr>
      <vt:lpstr>Exercices</vt:lpstr>
      <vt:lpstr>Exercices</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885</cp:revision>
  <dcterms:created xsi:type="dcterms:W3CDTF">2002-08-07T17:51:12Z</dcterms:created>
  <dcterms:modified xsi:type="dcterms:W3CDTF">2015-02-16T21:08:37Z</dcterms:modified>
</cp:coreProperties>
</file>