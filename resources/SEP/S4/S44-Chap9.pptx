
<file path=[Content_Types].xml><?xml version="1.0" encoding="utf-8"?>
<Types xmlns="http://schemas.openxmlformats.org/package/2006/content-types">
  <Override PartName="/ppt/tags/tag8.xml" ContentType="application/vnd.openxmlformats-officedocument.presentationml.tags+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theme/theme1.xml" ContentType="application/vnd.openxmlformats-officedocument.theme+xml"/>
  <Override PartName="/ppt/slideLayouts/slideLayout2.xml" ContentType="application/vnd.openxmlformats-officedocument.presentationml.slideLayout+xml"/>
  <Override PartName="/ppt/tags/tag49.xml" ContentType="application/vnd.openxmlformats-officedocument.presentationml.tags+xml"/>
  <Override PartName="/ppt/tags/tag78.xml" ContentType="application/vnd.openxmlformats-officedocument.presentationml.tag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tags/tag38.xml" ContentType="application/vnd.openxmlformats-officedocument.presentationml.tags+xml"/>
  <Override PartName="/ppt/tags/tag56.xml" ContentType="application/vnd.openxmlformats-officedocument.presentationml.tags+xml"/>
  <Override PartName="/ppt/tags/tag67.xml" ContentType="application/vnd.openxmlformats-officedocument.presentationml.tags+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ags/tag16.xml" ContentType="application/vnd.openxmlformats-officedocument.presentationml.tags+xml"/>
  <Override PartName="/ppt/tags/tag27.xml" ContentType="application/vnd.openxmlformats-officedocument.presentationml.tags+xml"/>
  <Override PartName="/ppt/tags/tag45.xml" ContentType="application/vnd.openxmlformats-officedocument.presentationml.tags+xml"/>
  <Override PartName="/ppt/tags/tag63.xml" ContentType="application/vnd.openxmlformats-officedocument.presentationml.tags+xml"/>
  <Override PartName="/ppt/tags/tag74.xml" ContentType="application/vnd.openxmlformats-officedocument.presentationml.tags+xml"/>
  <Override PartName="/docProps/custom.xml" ContentType="application/vnd.openxmlformats-officedocument.custom-properties+xml"/>
  <Override PartName="/ppt/tags/tag34.xml" ContentType="application/vnd.openxmlformats-officedocument.presentationml.tags+xml"/>
  <Override PartName="/ppt/tags/tag52.xml" ContentType="application/vnd.openxmlformats-officedocument.presentationml.tags+xml"/>
  <Override PartName="/ppt/notesSlides/notesSlide12.xml" ContentType="application/vnd.openxmlformats-officedocument.presentationml.notesSlide+xml"/>
  <Override PartName="/ppt/tags/tag81.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tags/tag41.xml" ContentType="application/vnd.openxmlformats-officedocument.presentationml.tags+xml"/>
  <Override PartName="/ppt/notesSlides/notesSlide7.xml" ContentType="application/vnd.openxmlformats-officedocument.presentationml.notesSlide+xml"/>
  <Override PartName="/ppt/tags/tag70.xml" ContentType="application/vnd.openxmlformats-officedocument.presentationml.tags+xml"/>
  <Override PartName="/ppt/slides/slide9.xml" ContentType="application/vnd.openxmlformats-officedocument.presentationml.slide+xml"/>
  <Override PartName="/ppt/viewProps.xml" ContentType="application/vnd.openxmlformats-officedocument.presentationml.viewProps+xml"/>
  <Override PartName="/ppt/tags/tag9.xml" ContentType="application/vnd.openxmlformats-officedocument.presentationml.tags+xml"/>
  <Override PartName="/ppt/tags/tag30.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79.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Default Extension="jpeg" ContentType="image/jpeg"/>
  <Override PartName="/ppt/slideLayouts/slideLayout3.xml" ContentType="application/vnd.openxmlformats-officedocument.presentationml.slideLayout+xml"/>
  <Override PartName="/ppt/tags/tag3.xml" ContentType="application/vnd.openxmlformats-officedocument.presentationml.tags+xml"/>
  <Override PartName="/ppt/tags/tag39.xml" ContentType="application/vnd.openxmlformats-officedocument.presentationml.tags+xml"/>
  <Override PartName="/ppt/tags/tag59.xml" ContentType="application/vnd.openxmlformats-officedocument.presentationml.tags+xml"/>
  <Override PartName="/ppt/tags/tag68.xml" ContentType="application/vnd.openxmlformats-officedocument.presentationml.tags+xml"/>
  <Override PartName="/ppt/tags/tag77.xml" ContentType="application/vnd.openxmlformats-officedocument.presentationml.tags+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tags/tag1.xml" ContentType="application/vnd.openxmlformats-officedocument.presentationml.tags+xml"/>
  <Override PartName="/ppt/tags/tag19.xml" ContentType="application/vnd.openxmlformats-officedocument.presentationml.tags+xml"/>
  <Override PartName="/ppt/tags/tag28.xml" ContentType="application/vnd.openxmlformats-officedocument.presentationml.tags+xml"/>
  <Override PartName="/ppt/tags/tag37.xml" ContentType="application/vnd.openxmlformats-officedocument.presentationml.tags+xml"/>
  <Override PartName="/ppt/tags/tag48.xml" ContentType="application/vnd.openxmlformats-officedocument.presentationml.tags+xml"/>
  <Override PartName="/ppt/tags/tag57.xml" ContentType="application/vnd.openxmlformats-officedocument.presentationml.tags+xml"/>
  <Override PartName="/ppt/tags/tag66.xml" ContentType="application/vnd.openxmlformats-officedocument.presentationml.tags+xml"/>
  <Override PartName="/ppt/tags/tag75.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tags/tag46.xml" ContentType="application/vnd.openxmlformats-officedocument.presentationml.tags+xml"/>
  <Override PartName="/ppt/tags/tag55.xml" ContentType="application/vnd.openxmlformats-officedocument.presentationml.tags+xml"/>
  <Override PartName="/ppt/tags/tag64.xml" ContentType="application/vnd.openxmlformats-officedocument.presentationml.tags+xml"/>
  <Override PartName="/ppt/tags/tag73.xml" ContentType="application/vnd.openxmlformats-officedocument.presentationml.tags+xml"/>
  <Override PartName="/ppt/notesSlides/notesSlide13.xml" ContentType="application/vnd.openxmlformats-officedocument.presentationml.notesSlide+xml"/>
  <Override PartName="/ppt/tags/tag82.xml" ContentType="application/vnd.openxmlformats-officedocument.presentationml.tags+xml"/>
  <Override PartName="/ppt/slideLayouts/slideLayout10.xml" ContentType="application/vnd.openxmlformats-officedocument.presentationml.slideLayout+xml"/>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tags/tag44.xml" ContentType="application/vnd.openxmlformats-officedocument.presentationml.tags+xml"/>
  <Override PartName="/ppt/tags/tag53.xml" ContentType="application/vnd.openxmlformats-officedocument.presentationml.tags+xml"/>
  <Override PartName="/ppt/notesSlides/notesSlide8.xml" ContentType="application/vnd.openxmlformats-officedocument.presentationml.notesSlide+xml"/>
  <Override PartName="/ppt/tags/tag62.xml" ContentType="application/vnd.openxmlformats-officedocument.presentationml.tags+xml"/>
  <Override PartName="/ppt/notesSlides/notesSlide11.xml" ContentType="application/vnd.openxmlformats-officedocument.presentationml.notesSlide+xml"/>
  <Override PartName="/ppt/tags/tag71.xml" ContentType="application/vnd.openxmlformats-officedocument.presentationml.tags+xml"/>
  <Override PartName="/ppt/tags/tag80.xml" ContentType="application/vnd.openxmlformats-officedocument.presentationml.tags+xml"/>
  <Override PartName="/ppt/tags/tag13.xml" ContentType="application/vnd.openxmlformats-officedocument.presentationml.tags+xml"/>
  <Override PartName="/ppt/tags/tag22.xml" ContentType="application/vnd.openxmlformats-officedocument.presentationml.tags+xml"/>
  <Override PartName="/ppt/notesSlides/notesSlide6.xml" ContentType="application/vnd.openxmlformats-officedocument.presentationml.notesSlide+xml"/>
  <Override PartName="/ppt/tags/tag31.xml" ContentType="application/vnd.openxmlformats-officedocument.presentationml.tags+xml"/>
  <Override PartName="/ppt/tags/tag40.xml" ContentType="application/vnd.openxmlformats-officedocument.presentationml.tags+xml"/>
  <Override PartName="/ppt/tags/tag42.xml" ContentType="application/vnd.openxmlformats-officedocument.presentationml.tags+xml"/>
  <Override PartName="/ppt/tags/tag51.xml" ContentType="application/vnd.openxmlformats-officedocument.presentationml.tags+xml"/>
  <Override PartName="/ppt/tags/tag60.xml" ContentType="application/vnd.openxmlformats-officedocument.presentationml.tags+xml"/>
  <Override PartName="/ppt/slides/slide8.xml" ContentType="application/vnd.openxmlformats-officedocument.presentationml.slide+xml"/>
  <Override PartName="/ppt/handoutMasters/handoutMaster1.xml" ContentType="application/vnd.openxmlformats-officedocument.presentationml.handoutMaster+xml"/>
  <Override PartName="/ppt/tags/tag11.xml" ContentType="application/vnd.openxmlformats-officedocument.presentationml.tags+xml"/>
  <Override PartName="/ppt/notesSlides/notesSlide4.xml" ContentType="application/vnd.openxmlformats-officedocument.presentationml.notesSlide+xml"/>
  <Override PartName="/ppt/tags/tag20.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tags/tag2.xml" ContentType="application/vnd.openxmlformats-officedocument.presentationml.tags+xml"/>
  <Override PartName="/ppt/tags/tag58.xml" ContentType="application/vnd.openxmlformats-officedocument.presentationml.tags+xml"/>
  <Override PartName="/ppt/tags/tag69.xml" ContentType="application/vnd.openxmlformats-officedocument.presentationml.tags+xml"/>
  <Default Extension="rels" ContentType="application/vnd.openxmlformats-package.relationships+xml"/>
  <Override PartName="/ppt/tags/tag29.xml" ContentType="application/vnd.openxmlformats-officedocument.presentationml.tags+xml"/>
  <Override PartName="/ppt/tags/tag47.xml" ContentType="application/vnd.openxmlformats-officedocument.presentationml.tags+xml"/>
  <Override PartName="/ppt/tags/tag76.xml" ContentType="application/vnd.openxmlformats-officedocument.presentationml.tags+xml"/>
  <Override PartName="/ppt/slides/slide12.xml" ContentType="application/vnd.openxmlformats-officedocument.presentationml.slide+xml"/>
  <Override PartName="/ppt/slideLayouts/slideLayout11.xml" ContentType="application/vnd.openxmlformats-officedocument.presentationml.slideLayout+xml"/>
  <Override PartName="/ppt/tags/tag18.xml" ContentType="application/vnd.openxmlformats-officedocument.presentationml.tags+xml"/>
  <Override PartName="/ppt/tags/tag36.xml" ContentType="application/vnd.openxmlformats-officedocument.presentationml.tags+xml"/>
  <Override PartName="/ppt/tags/tag54.xml" ContentType="application/vnd.openxmlformats-officedocument.presentationml.tags+xml"/>
  <Override PartName="/ppt/tags/tag65.xml" ContentType="application/vnd.openxmlformats-officedocument.presentationml.tags+xml"/>
  <Override PartName="/ppt/commentAuthors.xml" ContentType="application/vnd.openxmlformats-officedocument.presentationml.commentAuthors+xml"/>
  <Override PartName="/ppt/tags/tag14.xml" ContentType="application/vnd.openxmlformats-officedocument.presentationml.tags+xml"/>
  <Override PartName="/ppt/tags/tag25.xml" ContentType="application/vnd.openxmlformats-officedocument.presentationml.tags+xml"/>
  <Override PartName="/ppt/tags/tag43.xml" ContentType="application/vnd.openxmlformats-officedocument.presentationml.tags+xml"/>
  <Override PartName="/ppt/notesSlides/notesSlide9.xml" ContentType="application/vnd.openxmlformats-officedocument.presentationml.notesSlide+xml"/>
  <Override PartName="/ppt/tags/tag61.xml" ContentType="application/vnd.openxmlformats-officedocument.presentationml.tags+xml"/>
  <Override PartName="/ppt/tags/tag72.xml" ContentType="application/vnd.openxmlformats-officedocument.presentationml.tags+xml"/>
  <Override PartName="/ppt/tags/tag32.xml" ContentType="application/vnd.openxmlformats-officedocument.presentationml.tags+xml"/>
  <Override PartName="/ppt/tags/tag50.xml" ContentType="application/vnd.openxmlformats-officedocument.presentationml.tags+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notesSlides/notesSlide5.xml" ContentType="application/vnd.openxmlformats-officedocument.presentationml.notesSlide+xml"/>
  <Override PartName="/ppt/tags/tag21.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63" r:id="rId1"/>
  </p:sldMasterIdLst>
  <p:notesMasterIdLst>
    <p:notesMasterId r:id="rId23"/>
  </p:notesMasterIdLst>
  <p:handoutMasterIdLst>
    <p:handoutMasterId r:id="rId24"/>
  </p:handoutMasterIdLst>
  <p:sldIdLst>
    <p:sldId id="280" r:id="rId2"/>
    <p:sldId id="306" r:id="rId3"/>
    <p:sldId id="369" r:id="rId4"/>
    <p:sldId id="457" r:id="rId5"/>
    <p:sldId id="458" r:id="rId6"/>
    <p:sldId id="422" r:id="rId7"/>
    <p:sldId id="456" r:id="rId8"/>
    <p:sldId id="424" r:id="rId9"/>
    <p:sldId id="459" r:id="rId10"/>
    <p:sldId id="426" r:id="rId11"/>
    <p:sldId id="423" r:id="rId12"/>
    <p:sldId id="460" r:id="rId13"/>
    <p:sldId id="406" r:id="rId14"/>
    <p:sldId id="428" r:id="rId15"/>
    <p:sldId id="462" r:id="rId16"/>
    <p:sldId id="463" r:id="rId17"/>
    <p:sldId id="447" r:id="rId18"/>
    <p:sldId id="464" r:id="rId19"/>
    <p:sldId id="465" r:id="rId20"/>
    <p:sldId id="466" r:id="rId21"/>
    <p:sldId id="467" r:id="rId22"/>
  </p:sldIdLst>
  <p:sldSz cx="9144000" cy="6858000" type="screen4x3"/>
  <p:notesSz cx="6858000" cy="9144000"/>
  <p:embeddedFontLst>
    <p:embeddedFont>
      <p:font typeface="Georgia" pitchFamily="18" charset="0"/>
      <p:regular r:id="rId25"/>
      <p:bold r:id="rId26"/>
      <p:italic r:id="rId27"/>
      <p:boldItalic r:id="rId28"/>
    </p:embeddedFont>
    <p:embeddedFont>
      <p:font typeface="Arial Narrow" pitchFamily="34" charset="0"/>
      <p:regular r:id="rId29"/>
      <p:bold r:id="rId30"/>
      <p:italic r:id="rId31"/>
      <p:boldItalic r:id="rId32"/>
    </p:embeddedFont>
    <p:embeddedFont>
      <p:font typeface="Wingdings 2" pitchFamily="18" charset="2"/>
      <p:regular r:id="rId33"/>
    </p:embeddedFont>
  </p:embeddedFontLst>
  <p:defaultTextStyle>
    <a:defPPr>
      <a:defRPr lang="en-US"/>
    </a:defPPr>
    <a:lvl1pPr algn="ctr" rtl="0" eaLnBrk="0" fontAlgn="base" hangingPunct="0">
      <a:spcBef>
        <a:spcPct val="0"/>
      </a:spcBef>
      <a:spcAft>
        <a:spcPct val="0"/>
      </a:spcAft>
      <a:defRPr b="1" kern="1200">
        <a:solidFill>
          <a:schemeClr val="tx1"/>
        </a:solidFill>
        <a:latin typeface="Arial Narrow" pitchFamily="34" charset="0"/>
        <a:ea typeface="+mn-ea"/>
        <a:cs typeface="+mn-cs"/>
      </a:defRPr>
    </a:lvl1pPr>
    <a:lvl2pPr marL="457200" algn="ctr" rtl="0" eaLnBrk="0" fontAlgn="base" hangingPunct="0">
      <a:spcBef>
        <a:spcPct val="0"/>
      </a:spcBef>
      <a:spcAft>
        <a:spcPct val="0"/>
      </a:spcAft>
      <a:defRPr b="1" kern="1200">
        <a:solidFill>
          <a:schemeClr val="tx1"/>
        </a:solidFill>
        <a:latin typeface="Arial Narrow" pitchFamily="34" charset="0"/>
        <a:ea typeface="+mn-ea"/>
        <a:cs typeface="+mn-cs"/>
      </a:defRPr>
    </a:lvl2pPr>
    <a:lvl3pPr marL="914400" algn="ctr" rtl="0" eaLnBrk="0" fontAlgn="base" hangingPunct="0">
      <a:spcBef>
        <a:spcPct val="0"/>
      </a:spcBef>
      <a:spcAft>
        <a:spcPct val="0"/>
      </a:spcAft>
      <a:defRPr b="1" kern="1200">
        <a:solidFill>
          <a:schemeClr val="tx1"/>
        </a:solidFill>
        <a:latin typeface="Arial Narrow" pitchFamily="34" charset="0"/>
        <a:ea typeface="+mn-ea"/>
        <a:cs typeface="+mn-cs"/>
      </a:defRPr>
    </a:lvl3pPr>
    <a:lvl4pPr marL="1371600" algn="ctr" rtl="0" eaLnBrk="0" fontAlgn="base" hangingPunct="0">
      <a:spcBef>
        <a:spcPct val="0"/>
      </a:spcBef>
      <a:spcAft>
        <a:spcPct val="0"/>
      </a:spcAft>
      <a:defRPr b="1" kern="1200">
        <a:solidFill>
          <a:schemeClr val="tx1"/>
        </a:solidFill>
        <a:latin typeface="Arial Narrow" pitchFamily="34" charset="0"/>
        <a:ea typeface="+mn-ea"/>
        <a:cs typeface="+mn-cs"/>
      </a:defRPr>
    </a:lvl4pPr>
    <a:lvl5pPr marL="1828800" algn="ctr" rtl="0" eaLnBrk="0" fontAlgn="base" hangingPunct="0">
      <a:spcBef>
        <a:spcPct val="0"/>
      </a:spcBef>
      <a:spcAft>
        <a:spcPct val="0"/>
      </a:spcAft>
      <a:defRPr b="1" kern="1200">
        <a:solidFill>
          <a:schemeClr val="tx1"/>
        </a:solidFill>
        <a:latin typeface="Arial Narrow" pitchFamily="34" charset="0"/>
        <a:ea typeface="+mn-ea"/>
        <a:cs typeface="+mn-cs"/>
      </a:defRPr>
    </a:lvl5pPr>
    <a:lvl6pPr marL="2286000" algn="l" defTabSz="914400" rtl="0" eaLnBrk="1" latinLnBrk="0" hangingPunct="1">
      <a:defRPr b="1" kern="1200">
        <a:solidFill>
          <a:schemeClr val="tx1"/>
        </a:solidFill>
        <a:latin typeface="Arial Narrow" pitchFamily="34" charset="0"/>
        <a:ea typeface="+mn-ea"/>
        <a:cs typeface="+mn-cs"/>
      </a:defRPr>
    </a:lvl6pPr>
    <a:lvl7pPr marL="2743200" algn="l" defTabSz="914400" rtl="0" eaLnBrk="1" latinLnBrk="0" hangingPunct="1">
      <a:defRPr b="1" kern="1200">
        <a:solidFill>
          <a:schemeClr val="tx1"/>
        </a:solidFill>
        <a:latin typeface="Arial Narrow" pitchFamily="34" charset="0"/>
        <a:ea typeface="+mn-ea"/>
        <a:cs typeface="+mn-cs"/>
      </a:defRPr>
    </a:lvl7pPr>
    <a:lvl8pPr marL="3200400" algn="l" defTabSz="914400" rtl="0" eaLnBrk="1" latinLnBrk="0" hangingPunct="1">
      <a:defRPr b="1" kern="1200">
        <a:solidFill>
          <a:schemeClr val="tx1"/>
        </a:solidFill>
        <a:latin typeface="Arial Narrow" pitchFamily="34" charset="0"/>
        <a:ea typeface="+mn-ea"/>
        <a:cs typeface="+mn-cs"/>
      </a:defRPr>
    </a:lvl8pPr>
    <a:lvl9pPr marL="3657600" algn="l" defTabSz="914400" rtl="0" eaLnBrk="1" latinLnBrk="0" hangingPunct="1">
      <a:defRPr b="1" kern="1200">
        <a:solidFill>
          <a:schemeClr val="tx1"/>
        </a:solidFill>
        <a:latin typeface="Arial Narrow" pitchFamily="34"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y Sweet" initials="" lastIdx="19" clrIdx="0"/>
  <p:cmAuthor id="1" name="Robert Deupree Jr." initials="" lastIdx="14" clrIdx="1"/>
  <p:cmAuthor id="2" name="Ben Smith" initials="" lastIdx="7" clrIdx="2"/>
  <p:cmAuthor id="3" name="Teresa Taylor" initials="" lastIdx="5" clrIdx="3"/>
  <p:cmAuthor id="4" name="jpick" initials="" lastIdx="2" clrIdx="4"/>
</p:cmAuthorLst>
</file>

<file path=ppt/presProps.xml><?xml version="1.0" encoding="utf-8"?>
<p:presentationPr xmlns:a="http://schemas.openxmlformats.org/drawingml/2006/main" xmlns:r="http://schemas.openxmlformats.org/officeDocument/2006/relationships" xmlns:p="http://schemas.openxmlformats.org/presentationml/2006/main">
  <p:webPr encoding="windows-1252"/>
  <p:clrMru>
    <a:srgbClr val="333333"/>
    <a:srgbClr val="CC0000"/>
    <a:srgbClr val="D5D69C"/>
    <a:srgbClr val="E4E4BF"/>
    <a:srgbClr val="EEEFD7"/>
    <a:srgbClr val="8DACD0"/>
    <a:srgbClr val="FF0000"/>
    <a:srgbClr val="33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inimized" horzBarState="maximized">
    <p:restoredLeft sz="15620" autoAdjust="0"/>
    <p:restoredTop sz="94660" autoAdjust="0"/>
  </p:normalViewPr>
  <p:slideViewPr>
    <p:cSldViewPr snapToGrid="0">
      <p:cViewPr varScale="1">
        <p:scale>
          <a:sx n="69" d="100"/>
          <a:sy n="69" d="100"/>
        </p:scale>
        <p:origin x="-1572" y="-108"/>
      </p:cViewPr>
      <p:guideLst>
        <p:guide orient="horz" pos="2160"/>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2" d="100"/>
          <a:sy n="52" d="100"/>
        </p:scale>
        <p:origin x="-1860" y="-90"/>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heme" Target="../theme/theme3.xml"/><Relationship Id="rId5" Type="http://schemas.openxmlformats.org/officeDocument/2006/relationships/tags" Target="../tags/tag9.xml"/><Relationship Id="rId4" Type="http://schemas.openxmlformats.org/officeDocument/2006/relationships/tags" Target="../tags/tag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1026"/>
          <p:cNvSpPr>
            <a:spLocks noGrp="1" noChangeArrowheads="1"/>
          </p:cNvSpPr>
          <p:nvPr>
            <p:ph type="hdr" sz="quarter"/>
            <p:custDataLst>
              <p:tags r:id="rId2"/>
            </p:custDataLst>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vl1pPr>
          </a:lstStyle>
          <a:p>
            <a:endParaRPr lang="en-US"/>
          </a:p>
        </p:txBody>
      </p:sp>
      <p:sp>
        <p:nvSpPr>
          <p:cNvPr id="46083" name="Rectangle 1027"/>
          <p:cNvSpPr>
            <a:spLocks noGrp="1" noChangeArrowheads="1"/>
          </p:cNvSpPr>
          <p:nvPr>
            <p:ph type="dt" sz="quarter" idx="1"/>
            <p:custDataLst>
              <p:tags r:id="rId3"/>
            </p:custDataLst>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vl1pPr>
          </a:lstStyle>
          <a:p>
            <a:endParaRPr lang="en-US"/>
          </a:p>
        </p:txBody>
      </p:sp>
      <p:sp>
        <p:nvSpPr>
          <p:cNvPr id="46084" name="Rectangle 1028"/>
          <p:cNvSpPr>
            <a:spLocks noGrp="1" noChangeArrowheads="1"/>
          </p:cNvSpPr>
          <p:nvPr>
            <p:ph type="ftr" sz="quarter" idx="2"/>
            <p:custDataLst>
              <p:tags r:id="rId4"/>
            </p:custDataLst>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vl1pPr>
          </a:lstStyle>
          <a:p>
            <a:endParaRPr lang="en-US"/>
          </a:p>
        </p:txBody>
      </p:sp>
      <p:sp>
        <p:nvSpPr>
          <p:cNvPr id="46085" name="Rectangle 1029"/>
          <p:cNvSpPr>
            <a:spLocks noGrp="1" noChangeArrowheads="1"/>
          </p:cNvSpPr>
          <p:nvPr>
            <p:ph type="sldNum" sz="quarter" idx="3"/>
            <p:custDataLst>
              <p:tags r:id="rId5"/>
            </p:custDataLst>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fld id="{DC9B5587-6FD3-4B9F-9752-E3B987CCC182}" type="slidenum">
              <a:rPr lang="en-US"/>
              <a:pPr/>
              <a:t>‹N°›</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theme" Target="../theme/theme2.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custDataLst>
              <p:tags r:id="rId2"/>
            </p:custDataLst>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vl1pPr>
          </a:lstStyle>
          <a:p>
            <a:endParaRPr lang="en-US"/>
          </a:p>
        </p:txBody>
      </p:sp>
      <p:sp>
        <p:nvSpPr>
          <p:cNvPr id="26627" name="Rectangle 3"/>
          <p:cNvSpPr>
            <a:spLocks noGrp="1" noChangeArrowheads="1"/>
          </p:cNvSpPr>
          <p:nvPr>
            <p:ph type="dt" idx="1"/>
            <p:custDataLst>
              <p:tags r:id="rId3"/>
            </p:custDataLst>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vl1pPr>
          </a:lstStyle>
          <a:p>
            <a:endParaRPr lang="en-US"/>
          </a:p>
        </p:txBody>
      </p:sp>
      <p:sp>
        <p:nvSpPr>
          <p:cNvPr id="2662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6629" name="Rectangle 5"/>
          <p:cNvSpPr>
            <a:spLocks noGrp="1" noChangeArrowheads="1"/>
          </p:cNvSpPr>
          <p:nvPr>
            <p:ph type="body" sz="quarter" idx="3"/>
            <p:custDataLst>
              <p:tags r:id="rId4"/>
            </p:custDataLst>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6630" name="Rectangle 6"/>
          <p:cNvSpPr>
            <a:spLocks noGrp="1" noChangeArrowheads="1"/>
          </p:cNvSpPr>
          <p:nvPr>
            <p:ph type="ftr" sz="quarter" idx="4"/>
            <p:custDataLst>
              <p:tags r:id="rId5"/>
            </p:custDataLst>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vl1pPr>
          </a:lstStyle>
          <a:p>
            <a:endParaRPr lang="en-US"/>
          </a:p>
        </p:txBody>
      </p:sp>
      <p:sp>
        <p:nvSpPr>
          <p:cNvPr id="26631" name="Rectangle 7"/>
          <p:cNvSpPr>
            <a:spLocks noGrp="1" noChangeArrowheads="1"/>
          </p:cNvSpPr>
          <p:nvPr>
            <p:ph type="sldNum" sz="quarter" idx="5"/>
            <p:custDataLst>
              <p:tags r:id="rId6"/>
            </p:custDataLst>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fld id="{B10612D5-6764-44F4-9056-25118625EA9C}"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10.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11.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12.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13.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20.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ags" Target="../tags/tag28.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ags" Target="../tags/tag48.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ags" Target="../tags/tag5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ags" Target="../tags/tag59.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ags" Target="../tags/tag64.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ags" Target="../tags/tag65.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73.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ags" Target="../tags/tag8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9812B82E-0CDC-4F11-889F-FCC1F8F9A53A}" type="slidenum">
              <a:rPr lang="en-US"/>
              <a:pPr/>
              <a:t>1</a:t>
            </a:fld>
            <a:endParaRPr lang="en-US"/>
          </a:p>
        </p:txBody>
      </p:sp>
      <p:sp>
        <p:nvSpPr>
          <p:cNvPr id="43010" name="Rectangle 1026"/>
          <p:cNvSpPr>
            <a:spLocks noGrp="1" noRot="1" noChangeAspect="1" noChangeArrowheads="1" noTextEdit="1"/>
          </p:cNvSpPr>
          <p:nvPr>
            <p:ph type="sldImg"/>
          </p:nvPr>
        </p:nvSpPr>
        <p:spPr>
          <a:ln/>
        </p:spPr>
      </p:sp>
      <p:sp>
        <p:nvSpPr>
          <p:cNvPr id="43011" name="Rectangle 1027"/>
          <p:cNvSpPr>
            <a:spLocks noGrp="1" noChangeArrowheads="1"/>
          </p:cNvSpPr>
          <p:nvPr>
            <p:ph type="body" idx="1"/>
          </p:nvPr>
        </p:nvSpPr>
        <p:spPr/>
        <p:txBody>
          <a:bodyPr/>
          <a:lstStyle/>
          <a:p>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64E95D7E-3CA2-46CF-B825-7297B1B07251}" type="slidenum">
              <a:rPr lang="en-US"/>
              <a:pPr/>
              <a:t>2</a:t>
            </a:fld>
            <a:endParaRPr lang="en-US"/>
          </a:p>
        </p:txBody>
      </p:sp>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p:txBody>
          <a:bodyPr/>
          <a:lstStyle/>
          <a:p>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6A05D1DC-5412-447C-A7AD-A0F317E4A3A4}" type="slidenum">
              <a:rPr lang="en-US"/>
              <a:pPr/>
              <a:t>3</a:t>
            </a:fld>
            <a:endParaRPr lang="en-US"/>
          </a:p>
        </p:txBody>
      </p:sp>
      <p:sp>
        <p:nvSpPr>
          <p:cNvPr id="279554" name="Rectangle 2"/>
          <p:cNvSpPr>
            <a:spLocks noGrp="1" noRot="1" noChangeAspect="1" noChangeArrowheads="1" noTextEdit="1"/>
          </p:cNvSpPr>
          <p:nvPr>
            <p:ph type="sldImg"/>
          </p:nvPr>
        </p:nvSpPr>
        <p:spPr>
          <a:ln/>
        </p:spPr>
      </p:sp>
      <p:sp>
        <p:nvSpPr>
          <p:cNvPr id="279555" name="Rectangle 3"/>
          <p:cNvSpPr>
            <a:spLocks noGrp="1" noChangeArrowheads="1"/>
          </p:cNvSpPr>
          <p:nvPr>
            <p:ph type="body" idx="1"/>
          </p:nvPr>
        </p:nvSpPr>
        <p:spPr/>
        <p:txBody>
          <a:bodyPr/>
          <a:lstStyle/>
          <a:p>
            <a:endParaRPr lang="fr-FR" b="1"/>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13B32E0B-03E7-4F59-8FC7-2FD89C304805}" type="slidenum">
              <a:rPr lang="en-US"/>
              <a:pPr/>
              <a:t>6</a:t>
            </a:fld>
            <a:endParaRPr lang="en-US"/>
          </a:p>
        </p:txBody>
      </p:sp>
      <p:sp>
        <p:nvSpPr>
          <p:cNvPr id="479234" name="Rectangle 2"/>
          <p:cNvSpPr>
            <a:spLocks noGrp="1" noRot="1" noChangeAspect="1" noChangeArrowheads="1" noTextEdit="1"/>
          </p:cNvSpPr>
          <p:nvPr>
            <p:ph type="sldImg"/>
          </p:nvPr>
        </p:nvSpPr>
        <p:spPr>
          <a:ln/>
        </p:spPr>
      </p:sp>
      <p:sp>
        <p:nvSpPr>
          <p:cNvPr id="479235" name="Rectangle 3"/>
          <p:cNvSpPr>
            <a:spLocks noGrp="1" noChangeArrowheads="1"/>
          </p:cNvSpPr>
          <p:nvPr>
            <p:ph type="body" idx="1"/>
          </p:nvPr>
        </p:nvSpPr>
        <p:spPr/>
        <p:txBody>
          <a:bodyPr/>
          <a:lstStyle/>
          <a:p>
            <a:pPr lvl="4"/>
            <a:endParaRPr lang="fr-F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13B32E0B-03E7-4F59-8FC7-2FD89C304805}" type="slidenum">
              <a:rPr lang="en-US"/>
              <a:pPr/>
              <a:t>7</a:t>
            </a:fld>
            <a:endParaRPr lang="en-US"/>
          </a:p>
        </p:txBody>
      </p:sp>
      <p:sp>
        <p:nvSpPr>
          <p:cNvPr id="479234" name="Rectangle 2"/>
          <p:cNvSpPr>
            <a:spLocks noGrp="1" noRot="1" noChangeAspect="1" noChangeArrowheads="1" noTextEdit="1"/>
          </p:cNvSpPr>
          <p:nvPr>
            <p:ph type="sldImg"/>
          </p:nvPr>
        </p:nvSpPr>
        <p:spPr>
          <a:ln/>
        </p:spPr>
      </p:sp>
      <p:sp>
        <p:nvSpPr>
          <p:cNvPr id="479235" name="Rectangle 3"/>
          <p:cNvSpPr>
            <a:spLocks noGrp="1" noChangeArrowheads="1"/>
          </p:cNvSpPr>
          <p:nvPr>
            <p:ph type="body" idx="1"/>
          </p:nvPr>
        </p:nvSpPr>
        <p:spPr/>
        <p:txBody>
          <a:bodyPr/>
          <a:lstStyle/>
          <a:p>
            <a:pPr lvl="4"/>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3F3D6E39-3360-4E28-87D4-4224EF164B0E}" type="slidenum">
              <a:rPr lang="en-US"/>
              <a:pPr/>
              <a:t>8</a:t>
            </a:fld>
            <a:endParaRPr lang="en-US"/>
          </a:p>
        </p:txBody>
      </p:sp>
      <p:sp>
        <p:nvSpPr>
          <p:cNvPr id="483330" name="Rectangle 2"/>
          <p:cNvSpPr>
            <a:spLocks noGrp="1" noRot="1" noChangeAspect="1" noChangeArrowheads="1" noTextEdit="1"/>
          </p:cNvSpPr>
          <p:nvPr>
            <p:ph type="sldImg"/>
          </p:nvPr>
        </p:nvSpPr>
        <p:spPr>
          <a:ln/>
        </p:spPr>
      </p:sp>
      <p:sp>
        <p:nvSpPr>
          <p:cNvPr id="483331" name="Rectangle 3"/>
          <p:cNvSpPr>
            <a:spLocks noGrp="1" noChangeArrowheads="1"/>
          </p:cNvSpPr>
          <p:nvPr>
            <p:ph type="body" idx="1"/>
          </p:nvPr>
        </p:nvSpPr>
        <p:spPr/>
        <p:txBody>
          <a:bodyPr/>
          <a:lstStyle/>
          <a:p>
            <a:pPr lvl="4"/>
            <a:endParaRPr lang="fr-F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F120728A-2032-4836-9003-7F3470AEE125}" type="slidenum">
              <a:rPr lang="en-US"/>
              <a:pPr/>
              <a:t>9</a:t>
            </a:fld>
            <a:endParaRPr lang="en-US"/>
          </a:p>
        </p:txBody>
      </p:sp>
      <p:sp>
        <p:nvSpPr>
          <p:cNvPr id="485378" name="Rectangle 2"/>
          <p:cNvSpPr>
            <a:spLocks noGrp="1" noRot="1" noChangeAspect="1" noChangeArrowheads="1" noTextEdit="1"/>
          </p:cNvSpPr>
          <p:nvPr>
            <p:ph type="sldImg"/>
          </p:nvPr>
        </p:nvSpPr>
        <p:spPr>
          <a:ln/>
        </p:spPr>
      </p:sp>
      <p:sp>
        <p:nvSpPr>
          <p:cNvPr id="485379" name="Rectangle 3"/>
          <p:cNvSpPr>
            <a:spLocks noGrp="1" noChangeArrowheads="1"/>
          </p:cNvSpPr>
          <p:nvPr>
            <p:ph type="body" idx="1"/>
          </p:nvPr>
        </p:nvSpPr>
        <p:spPr/>
        <p:txBody>
          <a:bodyPr/>
          <a:lstStyle/>
          <a:p>
            <a:pPr lvl="4"/>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732FFAF4-7083-49D0-9220-BEF48588125A}" type="slidenum">
              <a:rPr lang="en-US"/>
              <a:pPr/>
              <a:t>10</a:t>
            </a:fld>
            <a:endParaRPr lang="en-US"/>
          </a:p>
        </p:txBody>
      </p:sp>
      <p:sp>
        <p:nvSpPr>
          <p:cNvPr id="487426" name="Rectangle 2"/>
          <p:cNvSpPr>
            <a:spLocks noGrp="1" noRot="1" noChangeAspect="1" noChangeArrowheads="1" noTextEdit="1"/>
          </p:cNvSpPr>
          <p:nvPr>
            <p:ph type="sldImg"/>
          </p:nvPr>
        </p:nvSpPr>
        <p:spPr>
          <a:ln/>
        </p:spPr>
      </p:sp>
      <p:sp>
        <p:nvSpPr>
          <p:cNvPr id="487427" name="Rectangle 3"/>
          <p:cNvSpPr>
            <a:spLocks noGrp="1" noChangeArrowheads="1"/>
          </p:cNvSpPr>
          <p:nvPr>
            <p:ph type="body" idx="1"/>
          </p:nvPr>
        </p:nvSpPr>
        <p:spPr/>
        <p:txBody>
          <a:bodyPr/>
          <a:lstStyle/>
          <a:p>
            <a:pPr lvl="4"/>
            <a:endParaRPr 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4AD2A33B-D385-43F1-9A1A-6F658F64AD89}" type="slidenum">
              <a:rPr lang="en-US"/>
              <a:pPr/>
              <a:t>11</a:t>
            </a:fld>
            <a:endParaRPr lang="en-US"/>
          </a:p>
        </p:txBody>
      </p:sp>
      <p:sp>
        <p:nvSpPr>
          <p:cNvPr id="481282" name="Rectangle 2"/>
          <p:cNvSpPr>
            <a:spLocks noGrp="1" noRot="1" noChangeAspect="1" noChangeArrowheads="1" noTextEdit="1"/>
          </p:cNvSpPr>
          <p:nvPr>
            <p:ph type="sldImg"/>
          </p:nvPr>
        </p:nvSpPr>
        <p:spPr>
          <a:ln/>
        </p:spPr>
      </p:sp>
      <p:sp>
        <p:nvSpPr>
          <p:cNvPr id="481283" name="Rectangle 3"/>
          <p:cNvSpPr>
            <a:spLocks noGrp="1" noChangeArrowheads="1"/>
          </p:cNvSpPr>
          <p:nvPr>
            <p:ph type="body" idx="1"/>
          </p:nvPr>
        </p:nvSpPr>
        <p:spPr/>
        <p:txBody>
          <a:bodyPr/>
          <a:lstStyle/>
          <a:p>
            <a:pPr lvl="4"/>
            <a:endParaRPr lang="fr-F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4AD2A33B-D385-43F1-9A1A-6F658F64AD89}" type="slidenum">
              <a:rPr lang="en-US"/>
              <a:pPr/>
              <a:t>12</a:t>
            </a:fld>
            <a:endParaRPr lang="en-US"/>
          </a:p>
        </p:txBody>
      </p:sp>
      <p:sp>
        <p:nvSpPr>
          <p:cNvPr id="481282" name="Rectangle 2"/>
          <p:cNvSpPr>
            <a:spLocks noGrp="1" noRot="1" noChangeAspect="1" noChangeArrowheads="1" noTextEdit="1"/>
          </p:cNvSpPr>
          <p:nvPr>
            <p:ph type="sldImg"/>
          </p:nvPr>
        </p:nvSpPr>
        <p:spPr>
          <a:ln/>
        </p:spPr>
      </p:sp>
      <p:sp>
        <p:nvSpPr>
          <p:cNvPr id="481283" name="Rectangle 3"/>
          <p:cNvSpPr>
            <a:spLocks noGrp="1" noChangeArrowheads="1"/>
          </p:cNvSpPr>
          <p:nvPr>
            <p:ph type="body" idx="1"/>
          </p:nvPr>
        </p:nvSpPr>
        <p:spPr/>
        <p:txBody>
          <a:bodyPr/>
          <a:lstStyle/>
          <a:p>
            <a:pPr lvl="4"/>
            <a:endParaRPr lang="fr-F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6244CF48-3F99-4D61-840A-F20B744F7BB5}" type="slidenum">
              <a:rPr lang="en-US"/>
              <a:pPr/>
              <a:t>13</a:t>
            </a:fld>
            <a:endParaRPr lang="en-US"/>
          </a:p>
        </p:txBody>
      </p:sp>
      <p:sp>
        <p:nvSpPr>
          <p:cNvPr id="412674" name="Rectangle 2"/>
          <p:cNvSpPr>
            <a:spLocks noGrp="1" noRot="1" noChangeAspect="1" noChangeArrowheads="1" noTextEdit="1"/>
          </p:cNvSpPr>
          <p:nvPr>
            <p:ph type="sldImg"/>
          </p:nvPr>
        </p:nvSpPr>
        <p:spPr>
          <a:ln/>
        </p:spPr>
      </p:sp>
      <p:sp>
        <p:nvSpPr>
          <p:cNvPr id="412675"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2B9595B1-1C03-4B0B-A6CE-3CEAC8E8F505}" type="slidenum">
              <a:rPr lang="en-US"/>
              <a:pPr/>
              <a:t>14</a:t>
            </a:fld>
            <a:endParaRPr lang="en-US"/>
          </a:p>
        </p:txBody>
      </p:sp>
      <p:sp>
        <p:nvSpPr>
          <p:cNvPr id="492546" name="Rectangle 2"/>
          <p:cNvSpPr>
            <a:spLocks noGrp="1" noRot="1" noChangeAspect="1" noChangeArrowheads="1" noTextEdit="1"/>
          </p:cNvSpPr>
          <p:nvPr>
            <p:ph type="sldImg"/>
          </p:nvPr>
        </p:nvSpPr>
        <p:spPr>
          <a:ln/>
        </p:spPr>
      </p:sp>
      <p:sp>
        <p:nvSpPr>
          <p:cNvPr id="492547" name="Rectangle 3"/>
          <p:cNvSpPr>
            <a:spLocks noGrp="1" noChangeArrowheads="1"/>
          </p:cNvSpPr>
          <p:nvPr>
            <p:ph type="body" idx="1"/>
          </p:nvPr>
        </p:nvSpPr>
        <p:spPr/>
        <p:txBody>
          <a:bodyPr/>
          <a:lstStyle/>
          <a:p>
            <a:pPr lvl="4"/>
            <a:endParaRPr lang="fr-F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FAE9B591-C76F-4806-9B78-7E76E3D76416}" type="slidenum">
              <a:rPr lang="en-US"/>
              <a:pPr/>
              <a:t>17</a:t>
            </a:fld>
            <a:endParaRPr lang="en-US"/>
          </a:p>
        </p:txBody>
      </p:sp>
      <p:sp>
        <p:nvSpPr>
          <p:cNvPr id="528386" name="Rectangle 2"/>
          <p:cNvSpPr>
            <a:spLocks noGrp="1" noRot="1" noChangeAspect="1" noChangeArrowheads="1" noTextEdit="1"/>
          </p:cNvSpPr>
          <p:nvPr>
            <p:ph type="sldImg"/>
          </p:nvPr>
        </p:nvSpPr>
        <p:spPr>
          <a:ln/>
        </p:spPr>
      </p:sp>
      <p:sp>
        <p:nvSpPr>
          <p:cNvPr id="528387" name="Rectangle 3"/>
          <p:cNvSpPr>
            <a:spLocks noGrp="1" noChangeArrowheads="1"/>
          </p:cNvSpPr>
          <p:nvPr>
            <p:ph type="body" idx="1"/>
          </p:nvPr>
        </p:nvSpPr>
        <p:spPr/>
        <p:txBody>
          <a:bodyPr/>
          <a:lstStyle/>
          <a:p>
            <a:pPr lvl="4"/>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3/20/2016</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chemeClr val="accent3">
                    <a:shade val="75000"/>
                  </a:schemeClr>
                </a:solidFill>
              </a:defRPr>
            </a:lvl1p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3/20/2016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3/20/2016</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3/20/2016</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3/20/2016</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3/20/2016</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3/20/2016</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3/20/2016</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3/20/2016</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3/20/2016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3/20/2016</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3/20/2016</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5.xml"/><Relationship Id="rId13" Type="http://schemas.openxmlformats.org/officeDocument/2006/relationships/image" Target="../media/image7.png"/><Relationship Id="rId3" Type="http://schemas.openxmlformats.org/officeDocument/2006/relationships/tags" Target="../tags/tag16.xml"/><Relationship Id="rId7" Type="http://schemas.openxmlformats.org/officeDocument/2006/relationships/slideLayout" Target="../slideLayouts/slideLayout2.xml"/><Relationship Id="rId12" Type="http://schemas.openxmlformats.org/officeDocument/2006/relationships/image" Target="../media/image6.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image" Target="../media/image5.png"/><Relationship Id="rId5" Type="http://schemas.openxmlformats.org/officeDocument/2006/relationships/tags" Target="../tags/tag18.xml"/><Relationship Id="rId10" Type="http://schemas.openxmlformats.org/officeDocument/2006/relationships/image" Target="../media/image4.png"/><Relationship Id="rId4" Type="http://schemas.openxmlformats.org/officeDocument/2006/relationships/tags" Target="../tags/tag17.xml"/><Relationship Id="rId9"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2.xml"/><Relationship Id="rId13" Type="http://schemas.openxmlformats.org/officeDocument/2006/relationships/image" Target="../media/image9.png"/><Relationship Id="rId3" Type="http://schemas.openxmlformats.org/officeDocument/2006/relationships/tags" Target="../tags/tag23.xml"/><Relationship Id="rId7" Type="http://schemas.openxmlformats.org/officeDocument/2006/relationships/tags" Target="../tags/tag27.xml"/><Relationship Id="rId12" Type="http://schemas.openxmlformats.org/officeDocument/2006/relationships/image" Target="../media/image8.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11" Type="http://schemas.openxmlformats.org/officeDocument/2006/relationships/image" Target="../media/image4.png"/><Relationship Id="rId5" Type="http://schemas.openxmlformats.org/officeDocument/2006/relationships/tags" Target="../tags/tag25.xml"/><Relationship Id="rId10" Type="http://schemas.openxmlformats.org/officeDocument/2006/relationships/image" Target="../media/image3.png"/><Relationship Id="rId4" Type="http://schemas.openxmlformats.org/officeDocument/2006/relationships/tags" Target="../tags/tag24.xml"/><Relationship Id="rId9" Type="http://schemas.openxmlformats.org/officeDocument/2006/relationships/notesSlide" Target="../notesSlides/notesSlide6.xml"/><Relationship Id="rId1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tags" Target="../tags/tag36.xml"/><Relationship Id="rId13" Type="http://schemas.openxmlformats.org/officeDocument/2006/relationships/tags" Target="../tags/tag41.xml"/><Relationship Id="rId18" Type="http://schemas.openxmlformats.org/officeDocument/2006/relationships/tags" Target="../tags/tag46.xml"/><Relationship Id="rId3" Type="http://schemas.openxmlformats.org/officeDocument/2006/relationships/tags" Target="../tags/tag31.xml"/><Relationship Id="rId21" Type="http://schemas.openxmlformats.org/officeDocument/2006/relationships/notesSlide" Target="../notesSlides/notesSlide7.xml"/><Relationship Id="rId7" Type="http://schemas.openxmlformats.org/officeDocument/2006/relationships/tags" Target="../tags/tag35.xml"/><Relationship Id="rId12" Type="http://schemas.openxmlformats.org/officeDocument/2006/relationships/tags" Target="../tags/tag40.xml"/><Relationship Id="rId17" Type="http://schemas.openxmlformats.org/officeDocument/2006/relationships/tags" Target="../tags/tag45.xml"/><Relationship Id="rId25" Type="http://schemas.openxmlformats.org/officeDocument/2006/relationships/image" Target="../media/image13.png"/><Relationship Id="rId2" Type="http://schemas.openxmlformats.org/officeDocument/2006/relationships/tags" Target="../tags/tag30.xml"/><Relationship Id="rId16" Type="http://schemas.openxmlformats.org/officeDocument/2006/relationships/tags" Target="../tags/tag44.xml"/><Relationship Id="rId20" Type="http://schemas.openxmlformats.org/officeDocument/2006/relationships/slideLayout" Target="../slideLayouts/slideLayout2.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tags" Target="../tags/tag39.xml"/><Relationship Id="rId24" Type="http://schemas.openxmlformats.org/officeDocument/2006/relationships/image" Target="../media/image12.png"/><Relationship Id="rId5" Type="http://schemas.openxmlformats.org/officeDocument/2006/relationships/tags" Target="../tags/tag33.xml"/><Relationship Id="rId15" Type="http://schemas.openxmlformats.org/officeDocument/2006/relationships/tags" Target="../tags/tag43.xml"/><Relationship Id="rId23" Type="http://schemas.openxmlformats.org/officeDocument/2006/relationships/image" Target="../media/image11.png"/><Relationship Id="rId10" Type="http://schemas.openxmlformats.org/officeDocument/2006/relationships/tags" Target="../tags/tag38.xml"/><Relationship Id="rId19" Type="http://schemas.openxmlformats.org/officeDocument/2006/relationships/tags" Target="../tags/tag47.xml"/><Relationship Id="rId4" Type="http://schemas.openxmlformats.org/officeDocument/2006/relationships/tags" Target="../tags/tag32.xml"/><Relationship Id="rId9" Type="http://schemas.openxmlformats.org/officeDocument/2006/relationships/tags" Target="../tags/tag37.xml"/><Relationship Id="rId14" Type="http://schemas.openxmlformats.org/officeDocument/2006/relationships/tags" Target="../tags/tag42.xml"/><Relationship Id="rId22"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tags" Target="../tags/tag56.xml"/><Relationship Id="rId13" Type="http://schemas.openxmlformats.org/officeDocument/2006/relationships/image" Target="../media/image4.png"/><Relationship Id="rId3" Type="http://schemas.openxmlformats.org/officeDocument/2006/relationships/tags" Target="../tags/tag51.xml"/><Relationship Id="rId7" Type="http://schemas.openxmlformats.org/officeDocument/2006/relationships/tags" Target="../tags/tag55.xml"/><Relationship Id="rId12" Type="http://schemas.openxmlformats.org/officeDocument/2006/relationships/image" Target="../media/image3.png"/><Relationship Id="rId2" Type="http://schemas.openxmlformats.org/officeDocument/2006/relationships/tags" Target="../tags/tag50.xml"/><Relationship Id="rId16" Type="http://schemas.openxmlformats.org/officeDocument/2006/relationships/image" Target="../media/image13.png"/><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notesSlide" Target="../notesSlides/notesSlide8.xml"/><Relationship Id="rId5" Type="http://schemas.openxmlformats.org/officeDocument/2006/relationships/tags" Target="../tags/tag53.xml"/><Relationship Id="rId15" Type="http://schemas.openxmlformats.org/officeDocument/2006/relationships/image" Target="../media/image11.png"/><Relationship Id="rId10" Type="http://schemas.openxmlformats.org/officeDocument/2006/relationships/slideLayout" Target="../slideLayouts/slideLayout2.xml"/><Relationship Id="rId4" Type="http://schemas.openxmlformats.org/officeDocument/2006/relationships/tags" Target="../tags/tag52.xml"/><Relationship Id="rId9" Type="http://schemas.openxmlformats.org/officeDocument/2006/relationships/tags" Target="../tags/tag57.xml"/><Relationship Id="rId1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62.xml"/><Relationship Id="rId7" Type="http://schemas.openxmlformats.org/officeDocument/2006/relationships/image" Target="../media/image4.png"/><Relationship Id="rId12" Type="http://schemas.openxmlformats.org/officeDocument/2006/relationships/image" Target="../media/image17.png"/><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notesSlide" Target="../notesSlides/notesSlide10.xml"/><Relationship Id="rId11" Type="http://schemas.openxmlformats.org/officeDocument/2006/relationships/image" Target="../media/image16.png"/><Relationship Id="rId5" Type="http://schemas.openxmlformats.org/officeDocument/2006/relationships/slideLayout" Target="../slideLayouts/slideLayout2.xml"/><Relationship Id="rId10" Type="http://schemas.openxmlformats.org/officeDocument/2006/relationships/image" Target="../media/image15.png"/><Relationship Id="rId4" Type="http://schemas.openxmlformats.org/officeDocument/2006/relationships/tags" Target="../tags/tag63.xml"/><Relationship Id="rId9"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68.xml"/><Relationship Id="rId7" Type="http://schemas.openxmlformats.org/officeDocument/2006/relationships/tags" Target="../tags/tag72.xml"/><Relationship Id="rId12" Type="http://schemas.openxmlformats.org/officeDocument/2006/relationships/image" Target="../media/image19.png"/><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image" Target="../media/image18.png"/><Relationship Id="rId5" Type="http://schemas.openxmlformats.org/officeDocument/2006/relationships/tags" Target="../tags/tag70.xml"/><Relationship Id="rId10" Type="http://schemas.openxmlformats.org/officeDocument/2006/relationships/image" Target="../media/image4.png"/><Relationship Id="rId4" Type="http://schemas.openxmlformats.org/officeDocument/2006/relationships/tags" Target="../tags/tag69.xml"/><Relationship Id="rId9"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tags" Target="../tags/tag81.xml"/><Relationship Id="rId13" Type="http://schemas.openxmlformats.org/officeDocument/2006/relationships/image" Target="../media/image18.png"/><Relationship Id="rId3" Type="http://schemas.openxmlformats.org/officeDocument/2006/relationships/tags" Target="../tags/tag76.xml"/><Relationship Id="rId7" Type="http://schemas.openxmlformats.org/officeDocument/2006/relationships/tags" Target="../tags/tag80.xml"/><Relationship Id="rId12" Type="http://schemas.openxmlformats.org/officeDocument/2006/relationships/image" Target="../media/image4.png"/><Relationship Id="rId2" Type="http://schemas.openxmlformats.org/officeDocument/2006/relationships/tags" Target="../tags/tag75.xml"/><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image" Target="../media/image3.png"/><Relationship Id="rId5" Type="http://schemas.openxmlformats.org/officeDocument/2006/relationships/tags" Target="../tags/tag78.xml"/><Relationship Id="rId15" Type="http://schemas.openxmlformats.org/officeDocument/2006/relationships/image" Target="../media/image20.png"/><Relationship Id="rId10" Type="http://schemas.openxmlformats.org/officeDocument/2006/relationships/notesSlide" Target="../notesSlides/notesSlide13.xml"/><Relationship Id="rId4" Type="http://schemas.openxmlformats.org/officeDocument/2006/relationships/tags" Target="../tags/tag77.xml"/><Relationship Id="rId9" Type="http://schemas.openxmlformats.org/officeDocument/2006/relationships/slideLayout" Target="../slideLayouts/slideLayout2.xml"/><Relationship Id="rId1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26"/>
          <p:cNvSpPr>
            <a:spLocks noGrp="1" noChangeArrowheads="1"/>
          </p:cNvSpPr>
          <p:nvPr>
            <p:ph type="title"/>
          </p:nvPr>
        </p:nvSpPr>
        <p:spPr>
          <a:xfrm>
            <a:off x="1286452" y="2139806"/>
            <a:ext cx="6645275" cy="3108325"/>
          </a:xfrm>
          <a:noFill/>
          <a:ln/>
        </p:spPr>
        <p:txBody>
          <a:bodyPr/>
          <a:lstStyle/>
          <a:p>
            <a:pPr algn="ctr"/>
            <a:r>
              <a:rPr lang="fr-FR" sz="5000" dirty="0" smtClean="0">
                <a:solidFill>
                  <a:srgbClr val="000000"/>
                </a:solidFill>
              </a:rPr>
              <a:t>Chapitre 9</a:t>
            </a:r>
            <a:r>
              <a:rPr lang="fr-FR" sz="5000" dirty="0">
                <a:solidFill>
                  <a:srgbClr val="000000"/>
                </a:solidFill>
              </a:rPr>
              <a:t> </a:t>
            </a:r>
            <a:r>
              <a:rPr lang="fr-FR" sz="5000" dirty="0" smtClean="0">
                <a:solidFill>
                  <a:srgbClr val="000000"/>
                </a:solidFill>
              </a:rPr>
              <a:t/>
            </a:r>
            <a:br>
              <a:rPr lang="fr-FR" sz="5000" dirty="0" smtClean="0">
                <a:solidFill>
                  <a:srgbClr val="000000"/>
                </a:solidFill>
              </a:rPr>
            </a:br>
            <a:r>
              <a:rPr lang="fr-FR" sz="5000" dirty="0" smtClean="0">
                <a:solidFill>
                  <a:srgbClr val="000000"/>
                </a:solidFill>
              </a:rPr>
              <a:t>Gestion </a:t>
            </a:r>
            <a:r>
              <a:rPr lang="fr-FR" sz="5000" dirty="0">
                <a:solidFill>
                  <a:srgbClr val="000000"/>
                </a:solidFill>
              </a:rPr>
              <a:t>des maîtres d'opérations</a:t>
            </a:r>
            <a:endParaRPr lang="en-US" sz="5000" dirty="0">
              <a:solidFill>
                <a:srgbClr val="000000"/>
              </a:solidFill>
            </a:endParaRPr>
          </a:p>
        </p:txBody>
      </p:sp>
      <p:sp>
        <p:nvSpPr>
          <p:cNvPr id="4" name="Rectangle 3"/>
          <p:cNvSpPr/>
          <p:nvPr/>
        </p:nvSpPr>
        <p:spPr>
          <a:xfrm>
            <a:off x="3040288" y="224040"/>
            <a:ext cx="2988319" cy="830997"/>
          </a:xfrm>
          <a:prstGeom prst="rect">
            <a:avLst/>
          </a:prstGeom>
        </p:spPr>
        <p:txBody>
          <a:bodyPr wrap="none">
            <a:spAutoFit/>
          </a:bodyPr>
          <a:lstStyle/>
          <a:p>
            <a:r>
              <a:rPr lang="fr-FR" sz="4800" dirty="0" smtClean="0">
                <a:solidFill>
                  <a:srgbClr val="000000"/>
                </a:solidFill>
              </a:rPr>
              <a:t>Module S44</a:t>
            </a:r>
            <a:endParaRPr lang="fr-FR" sz="4800" dirty="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838200" y="152400"/>
            <a:ext cx="7391400" cy="684213"/>
          </a:xfrm>
        </p:spPr>
        <p:txBody>
          <a:bodyPr/>
          <a:lstStyle/>
          <a:p>
            <a:r>
              <a:rPr lang="fr-FR" b="1" dirty="0" smtClean="0">
                <a:solidFill>
                  <a:srgbClr val="000000"/>
                </a:solidFill>
              </a:rPr>
              <a:t>Plan du cours</a:t>
            </a:r>
            <a:endParaRPr lang="en-US" b="1" dirty="0"/>
          </a:p>
        </p:txBody>
      </p:sp>
      <p:sp>
        <p:nvSpPr>
          <p:cNvPr id="97283" name="Rectangle 3"/>
          <p:cNvSpPr>
            <a:spLocks noGrp="1" noChangeArrowheads="1"/>
          </p:cNvSpPr>
          <p:nvPr>
            <p:ph sz="quarter" idx="1"/>
          </p:nvPr>
        </p:nvSpPr>
        <p:spPr>
          <a:xfrm>
            <a:off x="343975" y="2198003"/>
            <a:ext cx="8503920" cy="2290869"/>
          </a:xfrm>
        </p:spPr>
        <p:txBody>
          <a:bodyPr>
            <a:noAutofit/>
          </a:bodyPr>
          <a:lstStyle/>
          <a:p>
            <a:pPr marL="514350" indent="-514350">
              <a:buClrTx/>
              <a:buFont typeface="+mj-lt"/>
              <a:buAutoNum type="arabicPeriod"/>
            </a:pPr>
            <a:r>
              <a:rPr lang="fr-FR" sz="3000" b="1" dirty="0">
                <a:solidFill>
                  <a:srgbClr val="000000"/>
                </a:solidFill>
              </a:rPr>
              <a:t>Présentation des rôles de maître d'opérations</a:t>
            </a:r>
            <a:endParaRPr lang="en-US" sz="3000" b="1" dirty="0"/>
          </a:p>
          <a:p>
            <a:pPr marL="514350" indent="-514350">
              <a:buClrTx/>
              <a:buFont typeface="+mj-lt"/>
              <a:buAutoNum type="arabicPeriod"/>
            </a:pPr>
            <a:r>
              <a:rPr lang="fr-FR" sz="3000" b="1" dirty="0">
                <a:solidFill>
                  <a:srgbClr val="000000"/>
                </a:solidFill>
              </a:rPr>
              <a:t>Transfert et prise de rôles de maîtres </a:t>
            </a:r>
            <a:r>
              <a:rPr lang="fr-FR" sz="3000" b="1" dirty="0" smtClean="0">
                <a:solidFill>
                  <a:srgbClr val="000000"/>
                </a:solidFill>
              </a:rPr>
              <a:t>d'opérations</a:t>
            </a:r>
            <a:endParaRPr lang="en-US" sz="3000"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172521" y="193964"/>
            <a:ext cx="8755743" cy="917699"/>
          </a:xfrm>
        </p:spPr>
        <p:txBody>
          <a:bodyPr>
            <a:noAutofit/>
          </a:bodyPr>
          <a:lstStyle/>
          <a:p>
            <a:r>
              <a:rPr lang="fr-FR" sz="3000" b="1" dirty="0" smtClean="0">
                <a:solidFill>
                  <a:srgbClr val="000000"/>
                </a:solidFill>
              </a:rPr>
              <a:t>1. Présentation </a:t>
            </a:r>
            <a:r>
              <a:rPr lang="fr-FR" sz="3000" b="1" dirty="0">
                <a:solidFill>
                  <a:srgbClr val="000000"/>
                </a:solidFill>
              </a:rPr>
              <a:t>des rôles de maître d'opérations</a:t>
            </a:r>
            <a:endParaRPr lang="en-US" sz="3000" b="1" dirty="0">
              <a:solidFill>
                <a:srgbClr val="000000"/>
              </a:solidFill>
            </a:endParaRPr>
          </a:p>
        </p:txBody>
      </p:sp>
      <p:sp>
        <p:nvSpPr>
          <p:cNvPr id="278531" name="Rectangle 3"/>
          <p:cNvSpPr>
            <a:spLocks noGrp="1" noChangeArrowheads="1"/>
          </p:cNvSpPr>
          <p:nvPr>
            <p:ph sz="quarter" idx="1"/>
          </p:nvPr>
        </p:nvSpPr>
        <p:spPr>
          <a:xfrm>
            <a:off x="274043" y="2081230"/>
            <a:ext cx="8503920" cy="3599134"/>
          </a:xfrm>
        </p:spPr>
        <p:txBody>
          <a:bodyPr/>
          <a:lstStyle/>
          <a:p>
            <a:r>
              <a:rPr lang="fr-FR" b="1" dirty="0">
                <a:solidFill>
                  <a:srgbClr val="C00000"/>
                </a:solidFill>
              </a:rPr>
              <a:t>Définition d'un contrôleur de schéma</a:t>
            </a:r>
            <a:endParaRPr lang="en-US" b="1" dirty="0">
              <a:solidFill>
                <a:srgbClr val="C00000"/>
              </a:solidFill>
            </a:endParaRPr>
          </a:p>
          <a:p>
            <a:r>
              <a:rPr lang="fr-FR" b="1" dirty="0">
                <a:solidFill>
                  <a:srgbClr val="C00000"/>
                </a:solidFill>
              </a:rPr>
              <a:t>Définition d'un maître d'attribution de noms de domaine</a:t>
            </a:r>
            <a:endParaRPr lang="en-US" b="1" dirty="0">
              <a:solidFill>
                <a:srgbClr val="C00000"/>
              </a:solidFill>
            </a:endParaRPr>
          </a:p>
          <a:p>
            <a:r>
              <a:rPr lang="fr-FR" b="1" dirty="0">
                <a:solidFill>
                  <a:srgbClr val="C00000"/>
                </a:solidFill>
              </a:rPr>
              <a:t>Définition de l'émulateur PDC</a:t>
            </a:r>
            <a:r>
              <a:rPr lang="en-US" b="1" dirty="0">
                <a:solidFill>
                  <a:srgbClr val="C00000"/>
                </a:solidFill>
              </a:rPr>
              <a:t> </a:t>
            </a:r>
          </a:p>
          <a:p>
            <a:r>
              <a:rPr lang="fr-FR" b="1" dirty="0">
                <a:solidFill>
                  <a:srgbClr val="C00000"/>
                </a:solidFill>
              </a:rPr>
              <a:t>Définition d'un maître RID</a:t>
            </a:r>
            <a:r>
              <a:rPr lang="en-US" b="1" dirty="0">
                <a:solidFill>
                  <a:srgbClr val="C00000"/>
                </a:solidFill>
              </a:rPr>
              <a:t> </a:t>
            </a:r>
          </a:p>
          <a:p>
            <a:r>
              <a:rPr lang="fr-FR" b="1" dirty="0">
                <a:solidFill>
                  <a:srgbClr val="C00000"/>
                </a:solidFill>
              </a:rPr>
              <a:t>Définition d'un maître d'infrastructure</a:t>
            </a:r>
            <a:endParaRPr lang="en-US" b="1" dirty="0">
              <a:solidFill>
                <a:srgbClr val="C0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C00000"/>
                </a:solidFill>
              </a:rPr>
              <a:t>Présentation des maîtres d’opérations</a:t>
            </a:r>
            <a:endParaRPr lang="fr-FR" b="1" dirty="0">
              <a:solidFill>
                <a:srgbClr val="C00000"/>
              </a:solidFill>
            </a:endParaRPr>
          </a:p>
        </p:txBody>
      </p:sp>
      <p:sp>
        <p:nvSpPr>
          <p:cNvPr id="3" name="Espace réservé du contenu 2"/>
          <p:cNvSpPr>
            <a:spLocks noGrp="1"/>
          </p:cNvSpPr>
          <p:nvPr>
            <p:ph sz="quarter" idx="1"/>
          </p:nvPr>
        </p:nvSpPr>
        <p:spPr>
          <a:xfrm>
            <a:off x="272723" y="1425448"/>
            <a:ext cx="8705022" cy="1114552"/>
          </a:xfrm>
        </p:spPr>
        <p:txBody>
          <a:bodyPr>
            <a:normAutofit/>
          </a:bodyPr>
          <a:lstStyle/>
          <a:p>
            <a:pPr>
              <a:buNone/>
            </a:pPr>
            <a:r>
              <a:rPr lang="fr-FR" sz="2600" dirty="0" smtClean="0"/>
              <a:t>Les modifications d’AD peuvent être faites sur </a:t>
            </a:r>
            <a:r>
              <a:rPr lang="fr-FR" sz="2600" dirty="0" smtClean="0"/>
              <a:t>n’importe </a:t>
            </a:r>
            <a:r>
              <a:rPr lang="fr-FR" sz="2600" dirty="0" smtClean="0"/>
              <a:t>quel contrôleur de domaine. </a:t>
            </a:r>
          </a:p>
        </p:txBody>
      </p:sp>
      <p:sp>
        <p:nvSpPr>
          <p:cNvPr id="4" name="Rectangle 3"/>
          <p:cNvSpPr/>
          <p:nvPr/>
        </p:nvSpPr>
        <p:spPr>
          <a:xfrm>
            <a:off x="3585431" y="2604478"/>
            <a:ext cx="1973139" cy="553998"/>
          </a:xfrm>
          <a:prstGeom prst="rect">
            <a:avLst/>
          </a:prstGeom>
          <a:noFill/>
        </p:spPr>
        <p:txBody>
          <a:bodyPr wrap="square" lIns="91440" tIns="45720" rIns="91440" bIns="45720">
            <a:spAutoFit/>
          </a:bodyPr>
          <a:lstStyle/>
          <a:p>
            <a:pPr algn="ctr"/>
            <a:r>
              <a:rPr lang="fr-FR" sz="3000" b="1" cap="none" spc="100" dirty="0" smtClean="0">
                <a:ln w="18000">
                  <a:solidFill>
                    <a:schemeClr val="accent1">
                      <a:satMod val="200000"/>
                      <a:tint val="72000"/>
                    </a:schemeClr>
                  </a:solidFill>
                  <a:prstDash val="solid"/>
                </a:ln>
                <a:solidFill>
                  <a:srgbClr val="C00000"/>
                </a:solidFill>
                <a:effectLst>
                  <a:outerShdw blurRad="25000" dist="20000" dir="16020000" algn="tl">
                    <a:schemeClr val="accent1">
                      <a:satMod val="200000"/>
                      <a:shade val="1000"/>
                      <a:alpha val="60000"/>
                    </a:schemeClr>
                  </a:outerShdw>
                </a:effectLst>
              </a:rPr>
              <a:t>Problème</a:t>
            </a:r>
            <a:endParaRPr lang="fr-FR" sz="3000" b="1" cap="none" spc="100" dirty="0">
              <a:ln w="18000">
                <a:solidFill>
                  <a:schemeClr val="accent1">
                    <a:satMod val="200000"/>
                    <a:tint val="72000"/>
                  </a:schemeClr>
                </a:solidFill>
                <a:prstDash val="solid"/>
              </a:ln>
              <a:solidFill>
                <a:srgbClr val="C00000"/>
              </a:solidFill>
              <a:effectLst>
                <a:outerShdw blurRad="25000" dist="20000" dir="16020000" algn="tl">
                  <a:schemeClr val="accent1">
                    <a:satMod val="200000"/>
                    <a:shade val="1000"/>
                    <a:alpha val="60000"/>
                  </a:schemeClr>
                </a:outerShdw>
              </a:effectLst>
            </a:endParaRPr>
          </a:p>
        </p:txBody>
      </p:sp>
      <p:sp>
        <p:nvSpPr>
          <p:cNvPr id="5" name="Rectangle 4"/>
          <p:cNvSpPr/>
          <p:nvPr/>
        </p:nvSpPr>
        <p:spPr>
          <a:xfrm>
            <a:off x="442686" y="3228592"/>
            <a:ext cx="8483600" cy="830997"/>
          </a:xfrm>
          <a:prstGeom prst="rect">
            <a:avLst/>
          </a:prstGeom>
        </p:spPr>
        <p:txBody>
          <a:bodyPr wrap="square">
            <a:spAutoFit/>
          </a:bodyPr>
          <a:lstStyle/>
          <a:p>
            <a:r>
              <a:rPr lang="fr-FR" sz="2400" dirty="0" smtClean="0">
                <a:solidFill>
                  <a:srgbClr val="C00000"/>
                </a:solidFill>
              </a:rPr>
              <a:t>Conflits de </a:t>
            </a:r>
            <a:r>
              <a:rPr lang="fr-FR" sz="2400" dirty="0">
                <a:solidFill>
                  <a:srgbClr val="C00000"/>
                </a:solidFill>
              </a:rPr>
              <a:t>mise à jour </a:t>
            </a:r>
            <a:r>
              <a:rPr lang="fr-FR" sz="2400" dirty="0" smtClean="0">
                <a:solidFill>
                  <a:srgbClr val="C00000"/>
                </a:solidFill>
              </a:rPr>
              <a:t>simultanée par </a:t>
            </a:r>
            <a:r>
              <a:rPr lang="fr-FR" sz="2400" dirty="0">
                <a:solidFill>
                  <a:srgbClr val="C00000"/>
                </a:solidFill>
              </a:rPr>
              <a:t>plusieurs </a:t>
            </a:r>
            <a:r>
              <a:rPr lang="fr-FR" sz="2400" dirty="0" smtClean="0">
                <a:solidFill>
                  <a:srgbClr val="C00000"/>
                </a:solidFill>
              </a:rPr>
              <a:t>contrôleurs </a:t>
            </a:r>
            <a:r>
              <a:rPr lang="fr-FR" sz="2400" dirty="0">
                <a:solidFill>
                  <a:srgbClr val="C00000"/>
                </a:solidFill>
              </a:rPr>
              <a:t>de </a:t>
            </a:r>
            <a:r>
              <a:rPr lang="fr-FR" sz="2400" dirty="0" smtClean="0">
                <a:solidFill>
                  <a:srgbClr val="C00000"/>
                </a:solidFill>
              </a:rPr>
              <a:t>domaine</a:t>
            </a:r>
            <a:endParaRPr lang="fr-FR" sz="2400" dirty="0">
              <a:solidFill>
                <a:srgbClr val="C00000"/>
              </a:solidFill>
            </a:endParaRPr>
          </a:p>
        </p:txBody>
      </p:sp>
      <p:sp>
        <p:nvSpPr>
          <p:cNvPr id="6" name="Rectangle 5"/>
          <p:cNvSpPr/>
          <p:nvPr/>
        </p:nvSpPr>
        <p:spPr>
          <a:xfrm>
            <a:off x="3585431" y="4208304"/>
            <a:ext cx="1973139" cy="553998"/>
          </a:xfrm>
          <a:prstGeom prst="rect">
            <a:avLst/>
          </a:prstGeom>
          <a:noFill/>
        </p:spPr>
        <p:txBody>
          <a:bodyPr wrap="square" lIns="91440" tIns="45720" rIns="91440" bIns="45720">
            <a:spAutoFit/>
          </a:bodyPr>
          <a:lstStyle/>
          <a:p>
            <a:pPr algn="ctr"/>
            <a:r>
              <a:rPr lang="fr-FR" sz="3000" b="1" cap="none" spc="100" dirty="0" smtClean="0">
                <a:ln w="18000">
                  <a:solidFill>
                    <a:schemeClr val="accent1">
                      <a:satMod val="200000"/>
                      <a:tint val="72000"/>
                    </a:schemeClr>
                  </a:solidFill>
                  <a:prstDash val="solid"/>
                </a:ln>
                <a:solidFill>
                  <a:srgbClr val="C00000"/>
                </a:solidFill>
                <a:effectLst>
                  <a:outerShdw blurRad="25000" dist="20000" dir="16020000" algn="tl">
                    <a:schemeClr val="accent1">
                      <a:satMod val="200000"/>
                      <a:shade val="1000"/>
                      <a:alpha val="60000"/>
                    </a:schemeClr>
                  </a:outerShdw>
                </a:effectLst>
              </a:rPr>
              <a:t>Solution</a:t>
            </a:r>
            <a:endParaRPr lang="fr-FR" sz="3000" b="1" cap="none" spc="100" dirty="0">
              <a:ln w="18000">
                <a:solidFill>
                  <a:schemeClr val="accent1">
                    <a:satMod val="200000"/>
                    <a:tint val="72000"/>
                  </a:schemeClr>
                </a:solidFill>
                <a:prstDash val="solid"/>
              </a:ln>
              <a:solidFill>
                <a:srgbClr val="C00000"/>
              </a:solidFill>
              <a:effectLst>
                <a:outerShdw blurRad="25000" dist="20000" dir="16020000" algn="tl">
                  <a:schemeClr val="accent1">
                    <a:satMod val="200000"/>
                    <a:shade val="1000"/>
                    <a:alpha val="60000"/>
                  </a:schemeClr>
                </a:outerShdw>
              </a:effectLst>
            </a:endParaRPr>
          </a:p>
        </p:txBody>
      </p:sp>
      <p:sp>
        <p:nvSpPr>
          <p:cNvPr id="7" name="Rectangle 6"/>
          <p:cNvSpPr/>
          <p:nvPr/>
        </p:nvSpPr>
        <p:spPr>
          <a:xfrm>
            <a:off x="297544" y="5013849"/>
            <a:ext cx="8483600" cy="461665"/>
          </a:xfrm>
          <a:prstGeom prst="rect">
            <a:avLst/>
          </a:prstGeom>
        </p:spPr>
        <p:txBody>
          <a:bodyPr wrap="square">
            <a:spAutoFit/>
          </a:bodyPr>
          <a:lstStyle/>
          <a:p>
            <a:r>
              <a:rPr lang="fr-FR" sz="2400" dirty="0" smtClean="0"/>
              <a:t>Utiliser des rôles spécifiques: </a:t>
            </a:r>
            <a:r>
              <a:rPr lang="fr-FR" sz="2400" i="1" u="sng" dirty="0" smtClean="0">
                <a:solidFill>
                  <a:srgbClr val="C00000"/>
                </a:solidFill>
              </a:rPr>
              <a:t>Maîtres d’opérations</a:t>
            </a:r>
            <a:endParaRPr lang="fr-FR" sz="2400" i="1" u="sng"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1000" fill="hold"/>
                                        <p:tgtEl>
                                          <p:spTgt spid="4"/>
                                        </p:tgtEl>
                                        <p:attrNameLst>
                                          <p:attrName>ppt_x</p:attrName>
                                        </p:attrNameLst>
                                      </p:cBhvr>
                                      <p:tavLst>
                                        <p:tav tm="0">
                                          <p:val>
                                            <p:strVal val="#ppt_x"/>
                                          </p:val>
                                        </p:tav>
                                        <p:tav tm="100000">
                                          <p:val>
                                            <p:strVal val="#ppt_x"/>
                                          </p:val>
                                        </p:tav>
                                      </p:tavLst>
                                    </p:anim>
                                    <p:anim calcmode="lin" valueType="num">
                                      <p:cBhvr additive="base">
                                        <p:cTn id="14" dur="10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1000" fill="hold"/>
                                        <p:tgtEl>
                                          <p:spTgt spid="5"/>
                                        </p:tgtEl>
                                        <p:attrNameLst>
                                          <p:attrName>ppt_x</p:attrName>
                                        </p:attrNameLst>
                                      </p:cBhvr>
                                      <p:tavLst>
                                        <p:tav tm="0">
                                          <p:val>
                                            <p:strVal val="#ppt_x"/>
                                          </p:val>
                                        </p:tav>
                                        <p:tav tm="100000">
                                          <p:val>
                                            <p:strVal val="#ppt_x"/>
                                          </p:val>
                                        </p:tav>
                                      </p:tavLst>
                                    </p:anim>
                                    <p:anim calcmode="lin" valueType="num">
                                      <p:cBhvr additive="base">
                                        <p:cTn id="20" dur="10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1000" fill="hold"/>
                                        <p:tgtEl>
                                          <p:spTgt spid="6"/>
                                        </p:tgtEl>
                                        <p:attrNameLst>
                                          <p:attrName>ppt_x</p:attrName>
                                        </p:attrNameLst>
                                      </p:cBhvr>
                                      <p:tavLst>
                                        <p:tav tm="0">
                                          <p:val>
                                            <p:strVal val="#ppt_x"/>
                                          </p:val>
                                        </p:tav>
                                        <p:tav tm="100000">
                                          <p:val>
                                            <p:strVal val="#ppt_x"/>
                                          </p:val>
                                        </p:tav>
                                      </p:tavLst>
                                    </p:anim>
                                    <p:anim calcmode="lin" valueType="num">
                                      <p:cBhvr additive="base">
                                        <p:cTn id="26" dur="10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1000" fill="hold"/>
                                        <p:tgtEl>
                                          <p:spTgt spid="7"/>
                                        </p:tgtEl>
                                        <p:attrNameLst>
                                          <p:attrName>ppt_x</p:attrName>
                                        </p:attrNameLst>
                                      </p:cBhvr>
                                      <p:tavLst>
                                        <p:tav tm="0">
                                          <p:val>
                                            <p:strVal val="#ppt_x"/>
                                          </p:val>
                                        </p:tav>
                                        <p:tav tm="100000">
                                          <p:val>
                                            <p:strVal val="#ppt_x"/>
                                          </p:val>
                                        </p:tav>
                                      </p:tavLst>
                                    </p:anim>
                                    <p:anim calcmode="lin" valueType="num">
                                      <p:cBhvr additive="base">
                                        <p:cTn id="32" dur="10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C00000"/>
                </a:solidFill>
              </a:rPr>
              <a:t>Présentation des maîtres d’opérations</a:t>
            </a:r>
            <a:endParaRPr lang="fr-FR" b="1" dirty="0">
              <a:solidFill>
                <a:srgbClr val="C00000"/>
              </a:solidFill>
            </a:endParaRPr>
          </a:p>
        </p:txBody>
      </p:sp>
      <p:sp>
        <p:nvSpPr>
          <p:cNvPr id="3" name="Espace réservé du contenu 2"/>
          <p:cNvSpPr>
            <a:spLocks noGrp="1"/>
          </p:cNvSpPr>
          <p:nvPr>
            <p:ph sz="quarter" idx="1"/>
          </p:nvPr>
        </p:nvSpPr>
        <p:spPr>
          <a:xfrm>
            <a:off x="272723" y="1802819"/>
            <a:ext cx="8503920" cy="795239"/>
          </a:xfrm>
        </p:spPr>
        <p:txBody>
          <a:bodyPr/>
          <a:lstStyle/>
          <a:p>
            <a:pPr algn="ctr">
              <a:buNone/>
            </a:pPr>
            <a:r>
              <a:rPr lang="fr-FR" dirty="0" smtClean="0"/>
              <a:t>Il y a 5 maîtres d’opérations:</a:t>
            </a:r>
          </a:p>
        </p:txBody>
      </p:sp>
      <p:sp>
        <p:nvSpPr>
          <p:cNvPr id="8" name="Rectangle 7"/>
          <p:cNvSpPr/>
          <p:nvPr/>
        </p:nvSpPr>
        <p:spPr>
          <a:xfrm>
            <a:off x="631371" y="2835479"/>
            <a:ext cx="5856515" cy="2862322"/>
          </a:xfrm>
          <a:prstGeom prst="rect">
            <a:avLst/>
          </a:prstGeom>
        </p:spPr>
        <p:txBody>
          <a:bodyPr wrap="square">
            <a:spAutoFit/>
          </a:bodyPr>
          <a:lstStyle/>
          <a:p>
            <a:pPr algn="l">
              <a:lnSpc>
                <a:spcPct val="150000"/>
              </a:lnSpc>
              <a:buFont typeface="Wingdings" pitchFamily="2" charset="2"/>
              <a:buChar char="q"/>
            </a:pPr>
            <a:r>
              <a:rPr lang="fr-FR" sz="2400" dirty="0"/>
              <a:t>Contrôleur de schéma</a:t>
            </a:r>
          </a:p>
          <a:p>
            <a:pPr algn="l">
              <a:lnSpc>
                <a:spcPct val="150000"/>
              </a:lnSpc>
              <a:buFont typeface="Wingdings" pitchFamily="2" charset="2"/>
              <a:buChar char="q"/>
            </a:pPr>
            <a:r>
              <a:rPr lang="fr-FR" sz="2400" dirty="0" smtClean="0"/>
              <a:t>Maître </a:t>
            </a:r>
            <a:r>
              <a:rPr lang="fr-FR" sz="2400" dirty="0"/>
              <a:t>d’attribution des noms de domaine</a:t>
            </a:r>
          </a:p>
          <a:p>
            <a:pPr algn="l">
              <a:lnSpc>
                <a:spcPct val="150000"/>
              </a:lnSpc>
              <a:buFont typeface="Wingdings" pitchFamily="2" charset="2"/>
              <a:buChar char="q"/>
            </a:pPr>
            <a:r>
              <a:rPr lang="fr-FR" sz="2400" dirty="0" smtClean="0"/>
              <a:t>Emulateur </a:t>
            </a:r>
            <a:r>
              <a:rPr lang="fr-FR" sz="2400" dirty="0"/>
              <a:t>CPD</a:t>
            </a:r>
          </a:p>
          <a:p>
            <a:pPr algn="l">
              <a:lnSpc>
                <a:spcPct val="150000"/>
              </a:lnSpc>
              <a:buFont typeface="Wingdings" pitchFamily="2" charset="2"/>
              <a:buChar char="q"/>
            </a:pPr>
            <a:r>
              <a:rPr lang="fr-FR" sz="2400" dirty="0" smtClean="0"/>
              <a:t>Maître </a:t>
            </a:r>
            <a:r>
              <a:rPr lang="fr-FR" sz="2400" dirty="0"/>
              <a:t>d’identificateur relatif</a:t>
            </a:r>
          </a:p>
          <a:p>
            <a:pPr algn="l">
              <a:lnSpc>
                <a:spcPct val="150000"/>
              </a:lnSpc>
              <a:buFont typeface="Wingdings" pitchFamily="2" charset="2"/>
              <a:buChar char="q"/>
            </a:pPr>
            <a:r>
              <a:rPr lang="fr-FR" sz="2400" dirty="0" smtClean="0"/>
              <a:t>Maître d’infrastructure</a:t>
            </a:r>
            <a:endParaRPr lang="fr-FR" sz="2400" dirty="0"/>
          </a:p>
        </p:txBody>
      </p:sp>
      <p:sp>
        <p:nvSpPr>
          <p:cNvPr id="9" name="Accolade fermante 8"/>
          <p:cNvSpPr/>
          <p:nvPr/>
        </p:nvSpPr>
        <p:spPr>
          <a:xfrm>
            <a:off x="6560457" y="2960914"/>
            <a:ext cx="58057" cy="1117600"/>
          </a:xfrm>
          <a:prstGeom prst="righ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fr-FR"/>
          </a:p>
        </p:txBody>
      </p:sp>
      <p:sp>
        <p:nvSpPr>
          <p:cNvPr id="11" name="Accolade fermante 10"/>
          <p:cNvSpPr/>
          <p:nvPr/>
        </p:nvSpPr>
        <p:spPr>
          <a:xfrm>
            <a:off x="6567717" y="4172836"/>
            <a:ext cx="58057" cy="1584000"/>
          </a:xfrm>
          <a:prstGeom prst="righ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fr-FR"/>
          </a:p>
        </p:txBody>
      </p:sp>
      <p:sp>
        <p:nvSpPr>
          <p:cNvPr id="12" name="ZoneTexte 11"/>
          <p:cNvSpPr txBox="1"/>
          <p:nvPr/>
        </p:nvSpPr>
        <p:spPr>
          <a:xfrm>
            <a:off x="6908800" y="3033486"/>
            <a:ext cx="1930400" cy="646331"/>
          </a:xfrm>
          <a:prstGeom prst="rect">
            <a:avLst/>
          </a:prstGeom>
          <a:noFill/>
        </p:spPr>
        <p:txBody>
          <a:bodyPr wrap="square" rtlCol="0">
            <a:spAutoFit/>
          </a:bodyPr>
          <a:lstStyle/>
          <a:p>
            <a:r>
              <a:rPr lang="fr-FR" dirty="0" smtClean="0"/>
              <a:t>Au niveau de la forêt</a:t>
            </a:r>
            <a:endParaRPr lang="fr-FR" dirty="0"/>
          </a:p>
        </p:txBody>
      </p:sp>
      <p:sp>
        <p:nvSpPr>
          <p:cNvPr id="13" name="ZoneTexte 12"/>
          <p:cNvSpPr txBox="1"/>
          <p:nvPr/>
        </p:nvSpPr>
        <p:spPr>
          <a:xfrm>
            <a:off x="6959602" y="4622772"/>
            <a:ext cx="1930400" cy="646331"/>
          </a:xfrm>
          <a:prstGeom prst="rect">
            <a:avLst/>
          </a:prstGeom>
          <a:noFill/>
        </p:spPr>
        <p:txBody>
          <a:bodyPr wrap="square" rtlCol="0">
            <a:spAutoFit/>
          </a:bodyPr>
          <a:lstStyle/>
          <a:p>
            <a:r>
              <a:rPr lang="fr-FR" dirty="0" smtClean="0"/>
              <a:t>Au niveau du domaine</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Effect transition="in" filter="wipe(down)">
                                      <p:cBhvr>
                                        <p:cTn id="13" dur="500"/>
                                        <p:tgtEl>
                                          <p:spTgt spid="8">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8">
                                            <p:txEl>
                                              <p:pRg st="1" end="1"/>
                                            </p:txEl>
                                          </p:spTgt>
                                        </p:tgtEl>
                                        <p:attrNameLst>
                                          <p:attrName>style.visibility</p:attrName>
                                        </p:attrNameLst>
                                      </p:cBhvr>
                                      <p:to>
                                        <p:strVal val="visible"/>
                                      </p:to>
                                    </p:set>
                                    <p:animEffect transition="in" filter="wipe(down)">
                                      <p:cBhvr>
                                        <p:cTn id="18" dur="500"/>
                                        <p:tgtEl>
                                          <p:spTgt spid="8">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1000" fill="hold"/>
                                        <p:tgtEl>
                                          <p:spTgt spid="9"/>
                                        </p:tgtEl>
                                        <p:attrNameLst>
                                          <p:attrName>ppt_x</p:attrName>
                                        </p:attrNameLst>
                                      </p:cBhvr>
                                      <p:tavLst>
                                        <p:tav tm="0">
                                          <p:val>
                                            <p:strVal val="1+#ppt_w/2"/>
                                          </p:val>
                                        </p:tav>
                                        <p:tav tm="100000">
                                          <p:val>
                                            <p:strVal val="#ppt_x"/>
                                          </p:val>
                                        </p:tav>
                                      </p:tavLst>
                                    </p:anim>
                                    <p:anim calcmode="lin" valueType="num">
                                      <p:cBhvr additive="base">
                                        <p:cTn id="24" dur="1000" fill="hold"/>
                                        <p:tgtEl>
                                          <p:spTgt spid="9"/>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ID="2" presetClass="entr" presetSubtype="2"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1000" fill="hold"/>
                                        <p:tgtEl>
                                          <p:spTgt spid="12"/>
                                        </p:tgtEl>
                                        <p:attrNameLst>
                                          <p:attrName>ppt_x</p:attrName>
                                        </p:attrNameLst>
                                      </p:cBhvr>
                                      <p:tavLst>
                                        <p:tav tm="0">
                                          <p:val>
                                            <p:strVal val="1+#ppt_w/2"/>
                                          </p:val>
                                        </p:tav>
                                        <p:tav tm="100000">
                                          <p:val>
                                            <p:strVal val="#ppt_x"/>
                                          </p:val>
                                        </p:tav>
                                      </p:tavLst>
                                    </p:anim>
                                    <p:anim calcmode="lin" valueType="num">
                                      <p:cBhvr additive="base">
                                        <p:cTn id="29" dur="10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8">
                                            <p:txEl>
                                              <p:pRg st="2" end="2"/>
                                            </p:txEl>
                                          </p:spTgt>
                                        </p:tgtEl>
                                        <p:attrNameLst>
                                          <p:attrName>style.visibility</p:attrName>
                                        </p:attrNameLst>
                                      </p:cBhvr>
                                      <p:to>
                                        <p:strVal val="visible"/>
                                      </p:to>
                                    </p:set>
                                    <p:animEffect transition="in" filter="wipe(down)">
                                      <p:cBhvr>
                                        <p:cTn id="34" dur="500"/>
                                        <p:tgtEl>
                                          <p:spTgt spid="8">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8">
                                            <p:txEl>
                                              <p:pRg st="3" end="3"/>
                                            </p:txEl>
                                          </p:spTgt>
                                        </p:tgtEl>
                                        <p:attrNameLst>
                                          <p:attrName>style.visibility</p:attrName>
                                        </p:attrNameLst>
                                      </p:cBhvr>
                                      <p:to>
                                        <p:strVal val="visible"/>
                                      </p:to>
                                    </p:set>
                                    <p:animEffect transition="in" filter="wipe(down)">
                                      <p:cBhvr>
                                        <p:cTn id="39" dur="500"/>
                                        <p:tgtEl>
                                          <p:spTgt spid="8">
                                            <p:txEl>
                                              <p:pRg st="3" end="3"/>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8">
                                            <p:txEl>
                                              <p:pRg st="4" end="4"/>
                                            </p:txEl>
                                          </p:spTgt>
                                        </p:tgtEl>
                                        <p:attrNameLst>
                                          <p:attrName>style.visibility</p:attrName>
                                        </p:attrNameLst>
                                      </p:cBhvr>
                                      <p:to>
                                        <p:strVal val="visible"/>
                                      </p:to>
                                    </p:set>
                                    <p:animEffect transition="in" filter="wipe(down)">
                                      <p:cBhvr>
                                        <p:cTn id="44" dur="500"/>
                                        <p:tgtEl>
                                          <p:spTgt spid="8">
                                            <p:txEl>
                                              <p:pRg st="4" end="4"/>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additive="base">
                                        <p:cTn id="49" dur="1000" fill="hold"/>
                                        <p:tgtEl>
                                          <p:spTgt spid="11"/>
                                        </p:tgtEl>
                                        <p:attrNameLst>
                                          <p:attrName>ppt_x</p:attrName>
                                        </p:attrNameLst>
                                      </p:cBhvr>
                                      <p:tavLst>
                                        <p:tav tm="0">
                                          <p:val>
                                            <p:strVal val="1+#ppt_w/2"/>
                                          </p:val>
                                        </p:tav>
                                        <p:tav tm="100000">
                                          <p:val>
                                            <p:strVal val="#ppt_x"/>
                                          </p:val>
                                        </p:tav>
                                      </p:tavLst>
                                    </p:anim>
                                    <p:anim calcmode="lin" valueType="num">
                                      <p:cBhvr additive="base">
                                        <p:cTn id="50" dur="1000" fill="hold"/>
                                        <p:tgtEl>
                                          <p:spTgt spid="11"/>
                                        </p:tgtEl>
                                        <p:attrNameLst>
                                          <p:attrName>ppt_y</p:attrName>
                                        </p:attrNameLst>
                                      </p:cBhvr>
                                      <p:tavLst>
                                        <p:tav tm="0">
                                          <p:val>
                                            <p:strVal val="#ppt_y"/>
                                          </p:val>
                                        </p:tav>
                                        <p:tav tm="100000">
                                          <p:val>
                                            <p:strVal val="#ppt_y"/>
                                          </p:val>
                                        </p:tav>
                                      </p:tavLst>
                                    </p:anim>
                                  </p:childTnLst>
                                </p:cTn>
                              </p:par>
                            </p:childTnLst>
                          </p:cTn>
                        </p:par>
                        <p:par>
                          <p:cTn id="51" fill="hold">
                            <p:stCondLst>
                              <p:cond delay="1000"/>
                            </p:stCondLst>
                            <p:childTnLst>
                              <p:par>
                                <p:cTn id="52" presetID="2" presetClass="entr" presetSubtype="2"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 calcmode="lin" valueType="num">
                                      <p:cBhvr additive="base">
                                        <p:cTn id="54" dur="1000" fill="hold"/>
                                        <p:tgtEl>
                                          <p:spTgt spid="13"/>
                                        </p:tgtEl>
                                        <p:attrNameLst>
                                          <p:attrName>ppt_x</p:attrName>
                                        </p:attrNameLst>
                                      </p:cBhvr>
                                      <p:tavLst>
                                        <p:tav tm="0">
                                          <p:val>
                                            <p:strVal val="1+#ppt_w/2"/>
                                          </p:val>
                                        </p:tav>
                                        <p:tav tm="100000">
                                          <p:val>
                                            <p:strVal val="#ppt_x"/>
                                          </p:val>
                                        </p:tav>
                                      </p:tavLst>
                                    </p:anim>
                                    <p:anim calcmode="lin" valueType="num">
                                      <p:cBhvr additive="base">
                                        <p:cTn id="55" dur="10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9" grpId="0" animBg="1"/>
      <p:bldP spid="11" grpId="0" animBg="1"/>
      <p:bldP spid="12"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a:xfrm>
            <a:off x="199570" y="342674"/>
            <a:ext cx="8755743" cy="684212"/>
          </a:xfrm>
        </p:spPr>
        <p:txBody>
          <a:bodyPr/>
          <a:lstStyle/>
          <a:p>
            <a:r>
              <a:rPr lang="fr-FR" b="1" dirty="0">
                <a:solidFill>
                  <a:srgbClr val="C00000"/>
                </a:solidFill>
              </a:rPr>
              <a:t>Définition d'un contrôleur de schéma</a:t>
            </a:r>
            <a:endParaRPr lang="en-US" b="1" dirty="0">
              <a:solidFill>
                <a:srgbClr val="C00000"/>
              </a:solidFill>
            </a:endParaRPr>
          </a:p>
        </p:txBody>
      </p:sp>
      <p:sp>
        <p:nvSpPr>
          <p:cNvPr id="28" name="ZoneTexte 27"/>
          <p:cNvSpPr txBox="1"/>
          <p:nvPr/>
        </p:nvSpPr>
        <p:spPr>
          <a:xfrm>
            <a:off x="187368" y="1508166"/>
            <a:ext cx="8693395" cy="492443"/>
          </a:xfrm>
          <a:prstGeom prst="rect">
            <a:avLst/>
          </a:prstGeom>
          <a:noFill/>
        </p:spPr>
        <p:txBody>
          <a:bodyPr wrap="square" rtlCol="0">
            <a:spAutoFit/>
          </a:bodyPr>
          <a:lstStyle/>
          <a:p>
            <a:r>
              <a:rPr lang="fr-FR" sz="2600" u="sng" dirty="0" smtClean="0">
                <a:solidFill>
                  <a:srgbClr val="C00000"/>
                </a:solidFill>
              </a:rPr>
              <a:t>C’est quoi un schéma?</a:t>
            </a:r>
            <a:endParaRPr lang="fr-FR" sz="2600" u="sng" dirty="0">
              <a:solidFill>
                <a:srgbClr val="C00000"/>
              </a:solidFill>
            </a:endParaRPr>
          </a:p>
        </p:txBody>
      </p:sp>
      <p:sp>
        <p:nvSpPr>
          <p:cNvPr id="29" name="Rectangle 28"/>
          <p:cNvSpPr/>
          <p:nvPr/>
        </p:nvSpPr>
        <p:spPr>
          <a:xfrm>
            <a:off x="207819" y="2204107"/>
            <a:ext cx="8662388" cy="830997"/>
          </a:xfrm>
          <a:prstGeom prst="rect">
            <a:avLst/>
          </a:prstGeom>
        </p:spPr>
        <p:txBody>
          <a:bodyPr wrap="square">
            <a:spAutoFit/>
          </a:bodyPr>
          <a:lstStyle/>
          <a:p>
            <a:pPr algn="l"/>
            <a:r>
              <a:rPr lang="fr-FR" sz="2400" i="1" dirty="0" smtClean="0"/>
              <a:t>Contient les définitions </a:t>
            </a:r>
            <a:r>
              <a:rPr lang="fr-FR" sz="2400" i="1" dirty="0"/>
              <a:t>de tous les objets</a:t>
            </a:r>
            <a:r>
              <a:rPr lang="fr-FR" sz="2400" i="1" dirty="0" smtClean="0"/>
              <a:t>, </a:t>
            </a:r>
            <a:r>
              <a:rPr lang="fr-FR" sz="2400" dirty="0" smtClean="0"/>
              <a:t>comme </a:t>
            </a:r>
            <a:r>
              <a:rPr lang="fr-FR" sz="2400" dirty="0"/>
              <a:t>les utilisateurs, les ordinateurs et les imprimantes stockés </a:t>
            </a:r>
            <a:r>
              <a:rPr lang="fr-FR" sz="2400" dirty="0" smtClean="0"/>
              <a:t>dans AD</a:t>
            </a:r>
            <a:endParaRPr lang="fr-FR" sz="2400" dirty="0"/>
          </a:p>
        </p:txBody>
      </p:sp>
      <p:sp>
        <p:nvSpPr>
          <p:cNvPr id="30" name="ZoneTexte 29"/>
          <p:cNvSpPr txBox="1"/>
          <p:nvPr/>
        </p:nvSpPr>
        <p:spPr>
          <a:xfrm>
            <a:off x="221672" y="3043367"/>
            <a:ext cx="8756073" cy="492443"/>
          </a:xfrm>
          <a:prstGeom prst="rect">
            <a:avLst/>
          </a:prstGeom>
          <a:noFill/>
        </p:spPr>
        <p:txBody>
          <a:bodyPr wrap="square" rtlCol="0">
            <a:spAutoFit/>
          </a:bodyPr>
          <a:lstStyle/>
          <a:p>
            <a:r>
              <a:rPr lang="fr-FR" sz="2600" u="sng" dirty="0" smtClean="0">
                <a:solidFill>
                  <a:srgbClr val="C00000"/>
                </a:solidFill>
              </a:rPr>
              <a:t>Rôle du contrôleur de schéma</a:t>
            </a:r>
            <a:endParaRPr lang="fr-FR" sz="2600" u="sng" dirty="0">
              <a:solidFill>
                <a:srgbClr val="C00000"/>
              </a:solidFill>
            </a:endParaRPr>
          </a:p>
        </p:txBody>
      </p:sp>
      <p:sp>
        <p:nvSpPr>
          <p:cNvPr id="31" name="Rectangle 30"/>
          <p:cNvSpPr/>
          <p:nvPr/>
        </p:nvSpPr>
        <p:spPr>
          <a:xfrm>
            <a:off x="193963" y="3616035"/>
            <a:ext cx="8700655" cy="2569934"/>
          </a:xfrm>
          <a:prstGeom prst="rect">
            <a:avLst/>
          </a:prstGeom>
        </p:spPr>
        <p:txBody>
          <a:bodyPr wrap="square">
            <a:spAutoFit/>
          </a:bodyPr>
          <a:lstStyle/>
          <a:p>
            <a:pPr algn="l">
              <a:buClr>
                <a:srgbClr val="C00000"/>
              </a:buClr>
              <a:buFont typeface="Wingdings" pitchFamily="2" charset="2"/>
              <a:buChar char="q"/>
            </a:pPr>
            <a:r>
              <a:rPr lang="fr-FR" sz="2300" dirty="0" smtClean="0"/>
              <a:t> il </a:t>
            </a:r>
            <a:r>
              <a:rPr lang="fr-FR" sz="2300" dirty="0"/>
              <a:t>contrôle toutes les mises à jour d’origine apportées au </a:t>
            </a:r>
            <a:r>
              <a:rPr lang="fr-FR" sz="2300" dirty="0" smtClean="0"/>
              <a:t>schéma</a:t>
            </a:r>
          </a:p>
          <a:p>
            <a:pPr algn="l">
              <a:buClr>
                <a:srgbClr val="C00000"/>
              </a:buClr>
              <a:buFont typeface="Wingdings" pitchFamily="2" charset="2"/>
              <a:buChar char="q"/>
            </a:pPr>
            <a:r>
              <a:rPr lang="fr-FR" sz="2300" dirty="0" smtClean="0"/>
              <a:t> il </a:t>
            </a:r>
            <a:r>
              <a:rPr lang="fr-FR" sz="2300" dirty="0"/>
              <a:t>contient la liste principale des classes d’objets et des attributs utilisés </a:t>
            </a:r>
            <a:r>
              <a:rPr lang="fr-FR" sz="2300" dirty="0" smtClean="0"/>
              <a:t>pour la </a:t>
            </a:r>
            <a:r>
              <a:rPr lang="fr-FR" sz="2300" dirty="0"/>
              <a:t>création de tous les objets </a:t>
            </a:r>
            <a:r>
              <a:rPr lang="fr-FR" sz="2300" dirty="0" smtClean="0"/>
              <a:t>AD</a:t>
            </a:r>
            <a:endParaRPr lang="fr-FR" sz="2300" dirty="0"/>
          </a:p>
          <a:p>
            <a:pPr algn="l">
              <a:buClr>
                <a:srgbClr val="C00000"/>
              </a:buClr>
              <a:buFont typeface="Wingdings" pitchFamily="2" charset="2"/>
              <a:buChar char="q"/>
            </a:pPr>
            <a:r>
              <a:rPr lang="fr-FR" sz="2300" dirty="0" smtClean="0"/>
              <a:t> il </a:t>
            </a:r>
            <a:r>
              <a:rPr lang="fr-FR" sz="2300" dirty="0"/>
              <a:t>réplique les mises à jour apportées au schéma </a:t>
            </a:r>
            <a:r>
              <a:rPr lang="fr-FR" sz="2300" dirty="0" smtClean="0"/>
              <a:t>AD </a:t>
            </a:r>
            <a:r>
              <a:rPr lang="fr-FR" sz="2300" dirty="0"/>
              <a:t>sur </a:t>
            </a:r>
            <a:r>
              <a:rPr lang="fr-FR" sz="2300" dirty="0" smtClean="0"/>
              <a:t>tous les DC </a:t>
            </a:r>
            <a:r>
              <a:rPr lang="fr-FR" sz="2300" dirty="0"/>
              <a:t>de la forêt en utilisant la réplication de </a:t>
            </a:r>
            <a:r>
              <a:rPr lang="fr-FR" sz="2300" dirty="0" smtClean="0"/>
              <a:t>la partition </a:t>
            </a:r>
            <a:r>
              <a:rPr lang="fr-FR" sz="2300" dirty="0"/>
              <a:t>de </a:t>
            </a:r>
            <a:r>
              <a:rPr lang="fr-FR" sz="2300" dirty="0" smtClean="0"/>
              <a:t>schéma</a:t>
            </a:r>
            <a:endParaRPr lang="fr-FR" sz="2300" dirty="0"/>
          </a:p>
          <a:p>
            <a:pPr algn="l">
              <a:buClr>
                <a:srgbClr val="C00000"/>
              </a:buClr>
              <a:buFont typeface="Wingdings" pitchFamily="2" charset="2"/>
              <a:buChar char="q"/>
            </a:pPr>
            <a:r>
              <a:rPr lang="fr-FR" sz="2300" dirty="0" smtClean="0"/>
              <a:t> il </a:t>
            </a:r>
            <a:r>
              <a:rPr lang="fr-FR" sz="2300" dirty="0"/>
              <a:t>autorise </a:t>
            </a:r>
            <a:r>
              <a:rPr lang="fr-FR" sz="2300" dirty="0" smtClean="0"/>
              <a:t> uniquement </a:t>
            </a:r>
            <a:r>
              <a:rPr lang="fr-FR" sz="2300" dirty="0"/>
              <a:t>les membres du groupe Administrateurs du schéma </a:t>
            </a:r>
            <a:r>
              <a:rPr lang="fr-FR" sz="2300" dirty="0" smtClean="0"/>
              <a:t>à modifier </a:t>
            </a:r>
            <a:r>
              <a:rPr lang="fr-FR" sz="2300" dirty="0"/>
              <a:t>le schéma.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1000" fill="hold"/>
                                        <p:tgtEl>
                                          <p:spTgt spid="28"/>
                                        </p:tgtEl>
                                        <p:attrNameLst>
                                          <p:attrName>ppt_x</p:attrName>
                                        </p:attrNameLst>
                                      </p:cBhvr>
                                      <p:tavLst>
                                        <p:tav tm="0">
                                          <p:val>
                                            <p:strVal val="0-#ppt_w/2"/>
                                          </p:val>
                                        </p:tav>
                                        <p:tav tm="100000">
                                          <p:val>
                                            <p:strVal val="#ppt_x"/>
                                          </p:val>
                                        </p:tav>
                                      </p:tavLst>
                                    </p:anim>
                                    <p:anim calcmode="lin" valueType="num">
                                      <p:cBhvr additive="base">
                                        <p:cTn id="8" dur="10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anim calcmode="lin" valueType="num">
                                      <p:cBhvr additive="base">
                                        <p:cTn id="13" dur="1000" fill="hold"/>
                                        <p:tgtEl>
                                          <p:spTgt spid="29"/>
                                        </p:tgtEl>
                                        <p:attrNameLst>
                                          <p:attrName>ppt_x</p:attrName>
                                        </p:attrNameLst>
                                      </p:cBhvr>
                                      <p:tavLst>
                                        <p:tav tm="0">
                                          <p:val>
                                            <p:strVal val="1+#ppt_w/2"/>
                                          </p:val>
                                        </p:tav>
                                        <p:tav tm="100000">
                                          <p:val>
                                            <p:strVal val="#ppt_x"/>
                                          </p:val>
                                        </p:tav>
                                      </p:tavLst>
                                    </p:anim>
                                    <p:anim calcmode="lin" valueType="num">
                                      <p:cBhvr additive="base">
                                        <p:cTn id="14" dur="10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 calcmode="lin" valueType="num">
                                      <p:cBhvr additive="base">
                                        <p:cTn id="19" dur="1000" fill="hold"/>
                                        <p:tgtEl>
                                          <p:spTgt spid="30"/>
                                        </p:tgtEl>
                                        <p:attrNameLst>
                                          <p:attrName>ppt_x</p:attrName>
                                        </p:attrNameLst>
                                      </p:cBhvr>
                                      <p:tavLst>
                                        <p:tav tm="0">
                                          <p:val>
                                            <p:strVal val="0-#ppt_w/2"/>
                                          </p:val>
                                        </p:tav>
                                        <p:tav tm="100000">
                                          <p:val>
                                            <p:strVal val="#ppt_x"/>
                                          </p:val>
                                        </p:tav>
                                      </p:tavLst>
                                    </p:anim>
                                    <p:anim calcmode="lin" valueType="num">
                                      <p:cBhvr additive="base">
                                        <p:cTn id="20" dur="10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1">
                                            <p:txEl>
                                              <p:pRg st="0" end="0"/>
                                            </p:txEl>
                                          </p:spTgt>
                                        </p:tgtEl>
                                        <p:attrNameLst>
                                          <p:attrName>style.visibility</p:attrName>
                                        </p:attrNameLst>
                                      </p:cBhvr>
                                      <p:to>
                                        <p:strVal val="visible"/>
                                      </p:to>
                                    </p:set>
                                    <p:anim calcmode="lin" valueType="num">
                                      <p:cBhvr additive="base">
                                        <p:cTn id="25" dur="10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1">
                                            <p:txEl>
                                              <p:pRg st="1" end="1"/>
                                            </p:txEl>
                                          </p:spTgt>
                                        </p:tgtEl>
                                        <p:attrNameLst>
                                          <p:attrName>style.visibility</p:attrName>
                                        </p:attrNameLst>
                                      </p:cBhvr>
                                      <p:to>
                                        <p:strVal val="visible"/>
                                      </p:to>
                                    </p:set>
                                    <p:anim calcmode="lin" valueType="num">
                                      <p:cBhvr additive="base">
                                        <p:cTn id="31" dur="1000" fill="hold"/>
                                        <p:tgtEl>
                                          <p:spTgt spid="31">
                                            <p:txEl>
                                              <p:pRg st="1" end="1"/>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1">
                                            <p:txEl>
                                              <p:pRg st="2" end="2"/>
                                            </p:txEl>
                                          </p:spTgt>
                                        </p:tgtEl>
                                        <p:attrNameLst>
                                          <p:attrName>style.visibility</p:attrName>
                                        </p:attrNameLst>
                                      </p:cBhvr>
                                      <p:to>
                                        <p:strVal val="visible"/>
                                      </p:to>
                                    </p:set>
                                    <p:anim calcmode="lin" valueType="num">
                                      <p:cBhvr additive="base">
                                        <p:cTn id="37" dur="1000" fill="hold"/>
                                        <p:tgtEl>
                                          <p:spTgt spid="31">
                                            <p:txEl>
                                              <p:pRg st="2" end="2"/>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1">
                                            <p:txEl>
                                              <p:pRg st="3" end="3"/>
                                            </p:txEl>
                                          </p:spTgt>
                                        </p:tgtEl>
                                        <p:attrNameLst>
                                          <p:attrName>style.visibility</p:attrName>
                                        </p:attrNameLst>
                                      </p:cBhvr>
                                      <p:to>
                                        <p:strVal val="visible"/>
                                      </p:to>
                                    </p:set>
                                    <p:anim calcmode="lin" valueType="num">
                                      <p:cBhvr additive="base">
                                        <p:cTn id="43" dur="1000" fill="hold"/>
                                        <p:tgtEl>
                                          <p:spTgt spid="31">
                                            <p:txEl>
                                              <p:pRg st="3" end="3"/>
                                            </p:txEl>
                                          </p:spTgt>
                                        </p:tgtEl>
                                        <p:attrNameLst>
                                          <p:attrName>ppt_x</p:attrName>
                                        </p:attrNameLst>
                                      </p:cBhvr>
                                      <p:tavLst>
                                        <p:tav tm="0">
                                          <p:val>
                                            <p:strVal val="#ppt_x"/>
                                          </p:val>
                                        </p:tav>
                                        <p:tav tm="100000">
                                          <p:val>
                                            <p:strVal val="#ppt_x"/>
                                          </p:val>
                                        </p:tav>
                                      </p:tavLst>
                                    </p:anim>
                                    <p:anim calcmode="lin" valueType="num">
                                      <p:cBhvr additive="base">
                                        <p:cTn id="44" dur="1000" fill="hold"/>
                                        <p:tgtEl>
                                          <p:spTgt spid="3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Rectangle 2"/>
          <p:cNvSpPr>
            <a:spLocks noGrp="1" noChangeArrowheads="1"/>
          </p:cNvSpPr>
          <p:nvPr>
            <p:ph type="title"/>
          </p:nvPr>
        </p:nvSpPr>
        <p:spPr>
          <a:xfrm>
            <a:off x="199570" y="342674"/>
            <a:ext cx="8755743" cy="684212"/>
          </a:xfrm>
        </p:spPr>
        <p:txBody>
          <a:bodyPr/>
          <a:lstStyle/>
          <a:p>
            <a:r>
              <a:rPr lang="fr-FR" b="1" dirty="0">
                <a:solidFill>
                  <a:srgbClr val="C00000"/>
                </a:solidFill>
              </a:rPr>
              <a:t>Définition d'un contrôleur de schéma</a:t>
            </a:r>
            <a:endParaRPr lang="en-US" b="1" dirty="0">
              <a:solidFill>
                <a:srgbClr val="C00000"/>
              </a:solidFill>
            </a:endParaRPr>
          </a:p>
        </p:txBody>
      </p:sp>
      <p:sp>
        <p:nvSpPr>
          <p:cNvPr id="478556" name="Oval 348"/>
          <p:cNvSpPr>
            <a:spLocks noChangeArrowheads="1"/>
          </p:cNvSpPr>
          <p:nvPr/>
        </p:nvSpPr>
        <p:spPr bwMode="auto">
          <a:xfrm>
            <a:off x="1225550" y="1247098"/>
            <a:ext cx="6253163" cy="4756150"/>
          </a:xfrm>
          <a:prstGeom prst="ellipse">
            <a:avLst/>
          </a:prstGeom>
          <a:gradFill rotWithShape="1">
            <a:gsLst>
              <a:gs pos="0">
                <a:srgbClr val="EEEFD7"/>
              </a:gs>
              <a:gs pos="100000">
                <a:srgbClr val="FFFFFF"/>
              </a:gs>
            </a:gsLst>
            <a:path path="shape">
              <a:fillToRect l="50000" t="50000" r="50000" b="50000"/>
            </a:path>
          </a:gradFill>
          <a:ln w="9525">
            <a:noFill/>
            <a:round/>
            <a:headEnd/>
            <a:tailEnd/>
          </a:ln>
          <a:effectLst/>
        </p:spPr>
        <p:txBody>
          <a:bodyPr wrap="none" anchor="ctr"/>
          <a:lstStyle/>
          <a:p>
            <a:endParaRPr lang="fr-FR"/>
          </a:p>
        </p:txBody>
      </p:sp>
      <p:sp>
        <p:nvSpPr>
          <p:cNvPr id="478487" name="Rectangle 279"/>
          <p:cNvSpPr>
            <a:spLocks noChangeArrowheads="1"/>
          </p:cNvSpPr>
          <p:nvPr/>
        </p:nvSpPr>
        <p:spPr bwMode="auto">
          <a:xfrm>
            <a:off x="1050925" y="1175660"/>
            <a:ext cx="7026275" cy="1785938"/>
          </a:xfrm>
          <a:prstGeom prst="rect">
            <a:avLst/>
          </a:prstGeom>
          <a:noFill/>
          <a:ln w="9525">
            <a:noFill/>
            <a:miter lim="800000"/>
            <a:headEnd/>
            <a:tailEnd/>
          </a:ln>
          <a:effectLst/>
        </p:spPr>
        <p:txBody>
          <a:bodyPr lIns="0" tIns="0" rIns="0" bIns="0"/>
          <a:lstStyle/>
          <a:p>
            <a:pPr marL="342900" indent="-342900" algn="l">
              <a:lnSpc>
                <a:spcPct val="90000"/>
              </a:lnSpc>
              <a:spcBef>
                <a:spcPct val="40000"/>
              </a:spcBef>
              <a:buClr>
                <a:srgbClr val="D60093"/>
              </a:buClr>
              <a:buSzPct val="70000"/>
              <a:buFont typeface="Wingdings" pitchFamily="2" charset="2"/>
              <a:buBlip>
                <a:blip r:embed="rId9"/>
              </a:buBlip>
            </a:pPr>
            <a:endParaRPr lang="fr-FR" sz="2400"/>
          </a:p>
        </p:txBody>
      </p:sp>
      <p:pic>
        <p:nvPicPr>
          <p:cNvPr id="478535" name="Picture 327" descr="2Domain01"/>
          <p:cNvPicPr>
            <a:picLocks noChangeAspect="1" noChangeArrowheads="1"/>
          </p:cNvPicPr>
          <p:nvPr/>
        </p:nvPicPr>
        <p:blipFill>
          <a:blip r:embed="rId10"/>
          <a:srcRect/>
          <a:stretch>
            <a:fillRect/>
          </a:stretch>
        </p:blipFill>
        <p:spPr bwMode="auto">
          <a:xfrm>
            <a:off x="1895475" y="1643973"/>
            <a:ext cx="1819275" cy="1631950"/>
          </a:xfrm>
          <a:prstGeom prst="rect">
            <a:avLst/>
          </a:prstGeom>
          <a:noFill/>
        </p:spPr>
      </p:pic>
      <p:pic>
        <p:nvPicPr>
          <p:cNvPr id="478544" name="Picture 336" descr="2Domain01"/>
          <p:cNvPicPr>
            <a:picLocks noChangeAspect="1" noChangeArrowheads="1"/>
          </p:cNvPicPr>
          <p:nvPr/>
        </p:nvPicPr>
        <p:blipFill>
          <a:blip r:embed="rId10"/>
          <a:srcRect/>
          <a:stretch>
            <a:fillRect/>
          </a:stretch>
        </p:blipFill>
        <p:spPr bwMode="auto">
          <a:xfrm>
            <a:off x="3052763" y="3704548"/>
            <a:ext cx="1819275" cy="1631950"/>
          </a:xfrm>
          <a:prstGeom prst="rect">
            <a:avLst/>
          </a:prstGeom>
          <a:noFill/>
        </p:spPr>
      </p:pic>
      <p:pic>
        <p:nvPicPr>
          <p:cNvPr id="478547" name="Picture 339" descr="2Domain01"/>
          <p:cNvPicPr>
            <a:picLocks noChangeAspect="1" noChangeArrowheads="1"/>
          </p:cNvPicPr>
          <p:nvPr/>
        </p:nvPicPr>
        <p:blipFill>
          <a:blip r:embed="rId10"/>
          <a:srcRect/>
          <a:stretch>
            <a:fillRect/>
          </a:stretch>
        </p:blipFill>
        <p:spPr bwMode="auto">
          <a:xfrm>
            <a:off x="5205413" y="2275798"/>
            <a:ext cx="1819275" cy="1631950"/>
          </a:xfrm>
          <a:prstGeom prst="rect">
            <a:avLst/>
          </a:prstGeom>
          <a:noFill/>
        </p:spPr>
      </p:pic>
      <p:pic>
        <p:nvPicPr>
          <p:cNvPr id="478548" name="Picture 340" descr="2Domain01"/>
          <p:cNvPicPr>
            <a:picLocks noChangeAspect="1" noChangeArrowheads="1"/>
          </p:cNvPicPr>
          <p:nvPr/>
        </p:nvPicPr>
        <p:blipFill>
          <a:blip r:embed="rId10"/>
          <a:srcRect/>
          <a:stretch>
            <a:fillRect/>
          </a:stretch>
        </p:blipFill>
        <p:spPr bwMode="auto">
          <a:xfrm>
            <a:off x="6763910" y="3662393"/>
            <a:ext cx="1819275" cy="1631950"/>
          </a:xfrm>
          <a:prstGeom prst="rect">
            <a:avLst/>
          </a:prstGeom>
          <a:noFill/>
        </p:spPr>
      </p:pic>
      <p:sp>
        <p:nvSpPr>
          <p:cNvPr id="478553" name="Arc 345"/>
          <p:cNvSpPr>
            <a:spLocks/>
          </p:cNvSpPr>
          <p:nvPr/>
        </p:nvSpPr>
        <p:spPr bwMode="auto">
          <a:xfrm rot="16200000" flipH="1">
            <a:off x="4136325" y="963636"/>
            <a:ext cx="1190584" cy="2617931"/>
          </a:xfrm>
          <a:custGeom>
            <a:avLst/>
            <a:gdLst>
              <a:gd name="G0" fmla="+- 21600 0 0"/>
              <a:gd name="G1" fmla="+- 6719 0 0"/>
              <a:gd name="G2" fmla="+- 21600 0 0"/>
              <a:gd name="T0" fmla="*/ 13807 w 21600"/>
              <a:gd name="T1" fmla="*/ 26864 h 26864"/>
              <a:gd name="T2" fmla="*/ 1072 w 21600"/>
              <a:gd name="T3" fmla="*/ 0 h 26864"/>
              <a:gd name="T4" fmla="*/ 21600 w 21600"/>
              <a:gd name="T5" fmla="*/ 6719 h 26864"/>
            </a:gdLst>
            <a:ahLst/>
            <a:cxnLst>
              <a:cxn ang="0">
                <a:pos x="T0" y="T1"/>
              </a:cxn>
              <a:cxn ang="0">
                <a:pos x="T2" y="T3"/>
              </a:cxn>
              <a:cxn ang="0">
                <a:pos x="T4" y="T5"/>
              </a:cxn>
            </a:cxnLst>
            <a:rect l="0" t="0" r="r" b="b"/>
            <a:pathLst>
              <a:path w="21600" h="26864" fill="none" extrusionOk="0">
                <a:moveTo>
                  <a:pt x="13806" y="26864"/>
                </a:moveTo>
                <a:cubicBezTo>
                  <a:pt x="5485" y="23645"/>
                  <a:pt x="0" y="15641"/>
                  <a:pt x="0" y="6719"/>
                </a:cubicBezTo>
                <a:cubicBezTo>
                  <a:pt x="-1" y="4436"/>
                  <a:pt x="361" y="2168"/>
                  <a:pt x="1071" y="-1"/>
                </a:cubicBezTo>
              </a:path>
              <a:path w="21600" h="26864" stroke="0" extrusionOk="0">
                <a:moveTo>
                  <a:pt x="13806" y="26864"/>
                </a:moveTo>
                <a:cubicBezTo>
                  <a:pt x="5485" y="23645"/>
                  <a:pt x="0" y="15641"/>
                  <a:pt x="0" y="6719"/>
                </a:cubicBezTo>
                <a:cubicBezTo>
                  <a:pt x="-1" y="4436"/>
                  <a:pt x="361" y="2168"/>
                  <a:pt x="1071" y="-1"/>
                </a:cubicBezTo>
                <a:lnTo>
                  <a:pt x="21600" y="6719"/>
                </a:lnTo>
                <a:close/>
              </a:path>
            </a:pathLst>
          </a:custGeom>
          <a:noFill/>
          <a:ln w="63500" cap="rnd">
            <a:solidFill>
              <a:srgbClr val="CC0000"/>
            </a:solidFill>
            <a:prstDash val="sysDot"/>
            <a:round/>
            <a:headEnd type="triangle" w="med" len="med"/>
            <a:tailEnd type="triangle" w="med" len="med"/>
          </a:ln>
          <a:effectLst/>
        </p:spPr>
        <p:txBody>
          <a:bodyPr anchor="ctr"/>
          <a:lstStyle/>
          <a:p>
            <a:endParaRPr lang="fr-FR"/>
          </a:p>
        </p:txBody>
      </p:sp>
      <p:sp>
        <p:nvSpPr>
          <p:cNvPr id="478554" name="AutoShape 346"/>
          <p:cNvSpPr>
            <a:spLocks noChangeArrowheads="1"/>
          </p:cNvSpPr>
          <p:nvPr/>
        </p:nvSpPr>
        <p:spPr bwMode="auto">
          <a:xfrm>
            <a:off x="4327525" y="1597935"/>
            <a:ext cx="1304925" cy="330200"/>
          </a:xfrm>
          <a:prstGeom prst="roundRect">
            <a:avLst>
              <a:gd name="adj" fmla="val 4167"/>
            </a:avLst>
          </a:prstGeom>
          <a:gradFill rotWithShape="1">
            <a:gsLst>
              <a:gs pos="0">
                <a:srgbClr val="ADE2A1"/>
              </a:gs>
              <a:gs pos="100000">
                <a:srgbClr val="E8F6E4"/>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a:solidFill>
                  <a:srgbClr val="000000"/>
                </a:solidFill>
              </a:rPr>
              <a:t>Réplication</a:t>
            </a:r>
            <a:endParaRPr lang="en-US"/>
          </a:p>
        </p:txBody>
      </p:sp>
      <p:sp>
        <p:nvSpPr>
          <p:cNvPr id="478532" name="Line 324"/>
          <p:cNvSpPr>
            <a:spLocks noChangeShapeType="1"/>
          </p:cNvSpPr>
          <p:nvPr/>
        </p:nvSpPr>
        <p:spPr bwMode="auto">
          <a:xfrm>
            <a:off x="6288088" y="3555323"/>
            <a:ext cx="784225" cy="1184275"/>
          </a:xfrm>
          <a:prstGeom prst="line">
            <a:avLst/>
          </a:prstGeom>
          <a:noFill/>
          <a:ln w="57150">
            <a:solidFill>
              <a:srgbClr val="808080"/>
            </a:solidFill>
            <a:prstDash val="sysDot"/>
            <a:round/>
            <a:headEnd/>
            <a:tailEnd/>
          </a:ln>
          <a:effectLst/>
        </p:spPr>
        <p:txBody>
          <a:bodyPr/>
          <a:lstStyle/>
          <a:p>
            <a:endParaRPr lang="fr-FR"/>
          </a:p>
        </p:txBody>
      </p:sp>
      <p:sp>
        <p:nvSpPr>
          <p:cNvPr id="478533" name="Line 325"/>
          <p:cNvSpPr>
            <a:spLocks noChangeShapeType="1"/>
          </p:cNvSpPr>
          <p:nvPr/>
        </p:nvSpPr>
        <p:spPr bwMode="auto">
          <a:xfrm flipH="1">
            <a:off x="1766888" y="2921910"/>
            <a:ext cx="784225" cy="1184275"/>
          </a:xfrm>
          <a:prstGeom prst="line">
            <a:avLst/>
          </a:prstGeom>
          <a:noFill/>
          <a:ln w="57150">
            <a:solidFill>
              <a:srgbClr val="808080"/>
            </a:solidFill>
            <a:prstDash val="sysDot"/>
            <a:round/>
            <a:headEnd/>
            <a:tailEnd/>
          </a:ln>
          <a:effectLst/>
        </p:spPr>
        <p:txBody>
          <a:bodyPr/>
          <a:lstStyle/>
          <a:p>
            <a:endParaRPr lang="fr-FR"/>
          </a:p>
        </p:txBody>
      </p:sp>
      <p:sp>
        <p:nvSpPr>
          <p:cNvPr id="478534" name="Line 326"/>
          <p:cNvSpPr>
            <a:spLocks noChangeShapeType="1"/>
          </p:cNvSpPr>
          <p:nvPr/>
        </p:nvSpPr>
        <p:spPr bwMode="auto">
          <a:xfrm>
            <a:off x="3041650" y="2909210"/>
            <a:ext cx="784225" cy="1184275"/>
          </a:xfrm>
          <a:prstGeom prst="line">
            <a:avLst/>
          </a:prstGeom>
          <a:noFill/>
          <a:ln w="57150">
            <a:solidFill>
              <a:srgbClr val="808080"/>
            </a:solidFill>
            <a:prstDash val="sysDot"/>
            <a:round/>
            <a:headEnd/>
            <a:tailEnd/>
          </a:ln>
          <a:effectLst/>
        </p:spPr>
        <p:txBody>
          <a:bodyPr/>
          <a:lstStyle/>
          <a:p>
            <a:endParaRPr lang="fr-FR"/>
          </a:p>
        </p:txBody>
      </p:sp>
      <p:pic>
        <p:nvPicPr>
          <p:cNvPr id="478537" name="Picture 329" descr="Server01"/>
          <p:cNvPicPr>
            <a:picLocks noChangeAspect="1" noChangeArrowheads="1"/>
          </p:cNvPicPr>
          <p:nvPr>
            <p:custDataLst>
              <p:tags r:id="rId1"/>
            </p:custDataLst>
          </p:nvPr>
        </p:nvPicPr>
        <p:blipFill>
          <a:blip r:embed="rId11" cstate="print"/>
          <a:srcRect/>
          <a:stretch>
            <a:fillRect/>
          </a:stretch>
        </p:blipFill>
        <p:spPr bwMode="auto">
          <a:xfrm>
            <a:off x="2157413" y="1869398"/>
            <a:ext cx="1100137" cy="1293812"/>
          </a:xfrm>
          <a:prstGeom prst="rect">
            <a:avLst/>
          </a:prstGeom>
          <a:noFill/>
        </p:spPr>
      </p:pic>
      <p:pic>
        <p:nvPicPr>
          <p:cNvPr id="478538" name="Picture 330" descr="Policy_Writing01"/>
          <p:cNvPicPr>
            <a:picLocks noChangeAspect="1" noChangeArrowheads="1"/>
          </p:cNvPicPr>
          <p:nvPr>
            <p:custDataLst>
              <p:tags r:id="rId2"/>
            </p:custDataLst>
          </p:nvPr>
        </p:nvPicPr>
        <p:blipFill>
          <a:blip r:embed="rId12" cstate="print"/>
          <a:srcRect/>
          <a:stretch>
            <a:fillRect/>
          </a:stretch>
        </p:blipFill>
        <p:spPr bwMode="auto">
          <a:xfrm>
            <a:off x="3082925" y="1794785"/>
            <a:ext cx="774700" cy="1079500"/>
          </a:xfrm>
          <a:prstGeom prst="rect">
            <a:avLst/>
          </a:prstGeom>
          <a:noFill/>
        </p:spPr>
      </p:pic>
      <p:pic>
        <p:nvPicPr>
          <p:cNvPr id="478539" name="Picture 331" descr="ActiveDirectory01"/>
          <p:cNvPicPr>
            <a:picLocks noChangeAspect="1" noChangeArrowheads="1"/>
          </p:cNvPicPr>
          <p:nvPr>
            <p:custDataLst>
              <p:tags r:id="rId3"/>
            </p:custDataLst>
          </p:nvPr>
        </p:nvPicPr>
        <p:blipFill>
          <a:blip r:embed="rId13" cstate="print"/>
          <a:srcRect/>
          <a:stretch>
            <a:fillRect/>
          </a:stretch>
        </p:blipFill>
        <p:spPr bwMode="auto">
          <a:xfrm>
            <a:off x="2813050" y="2418673"/>
            <a:ext cx="914400" cy="600075"/>
          </a:xfrm>
          <a:prstGeom prst="rect">
            <a:avLst/>
          </a:prstGeom>
          <a:noFill/>
        </p:spPr>
      </p:pic>
      <p:pic>
        <p:nvPicPr>
          <p:cNvPr id="478551" name="Picture 343" descr="Server01"/>
          <p:cNvPicPr>
            <a:picLocks noChangeAspect="1" noChangeArrowheads="1"/>
          </p:cNvPicPr>
          <p:nvPr/>
        </p:nvPicPr>
        <p:blipFill>
          <a:blip r:embed="rId11" cstate="print"/>
          <a:srcRect/>
          <a:stretch>
            <a:fillRect/>
          </a:stretch>
        </p:blipFill>
        <p:spPr bwMode="auto">
          <a:xfrm>
            <a:off x="5467350" y="2501223"/>
            <a:ext cx="1100138" cy="1293812"/>
          </a:xfrm>
          <a:prstGeom prst="rect">
            <a:avLst/>
          </a:prstGeom>
          <a:noFill/>
        </p:spPr>
      </p:pic>
      <p:pic>
        <p:nvPicPr>
          <p:cNvPr id="478552" name="Picture 344" descr="ActiveDirectory01"/>
          <p:cNvPicPr>
            <a:picLocks noChangeAspect="1" noChangeArrowheads="1"/>
          </p:cNvPicPr>
          <p:nvPr/>
        </p:nvPicPr>
        <p:blipFill>
          <a:blip r:embed="rId13" cstate="print"/>
          <a:srcRect/>
          <a:stretch>
            <a:fillRect/>
          </a:stretch>
        </p:blipFill>
        <p:spPr bwMode="auto">
          <a:xfrm>
            <a:off x="6122988" y="3050498"/>
            <a:ext cx="914400" cy="600075"/>
          </a:xfrm>
          <a:prstGeom prst="rect">
            <a:avLst/>
          </a:prstGeom>
          <a:noFill/>
        </p:spPr>
      </p:pic>
      <p:pic>
        <p:nvPicPr>
          <p:cNvPr id="478549" name="Picture 341" descr="Server01"/>
          <p:cNvPicPr>
            <a:picLocks noChangeAspect="1" noChangeArrowheads="1"/>
          </p:cNvPicPr>
          <p:nvPr/>
        </p:nvPicPr>
        <p:blipFill>
          <a:blip r:embed="rId11" cstate="print"/>
          <a:srcRect/>
          <a:stretch>
            <a:fillRect/>
          </a:stretch>
        </p:blipFill>
        <p:spPr bwMode="auto">
          <a:xfrm>
            <a:off x="7025848" y="3887818"/>
            <a:ext cx="1100137" cy="1293812"/>
          </a:xfrm>
          <a:prstGeom prst="rect">
            <a:avLst/>
          </a:prstGeom>
          <a:noFill/>
        </p:spPr>
      </p:pic>
      <p:pic>
        <p:nvPicPr>
          <p:cNvPr id="478550" name="Picture 342" descr="ActiveDirectory01"/>
          <p:cNvPicPr>
            <a:picLocks noChangeAspect="1" noChangeArrowheads="1"/>
          </p:cNvPicPr>
          <p:nvPr/>
        </p:nvPicPr>
        <p:blipFill>
          <a:blip r:embed="rId13" cstate="print"/>
          <a:srcRect/>
          <a:stretch>
            <a:fillRect/>
          </a:stretch>
        </p:blipFill>
        <p:spPr bwMode="auto">
          <a:xfrm>
            <a:off x="7681485" y="4437093"/>
            <a:ext cx="914400" cy="600075"/>
          </a:xfrm>
          <a:prstGeom prst="rect">
            <a:avLst/>
          </a:prstGeom>
          <a:noFill/>
        </p:spPr>
      </p:pic>
      <p:pic>
        <p:nvPicPr>
          <p:cNvPr id="478545" name="Picture 337" descr="Server01"/>
          <p:cNvPicPr>
            <a:picLocks noChangeAspect="1" noChangeArrowheads="1"/>
          </p:cNvPicPr>
          <p:nvPr/>
        </p:nvPicPr>
        <p:blipFill>
          <a:blip r:embed="rId11" cstate="print"/>
          <a:srcRect/>
          <a:stretch>
            <a:fillRect/>
          </a:stretch>
        </p:blipFill>
        <p:spPr bwMode="auto">
          <a:xfrm>
            <a:off x="3314700" y="3929973"/>
            <a:ext cx="1100138" cy="1293812"/>
          </a:xfrm>
          <a:prstGeom prst="rect">
            <a:avLst/>
          </a:prstGeom>
          <a:noFill/>
        </p:spPr>
      </p:pic>
      <p:pic>
        <p:nvPicPr>
          <p:cNvPr id="478546" name="Picture 338" descr="ActiveDirectory01"/>
          <p:cNvPicPr>
            <a:picLocks noChangeAspect="1" noChangeArrowheads="1"/>
          </p:cNvPicPr>
          <p:nvPr/>
        </p:nvPicPr>
        <p:blipFill>
          <a:blip r:embed="rId13" cstate="print"/>
          <a:srcRect/>
          <a:stretch>
            <a:fillRect/>
          </a:stretch>
        </p:blipFill>
        <p:spPr bwMode="auto">
          <a:xfrm>
            <a:off x="3970338" y="4479248"/>
            <a:ext cx="914400" cy="600075"/>
          </a:xfrm>
          <a:prstGeom prst="rect">
            <a:avLst/>
          </a:prstGeom>
          <a:noFill/>
        </p:spPr>
      </p:pic>
      <p:grpSp>
        <p:nvGrpSpPr>
          <p:cNvPr id="2" name="Group 332"/>
          <p:cNvGrpSpPr>
            <a:grpSpLocks/>
          </p:cNvGrpSpPr>
          <p:nvPr/>
        </p:nvGrpSpPr>
        <p:grpSpPr bwMode="auto">
          <a:xfrm>
            <a:off x="708025" y="3704548"/>
            <a:ext cx="1831975" cy="1631950"/>
            <a:chOff x="446" y="2425"/>
            <a:chExt cx="1154" cy="1028"/>
          </a:xfrm>
        </p:grpSpPr>
        <p:pic>
          <p:nvPicPr>
            <p:cNvPr id="478541" name="Picture 333" descr="2Domain01"/>
            <p:cNvPicPr>
              <a:picLocks noChangeAspect="1" noChangeArrowheads="1"/>
            </p:cNvPicPr>
            <p:nvPr>
              <p:custDataLst>
                <p:tags r:id="rId4"/>
              </p:custDataLst>
            </p:nvPr>
          </p:nvPicPr>
          <p:blipFill>
            <a:blip r:embed="rId10"/>
            <a:srcRect/>
            <a:stretch>
              <a:fillRect/>
            </a:stretch>
          </p:blipFill>
          <p:spPr bwMode="auto">
            <a:xfrm>
              <a:off x="446" y="2425"/>
              <a:ext cx="1146" cy="1028"/>
            </a:xfrm>
            <a:prstGeom prst="rect">
              <a:avLst/>
            </a:prstGeom>
            <a:noFill/>
          </p:spPr>
        </p:pic>
        <p:pic>
          <p:nvPicPr>
            <p:cNvPr id="478542" name="Picture 334" descr="Server01"/>
            <p:cNvPicPr>
              <a:picLocks noChangeAspect="1" noChangeArrowheads="1"/>
            </p:cNvPicPr>
            <p:nvPr>
              <p:custDataLst>
                <p:tags r:id="rId5"/>
              </p:custDataLst>
            </p:nvPr>
          </p:nvPicPr>
          <p:blipFill>
            <a:blip r:embed="rId11" cstate="print"/>
            <a:srcRect/>
            <a:stretch>
              <a:fillRect/>
            </a:stretch>
          </p:blipFill>
          <p:spPr bwMode="auto">
            <a:xfrm>
              <a:off x="611" y="2567"/>
              <a:ext cx="693" cy="815"/>
            </a:xfrm>
            <a:prstGeom prst="rect">
              <a:avLst/>
            </a:prstGeom>
            <a:noFill/>
          </p:spPr>
        </p:pic>
        <p:pic>
          <p:nvPicPr>
            <p:cNvPr id="478543" name="Picture 335" descr="ActiveDirectory01"/>
            <p:cNvPicPr>
              <a:picLocks noChangeAspect="1" noChangeArrowheads="1"/>
            </p:cNvPicPr>
            <p:nvPr>
              <p:custDataLst>
                <p:tags r:id="rId6"/>
              </p:custDataLst>
            </p:nvPr>
          </p:nvPicPr>
          <p:blipFill>
            <a:blip r:embed="rId13" cstate="print"/>
            <a:srcRect/>
            <a:stretch>
              <a:fillRect/>
            </a:stretch>
          </p:blipFill>
          <p:spPr bwMode="auto">
            <a:xfrm>
              <a:off x="1024" y="2913"/>
              <a:ext cx="576" cy="378"/>
            </a:xfrm>
            <a:prstGeom prst="rect">
              <a:avLst/>
            </a:prstGeom>
            <a:noFill/>
          </p:spPr>
        </p:pic>
      </p:grpSp>
      <p:sp>
        <p:nvSpPr>
          <p:cNvPr id="478555" name="AutoShape 347"/>
          <p:cNvSpPr>
            <a:spLocks noChangeArrowheads="1"/>
          </p:cNvSpPr>
          <p:nvPr/>
        </p:nvSpPr>
        <p:spPr bwMode="auto">
          <a:xfrm>
            <a:off x="916277" y="1294723"/>
            <a:ext cx="1638300" cy="631825"/>
          </a:xfrm>
          <a:prstGeom prst="roundRect">
            <a:avLst>
              <a:gd name="adj" fmla="val 4167"/>
            </a:avLst>
          </a:prstGeom>
          <a:gradFill rotWithShape="1">
            <a:gsLst>
              <a:gs pos="0">
                <a:srgbClr val="D5D69C"/>
              </a:gs>
              <a:gs pos="100000">
                <a:srgbClr val="EEEFD7"/>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sz="2000" dirty="0">
                <a:solidFill>
                  <a:srgbClr val="000000"/>
                </a:solidFill>
              </a:rPr>
              <a:t>Contrôleur de schéma</a:t>
            </a:r>
            <a:endParaRPr lang="en-US" sz="2000" dirty="0"/>
          </a:p>
        </p:txBody>
      </p:sp>
      <p:sp>
        <p:nvSpPr>
          <p:cNvPr id="29" name="Arc 345"/>
          <p:cNvSpPr>
            <a:spLocks/>
          </p:cNvSpPr>
          <p:nvPr/>
        </p:nvSpPr>
        <p:spPr bwMode="auto">
          <a:xfrm rot="17895051" flipH="1">
            <a:off x="2824782" y="2715119"/>
            <a:ext cx="2260435" cy="1357244"/>
          </a:xfrm>
          <a:custGeom>
            <a:avLst/>
            <a:gdLst>
              <a:gd name="G0" fmla="+- 21600 0 0"/>
              <a:gd name="G1" fmla="+- 6719 0 0"/>
              <a:gd name="G2" fmla="+- 21600 0 0"/>
              <a:gd name="T0" fmla="*/ 13807 w 21600"/>
              <a:gd name="T1" fmla="*/ 26864 h 26864"/>
              <a:gd name="T2" fmla="*/ 1072 w 21600"/>
              <a:gd name="T3" fmla="*/ 0 h 26864"/>
              <a:gd name="T4" fmla="*/ 21600 w 21600"/>
              <a:gd name="T5" fmla="*/ 6719 h 26864"/>
            </a:gdLst>
            <a:ahLst/>
            <a:cxnLst>
              <a:cxn ang="0">
                <a:pos x="T0" y="T1"/>
              </a:cxn>
              <a:cxn ang="0">
                <a:pos x="T2" y="T3"/>
              </a:cxn>
              <a:cxn ang="0">
                <a:pos x="T4" y="T5"/>
              </a:cxn>
            </a:cxnLst>
            <a:rect l="0" t="0" r="r" b="b"/>
            <a:pathLst>
              <a:path w="21600" h="26864" fill="none" extrusionOk="0">
                <a:moveTo>
                  <a:pt x="13806" y="26864"/>
                </a:moveTo>
                <a:cubicBezTo>
                  <a:pt x="5485" y="23645"/>
                  <a:pt x="0" y="15641"/>
                  <a:pt x="0" y="6719"/>
                </a:cubicBezTo>
                <a:cubicBezTo>
                  <a:pt x="-1" y="4436"/>
                  <a:pt x="361" y="2168"/>
                  <a:pt x="1071" y="-1"/>
                </a:cubicBezTo>
              </a:path>
              <a:path w="21600" h="26864" stroke="0" extrusionOk="0">
                <a:moveTo>
                  <a:pt x="13806" y="26864"/>
                </a:moveTo>
                <a:cubicBezTo>
                  <a:pt x="5485" y="23645"/>
                  <a:pt x="0" y="15641"/>
                  <a:pt x="0" y="6719"/>
                </a:cubicBezTo>
                <a:cubicBezTo>
                  <a:pt x="-1" y="4436"/>
                  <a:pt x="361" y="2168"/>
                  <a:pt x="1071" y="-1"/>
                </a:cubicBezTo>
                <a:lnTo>
                  <a:pt x="21600" y="6719"/>
                </a:lnTo>
                <a:close/>
              </a:path>
            </a:pathLst>
          </a:custGeom>
          <a:noFill/>
          <a:ln w="63500" cap="rnd">
            <a:solidFill>
              <a:srgbClr val="CC0000"/>
            </a:solidFill>
            <a:prstDash val="sysDot"/>
            <a:round/>
            <a:headEnd type="triangle" w="med" len="med"/>
            <a:tailEnd type="triangle" w="med" len="med"/>
          </a:ln>
          <a:effectLst/>
        </p:spPr>
        <p:txBody>
          <a:bodyPr anchor="ctr"/>
          <a:lstStyle/>
          <a:p>
            <a:endParaRPr lang="fr-FR"/>
          </a:p>
        </p:txBody>
      </p:sp>
      <p:sp>
        <p:nvSpPr>
          <p:cNvPr id="31" name="Arc 345"/>
          <p:cNvSpPr>
            <a:spLocks/>
          </p:cNvSpPr>
          <p:nvPr/>
        </p:nvSpPr>
        <p:spPr bwMode="auto">
          <a:xfrm rot="8918299" flipH="1">
            <a:off x="1120673" y="2230209"/>
            <a:ext cx="2260435" cy="1357244"/>
          </a:xfrm>
          <a:custGeom>
            <a:avLst/>
            <a:gdLst>
              <a:gd name="G0" fmla="+- 21600 0 0"/>
              <a:gd name="G1" fmla="+- 6719 0 0"/>
              <a:gd name="G2" fmla="+- 21600 0 0"/>
              <a:gd name="T0" fmla="*/ 13807 w 21600"/>
              <a:gd name="T1" fmla="*/ 26864 h 26864"/>
              <a:gd name="T2" fmla="*/ 1072 w 21600"/>
              <a:gd name="T3" fmla="*/ 0 h 26864"/>
              <a:gd name="T4" fmla="*/ 21600 w 21600"/>
              <a:gd name="T5" fmla="*/ 6719 h 26864"/>
            </a:gdLst>
            <a:ahLst/>
            <a:cxnLst>
              <a:cxn ang="0">
                <a:pos x="T0" y="T1"/>
              </a:cxn>
              <a:cxn ang="0">
                <a:pos x="T2" y="T3"/>
              </a:cxn>
              <a:cxn ang="0">
                <a:pos x="T4" y="T5"/>
              </a:cxn>
            </a:cxnLst>
            <a:rect l="0" t="0" r="r" b="b"/>
            <a:pathLst>
              <a:path w="21600" h="26864" fill="none" extrusionOk="0">
                <a:moveTo>
                  <a:pt x="13806" y="26864"/>
                </a:moveTo>
                <a:cubicBezTo>
                  <a:pt x="5485" y="23645"/>
                  <a:pt x="0" y="15641"/>
                  <a:pt x="0" y="6719"/>
                </a:cubicBezTo>
                <a:cubicBezTo>
                  <a:pt x="-1" y="4436"/>
                  <a:pt x="361" y="2168"/>
                  <a:pt x="1071" y="-1"/>
                </a:cubicBezTo>
              </a:path>
              <a:path w="21600" h="26864" stroke="0" extrusionOk="0">
                <a:moveTo>
                  <a:pt x="13806" y="26864"/>
                </a:moveTo>
                <a:cubicBezTo>
                  <a:pt x="5485" y="23645"/>
                  <a:pt x="0" y="15641"/>
                  <a:pt x="0" y="6719"/>
                </a:cubicBezTo>
                <a:cubicBezTo>
                  <a:pt x="-1" y="4436"/>
                  <a:pt x="361" y="2168"/>
                  <a:pt x="1071" y="-1"/>
                </a:cubicBezTo>
                <a:lnTo>
                  <a:pt x="21600" y="6719"/>
                </a:lnTo>
                <a:close/>
              </a:path>
            </a:pathLst>
          </a:custGeom>
          <a:noFill/>
          <a:ln w="63500" cap="rnd">
            <a:solidFill>
              <a:srgbClr val="CC0000"/>
            </a:solidFill>
            <a:prstDash val="sysDot"/>
            <a:round/>
            <a:headEnd type="triangle" w="med" len="med"/>
            <a:tailEnd type="triangle" w="med" len="med"/>
          </a:ln>
          <a:effectLst/>
        </p:spPr>
        <p:txBody>
          <a:bodyPr anchor="ctr"/>
          <a:lstStyle/>
          <a:p>
            <a:endParaRPr lang="fr-FR"/>
          </a:p>
        </p:txBody>
      </p:sp>
      <p:sp>
        <p:nvSpPr>
          <p:cNvPr id="32" name="Arc 345"/>
          <p:cNvSpPr>
            <a:spLocks/>
          </p:cNvSpPr>
          <p:nvPr/>
        </p:nvSpPr>
        <p:spPr bwMode="auto">
          <a:xfrm rot="16890607" flipH="1">
            <a:off x="4555725" y="1519071"/>
            <a:ext cx="2108451" cy="3598794"/>
          </a:xfrm>
          <a:custGeom>
            <a:avLst/>
            <a:gdLst>
              <a:gd name="G0" fmla="+- 21600 0 0"/>
              <a:gd name="G1" fmla="+- 6719 0 0"/>
              <a:gd name="G2" fmla="+- 21600 0 0"/>
              <a:gd name="T0" fmla="*/ 13807 w 21600"/>
              <a:gd name="T1" fmla="*/ 26864 h 26864"/>
              <a:gd name="T2" fmla="*/ 1072 w 21600"/>
              <a:gd name="T3" fmla="*/ 0 h 26864"/>
              <a:gd name="T4" fmla="*/ 21600 w 21600"/>
              <a:gd name="T5" fmla="*/ 6719 h 26864"/>
            </a:gdLst>
            <a:ahLst/>
            <a:cxnLst>
              <a:cxn ang="0">
                <a:pos x="T0" y="T1"/>
              </a:cxn>
              <a:cxn ang="0">
                <a:pos x="T2" y="T3"/>
              </a:cxn>
              <a:cxn ang="0">
                <a:pos x="T4" y="T5"/>
              </a:cxn>
            </a:cxnLst>
            <a:rect l="0" t="0" r="r" b="b"/>
            <a:pathLst>
              <a:path w="21600" h="26864" fill="none" extrusionOk="0">
                <a:moveTo>
                  <a:pt x="13806" y="26864"/>
                </a:moveTo>
                <a:cubicBezTo>
                  <a:pt x="5485" y="23645"/>
                  <a:pt x="0" y="15641"/>
                  <a:pt x="0" y="6719"/>
                </a:cubicBezTo>
                <a:cubicBezTo>
                  <a:pt x="-1" y="4436"/>
                  <a:pt x="361" y="2168"/>
                  <a:pt x="1071" y="-1"/>
                </a:cubicBezTo>
              </a:path>
              <a:path w="21600" h="26864" stroke="0" extrusionOk="0">
                <a:moveTo>
                  <a:pt x="13806" y="26864"/>
                </a:moveTo>
                <a:cubicBezTo>
                  <a:pt x="5485" y="23645"/>
                  <a:pt x="0" y="15641"/>
                  <a:pt x="0" y="6719"/>
                </a:cubicBezTo>
                <a:cubicBezTo>
                  <a:pt x="-1" y="4436"/>
                  <a:pt x="361" y="2168"/>
                  <a:pt x="1071" y="-1"/>
                </a:cubicBezTo>
                <a:lnTo>
                  <a:pt x="21600" y="6719"/>
                </a:lnTo>
                <a:close/>
              </a:path>
            </a:pathLst>
          </a:custGeom>
          <a:noFill/>
          <a:ln w="63500" cap="rnd">
            <a:solidFill>
              <a:srgbClr val="CC0000"/>
            </a:solidFill>
            <a:prstDash val="sysDot"/>
            <a:round/>
            <a:headEnd type="triangle" w="med" len="med"/>
            <a:tailEnd type="triangle" w="med" len="med"/>
          </a:ln>
          <a:effectLst/>
        </p:spPr>
        <p:txBody>
          <a:bodyPr anchor="ctr"/>
          <a:lstStyle/>
          <a:p>
            <a:endParaRPr lang="fr-FR"/>
          </a:p>
        </p:txBody>
      </p:sp>
      <p:sp>
        <p:nvSpPr>
          <p:cNvPr id="33" name="Rectangle 32"/>
          <p:cNvSpPr/>
          <p:nvPr/>
        </p:nvSpPr>
        <p:spPr>
          <a:xfrm>
            <a:off x="0" y="5444850"/>
            <a:ext cx="9144000" cy="1288366"/>
          </a:xfrm>
          <a:prstGeom prst="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wrap="square">
            <a:spAutoFit/>
          </a:bodyPr>
          <a:lstStyle/>
          <a:p>
            <a:pPr algn="l">
              <a:lnSpc>
                <a:spcPct val="150000"/>
              </a:lnSpc>
              <a:buFont typeface="Wingdings" pitchFamily="2" charset="2"/>
              <a:buChar char="q"/>
            </a:pPr>
            <a:r>
              <a:rPr lang="fr-FR" dirty="0">
                <a:solidFill>
                  <a:schemeClr val="tx1"/>
                </a:solidFill>
              </a:rPr>
              <a:t>Chaque forêt possède un seul contrôleur de schéma. Cela permet d’éviter </a:t>
            </a:r>
            <a:r>
              <a:rPr lang="fr-FR" dirty="0" smtClean="0">
                <a:solidFill>
                  <a:schemeClr val="tx1"/>
                </a:solidFill>
              </a:rPr>
              <a:t>les conflits des </a:t>
            </a:r>
            <a:r>
              <a:rPr lang="fr-FR" dirty="0">
                <a:solidFill>
                  <a:schemeClr val="tx1"/>
                </a:solidFill>
              </a:rPr>
              <a:t>tentatives de mise à jour simultanées du </a:t>
            </a:r>
            <a:r>
              <a:rPr lang="fr-FR" dirty="0" smtClean="0">
                <a:solidFill>
                  <a:schemeClr val="tx1"/>
                </a:solidFill>
              </a:rPr>
              <a:t>schéma par </a:t>
            </a:r>
            <a:r>
              <a:rPr lang="fr-FR" dirty="0">
                <a:solidFill>
                  <a:schemeClr val="tx1"/>
                </a:solidFill>
              </a:rPr>
              <a:t>plusieurs </a:t>
            </a:r>
            <a:r>
              <a:rPr lang="fr-FR" dirty="0" smtClean="0">
                <a:solidFill>
                  <a:schemeClr val="tx1"/>
                </a:solidFill>
              </a:rPr>
              <a:t>DC. </a:t>
            </a:r>
          </a:p>
        </p:txBody>
      </p:sp>
      <p:sp>
        <p:nvSpPr>
          <p:cNvPr id="34" name="Rectangle 33"/>
          <p:cNvSpPr/>
          <p:nvPr/>
        </p:nvSpPr>
        <p:spPr>
          <a:xfrm>
            <a:off x="0" y="5694238"/>
            <a:ext cx="9144000" cy="923330"/>
          </a:xfrm>
          <a:prstGeom prst="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wrap="square">
            <a:spAutoFit/>
          </a:bodyPr>
          <a:lstStyle/>
          <a:p>
            <a:pPr algn="l">
              <a:lnSpc>
                <a:spcPct val="150000"/>
              </a:lnSpc>
              <a:buFont typeface="Wingdings" pitchFamily="2" charset="2"/>
              <a:buChar char="q"/>
            </a:pPr>
            <a:r>
              <a:rPr lang="fr-FR" dirty="0" smtClean="0">
                <a:solidFill>
                  <a:schemeClr val="tx1"/>
                </a:solidFill>
              </a:rPr>
              <a:t>Si </a:t>
            </a:r>
            <a:r>
              <a:rPr lang="fr-FR" dirty="0">
                <a:solidFill>
                  <a:schemeClr val="tx1"/>
                </a:solidFill>
              </a:rPr>
              <a:t>le contrôleur de schéma n’est </a:t>
            </a:r>
            <a:r>
              <a:rPr lang="fr-FR" dirty="0" smtClean="0">
                <a:solidFill>
                  <a:schemeClr val="tx1"/>
                </a:solidFill>
              </a:rPr>
              <a:t>pas disponible</a:t>
            </a:r>
            <a:r>
              <a:rPr lang="fr-FR" dirty="0">
                <a:solidFill>
                  <a:schemeClr val="tx1"/>
                </a:solidFill>
              </a:rPr>
              <a:t>, vous ne pouvez pas modifier le schéma ou installer des </a:t>
            </a:r>
            <a:r>
              <a:rPr lang="fr-FR" dirty="0" smtClean="0">
                <a:solidFill>
                  <a:schemeClr val="tx1"/>
                </a:solidFill>
              </a:rPr>
              <a:t>applications qui </a:t>
            </a:r>
            <a:r>
              <a:rPr lang="fr-FR" dirty="0">
                <a:solidFill>
                  <a:schemeClr val="tx1"/>
                </a:solidFill>
              </a:rPr>
              <a:t>le modifient.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up)">
                                      <p:cBhvr>
                                        <p:cTn id="7" dur="500"/>
                                        <p:tgtEl>
                                          <p:spTgt spid="31"/>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wipe(up)">
                                      <p:cBhvr>
                                        <p:cTn id="10" dur="500"/>
                                        <p:tgtEl>
                                          <p:spTgt spid="29"/>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wipe(up)">
                                      <p:cBhvr>
                                        <p:cTn id="13" dur="500"/>
                                        <p:tgtEl>
                                          <p:spTgt spid="32"/>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478553"/>
                                        </p:tgtEl>
                                        <p:attrNameLst>
                                          <p:attrName>style.visibility</p:attrName>
                                        </p:attrNameLst>
                                      </p:cBhvr>
                                      <p:to>
                                        <p:strVal val="visible"/>
                                      </p:to>
                                    </p:set>
                                    <p:animEffect transition="in" filter="wipe(up)">
                                      <p:cBhvr>
                                        <p:cTn id="16" dur="500"/>
                                        <p:tgtEl>
                                          <p:spTgt spid="478553"/>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478554"/>
                                        </p:tgtEl>
                                        <p:attrNameLst>
                                          <p:attrName>style.visibility</p:attrName>
                                        </p:attrNameLst>
                                      </p:cBhvr>
                                      <p:to>
                                        <p:strVal val="visible"/>
                                      </p:to>
                                    </p:set>
                                    <p:animEffect transition="in" filter="checkerboard(across)">
                                      <p:cBhvr>
                                        <p:cTn id="19" dur="500"/>
                                        <p:tgtEl>
                                          <p:spTgt spid="478554"/>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3"/>
                                        </p:tgtEl>
                                        <p:attrNameLst>
                                          <p:attrName>style.visibility</p:attrName>
                                        </p:attrNameLst>
                                      </p:cBhvr>
                                      <p:to>
                                        <p:strVal val="visible"/>
                                      </p:to>
                                    </p:set>
                                    <p:anim calcmode="lin" valueType="num">
                                      <p:cBhvr additive="base">
                                        <p:cTn id="24" dur="1000" fill="hold"/>
                                        <p:tgtEl>
                                          <p:spTgt spid="33"/>
                                        </p:tgtEl>
                                        <p:attrNameLst>
                                          <p:attrName>ppt_x</p:attrName>
                                        </p:attrNameLst>
                                      </p:cBhvr>
                                      <p:tavLst>
                                        <p:tav tm="0">
                                          <p:val>
                                            <p:strVal val="#ppt_x"/>
                                          </p:val>
                                        </p:tav>
                                        <p:tav tm="100000">
                                          <p:val>
                                            <p:strVal val="#ppt_x"/>
                                          </p:val>
                                        </p:tav>
                                      </p:tavLst>
                                    </p:anim>
                                    <p:anim calcmode="lin" valueType="num">
                                      <p:cBhvr additive="base">
                                        <p:cTn id="25" dur="10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4"/>
                                        </p:tgtEl>
                                        <p:attrNameLst>
                                          <p:attrName>style.visibility</p:attrName>
                                        </p:attrNameLst>
                                      </p:cBhvr>
                                      <p:to>
                                        <p:strVal val="visible"/>
                                      </p:to>
                                    </p:set>
                                    <p:anim calcmode="lin" valueType="num">
                                      <p:cBhvr additive="base">
                                        <p:cTn id="30" dur="1000" fill="hold"/>
                                        <p:tgtEl>
                                          <p:spTgt spid="34"/>
                                        </p:tgtEl>
                                        <p:attrNameLst>
                                          <p:attrName>ppt_x</p:attrName>
                                        </p:attrNameLst>
                                      </p:cBhvr>
                                      <p:tavLst>
                                        <p:tav tm="0">
                                          <p:val>
                                            <p:strVal val="#ppt_x"/>
                                          </p:val>
                                        </p:tav>
                                        <p:tav tm="100000">
                                          <p:val>
                                            <p:strVal val="#ppt_x"/>
                                          </p:val>
                                        </p:tav>
                                      </p:tavLst>
                                    </p:anim>
                                    <p:anim calcmode="lin" valueType="num">
                                      <p:cBhvr additive="base">
                                        <p:cTn id="31" dur="1000" fill="hold"/>
                                        <p:tgtEl>
                                          <p:spTgt spid="34"/>
                                        </p:tgtEl>
                                        <p:attrNameLst>
                                          <p:attrName>ppt_y</p:attrName>
                                        </p:attrNameLst>
                                      </p:cBhvr>
                                      <p:tavLst>
                                        <p:tav tm="0">
                                          <p:val>
                                            <p:strVal val="1+#ppt_h/2"/>
                                          </p:val>
                                        </p:tav>
                                        <p:tav tm="100000">
                                          <p:val>
                                            <p:strVal val="#ppt_y"/>
                                          </p:val>
                                        </p:tav>
                                      </p:tavLst>
                                    </p:anim>
                                  </p:childTnLst>
                                </p:cTn>
                              </p:par>
                              <p:par>
                                <p:cTn id="32" presetID="5" presetClass="exit" presetSubtype="10" fill="hold" grpId="1" nodeType="withEffect">
                                  <p:stCondLst>
                                    <p:cond delay="0"/>
                                  </p:stCondLst>
                                  <p:childTnLst>
                                    <p:animEffect transition="out" filter="checkerboard(across)">
                                      <p:cBhvr>
                                        <p:cTn id="33" dur="500"/>
                                        <p:tgtEl>
                                          <p:spTgt spid="33"/>
                                        </p:tgtEl>
                                      </p:cBhvr>
                                    </p:animEffect>
                                    <p:set>
                                      <p:cBhvr>
                                        <p:cTn id="34" dur="1" fill="hold">
                                          <p:stCondLst>
                                            <p:cond delay="499"/>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553" grpId="0" animBg="1"/>
      <p:bldP spid="478554" grpId="0" animBg="1"/>
      <p:bldP spid="29" grpId="0" animBg="1"/>
      <p:bldP spid="31" grpId="0" animBg="1"/>
      <p:bldP spid="32" grpId="0" animBg="1"/>
      <p:bldP spid="33" grpId="0" animBg="1"/>
      <p:bldP spid="33" grpId="1" animBg="1"/>
      <p:bldP spid="3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a:xfrm>
            <a:off x="187037" y="320242"/>
            <a:ext cx="8790708" cy="684212"/>
          </a:xfrm>
        </p:spPr>
        <p:txBody>
          <a:bodyPr>
            <a:noAutofit/>
          </a:bodyPr>
          <a:lstStyle/>
          <a:p>
            <a:r>
              <a:rPr lang="fr-FR" sz="2600" b="1" dirty="0">
                <a:solidFill>
                  <a:srgbClr val="C00000"/>
                </a:solidFill>
              </a:rPr>
              <a:t>Définition d'un maître d'attribution de noms de domaine</a:t>
            </a:r>
            <a:endParaRPr lang="en-US" sz="2600" b="1" dirty="0">
              <a:solidFill>
                <a:srgbClr val="C00000"/>
              </a:solidFill>
            </a:endParaRPr>
          </a:p>
        </p:txBody>
      </p:sp>
      <p:sp>
        <p:nvSpPr>
          <p:cNvPr id="482307" name="Rectangle 3"/>
          <p:cNvSpPr>
            <a:spLocks noChangeArrowheads="1"/>
          </p:cNvSpPr>
          <p:nvPr/>
        </p:nvSpPr>
        <p:spPr bwMode="auto">
          <a:xfrm>
            <a:off x="1050925" y="1320800"/>
            <a:ext cx="7026275" cy="1785938"/>
          </a:xfrm>
          <a:prstGeom prst="rect">
            <a:avLst/>
          </a:prstGeom>
          <a:noFill/>
          <a:ln w="9525">
            <a:noFill/>
            <a:miter lim="800000"/>
            <a:headEnd/>
            <a:tailEnd/>
          </a:ln>
          <a:effectLst/>
        </p:spPr>
        <p:txBody>
          <a:bodyPr lIns="0" tIns="0" rIns="0" bIns="0"/>
          <a:lstStyle/>
          <a:p>
            <a:pPr marL="342900" indent="-342900" algn="l">
              <a:lnSpc>
                <a:spcPct val="90000"/>
              </a:lnSpc>
              <a:spcBef>
                <a:spcPct val="40000"/>
              </a:spcBef>
              <a:buClr>
                <a:srgbClr val="D60093"/>
              </a:buClr>
              <a:buSzPct val="70000"/>
              <a:buFont typeface="Wingdings" pitchFamily="2" charset="2"/>
              <a:buBlip>
                <a:blip r:embed="rId10"/>
              </a:buBlip>
            </a:pPr>
            <a:endParaRPr lang="fr-FR" sz="2400"/>
          </a:p>
        </p:txBody>
      </p:sp>
      <p:sp>
        <p:nvSpPr>
          <p:cNvPr id="482381" name="Rectangle 77"/>
          <p:cNvSpPr>
            <a:spLocks noChangeArrowheads="1"/>
          </p:cNvSpPr>
          <p:nvPr>
            <p:custDataLst>
              <p:tags r:id="rId1"/>
            </p:custDataLst>
          </p:nvPr>
        </p:nvSpPr>
        <p:spPr bwMode="auto">
          <a:xfrm>
            <a:off x="990600" y="1244600"/>
            <a:ext cx="7105650" cy="1852613"/>
          </a:xfrm>
          <a:prstGeom prst="rect">
            <a:avLst/>
          </a:prstGeom>
          <a:noFill/>
          <a:ln w="9525">
            <a:noFill/>
            <a:miter lim="800000"/>
            <a:headEnd/>
            <a:tailEnd/>
          </a:ln>
          <a:effectLst/>
        </p:spPr>
        <p:txBody>
          <a:bodyPr lIns="0" tIns="0" rIns="0" bIns="0"/>
          <a:lstStyle/>
          <a:p>
            <a:pPr marL="342900" indent="-342900" algn="l">
              <a:spcBef>
                <a:spcPct val="40000"/>
              </a:spcBef>
              <a:buClr>
                <a:srgbClr val="D60093"/>
              </a:buClr>
              <a:buSzPct val="70000"/>
              <a:buFont typeface="Wingdings" pitchFamily="2" charset="2"/>
              <a:buBlip>
                <a:blip r:embed="rId10"/>
              </a:buBlip>
            </a:pPr>
            <a:endParaRPr lang="en-US" sz="2000"/>
          </a:p>
          <a:p>
            <a:pPr marL="342900" indent="-342900" algn="l">
              <a:spcBef>
                <a:spcPct val="40000"/>
              </a:spcBef>
              <a:buClr>
                <a:srgbClr val="D60093"/>
              </a:buClr>
              <a:buSzPct val="70000"/>
              <a:buFont typeface="Wingdings" pitchFamily="2" charset="2"/>
              <a:buBlip>
                <a:blip r:embed="rId10"/>
              </a:buBlip>
            </a:pPr>
            <a:endParaRPr lang="en-US" sz="2000"/>
          </a:p>
          <a:p>
            <a:pPr marL="342900" indent="-342900" algn="l">
              <a:spcBef>
                <a:spcPct val="40000"/>
              </a:spcBef>
              <a:buClr>
                <a:srgbClr val="D60093"/>
              </a:buClr>
              <a:buSzPct val="70000"/>
              <a:buFont typeface="Wingdings" pitchFamily="2" charset="2"/>
              <a:buBlip>
                <a:blip r:embed="rId10"/>
              </a:buBlip>
            </a:pPr>
            <a:endParaRPr lang="en-US" sz="2000"/>
          </a:p>
        </p:txBody>
      </p:sp>
      <p:sp>
        <p:nvSpPr>
          <p:cNvPr id="482382" name="AutoShape 78"/>
          <p:cNvSpPr>
            <a:spLocks noChangeArrowheads="1"/>
          </p:cNvSpPr>
          <p:nvPr/>
        </p:nvSpPr>
        <p:spPr bwMode="auto">
          <a:xfrm>
            <a:off x="55420" y="3643751"/>
            <a:ext cx="8963891" cy="3075708"/>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anchor="ctr"/>
          <a:lstStyle/>
          <a:p>
            <a:pPr algn="l">
              <a:buFont typeface="Wingdings" pitchFamily="2" charset="2"/>
              <a:buChar char="q"/>
            </a:pPr>
            <a:r>
              <a:rPr lang="fr-FR" sz="2200" dirty="0">
                <a:solidFill>
                  <a:srgbClr val="000000"/>
                </a:solidFill>
              </a:rPr>
              <a:t>Il contrôle l'ajout ou la suppression de domaines dans la </a:t>
            </a:r>
            <a:r>
              <a:rPr lang="fr-FR" sz="2200" dirty="0" smtClean="0">
                <a:solidFill>
                  <a:srgbClr val="000000"/>
                </a:solidFill>
              </a:rPr>
              <a:t>forêt</a:t>
            </a:r>
          </a:p>
          <a:p>
            <a:pPr algn="l">
              <a:buFont typeface="Wingdings" pitchFamily="2" charset="2"/>
              <a:buChar char="q"/>
            </a:pPr>
            <a:r>
              <a:rPr lang="fr-FR" sz="2200" dirty="0" smtClean="0">
                <a:solidFill>
                  <a:srgbClr val="000000"/>
                </a:solidFill>
              </a:rPr>
              <a:t>Un seul </a:t>
            </a:r>
            <a:r>
              <a:rPr lang="fr-FR" sz="2200" dirty="0" smtClean="0"/>
              <a:t>maître </a:t>
            </a:r>
            <a:r>
              <a:rPr lang="fr-FR" sz="2200" dirty="0"/>
              <a:t>d’attribution de noms </a:t>
            </a:r>
            <a:r>
              <a:rPr lang="fr-FR" sz="2200" dirty="0" smtClean="0"/>
              <a:t>de domaine </a:t>
            </a:r>
            <a:r>
              <a:rPr lang="fr-FR" sz="2200" dirty="0"/>
              <a:t>dans chaque </a:t>
            </a:r>
            <a:r>
              <a:rPr lang="fr-FR" sz="2200" dirty="0" smtClean="0"/>
              <a:t>forêt</a:t>
            </a:r>
          </a:p>
          <a:p>
            <a:pPr algn="l">
              <a:buFont typeface="Wingdings" pitchFamily="2" charset="2"/>
              <a:buChar char="q"/>
            </a:pPr>
            <a:r>
              <a:rPr lang="fr-FR" sz="2200" dirty="0" smtClean="0"/>
              <a:t> Il empêche que plusieurs </a:t>
            </a:r>
            <a:r>
              <a:rPr lang="fr-FR" sz="2200" dirty="0"/>
              <a:t>domaines portant le même nom soient ajoutés à la </a:t>
            </a:r>
            <a:r>
              <a:rPr lang="fr-FR" sz="2200" dirty="0" smtClean="0"/>
              <a:t>forêt</a:t>
            </a:r>
          </a:p>
          <a:p>
            <a:pPr algn="l">
              <a:buFont typeface="Wingdings" pitchFamily="2" charset="2"/>
              <a:buChar char="q"/>
            </a:pPr>
            <a:r>
              <a:rPr lang="fr-FR" sz="2200" dirty="0" smtClean="0"/>
              <a:t>S’il est </a:t>
            </a:r>
            <a:r>
              <a:rPr lang="fr-FR" sz="2200" dirty="0"/>
              <a:t>indisponible</a:t>
            </a:r>
            <a:r>
              <a:rPr lang="fr-FR" sz="2200" dirty="0" smtClean="0"/>
              <a:t>, vous </a:t>
            </a:r>
            <a:r>
              <a:rPr lang="fr-FR" sz="2200" dirty="0"/>
              <a:t>n’avez pas la possibilité d’ajouter ni de supprimer des </a:t>
            </a:r>
            <a:r>
              <a:rPr lang="fr-FR" sz="2200" dirty="0" smtClean="0"/>
              <a:t>domaines</a:t>
            </a:r>
            <a:endParaRPr lang="fr-FR" sz="2200" dirty="0" smtClean="0">
              <a:solidFill>
                <a:srgbClr val="000000"/>
              </a:solidFill>
            </a:endParaRPr>
          </a:p>
          <a:p>
            <a:pPr algn="l">
              <a:buFont typeface="Wingdings" pitchFamily="2" charset="2"/>
              <a:buChar char="q"/>
            </a:pPr>
            <a:endParaRPr lang="en-US" sz="2200" dirty="0"/>
          </a:p>
        </p:txBody>
      </p:sp>
      <p:grpSp>
        <p:nvGrpSpPr>
          <p:cNvPr id="482401" name="Group 95"/>
          <p:cNvGrpSpPr>
            <a:grpSpLocks/>
          </p:cNvGrpSpPr>
          <p:nvPr>
            <p:custDataLst>
              <p:tags r:id="rId2"/>
            </p:custDataLst>
          </p:nvPr>
        </p:nvGrpSpPr>
        <p:grpSpPr bwMode="auto">
          <a:xfrm>
            <a:off x="2186268" y="1229540"/>
            <a:ext cx="2457450" cy="2189163"/>
            <a:chOff x="1543" y="1752"/>
            <a:chExt cx="1548" cy="1379"/>
          </a:xfrm>
        </p:grpSpPr>
        <p:pic>
          <p:nvPicPr>
            <p:cNvPr id="482392" name="Picture 88" descr="2Domain01"/>
            <p:cNvPicPr>
              <a:picLocks noChangeAspect="1" noChangeArrowheads="1"/>
            </p:cNvPicPr>
            <p:nvPr>
              <p:custDataLst>
                <p:tags r:id="rId5"/>
              </p:custDataLst>
            </p:nvPr>
          </p:nvPicPr>
          <p:blipFill>
            <a:blip r:embed="rId11"/>
            <a:srcRect/>
            <a:stretch>
              <a:fillRect/>
            </a:stretch>
          </p:blipFill>
          <p:spPr bwMode="auto">
            <a:xfrm>
              <a:off x="1543" y="1752"/>
              <a:ext cx="1537" cy="1379"/>
            </a:xfrm>
            <a:prstGeom prst="rect">
              <a:avLst/>
            </a:prstGeom>
            <a:noFill/>
          </p:spPr>
        </p:pic>
        <p:pic>
          <p:nvPicPr>
            <p:cNvPr id="482393" name="Picture 89" descr="Server01"/>
            <p:cNvPicPr>
              <a:picLocks noChangeAspect="1" noChangeArrowheads="1"/>
            </p:cNvPicPr>
            <p:nvPr>
              <p:custDataLst>
                <p:tags r:id="rId6"/>
              </p:custDataLst>
            </p:nvPr>
          </p:nvPicPr>
          <p:blipFill>
            <a:blip r:embed="rId12"/>
            <a:srcRect/>
            <a:stretch>
              <a:fillRect/>
            </a:stretch>
          </p:blipFill>
          <p:spPr bwMode="auto">
            <a:xfrm>
              <a:off x="1764" y="1943"/>
              <a:ext cx="930" cy="1093"/>
            </a:xfrm>
            <a:prstGeom prst="rect">
              <a:avLst/>
            </a:prstGeom>
            <a:noFill/>
          </p:spPr>
        </p:pic>
        <p:pic>
          <p:nvPicPr>
            <p:cNvPr id="482394" name="Picture 90" descr="ActiveDirectory01"/>
            <p:cNvPicPr>
              <a:picLocks noChangeAspect="1" noChangeArrowheads="1"/>
            </p:cNvPicPr>
            <p:nvPr>
              <p:custDataLst>
                <p:tags r:id="rId7"/>
              </p:custDataLst>
            </p:nvPr>
          </p:nvPicPr>
          <p:blipFill>
            <a:blip r:embed="rId13" cstate="print"/>
            <a:srcRect/>
            <a:stretch>
              <a:fillRect/>
            </a:stretch>
          </p:blipFill>
          <p:spPr bwMode="auto">
            <a:xfrm>
              <a:off x="2318" y="2407"/>
              <a:ext cx="773" cy="507"/>
            </a:xfrm>
            <a:prstGeom prst="rect">
              <a:avLst/>
            </a:prstGeom>
            <a:noFill/>
          </p:spPr>
        </p:pic>
      </p:grpSp>
      <p:pic>
        <p:nvPicPr>
          <p:cNvPr id="482395" name="Picture 91" descr="Domain01"/>
          <p:cNvPicPr>
            <a:picLocks noChangeAspect="1" noChangeArrowheads="1"/>
          </p:cNvPicPr>
          <p:nvPr>
            <p:custDataLst>
              <p:tags r:id="rId3"/>
            </p:custDataLst>
          </p:nvPr>
        </p:nvPicPr>
        <p:blipFill>
          <a:blip r:embed="rId14"/>
          <a:srcRect/>
          <a:stretch>
            <a:fillRect/>
          </a:stretch>
        </p:blipFill>
        <p:spPr bwMode="auto">
          <a:xfrm>
            <a:off x="5537923" y="1357665"/>
            <a:ext cx="1808162" cy="1990725"/>
          </a:xfrm>
          <a:prstGeom prst="rect">
            <a:avLst/>
          </a:prstGeom>
          <a:noFill/>
        </p:spPr>
      </p:pic>
      <p:sp>
        <p:nvSpPr>
          <p:cNvPr id="482396" name="Freeform 92"/>
          <p:cNvSpPr>
            <a:spLocks/>
          </p:cNvSpPr>
          <p:nvPr>
            <p:custDataLst>
              <p:tags r:id="rId4"/>
            </p:custDataLst>
          </p:nvPr>
        </p:nvSpPr>
        <p:spPr bwMode="auto">
          <a:xfrm>
            <a:off x="3920837" y="1634818"/>
            <a:ext cx="1856508" cy="1025236"/>
          </a:xfrm>
          <a:custGeom>
            <a:avLst/>
            <a:gdLst/>
            <a:ahLst/>
            <a:cxnLst>
              <a:cxn ang="0">
                <a:pos x="2128" y="1453"/>
              </a:cxn>
              <a:cxn ang="0">
                <a:pos x="2053" y="1318"/>
              </a:cxn>
              <a:cxn ang="0">
                <a:pos x="1972" y="1188"/>
              </a:cxn>
              <a:cxn ang="0">
                <a:pos x="1890" y="1063"/>
              </a:cxn>
              <a:cxn ang="0">
                <a:pos x="1801" y="944"/>
              </a:cxn>
              <a:cxn ang="0">
                <a:pos x="1709" y="833"/>
              </a:cxn>
              <a:cxn ang="0">
                <a:pos x="1613" y="726"/>
              </a:cxn>
              <a:cxn ang="0">
                <a:pos x="1513" y="628"/>
              </a:cxn>
              <a:cxn ang="0">
                <a:pos x="1406" y="536"/>
              </a:cxn>
              <a:cxn ang="0">
                <a:pos x="1296" y="453"/>
              </a:cxn>
              <a:cxn ang="0">
                <a:pos x="1179" y="378"/>
              </a:cxn>
              <a:cxn ang="0">
                <a:pos x="1056" y="311"/>
              </a:cxn>
              <a:cxn ang="0">
                <a:pos x="928" y="256"/>
              </a:cxn>
              <a:cxn ang="0">
                <a:pos x="791" y="208"/>
              </a:cxn>
              <a:cxn ang="0">
                <a:pos x="651" y="171"/>
              </a:cxn>
              <a:cxn ang="0">
                <a:pos x="502" y="144"/>
              </a:cxn>
              <a:cxn ang="0">
                <a:pos x="469" y="0"/>
              </a:cxn>
              <a:cxn ang="0">
                <a:pos x="382" y="541"/>
              </a:cxn>
              <a:cxn ang="0">
                <a:pos x="450" y="388"/>
              </a:cxn>
              <a:cxn ang="0">
                <a:pos x="580" y="401"/>
              </a:cxn>
              <a:cxn ang="0">
                <a:pos x="709" y="422"/>
              </a:cxn>
              <a:cxn ang="0">
                <a:pos x="834" y="455"/>
              </a:cxn>
              <a:cxn ang="0">
                <a:pos x="957" y="495"/>
              </a:cxn>
              <a:cxn ang="0">
                <a:pos x="1076" y="545"/>
              </a:cxn>
              <a:cxn ang="0">
                <a:pos x="1191" y="605"/>
              </a:cxn>
              <a:cxn ang="0">
                <a:pos x="1304" y="670"/>
              </a:cxn>
              <a:cxn ang="0">
                <a:pos x="1415" y="745"/>
              </a:cxn>
              <a:cxn ang="0">
                <a:pos x="1523" y="827"/>
              </a:cxn>
              <a:cxn ang="0">
                <a:pos x="1628" y="915"/>
              </a:cxn>
              <a:cxn ang="0">
                <a:pos x="1732" y="1013"/>
              </a:cxn>
              <a:cxn ang="0">
                <a:pos x="1832" y="1115"/>
              </a:cxn>
              <a:cxn ang="0">
                <a:pos x="1930" y="1224"/>
              </a:cxn>
              <a:cxn ang="0">
                <a:pos x="2026" y="1339"/>
              </a:cxn>
              <a:cxn ang="0">
                <a:pos x="2120" y="1460"/>
              </a:cxn>
            </a:cxnLst>
            <a:rect l="0" t="0" r="r" b="b"/>
            <a:pathLst>
              <a:path w="2166" h="1522">
                <a:moveTo>
                  <a:pt x="2166" y="1522"/>
                </a:moveTo>
                <a:lnTo>
                  <a:pt x="2128" y="1453"/>
                </a:lnTo>
                <a:lnTo>
                  <a:pt x="2091" y="1385"/>
                </a:lnTo>
                <a:lnTo>
                  <a:pt x="2053" y="1318"/>
                </a:lnTo>
                <a:lnTo>
                  <a:pt x="2012" y="1253"/>
                </a:lnTo>
                <a:lnTo>
                  <a:pt x="1972" y="1188"/>
                </a:lnTo>
                <a:lnTo>
                  <a:pt x="1932" y="1125"/>
                </a:lnTo>
                <a:lnTo>
                  <a:pt x="1890" y="1063"/>
                </a:lnTo>
                <a:lnTo>
                  <a:pt x="1845" y="1004"/>
                </a:lnTo>
                <a:lnTo>
                  <a:pt x="1801" y="944"/>
                </a:lnTo>
                <a:lnTo>
                  <a:pt x="1755" y="889"/>
                </a:lnTo>
                <a:lnTo>
                  <a:pt x="1709" y="833"/>
                </a:lnTo>
                <a:lnTo>
                  <a:pt x="1663" y="779"/>
                </a:lnTo>
                <a:lnTo>
                  <a:pt x="1613" y="726"/>
                </a:lnTo>
                <a:lnTo>
                  <a:pt x="1563" y="676"/>
                </a:lnTo>
                <a:lnTo>
                  <a:pt x="1513" y="628"/>
                </a:lnTo>
                <a:lnTo>
                  <a:pt x="1460" y="582"/>
                </a:lnTo>
                <a:lnTo>
                  <a:pt x="1406" y="536"/>
                </a:lnTo>
                <a:lnTo>
                  <a:pt x="1352" y="493"/>
                </a:lnTo>
                <a:lnTo>
                  <a:pt x="1296" y="453"/>
                </a:lnTo>
                <a:lnTo>
                  <a:pt x="1237" y="415"/>
                </a:lnTo>
                <a:lnTo>
                  <a:pt x="1179" y="378"/>
                </a:lnTo>
                <a:lnTo>
                  <a:pt x="1118" y="344"/>
                </a:lnTo>
                <a:lnTo>
                  <a:pt x="1056" y="311"/>
                </a:lnTo>
                <a:lnTo>
                  <a:pt x="993" y="282"/>
                </a:lnTo>
                <a:lnTo>
                  <a:pt x="928" y="256"/>
                </a:lnTo>
                <a:lnTo>
                  <a:pt x="861" y="231"/>
                </a:lnTo>
                <a:lnTo>
                  <a:pt x="791" y="208"/>
                </a:lnTo>
                <a:lnTo>
                  <a:pt x="722" y="188"/>
                </a:lnTo>
                <a:lnTo>
                  <a:pt x="651" y="171"/>
                </a:lnTo>
                <a:lnTo>
                  <a:pt x="576" y="156"/>
                </a:lnTo>
                <a:lnTo>
                  <a:pt x="502" y="144"/>
                </a:lnTo>
                <a:lnTo>
                  <a:pt x="425" y="135"/>
                </a:lnTo>
                <a:lnTo>
                  <a:pt x="469" y="0"/>
                </a:lnTo>
                <a:lnTo>
                  <a:pt x="0" y="231"/>
                </a:lnTo>
                <a:lnTo>
                  <a:pt x="382" y="541"/>
                </a:lnTo>
                <a:lnTo>
                  <a:pt x="382" y="386"/>
                </a:lnTo>
                <a:lnTo>
                  <a:pt x="450" y="388"/>
                </a:lnTo>
                <a:lnTo>
                  <a:pt x="515" y="394"/>
                </a:lnTo>
                <a:lnTo>
                  <a:pt x="580" y="401"/>
                </a:lnTo>
                <a:lnTo>
                  <a:pt x="645" y="411"/>
                </a:lnTo>
                <a:lnTo>
                  <a:pt x="709" y="422"/>
                </a:lnTo>
                <a:lnTo>
                  <a:pt x="772" y="438"/>
                </a:lnTo>
                <a:lnTo>
                  <a:pt x="834" y="455"/>
                </a:lnTo>
                <a:lnTo>
                  <a:pt x="895" y="474"/>
                </a:lnTo>
                <a:lnTo>
                  <a:pt x="957" y="495"/>
                </a:lnTo>
                <a:lnTo>
                  <a:pt x="1016" y="520"/>
                </a:lnTo>
                <a:lnTo>
                  <a:pt x="1076" y="545"/>
                </a:lnTo>
                <a:lnTo>
                  <a:pt x="1133" y="574"/>
                </a:lnTo>
                <a:lnTo>
                  <a:pt x="1191" y="605"/>
                </a:lnTo>
                <a:lnTo>
                  <a:pt x="1248" y="635"/>
                </a:lnTo>
                <a:lnTo>
                  <a:pt x="1304" y="670"/>
                </a:lnTo>
                <a:lnTo>
                  <a:pt x="1360" y="706"/>
                </a:lnTo>
                <a:lnTo>
                  <a:pt x="1415" y="745"/>
                </a:lnTo>
                <a:lnTo>
                  <a:pt x="1469" y="785"/>
                </a:lnTo>
                <a:lnTo>
                  <a:pt x="1523" y="827"/>
                </a:lnTo>
                <a:lnTo>
                  <a:pt x="1577" y="871"/>
                </a:lnTo>
                <a:lnTo>
                  <a:pt x="1628" y="915"/>
                </a:lnTo>
                <a:lnTo>
                  <a:pt x="1680" y="963"/>
                </a:lnTo>
                <a:lnTo>
                  <a:pt x="1732" y="1013"/>
                </a:lnTo>
                <a:lnTo>
                  <a:pt x="1782" y="1063"/>
                </a:lnTo>
                <a:lnTo>
                  <a:pt x="1832" y="1115"/>
                </a:lnTo>
                <a:lnTo>
                  <a:pt x="1882" y="1169"/>
                </a:lnTo>
                <a:lnTo>
                  <a:pt x="1930" y="1224"/>
                </a:lnTo>
                <a:lnTo>
                  <a:pt x="1978" y="1282"/>
                </a:lnTo>
                <a:lnTo>
                  <a:pt x="2026" y="1339"/>
                </a:lnTo>
                <a:lnTo>
                  <a:pt x="2072" y="1399"/>
                </a:lnTo>
                <a:lnTo>
                  <a:pt x="2120" y="1460"/>
                </a:lnTo>
                <a:lnTo>
                  <a:pt x="2166" y="1522"/>
                </a:lnTo>
              </a:path>
            </a:pathLst>
          </a:custGeom>
          <a:solidFill>
            <a:srgbClr val="FF0000">
              <a:alpha val="75000"/>
            </a:srgbClr>
          </a:solidFill>
          <a:ln w="9525" cap="flat" cmpd="sng">
            <a:noFill/>
            <a:prstDash val="solid"/>
            <a:miter lim="800000"/>
            <a:headEnd type="none" w="med" len="med"/>
            <a:tailEnd type="none" w="med" len="med"/>
          </a:ln>
          <a:effectLst/>
        </p:spPr>
        <p:txBody>
          <a:bodyPr wrap="none" anchor="ctr"/>
          <a:lstStyle/>
          <a:p>
            <a:endParaRPr lang="fr-FR"/>
          </a:p>
        </p:txBody>
      </p:sp>
      <p:sp>
        <p:nvSpPr>
          <p:cNvPr id="482397" name="Text Box 93"/>
          <p:cNvSpPr txBox="1">
            <a:spLocks noChangeArrowheads="1"/>
          </p:cNvSpPr>
          <p:nvPr/>
        </p:nvSpPr>
        <p:spPr bwMode="auto">
          <a:xfrm>
            <a:off x="5799273" y="2210017"/>
            <a:ext cx="1028700" cy="641350"/>
          </a:xfrm>
          <a:prstGeom prst="rect">
            <a:avLst/>
          </a:prstGeom>
          <a:noFill/>
          <a:ln w="9525" algn="ctr">
            <a:noFill/>
            <a:miter lim="800000"/>
            <a:headEnd/>
            <a:tailEnd/>
          </a:ln>
          <a:effectLst/>
        </p:spPr>
        <p:txBody>
          <a:bodyPr wrap="none">
            <a:spAutoFit/>
          </a:bodyPr>
          <a:lstStyle/>
          <a:p>
            <a:r>
              <a:rPr lang="fr-FR" dirty="0">
                <a:solidFill>
                  <a:srgbClr val="000000"/>
                </a:solidFill>
              </a:rPr>
              <a:t>Nouveau </a:t>
            </a:r>
            <a:br>
              <a:rPr lang="fr-FR" dirty="0">
                <a:solidFill>
                  <a:srgbClr val="000000"/>
                </a:solidFill>
              </a:rPr>
            </a:br>
            <a:r>
              <a:rPr lang="fr-FR" dirty="0">
                <a:solidFill>
                  <a:srgbClr val="000000"/>
                </a:solidFill>
              </a:rPr>
              <a:t>domaine</a:t>
            </a:r>
            <a:endParaRPr lang="en-US" dirty="0"/>
          </a:p>
        </p:txBody>
      </p:sp>
      <p:sp>
        <p:nvSpPr>
          <p:cNvPr id="482398" name="AutoShape 94"/>
          <p:cNvSpPr>
            <a:spLocks noChangeArrowheads="1"/>
          </p:cNvSpPr>
          <p:nvPr/>
        </p:nvSpPr>
        <p:spPr bwMode="auto">
          <a:xfrm>
            <a:off x="919443" y="1425688"/>
            <a:ext cx="1495425" cy="1165225"/>
          </a:xfrm>
          <a:prstGeom prst="roundRect">
            <a:avLst>
              <a:gd name="adj" fmla="val 4167"/>
            </a:avLst>
          </a:prstGeom>
          <a:gradFill rotWithShape="1">
            <a:gsLst>
              <a:gs pos="0">
                <a:srgbClr val="D5D69C"/>
              </a:gs>
              <a:gs pos="100000">
                <a:srgbClr val="EEEFD7"/>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sz="2000">
                <a:solidFill>
                  <a:srgbClr val="000000"/>
                </a:solidFill>
              </a:rPr>
              <a:t>Maître d'attribution</a:t>
            </a:r>
            <a:br>
              <a:rPr lang="fr-FR" sz="2000">
                <a:solidFill>
                  <a:srgbClr val="000000"/>
                </a:solidFill>
              </a:rPr>
            </a:br>
            <a:r>
              <a:rPr lang="fr-FR" sz="2000">
                <a:solidFill>
                  <a:srgbClr val="000000"/>
                </a:solidFill>
              </a:rPr>
              <a:t>de noms de domaine</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82382">
                                            <p:txEl>
                                              <p:pRg st="0" end="0"/>
                                            </p:txEl>
                                          </p:spTgt>
                                        </p:tgtEl>
                                        <p:attrNameLst>
                                          <p:attrName>style.visibility</p:attrName>
                                        </p:attrNameLst>
                                      </p:cBhvr>
                                      <p:to>
                                        <p:strVal val="visible"/>
                                      </p:to>
                                    </p:set>
                                    <p:animEffect transition="in" filter="wipe(down)">
                                      <p:cBhvr>
                                        <p:cTn id="7" dur="1000"/>
                                        <p:tgtEl>
                                          <p:spTgt spid="4823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82382">
                                            <p:txEl>
                                              <p:pRg st="1" end="1"/>
                                            </p:txEl>
                                          </p:spTgt>
                                        </p:tgtEl>
                                        <p:attrNameLst>
                                          <p:attrName>style.visibility</p:attrName>
                                        </p:attrNameLst>
                                      </p:cBhvr>
                                      <p:to>
                                        <p:strVal val="visible"/>
                                      </p:to>
                                    </p:set>
                                    <p:animEffect transition="in" filter="wipe(down)">
                                      <p:cBhvr>
                                        <p:cTn id="12" dur="1000"/>
                                        <p:tgtEl>
                                          <p:spTgt spid="48238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82382">
                                            <p:txEl>
                                              <p:pRg st="2" end="2"/>
                                            </p:txEl>
                                          </p:spTgt>
                                        </p:tgtEl>
                                        <p:attrNameLst>
                                          <p:attrName>style.visibility</p:attrName>
                                        </p:attrNameLst>
                                      </p:cBhvr>
                                      <p:to>
                                        <p:strVal val="visible"/>
                                      </p:to>
                                    </p:set>
                                    <p:animEffect transition="in" filter="wipe(down)">
                                      <p:cBhvr>
                                        <p:cTn id="17" dur="1000"/>
                                        <p:tgtEl>
                                          <p:spTgt spid="48238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82382">
                                            <p:txEl>
                                              <p:pRg st="3" end="3"/>
                                            </p:txEl>
                                          </p:spTgt>
                                        </p:tgtEl>
                                        <p:attrNameLst>
                                          <p:attrName>style.visibility</p:attrName>
                                        </p:attrNameLst>
                                      </p:cBhvr>
                                      <p:to>
                                        <p:strVal val="visible"/>
                                      </p:to>
                                    </p:set>
                                    <p:animEffect transition="in" filter="wipe(down)">
                                      <p:cBhvr>
                                        <p:cTn id="22" dur="1000"/>
                                        <p:tgtEl>
                                          <p:spTgt spid="48238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p:cNvSpPr>
            <a:spLocks noGrp="1" noChangeArrowheads="1"/>
          </p:cNvSpPr>
          <p:nvPr>
            <p:ph type="title"/>
          </p:nvPr>
        </p:nvSpPr>
        <p:spPr>
          <a:xfrm>
            <a:off x="173181" y="278679"/>
            <a:ext cx="8790709" cy="684212"/>
          </a:xfrm>
        </p:spPr>
        <p:txBody>
          <a:bodyPr>
            <a:normAutofit/>
          </a:bodyPr>
          <a:lstStyle/>
          <a:p>
            <a:r>
              <a:rPr lang="fr-FR" sz="3000" b="1" dirty="0">
                <a:solidFill>
                  <a:srgbClr val="C00000"/>
                </a:solidFill>
              </a:rPr>
              <a:t>Définition de l'émulateur PDC</a:t>
            </a:r>
            <a:endParaRPr lang="en-US" sz="3000" b="1" dirty="0">
              <a:solidFill>
                <a:srgbClr val="C00000"/>
              </a:solidFill>
            </a:endParaRPr>
          </a:p>
        </p:txBody>
      </p:sp>
      <p:pic>
        <p:nvPicPr>
          <p:cNvPr id="484479" name="Picture 127" descr="2Domain01"/>
          <p:cNvPicPr>
            <a:picLocks noChangeAspect="1" noChangeArrowheads="1"/>
          </p:cNvPicPr>
          <p:nvPr>
            <p:custDataLst>
              <p:tags r:id="rId1"/>
            </p:custDataLst>
          </p:nvPr>
        </p:nvPicPr>
        <p:blipFill>
          <a:blip r:embed="rId22"/>
          <a:srcRect/>
          <a:stretch>
            <a:fillRect/>
          </a:stretch>
        </p:blipFill>
        <p:spPr bwMode="auto">
          <a:xfrm>
            <a:off x="1344613" y="1419225"/>
            <a:ext cx="1941512" cy="1741488"/>
          </a:xfrm>
          <a:prstGeom prst="rect">
            <a:avLst/>
          </a:prstGeom>
          <a:noFill/>
        </p:spPr>
      </p:pic>
      <p:pic>
        <p:nvPicPr>
          <p:cNvPr id="484480" name="Picture 128" descr="2Domain01"/>
          <p:cNvPicPr>
            <a:picLocks noChangeAspect="1" noChangeArrowheads="1"/>
          </p:cNvPicPr>
          <p:nvPr>
            <p:custDataLst>
              <p:tags r:id="rId2"/>
            </p:custDataLst>
          </p:nvPr>
        </p:nvPicPr>
        <p:blipFill>
          <a:blip r:embed="rId22"/>
          <a:srcRect/>
          <a:stretch>
            <a:fillRect/>
          </a:stretch>
        </p:blipFill>
        <p:spPr bwMode="auto">
          <a:xfrm>
            <a:off x="4530775" y="1473170"/>
            <a:ext cx="4048125" cy="3632200"/>
          </a:xfrm>
          <a:prstGeom prst="rect">
            <a:avLst/>
          </a:prstGeom>
          <a:noFill/>
        </p:spPr>
      </p:pic>
      <p:pic>
        <p:nvPicPr>
          <p:cNvPr id="484481" name="Picture 129" descr="Server01"/>
          <p:cNvPicPr>
            <a:picLocks noChangeAspect="1" noChangeArrowheads="1"/>
          </p:cNvPicPr>
          <p:nvPr>
            <p:custDataLst>
              <p:tags r:id="rId3"/>
            </p:custDataLst>
          </p:nvPr>
        </p:nvPicPr>
        <p:blipFill>
          <a:blip r:embed="rId23" cstate="print"/>
          <a:srcRect/>
          <a:stretch>
            <a:fillRect/>
          </a:stretch>
        </p:blipFill>
        <p:spPr bwMode="auto">
          <a:xfrm>
            <a:off x="5130850" y="4095720"/>
            <a:ext cx="949325" cy="1116013"/>
          </a:xfrm>
          <a:prstGeom prst="rect">
            <a:avLst/>
          </a:prstGeom>
          <a:noFill/>
        </p:spPr>
      </p:pic>
      <p:pic>
        <p:nvPicPr>
          <p:cNvPr id="484482" name="Picture 130" descr="Computer_DesktopComputerSansKeyboard01"/>
          <p:cNvPicPr>
            <a:picLocks noChangeAspect="1" noChangeArrowheads="1"/>
          </p:cNvPicPr>
          <p:nvPr>
            <p:custDataLst>
              <p:tags r:id="rId4"/>
            </p:custDataLst>
          </p:nvPr>
        </p:nvPicPr>
        <p:blipFill>
          <a:blip r:embed="rId24" cstate="print"/>
          <a:srcRect/>
          <a:stretch>
            <a:fillRect/>
          </a:stretch>
        </p:blipFill>
        <p:spPr bwMode="auto">
          <a:xfrm>
            <a:off x="4930825" y="3109883"/>
            <a:ext cx="725488" cy="884237"/>
          </a:xfrm>
          <a:prstGeom prst="rect">
            <a:avLst/>
          </a:prstGeom>
          <a:noFill/>
        </p:spPr>
      </p:pic>
      <p:sp>
        <p:nvSpPr>
          <p:cNvPr id="484483" name="Line 131"/>
          <p:cNvSpPr>
            <a:spLocks noChangeShapeType="1"/>
          </p:cNvSpPr>
          <p:nvPr>
            <p:custDataLst>
              <p:tags r:id="rId5"/>
            </p:custDataLst>
          </p:nvPr>
        </p:nvSpPr>
        <p:spPr bwMode="auto">
          <a:xfrm flipV="1">
            <a:off x="2438400" y="1609725"/>
            <a:ext cx="862013" cy="387350"/>
          </a:xfrm>
          <a:prstGeom prst="line">
            <a:avLst/>
          </a:prstGeom>
          <a:noFill/>
          <a:ln w="50800">
            <a:solidFill>
              <a:srgbClr val="CC0000"/>
            </a:solidFill>
            <a:round/>
            <a:headEnd/>
            <a:tailEnd type="triangle" w="med" len="med"/>
          </a:ln>
          <a:effectLst/>
        </p:spPr>
        <p:txBody>
          <a:bodyPr/>
          <a:lstStyle/>
          <a:p>
            <a:endParaRPr lang="fr-FR"/>
          </a:p>
        </p:txBody>
      </p:sp>
      <p:sp>
        <p:nvSpPr>
          <p:cNvPr id="484484" name="Line 132"/>
          <p:cNvSpPr>
            <a:spLocks noChangeShapeType="1"/>
          </p:cNvSpPr>
          <p:nvPr>
            <p:custDataLst>
              <p:tags r:id="rId6"/>
            </p:custDataLst>
          </p:nvPr>
        </p:nvSpPr>
        <p:spPr bwMode="auto">
          <a:xfrm flipV="1">
            <a:off x="3075709" y="2466108"/>
            <a:ext cx="2687781" cy="83127"/>
          </a:xfrm>
          <a:prstGeom prst="line">
            <a:avLst/>
          </a:prstGeom>
          <a:noFill/>
          <a:ln w="50800">
            <a:solidFill>
              <a:srgbClr val="CC0000"/>
            </a:solidFill>
            <a:round/>
            <a:headEnd/>
            <a:tailEnd type="triangle" w="med" len="med"/>
          </a:ln>
          <a:effectLst/>
        </p:spPr>
        <p:txBody>
          <a:bodyPr/>
          <a:lstStyle/>
          <a:p>
            <a:endParaRPr lang="fr-FR"/>
          </a:p>
        </p:txBody>
      </p:sp>
      <p:sp>
        <p:nvSpPr>
          <p:cNvPr id="484485" name="Line 133"/>
          <p:cNvSpPr>
            <a:spLocks noChangeShapeType="1"/>
          </p:cNvSpPr>
          <p:nvPr>
            <p:custDataLst>
              <p:tags r:id="rId7"/>
            </p:custDataLst>
          </p:nvPr>
        </p:nvSpPr>
        <p:spPr bwMode="auto">
          <a:xfrm>
            <a:off x="6356400" y="2422495"/>
            <a:ext cx="722313" cy="774700"/>
          </a:xfrm>
          <a:prstGeom prst="line">
            <a:avLst/>
          </a:prstGeom>
          <a:noFill/>
          <a:ln w="50800">
            <a:solidFill>
              <a:srgbClr val="CC0000"/>
            </a:solidFill>
            <a:round/>
            <a:headEnd/>
            <a:tailEnd type="triangle" w="med" len="med"/>
          </a:ln>
          <a:effectLst/>
        </p:spPr>
        <p:txBody>
          <a:bodyPr/>
          <a:lstStyle/>
          <a:p>
            <a:endParaRPr lang="fr-FR"/>
          </a:p>
        </p:txBody>
      </p:sp>
      <p:sp>
        <p:nvSpPr>
          <p:cNvPr id="484486" name="Line 134"/>
          <p:cNvSpPr>
            <a:spLocks noChangeShapeType="1"/>
          </p:cNvSpPr>
          <p:nvPr>
            <p:custDataLst>
              <p:tags r:id="rId8"/>
            </p:custDataLst>
          </p:nvPr>
        </p:nvSpPr>
        <p:spPr bwMode="auto">
          <a:xfrm flipH="1">
            <a:off x="7142213" y="3824258"/>
            <a:ext cx="385762" cy="488950"/>
          </a:xfrm>
          <a:prstGeom prst="line">
            <a:avLst/>
          </a:prstGeom>
          <a:noFill/>
          <a:ln w="50800">
            <a:solidFill>
              <a:srgbClr val="CC0000"/>
            </a:solidFill>
            <a:round/>
            <a:headEnd/>
            <a:tailEnd type="triangle" w="med" len="med"/>
          </a:ln>
          <a:effectLst/>
        </p:spPr>
        <p:txBody>
          <a:bodyPr/>
          <a:lstStyle/>
          <a:p>
            <a:endParaRPr lang="fr-FR"/>
          </a:p>
        </p:txBody>
      </p:sp>
      <p:sp>
        <p:nvSpPr>
          <p:cNvPr id="484487" name="AutoShape 135"/>
          <p:cNvSpPr>
            <a:spLocks noChangeArrowheads="1"/>
          </p:cNvSpPr>
          <p:nvPr/>
        </p:nvSpPr>
        <p:spPr bwMode="auto">
          <a:xfrm>
            <a:off x="627063" y="2073275"/>
            <a:ext cx="1150937" cy="657225"/>
          </a:xfrm>
          <a:prstGeom prst="roundRect">
            <a:avLst>
              <a:gd name="adj" fmla="val 10000"/>
            </a:avLst>
          </a:prstGeom>
          <a:gradFill rotWithShape="1">
            <a:gsLst>
              <a:gs pos="0">
                <a:srgbClr val="D5D69C"/>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a:solidFill>
                  <a:srgbClr val="000000"/>
                </a:solidFill>
              </a:rPr>
              <a:t>Émulateur </a:t>
            </a:r>
            <a:br>
              <a:rPr lang="fr-FR">
                <a:solidFill>
                  <a:srgbClr val="000000"/>
                </a:solidFill>
              </a:rPr>
            </a:br>
            <a:r>
              <a:rPr lang="fr-FR">
                <a:solidFill>
                  <a:srgbClr val="000000"/>
                </a:solidFill>
              </a:rPr>
              <a:t>PDC</a:t>
            </a:r>
            <a:endParaRPr lang="en-US"/>
          </a:p>
        </p:txBody>
      </p:sp>
      <p:sp>
        <p:nvSpPr>
          <p:cNvPr id="484488" name="AutoShape 136"/>
          <p:cNvSpPr>
            <a:spLocks noChangeArrowheads="1"/>
          </p:cNvSpPr>
          <p:nvPr/>
        </p:nvSpPr>
        <p:spPr bwMode="auto">
          <a:xfrm>
            <a:off x="6770738" y="1509683"/>
            <a:ext cx="1195387" cy="641350"/>
          </a:xfrm>
          <a:prstGeom prst="roundRect">
            <a:avLst>
              <a:gd name="adj" fmla="val 10000"/>
            </a:avLst>
          </a:prstGeom>
          <a:gradFill rotWithShape="1">
            <a:gsLst>
              <a:gs pos="0">
                <a:srgbClr val="D5D69C"/>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a:solidFill>
                  <a:srgbClr val="000000"/>
                </a:solidFill>
              </a:rPr>
              <a:t>Émulateur </a:t>
            </a:r>
            <a:br>
              <a:rPr lang="fr-FR">
                <a:solidFill>
                  <a:srgbClr val="000000"/>
                </a:solidFill>
              </a:rPr>
            </a:br>
            <a:r>
              <a:rPr lang="fr-FR">
                <a:solidFill>
                  <a:srgbClr val="000000"/>
                </a:solidFill>
              </a:rPr>
              <a:t>PDC</a:t>
            </a:r>
            <a:endParaRPr lang="en-US"/>
          </a:p>
        </p:txBody>
      </p:sp>
      <p:sp>
        <p:nvSpPr>
          <p:cNvPr id="484489" name="AutoShape 137"/>
          <p:cNvSpPr>
            <a:spLocks noChangeArrowheads="1"/>
          </p:cNvSpPr>
          <p:nvPr/>
        </p:nvSpPr>
        <p:spPr bwMode="auto">
          <a:xfrm>
            <a:off x="2347678" y="3480782"/>
            <a:ext cx="2516187" cy="841806"/>
          </a:xfrm>
          <a:prstGeom prst="roundRect">
            <a:avLst>
              <a:gd name="adj" fmla="val 7343"/>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fr-FR" dirty="0">
                <a:solidFill>
                  <a:srgbClr val="000000"/>
                </a:solidFill>
              </a:rPr>
              <a:t>Ordinateur client </a:t>
            </a:r>
            <a:br>
              <a:rPr lang="fr-FR" dirty="0">
                <a:solidFill>
                  <a:srgbClr val="000000"/>
                </a:solidFill>
              </a:rPr>
            </a:br>
            <a:r>
              <a:rPr lang="fr-FR" dirty="0" smtClean="0">
                <a:solidFill>
                  <a:srgbClr val="000000"/>
                </a:solidFill>
              </a:rPr>
              <a:t>WINDOWS </a:t>
            </a:r>
            <a:r>
              <a:rPr lang="fr-FR" dirty="0">
                <a:solidFill>
                  <a:srgbClr val="000000"/>
                </a:solidFill>
              </a:rPr>
              <a:t>NT 4.0 ou </a:t>
            </a:r>
            <a:br>
              <a:rPr lang="fr-FR" dirty="0">
                <a:solidFill>
                  <a:srgbClr val="000000"/>
                </a:solidFill>
              </a:rPr>
            </a:br>
            <a:r>
              <a:rPr lang="fr-FR" dirty="0">
                <a:solidFill>
                  <a:srgbClr val="000000"/>
                </a:solidFill>
              </a:rPr>
              <a:t>une version antérieure</a:t>
            </a:r>
            <a:endParaRPr lang="en-US" dirty="0"/>
          </a:p>
        </p:txBody>
      </p:sp>
      <p:sp>
        <p:nvSpPr>
          <p:cNvPr id="484491" name="AutoShape 139"/>
          <p:cNvSpPr>
            <a:spLocks noChangeArrowheads="1"/>
          </p:cNvSpPr>
          <p:nvPr/>
        </p:nvSpPr>
        <p:spPr bwMode="auto">
          <a:xfrm>
            <a:off x="7692937" y="2728161"/>
            <a:ext cx="633700" cy="292100"/>
          </a:xfrm>
          <a:prstGeom prst="roundRect">
            <a:avLst>
              <a:gd name="adj" fmla="val 4000"/>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fr-FR" dirty="0" smtClean="0">
                <a:solidFill>
                  <a:srgbClr val="000000"/>
                </a:solidFill>
              </a:rPr>
              <a:t>DC</a:t>
            </a:r>
            <a:endParaRPr lang="en-US" dirty="0"/>
          </a:p>
        </p:txBody>
      </p:sp>
      <p:sp>
        <p:nvSpPr>
          <p:cNvPr id="484492" name="AutoShape 140"/>
          <p:cNvSpPr>
            <a:spLocks noChangeArrowheads="1"/>
          </p:cNvSpPr>
          <p:nvPr/>
        </p:nvSpPr>
        <p:spPr bwMode="auto">
          <a:xfrm>
            <a:off x="3208388" y="4551333"/>
            <a:ext cx="1857375" cy="365125"/>
          </a:xfrm>
          <a:prstGeom prst="roundRect">
            <a:avLst>
              <a:gd name="adj" fmla="val 6088"/>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fr-FR">
                <a:solidFill>
                  <a:srgbClr val="000000"/>
                </a:solidFill>
              </a:rPr>
              <a:t>BDC WINDOWS NT</a:t>
            </a:r>
            <a:endParaRPr lang="en-US"/>
          </a:p>
        </p:txBody>
      </p:sp>
      <p:sp>
        <p:nvSpPr>
          <p:cNvPr id="484493" name="Line 141"/>
          <p:cNvSpPr>
            <a:spLocks noChangeShapeType="1"/>
          </p:cNvSpPr>
          <p:nvPr>
            <p:custDataLst>
              <p:tags r:id="rId9"/>
            </p:custDataLst>
          </p:nvPr>
        </p:nvSpPr>
        <p:spPr bwMode="auto">
          <a:xfrm rot="3124789" flipH="1">
            <a:off x="3177623" y="1191024"/>
            <a:ext cx="2050098" cy="2851745"/>
          </a:xfrm>
          <a:prstGeom prst="line">
            <a:avLst/>
          </a:prstGeom>
          <a:noFill/>
          <a:ln w="57150">
            <a:solidFill>
              <a:srgbClr val="808080"/>
            </a:solidFill>
            <a:prstDash val="sysDot"/>
            <a:round/>
            <a:headEnd/>
            <a:tailEnd/>
          </a:ln>
          <a:effectLst/>
        </p:spPr>
        <p:txBody>
          <a:bodyPr/>
          <a:lstStyle/>
          <a:p>
            <a:endParaRPr lang="fr-FR"/>
          </a:p>
        </p:txBody>
      </p:sp>
      <p:pic>
        <p:nvPicPr>
          <p:cNvPr id="484495" name="Picture 143" descr="Server01"/>
          <p:cNvPicPr>
            <a:picLocks noChangeAspect="1" noChangeArrowheads="1"/>
          </p:cNvPicPr>
          <p:nvPr>
            <p:custDataLst>
              <p:tags r:id="rId10"/>
            </p:custDataLst>
          </p:nvPr>
        </p:nvPicPr>
        <p:blipFill>
          <a:blip r:embed="rId23" cstate="print"/>
          <a:srcRect/>
          <a:stretch>
            <a:fillRect/>
          </a:stretch>
        </p:blipFill>
        <p:spPr bwMode="auto">
          <a:xfrm>
            <a:off x="1817688" y="1866900"/>
            <a:ext cx="949325" cy="1116013"/>
          </a:xfrm>
          <a:prstGeom prst="rect">
            <a:avLst/>
          </a:prstGeom>
          <a:noFill/>
        </p:spPr>
      </p:pic>
      <p:pic>
        <p:nvPicPr>
          <p:cNvPr id="484496" name="Picture 144" descr="ActiveDirectory01"/>
          <p:cNvPicPr>
            <a:picLocks noChangeAspect="1" noChangeArrowheads="1"/>
          </p:cNvPicPr>
          <p:nvPr>
            <p:custDataLst>
              <p:tags r:id="rId11"/>
            </p:custDataLst>
          </p:nvPr>
        </p:nvPicPr>
        <p:blipFill>
          <a:blip r:embed="rId25" cstate="print"/>
          <a:srcRect/>
          <a:stretch>
            <a:fillRect/>
          </a:stretch>
        </p:blipFill>
        <p:spPr bwMode="auto">
          <a:xfrm>
            <a:off x="2384425" y="2341563"/>
            <a:ext cx="788988" cy="517525"/>
          </a:xfrm>
          <a:prstGeom prst="rect">
            <a:avLst/>
          </a:prstGeom>
          <a:noFill/>
        </p:spPr>
      </p:pic>
      <p:sp>
        <p:nvSpPr>
          <p:cNvPr id="484497" name="Line 145"/>
          <p:cNvSpPr>
            <a:spLocks noChangeShapeType="1"/>
          </p:cNvSpPr>
          <p:nvPr>
            <p:custDataLst>
              <p:tags r:id="rId12"/>
            </p:custDataLst>
          </p:nvPr>
        </p:nvSpPr>
        <p:spPr bwMode="auto">
          <a:xfrm rot="3124789" flipH="1">
            <a:off x="6036519" y="3082101"/>
            <a:ext cx="1468438" cy="142875"/>
          </a:xfrm>
          <a:prstGeom prst="line">
            <a:avLst/>
          </a:prstGeom>
          <a:noFill/>
          <a:ln w="57150">
            <a:solidFill>
              <a:srgbClr val="808080"/>
            </a:solidFill>
            <a:prstDash val="sysDot"/>
            <a:round/>
            <a:headEnd/>
            <a:tailEnd/>
          </a:ln>
          <a:effectLst/>
        </p:spPr>
        <p:txBody>
          <a:bodyPr/>
          <a:lstStyle/>
          <a:p>
            <a:endParaRPr lang="fr-FR"/>
          </a:p>
        </p:txBody>
      </p:sp>
      <p:pic>
        <p:nvPicPr>
          <p:cNvPr id="484499" name="Picture 147" descr="Server01"/>
          <p:cNvPicPr>
            <a:picLocks noChangeAspect="1" noChangeArrowheads="1"/>
          </p:cNvPicPr>
          <p:nvPr>
            <p:custDataLst>
              <p:tags r:id="rId13"/>
            </p:custDataLst>
          </p:nvPr>
        </p:nvPicPr>
        <p:blipFill>
          <a:blip r:embed="rId23" cstate="print"/>
          <a:srcRect/>
          <a:stretch>
            <a:fillRect/>
          </a:stretch>
        </p:blipFill>
        <p:spPr bwMode="auto">
          <a:xfrm>
            <a:off x="5737275" y="1765270"/>
            <a:ext cx="949325" cy="1116013"/>
          </a:xfrm>
          <a:prstGeom prst="rect">
            <a:avLst/>
          </a:prstGeom>
          <a:noFill/>
        </p:spPr>
      </p:pic>
      <p:pic>
        <p:nvPicPr>
          <p:cNvPr id="484500" name="Picture 148" descr="ActiveDirectory01"/>
          <p:cNvPicPr>
            <a:picLocks noChangeAspect="1" noChangeArrowheads="1"/>
          </p:cNvPicPr>
          <p:nvPr>
            <p:custDataLst>
              <p:tags r:id="rId14"/>
            </p:custDataLst>
          </p:nvPr>
        </p:nvPicPr>
        <p:blipFill>
          <a:blip r:embed="rId25" cstate="print"/>
          <a:srcRect/>
          <a:stretch>
            <a:fillRect/>
          </a:stretch>
        </p:blipFill>
        <p:spPr bwMode="auto">
          <a:xfrm>
            <a:off x="6304013" y="2239933"/>
            <a:ext cx="788987" cy="517525"/>
          </a:xfrm>
          <a:prstGeom prst="rect">
            <a:avLst/>
          </a:prstGeom>
          <a:noFill/>
        </p:spPr>
      </p:pic>
      <p:sp>
        <p:nvSpPr>
          <p:cNvPr id="484501" name="Line 149"/>
          <p:cNvSpPr>
            <a:spLocks noChangeShapeType="1"/>
          </p:cNvSpPr>
          <p:nvPr>
            <p:custDataLst>
              <p:tags r:id="rId15"/>
            </p:custDataLst>
          </p:nvPr>
        </p:nvSpPr>
        <p:spPr bwMode="auto">
          <a:xfrm rot="3124789" flipH="1" flipV="1">
            <a:off x="7041407" y="3625026"/>
            <a:ext cx="236538" cy="803275"/>
          </a:xfrm>
          <a:prstGeom prst="line">
            <a:avLst/>
          </a:prstGeom>
          <a:noFill/>
          <a:ln w="57150">
            <a:solidFill>
              <a:srgbClr val="808080"/>
            </a:solidFill>
            <a:prstDash val="sysDot"/>
            <a:round/>
            <a:headEnd/>
            <a:tailEnd/>
          </a:ln>
          <a:effectLst/>
        </p:spPr>
        <p:txBody>
          <a:bodyPr/>
          <a:lstStyle/>
          <a:p>
            <a:endParaRPr lang="fr-FR"/>
          </a:p>
        </p:txBody>
      </p:sp>
      <p:pic>
        <p:nvPicPr>
          <p:cNvPr id="484502" name="Picture 150" descr="Computer_DesktopComputerSansKeyboard01"/>
          <p:cNvPicPr>
            <a:picLocks noChangeAspect="1" noChangeArrowheads="1"/>
          </p:cNvPicPr>
          <p:nvPr>
            <p:custDataLst>
              <p:tags r:id="rId16"/>
            </p:custDataLst>
          </p:nvPr>
        </p:nvPicPr>
        <p:blipFill>
          <a:blip r:embed="rId24" cstate="print"/>
          <a:srcRect/>
          <a:stretch>
            <a:fillRect/>
          </a:stretch>
        </p:blipFill>
        <p:spPr bwMode="auto">
          <a:xfrm>
            <a:off x="6424663" y="4243358"/>
            <a:ext cx="725487" cy="884237"/>
          </a:xfrm>
          <a:prstGeom prst="rect">
            <a:avLst/>
          </a:prstGeom>
          <a:noFill/>
        </p:spPr>
      </p:pic>
      <p:grpSp>
        <p:nvGrpSpPr>
          <p:cNvPr id="2" name="Group 151"/>
          <p:cNvGrpSpPr>
            <a:grpSpLocks/>
          </p:cNvGrpSpPr>
          <p:nvPr>
            <p:custDataLst>
              <p:tags r:id="rId17"/>
            </p:custDataLst>
          </p:nvPr>
        </p:nvGrpSpPr>
        <p:grpSpPr bwMode="auto">
          <a:xfrm>
            <a:off x="7178725" y="2990820"/>
            <a:ext cx="1355725" cy="1116013"/>
            <a:chOff x="3562" y="2460"/>
            <a:chExt cx="854" cy="703"/>
          </a:xfrm>
        </p:grpSpPr>
        <p:pic>
          <p:nvPicPr>
            <p:cNvPr id="484504" name="Picture 152" descr="Server01"/>
            <p:cNvPicPr>
              <a:picLocks noChangeAspect="1" noChangeArrowheads="1"/>
            </p:cNvPicPr>
            <p:nvPr>
              <p:custDataLst>
                <p:tags r:id="rId18"/>
              </p:custDataLst>
            </p:nvPr>
          </p:nvPicPr>
          <p:blipFill>
            <a:blip r:embed="rId23" cstate="print"/>
            <a:srcRect/>
            <a:stretch>
              <a:fillRect/>
            </a:stretch>
          </p:blipFill>
          <p:spPr bwMode="auto">
            <a:xfrm>
              <a:off x="3562" y="2460"/>
              <a:ext cx="598" cy="703"/>
            </a:xfrm>
            <a:prstGeom prst="rect">
              <a:avLst/>
            </a:prstGeom>
            <a:noFill/>
          </p:spPr>
        </p:pic>
        <p:pic>
          <p:nvPicPr>
            <p:cNvPr id="484505" name="Picture 153" descr="ActiveDirectory01"/>
            <p:cNvPicPr>
              <a:picLocks noChangeAspect="1" noChangeArrowheads="1"/>
            </p:cNvPicPr>
            <p:nvPr>
              <p:custDataLst>
                <p:tags r:id="rId19"/>
              </p:custDataLst>
            </p:nvPr>
          </p:nvPicPr>
          <p:blipFill>
            <a:blip r:embed="rId25" cstate="print"/>
            <a:srcRect/>
            <a:stretch>
              <a:fillRect/>
            </a:stretch>
          </p:blipFill>
          <p:spPr bwMode="auto">
            <a:xfrm>
              <a:off x="3919" y="2759"/>
              <a:ext cx="497" cy="326"/>
            </a:xfrm>
            <a:prstGeom prst="rect">
              <a:avLst/>
            </a:prstGeom>
            <a:noFill/>
          </p:spPr>
        </p:pic>
      </p:grpSp>
      <p:sp>
        <p:nvSpPr>
          <p:cNvPr id="484506" name="AutoShape 154"/>
          <p:cNvSpPr>
            <a:spLocks noChangeArrowheads="1"/>
          </p:cNvSpPr>
          <p:nvPr/>
        </p:nvSpPr>
        <p:spPr bwMode="auto">
          <a:xfrm>
            <a:off x="3414713" y="1228725"/>
            <a:ext cx="1455737" cy="1027113"/>
          </a:xfrm>
          <a:prstGeom prst="roundRect">
            <a:avLst>
              <a:gd name="adj" fmla="val 4167"/>
            </a:avLst>
          </a:prstGeom>
          <a:gradFill rotWithShape="1">
            <a:gsLst>
              <a:gs pos="0">
                <a:srgbClr val="8DACD0"/>
              </a:gs>
              <a:gs pos="100000">
                <a:srgbClr val="DEE7F1"/>
              </a:gs>
            </a:gsLst>
            <a:lin ang="2700000" scaled="1"/>
          </a:gradFill>
          <a:ln w="9525">
            <a:solidFill>
              <a:srgbClr val="4D4D4D"/>
            </a:solidFill>
            <a:round/>
            <a:headEnd/>
            <a:tailEnd/>
          </a:ln>
          <a:effectLst>
            <a:outerShdw dist="35921" dir="2700000" algn="ctr" rotWithShape="0">
              <a:srgbClr val="AFAFAF"/>
            </a:outerShdw>
          </a:effectLst>
        </p:spPr>
        <p:txBody>
          <a:bodyPr anchor="ctr"/>
          <a:lstStyle/>
          <a:p>
            <a:r>
              <a:rPr lang="fr-FR" sz="2000">
                <a:solidFill>
                  <a:srgbClr val="000000"/>
                </a:solidFill>
                <a:effectLst>
                  <a:outerShdw blurRad="38100" dist="38100" dir="2700000" algn="tl">
                    <a:srgbClr val="FFFFFF"/>
                  </a:outerShdw>
                </a:effectLst>
              </a:rPr>
              <a:t>Pointe vers le serveur de temps</a:t>
            </a:r>
            <a:endParaRPr lang="en-US" sz="2000">
              <a:effectLst>
                <a:outerShdw blurRad="38100" dist="38100" dir="2700000" algn="tl">
                  <a:srgbClr val="FFFFFF"/>
                </a:outerShdw>
              </a:effectLst>
            </a:endParaRPr>
          </a:p>
        </p:txBody>
      </p:sp>
      <p:sp>
        <p:nvSpPr>
          <p:cNvPr id="484490" name="AutoShape 138"/>
          <p:cNvSpPr>
            <a:spLocks noChangeArrowheads="1"/>
          </p:cNvSpPr>
          <p:nvPr/>
        </p:nvSpPr>
        <p:spPr bwMode="auto">
          <a:xfrm>
            <a:off x="7115226" y="4467195"/>
            <a:ext cx="1862570" cy="565150"/>
          </a:xfrm>
          <a:prstGeom prst="roundRect">
            <a:avLst>
              <a:gd name="adj" fmla="val 6088"/>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fr-FR" dirty="0">
                <a:solidFill>
                  <a:srgbClr val="000000"/>
                </a:solidFill>
              </a:rPr>
              <a:t>Ordinateur client </a:t>
            </a:r>
            <a:br>
              <a:rPr lang="fr-FR" dirty="0">
                <a:solidFill>
                  <a:srgbClr val="000000"/>
                </a:solidFill>
              </a:rPr>
            </a:br>
            <a:r>
              <a:rPr lang="fr-FR" dirty="0" smtClean="0">
                <a:solidFill>
                  <a:srgbClr val="000000"/>
                </a:solidFill>
              </a:rPr>
              <a:t>Windows </a:t>
            </a:r>
            <a:r>
              <a:rPr lang="fr-FR" dirty="0">
                <a:solidFill>
                  <a:srgbClr val="000000"/>
                </a:solidFill>
              </a:rPr>
              <a:t>XP</a:t>
            </a:r>
            <a:endParaRPr lang="en-US" dirty="0"/>
          </a:p>
        </p:txBody>
      </p:sp>
      <p:sp>
        <p:nvSpPr>
          <p:cNvPr id="29" name="Rectangle 28"/>
          <p:cNvSpPr/>
          <p:nvPr/>
        </p:nvSpPr>
        <p:spPr>
          <a:xfrm>
            <a:off x="180108" y="5250893"/>
            <a:ext cx="8783783" cy="1477328"/>
          </a:xfrm>
          <a:prstGeom prst="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wrap="square" lIns="36000" tIns="36000" rIns="36000" bIns="36000">
            <a:spAutoFit/>
          </a:bodyPr>
          <a:lstStyle/>
          <a:p>
            <a:pPr algn="l">
              <a:lnSpc>
                <a:spcPct val="150000"/>
              </a:lnSpc>
            </a:pPr>
            <a:r>
              <a:rPr lang="fr-FR" sz="2000" i="1" dirty="0" smtClean="0">
                <a:solidFill>
                  <a:srgbClr val="002060"/>
                </a:solidFill>
              </a:rPr>
              <a:t>Si un domaine contient des DC </a:t>
            </a:r>
            <a:r>
              <a:rPr lang="fr-FR" sz="2000" dirty="0" smtClean="0">
                <a:solidFill>
                  <a:srgbClr val="002060"/>
                </a:solidFill>
              </a:rPr>
              <a:t>secondaires ou des ordinateurs clients exécutant Windows NT 4.0 ou une version antérieure, l’émulateur PDC fonctionne en tant que DC principal Windows NT</a:t>
            </a:r>
            <a:endParaRPr lang="fr-FR" sz="2000" dirty="0">
              <a:solidFill>
                <a:srgbClr val="002060"/>
              </a:solidFill>
            </a:endParaRPr>
          </a:p>
        </p:txBody>
      </p:sp>
      <p:sp>
        <p:nvSpPr>
          <p:cNvPr id="30" name="Rectangle 29"/>
          <p:cNvSpPr/>
          <p:nvPr/>
        </p:nvSpPr>
        <p:spPr>
          <a:xfrm>
            <a:off x="166248" y="5237033"/>
            <a:ext cx="8783783" cy="1088366"/>
          </a:xfrm>
          <a:prstGeom prst="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wrap="square" lIns="36000" tIns="36000" rIns="36000" bIns="36000">
            <a:spAutoFit/>
          </a:bodyPr>
          <a:lstStyle/>
          <a:p>
            <a:pPr algn="l">
              <a:buFont typeface="Wingdings" pitchFamily="2" charset="2"/>
              <a:buChar char="q"/>
            </a:pPr>
            <a:r>
              <a:rPr lang="fr-FR" sz="2200" dirty="0" smtClean="0">
                <a:solidFill>
                  <a:srgbClr val="002060"/>
                </a:solidFill>
              </a:rPr>
              <a:t>il gère les modifications de mot de passe des ordinateurs exécutant </a:t>
            </a:r>
            <a:r>
              <a:rPr lang="en-US" sz="2200" dirty="0" smtClean="0">
                <a:solidFill>
                  <a:srgbClr val="002060"/>
                </a:solidFill>
              </a:rPr>
              <a:t>Windows NT, Microsoft Windows® 95 </a:t>
            </a:r>
            <a:r>
              <a:rPr lang="en-US" sz="2200" dirty="0" err="1" smtClean="0">
                <a:solidFill>
                  <a:srgbClr val="002060"/>
                </a:solidFill>
              </a:rPr>
              <a:t>ou</a:t>
            </a:r>
            <a:r>
              <a:rPr lang="en-US" sz="2200" dirty="0" smtClean="0">
                <a:solidFill>
                  <a:srgbClr val="002060"/>
                </a:solidFill>
              </a:rPr>
              <a:t> Windows 98</a:t>
            </a:r>
          </a:p>
        </p:txBody>
      </p:sp>
      <p:sp>
        <p:nvSpPr>
          <p:cNvPr id="31" name="Rectangle 30"/>
          <p:cNvSpPr/>
          <p:nvPr/>
        </p:nvSpPr>
        <p:spPr>
          <a:xfrm>
            <a:off x="180103" y="5417148"/>
            <a:ext cx="8783783" cy="749812"/>
          </a:xfrm>
          <a:prstGeom prst="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wrap="square" lIns="36000" tIns="36000" rIns="36000" bIns="36000">
            <a:spAutoFit/>
          </a:bodyPr>
          <a:lstStyle/>
          <a:p>
            <a:pPr algn="l">
              <a:buFont typeface="Wingdings" pitchFamily="2" charset="2"/>
              <a:buChar char="q"/>
            </a:pPr>
            <a:r>
              <a:rPr lang="fr-FR" sz="2200" dirty="0" smtClean="0">
                <a:solidFill>
                  <a:srgbClr val="002060"/>
                </a:solidFill>
              </a:rPr>
              <a:t>il minimise la latence de réplication des modifications de mot de passe</a:t>
            </a:r>
          </a:p>
        </p:txBody>
      </p:sp>
      <p:sp>
        <p:nvSpPr>
          <p:cNvPr id="32" name="Rectangle 31"/>
          <p:cNvSpPr/>
          <p:nvPr/>
        </p:nvSpPr>
        <p:spPr>
          <a:xfrm>
            <a:off x="180115" y="5417148"/>
            <a:ext cx="8783783" cy="749812"/>
          </a:xfrm>
          <a:prstGeom prst="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wrap="square" lIns="36000" tIns="36000" rIns="36000" bIns="36000">
            <a:spAutoFit/>
          </a:bodyPr>
          <a:lstStyle/>
          <a:p>
            <a:pPr algn="l">
              <a:buFont typeface="Wingdings" pitchFamily="2" charset="2"/>
              <a:buChar char="q"/>
            </a:pPr>
            <a:r>
              <a:rPr lang="fr-FR" sz="2200" dirty="0" smtClean="0">
                <a:solidFill>
                  <a:srgbClr val="002060"/>
                </a:solidFill>
              </a:rPr>
              <a:t>il synchronise l’heure de tous les contrôleurs de domaine du domaine en fonction de son heure système</a:t>
            </a:r>
          </a:p>
        </p:txBody>
      </p:sp>
      <p:sp>
        <p:nvSpPr>
          <p:cNvPr id="33" name="Rectangle 32"/>
          <p:cNvSpPr/>
          <p:nvPr/>
        </p:nvSpPr>
        <p:spPr>
          <a:xfrm>
            <a:off x="166255" y="5389433"/>
            <a:ext cx="8783783" cy="749812"/>
          </a:xfrm>
          <a:prstGeom prst="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wrap="square" lIns="36000" tIns="36000" rIns="36000" bIns="36000">
            <a:spAutoFit/>
          </a:bodyPr>
          <a:lstStyle/>
          <a:p>
            <a:pPr algn="l">
              <a:buFont typeface="Wingdings" pitchFamily="2" charset="2"/>
              <a:buChar char="q"/>
            </a:pPr>
            <a:r>
              <a:rPr lang="fr-FR" sz="2200" dirty="0" smtClean="0">
                <a:solidFill>
                  <a:srgbClr val="002060"/>
                </a:solidFill>
              </a:rPr>
              <a:t>il interdit toute possibilité d’écrasement des Objets de stratégie de groupe GPO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1000" fill="hold"/>
                                        <p:tgtEl>
                                          <p:spTgt spid="29"/>
                                        </p:tgtEl>
                                        <p:attrNameLst>
                                          <p:attrName>ppt_x</p:attrName>
                                        </p:attrNameLst>
                                      </p:cBhvr>
                                      <p:tavLst>
                                        <p:tav tm="0">
                                          <p:val>
                                            <p:strVal val="#ppt_x"/>
                                          </p:val>
                                        </p:tav>
                                        <p:tav tm="100000">
                                          <p:val>
                                            <p:strVal val="#ppt_x"/>
                                          </p:val>
                                        </p:tav>
                                      </p:tavLst>
                                    </p:anim>
                                    <p:anim calcmode="lin" valueType="num">
                                      <p:cBhvr additive="base">
                                        <p:cTn id="8" dur="10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additive="base">
                                        <p:cTn id="13" dur="1000" fill="hold"/>
                                        <p:tgtEl>
                                          <p:spTgt spid="30"/>
                                        </p:tgtEl>
                                        <p:attrNameLst>
                                          <p:attrName>ppt_x</p:attrName>
                                        </p:attrNameLst>
                                      </p:cBhvr>
                                      <p:tavLst>
                                        <p:tav tm="0">
                                          <p:val>
                                            <p:strVal val="#ppt_x"/>
                                          </p:val>
                                        </p:tav>
                                        <p:tav tm="100000">
                                          <p:val>
                                            <p:strVal val="#ppt_x"/>
                                          </p:val>
                                        </p:tav>
                                      </p:tavLst>
                                    </p:anim>
                                    <p:anim calcmode="lin" valueType="num">
                                      <p:cBhvr additive="base">
                                        <p:cTn id="14" dur="1000" fill="hold"/>
                                        <p:tgtEl>
                                          <p:spTgt spid="30"/>
                                        </p:tgtEl>
                                        <p:attrNameLst>
                                          <p:attrName>ppt_y</p:attrName>
                                        </p:attrNameLst>
                                      </p:cBhvr>
                                      <p:tavLst>
                                        <p:tav tm="0">
                                          <p:val>
                                            <p:strVal val="1+#ppt_h/2"/>
                                          </p:val>
                                        </p:tav>
                                        <p:tav tm="100000">
                                          <p:val>
                                            <p:strVal val="#ppt_y"/>
                                          </p:val>
                                        </p:tav>
                                      </p:tavLst>
                                    </p:anim>
                                  </p:childTnLst>
                                </p:cTn>
                              </p:par>
                              <p:par>
                                <p:cTn id="15" presetID="5" presetClass="exit" presetSubtype="10" fill="hold" grpId="1" nodeType="withEffect">
                                  <p:stCondLst>
                                    <p:cond delay="0"/>
                                  </p:stCondLst>
                                  <p:childTnLst>
                                    <p:animEffect transition="out" filter="checkerboard(across)">
                                      <p:cBhvr>
                                        <p:cTn id="16" dur="500"/>
                                        <p:tgtEl>
                                          <p:spTgt spid="29"/>
                                        </p:tgtEl>
                                      </p:cBhvr>
                                    </p:animEffect>
                                    <p:set>
                                      <p:cBhvr>
                                        <p:cTn id="17" dur="1" fill="hold">
                                          <p:stCondLst>
                                            <p:cond delay="499"/>
                                          </p:stCondLst>
                                        </p:cTn>
                                        <p:tgtEl>
                                          <p:spTgt spid="29"/>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additive="base">
                                        <p:cTn id="22" dur="1000" fill="hold"/>
                                        <p:tgtEl>
                                          <p:spTgt spid="31"/>
                                        </p:tgtEl>
                                        <p:attrNameLst>
                                          <p:attrName>ppt_x</p:attrName>
                                        </p:attrNameLst>
                                      </p:cBhvr>
                                      <p:tavLst>
                                        <p:tav tm="0">
                                          <p:val>
                                            <p:strVal val="#ppt_x"/>
                                          </p:val>
                                        </p:tav>
                                        <p:tav tm="100000">
                                          <p:val>
                                            <p:strVal val="#ppt_x"/>
                                          </p:val>
                                        </p:tav>
                                      </p:tavLst>
                                    </p:anim>
                                    <p:anim calcmode="lin" valueType="num">
                                      <p:cBhvr additive="base">
                                        <p:cTn id="23" dur="1000" fill="hold"/>
                                        <p:tgtEl>
                                          <p:spTgt spid="31"/>
                                        </p:tgtEl>
                                        <p:attrNameLst>
                                          <p:attrName>ppt_y</p:attrName>
                                        </p:attrNameLst>
                                      </p:cBhvr>
                                      <p:tavLst>
                                        <p:tav tm="0">
                                          <p:val>
                                            <p:strVal val="1+#ppt_h/2"/>
                                          </p:val>
                                        </p:tav>
                                        <p:tav tm="100000">
                                          <p:val>
                                            <p:strVal val="#ppt_y"/>
                                          </p:val>
                                        </p:tav>
                                      </p:tavLst>
                                    </p:anim>
                                  </p:childTnLst>
                                </p:cTn>
                              </p:par>
                              <p:par>
                                <p:cTn id="24" presetID="5" presetClass="exit" presetSubtype="10" fill="hold" grpId="1" nodeType="withEffect">
                                  <p:stCondLst>
                                    <p:cond delay="0"/>
                                  </p:stCondLst>
                                  <p:childTnLst>
                                    <p:animEffect transition="out" filter="checkerboard(across)">
                                      <p:cBhvr>
                                        <p:cTn id="25" dur="500"/>
                                        <p:tgtEl>
                                          <p:spTgt spid="30"/>
                                        </p:tgtEl>
                                      </p:cBhvr>
                                    </p:animEffect>
                                    <p:set>
                                      <p:cBhvr>
                                        <p:cTn id="26" dur="1" fill="hold">
                                          <p:stCondLst>
                                            <p:cond delay="499"/>
                                          </p:stCondLst>
                                        </p:cTn>
                                        <p:tgtEl>
                                          <p:spTgt spid="3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anim calcmode="lin" valueType="num">
                                      <p:cBhvr additive="base">
                                        <p:cTn id="31" dur="1000" fill="hold"/>
                                        <p:tgtEl>
                                          <p:spTgt spid="32"/>
                                        </p:tgtEl>
                                        <p:attrNameLst>
                                          <p:attrName>ppt_x</p:attrName>
                                        </p:attrNameLst>
                                      </p:cBhvr>
                                      <p:tavLst>
                                        <p:tav tm="0">
                                          <p:val>
                                            <p:strVal val="#ppt_x"/>
                                          </p:val>
                                        </p:tav>
                                        <p:tav tm="100000">
                                          <p:val>
                                            <p:strVal val="#ppt_x"/>
                                          </p:val>
                                        </p:tav>
                                      </p:tavLst>
                                    </p:anim>
                                    <p:anim calcmode="lin" valueType="num">
                                      <p:cBhvr additive="base">
                                        <p:cTn id="32" dur="1000" fill="hold"/>
                                        <p:tgtEl>
                                          <p:spTgt spid="32"/>
                                        </p:tgtEl>
                                        <p:attrNameLst>
                                          <p:attrName>ppt_y</p:attrName>
                                        </p:attrNameLst>
                                      </p:cBhvr>
                                      <p:tavLst>
                                        <p:tav tm="0">
                                          <p:val>
                                            <p:strVal val="1+#ppt_h/2"/>
                                          </p:val>
                                        </p:tav>
                                        <p:tav tm="100000">
                                          <p:val>
                                            <p:strVal val="#ppt_y"/>
                                          </p:val>
                                        </p:tav>
                                      </p:tavLst>
                                    </p:anim>
                                  </p:childTnLst>
                                </p:cTn>
                              </p:par>
                              <p:par>
                                <p:cTn id="33" presetID="5" presetClass="exit" presetSubtype="10" fill="hold" grpId="1" nodeType="withEffect">
                                  <p:stCondLst>
                                    <p:cond delay="0"/>
                                  </p:stCondLst>
                                  <p:childTnLst>
                                    <p:animEffect transition="out" filter="checkerboard(across)">
                                      <p:cBhvr>
                                        <p:cTn id="34" dur="500"/>
                                        <p:tgtEl>
                                          <p:spTgt spid="31"/>
                                        </p:tgtEl>
                                      </p:cBhvr>
                                    </p:animEffect>
                                    <p:set>
                                      <p:cBhvr>
                                        <p:cTn id="35" dur="1" fill="hold">
                                          <p:stCondLst>
                                            <p:cond delay="499"/>
                                          </p:stCondLst>
                                        </p:cTn>
                                        <p:tgtEl>
                                          <p:spTgt spid="31"/>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33"/>
                                        </p:tgtEl>
                                        <p:attrNameLst>
                                          <p:attrName>style.visibility</p:attrName>
                                        </p:attrNameLst>
                                      </p:cBhvr>
                                      <p:to>
                                        <p:strVal val="visible"/>
                                      </p:to>
                                    </p:set>
                                    <p:anim calcmode="lin" valueType="num">
                                      <p:cBhvr additive="base">
                                        <p:cTn id="40" dur="1000" fill="hold"/>
                                        <p:tgtEl>
                                          <p:spTgt spid="33"/>
                                        </p:tgtEl>
                                        <p:attrNameLst>
                                          <p:attrName>ppt_x</p:attrName>
                                        </p:attrNameLst>
                                      </p:cBhvr>
                                      <p:tavLst>
                                        <p:tav tm="0">
                                          <p:val>
                                            <p:strVal val="#ppt_x"/>
                                          </p:val>
                                        </p:tav>
                                        <p:tav tm="100000">
                                          <p:val>
                                            <p:strVal val="#ppt_x"/>
                                          </p:val>
                                        </p:tav>
                                      </p:tavLst>
                                    </p:anim>
                                    <p:anim calcmode="lin" valueType="num">
                                      <p:cBhvr additive="base">
                                        <p:cTn id="41" dur="1000" fill="hold"/>
                                        <p:tgtEl>
                                          <p:spTgt spid="33"/>
                                        </p:tgtEl>
                                        <p:attrNameLst>
                                          <p:attrName>ppt_y</p:attrName>
                                        </p:attrNameLst>
                                      </p:cBhvr>
                                      <p:tavLst>
                                        <p:tav tm="0">
                                          <p:val>
                                            <p:strVal val="1+#ppt_h/2"/>
                                          </p:val>
                                        </p:tav>
                                        <p:tav tm="100000">
                                          <p:val>
                                            <p:strVal val="#ppt_y"/>
                                          </p:val>
                                        </p:tav>
                                      </p:tavLst>
                                    </p:anim>
                                  </p:childTnLst>
                                </p:cTn>
                              </p:par>
                              <p:par>
                                <p:cTn id="42" presetID="5" presetClass="exit" presetSubtype="10" fill="hold" grpId="1" nodeType="withEffect">
                                  <p:stCondLst>
                                    <p:cond delay="0"/>
                                  </p:stCondLst>
                                  <p:childTnLst>
                                    <p:animEffect transition="out" filter="checkerboard(across)">
                                      <p:cBhvr>
                                        <p:cTn id="43" dur="500"/>
                                        <p:tgtEl>
                                          <p:spTgt spid="32"/>
                                        </p:tgtEl>
                                      </p:cBhvr>
                                    </p:animEffect>
                                    <p:set>
                                      <p:cBhvr>
                                        <p:cTn id="44"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P spid="30" grpId="0" animBg="1"/>
      <p:bldP spid="30" grpId="1" animBg="1"/>
      <p:bldP spid="31" grpId="0" animBg="1"/>
      <p:bldP spid="31" grpId="1" animBg="1"/>
      <p:bldP spid="32" grpId="0" animBg="1"/>
      <p:bldP spid="32" grpId="1" animBg="1"/>
      <p:bldP spid="3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a:xfrm>
            <a:off x="187036" y="361806"/>
            <a:ext cx="8762999" cy="684212"/>
          </a:xfrm>
        </p:spPr>
        <p:txBody>
          <a:bodyPr/>
          <a:lstStyle/>
          <a:p>
            <a:r>
              <a:rPr lang="fr-FR" b="1" dirty="0">
                <a:solidFill>
                  <a:srgbClr val="C00000"/>
                </a:solidFill>
              </a:rPr>
              <a:t>Définition d'un maître RID</a:t>
            </a:r>
            <a:endParaRPr lang="en-US" b="1" dirty="0">
              <a:solidFill>
                <a:srgbClr val="C00000"/>
              </a:solidFill>
            </a:endParaRPr>
          </a:p>
        </p:txBody>
      </p:sp>
      <p:sp>
        <p:nvSpPr>
          <p:cNvPr id="486500" name="AutoShape 100"/>
          <p:cNvSpPr>
            <a:spLocks noChangeArrowheads="1"/>
          </p:cNvSpPr>
          <p:nvPr/>
        </p:nvSpPr>
        <p:spPr bwMode="auto">
          <a:xfrm>
            <a:off x="295851" y="5551488"/>
            <a:ext cx="8100003" cy="1029421"/>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anchor="ctr"/>
          <a:lstStyle/>
          <a:p>
            <a:pPr marL="225425" indent="-225425" algn="l">
              <a:lnSpc>
                <a:spcPct val="85000"/>
              </a:lnSpc>
              <a:spcBef>
                <a:spcPct val="40000"/>
              </a:spcBef>
              <a:buSzPct val="80000"/>
              <a:buFontTx/>
              <a:buBlip>
                <a:blip r:embed="rId12"/>
              </a:buBlip>
            </a:pPr>
            <a:r>
              <a:rPr lang="fr-FR" sz="2200" dirty="0">
                <a:solidFill>
                  <a:srgbClr val="000000"/>
                </a:solidFill>
              </a:rPr>
              <a:t>Alloue des blocs </a:t>
            </a:r>
            <a:r>
              <a:rPr lang="fr-FR" sz="2200" dirty="0" smtClean="0">
                <a:solidFill>
                  <a:srgbClr val="000000"/>
                </a:solidFill>
              </a:rPr>
              <a:t>d'identificateurs </a:t>
            </a:r>
            <a:r>
              <a:rPr lang="fr-FR" sz="2200" dirty="0">
                <a:solidFill>
                  <a:srgbClr val="000000"/>
                </a:solidFill>
              </a:rPr>
              <a:t>RID</a:t>
            </a:r>
            <a:endParaRPr lang="en-US" sz="2200" dirty="0"/>
          </a:p>
          <a:p>
            <a:pPr marL="225425" indent="-225425" algn="l">
              <a:lnSpc>
                <a:spcPct val="85000"/>
              </a:lnSpc>
              <a:spcBef>
                <a:spcPct val="40000"/>
              </a:spcBef>
              <a:buSzPct val="80000"/>
              <a:buFontTx/>
              <a:buBlip>
                <a:blip r:embed="rId12"/>
              </a:buBlip>
            </a:pPr>
            <a:r>
              <a:rPr lang="fr-FR" sz="2200" dirty="0">
                <a:solidFill>
                  <a:srgbClr val="000000"/>
                </a:solidFill>
              </a:rPr>
              <a:t>Empêche la duplication d'objet</a:t>
            </a:r>
            <a:endParaRPr lang="en-US" sz="2200" dirty="0">
              <a:solidFill>
                <a:srgbClr val="000000"/>
              </a:solidFill>
            </a:endParaRPr>
          </a:p>
        </p:txBody>
      </p:sp>
      <p:pic>
        <p:nvPicPr>
          <p:cNvPr id="486508" name="Picture 108" descr="2Domain01"/>
          <p:cNvPicPr>
            <a:picLocks noChangeAspect="1" noChangeArrowheads="1"/>
          </p:cNvPicPr>
          <p:nvPr>
            <p:custDataLst>
              <p:tags r:id="rId1"/>
            </p:custDataLst>
          </p:nvPr>
        </p:nvPicPr>
        <p:blipFill>
          <a:blip r:embed="rId13"/>
          <a:srcRect/>
          <a:stretch>
            <a:fillRect/>
          </a:stretch>
        </p:blipFill>
        <p:spPr bwMode="auto">
          <a:xfrm>
            <a:off x="360788" y="2770950"/>
            <a:ext cx="1941512" cy="1741488"/>
          </a:xfrm>
          <a:prstGeom prst="rect">
            <a:avLst/>
          </a:prstGeom>
          <a:noFill/>
        </p:spPr>
      </p:pic>
      <p:pic>
        <p:nvPicPr>
          <p:cNvPr id="486509" name="Picture 109" descr="User_UserB01"/>
          <p:cNvPicPr>
            <a:picLocks noChangeAspect="1" noChangeArrowheads="1"/>
          </p:cNvPicPr>
          <p:nvPr>
            <p:custDataLst>
              <p:tags r:id="rId2"/>
            </p:custDataLst>
          </p:nvPr>
        </p:nvPicPr>
        <p:blipFill>
          <a:blip r:embed="rId14" cstate="print"/>
          <a:srcRect/>
          <a:stretch>
            <a:fillRect/>
          </a:stretch>
        </p:blipFill>
        <p:spPr bwMode="auto">
          <a:xfrm>
            <a:off x="1508550" y="2778888"/>
            <a:ext cx="485775" cy="1101725"/>
          </a:xfrm>
          <a:prstGeom prst="rect">
            <a:avLst/>
          </a:prstGeom>
          <a:noFill/>
        </p:spPr>
      </p:pic>
      <p:pic>
        <p:nvPicPr>
          <p:cNvPr id="486511" name="Picture 111" descr="Server01"/>
          <p:cNvPicPr>
            <a:picLocks noChangeAspect="1" noChangeArrowheads="1"/>
          </p:cNvPicPr>
          <p:nvPr>
            <p:custDataLst>
              <p:tags r:id="rId3"/>
            </p:custDataLst>
          </p:nvPr>
        </p:nvPicPr>
        <p:blipFill>
          <a:blip r:embed="rId15" cstate="print"/>
          <a:srcRect/>
          <a:stretch>
            <a:fillRect/>
          </a:stretch>
        </p:blipFill>
        <p:spPr bwMode="auto">
          <a:xfrm>
            <a:off x="535413" y="3347213"/>
            <a:ext cx="949325" cy="1116012"/>
          </a:xfrm>
          <a:prstGeom prst="rect">
            <a:avLst/>
          </a:prstGeom>
          <a:noFill/>
        </p:spPr>
      </p:pic>
      <p:pic>
        <p:nvPicPr>
          <p:cNvPr id="486512" name="Picture 112" descr="ActiveDirectory01"/>
          <p:cNvPicPr>
            <a:picLocks noChangeAspect="1" noChangeArrowheads="1"/>
          </p:cNvPicPr>
          <p:nvPr>
            <p:custDataLst>
              <p:tags r:id="rId4"/>
            </p:custDataLst>
          </p:nvPr>
        </p:nvPicPr>
        <p:blipFill>
          <a:blip r:embed="rId16" cstate="print"/>
          <a:srcRect/>
          <a:stretch>
            <a:fillRect/>
          </a:stretch>
        </p:blipFill>
        <p:spPr bwMode="auto">
          <a:xfrm>
            <a:off x="1102150" y="3821875"/>
            <a:ext cx="788988" cy="517525"/>
          </a:xfrm>
          <a:prstGeom prst="rect">
            <a:avLst/>
          </a:prstGeom>
          <a:noFill/>
        </p:spPr>
      </p:pic>
      <p:pic>
        <p:nvPicPr>
          <p:cNvPr id="486513" name="Picture 113" descr="2Domain01"/>
          <p:cNvPicPr>
            <a:picLocks noChangeAspect="1" noChangeArrowheads="1"/>
          </p:cNvPicPr>
          <p:nvPr/>
        </p:nvPicPr>
        <p:blipFill>
          <a:blip r:embed="rId13"/>
          <a:srcRect/>
          <a:stretch>
            <a:fillRect/>
          </a:stretch>
        </p:blipFill>
        <p:spPr bwMode="auto">
          <a:xfrm>
            <a:off x="2991018" y="1493223"/>
            <a:ext cx="3165475" cy="2840037"/>
          </a:xfrm>
          <a:prstGeom prst="rect">
            <a:avLst/>
          </a:prstGeom>
          <a:noFill/>
        </p:spPr>
      </p:pic>
      <p:sp>
        <p:nvSpPr>
          <p:cNvPr id="486514" name="AutoShape 114"/>
          <p:cNvSpPr>
            <a:spLocks noChangeArrowheads="1"/>
          </p:cNvSpPr>
          <p:nvPr/>
        </p:nvSpPr>
        <p:spPr bwMode="auto">
          <a:xfrm>
            <a:off x="2995766" y="2614307"/>
            <a:ext cx="1036638" cy="571500"/>
          </a:xfrm>
          <a:prstGeom prst="roundRect">
            <a:avLst>
              <a:gd name="adj" fmla="val 10000"/>
            </a:avLst>
          </a:prstGeom>
          <a:gradFill rotWithShape="1">
            <a:gsLst>
              <a:gs pos="0">
                <a:srgbClr val="D5D69C"/>
              </a:gs>
              <a:gs pos="100000">
                <a:srgbClr val="EEEFD7"/>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a:solidFill>
                  <a:srgbClr val="000000"/>
                </a:solidFill>
              </a:rPr>
              <a:t>Maître RID</a:t>
            </a:r>
            <a:endParaRPr lang="en-US"/>
          </a:p>
        </p:txBody>
      </p:sp>
      <p:pic>
        <p:nvPicPr>
          <p:cNvPr id="486516" name="Picture 116" descr="Server01"/>
          <p:cNvPicPr>
            <a:picLocks noChangeAspect="1" noChangeArrowheads="1"/>
          </p:cNvPicPr>
          <p:nvPr>
            <p:custDataLst>
              <p:tags r:id="rId5"/>
            </p:custDataLst>
          </p:nvPr>
        </p:nvPicPr>
        <p:blipFill>
          <a:blip r:embed="rId15" cstate="print"/>
          <a:srcRect/>
          <a:stretch>
            <a:fillRect/>
          </a:stretch>
        </p:blipFill>
        <p:spPr bwMode="auto">
          <a:xfrm>
            <a:off x="4042345" y="1914445"/>
            <a:ext cx="949325" cy="1116013"/>
          </a:xfrm>
          <a:prstGeom prst="rect">
            <a:avLst/>
          </a:prstGeom>
          <a:noFill/>
        </p:spPr>
      </p:pic>
      <p:pic>
        <p:nvPicPr>
          <p:cNvPr id="486517" name="Picture 117" descr="ActiveDirectory01"/>
          <p:cNvPicPr>
            <a:picLocks noChangeAspect="1" noChangeArrowheads="1"/>
          </p:cNvPicPr>
          <p:nvPr>
            <p:custDataLst>
              <p:tags r:id="rId6"/>
            </p:custDataLst>
          </p:nvPr>
        </p:nvPicPr>
        <p:blipFill>
          <a:blip r:embed="rId16" cstate="print"/>
          <a:srcRect/>
          <a:stretch>
            <a:fillRect/>
          </a:stretch>
        </p:blipFill>
        <p:spPr bwMode="auto">
          <a:xfrm>
            <a:off x="4609083" y="2389108"/>
            <a:ext cx="788987" cy="517525"/>
          </a:xfrm>
          <a:prstGeom prst="rect">
            <a:avLst/>
          </a:prstGeom>
          <a:noFill/>
        </p:spPr>
      </p:pic>
      <p:sp>
        <p:nvSpPr>
          <p:cNvPr id="486519" name="AutoShape 119"/>
          <p:cNvSpPr>
            <a:spLocks noChangeArrowheads="1"/>
          </p:cNvSpPr>
          <p:nvPr/>
        </p:nvSpPr>
        <p:spPr bwMode="auto">
          <a:xfrm>
            <a:off x="4979813" y="3139023"/>
            <a:ext cx="1638300" cy="406400"/>
          </a:xfrm>
          <a:prstGeom prst="roundRect">
            <a:avLst>
              <a:gd name="adj" fmla="val 4167"/>
            </a:avLst>
          </a:prstGeom>
          <a:gradFill rotWithShape="1">
            <a:gsLst>
              <a:gs pos="0">
                <a:srgbClr val="ADE2A1"/>
              </a:gs>
              <a:gs pos="100000">
                <a:srgbClr val="E8F6E4"/>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a:solidFill>
                  <a:srgbClr val="000000"/>
                </a:solidFill>
              </a:rPr>
              <a:t>Déplacement</a:t>
            </a:r>
            <a:endParaRPr lang="en-US"/>
          </a:p>
        </p:txBody>
      </p:sp>
      <p:sp>
        <p:nvSpPr>
          <p:cNvPr id="486520" name="Freeform 120"/>
          <p:cNvSpPr>
            <a:spLocks/>
          </p:cNvSpPr>
          <p:nvPr/>
        </p:nvSpPr>
        <p:spPr bwMode="auto">
          <a:xfrm rot="9915079" flipV="1">
            <a:off x="1983493" y="3368625"/>
            <a:ext cx="1394944" cy="564543"/>
          </a:xfrm>
          <a:custGeom>
            <a:avLst/>
            <a:gdLst/>
            <a:ahLst/>
            <a:cxnLst>
              <a:cxn ang="0">
                <a:pos x="430" y="149"/>
              </a:cxn>
              <a:cxn ang="0">
                <a:pos x="427" y="165"/>
              </a:cxn>
              <a:cxn ang="0">
                <a:pos x="425" y="182"/>
              </a:cxn>
              <a:cxn ang="0">
                <a:pos x="422" y="204"/>
              </a:cxn>
              <a:cxn ang="0">
                <a:pos x="671" y="98"/>
              </a:cxn>
              <a:cxn ang="0">
                <a:pos x="422" y="0"/>
              </a:cxn>
              <a:cxn ang="0">
                <a:pos x="425" y="20"/>
              </a:cxn>
              <a:cxn ang="0">
                <a:pos x="427" y="37"/>
              </a:cxn>
              <a:cxn ang="0">
                <a:pos x="430" y="53"/>
              </a:cxn>
              <a:cxn ang="0">
                <a:pos x="414" y="55"/>
              </a:cxn>
              <a:cxn ang="0">
                <a:pos x="396" y="58"/>
              </a:cxn>
              <a:cxn ang="0">
                <a:pos x="372" y="62"/>
              </a:cxn>
              <a:cxn ang="0">
                <a:pos x="343" y="69"/>
              </a:cxn>
              <a:cxn ang="0">
                <a:pos x="311" y="78"/>
              </a:cxn>
              <a:cxn ang="0">
                <a:pos x="275" y="90"/>
              </a:cxn>
              <a:cxn ang="0">
                <a:pos x="258" y="97"/>
              </a:cxn>
              <a:cxn ang="0">
                <a:pos x="239" y="105"/>
              </a:cxn>
              <a:cxn ang="0">
                <a:pos x="220" y="114"/>
              </a:cxn>
              <a:cxn ang="0">
                <a:pos x="201" y="124"/>
              </a:cxn>
              <a:cxn ang="0">
                <a:pos x="182" y="136"/>
              </a:cxn>
              <a:cxn ang="0">
                <a:pos x="164" y="147"/>
              </a:cxn>
              <a:cxn ang="0">
                <a:pos x="146" y="161"/>
              </a:cxn>
              <a:cxn ang="0">
                <a:pos x="127" y="175"/>
              </a:cxn>
              <a:cxn ang="0">
                <a:pos x="111" y="191"/>
              </a:cxn>
              <a:cxn ang="0">
                <a:pos x="94" y="208"/>
              </a:cxn>
              <a:cxn ang="0">
                <a:pos x="78" y="226"/>
              </a:cxn>
              <a:cxn ang="0">
                <a:pos x="64" y="246"/>
              </a:cxn>
              <a:cxn ang="0">
                <a:pos x="49" y="268"/>
              </a:cxn>
              <a:cxn ang="0">
                <a:pos x="38" y="290"/>
              </a:cxn>
              <a:cxn ang="0">
                <a:pos x="32" y="301"/>
              </a:cxn>
              <a:cxn ang="0">
                <a:pos x="26" y="314"/>
              </a:cxn>
              <a:cxn ang="0">
                <a:pos x="20" y="326"/>
              </a:cxn>
              <a:cxn ang="0">
                <a:pos x="16" y="339"/>
              </a:cxn>
              <a:cxn ang="0">
                <a:pos x="7" y="366"/>
              </a:cxn>
              <a:cxn ang="0">
                <a:pos x="0" y="395"/>
              </a:cxn>
              <a:cxn ang="0">
                <a:pos x="7" y="382"/>
              </a:cxn>
              <a:cxn ang="0">
                <a:pos x="13" y="369"/>
              </a:cxn>
              <a:cxn ang="0">
                <a:pos x="27" y="345"/>
              </a:cxn>
              <a:cxn ang="0">
                <a:pos x="42" y="323"/>
              </a:cxn>
              <a:cxn ang="0">
                <a:pos x="56" y="301"/>
              </a:cxn>
              <a:cxn ang="0">
                <a:pos x="72" y="282"/>
              </a:cxn>
              <a:cxn ang="0">
                <a:pos x="90" y="265"/>
              </a:cxn>
              <a:cxn ang="0">
                <a:pos x="106" y="249"/>
              </a:cxn>
              <a:cxn ang="0">
                <a:pos x="123" y="234"/>
              </a:cxn>
              <a:cxn ang="0">
                <a:pos x="140" y="221"/>
              </a:cxn>
              <a:cxn ang="0">
                <a:pos x="159" y="210"/>
              </a:cxn>
              <a:cxn ang="0">
                <a:pos x="177" y="200"/>
              </a:cxn>
              <a:cxn ang="0">
                <a:pos x="194" y="190"/>
              </a:cxn>
              <a:cxn ang="0">
                <a:pos x="213" y="182"/>
              </a:cxn>
              <a:cxn ang="0">
                <a:pos x="230" y="175"/>
              </a:cxn>
              <a:cxn ang="0">
                <a:pos x="248" y="168"/>
              </a:cxn>
              <a:cxn ang="0">
                <a:pos x="265" y="163"/>
              </a:cxn>
              <a:cxn ang="0">
                <a:pos x="281" y="159"/>
              </a:cxn>
              <a:cxn ang="0">
                <a:pos x="298" y="156"/>
              </a:cxn>
              <a:cxn ang="0">
                <a:pos x="329" y="150"/>
              </a:cxn>
              <a:cxn ang="0">
                <a:pos x="343" y="149"/>
              </a:cxn>
              <a:cxn ang="0">
                <a:pos x="356" y="147"/>
              </a:cxn>
              <a:cxn ang="0">
                <a:pos x="381" y="147"/>
              </a:cxn>
              <a:cxn ang="0">
                <a:pos x="401" y="147"/>
              </a:cxn>
              <a:cxn ang="0">
                <a:pos x="417" y="147"/>
              </a:cxn>
              <a:cxn ang="0">
                <a:pos x="430" y="149"/>
              </a:cxn>
            </a:cxnLst>
            <a:rect l="0" t="0" r="r" b="b"/>
            <a:pathLst>
              <a:path w="671" h="395">
                <a:moveTo>
                  <a:pt x="430" y="149"/>
                </a:moveTo>
                <a:lnTo>
                  <a:pt x="427" y="165"/>
                </a:lnTo>
                <a:lnTo>
                  <a:pt x="425" y="182"/>
                </a:lnTo>
                <a:lnTo>
                  <a:pt x="422" y="204"/>
                </a:lnTo>
                <a:lnTo>
                  <a:pt x="671" y="98"/>
                </a:lnTo>
                <a:lnTo>
                  <a:pt x="422" y="0"/>
                </a:lnTo>
                <a:lnTo>
                  <a:pt x="425" y="20"/>
                </a:lnTo>
                <a:lnTo>
                  <a:pt x="427" y="37"/>
                </a:lnTo>
                <a:lnTo>
                  <a:pt x="430" y="53"/>
                </a:lnTo>
                <a:lnTo>
                  <a:pt x="414" y="55"/>
                </a:lnTo>
                <a:lnTo>
                  <a:pt x="396" y="58"/>
                </a:lnTo>
                <a:lnTo>
                  <a:pt x="372" y="62"/>
                </a:lnTo>
                <a:lnTo>
                  <a:pt x="343" y="69"/>
                </a:lnTo>
                <a:lnTo>
                  <a:pt x="311" y="78"/>
                </a:lnTo>
                <a:lnTo>
                  <a:pt x="275" y="90"/>
                </a:lnTo>
                <a:lnTo>
                  <a:pt x="258" y="97"/>
                </a:lnTo>
                <a:lnTo>
                  <a:pt x="239" y="105"/>
                </a:lnTo>
                <a:lnTo>
                  <a:pt x="220" y="114"/>
                </a:lnTo>
                <a:lnTo>
                  <a:pt x="201" y="124"/>
                </a:lnTo>
                <a:lnTo>
                  <a:pt x="182" y="136"/>
                </a:lnTo>
                <a:lnTo>
                  <a:pt x="164" y="147"/>
                </a:lnTo>
                <a:lnTo>
                  <a:pt x="146" y="161"/>
                </a:lnTo>
                <a:lnTo>
                  <a:pt x="127" y="175"/>
                </a:lnTo>
                <a:lnTo>
                  <a:pt x="111" y="191"/>
                </a:lnTo>
                <a:lnTo>
                  <a:pt x="94" y="208"/>
                </a:lnTo>
                <a:lnTo>
                  <a:pt x="78" y="226"/>
                </a:lnTo>
                <a:lnTo>
                  <a:pt x="64" y="246"/>
                </a:lnTo>
                <a:lnTo>
                  <a:pt x="49" y="268"/>
                </a:lnTo>
                <a:lnTo>
                  <a:pt x="38" y="290"/>
                </a:lnTo>
                <a:lnTo>
                  <a:pt x="32" y="301"/>
                </a:lnTo>
                <a:lnTo>
                  <a:pt x="26" y="314"/>
                </a:lnTo>
                <a:lnTo>
                  <a:pt x="20" y="326"/>
                </a:lnTo>
                <a:lnTo>
                  <a:pt x="16" y="339"/>
                </a:lnTo>
                <a:lnTo>
                  <a:pt x="7" y="366"/>
                </a:lnTo>
                <a:lnTo>
                  <a:pt x="0" y="395"/>
                </a:lnTo>
                <a:lnTo>
                  <a:pt x="7" y="382"/>
                </a:lnTo>
                <a:lnTo>
                  <a:pt x="13" y="369"/>
                </a:lnTo>
                <a:lnTo>
                  <a:pt x="27" y="345"/>
                </a:lnTo>
                <a:lnTo>
                  <a:pt x="42" y="323"/>
                </a:lnTo>
                <a:lnTo>
                  <a:pt x="56" y="301"/>
                </a:lnTo>
                <a:lnTo>
                  <a:pt x="72" y="282"/>
                </a:lnTo>
                <a:lnTo>
                  <a:pt x="90" y="265"/>
                </a:lnTo>
                <a:lnTo>
                  <a:pt x="106" y="249"/>
                </a:lnTo>
                <a:lnTo>
                  <a:pt x="123" y="234"/>
                </a:lnTo>
                <a:lnTo>
                  <a:pt x="140" y="221"/>
                </a:lnTo>
                <a:lnTo>
                  <a:pt x="159" y="210"/>
                </a:lnTo>
                <a:lnTo>
                  <a:pt x="177" y="200"/>
                </a:lnTo>
                <a:lnTo>
                  <a:pt x="194" y="190"/>
                </a:lnTo>
                <a:lnTo>
                  <a:pt x="213" y="182"/>
                </a:lnTo>
                <a:lnTo>
                  <a:pt x="230" y="175"/>
                </a:lnTo>
                <a:lnTo>
                  <a:pt x="248" y="168"/>
                </a:lnTo>
                <a:lnTo>
                  <a:pt x="265" y="163"/>
                </a:lnTo>
                <a:lnTo>
                  <a:pt x="281" y="159"/>
                </a:lnTo>
                <a:lnTo>
                  <a:pt x="298" y="156"/>
                </a:lnTo>
                <a:lnTo>
                  <a:pt x="329" y="150"/>
                </a:lnTo>
                <a:lnTo>
                  <a:pt x="343" y="149"/>
                </a:lnTo>
                <a:lnTo>
                  <a:pt x="356" y="147"/>
                </a:lnTo>
                <a:lnTo>
                  <a:pt x="381" y="147"/>
                </a:lnTo>
                <a:lnTo>
                  <a:pt x="401" y="147"/>
                </a:lnTo>
                <a:lnTo>
                  <a:pt x="417" y="147"/>
                </a:lnTo>
                <a:lnTo>
                  <a:pt x="430" y="149"/>
                </a:lnTo>
                <a:close/>
              </a:path>
            </a:pathLst>
          </a:custGeom>
          <a:solidFill>
            <a:srgbClr val="FF0000">
              <a:alpha val="75000"/>
            </a:srgbClr>
          </a:solidFill>
          <a:ln w="9525">
            <a:noFill/>
            <a:round/>
            <a:headEnd/>
            <a:tailEnd/>
          </a:ln>
        </p:spPr>
        <p:txBody>
          <a:bodyPr/>
          <a:lstStyle/>
          <a:p>
            <a:endParaRPr lang="fr-FR"/>
          </a:p>
        </p:txBody>
      </p:sp>
      <p:sp>
        <p:nvSpPr>
          <p:cNvPr id="486522" name="AutoShape 122"/>
          <p:cNvSpPr>
            <a:spLocks noChangeArrowheads="1"/>
          </p:cNvSpPr>
          <p:nvPr/>
        </p:nvSpPr>
        <p:spPr bwMode="auto">
          <a:xfrm>
            <a:off x="2713904" y="1482870"/>
            <a:ext cx="1598612" cy="381000"/>
          </a:xfrm>
          <a:prstGeom prst="roundRect">
            <a:avLst>
              <a:gd name="adj" fmla="val 4167"/>
            </a:avLst>
          </a:prstGeom>
          <a:gradFill rotWithShape="1">
            <a:gsLst>
              <a:gs pos="0">
                <a:srgbClr val="ADE2A1"/>
              </a:gs>
              <a:gs pos="100000">
                <a:srgbClr val="E8F6E4"/>
              </a:gs>
            </a:gsLst>
            <a:lin ang="2700000" scaled="1"/>
          </a:gradFill>
          <a:ln w="9525">
            <a:solidFill>
              <a:srgbClr val="4D4D4D"/>
            </a:solidFill>
            <a:round/>
            <a:headEnd/>
            <a:tailEnd/>
          </a:ln>
          <a:effectLst>
            <a:outerShdw dist="35921" dir="2700000" algn="ctr" rotWithShape="0">
              <a:srgbClr val="AFAFAF"/>
            </a:outerShdw>
          </a:effectLst>
        </p:spPr>
        <p:txBody>
          <a:bodyPr anchor="ctr"/>
          <a:lstStyle/>
          <a:p>
            <a:r>
              <a:rPr lang="fr-FR">
                <a:solidFill>
                  <a:srgbClr val="000000"/>
                </a:solidFill>
              </a:rPr>
              <a:t>Attribution RID</a:t>
            </a:r>
            <a:endParaRPr lang="en-US"/>
          </a:p>
        </p:txBody>
      </p:sp>
      <p:sp>
        <p:nvSpPr>
          <p:cNvPr id="486523" name="Line 123"/>
          <p:cNvSpPr>
            <a:spLocks noChangeShapeType="1"/>
          </p:cNvSpPr>
          <p:nvPr/>
        </p:nvSpPr>
        <p:spPr bwMode="auto">
          <a:xfrm rot="16200000" flipH="1" flipV="1">
            <a:off x="3926541" y="2647722"/>
            <a:ext cx="630099" cy="447548"/>
          </a:xfrm>
          <a:prstGeom prst="line">
            <a:avLst/>
          </a:prstGeom>
          <a:noFill/>
          <a:ln w="57150">
            <a:solidFill>
              <a:srgbClr val="333399"/>
            </a:solidFill>
            <a:prstDash val="sysDot"/>
            <a:round/>
            <a:headEnd type="triangle" w="med" len="med"/>
            <a:tailEnd/>
          </a:ln>
          <a:effectLst/>
        </p:spPr>
        <p:txBody>
          <a:bodyPr/>
          <a:lstStyle/>
          <a:p>
            <a:endParaRPr lang="fr-FR"/>
          </a:p>
        </p:txBody>
      </p:sp>
      <p:pic>
        <p:nvPicPr>
          <p:cNvPr id="486525" name="Picture 125" descr="Server01"/>
          <p:cNvPicPr>
            <a:picLocks noChangeAspect="1" noChangeArrowheads="1"/>
          </p:cNvPicPr>
          <p:nvPr>
            <p:custDataLst>
              <p:tags r:id="rId7"/>
            </p:custDataLst>
          </p:nvPr>
        </p:nvPicPr>
        <p:blipFill>
          <a:blip r:embed="rId15" cstate="print"/>
          <a:srcRect/>
          <a:stretch>
            <a:fillRect/>
          </a:stretch>
        </p:blipFill>
        <p:spPr bwMode="auto">
          <a:xfrm>
            <a:off x="3449510" y="3104423"/>
            <a:ext cx="949325" cy="1116012"/>
          </a:xfrm>
          <a:prstGeom prst="rect">
            <a:avLst/>
          </a:prstGeom>
          <a:noFill/>
        </p:spPr>
      </p:pic>
      <p:pic>
        <p:nvPicPr>
          <p:cNvPr id="486526" name="Picture 126" descr="ActiveDirectory01"/>
          <p:cNvPicPr>
            <a:picLocks noChangeAspect="1" noChangeArrowheads="1"/>
          </p:cNvPicPr>
          <p:nvPr>
            <p:custDataLst>
              <p:tags r:id="rId8"/>
            </p:custDataLst>
          </p:nvPr>
        </p:nvPicPr>
        <p:blipFill>
          <a:blip r:embed="rId16" cstate="print"/>
          <a:srcRect/>
          <a:stretch>
            <a:fillRect/>
          </a:stretch>
        </p:blipFill>
        <p:spPr bwMode="auto">
          <a:xfrm>
            <a:off x="4016248" y="3579085"/>
            <a:ext cx="788987" cy="517525"/>
          </a:xfrm>
          <a:prstGeom prst="rect">
            <a:avLst/>
          </a:prstGeom>
          <a:noFill/>
        </p:spPr>
      </p:pic>
      <p:grpSp>
        <p:nvGrpSpPr>
          <p:cNvPr id="486532" name="Group 127"/>
          <p:cNvGrpSpPr>
            <a:grpSpLocks/>
          </p:cNvGrpSpPr>
          <p:nvPr/>
        </p:nvGrpSpPr>
        <p:grpSpPr bwMode="auto">
          <a:xfrm>
            <a:off x="4890077" y="1369724"/>
            <a:ext cx="4044950" cy="534987"/>
            <a:chOff x="1780" y="3577"/>
            <a:chExt cx="2548" cy="337"/>
          </a:xfrm>
        </p:grpSpPr>
        <p:sp>
          <p:nvSpPr>
            <p:cNvPr id="486528" name="AutoShape 128"/>
            <p:cNvSpPr>
              <a:spLocks noChangeArrowheads="1"/>
            </p:cNvSpPr>
            <p:nvPr/>
          </p:nvSpPr>
          <p:spPr bwMode="auto">
            <a:xfrm>
              <a:off x="1780" y="3601"/>
              <a:ext cx="2548" cy="290"/>
            </a:xfrm>
            <a:prstGeom prst="roundRect">
              <a:avLst>
                <a:gd name="adj" fmla="val 7931"/>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fr-FR" sz="2400">
                  <a:solidFill>
                    <a:srgbClr val="000000"/>
                  </a:solidFill>
                </a:rPr>
                <a:t>SID objet = SID domaine + RID</a:t>
              </a:r>
              <a:endParaRPr lang="en-US" sz="2400"/>
            </a:p>
          </p:txBody>
        </p:sp>
        <p:sp>
          <p:nvSpPr>
            <p:cNvPr id="486529" name="Oval 129"/>
            <p:cNvSpPr>
              <a:spLocks noChangeArrowheads="1"/>
            </p:cNvSpPr>
            <p:nvPr>
              <p:custDataLst>
                <p:tags r:id="rId9"/>
              </p:custDataLst>
            </p:nvPr>
          </p:nvSpPr>
          <p:spPr bwMode="auto">
            <a:xfrm>
              <a:off x="3896" y="3577"/>
              <a:ext cx="337" cy="337"/>
            </a:xfrm>
            <a:prstGeom prst="ellipse">
              <a:avLst/>
            </a:prstGeom>
            <a:noFill/>
            <a:ln w="38100">
              <a:solidFill>
                <a:srgbClr val="CC0000"/>
              </a:solidFill>
              <a:round/>
              <a:headEnd/>
              <a:tailEnd/>
            </a:ln>
            <a:effectLst/>
          </p:spPr>
          <p:txBody>
            <a:bodyPr wrap="none" anchor="ctr"/>
            <a:lstStyle/>
            <a:p>
              <a:endParaRPr lang="fr-FR"/>
            </a:p>
          </p:txBody>
        </p:sp>
      </p:grpSp>
      <p:sp>
        <p:nvSpPr>
          <p:cNvPr id="486530" name="AutoShape 130"/>
          <p:cNvSpPr>
            <a:spLocks noChangeArrowheads="1"/>
          </p:cNvSpPr>
          <p:nvPr/>
        </p:nvSpPr>
        <p:spPr bwMode="auto">
          <a:xfrm>
            <a:off x="3948274" y="4198066"/>
            <a:ext cx="2082800" cy="635000"/>
          </a:xfrm>
          <a:prstGeom prst="roundRect">
            <a:avLst>
              <a:gd name="adj" fmla="val 8588"/>
            </a:avLst>
          </a:prstGeom>
          <a:solidFill>
            <a:srgbClr val="FFFFFF"/>
          </a:solidFill>
          <a:ln w="9525">
            <a:solidFill>
              <a:srgbClr val="333399"/>
            </a:solidFill>
            <a:round/>
            <a:headEnd/>
            <a:tailEnd/>
          </a:ln>
          <a:effectLst>
            <a:outerShdw dist="53882" dir="2700000" algn="ctr" rotWithShape="0">
              <a:srgbClr val="C0C0C0"/>
            </a:outerShdw>
          </a:effectLst>
        </p:spPr>
        <p:txBody>
          <a:bodyPr tIns="27432" bIns="27432" anchor="ctr"/>
          <a:lstStyle/>
          <a:p>
            <a:r>
              <a:rPr lang="fr-FR">
                <a:solidFill>
                  <a:srgbClr val="000000"/>
                </a:solidFill>
              </a:rPr>
              <a:t>Blocs d'identificateurs RID</a:t>
            </a:r>
            <a:endParaRPr lang="en-US"/>
          </a:p>
        </p:txBody>
      </p:sp>
      <p:pic>
        <p:nvPicPr>
          <p:cNvPr id="486518" name="Picture 118" descr="User_UserB01"/>
          <p:cNvPicPr>
            <a:picLocks noChangeAspect="1" noChangeArrowheads="1"/>
          </p:cNvPicPr>
          <p:nvPr/>
        </p:nvPicPr>
        <p:blipFill>
          <a:blip r:embed="rId14" cstate="print"/>
          <a:srcRect/>
          <a:stretch>
            <a:fillRect/>
          </a:stretch>
        </p:blipFill>
        <p:spPr bwMode="auto">
          <a:xfrm>
            <a:off x="4311812" y="3228825"/>
            <a:ext cx="485775" cy="11017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86500">
                                            <p:txEl>
                                              <p:pRg st="0" end="0"/>
                                            </p:txEl>
                                          </p:spTgt>
                                        </p:tgtEl>
                                        <p:attrNameLst>
                                          <p:attrName>style.visibility</p:attrName>
                                        </p:attrNameLst>
                                      </p:cBhvr>
                                      <p:to>
                                        <p:strVal val="visible"/>
                                      </p:to>
                                    </p:set>
                                    <p:animEffect transition="in" filter="checkerboard(across)">
                                      <p:cBhvr>
                                        <p:cTn id="7" dur="500"/>
                                        <p:tgtEl>
                                          <p:spTgt spid="486500">
                                            <p:txEl>
                                              <p:pRg st="0" end="0"/>
                                            </p:txEl>
                                          </p:spTgt>
                                        </p:tgtEl>
                                      </p:cBhvr>
                                    </p:animEffect>
                                  </p:childTnLst>
                                </p:cTn>
                              </p:par>
                            </p:childTnLst>
                          </p:cTn>
                        </p:par>
                        <p:par>
                          <p:cTn id="8" fill="hold">
                            <p:stCondLst>
                              <p:cond delay="500"/>
                            </p:stCondLst>
                            <p:childTnLst>
                              <p:par>
                                <p:cTn id="9" presetID="5" presetClass="entr" presetSubtype="10" fill="hold" nodeType="afterEffect">
                                  <p:stCondLst>
                                    <p:cond delay="0"/>
                                  </p:stCondLst>
                                  <p:childTnLst>
                                    <p:set>
                                      <p:cBhvr>
                                        <p:cTn id="10" dur="1" fill="hold">
                                          <p:stCondLst>
                                            <p:cond delay="0"/>
                                          </p:stCondLst>
                                        </p:cTn>
                                        <p:tgtEl>
                                          <p:spTgt spid="486532"/>
                                        </p:tgtEl>
                                        <p:attrNameLst>
                                          <p:attrName>style.visibility</p:attrName>
                                        </p:attrNameLst>
                                      </p:cBhvr>
                                      <p:to>
                                        <p:strVal val="visible"/>
                                      </p:to>
                                    </p:set>
                                    <p:animEffect transition="in" filter="checkerboard(across)">
                                      <p:cBhvr>
                                        <p:cTn id="11" dur="1000"/>
                                        <p:tgtEl>
                                          <p:spTgt spid="486532"/>
                                        </p:tgtEl>
                                      </p:cBhvr>
                                    </p:animEffect>
                                  </p:childTnLst>
                                </p:cTn>
                              </p:par>
                              <p:par>
                                <p:cTn id="12" presetID="5" presetClass="entr" presetSubtype="10" fill="hold" grpId="0" nodeType="withEffect">
                                  <p:stCondLst>
                                    <p:cond delay="0"/>
                                  </p:stCondLst>
                                  <p:childTnLst>
                                    <p:set>
                                      <p:cBhvr>
                                        <p:cTn id="13" dur="1" fill="hold">
                                          <p:stCondLst>
                                            <p:cond delay="0"/>
                                          </p:stCondLst>
                                        </p:cTn>
                                        <p:tgtEl>
                                          <p:spTgt spid="486522"/>
                                        </p:tgtEl>
                                        <p:attrNameLst>
                                          <p:attrName>style.visibility</p:attrName>
                                        </p:attrNameLst>
                                      </p:cBhvr>
                                      <p:to>
                                        <p:strVal val="visible"/>
                                      </p:to>
                                    </p:set>
                                    <p:animEffect transition="in" filter="checkerboard(across)">
                                      <p:cBhvr>
                                        <p:cTn id="14" dur="500"/>
                                        <p:tgtEl>
                                          <p:spTgt spid="486522"/>
                                        </p:tgtEl>
                                      </p:cBhvr>
                                    </p:animEffect>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486530"/>
                                        </p:tgtEl>
                                        <p:attrNameLst>
                                          <p:attrName>style.visibility</p:attrName>
                                        </p:attrNameLst>
                                      </p:cBhvr>
                                      <p:to>
                                        <p:strVal val="visible"/>
                                      </p:to>
                                    </p:set>
                                    <p:animEffect transition="in" filter="checkerboard(across)">
                                      <p:cBhvr>
                                        <p:cTn id="19" dur="500"/>
                                        <p:tgtEl>
                                          <p:spTgt spid="486530"/>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486523"/>
                                        </p:tgtEl>
                                        <p:attrNameLst>
                                          <p:attrName>style.visibility</p:attrName>
                                        </p:attrNameLst>
                                      </p:cBhvr>
                                      <p:to>
                                        <p:strVal val="visible"/>
                                      </p:to>
                                    </p:set>
                                    <p:animEffect transition="in" filter="wipe(down)">
                                      <p:cBhvr>
                                        <p:cTn id="22" dur="1000"/>
                                        <p:tgtEl>
                                          <p:spTgt spid="4865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86500">
                                            <p:txEl>
                                              <p:pRg st="1" end="1"/>
                                            </p:txEl>
                                          </p:spTgt>
                                        </p:tgtEl>
                                        <p:attrNameLst>
                                          <p:attrName>style.visibility</p:attrName>
                                        </p:attrNameLst>
                                      </p:cBhvr>
                                      <p:to>
                                        <p:strVal val="visible"/>
                                      </p:to>
                                    </p:set>
                                    <p:animEffect transition="in" filter="wipe(down)">
                                      <p:cBhvr>
                                        <p:cTn id="27" dur="500"/>
                                        <p:tgtEl>
                                          <p:spTgt spid="486500">
                                            <p:txEl>
                                              <p:pRg st="1" end="1"/>
                                            </p:txEl>
                                          </p:spTgt>
                                        </p:tgtEl>
                                      </p:cBhvr>
                                    </p:animEffect>
                                  </p:childTnLst>
                                </p:cTn>
                              </p:par>
                              <p:par>
                                <p:cTn id="28" presetID="5" presetClass="entr" presetSubtype="10" fill="hold" nodeType="withEffect">
                                  <p:stCondLst>
                                    <p:cond delay="0"/>
                                  </p:stCondLst>
                                  <p:childTnLst>
                                    <p:set>
                                      <p:cBhvr>
                                        <p:cTn id="29" dur="1" fill="hold">
                                          <p:stCondLst>
                                            <p:cond delay="0"/>
                                          </p:stCondLst>
                                        </p:cTn>
                                        <p:tgtEl>
                                          <p:spTgt spid="486512"/>
                                        </p:tgtEl>
                                        <p:attrNameLst>
                                          <p:attrName>style.visibility</p:attrName>
                                        </p:attrNameLst>
                                      </p:cBhvr>
                                      <p:to>
                                        <p:strVal val="visible"/>
                                      </p:to>
                                    </p:set>
                                    <p:animEffect transition="in" filter="checkerboard(across)">
                                      <p:cBhvr>
                                        <p:cTn id="30" dur="1000"/>
                                        <p:tgtEl>
                                          <p:spTgt spid="486512"/>
                                        </p:tgtEl>
                                      </p:cBhvr>
                                    </p:animEffect>
                                  </p:childTnLst>
                                </p:cTn>
                              </p:par>
                              <p:par>
                                <p:cTn id="31" presetID="5" presetClass="entr" presetSubtype="10" fill="hold" nodeType="withEffect">
                                  <p:stCondLst>
                                    <p:cond delay="0"/>
                                  </p:stCondLst>
                                  <p:childTnLst>
                                    <p:set>
                                      <p:cBhvr>
                                        <p:cTn id="32" dur="1" fill="hold">
                                          <p:stCondLst>
                                            <p:cond delay="0"/>
                                          </p:stCondLst>
                                        </p:cTn>
                                        <p:tgtEl>
                                          <p:spTgt spid="486511"/>
                                        </p:tgtEl>
                                        <p:attrNameLst>
                                          <p:attrName>style.visibility</p:attrName>
                                        </p:attrNameLst>
                                      </p:cBhvr>
                                      <p:to>
                                        <p:strVal val="visible"/>
                                      </p:to>
                                    </p:set>
                                    <p:animEffect transition="in" filter="checkerboard(across)">
                                      <p:cBhvr>
                                        <p:cTn id="33" dur="1000"/>
                                        <p:tgtEl>
                                          <p:spTgt spid="486511"/>
                                        </p:tgtEl>
                                      </p:cBhvr>
                                    </p:animEffect>
                                  </p:childTnLst>
                                </p:cTn>
                              </p:par>
                              <p:par>
                                <p:cTn id="34" presetID="5" presetClass="entr" presetSubtype="10" fill="hold" nodeType="withEffect">
                                  <p:stCondLst>
                                    <p:cond delay="0"/>
                                  </p:stCondLst>
                                  <p:childTnLst>
                                    <p:set>
                                      <p:cBhvr>
                                        <p:cTn id="35" dur="1" fill="hold">
                                          <p:stCondLst>
                                            <p:cond delay="0"/>
                                          </p:stCondLst>
                                        </p:cTn>
                                        <p:tgtEl>
                                          <p:spTgt spid="486508"/>
                                        </p:tgtEl>
                                        <p:attrNameLst>
                                          <p:attrName>style.visibility</p:attrName>
                                        </p:attrNameLst>
                                      </p:cBhvr>
                                      <p:to>
                                        <p:strVal val="visible"/>
                                      </p:to>
                                    </p:set>
                                    <p:animEffect transition="in" filter="checkerboard(across)">
                                      <p:cBhvr>
                                        <p:cTn id="36" dur="1000"/>
                                        <p:tgtEl>
                                          <p:spTgt spid="486508"/>
                                        </p:tgtEl>
                                      </p:cBhvr>
                                    </p:animEffect>
                                  </p:childTnLst>
                                </p:cTn>
                              </p:par>
                              <p:par>
                                <p:cTn id="37" presetID="5" presetClass="entr" presetSubtype="10" fill="hold" grpId="0" nodeType="withEffect">
                                  <p:stCondLst>
                                    <p:cond delay="0"/>
                                  </p:stCondLst>
                                  <p:childTnLst>
                                    <p:set>
                                      <p:cBhvr>
                                        <p:cTn id="38" dur="1" fill="hold">
                                          <p:stCondLst>
                                            <p:cond delay="0"/>
                                          </p:stCondLst>
                                        </p:cTn>
                                        <p:tgtEl>
                                          <p:spTgt spid="486519"/>
                                        </p:tgtEl>
                                        <p:attrNameLst>
                                          <p:attrName>style.visibility</p:attrName>
                                        </p:attrNameLst>
                                      </p:cBhvr>
                                      <p:to>
                                        <p:strVal val="visible"/>
                                      </p:to>
                                    </p:set>
                                    <p:animEffect transition="in" filter="checkerboard(across)">
                                      <p:cBhvr>
                                        <p:cTn id="39" dur="1000"/>
                                        <p:tgtEl>
                                          <p:spTgt spid="486519"/>
                                        </p:tgtEl>
                                      </p:cBhvr>
                                    </p:animEffect>
                                  </p:childTnLst>
                                </p:cTn>
                              </p:par>
                            </p:childTnLst>
                          </p:cTn>
                        </p:par>
                      </p:childTnLst>
                    </p:cTn>
                  </p:par>
                  <p:par>
                    <p:cTn id="40" fill="hold">
                      <p:stCondLst>
                        <p:cond delay="indefinite"/>
                      </p:stCondLst>
                      <p:childTnLst>
                        <p:par>
                          <p:cTn id="41" fill="hold">
                            <p:stCondLst>
                              <p:cond delay="0"/>
                            </p:stCondLst>
                            <p:childTnLst>
                              <p:par>
                                <p:cTn id="42" presetID="5" presetClass="entr" presetSubtype="10" fill="hold" nodeType="clickEffect">
                                  <p:stCondLst>
                                    <p:cond delay="0"/>
                                  </p:stCondLst>
                                  <p:childTnLst>
                                    <p:set>
                                      <p:cBhvr>
                                        <p:cTn id="43" dur="1" fill="hold">
                                          <p:stCondLst>
                                            <p:cond delay="0"/>
                                          </p:stCondLst>
                                        </p:cTn>
                                        <p:tgtEl>
                                          <p:spTgt spid="486518"/>
                                        </p:tgtEl>
                                        <p:attrNameLst>
                                          <p:attrName>style.visibility</p:attrName>
                                        </p:attrNameLst>
                                      </p:cBhvr>
                                      <p:to>
                                        <p:strVal val="visible"/>
                                      </p:to>
                                    </p:set>
                                    <p:animEffect transition="in" filter="checkerboard(across)">
                                      <p:cBhvr>
                                        <p:cTn id="44" dur="2000"/>
                                        <p:tgtEl>
                                          <p:spTgt spid="486518"/>
                                        </p:tgtEl>
                                      </p:cBhvr>
                                    </p:animEffect>
                                  </p:childTnLst>
                                </p:cTn>
                              </p:par>
                            </p:childTnLst>
                          </p:cTn>
                        </p:par>
                        <p:par>
                          <p:cTn id="45" fill="hold">
                            <p:stCondLst>
                              <p:cond delay="2000"/>
                            </p:stCondLst>
                            <p:childTnLst>
                              <p:par>
                                <p:cTn id="46" presetID="22" presetClass="entr" presetSubtype="2" fill="hold" grpId="0" nodeType="afterEffect">
                                  <p:stCondLst>
                                    <p:cond delay="0"/>
                                  </p:stCondLst>
                                  <p:childTnLst>
                                    <p:set>
                                      <p:cBhvr>
                                        <p:cTn id="47" dur="1" fill="hold">
                                          <p:stCondLst>
                                            <p:cond delay="0"/>
                                          </p:stCondLst>
                                        </p:cTn>
                                        <p:tgtEl>
                                          <p:spTgt spid="486520"/>
                                        </p:tgtEl>
                                        <p:attrNameLst>
                                          <p:attrName>style.visibility</p:attrName>
                                        </p:attrNameLst>
                                      </p:cBhvr>
                                      <p:to>
                                        <p:strVal val="visible"/>
                                      </p:to>
                                    </p:set>
                                    <p:animEffect transition="in" filter="wipe(right)">
                                      <p:cBhvr>
                                        <p:cTn id="48" dur="2000"/>
                                        <p:tgtEl>
                                          <p:spTgt spid="486520"/>
                                        </p:tgtEl>
                                      </p:cBhvr>
                                    </p:animEffect>
                                  </p:childTnLst>
                                </p:cTn>
                              </p:par>
                              <p:par>
                                <p:cTn id="49" presetID="5" presetClass="exit" presetSubtype="10" fill="hold" nodeType="withEffect">
                                  <p:stCondLst>
                                    <p:cond delay="0"/>
                                  </p:stCondLst>
                                  <p:childTnLst>
                                    <p:animEffect transition="out" filter="checkerboard(across)">
                                      <p:cBhvr>
                                        <p:cTn id="50" dur="500"/>
                                        <p:tgtEl>
                                          <p:spTgt spid="486518"/>
                                        </p:tgtEl>
                                      </p:cBhvr>
                                    </p:animEffect>
                                    <p:set>
                                      <p:cBhvr>
                                        <p:cTn id="51" dur="1" fill="hold">
                                          <p:stCondLst>
                                            <p:cond delay="499"/>
                                          </p:stCondLst>
                                        </p:cTn>
                                        <p:tgtEl>
                                          <p:spTgt spid="486518"/>
                                        </p:tgtEl>
                                        <p:attrNameLst>
                                          <p:attrName>style.visibility</p:attrName>
                                        </p:attrNameLst>
                                      </p:cBhvr>
                                      <p:to>
                                        <p:strVal val="hidden"/>
                                      </p:to>
                                    </p:set>
                                  </p:childTnLst>
                                </p:cTn>
                              </p:par>
                              <p:par>
                                <p:cTn id="52" presetID="5" presetClass="entr" presetSubtype="10" fill="hold" nodeType="withEffect">
                                  <p:stCondLst>
                                    <p:cond delay="0"/>
                                  </p:stCondLst>
                                  <p:childTnLst>
                                    <p:set>
                                      <p:cBhvr>
                                        <p:cTn id="53" dur="1" fill="hold">
                                          <p:stCondLst>
                                            <p:cond delay="0"/>
                                          </p:stCondLst>
                                        </p:cTn>
                                        <p:tgtEl>
                                          <p:spTgt spid="486509"/>
                                        </p:tgtEl>
                                        <p:attrNameLst>
                                          <p:attrName>style.visibility</p:attrName>
                                        </p:attrNameLst>
                                      </p:cBhvr>
                                      <p:to>
                                        <p:strVal val="visible"/>
                                      </p:to>
                                    </p:set>
                                    <p:animEffect transition="in" filter="checkerboard(across)">
                                      <p:cBhvr>
                                        <p:cTn id="54" dur="2000"/>
                                        <p:tgtEl>
                                          <p:spTgt spid="486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6519" grpId="0" animBg="1"/>
      <p:bldP spid="486520" grpId="0" animBg="1"/>
      <p:bldP spid="486522" grpId="0" animBg="1"/>
      <p:bldP spid="486523" grpId="0" animBg="1"/>
      <p:bldP spid="48653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a:xfrm>
            <a:off x="173182" y="292533"/>
            <a:ext cx="8776854" cy="684212"/>
          </a:xfrm>
        </p:spPr>
        <p:txBody>
          <a:bodyPr/>
          <a:lstStyle/>
          <a:p>
            <a:r>
              <a:rPr lang="fr-FR" b="1" dirty="0">
                <a:solidFill>
                  <a:srgbClr val="C00000"/>
                </a:solidFill>
              </a:rPr>
              <a:t>Définition d'un maître d'infrastructure </a:t>
            </a:r>
            <a:endParaRPr lang="en-US" b="1" dirty="0">
              <a:solidFill>
                <a:srgbClr val="C00000"/>
              </a:solidFill>
            </a:endParaRPr>
          </a:p>
        </p:txBody>
      </p:sp>
      <p:sp>
        <p:nvSpPr>
          <p:cNvPr id="27" name="Rectangle 26"/>
          <p:cNvSpPr/>
          <p:nvPr/>
        </p:nvSpPr>
        <p:spPr>
          <a:xfrm>
            <a:off x="193962" y="1692800"/>
            <a:ext cx="8769928" cy="1292662"/>
          </a:xfrm>
          <a:prstGeom prst="rect">
            <a:avLst/>
          </a:prstGeom>
        </p:spPr>
        <p:txBody>
          <a:bodyPr wrap="square">
            <a:spAutoFit/>
          </a:bodyPr>
          <a:lstStyle/>
          <a:p>
            <a:r>
              <a:rPr lang="fr-FR" sz="2600" dirty="0"/>
              <a:t>Le </a:t>
            </a:r>
            <a:r>
              <a:rPr lang="fr-FR" sz="2600" i="1" dirty="0"/>
              <a:t>maître d’infrastructure est un </a:t>
            </a:r>
            <a:r>
              <a:rPr lang="fr-FR" sz="2600" i="1" dirty="0" smtClean="0"/>
              <a:t>DC qui </a:t>
            </a:r>
            <a:r>
              <a:rPr lang="fr-FR" sz="2600" i="1" dirty="0"/>
              <a:t>met à jour </a:t>
            </a:r>
            <a:r>
              <a:rPr lang="fr-FR" sz="2600" i="1" dirty="0" smtClean="0"/>
              <a:t>les </a:t>
            </a:r>
            <a:r>
              <a:rPr lang="fr-FR" sz="2600" dirty="0" smtClean="0"/>
              <a:t>références </a:t>
            </a:r>
            <a:r>
              <a:rPr lang="fr-FR" sz="2600" dirty="0"/>
              <a:t>des objets de son domaine qui pointent vers les objets d’un </a:t>
            </a:r>
            <a:r>
              <a:rPr lang="fr-FR" sz="2600" dirty="0" smtClean="0"/>
              <a:t>autre domaine</a:t>
            </a:r>
            <a:r>
              <a:rPr lang="fr-FR" sz="2600" dirty="0"/>
              <a:t>.</a:t>
            </a:r>
          </a:p>
        </p:txBody>
      </p:sp>
      <p:sp>
        <p:nvSpPr>
          <p:cNvPr id="28" name="Rectangle 27"/>
          <p:cNvSpPr/>
          <p:nvPr/>
        </p:nvSpPr>
        <p:spPr>
          <a:xfrm>
            <a:off x="332511" y="3286082"/>
            <a:ext cx="8520544" cy="1938992"/>
          </a:xfrm>
          <a:prstGeom prst="rect">
            <a:avLst/>
          </a:prstGeom>
        </p:spPr>
        <p:txBody>
          <a:bodyPr wrap="square">
            <a:spAutoFit/>
          </a:bodyPr>
          <a:lstStyle/>
          <a:p>
            <a:pPr algn="l"/>
            <a:r>
              <a:rPr lang="fr-FR" sz="2400" dirty="0"/>
              <a:t>La référence </a:t>
            </a:r>
            <a:r>
              <a:rPr lang="fr-FR" sz="2400" dirty="0" smtClean="0"/>
              <a:t>contient:</a:t>
            </a:r>
          </a:p>
          <a:p>
            <a:pPr marL="360363" indent="-360363" algn="l">
              <a:buFont typeface="Wingdings" pitchFamily="2" charset="2"/>
              <a:buChar char="ü"/>
            </a:pPr>
            <a:r>
              <a:rPr lang="fr-FR" sz="2400" dirty="0" smtClean="0">
                <a:solidFill>
                  <a:srgbClr val="C00000"/>
                </a:solidFill>
              </a:rPr>
              <a:t>l’identificateur </a:t>
            </a:r>
            <a:r>
              <a:rPr lang="fr-FR" sz="2400" dirty="0">
                <a:solidFill>
                  <a:srgbClr val="C00000"/>
                </a:solidFill>
              </a:rPr>
              <a:t>global unique (GUID, </a:t>
            </a:r>
            <a:r>
              <a:rPr lang="fr-FR" sz="2400" i="1" dirty="0" err="1" smtClean="0">
                <a:solidFill>
                  <a:srgbClr val="C00000"/>
                </a:solidFill>
              </a:rPr>
              <a:t>Globally</a:t>
            </a:r>
            <a:r>
              <a:rPr lang="fr-FR" sz="2400" i="1" dirty="0" smtClean="0">
                <a:solidFill>
                  <a:srgbClr val="C00000"/>
                </a:solidFill>
              </a:rPr>
              <a:t> Unique </a:t>
            </a:r>
            <a:r>
              <a:rPr lang="fr-FR" sz="2400" i="1" dirty="0" err="1">
                <a:solidFill>
                  <a:srgbClr val="C00000"/>
                </a:solidFill>
              </a:rPr>
              <a:t>IDentifier</a:t>
            </a:r>
            <a:r>
              <a:rPr lang="fr-FR" sz="2400" i="1" dirty="0">
                <a:solidFill>
                  <a:srgbClr val="C00000"/>
                </a:solidFill>
              </a:rPr>
              <a:t>) de </a:t>
            </a:r>
            <a:r>
              <a:rPr lang="fr-FR" sz="2400" i="1" dirty="0" smtClean="0">
                <a:solidFill>
                  <a:srgbClr val="C00000"/>
                </a:solidFill>
              </a:rPr>
              <a:t>l’objet </a:t>
            </a:r>
          </a:p>
          <a:p>
            <a:pPr algn="l">
              <a:buFont typeface="Wingdings" pitchFamily="2" charset="2"/>
              <a:buChar char="ü"/>
            </a:pPr>
            <a:r>
              <a:rPr lang="fr-FR" sz="2400" dirty="0">
                <a:solidFill>
                  <a:srgbClr val="C00000"/>
                </a:solidFill>
              </a:rPr>
              <a:t>son nom unique </a:t>
            </a:r>
          </a:p>
          <a:p>
            <a:pPr algn="l">
              <a:buFont typeface="Wingdings" pitchFamily="2" charset="2"/>
              <a:buChar char="ü"/>
            </a:pPr>
            <a:r>
              <a:rPr lang="fr-FR" sz="2400" dirty="0">
                <a:solidFill>
                  <a:srgbClr val="C00000"/>
                </a:solidFill>
              </a:rPr>
              <a:t>Un identificateur de sécurité (SID)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checkerboard(across)">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checkerboard(across)">
                                      <p:cBhvr>
                                        <p:cTn id="1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a:xfrm>
            <a:off x="173182" y="292533"/>
            <a:ext cx="8776854" cy="684212"/>
          </a:xfrm>
        </p:spPr>
        <p:txBody>
          <a:bodyPr/>
          <a:lstStyle/>
          <a:p>
            <a:r>
              <a:rPr lang="fr-FR" b="1" dirty="0">
                <a:solidFill>
                  <a:srgbClr val="C00000"/>
                </a:solidFill>
              </a:rPr>
              <a:t>Définition d'un maître d'infrastructure </a:t>
            </a:r>
            <a:endParaRPr lang="en-US" b="1" dirty="0">
              <a:solidFill>
                <a:srgbClr val="C00000"/>
              </a:solidFill>
            </a:endParaRPr>
          </a:p>
        </p:txBody>
      </p:sp>
      <p:pic>
        <p:nvPicPr>
          <p:cNvPr id="480415" name="Picture 159" descr="2Domain01"/>
          <p:cNvPicPr>
            <a:picLocks noChangeAspect="1" noChangeArrowheads="1"/>
          </p:cNvPicPr>
          <p:nvPr/>
        </p:nvPicPr>
        <p:blipFill>
          <a:blip r:embed="rId7"/>
          <a:srcRect/>
          <a:stretch>
            <a:fillRect/>
          </a:stretch>
        </p:blipFill>
        <p:spPr bwMode="auto">
          <a:xfrm>
            <a:off x="661988" y="1314435"/>
            <a:ext cx="2790825" cy="2505075"/>
          </a:xfrm>
          <a:prstGeom prst="rect">
            <a:avLst/>
          </a:prstGeom>
          <a:noFill/>
        </p:spPr>
      </p:pic>
      <p:pic>
        <p:nvPicPr>
          <p:cNvPr id="480417" name="Picture 161" descr="Server01"/>
          <p:cNvPicPr>
            <a:picLocks noChangeAspect="1" noChangeArrowheads="1"/>
          </p:cNvPicPr>
          <p:nvPr>
            <p:custDataLst>
              <p:tags r:id="rId1"/>
            </p:custDataLst>
          </p:nvPr>
        </p:nvPicPr>
        <p:blipFill>
          <a:blip r:embed="rId8" cstate="print"/>
          <a:srcRect/>
          <a:stretch>
            <a:fillRect/>
          </a:stretch>
        </p:blipFill>
        <p:spPr bwMode="auto">
          <a:xfrm>
            <a:off x="1560513" y="1411273"/>
            <a:ext cx="949325" cy="1116012"/>
          </a:xfrm>
          <a:prstGeom prst="rect">
            <a:avLst/>
          </a:prstGeom>
          <a:noFill/>
        </p:spPr>
      </p:pic>
      <p:pic>
        <p:nvPicPr>
          <p:cNvPr id="480418" name="Picture 162" descr="ActiveDirectory01"/>
          <p:cNvPicPr>
            <a:picLocks noChangeAspect="1" noChangeArrowheads="1"/>
          </p:cNvPicPr>
          <p:nvPr>
            <p:custDataLst>
              <p:tags r:id="rId2"/>
            </p:custDataLst>
          </p:nvPr>
        </p:nvPicPr>
        <p:blipFill>
          <a:blip r:embed="rId9" cstate="print"/>
          <a:srcRect/>
          <a:stretch>
            <a:fillRect/>
          </a:stretch>
        </p:blipFill>
        <p:spPr bwMode="auto">
          <a:xfrm>
            <a:off x="2127250" y="1885935"/>
            <a:ext cx="788988" cy="517525"/>
          </a:xfrm>
          <a:prstGeom prst="rect">
            <a:avLst/>
          </a:prstGeom>
          <a:noFill/>
        </p:spPr>
      </p:pic>
      <p:pic>
        <p:nvPicPr>
          <p:cNvPr id="480419" name="Picture 163" descr="Collection_GlobalGroup01"/>
          <p:cNvPicPr>
            <a:picLocks noChangeAspect="1" noChangeArrowheads="1"/>
          </p:cNvPicPr>
          <p:nvPr/>
        </p:nvPicPr>
        <p:blipFill>
          <a:blip r:embed="rId10" cstate="print"/>
          <a:srcRect/>
          <a:stretch>
            <a:fillRect/>
          </a:stretch>
        </p:blipFill>
        <p:spPr bwMode="auto">
          <a:xfrm>
            <a:off x="2157413" y="2522523"/>
            <a:ext cx="1498600" cy="1177925"/>
          </a:xfrm>
          <a:prstGeom prst="rect">
            <a:avLst/>
          </a:prstGeom>
          <a:noFill/>
        </p:spPr>
      </p:pic>
      <p:pic>
        <p:nvPicPr>
          <p:cNvPr id="480420" name="Picture 164" descr="Collection_GlobalGroup01"/>
          <p:cNvPicPr>
            <a:picLocks noChangeAspect="1" noChangeArrowheads="1"/>
          </p:cNvPicPr>
          <p:nvPr/>
        </p:nvPicPr>
        <p:blipFill>
          <a:blip r:embed="rId11" cstate="print">
            <a:lum bright="26000" contrast="-36000"/>
          </a:blip>
          <a:srcRect/>
          <a:stretch>
            <a:fillRect/>
          </a:stretch>
        </p:blipFill>
        <p:spPr bwMode="auto">
          <a:xfrm>
            <a:off x="569913" y="2622535"/>
            <a:ext cx="1355725" cy="1065213"/>
          </a:xfrm>
          <a:prstGeom prst="rect">
            <a:avLst/>
          </a:prstGeom>
          <a:noFill/>
          <a:ln w="9525">
            <a:noFill/>
            <a:miter lim="800000"/>
            <a:headEnd/>
            <a:tailEnd/>
          </a:ln>
        </p:spPr>
      </p:pic>
      <p:sp>
        <p:nvSpPr>
          <p:cNvPr id="480421" name="Freeform 165"/>
          <p:cNvSpPr>
            <a:spLocks/>
          </p:cNvSpPr>
          <p:nvPr/>
        </p:nvSpPr>
        <p:spPr bwMode="auto">
          <a:xfrm rot="196462" flipV="1">
            <a:off x="1312863" y="3511535"/>
            <a:ext cx="1489075" cy="446088"/>
          </a:xfrm>
          <a:custGeom>
            <a:avLst/>
            <a:gdLst/>
            <a:ahLst/>
            <a:cxnLst>
              <a:cxn ang="0">
                <a:pos x="115" y="20"/>
              </a:cxn>
              <a:cxn ang="0">
                <a:pos x="0" y="428"/>
              </a:cxn>
              <a:cxn ang="0">
                <a:pos x="384" y="449"/>
              </a:cxn>
              <a:cxn ang="0">
                <a:pos x="299" y="314"/>
              </a:cxn>
              <a:cxn ang="0">
                <a:pos x="700" y="177"/>
              </a:cxn>
              <a:cxn ang="0">
                <a:pos x="1498" y="374"/>
              </a:cxn>
              <a:cxn ang="0">
                <a:pos x="750" y="28"/>
              </a:cxn>
              <a:cxn ang="0">
                <a:pos x="181" y="140"/>
              </a:cxn>
              <a:cxn ang="0">
                <a:pos x="115" y="20"/>
              </a:cxn>
            </a:cxnLst>
            <a:rect l="0" t="0" r="r" b="b"/>
            <a:pathLst>
              <a:path w="1498" h="449">
                <a:moveTo>
                  <a:pt x="115" y="20"/>
                </a:moveTo>
                <a:cubicBezTo>
                  <a:pt x="60" y="168"/>
                  <a:pt x="24" y="254"/>
                  <a:pt x="0" y="428"/>
                </a:cubicBezTo>
                <a:cubicBezTo>
                  <a:pt x="144" y="432"/>
                  <a:pt x="292" y="434"/>
                  <a:pt x="384" y="449"/>
                </a:cubicBezTo>
                <a:cubicBezTo>
                  <a:pt x="319" y="351"/>
                  <a:pt x="324" y="365"/>
                  <a:pt x="299" y="314"/>
                </a:cubicBezTo>
                <a:cubicBezTo>
                  <a:pt x="353" y="290"/>
                  <a:pt x="517" y="191"/>
                  <a:pt x="700" y="177"/>
                </a:cubicBezTo>
                <a:cubicBezTo>
                  <a:pt x="1004" y="191"/>
                  <a:pt x="1210" y="272"/>
                  <a:pt x="1498" y="374"/>
                </a:cubicBezTo>
                <a:cubicBezTo>
                  <a:pt x="1188" y="156"/>
                  <a:pt x="990" y="64"/>
                  <a:pt x="750" y="28"/>
                </a:cubicBezTo>
                <a:cubicBezTo>
                  <a:pt x="460" y="0"/>
                  <a:pt x="296" y="92"/>
                  <a:pt x="181" y="140"/>
                </a:cubicBezTo>
                <a:cubicBezTo>
                  <a:pt x="146" y="72"/>
                  <a:pt x="168" y="114"/>
                  <a:pt x="115" y="20"/>
                </a:cubicBezTo>
                <a:close/>
              </a:path>
            </a:pathLst>
          </a:custGeom>
          <a:solidFill>
            <a:srgbClr val="FF0000">
              <a:alpha val="75000"/>
            </a:srgbClr>
          </a:solidFill>
          <a:ln w="9525" cap="flat" cmpd="sng">
            <a:noFill/>
            <a:prstDash val="solid"/>
            <a:round/>
            <a:headEnd type="none" w="med" len="med"/>
            <a:tailEnd type="none" w="med" len="med"/>
          </a:ln>
          <a:effectLst/>
        </p:spPr>
        <p:txBody>
          <a:bodyPr wrap="none" anchor="ctr"/>
          <a:lstStyle/>
          <a:p>
            <a:endParaRPr lang="fr-FR"/>
          </a:p>
        </p:txBody>
      </p:sp>
      <p:sp>
        <p:nvSpPr>
          <p:cNvPr id="480422" name="AutoShape 166"/>
          <p:cNvSpPr>
            <a:spLocks noChangeArrowheads="1"/>
          </p:cNvSpPr>
          <p:nvPr/>
        </p:nvSpPr>
        <p:spPr bwMode="auto">
          <a:xfrm>
            <a:off x="1282700" y="4025885"/>
            <a:ext cx="1555750" cy="330200"/>
          </a:xfrm>
          <a:prstGeom prst="roundRect">
            <a:avLst>
              <a:gd name="adj" fmla="val 4167"/>
            </a:avLst>
          </a:prstGeom>
          <a:gradFill rotWithShape="1">
            <a:gsLst>
              <a:gs pos="0">
                <a:srgbClr val="ADE2A1"/>
              </a:gs>
              <a:gs pos="100000">
                <a:srgbClr val="E8F6E4"/>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dirty="0">
                <a:solidFill>
                  <a:srgbClr val="000000"/>
                </a:solidFill>
              </a:rPr>
              <a:t>Déplacement</a:t>
            </a:r>
            <a:endParaRPr lang="en-US" dirty="0"/>
          </a:p>
        </p:txBody>
      </p:sp>
      <p:sp>
        <p:nvSpPr>
          <p:cNvPr id="480423" name="Freeform 167"/>
          <p:cNvSpPr>
            <a:spLocks/>
          </p:cNvSpPr>
          <p:nvPr/>
        </p:nvSpPr>
        <p:spPr bwMode="auto">
          <a:xfrm rot="20155403" flipH="1">
            <a:off x="3253268" y="2220033"/>
            <a:ext cx="1611171" cy="491410"/>
          </a:xfrm>
          <a:custGeom>
            <a:avLst/>
            <a:gdLst/>
            <a:ahLst/>
            <a:cxnLst>
              <a:cxn ang="0">
                <a:pos x="115" y="20"/>
              </a:cxn>
              <a:cxn ang="0">
                <a:pos x="0" y="428"/>
              </a:cxn>
              <a:cxn ang="0">
                <a:pos x="384" y="449"/>
              </a:cxn>
              <a:cxn ang="0">
                <a:pos x="299" y="314"/>
              </a:cxn>
              <a:cxn ang="0">
                <a:pos x="700" y="177"/>
              </a:cxn>
              <a:cxn ang="0">
                <a:pos x="1498" y="374"/>
              </a:cxn>
              <a:cxn ang="0">
                <a:pos x="750" y="28"/>
              </a:cxn>
              <a:cxn ang="0">
                <a:pos x="181" y="140"/>
              </a:cxn>
              <a:cxn ang="0">
                <a:pos x="115" y="20"/>
              </a:cxn>
            </a:cxnLst>
            <a:rect l="0" t="0" r="r" b="b"/>
            <a:pathLst>
              <a:path w="1498" h="449">
                <a:moveTo>
                  <a:pt x="115" y="20"/>
                </a:moveTo>
                <a:cubicBezTo>
                  <a:pt x="60" y="168"/>
                  <a:pt x="24" y="254"/>
                  <a:pt x="0" y="428"/>
                </a:cubicBezTo>
                <a:cubicBezTo>
                  <a:pt x="144" y="432"/>
                  <a:pt x="292" y="434"/>
                  <a:pt x="384" y="449"/>
                </a:cubicBezTo>
                <a:cubicBezTo>
                  <a:pt x="319" y="351"/>
                  <a:pt x="324" y="365"/>
                  <a:pt x="299" y="314"/>
                </a:cubicBezTo>
                <a:cubicBezTo>
                  <a:pt x="353" y="290"/>
                  <a:pt x="517" y="191"/>
                  <a:pt x="700" y="177"/>
                </a:cubicBezTo>
                <a:cubicBezTo>
                  <a:pt x="1004" y="191"/>
                  <a:pt x="1210" y="272"/>
                  <a:pt x="1498" y="374"/>
                </a:cubicBezTo>
                <a:cubicBezTo>
                  <a:pt x="1188" y="156"/>
                  <a:pt x="990" y="64"/>
                  <a:pt x="750" y="28"/>
                </a:cubicBezTo>
                <a:cubicBezTo>
                  <a:pt x="460" y="0"/>
                  <a:pt x="296" y="92"/>
                  <a:pt x="181" y="140"/>
                </a:cubicBezTo>
                <a:cubicBezTo>
                  <a:pt x="146" y="72"/>
                  <a:pt x="168" y="114"/>
                  <a:pt x="115" y="20"/>
                </a:cubicBezTo>
                <a:close/>
              </a:path>
            </a:pathLst>
          </a:custGeom>
          <a:solidFill>
            <a:srgbClr val="FF0000">
              <a:alpha val="75000"/>
            </a:srgbClr>
          </a:solidFill>
          <a:ln w="9525" cap="flat" cmpd="sng">
            <a:noFill/>
            <a:prstDash val="solid"/>
            <a:round/>
            <a:headEnd type="none" w="med" len="med"/>
            <a:tailEnd type="none" w="med" len="med"/>
          </a:ln>
          <a:effectLst/>
        </p:spPr>
        <p:txBody>
          <a:bodyPr wrap="none" anchor="ctr"/>
          <a:lstStyle/>
          <a:p>
            <a:endParaRPr lang="fr-FR"/>
          </a:p>
        </p:txBody>
      </p:sp>
      <p:sp>
        <p:nvSpPr>
          <p:cNvPr id="480424" name="AutoShape 168"/>
          <p:cNvSpPr>
            <a:spLocks noChangeArrowheads="1"/>
          </p:cNvSpPr>
          <p:nvPr/>
        </p:nvSpPr>
        <p:spPr bwMode="auto">
          <a:xfrm>
            <a:off x="2787218" y="1304636"/>
            <a:ext cx="2346325" cy="784225"/>
          </a:xfrm>
          <a:prstGeom prst="roundRect">
            <a:avLst>
              <a:gd name="adj" fmla="val 4167"/>
            </a:avLst>
          </a:prstGeom>
          <a:gradFill rotWithShape="1">
            <a:gsLst>
              <a:gs pos="0">
                <a:srgbClr val="ADE2A1"/>
              </a:gs>
              <a:gs pos="100000">
                <a:srgbClr val="E8F6E4"/>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a:solidFill>
                  <a:srgbClr val="000000"/>
                </a:solidFill>
              </a:rPr>
              <a:t>Groupe global imbriqué</a:t>
            </a:r>
            <a:endParaRPr lang="en-US"/>
          </a:p>
          <a:p>
            <a:pPr>
              <a:lnSpc>
                <a:spcPct val="85000"/>
              </a:lnSpc>
            </a:pPr>
            <a:r>
              <a:rPr lang="fr-FR">
                <a:solidFill>
                  <a:srgbClr val="000000"/>
                </a:solidFill>
              </a:rPr>
              <a:t>dans le groupe local </a:t>
            </a:r>
            <a:br>
              <a:rPr lang="fr-FR">
                <a:solidFill>
                  <a:srgbClr val="000000"/>
                </a:solidFill>
              </a:rPr>
            </a:br>
            <a:r>
              <a:rPr lang="fr-FR">
                <a:solidFill>
                  <a:srgbClr val="000000"/>
                </a:solidFill>
              </a:rPr>
              <a:t>du domaine</a:t>
            </a:r>
            <a:endParaRPr lang="en-US">
              <a:solidFill>
                <a:srgbClr val="000000"/>
              </a:solidFill>
            </a:endParaRPr>
          </a:p>
        </p:txBody>
      </p:sp>
      <p:pic>
        <p:nvPicPr>
          <p:cNvPr id="480425" name="Picture 169" descr="2Domain01"/>
          <p:cNvPicPr>
            <a:picLocks noChangeAspect="1" noChangeArrowheads="1"/>
          </p:cNvPicPr>
          <p:nvPr/>
        </p:nvPicPr>
        <p:blipFill>
          <a:blip r:embed="rId7"/>
          <a:srcRect/>
          <a:stretch>
            <a:fillRect/>
          </a:stretch>
        </p:blipFill>
        <p:spPr bwMode="auto">
          <a:xfrm>
            <a:off x="4589463" y="1418585"/>
            <a:ext cx="2790825" cy="2505075"/>
          </a:xfrm>
          <a:prstGeom prst="rect">
            <a:avLst/>
          </a:prstGeom>
          <a:noFill/>
        </p:spPr>
      </p:pic>
      <p:grpSp>
        <p:nvGrpSpPr>
          <p:cNvPr id="2" name="Group 170"/>
          <p:cNvGrpSpPr>
            <a:grpSpLocks/>
          </p:cNvGrpSpPr>
          <p:nvPr/>
        </p:nvGrpSpPr>
        <p:grpSpPr bwMode="auto">
          <a:xfrm>
            <a:off x="5656263" y="2699698"/>
            <a:ext cx="1355725" cy="1116012"/>
            <a:chOff x="3563" y="2905"/>
            <a:chExt cx="854" cy="703"/>
          </a:xfrm>
        </p:grpSpPr>
        <p:pic>
          <p:nvPicPr>
            <p:cNvPr id="480427" name="Picture 171" descr="Server01"/>
            <p:cNvPicPr>
              <a:picLocks noChangeAspect="1" noChangeArrowheads="1"/>
            </p:cNvPicPr>
            <p:nvPr>
              <p:custDataLst>
                <p:tags r:id="rId3"/>
              </p:custDataLst>
            </p:nvPr>
          </p:nvPicPr>
          <p:blipFill>
            <a:blip r:embed="rId8" cstate="print"/>
            <a:srcRect/>
            <a:stretch>
              <a:fillRect/>
            </a:stretch>
          </p:blipFill>
          <p:spPr bwMode="auto">
            <a:xfrm>
              <a:off x="3563" y="2905"/>
              <a:ext cx="598" cy="703"/>
            </a:xfrm>
            <a:prstGeom prst="rect">
              <a:avLst/>
            </a:prstGeom>
            <a:noFill/>
          </p:spPr>
        </p:pic>
        <p:pic>
          <p:nvPicPr>
            <p:cNvPr id="480428" name="Picture 172" descr="ActiveDirectory01"/>
            <p:cNvPicPr>
              <a:picLocks noChangeAspect="1" noChangeArrowheads="1"/>
            </p:cNvPicPr>
            <p:nvPr>
              <p:custDataLst>
                <p:tags r:id="rId4"/>
              </p:custDataLst>
            </p:nvPr>
          </p:nvPicPr>
          <p:blipFill>
            <a:blip r:embed="rId9" cstate="print"/>
            <a:srcRect/>
            <a:stretch>
              <a:fillRect/>
            </a:stretch>
          </p:blipFill>
          <p:spPr bwMode="auto">
            <a:xfrm>
              <a:off x="3920" y="3204"/>
              <a:ext cx="497" cy="326"/>
            </a:xfrm>
            <a:prstGeom prst="rect">
              <a:avLst/>
            </a:prstGeom>
            <a:noFill/>
          </p:spPr>
        </p:pic>
      </p:grpSp>
      <p:pic>
        <p:nvPicPr>
          <p:cNvPr id="480429" name="Picture 173" descr="Collection_Group01"/>
          <p:cNvPicPr>
            <a:picLocks noChangeAspect="1" noChangeArrowheads="1"/>
          </p:cNvPicPr>
          <p:nvPr/>
        </p:nvPicPr>
        <p:blipFill>
          <a:blip r:embed="rId12">
            <a:lum bright="20000" contrast="-22000"/>
          </a:blip>
          <a:srcRect/>
          <a:stretch>
            <a:fillRect/>
          </a:stretch>
        </p:blipFill>
        <p:spPr bwMode="auto">
          <a:xfrm>
            <a:off x="4640263" y="1486848"/>
            <a:ext cx="1793875" cy="1296987"/>
          </a:xfrm>
          <a:prstGeom prst="rect">
            <a:avLst/>
          </a:prstGeom>
          <a:noFill/>
          <a:ln w="9525">
            <a:noFill/>
            <a:miter lim="800000"/>
            <a:headEnd/>
            <a:tailEnd/>
          </a:ln>
        </p:spPr>
      </p:pic>
      <p:sp>
        <p:nvSpPr>
          <p:cNvPr id="480430" name="AutoShape 174"/>
          <p:cNvSpPr>
            <a:spLocks noChangeArrowheads="1"/>
          </p:cNvSpPr>
          <p:nvPr/>
        </p:nvSpPr>
        <p:spPr bwMode="auto">
          <a:xfrm>
            <a:off x="5477452" y="3826101"/>
            <a:ext cx="1533525" cy="533400"/>
          </a:xfrm>
          <a:prstGeom prst="roundRect">
            <a:avLst>
              <a:gd name="adj" fmla="val 4167"/>
            </a:avLst>
          </a:prstGeom>
          <a:gradFill rotWithShape="1">
            <a:gsLst>
              <a:gs pos="0">
                <a:srgbClr val="D5D69C"/>
              </a:gs>
              <a:gs pos="100000">
                <a:srgbClr val="EEEFD7"/>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85000"/>
              </a:lnSpc>
            </a:pPr>
            <a:r>
              <a:rPr lang="fr-FR" dirty="0">
                <a:solidFill>
                  <a:srgbClr val="000000"/>
                </a:solidFill>
              </a:rPr>
              <a:t>Infrastructure</a:t>
            </a:r>
            <a:endParaRPr lang="en-US" dirty="0"/>
          </a:p>
          <a:p>
            <a:pPr>
              <a:lnSpc>
                <a:spcPct val="85000"/>
              </a:lnSpc>
            </a:pPr>
            <a:r>
              <a:rPr lang="fr-FR" dirty="0">
                <a:solidFill>
                  <a:srgbClr val="000000"/>
                </a:solidFill>
              </a:rPr>
              <a:t>Maître</a:t>
            </a:r>
            <a:endParaRPr lang="en-US" dirty="0">
              <a:solidFill>
                <a:srgbClr val="000000"/>
              </a:solidFill>
            </a:endParaRPr>
          </a:p>
        </p:txBody>
      </p:sp>
      <p:sp>
        <p:nvSpPr>
          <p:cNvPr id="20" name="Rectangle 19"/>
          <p:cNvSpPr/>
          <p:nvPr/>
        </p:nvSpPr>
        <p:spPr>
          <a:xfrm>
            <a:off x="166260" y="4990190"/>
            <a:ext cx="8811489" cy="1107996"/>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l"/>
            <a:r>
              <a:rPr lang="fr-FR" sz="2200" dirty="0" smtClean="0"/>
              <a:t> Le maître d’infrastructure du domaine dans lequel réside le groupe met à jour l’appartenance au groupe en répliquant la modification sur l’ensemble du domaine.</a:t>
            </a:r>
          </a:p>
        </p:txBody>
      </p:sp>
      <p:sp>
        <p:nvSpPr>
          <p:cNvPr id="21" name="Rectangle 20"/>
          <p:cNvSpPr/>
          <p:nvPr/>
        </p:nvSpPr>
        <p:spPr>
          <a:xfrm>
            <a:off x="152405" y="5142589"/>
            <a:ext cx="8811489" cy="76944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l"/>
            <a:r>
              <a:rPr lang="fr-FR" sz="2200" dirty="0" smtClean="0">
                <a:solidFill>
                  <a:srgbClr val="002060"/>
                </a:solidFill>
              </a:rPr>
              <a:t> Si l’objet est déplacé, son nom unique change car il représente son emplacement exact dans l’annuaire.</a:t>
            </a:r>
          </a:p>
        </p:txBody>
      </p:sp>
      <p:sp>
        <p:nvSpPr>
          <p:cNvPr id="23" name="Rectangle 22"/>
          <p:cNvSpPr/>
          <p:nvPr/>
        </p:nvSpPr>
        <p:spPr>
          <a:xfrm>
            <a:off x="193965" y="5184149"/>
            <a:ext cx="8811489" cy="76944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l"/>
            <a:r>
              <a:rPr lang="fr-FR" sz="2200" dirty="0" smtClean="0">
                <a:solidFill>
                  <a:srgbClr val="002060"/>
                </a:solidFill>
              </a:rPr>
              <a:t> Si l’objet est déplacé au sein du domaine, son identificateur de sécurité ne change pas.</a:t>
            </a:r>
          </a:p>
        </p:txBody>
      </p:sp>
      <p:sp>
        <p:nvSpPr>
          <p:cNvPr id="24" name="Rectangle 23"/>
          <p:cNvSpPr/>
          <p:nvPr/>
        </p:nvSpPr>
        <p:spPr>
          <a:xfrm>
            <a:off x="166250" y="5197999"/>
            <a:ext cx="8811489" cy="1107996"/>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l"/>
            <a:r>
              <a:rPr lang="fr-FR" sz="2200" dirty="0" smtClean="0">
                <a:solidFill>
                  <a:srgbClr val="002060"/>
                </a:solidFill>
              </a:rPr>
              <a:t> Si l’objet est déplacé vers un autre domaine, l’identificateur de sécurité change afin de refléter le nouvel identificateur de sécurité du domaine.</a:t>
            </a:r>
          </a:p>
        </p:txBody>
      </p:sp>
      <p:sp>
        <p:nvSpPr>
          <p:cNvPr id="25" name="Rectangle 24"/>
          <p:cNvSpPr/>
          <p:nvPr/>
        </p:nvSpPr>
        <p:spPr>
          <a:xfrm>
            <a:off x="166245" y="5170284"/>
            <a:ext cx="8811489" cy="76944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l"/>
            <a:r>
              <a:rPr lang="fr-FR" sz="2200" dirty="0" smtClean="0">
                <a:solidFill>
                  <a:srgbClr val="002060"/>
                </a:solidFill>
              </a:rPr>
              <a:t> L’identificateur global unique ne change pas quel que soit l’emplacement car il est unique sur tous les domaines.</a:t>
            </a:r>
          </a:p>
        </p:txBody>
      </p:sp>
      <p:sp>
        <p:nvSpPr>
          <p:cNvPr id="29" name="Triangle isocèle 28"/>
          <p:cNvSpPr/>
          <p:nvPr/>
        </p:nvSpPr>
        <p:spPr>
          <a:xfrm rot="16200000">
            <a:off x="6505285" y="991176"/>
            <a:ext cx="1066800" cy="1467430"/>
          </a:xfrm>
          <a:prstGeom prst="triangle">
            <a:avLst>
              <a:gd name="adj" fmla="val 2913"/>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ZoneTexte 26"/>
          <p:cNvSpPr txBox="1"/>
          <p:nvPr/>
        </p:nvSpPr>
        <p:spPr>
          <a:xfrm>
            <a:off x="7744691" y="1108362"/>
            <a:ext cx="1163782" cy="1107996"/>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l"/>
            <a:r>
              <a:rPr lang="fr-FR" sz="2200" dirty="0" smtClean="0"/>
              <a:t>GUID</a:t>
            </a:r>
          </a:p>
          <a:p>
            <a:pPr algn="l"/>
            <a:r>
              <a:rPr lang="fr-FR" sz="2200" dirty="0" smtClean="0"/>
              <a:t>SID</a:t>
            </a:r>
          </a:p>
          <a:p>
            <a:pPr algn="l"/>
            <a:r>
              <a:rPr lang="fr-FR" sz="2200" dirty="0" smtClean="0"/>
              <a:t>DN</a:t>
            </a:r>
            <a:endParaRPr lang="fr-FR" dirty="0"/>
          </a:p>
        </p:txBody>
      </p:sp>
      <p:sp>
        <p:nvSpPr>
          <p:cNvPr id="28" name="ZoneTexte 27"/>
          <p:cNvSpPr txBox="1"/>
          <p:nvPr/>
        </p:nvSpPr>
        <p:spPr>
          <a:xfrm>
            <a:off x="6151418" y="1814945"/>
            <a:ext cx="1634836" cy="430887"/>
          </a:xfrm>
          <a:prstGeom prst="rect">
            <a:avLst/>
          </a:prstGeom>
          <a:noFill/>
        </p:spPr>
        <p:txBody>
          <a:bodyPr wrap="square" rtlCol="0">
            <a:spAutoFit/>
          </a:bodyPr>
          <a:lstStyle/>
          <a:p>
            <a:pPr algn="r"/>
            <a:r>
              <a:rPr lang="fr-FR" sz="2200" dirty="0" smtClean="0">
                <a:solidFill>
                  <a:srgbClr val="C00000"/>
                </a:solidFill>
              </a:rPr>
              <a:t>Nouveau</a:t>
            </a:r>
            <a:endParaRPr lang="fr-FR" sz="2200"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checkerboard(across)">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checkerboard(across)">
                                      <p:cBhvr>
                                        <p:cTn id="12" dur="500"/>
                                        <p:tgtEl>
                                          <p:spTgt spid="21"/>
                                        </p:tgtEl>
                                      </p:cBhvr>
                                    </p:animEffect>
                                  </p:childTnLst>
                                </p:cTn>
                              </p:par>
                              <p:par>
                                <p:cTn id="13" presetID="5" presetClass="exit" presetSubtype="10" fill="hold" grpId="1" nodeType="withEffect">
                                  <p:stCondLst>
                                    <p:cond delay="0"/>
                                  </p:stCondLst>
                                  <p:childTnLst>
                                    <p:animEffect transition="out" filter="checkerboard(across)">
                                      <p:cBhvr>
                                        <p:cTn id="14" dur="500"/>
                                        <p:tgtEl>
                                          <p:spTgt spid="20"/>
                                        </p:tgtEl>
                                      </p:cBhvr>
                                    </p:animEffect>
                                    <p:set>
                                      <p:cBhvr>
                                        <p:cTn id="15" dur="1" fill="hold">
                                          <p:stCondLst>
                                            <p:cond delay="499"/>
                                          </p:stCondLst>
                                        </p:cTn>
                                        <p:tgtEl>
                                          <p:spTgt spid="20"/>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23"/>
                                        </p:tgtEl>
                                        <p:attrNameLst>
                                          <p:attrName>style.visibility</p:attrName>
                                        </p:attrNameLst>
                                      </p:cBhvr>
                                      <p:to>
                                        <p:strVal val="visible"/>
                                      </p:to>
                                    </p:set>
                                    <p:animEffect transition="in" filter="checkerboard(across)">
                                      <p:cBhvr>
                                        <p:cTn id="20" dur="500"/>
                                        <p:tgtEl>
                                          <p:spTgt spid="23"/>
                                        </p:tgtEl>
                                      </p:cBhvr>
                                    </p:animEffect>
                                  </p:childTnLst>
                                </p:cTn>
                              </p:par>
                              <p:par>
                                <p:cTn id="21" presetID="5" presetClass="exit" presetSubtype="10" fill="hold" grpId="1" nodeType="withEffect">
                                  <p:stCondLst>
                                    <p:cond delay="0"/>
                                  </p:stCondLst>
                                  <p:childTnLst>
                                    <p:animEffect transition="out" filter="checkerboard(across)">
                                      <p:cBhvr>
                                        <p:cTn id="22" dur="500"/>
                                        <p:tgtEl>
                                          <p:spTgt spid="21"/>
                                        </p:tgtEl>
                                      </p:cBhvr>
                                    </p:animEffect>
                                    <p:set>
                                      <p:cBhvr>
                                        <p:cTn id="23" dur="1" fill="hold">
                                          <p:stCondLst>
                                            <p:cond delay="499"/>
                                          </p:stCondLst>
                                        </p:cTn>
                                        <p:tgtEl>
                                          <p:spTgt spid="21"/>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checkerboard(across)">
                                      <p:cBhvr>
                                        <p:cTn id="28" dur="500"/>
                                        <p:tgtEl>
                                          <p:spTgt spid="24"/>
                                        </p:tgtEl>
                                      </p:cBhvr>
                                    </p:animEffect>
                                  </p:childTnLst>
                                </p:cTn>
                              </p:par>
                              <p:par>
                                <p:cTn id="29" presetID="5" presetClass="exit" presetSubtype="10" fill="hold" grpId="1" nodeType="withEffect">
                                  <p:stCondLst>
                                    <p:cond delay="0"/>
                                  </p:stCondLst>
                                  <p:childTnLst>
                                    <p:animEffect transition="out" filter="checkerboard(across)">
                                      <p:cBhvr>
                                        <p:cTn id="30" dur="500"/>
                                        <p:tgtEl>
                                          <p:spTgt spid="23"/>
                                        </p:tgtEl>
                                      </p:cBhvr>
                                    </p:animEffect>
                                    <p:set>
                                      <p:cBhvr>
                                        <p:cTn id="31" dur="1" fill="hold">
                                          <p:stCondLst>
                                            <p:cond delay="499"/>
                                          </p:stCondLst>
                                        </p:cTn>
                                        <p:tgtEl>
                                          <p:spTgt spid="23"/>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checkerboard(across)">
                                      <p:cBhvr>
                                        <p:cTn id="36" dur="500"/>
                                        <p:tgtEl>
                                          <p:spTgt spid="25"/>
                                        </p:tgtEl>
                                      </p:cBhvr>
                                    </p:animEffect>
                                  </p:childTnLst>
                                </p:cTn>
                              </p:par>
                              <p:par>
                                <p:cTn id="37" presetID="5" presetClass="exit" presetSubtype="10" fill="hold" grpId="1" nodeType="withEffect">
                                  <p:stCondLst>
                                    <p:cond delay="0"/>
                                  </p:stCondLst>
                                  <p:childTnLst>
                                    <p:animEffect transition="out" filter="checkerboard(across)">
                                      <p:cBhvr>
                                        <p:cTn id="38" dur="500"/>
                                        <p:tgtEl>
                                          <p:spTgt spid="24"/>
                                        </p:tgtEl>
                                      </p:cBhvr>
                                    </p:animEffect>
                                    <p:set>
                                      <p:cBhvr>
                                        <p:cTn id="39" dur="1" fill="hold">
                                          <p:stCondLst>
                                            <p:cond delay="499"/>
                                          </p:stCondLst>
                                        </p:cTn>
                                        <p:tgtEl>
                                          <p:spTgt spid="24"/>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5" presetClass="entr" presetSubtype="10" fill="hold" grpId="0" nodeType="clickEffect">
                                  <p:stCondLst>
                                    <p:cond delay="0"/>
                                  </p:stCondLst>
                                  <p:childTnLst>
                                    <p:set>
                                      <p:cBhvr>
                                        <p:cTn id="43" dur="1" fill="hold">
                                          <p:stCondLst>
                                            <p:cond delay="0"/>
                                          </p:stCondLst>
                                        </p:cTn>
                                        <p:tgtEl>
                                          <p:spTgt spid="480422"/>
                                        </p:tgtEl>
                                        <p:attrNameLst>
                                          <p:attrName>style.visibility</p:attrName>
                                        </p:attrNameLst>
                                      </p:cBhvr>
                                      <p:to>
                                        <p:strVal val="visible"/>
                                      </p:to>
                                    </p:set>
                                    <p:animEffect transition="in" filter="checkerboard(across)">
                                      <p:cBhvr>
                                        <p:cTn id="44" dur="500"/>
                                        <p:tgtEl>
                                          <p:spTgt spid="480422"/>
                                        </p:tgtEl>
                                      </p:cBhvr>
                                    </p:animEffect>
                                  </p:childTnLst>
                                </p:cTn>
                              </p:par>
                              <p:par>
                                <p:cTn id="45" presetID="5" presetClass="entr" presetSubtype="10" fill="hold" grpId="0" nodeType="withEffect">
                                  <p:stCondLst>
                                    <p:cond delay="0"/>
                                  </p:stCondLst>
                                  <p:childTnLst>
                                    <p:set>
                                      <p:cBhvr>
                                        <p:cTn id="46" dur="1" fill="hold">
                                          <p:stCondLst>
                                            <p:cond delay="0"/>
                                          </p:stCondLst>
                                        </p:cTn>
                                        <p:tgtEl>
                                          <p:spTgt spid="480421"/>
                                        </p:tgtEl>
                                        <p:attrNameLst>
                                          <p:attrName>style.visibility</p:attrName>
                                        </p:attrNameLst>
                                      </p:cBhvr>
                                      <p:to>
                                        <p:strVal val="visible"/>
                                      </p:to>
                                    </p:set>
                                    <p:animEffect transition="in" filter="checkerboard(across)">
                                      <p:cBhvr>
                                        <p:cTn id="47" dur="500"/>
                                        <p:tgtEl>
                                          <p:spTgt spid="480421"/>
                                        </p:tgtEl>
                                      </p:cBhvr>
                                    </p:animEffect>
                                  </p:childTnLst>
                                </p:cTn>
                              </p:par>
                              <p:par>
                                <p:cTn id="48" presetID="5" presetClass="entr" presetSubtype="10" fill="hold" nodeType="withEffect">
                                  <p:stCondLst>
                                    <p:cond delay="0"/>
                                  </p:stCondLst>
                                  <p:childTnLst>
                                    <p:set>
                                      <p:cBhvr>
                                        <p:cTn id="49" dur="1" fill="hold">
                                          <p:stCondLst>
                                            <p:cond delay="0"/>
                                          </p:stCondLst>
                                        </p:cTn>
                                        <p:tgtEl>
                                          <p:spTgt spid="480420"/>
                                        </p:tgtEl>
                                        <p:attrNameLst>
                                          <p:attrName>style.visibility</p:attrName>
                                        </p:attrNameLst>
                                      </p:cBhvr>
                                      <p:to>
                                        <p:strVal val="visible"/>
                                      </p:to>
                                    </p:set>
                                    <p:animEffect transition="in" filter="checkerboard(across)">
                                      <p:cBhvr>
                                        <p:cTn id="50" dur="500"/>
                                        <p:tgtEl>
                                          <p:spTgt spid="480420"/>
                                        </p:tgtEl>
                                      </p:cBhvr>
                                    </p:animEffect>
                                  </p:childTnLst>
                                </p:cTn>
                              </p:par>
                            </p:childTnLst>
                          </p:cTn>
                        </p:par>
                      </p:childTnLst>
                    </p:cTn>
                  </p:par>
                  <p:par>
                    <p:cTn id="51" fill="hold">
                      <p:stCondLst>
                        <p:cond delay="indefinite"/>
                      </p:stCondLst>
                      <p:childTnLst>
                        <p:par>
                          <p:cTn id="52" fill="hold">
                            <p:stCondLst>
                              <p:cond delay="0"/>
                            </p:stCondLst>
                            <p:childTnLst>
                              <p:par>
                                <p:cTn id="53" presetID="5" presetClass="entr" presetSubtype="1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checkerboard(across)">
                                      <p:cBhvr>
                                        <p:cTn id="5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421" grpId="0" animBg="1"/>
      <p:bldP spid="480422" grpId="0" animBg="1"/>
      <p:bldP spid="20" grpId="0" animBg="1"/>
      <p:bldP spid="20" grpId="1" animBg="1"/>
      <p:bldP spid="21" grpId="0" animBg="1"/>
      <p:bldP spid="21" grpId="1" animBg="1"/>
      <p:bldP spid="23" grpId="0" animBg="1"/>
      <p:bldP spid="23" grpId="1" animBg="1"/>
      <p:bldP spid="24" grpId="0" animBg="1"/>
      <p:bldP spid="24" grpId="1" animBg="1"/>
      <p:bldP spid="25" grpId="0" animBg="1"/>
      <p:bldP spid="2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a:xfrm>
            <a:off x="166259" y="459077"/>
            <a:ext cx="8811485" cy="684212"/>
          </a:xfrm>
        </p:spPr>
        <p:txBody>
          <a:bodyPr>
            <a:noAutofit/>
          </a:bodyPr>
          <a:lstStyle/>
          <a:p>
            <a:r>
              <a:rPr lang="fr-FR" sz="3000" b="1" dirty="0" smtClean="0">
                <a:solidFill>
                  <a:srgbClr val="000000"/>
                </a:solidFill>
              </a:rPr>
              <a:t>2. Transfert </a:t>
            </a:r>
            <a:r>
              <a:rPr lang="fr-FR" sz="3000" b="1" dirty="0">
                <a:solidFill>
                  <a:srgbClr val="000000"/>
                </a:solidFill>
              </a:rPr>
              <a:t>et prise de rôles de maîtres d'opérations</a:t>
            </a:r>
            <a:endParaRPr lang="en-US" sz="3000" b="1" dirty="0">
              <a:solidFill>
                <a:srgbClr val="000000"/>
              </a:solidFill>
            </a:endParaRPr>
          </a:p>
        </p:txBody>
      </p:sp>
      <p:sp>
        <p:nvSpPr>
          <p:cNvPr id="411651" name="Rectangle 3"/>
          <p:cNvSpPr>
            <a:spLocks noGrp="1" noChangeArrowheads="1"/>
          </p:cNvSpPr>
          <p:nvPr>
            <p:ph sz="quarter" idx="1"/>
          </p:nvPr>
        </p:nvSpPr>
        <p:spPr>
          <a:xfrm>
            <a:off x="374073" y="3041072"/>
            <a:ext cx="8382000" cy="1780309"/>
          </a:xfrm>
        </p:spPr>
        <p:txBody>
          <a:bodyPr/>
          <a:lstStyle/>
          <a:p>
            <a:r>
              <a:rPr lang="fr-FR" b="1" dirty="0">
                <a:solidFill>
                  <a:srgbClr val="C00000"/>
                </a:solidFill>
              </a:rPr>
              <a:t>Transfert des rôles de maîtres d'opérations</a:t>
            </a:r>
            <a:endParaRPr lang="en-US" b="1" dirty="0">
              <a:solidFill>
                <a:srgbClr val="C00000"/>
              </a:solidFill>
            </a:endParaRPr>
          </a:p>
          <a:p>
            <a:r>
              <a:rPr lang="fr-FR" b="1" dirty="0">
                <a:solidFill>
                  <a:srgbClr val="C00000"/>
                </a:solidFill>
              </a:rPr>
              <a:t>À quel moment prendre les rôles de maîtres </a:t>
            </a:r>
            <a:r>
              <a:rPr lang="fr-FR" b="1" dirty="0" smtClean="0">
                <a:solidFill>
                  <a:srgbClr val="C00000"/>
                </a:solidFill>
              </a:rPr>
              <a:t>d'opérations</a:t>
            </a:r>
            <a:endParaRPr lang="en-US" b="1" dirty="0">
              <a:solidFill>
                <a:srgbClr val="C00000"/>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Rectangle 2"/>
          <p:cNvSpPr>
            <a:spLocks noGrp="1" noChangeArrowheads="1"/>
          </p:cNvSpPr>
          <p:nvPr>
            <p:ph type="title"/>
          </p:nvPr>
        </p:nvSpPr>
        <p:spPr>
          <a:xfrm>
            <a:off x="173181" y="334097"/>
            <a:ext cx="8790709" cy="684212"/>
          </a:xfrm>
        </p:spPr>
        <p:txBody>
          <a:bodyPr>
            <a:normAutofit fontScale="90000"/>
          </a:bodyPr>
          <a:lstStyle/>
          <a:p>
            <a:r>
              <a:rPr lang="fr-FR" b="1" dirty="0">
                <a:solidFill>
                  <a:srgbClr val="C00000"/>
                </a:solidFill>
              </a:rPr>
              <a:t>Transfert des rôles de maîtres d'opérations</a:t>
            </a:r>
            <a:endParaRPr lang="en-US" b="1" dirty="0">
              <a:solidFill>
                <a:srgbClr val="C00000"/>
              </a:solidFill>
            </a:endParaRPr>
          </a:p>
        </p:txBody>
      </p:sp>
      <p:sp>
        <p:nvSpPr>
          <p:cNvPr id="491652" name="AutoShape 132"/>
          <p:cNvSpPr>
            <a:spLocks noChangeArrowheads="1"/>
          </p:cNvSpPr>
          <p:nvPr/>
        </p:nvSpPr>
        <p:spPr bwMode="auto">
          <a:xfrm>
            <a:off x="207818" y="1496291"/>
            <a:ext cx="8756073" cy="1759527"/>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anchor="ctr"/>
          <a:lstStyle/>
          <a:p>
            <a:pPr algn="l">
              <a:lnSpc>
                <a:spcPct val="90000"/>
              </a:lnSpc>
              <a:spcBef>
                <a:spcPct val="40000"/>
              </a:spcBef>
              <a:buSzPct val="80000"/>
              <a:buFont typeface="Wingdings" pitchFamily="2" charset="2"/>
              <a:buChar char="q"/>
            </a:pPr>
            <a:r>
              <a:rPr lang="fr-FR" sz="2400" dirty="0">
                <a:solidFill>
                  <a:srgbClr val="000000"/>
                </a:solidFill>
              </a:rPr>
              <a:t>Ne transférez les rôles qu'en cas de modification majeure de l'infrastructure du </a:t>
            </a:r>
            <a:r>
              <a:rPr lang="fr-FR" sz="2400" dirty="0" smtClean="0">
                <a:solidFill>
                  <a:srgbClr val="000000"/>
                </a:solidFill>
              </a:rPr>
              <a:t>domaine</a:t>
            </a:r>
          </a:p>
          <a:p>
            <a:pPr algn="l">
              <a:buFont typeface="Wingdings" pitchFamily="2" charset="2"/>
              <a:buChar char="q"/>
            </a:pPr>
            <a:r>
              <a:rPr lang="fr-FR" sz="2400" dirty="0"/>
              <a:t>Si le serveur défaillant sera rapidement remis en marche, ne transférez pas le rôle de </a:t>
            </a:r>
            <a:r>
              <a:rPr lang="fr-FR" sz="2400" dirty="0" smtClean="0"/>
              <a:t>maître d’opération.</a:t>
            </a:r>
            <a:endParaRPr lang="fr-FR" sz="2400" dirty="0"/>
          </a:p>
        </p:txBody>
      </p:sp>
      <p:pic>
        <p:nvPicPr>
          <p:cNvPr id="491654" name="Picture 134" descr="2Domain01"/>
          <p:cNvPicPr>
            <a:picLocks noChangeAspect="1" noChangeArrowheads="1"/>
          </p:cNvPicPr>
          <p:nvPr>
            <p:custDataLst>
              <p:tags r:id="rId1"/>
            </p:custDataLst>
          </p:nvPr>
        </p:nvPicPr>
        <p:blipFill>
          <a:blip r:embed="rId10"/>
          <a:srcRect/>
          <a:stretch>
            <a:fillRect/>
          </a:stretch>
        </p:blipFill>
        <p:spPr bwMode="auto">
          <a:xfrm>
            <a:off x="2630488" y="3967625"/>
            <a:ext cx="2997200" cy="2419350"/>
          </a:xfrm>
          <a:prstGeom prst="rect">
            <a:avLst/>
          </a:prstGeom>
          <a:noFill/>
        </p:spPr>
      </p:pic>
      <p:grpSp>
        <p:nvGrpSpPr>
          <p:cNvPr id="491666" name="Group 135"/>
          <p:cNvGrpSpPr>
            <a:grpSpLocks/>
          </p:cNvGrpSpPr>
          <p:nvPr>
            <p:custDataLst>
              <p:tags r:id="rId2"/>
            </p:custDataLst>
          </p:nvPr>
        </p:nvGrpSpPr>
        <p:grpSpPr bwMode="auto">
          <a:xfrm>
            <a:off x="2889250" y="4259730"/>
            <a:ext cx="1370013" cy="1128713"/>
            <a:chOff x="1820" y="2020"/>
            <a:chExt cx="863" cy="711"/>
          </a:xfrm>
        </p:grpSpPr>
        <p:pic>
          <p:nvPicPr>
            <p:cNvPr id="491656" name="Picture 136" descr="Server01"/>
            <p:cNvPicPr>
              <a:picLocks noChangeAspect="1" noChangeArrowheads="1"/>
            </p:cNvPicPr>
            <p:nvPr>
              <p:custDataLst>
                <p:tags r:id="rId6"/>
              </p:custDataLst>
            </p:nvPr>
          </p:nvPicPr>
          <p:blipFill>
            <a:blip r:embed="rId11" cstate="print"/>
            <a:srcRect/>
            <a:stretch>
              <a:fillRect/>
            </a:stretch>
          </p:blipFill>
          <p:spPr bwMode="auto">
            <a:xfrm>
              <a:off x="1820" y="2020"/>
              <a:ext cx="605" cy="711"/>
            </a:xfrm>
            <a:prstGeom prst="rect">
              <a:avLst/>
            </a:prstGeom>
            <a:noFill/>
          </p:spPr>
        </p:pic>
        <p:pic>
          <p:nvPicPr>
            <p:cNvPr id="491657" name="Picture 137" descr="ActiveDirectory01"/>
            <p:cNvPicPr>
              <a:picLocks noChangeAspect="1" noChangeArrowheads="1"/>
            </p:cNvPicPr>
            <p:nvPr>
              <p:custDataLst>
                <p:tags r:id="rId7"/>
              </p:custDataLst>
            </p:nvPr>
          </p:nvPicPr>
          <p:blipFill>
            <a:blip r:embed="rId12" cstate="print"/>
            <a:srcRect/>
            <a:stretch>
              <a:fillRect/>
            </a:stretch>
          </p:blipFill>
          <p:spPr bwMode="auto">
            <a:xfrm>
              <a:off x="2180" y="2322"/>
              <a:ext cx="503" cy="330"/>
            </a:xfrm>
            <a:prstGeom prst="rect">
              <a:avLst/>
            </a:prstGeom>
            <a:noFill/>
          </p:spPr>
        </p:pic>
      </p:grpSp>
      <p:sp>
        <p:nvSpPr>
          <p:cNvPr id="491658" name="Freeform 138"/>
          <p:cNvSpPr>
            <a:spLocks/>
          </p:cNvSpPr>
          <p:nvPr>
            <p:custDataLst>
              <p:tags r:id="rId3"/>
            </p:custDataLst>
          </p:nvPr>
        </p:nvSpPr>
        <p:spPr bwMode="auto">
          <a:xfrm rot="20819658" flipH="1">
            <a:off x="3749675" y="5297955"/>
            <a:ext cx="890588" cy="773113"/>
          </a:xfrm>
          <a:custGeom>
            <a:avLst/>
            <a:gdLst/>
            <a:ahLst/>
            <a:cxnLst>
              <a:cxn ang="0">
                <a:pos x="718" y="75"/>
              </a:cxn>
              <a:cxn ang="0">
                <a:pos x="505" y="0"/>
              </a:cxn>
              <a:cxn ang="0">
                <a:pos x="106" y="264"/>
              </a:cxn>
              <a:cxn ang="0">
                <a:pos x="0" y="231"/>
              </a:cxn>
              <a:cxn ang="0">
                <a:pos x="26" y="444"/>
              </a:cxn>
              <a:cxn ang="0">
                <a:pos x="425" y="382"/>
              </a:cxn>
              <a:cxn ang="0">
                <a:pos x="301" y="341"/>
              </a:cxn>
              <a:cxn ang="0">
                <a:pos x="718" y="75"/>
              </a:cxn>
            </a:cxnLst>
            <a:rect l="0" t="0" r="r" b="b"/>
            <a:pathLst>
              <a:path w="718" h="444">
                <a:moveTo>
                  <a:pt x="718" y="75"/>
                </a:moveTo>
                <a:lnTo>
                  <a:pt x="505" y="0"/>
                </a:lnTo>
                <a:lnTo>
                  <a:pt x="106" y="264"/>
                </a:lnTo>
                <a:lnTo>
                  <a:pt x="0" y="231"/>
                </a:lnTo>
                <a:lnTo>
                  <a:pt x="26" y="444"/>
                </a:lnTo>
                <a:lnTo>
                  <a:pt x="425" y="382"/>
                </a:lnTo>
                <a:lnTo>
                  <a:pt x="301" y="341"/>
                </a:lnTo>
                <a:lnTo>
                  <a:pt x="718" y="75"/>
                </a:lnTo>
                <a:close/>
              </a:path>
            </a:pathLst>
          </a:custGeom>
          <a:solidFill>
            <a:srgbClr val="FF0000">
              <a:alpha val="75000"/>
            </a:srgbClr>
          </a:solidFill>
          <a:ln w="9525" cap="flat" cmpd="sng">
            <a:noFill/>
            <a:prstDash val="solid"/>
            <a:round/>
            <a:headEnd type="none" w="med" len="med"/>
            <a:tailEnd type="none" w="med" len="med"/>
          </a:ln>
          <a:effectLst/>
        </p:spPr>
        <p:txBody>
          <a:bodyPr wrap="none" anchor="ctr"/>
          <a:lstStyle/>
          <a:p>
            <a:endParaRPr lang="fr-FR"/>
          </a:p>
        </p:txBody>
      </p:sp>
      <p:pic>
        <p:nvPicPr>
          <p:cNvPr id="491660" name="Picture 140" descr="Server01"/>
          <p:cNvPicPr>
            <a:picLocks noChangeAspect="1" noChangeArrowheads="1"/>
          </p:cNvPicPr>
          <p:nvPr>
            <p:custDataLst>
              <p:tags r:id="rId4"/>
            </p:custDataLst>
          </p:nvPr>
        </p:nvPicPr>
        <p:blipFill>
          <a:blip r:embed="rId11" cstate="print"/>
          <a:srcRect/>
          <a:stretch>
            <a:fillRect/>
          </a:stretch>
        </p:blipFill>
        <p:spPr bwMode="auto">
          <a:xfrm>
            <a:off x="4792663" y="5728168"/>
            <a:ext cx="960437" cy="1128712"/>
          </a:xfrm>
          <a:prstGeom prst="rect">
            <a:avLst/>
          </a:prstGeom>
          <a:noFill/>
        </p:spPr>
      </p:pic>
      <p:pic>
        <p:nvPicPr>
          <p:cNvPr id="491661" name="Picture 141" descr="ActiveDirectory01"/>
          <p:cNvPicPr>
            <a:picLocks noChangeAspect="1" noChangeArrowheads="1"/>
          </p:cNvPicPr>
          <p:nvPr>
            <p:custDataLst>
              <p:tags r:id="rId5"/>
            </p:custDataLst>
          </p:nvPr>
        </p:nvPicPr>
        <p:blipFill>
          <a:blip r:embed="rId12" cstate="print"/>
          <a:srcRect/>
          <a:stretch>
            <a:fillRect/>
          </a:stretch>
        </p:blipFill>
        <p:spPr bwMode="auto">
          <a:xfrm>
            <a:off x="5364163" y="6207593"/>
            <a:ext cx="798512" cy="523875"/>
          </a:xfrm>
          <a:prstGeom prst="rect">
            <a:avLst/>
          </a:prstGeom>
          <a:noFill/>
        </p:spPr>
      </p:pic>
      <p:sp>
        <p:nvSpPr>
          <p:cNvPr id="491662" name="AutoShape 142"/>
          <p:cNvSpPr>
            <a:spLocks noChangeArrowheads="1"/>
          </p:cNvSpPr>
          <p:nvPr/>
        </p:nvSpPr>
        <p:spPr bwMode="auto">
          <a:xfrm>
            <a:off x="6249988" y="5853580"/>
            <a:ext cx="1636712" cy="874713"/>
          </a:xfrm>
          <a:prstGeom prst="roundRect">
            <a:avLst>
              <a:gd name="adj" fmla="val 4167"/>
            </a:avLst>
          </a:prstGeom>
          <a:gradFill rotWithShape="1">
            <a:gsLst>
              <a:gs pos="0">
                <a:srgbClr val="D5D69C"/>
              </a:gs>
              <a:gs pos="100000">
                <a:srgbClr val="EEEFD7"/>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90000"/>
              </a:lnSpc>
            </a:pPr>
            <a:r>
              <a:rPr lang="fr-FR">
                <a:solidFill>
                  <a:srgbClr val="000000"/>
                </a:solidFill>
              </a:rPr>
              <a:t>Nouveau</a:t>
            </a:r>
            <a:endParaRPr lang="en-US"/>
          </a:p>
          <a:p>
            <a:pPr>
              <a:lnSpc>
                <a:spcPct val="90000"/>
              </a:lnSpc>
            </a:pPr>
            <a:r>
              <a:rPr lang="fr-FR">
                <a:solidFill>
                  <a:srgbClr val="000000"/>
                </a:solidFill>
              </a:rPr>
              <a:t>maître d'opérations</a:t>
            </a:r>
            <a:endParaRPr lang="en-US">
              <a:solidFill>
                <a:srgbClr val="000000"/>
              </a:solidFill>
            </a:endParaRPr>
          </a:p>
        </p:txBody>
      </p:sp>
      <p:sp>
        <p:nvSpPr>
          <p:cNvPr id="491663" name="AutoShape 143"/>
          <p:cNvSpPr>
            <a:spLocks noChangeArrowheads="1"/>
          </p:cNvSpPr>
          <p:nvPr/>
        </p:nvSpPr>
        <p:spPr bwMode="auto">
          <a:xfrm>
            <a:off x="917575" y="4278780"/>
            <a:ext cx="1868488" cy="968375"/>
          </a:xfrm>
          <a:prstGeom prst="roundRect">
            <a:avLst>
              <a:gd name="adj" fmla="val 4167"/>
            </a:avLst>
          </a:prstGeom>
          <a:gradFill rotWithShape="1">
            <a:gsLst>
              <a:gs pos="0">
                <a:srgbClr val="D5D69C"/>
              </a:gs>
              <a:gs pos="100000">
                <a:srgbClr val="EEEFD7"/>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90000"/>
              </a:lnSpc>
            </a:pPr>
            <a:r>
              <a:rPr lang="fr-FR">
                <a:solidFill>
                  <a:srgbClr val="000000"/>
                </a:solidFill>
              </a:rPr>
              <a:t>Maître d'opérations</a:t>
            </a:r>
            <a:r>
              <a:rPr lang="en-US">
                <a:solidFill>
                  <a:srgbClr val="000000"/>
                </a:solidFill>
              </a:rPr>
              <a:t> </a:t>
            </a:r>
            <a:r>
              <a:rPr lang="fr-FR">
                <a:solidFill>
                  <a:srgbClr val="000000"/>
                </a:solidFill>
              </a:rPr>
              <a:t>en fonctionnement</a:t>
            </a:r>
            <a:endParaRPr lang="en-US">
              <a:solidFill>
                <a:srgbClr val="000000"/>
              </a:solidFill>
            </a:endParaRPr>
          </a:p>
        </p:txBody>
      </p:sp>
      <p:sp>
        <p:nvSpPr>
          <p:cNvPr id="491664" name="AutoShape 144"/>
          <p:cNvSpPr>
            <a:spLocks noChangeArrowheads="1"/>
          </p:cNvSpPr>
          <p:nvPr/>
        </p:nvSpPr>
        <p:spPr bwMode="auto">
          <a:xfrm>
            <a:off x="4854575" y="4431180"/>
            <a:ext cx="2038350" cy="896938"/>
          </a:xfrm>
          <a:prstGeom prst="roundRect">
            <a:avLst>
              <a:gd name="adj" fmla="val 4167"/>
            </a:avLst>
          </a:prstGeom>
          <a:gradFill rotWithShape="1">
            <a:gsLst>
              <a:gs pos="0">
                <a:srgbClr val="ADE2A1"/>
              </a:gs>
              <a:gs pos="100000">
                <a:srgbClr val="E8F6E4"/>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90000"/>
              </a:lnSpc>
            </a:pPr>
            <a:r>
              <a:rPr lang="fr-FR">
                <a:solidFill>
                  <a:srgbClr val="000000"/>
                </a:solidFill>
              </a:rPr>
              <a:t>Transférez le rôle à un autre contrôleur de domaine</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91652">
                                            <p:txEl>
                                              <p:pRg st="0" end="0"/>
                                            </p:txEl>
                                          </p:spTgt>
                                        </p:tgtEl>
                                        <p:attrNameLst>
                                          <p:attrName>style.visibility</p:attrName>
                                        </p:attrNameLst>
                                      </p:cBhvr>
                                      <p:to>
                                        <p:strVal val="visible"/>
                                      </p:to>
                                    </p:set>
                                    <p:animEffect transition="in" filter="checkerboard(across)">
                                      <p:cBhvr>
                                        <p:cTn id="7" dur="500"/>
                                        <p:tgtEl>
                                          <p:spTgt spid="4916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91652">
                                            <p:txEl>
                                              <p:pRg st="1" end="1"/>
                                            </p:txEl>
                                          </p:spTgt>
                                        </p:tgtEl>
                                        <p:attrNameLst>
                                          <p:attrName>style.visibility</p:attrName>
                                        </p:attrNameLst>
                                      </p:cBhvr>
                                      <p:to>
                                        <p:strVal val="visible"/>
                                      </p:to>
                                    </p:set>
                                    <p:animEffect transition="in" filter="checkerboard(across)">
                                      <p:cBhvr>
                                        <p:cTn id="12" dur="500"/>
                                        <p:tgtEl>
                                          <p:spTgt spid="49165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301752" y="1527048"/>
            <a:ext cx="8503920" cy="4873752"/>
          </a:xfrm>
        </p:spPr>
        <p:txBody>
          <a:bodyPr>
            <a:normAutofit/>
          </a:bodyPr>
          <a:lstStyle/>
          <a:p>
            <a:pPr>
              <a:buNone/>
            </a:pPr>
            <a:r>
              <a:rPr lang="fr-FR" b="1" i="1" dirty="0" smtClean="0"/>
              <a:t>La défaillance de l’Emulateur CPD</a:t>
            </a:r>
          </a:p>
          <a:p>
            <a:pPr>
              <a:buNone/>
            </a:pPr>
            <a:r>
              <a:rPr lang="fr-FR" dirty="0" smtClean="0"/>
              <a:t>La défaillance est la plus handicapante :</a:t>
            </a:r>
          </a:p>
          <a:p>
            <a:pPr>
              <a:buClr>
                <a:schemeClr val="tx1"/>
              </a:buClr>
              <a:buFont typeface="Courier New" pitchFamily="49" charset="0"/>
              <a:buChar char="o"/>
            </a:pPr>
            <a:r>
              <a:rPr lang="fr-FR" dirty="0" smtClean="0"/>
              <a:t>Les ordinateurs clients exécutant une version antérieure à Windows 2000 ne pourront plus s’authentifier.</a:t>
            </a:r>
          </a:p>
          <a:p>
            <a:pPr>
              <a:buClr>
                <a:schemeClr val="tx1"/>
              </a:buClr>
              <a:buFont typeface="Courier New" pitchFamily="49" charset="0"/>
              <a:buChar char="o"/>
            </a:pPr>
            <a:r>
              <a:rPr lang="fr-FR" dirty="0" smtClean="0"/>
              <a:t>Perte de la diminution de latence pour la mise à jour des mots de passe.</a:t>
            </a:r>
          </a:p>
          <a:p>
            <a:pPr>
              <a:buClr>
                <a:schemeClr val="tx1"/>
              </a:buClr>
              <a:buFont typeface="Courier New" pitchFamily="49" charset="0"/>
              <a:buChar char="o"/>
            </a:pPr>
            <a:r>
              <a:rPr lang="fr-FR" dirty="0" smtClean="0"/>
              <a:t>Eventuelle perte de synchronisation horaire entre les contrôleurs.</a:t>
            </a:r>
          </a:p>
        </p:txBody>
      </p:sp>
      <p:sp>
        <p:nvSpPr>
          <p:cNvPr id="4" name="Rectangle 2"/>
          <p:cNvSpPr>
            <a:spLocks noGrp="1" noChangeArrowheads="1"/>
          </p:cNvSpPr>
          <p:nvPr>
            <p:ph type="title"/>
          </p:nvPr>
        </p:nvSpPr>
        <p:spPr>
          <a:xfrm>
            <a:off x="173181" y="334097"/>
            <a:ext cx="8790709" cy="684212"/>
          </a:xfrm>
        </p:spPr>
        <p:txBody>
          <a:bodyPr>
            <a:normAutofit fontScale="90000"/>
          </a:bodyPr>
          <a:lstStyle/>
          <a:p>
            <a:r>
              <a:rPr lang="fr-FR" b="1" dirty="0" smtClean="0">
                <a:solidFill>
                  <a:srgbClr val="C00000"/>
                </a:solidFill>
              </a:rPr>
              <a:t>Les défaillances de </a:t>
            </a:r>
            <a:r>
              <a:rPr lang="fr-FR" b="1" dirty="0">
                <a:solidFill>
                  <a:srgbClr val="C00000"/>
                </a:solidFill>
              </a:rPr>
              <a:t>maîtres d'opérations</a:t>
            </a:r>
            <a:endParaRPr lang="en-US"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sz="quarter" idx="1"/>
          </p:nvPr>
        </p:nvSpPr>
        <p:spPr>
          <a:xfrm>
            <a:off x="301752" y="1527048"/>
            <a:ext cx="8503920" cy="4873752"/>
          </a:xfrm>
        </p:spPr>
        <p:txBody>
          <a:bodyPr>
            <a:normAutofit/>
          </a:bodyPr>
          <a:lstStyle/>
          <a:p>
            <a:pPr>
              <a:buNone/>
            </a:pPr>
            <a:r>
              <a:rPr lang="fr-FR" b="1" i="1" dirty="0" smtClean="0"/>
              <a:t>Défaillance du maître d’infrastructure</a:t>
            </a:r>
          </a:p>
          <a:p>
            <a:pPr>
              <a:buClr>
                <a:schemeClr val="tx1"/>
              </a:buClr>
              <a:buFont typeface="Courier New" pitchFamily="49" charset="0"/>
              <a:buChar char="o"/>
            </a:pPr>
            <a:r>
              <a:rPr lang="fr-FR" dirty="0" smtClean="0"/>
              <a:t>Limite le déplacement des objets dans Active Directory</a:t>
            </a:r>
          </a:p>
          <a:p>
            <a:pPr>
              <a:buNone/>
            </a:pPr>
            <a:r>
              <a:rPr lang="fr-FR" b="1" i="1" dirty="0" smtClean="0"/>
              <a:t>Défaillance des autres maîtres d’opérations</a:t>
            </a:r>
          </a:p>
          <a:p>
            <a:pPr>
              <a:buClr>
                <a:schemeClr val="tx1"/>
              </a:buClr>
              <a:buFont typeface="Courier New" pitchFamily="49" charset="0"/>
              <a:buChar char="o"/>
            </a:pPr>
            <a:r>
              <a:rPr lang="fr-FR" dirty="0" smtClean="0"/>
              <a:t>Ces défaillances sont les moins gênantes.</a:t>
            </a:r>
          </a:p>
          <a:p>
            <a:pPr>
              <a:buClr>
                <a:schemeClr val="tx1"/>
              </a:buClr>
              <a:buFont typeface="Courier New" pitchFamily="49" charset="0"/>
              <a:buChar char="o"/>
            </a:pPr>
            <a:r>
              <a:rPr lang="fr-FR" dirty="0" smtClean="0"/>
              <a:t>Il est préférable de restaurer une sauvegarde de ces maîtres d’opérations plutôt que de les transférer, </a:t>
            </a:r>
          </a:p>
          <a:p>
            <a:pPr>
              <a:buClr>
                <a:schemeClr val="tx1"/>
              </a:buClr>
              <a:buFont typeface="Courier New" pitchFamily="49" charset="0"/>
              <a:buChar char="o"/>
            </a:pPr>
            <a:r>
              <a:rPr lang="fr-FR" dirty="0" smtClean="0"/>
              <a:t>Le transfert de ces maîtres d’opérations peut entraîner des erreurs dans les données.</a:t>
            </a:r>
          </a:p>
        </p:txBody>
      </p:sp>
      <p:sp>
        <p:nvSpPr>
          <p:cNvPr id="4" name="Rectangle 2"/>
          <p:cNvSpPr>
            <a:spLocks noGrp="1" noChangeArrowheads="1"/>
          </p:cNvSpPr>
          <p:nvPr>
            <p:ph type="title"/>
          </p:nvPr>
        </p:nvSpPr>
        <p:spPr>
          <a:xfrm>
            <a:off x="173181" y="334097"/>
            <a:ext cx="8790709" cy="684212"/>
          </a:xfrm>
        </p:spPr>
        <p:txBody>
          <a:bodyPr>
            <a:normAutofit fontScale="90000"/>
          </a:bodyPr>
          <a:lstStyle/>
          <a:p>
            <a:r>
              <a:rPr lang="fr-FR" b="1" dirty="0" smtClean="0">
                <a:solidFill>
                  <a:srgbClr val="C00000"/>
                </a:solidFill>
              </a:rPr>
              <a:t>Les défaillances de </a:t>
            </a:r>
            <a:r>
              <a:rPr lang="fr-FR" b="1" dirty="0">
                <a:solidFill>
                  <a:srgbClr val="C00000"/>
                </a:solidFill>
              </a:rPr>
              <a:t>maîtres d'opérations</a:t>
            </a:r>
            <a:endParaRPr lang="en-US" b="1"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10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p:cNvSpPr>
            <a:spLocks noGrp="1" noChangeArrowheads="1"/>
          </p:cNvSpPr>
          <p:nvPr>
            <p:ph type="title"/>
          </p:nvPr>
        </p:nvSpPr>
        <p:spPr>
          <a:xfrm>
            <a:off x="187035" y="347085"/>
            <a:ext cx="8721437" cy="684212"/>
          </a:xfrm>
        </p:spPr>
        <p:txBody>
          <a:bodyPr>
            <a:noAutofit/>
          </a:bodyPr>
          <a:lstStyle/>
          <a:p>
            <a:r>
              <a:rPr lang="fr-FR" sz="2600" b="1" dirty="0">
                <a:solidFill>
                  <a:srgbClr val="C00000"/>
                </a:solidFill>
              </a:rPr>
              <a:t>À quel moment prendre les rôles de maîtres d'opérations</a:t>
            </a:r>
            <a:endParaRPr lang="en-US" sz="2600" b="1" dirty="0">
              <a:solidFill>
                <a:srgbClr val="C00000"/>
              </a:solidFill>
            </a:endParaRPr>
          </a:p>
        </p:txBody>
      </p:sp>
      <p:sp>
        <p:nvSpPr>
          <p:cNvPr id="527421" name="AutoShape 61"/>
          <p:cNvSpPr>
            <a:spLocks noChangeArrowheads="1"/>
          </p:cNvSpPr>
          <p:nvPr/>
        </p:nvSpPr>
        <p:spPr bwMode="auto">
          <a:xfrm>
            <a:off x="249382" y="1560513"/>
            <a:ext cx="8631382" cy="2277196"/>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anchor="ctr"/>
          <a:lstStyle/>
          <a:p>
            <a:pPr marL="225425" indent="-225425" algn="l">
              <a:lnSpc>
                <a:spcPct val="85000"/>
              </a:lnSpc>
              <a:spcBef>
                <a:spcPct val="40000"/>
              </a:spcBef>
              <a:buSzPct val="80000"/>
              <a:buBlip>
                <a:blip r:embed="rId11"/>
              </a:buBlip>
            </a:pPr>
            <a:r>
              <a:rPr lang="fr-FR" sz="2400" dirty="0">
                <a:solidFill>
                  <a:srgbClr val="000000"/>
                </a:solidFill>
              </a:rPr>
              <a:t>Prendre un rôle de maître d’opérations signifie imposer ce rôle à un autre DC, qui ne peut pas contacter le DC défaillant lors de la prise du rôle</a:t>
            </a:r>
          </a:p>
          <a:p>
            <a:pPr marL="225425" indent="-225425" algn="l">
              <a:lnSpc>
                <a:spcPct val="85000"/>
              </a:lnSpc>
              <a:spcBef>
                <a:spcPct val="40000"/>
              </a:spcBef>
              <a:buSzPct val="80000"/>
              <a:buFontTx/>
              <a:buBlip>
                <a:blip r:embed="rId11"/>
              </a:buBlip>
            </a:pPr>
            <a:r>
              <a:rPr lang="fr-FR" sz="2400" dirty="0" smtClean="0">
                <a:solidFill>
                  <a:srgbClr val="000000"/>
                </a:solidFill>
              </a:rPr>
              <a:t>Prenez </a:t>
            </a:r>
            <a:r>
              <a:rPr lang="fr-FR" sz="2400" dirty="0">
                <a:solidFill>
                  <a:srgbClr val="000000"/>
                </a:solidFill>
              </a:rPr>
              <a:t>un rôle uniquement si le transfert est impossible</a:t>
            </a:r>
            <a:endParaRPr lang="en-US" sz="2400" dirty="0"/>
          </a:p>
          <a:p>
            <a:pPr marL="225425" indent="-225425" algn="l">
              <a:lnSpc>
                <a:spcPct val="85000"/>
              </a:lnSpc>
              <a:spcBef>
                <a:spcPct val="40000"/>
              </a:spcBef>
              <a:buSzPct val="80000"/>
              <a:buFontTx/>
              <a:buBlip>
                <a:blip r:embed="rId11"/>
              </a:buBlip>
            </a:pPr>
            <a:r>
              <a:rPr lang="fr-FR" sz="2400" dirty="0">
                <a:solidFill>
                  <a:srgbClr val="000000"/>
                </a:solidFill>
              </a:rPr>
              <a:t>La prise de rôle peut entraîner une perte de données</a:t>
            </a:r>
            <a:endParaRPr lang="en-US" sz="2400" dirty="0">
              <a:solidFill>
                <a:srgbClr val="000000"/>
              </a:solidFill>
            </a:endParaRPr>
          </a:p>
        </p:txBody>
      </p:sp>
      <p:pic>
        <p:nvPicPr>
          <p:cNvPr id="527423" name="Picture 63" descr="2Domain01"/>
          <p:cNvPicPr>
            <a:picLocks noChangeAspect="1" noChangeArrowheads="1"/>
          </p:cNvPicPr>
          <p:nvPr>
            <p:custDataLst>
              <p:tags r:id="rId1"/>
            </p:custDataLst>
          </p:nvPr>
        </p:nvPicPr>
        <p:blipFill>
          <a:blip r:embed="rId12"/>
          <a:srcRect/>
          <a:stretch>
            <a:fillRect/>
          </a:stretch>
        </p:blipFill>
        <p:spPr bwMode="auto">
          <a:xfrm>
            <a:off x="2630488" y="3810015"/>
            <a:ext cx="2997200" cy="2419350"/>
          </a:xfrm>
          <a:prstGeom prst="rect">
            <a:avLst/>
          </a:prstGeom>
          <a:noFill/>
        </p:spPr>
      </p:pic>
      <p:grpSp>
        <p:nvGrpSpPr>
          <p:cNvPr id="527435" name="Group 64"/>
          <p:cNvGrpSpPr>
            <a:grpSpLocks/>
          </p:cNvGrpSpPr>
          <p:nvPr>
            <p:custDataLst>
              <p:tags r:id="rId2"/>
            </p:custDataLst>
          </p:nvPr>
        </p:nvGrpSpPr>
        <p:grpSpPr bwMode="auto">
          <a:xfrm>
            <a:off x="2889250" y="3949715"/>
            <a:ext cx="1370013" cy="1128713"/>
            <a:chOff x="1820" y="2200"/>
            <a:chExt cx="863" cy="711"/>
          </a:xfrm>
        </p:grpSpPr>
        <p:pic>
          <p:nvPicPr>
            <p:cNvPr id="527425" name="Picture 65" descr="Server01"/>
            <p:cNvPicPr>
              <a:picLocks noChangeAspect="1" noChangeArrowheads="1"/>
            </p:cNvPicPr>
            <p:nvPr>
              <p:custDataLst>
                <p:tags r:id="rId7"/>
              </p:custDataLst>
            </p:nvPr>
          </p:nvPicPr>
          <p:blipFill>
            <a:blip r:embed="rId13" cstate="print"/>
            <a:srcRect/>
            <a:stretch>
              <a:fillRect/>
            </a:stretch>
          </p:blipFill>
          <p:spPr bwMode="auto">
            <a:xfrm>
              <a:off x="1820" y="2200"/>
              <a:ext cx="605" cy="711"/>
            </a:xfrm>
            <a:prstGeom prst="rect">
              <a:avLst/>
            </a:prstGeom>
            <a:noFill/>
          </p:spPr>
        </p:pic>
        <p:pic>
          <p:nvPicPr>
            <p:cNvPr id="527426" name="Picture 66" descr="ActiveDirectory01"/>
            <p:cNvPicPr>
              <a:picLocks noChangeAspect="1" noChangeArrowheads="1"/>
            </p:cNvPicPr>
            <p:nvPr>
              <p:custDataLst>
                <p:tags r:id="rId8"/>
              </p:custDataLst>
            </p:nvPr>
          </p:nvPicPr>
          <p:blipFill>
            <a:blip r:embed="rId14" cstate="print"/>
            <a:srcRect/>
            <a:stretch>
              <a:fillRect/>
            </a:stretch>
          </p:blipFill>
          <p:spPr bwMode="auto">
            <a:xfrm>
              <a:off x="2180" y="2502"/>
              <a:ext cx="503" cy="330"/>
            </a:xfrm>
            <a:prstGeom prst="rect">
              <a:avLst/>
            </a:prstGeom>
            <a:noFill/>
          </p:spPr>
        </p:pic>
      </p:grpSp>
      <p:sp>
        <p:nvSpPr>
          <p:cNvPr id="527427" name="Freeform 67"/>
          <p:cNvSpPr>
            <a:spLocks/>
          </p:cNvSpPr>
          <p:nvPr>
            <p:custDataLst>
              <p:tags r:id="rId3"/>
            </p:custDataLst>
          </p:nvPr>
        </p:nvSpPr>
        <p:spPr bwMode="auto">
          <a:xfrm rot="20819658" flipH="1">
            <a:off x="3749675" y="4987940"/>
            <a:ext cx="890588" cy="773113"/>
          </a:xfrm>
          <a:custGeom>
            <a:avLst/>
            <a:gdLst/>
            <a:ahLst/>
            <a:cxnLst>
              <a:cxn ang="0">
                <a:pos x="718" y="75"/>
              </a:cxn>
              <a:cxn ang="0">
                <a:pos x="505" y="0"/>
              </a:cxn>
              <a:cxn ang="0">
                <a:pos x="106" y="264"/>
              </a:cxn>
              <a:cxn ang="0">
                <a:pos x="0" y="231"/>
              </a:cxn>
              <a:cxn ang="0">
                <a:pos x="26" y="444"/>
              </a:cxn>
              <a:cxn ang="0">
                <a:pos x="425" y="382"/>
              </a:cxn>
              <a:cxn ang="0">
                <a:pos x="301" y="341"/>
              </a:cxn>
              <a:cxn ang="0">
                <a:pos x="718" y="75"/>
              </a:cxn>
            </a:cxnLst>
            <a:rect l="0" t="0" r="r" b="b"/>
            <a:pathLst>
              <a:path w="718" h="444">
                <a:moveTo>
                  <a:pt x="718" y="75"/>
                </a:moveTo>
                <a:lnTo>
                  <a:pt x="505" y="0"/>
                </a:lnTo>
                <a:lnTo>
                  <a:pt x="106" y="264"/>
                </a:lnTo>
                <a:lnTo>
                  <a:pt x="0" y="231"/>
                </a:lnTo>
                <a:lnTo>
                  <a:pt x="26" y="444"/>
                </a:lnTo>
                <a:lnTo>
                  <a:pt x="425" y="382"/>
                </a:lnTo>
                <a:lnTo>
                  <a:pt x="301" y="341"/>
                </a:lnTo>
                <a:lnTo>
                  <a:pt x="718" y="75"/>
                </a:lnTo>
                <a:close/>
              </a:path>
            </a:pathLst>
          </a:custGeom>
          <a:solidFill>
            <a:srgbClr val="FF0000">
              <a:alpha val="75000"/>
            </a:srgbClr>
          </a:solidFill>
          <a:ln w="9525" cap="flat" cmpd="sng">
            <a:noFill/>
            <a:prstDash val="solid"/>
            <a:round/>
            <a:headEnd type="none" w="med" len="med"/>
            <a:tailEnd type="none" w="med" len="med"/>
          </a:ln>
          <a:effectLst/>
        </p:spPr>
        <p:txBody>
          <a:bodyPr wrap="none" anchor="ctr"/>
          <a:lstStyle/>
          <a:p>
            <a:endParaRPr lang="fr-FR"/>
          </a:p>
        </p:txBody>
      </p:sp>
      <p:pic>
        <p:nvPicPr>
          <p:cNvPr id="527429" name="Picture 69" descr="Server01"/>
          <p:cNvPicPr>
            <a:picLocks noChangeAspect="1" noChangeArrowheads="1"/>
          </p:cNvPicPr>
          <p:nvPr>
            <p:custDataLst>
              <p:tags r:id="rId4"/>
            </p:custDataLst>
          </p:nvPr>
        </p:nvPicPr>
        <p:blipFill>
          <a:blip r:embed="rId13" cstate="print"/>
          <a:srcRect/>
          <a:stretch>
            <a:fillRect/>
          </a:stretch>
        </p:blipFill>
        <p:spPr bwMode="auto">
          <a:xfrm>
            <a:off x="4721225" y="5418153"/>
            <a:ext cx="960438" cy="1128712"/>
          </a:xfrm>
          <a:prstGeom prst="rect">
            <a:avLst/>
          </a:prstGeom>
          <a:noFill/>
        </p:spPr>
      </p:pic>
      <p:pic>
        <p:nvPicPr>
          <p:cNvPr id="527430" name="Picture 70" descr="ActiveDirectory01"/>
          <p:cNvPicPr>
            <a:picLocks noChangeAspect="1" noChangeArrowheads="1"/>
          </p:cNvPicPr>
          <p:nvPr>
            <p:custDataLst>
              <p:tags r:id="rId5"/>
            </p:custDataLst>
          </p:nvPr>
        </p:nvPicPr>
        <p:blipFill>
          <a:blip r:embed="rId14" cstate="print"/>
          <a:srcRect/>
          <a:stretch>
            <a:fillRect/>
          </a:stretch>
        </p:blipFill>
        <p:spPr bwMode="auto">
          <a:xfrm>
            <a:off x="5292725" y="5897578"/>
            <a:ext cx="798513" cy="523875"/>
          </a:xfrm>
          <a:prstGeom prst="rect">
            <a:avLst/>
          </a:prstGeom>
          <a:noFill/>
        </p:spPr>
      </p:pic>
      <p:sp>
        <p:nvSpPr>
          <p:cNvPr id="527431" name="AutoShape 71"/>
          <p:cNvSpPr>
            <a:spLocks noChangeArrowheads="1"/>
          </p:cNvSpPr>
          <p:nvPr/>
        </p:nvSpPr>
        <p:spPr bwMode="auto">
          <a:xfrm>
            <a:off x="6149975" y="5516578"/>
            <a:ext cx="1990725" cy="898525"/>
          </a:xfrm>
          <a:prstGeom prst="roundRect">
            <a:avLst>
              <a:gd name="adj" fmla="val 4167"/>
            </a:avLst>
          </a:prstGeom>
          <a:gradFill rotWithShape="1">
            <a:gsLst>
              <a:gs pos="0">
                <a:srgbClr val="D5D69C"/>
              </a:gs>
              <a:gs pos="100000">
                <a:srgbClr val="EEEFD7"/>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90000"/>
              </a:lnSpc>
            </a:pPr>
            <a:r>
              <a:rPr lang="fr-FR">
                <a:solidFill>
                  <a:srgbClr val="000000"/>
                </a:solidFill>
              </a:rPr>
              <a:t>Maître d'opérations</a:t>
            </a:r>
            <a:br>
              <a:rPr lang="fr-FR">
                <a:solidFill>
                  <a:srgbClr val="000000"/>
                </a:solidFill>
              </a:rPr>
            </a:br>
            <a:r>
              <a:rPr lang="fr-FR">
                <a:solidFill>
                  <a:srgbClr val="000000"/>
                </a:solidFill>
              </a:rPr>
              <a:t>en fonctionnement</a:t>
            </a:r>
            <a:endParaRPr lang="en-US">
              <a:solidFill>
                <a:srgbClr val="000000"/>
              </a:solidFill>
            </a:endParaRPr>
          </a:p>
        </p:txBody>
      </p:sp>
      <p:sp>
        <p:nvSpPr>
          <p:cNvPr id="527432" name="AutoShape 72"/>
          <p:cNvSpPr>
            <a:spLocks noChangeArrowheads="1"/>
          </p:cNvSpPr>
          <p:nvPr/>
        </p:nvSpPr>
        <p:spPr bwMode="auto">
          <a:xfrm>
            <a:off x="892175" y="4017978"/>
            <a:ext cx="1922463" cy="887412"/>
          </a:xfrm>
          <a:prstGeom prst="roundRect">
            <a:avLst>
              <a:gd name="adj" fmla="val 4167"/>
            </a:avLst>
          </a:prstGeom>
          <a:gradFill rotWithShape="1">
            <a:gsLst>
              <a:gs pos="0">
                <a:srgbClr val="D5D69C"/>
              </a:gs>
              <a:gs pos="100000">
                <a:srgbClr val="EEEFD7"/>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90000"/>
              </a:lnSpc>
            </a:pPr>
            <a:r>
              <a:rPr lang="fr-FR">
                <a:solidFill>
                  <a:srgbClr val="000000"/>
                </a:solidFill>
              </a:rPr>
              <a:t>Maître d'opérations</a:t>
            </a:r>
            <a:br>
              <a:rPr lang="fr-FR">
                <a:solidFill>
                  <a:srgbClr val="000000"/>
                </a:solidFill>
              </a:rPr>
            </a:br>
            <a:r>
              <a:rPr lang="fr-FR">
                <a:solidFill>
                  <a:srgbClr val="000000"/>
                </a:solidFill>
              </a:rPr>
              <a:t>hors service</a:t>
            </a:r>
            <a:endParaRPr lang="en-US">
              <a:solidFill>
                <a:srgbClr val="000000"/>
              </a:solidFill>
            </a:endParaRPr>
          </a:p>
        </p:txBody>
      </p:sp>
      <p:sp>
        <p:nvSpPr>
          <p:cNvPr id="527433" name="AutoShape 73"/>
          <p:cNvSpPr>
            <a:spLocks noChangeArrowheads="1"/>
          </p:cNvSpPr>
          <p:nvPr/>
        </p:nvSpPr>
        <p:spPr bwMode="auto">
          <a:xfrm>
            <a:off x="4854575" y="4121165"/>
            <a:ext cx="2643188" cy="896938"/>
          </a:xfrm>
          <a:prstGeom prst="roundRect">
            <a:avLst>
              <a:gd name="adj" fmla="val 4167"/>
            </a:avLst>
          </a:prstGeom>
          <a:gradFill rotWithShape="1">
            <a:gsLst>
              <a:gs pos="0">
                <a:srgbClr val="ADE2A1"/>
              </a:gs>
              <a:gs pos="100000">
                <a:srgbClr val="E8F6E4"/>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nSpc>
                <a:spcPct val="90000"/>
              </a:lnSpc>
            </a:pPr>
            <a:r>
              <a:rPr lang="fr-FR">
                <a:solidFill>
                  <a:srgbClr val="000000"/>
                </a:solidFill>
              </a:rPr>
              <a:t>Prenez le rôle et réaffectez-le à un autre contrôleur de domaine</a:t>
            </a:r>
            <a:endParaRPr lang="en-US"/>
          </a:p>
        </p:txBody>
      </p:sp>
      <p:pic>
        <p:nvPicPr>
          <p:cNvPr id="527434" name="Picture 74" descr="Validate_XMark01"/>
          <p:cNvPicPr>
            <a:picLocks noChangeAspect="1" noChangeArrowheads="1"/>
          </p:cNvPicPr>
          <p:nvPr>
            <p:custDataLst>
              <p:tags r:id="rId6"/>
            </p:custDataLst>
          </p:nvPr>
        </p:nvPicPr>
        <p:blipFill>
          <a:blip r:embed="rId15" cstate="print"/>
          <a:srcRect/>
          <a:stretch>
            <a:fillRect/>
          </a:stretch>
        </p:blipFill>
        <p:spPr bwMode="auto">
          <a:xfrm>
            <a:off x="2952750" y="4003690"/>
            <a:ext cx="585788" cy="714375"/>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C00000"/>
                </a:solidFill>
              </a:rPr>
              <a:t>Exercices</a:t>
            </a:r>
            <a:endParaRPr lang="fr-FR" b="1" dirty="0">
              <a:solidFill>
                <a:srgbClr val="C00000"/>
              </a:solidFill>
            </a:endParaRPr>
          </a:p>
        </p:txBody>
      </p:sp>
      <p:sp>
        <p:nvSpPr>
          <p:cNvPr id="3" name="Espace réservé du contenu 2"/>
          <p:cNvSpPr>
            <a:spLocks noGrp="1"/>
          </p:cNvSpPr>
          <p:nvPr>
            <p:ph sz="quarter" idx="1"/>
          </p:nvPr>
        </p:nvSpPr>
        <p:spPr>
          <a:xfrm>
            <a:off x="301752" y="1527047"/>
            <a:ext cx="8503920" cy="5164698"/>
          </a:xfrm>
        </p:spPr>
        <p:txBody>
          <a:bodyPr>
            <a:normAutofit fontScale="92500"/>
          </a:bodyPr>
          <a:lstStyle/>
          <a:p>
            <a:pPr lvl="0">
              <a:buClr>
                <a:schemeClr val="tx1"/>
              </a:buClr>
              <a:buFont typeface="Wingdings" pitchFamily="2" charset="2"/>
              <a:buChar char="q"/>
            </a:pPr>
            <a:r>
              <a:rPr lang="fr-FR" dirty="0" smtClean="0"/>
              <a:t> </a:t>
            </a:r>
            <a:r>
              <a:rPr lang="fr-FR" i="1" dirty="0" smtClean="0"/>
              <a:t>Quel est le rôle du maître d’opération de schéma ?</a:t>
            </a:r>
            <a:endParaRPr lang="fr-FR" dirty="0" smtClean="0"/>
          </a:p>
          <a:p>
            <a:pPr>
              <a:buClr>
                <a:schemeClr val="tx1"/>
              </a:buClr>
              <a:buFont typeface="Wingdings" pitchFamily="2" charset="2"/>
              <a:buChar char="q"/>
            </a:pPr>
            <a:r>
              <a:rPr lang="fr-FR" i="1" dirty="0" smtClean="0"/>
              <a:t>C'est le seul DC à avoir la responsabilité et le contrôle des opérations de mises à jour du schéma de la forêt.</a:t>
            </a:r>
            <a:endParaRPr lang="fr-FR" dirty="0" smtClean="0"/>
          </a:p>
          <a:p>
            <a:pPr lvl="0">
              <a:buClr>
                <a:schemeClr val="tx1"/>
              </a:buClr>
              <a:buFont typeface="Wingdings" pitchFamily="2" charset="2"/>
              <a:buChar char="q"/>
            </a:pPr>
            <a:r>
              <a:rPr lang="fr-FR" i="1" dirty="0" smtClean="0"/>
              <a:t>Quel est le rôle du maître d’opération de noms de domaine ? </a:t>
            </a:r>
            <a:endParaRPr lang="fr-FR" dirty="0" smtClean="0"/>
          </a:p>
          <a:p>
            <a:pPr>
              <a:buClr>
                <a:schemeClr val="tx1"/>
              </a:buClr>
              <a:buFont typeface="Wingdings" pitchFamily="2" charset="2"/>
              <a:buChar char="q"/>
            </a:pPr>
            <a:r>
              <a:rPr lang="fr-FR" i="1" dirty="0" smtClean="0"/>
              <a:t>C'est le seul DC à avoir la responsabilité de contrôler l’ajout ou la suppression de domaines au sein de la forêt.</a:t>
            </a:r>
          </a:p>
          <a:p>
            <a:pPr>
              <a:buClr>
                <a:schemeClr val="tx1"/>
              </a:buClr>
              <a:buFont typeface="Wingdings" pitchFamily="2" charset="2"/>
              <a:buChar char="q"/>
            </a:pPr>
            <a:r>
              <a:rPr lang="fr-FR" i="1" dirty="0" smtClean="0"/>
              <a:t> Quel est le rôle du maître des identificateurs relatifs ?</a:t>
            </a:r>
          </a:p>
          <a:p>
            <a:pPr>
              <a:buClr>
                <a:schemeClr val="tx1"/>
              </a:buClr>
              <a:buFont typeface="Wingdings" pitchFamily="2" charset="2"/>
              <a:buChar char="q"/>
            </a:pPr>
            <a:r>
              <a:rPr lang="fr-FR" i="1" dirty="0" smtClean="0"/>
              <a:t>Il alloue des séquences de RID à chacun des différents DC de son domaine. Ainsi, chaque DC  peut émettre des SID tout en garantissant l’impossibilité qu’il puisse exister des conflits. </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heckerboard(across)">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C00000"/>
                </a:solidFill>
              </a:rPr>
              <a:t>Exercices</a:t>
            </a:r>
            <a:endParaRPr lang="fr-FR" b="1" dirty="0">
              <a:solidFill>
                <a:srgbClr val="C00000"/>
              </a:solidFill>
            </a:endParaRPr>
          </a:p>
        </p:txBody>
      </p:sp>
      <p:sp>
        <p:nvSpPr>
          <p:cNvPr id="3" name="Espace réservé du contenu 2"/>
          <p:cNvSpPr>
            <a:spLocks noGrp="1"/>
          </p:cNvSpPr>
          <p:nvPr>
            <p:ph sz="quarter" idx="1"/>
          </p:nvPr>
        </p:nvSpPr>
        <p:spPr>
          <a:xfrm>
            <a:off x="301752" y="1527047"/>
            <a:ext cx="8503920" cy="4956880"/>
          </a:xfrm>
        </p:spPr>
        <p:txBody>
          <a:bodyPr>
            <a:normAutofit fontScale="85000" lnSpcReduction="10000"/>
          </a:bodyPr>
          <a:lstStyle/>
          <a:p>
            <a:pPr marL="514350" indent="-514350">
              <a:buClr>
                <a:schemeClr val="tx1"/>
              </a:buClr>
              <a:buNone/>
            </a:pPr>
            <a:r>
              <a:rPr lang="fr-FR" dirty="0" smtClean="0"/>
              <a:t>1. Quel </a:t>
            </a:r>
            <a:r>
              <a:rPr lang="fr-FR" dirty="0" smtClean="0"/>
              <a:t>est le rôle de maître d’opération PDC </a:t>
            </a:r>
            <a:r>
              <a:rPr lang="fr-FR" dirty="0" err="1" smtClean="0"/>
              <a:t>Emulator</a:t>
            </a:r>
            <a:r>
              <a:rPr lang="fr-FR" dirty="0" smtClean="0"/>
              <a:t>?</a:t>
            </a:r>
          </a:p>
          <a:p>
            <a:pPr>
              <a:buClr>
                <a:schemeClr val="tx1"/>
              </a:buClr>
              <a:buFont typeface="Wingdings" pitchFamily="2" charset="2"/>
              <a:buChar char="q"/>
            </a:pPr>
            <a:r>
              <a:rPr lang="fr-FR" dirty="0" smtClean="0"/>
              <a:t>Il joue le rôle de DC de domaine Windows NT. Il traite les modifications de mot de passe des clients et réplique les mises à jour à destination des contrôleurs secondaires NT. Le maître d’opération de type PDC </a:t>
            </a:r>
            <a:r>
              <a:rPr lang="fr-FR" dirty="0" err="1" smtClean="0"/>
              <a:t>Emulator</a:t>
            </a:r>
            <a:r>
              <a:rPr lang="fr-FR" dirty="0" smtClean="0"/>
              <a:t> est aussi responsable de la synchronisation horaire au sein de son domaine AD. </a:t>
            </a:r>
          </a:p>
          <a:p>
            <a:pPr marL="514350" indent="-514350">
              <a:buClr>
                <a:schemeClr val="tx1"/>
              </a:buClr>
              <a:buNone/>
            </a:pPr>
            <a:r>
              <a:rPr lang="fr-FR" dirty="0" smtClean="0"/>
              <a:t>2. Quel </a:t>
            </a:r>
            <a:r>
              <a:rPr lang="fr-FR" dirty="0" smtClean="0"/>
              <a:t>est le rôle du maître d’infrastructure ?</a:t>
            </a:r>
          </a:p>
          <a:p>
            <a:pPr>
              <a:buClr>
                <a:schemeClr val="tx1"/>
              </a:buClr>
              <a:buFont typeface="Wingdings" pitchFamily="2" charset="2"/>
              <a:buChar char="q"/>
            </a:pPr>
            <a:r>
              <a:rPr lang="fr-FR" dirty="0" smtClean="0"/>
              <a:t>Il est responsable de la mise à jour des références des objets de son domaine sur les objets des autres domaines. Il maintient l’identification de l’objet en fonction de son déplacement au sein d’un domaine ou d’un autre domaine. Il compare ses données à celles du catalogue global qui, lui-même, reçoit des mises à jour régulières de tous les domaines par le biais de réplications.</a:t>
            </a:r>
            <a:endParaRPr lang="fr-F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C00000"/>
                </a:solidFill>
              </a:rPr>
              <a:t>Exercices</a:t>
            </a:r>
            <a:endParaRPr lang="fr-FR" b="1" dirty="0">
              <a:solidFill>
                <a:srgbClr val="C00000"/>
              </a:solidFill>
            </a:endParaRPr>
          </a:p>
        </p:txBody>
      </p:sp>
      <p:sp>
        <p:nvSpPr>
          <p:cNvPr id="3" name="Espace réservé du contenu 2"/>
          <p:cNvSpPr>
            <a:spLocks noGrp="1"/>
          </p:cNvSpPr>
          <p:nvPr>
            <p:ph sz="quarter" idx="1"/>
          </p:nvPr>
        </p:nvSpPr>
        <p:spPr>
          <a:xfrm>
            <a:off x="301752" y="1527047"/>
            <a:ext cx="8503920" cy="5164697"/>
          </a:xfrm>
        </p:spPr>
        <p:txBody>
          <a:bodyPr>
            <a:noAutofit/>
          </a:bodyPr>
          <a:lstStyle/>
          <a:p>
            <a:pPr lvl="0">
              <a:buClr>
                <a:schemeClr val="tx1"/>
              </a:buClr>
              <a:buNone/>
            </a:pPr>
            <a:r>
              <a:rPr lang="fr-FR" sz="2300" dirty="0" smtClean="0"/>
              <a:t>3.  Quels </a:t>
            </a:r>
            <a:r>
              <a:rPr lang="fr-FR" sz="2300" dirty="0" smtClean="0"/>
              <a:t>sont les trois rôles de maîtres d’opérations indispensables à tout domaine AD?</a:t>
            </a:r>
          </a:p>
          <a:p>
            <a:pPr>
              <a:buClr>
                <a:schemeClr val="tx1"/>
              </a:buClr>
              <a:buFont typeface="Wingdings" pitchFamily="2" charset="2"/>
              <a:buChar char="q"/>
            </a:pPr>
            <a:r>
              <a:rPr lang="fr-FR" sz="2300" dirty="0" smtClean="0"/>
              <a:t>Chaque domaine Active Directory d’une forêt doit disposer de ses propres maîtres d’opérations : le PDC </a:t>
            </a:r>
            <a:r>
              <a:rPr lang="fr-FR" sz="2300" dirty="0" err="1" smtClean="0"/>
              <a:t>Emulator</a:t>
            </a:r>
            <a:r>
              <a:rPr lang="fr-FR" sz="2300" dirty="0" smtClean="0"/>
              <a:t>, le maître des identificateurs relatifs et le maître d’infrastructure.</a:t>
            </a:r>
          </a:p>
          <a:p>
            <a:pPr>
              <a:buClr>
                <a:schemeClr val="tx1"/>
              </a:buClr>
              <a:buNone/>
            </a:pPr>
            <a:r>
              <a:rPr lang="fr-FR" sz="2300" dirty="0" smtClean="0"/>
              <a:t>4.  </a:t>
            </a:r>
            <a:r>
              <a:rPr lang="fr-FR" sz="2300" dirty="0" smtClean="0"/>
              <a:t>Quelle </a:t>
            </a:r>
            <a:r>
              <a:rPr lang="fr-FR" sz="2300" dirty="0" smtClean="0"/>
              <a:t>relation existe entre le maître d’opération PDC </a:t>
            </a:r>
            <a:r>
              <a:rPr lang="fr-FR" sz="2300" dirty="0" err="1" smtClean="0"/>
              <a:t>Emulator</a:t>
            </a:r>
            <a:r>
              <a:rPr lang="fr-FR" sz="2300" dirty="0" smtClean="0"/>
              <a:t> et la création ou la modification des objets stratégies de groupe ?</a:t>
            </a:r>
          </a:p>
          <a:p>
            <a:pPr>
              <a:buClr>
                <a:schemeClr val="tx1"/>
              </a:buClr>
              <a:buFont typeface="Wingdings" pitchFamily="2" charset="2"/>
              <a:buChar char="q"/>
            </a:pPr>
            <a:r>
              <a:rPr lang="fr-FR" sz="2300" dirty="0" smtClean="0"/>
              <a:t>Par défaut, le maître d’opérations PDC </a:t>
            </a:r>
            <a:r>
              <a:rPr lang="fr-FR" sz="2300" dirty="0" err="1" smtClean="0"/>
              <a:t>Emulator</a:t>
            </a:r>
            <a:r>
              <a:rPr lang="fr-FR" sz="2300" dirty="0" smtClean="0"/>
              <a:t> interdit toute possibilité d’écrasement des objets de stratégie de groupe. En effet, la stratégie de groupe du domaine réduit les risques de conflits de réplication en désignant ce contrôleur de domaine comme serveur préféré pour réaliser les modifications des GPO.</a:t>
            </a:r>
            <a:endParaRPr lang="fr-FR" sz="2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C00000"/>
                </a:solidFill>
              </a:rPr>
              <a:t>Exercices</a:t>
            </a:r>
            <a:endParaRPr lang="fr-FR" b="1" dirty="0">
              <a:solidFill>
                <a:srgbClr val="C00000"/>
              </a:solidFill>
            </a:endParaRPr>
          </a:p>
        </p:txBody>
      </p:sp>
      <p:sp>
        <p:nvSpPr>
          <p:cNvPr id="3" name="Espace réservé du contenu 2"/>
          <p:cNvSpPr>
            <a:spLocks noGrp="1"/>
          </p:cNvSpPr>
          <p:nvPr>
            <p:ph sz="quarter" idx="1"/>
          </p:nvPr>
        </p:nvSpPr>
        <p:spPr>
          <a:xfrm>
            <a:off x="246334" y="1374648"/>
            <a:ext cx="8503920" cy="5053861"/>
          </a:xfrm>
        </p:spPr>
        <p:txBody>
          <a:bodyPr>
            <a:noAutofit/>
          </a:bodyPr>
          <a:lstStyle/>
          <a:p>
            <a:pPr lvl="0">
              <a:buClrTx/>
              <a:buNone/>
            </a:pPr>
            <a:r>
              <a:rPr lang="fr-FR" sz="2200" dirty="0" smtClean="0"/>
              <a:t>5.  Quel </a:t>
            </a:r>
            <a:r>
              <a:rPr lang="fr-FR" sz="2200" dirty="0" smtClean="0"/>
              <a:t>point important devez-vous considérer concernant l’emplacement du maître d’infrastructure ?</a:t>
            </a:r>
          </a:p>
          <a:p>
            <a:pPr>
              <a:buClrTx/>
              <a:buFont typeface="Wingdings" pitchFamily="2" charset="2"/>
              <a:buChar char="q"/>
            </a:pPr>
            <a:r>
              <a:rPr lang="fr-FR" sz="2200" dirty="0" smtClean="0"/>
              <a:t>Le rôle de maître d’infrastructure ne doit pas être attribué au contrôleur de domaine qui héberge le </a:t>
            </a:r>
            <a:r>
              <a:rPr lang="fr-FR" sz="2200" dirty="0" smtClean="0"/>
              <a:t>GC, </a:t>
            </a:r>
            <a:r>
              <a:rPr lang="fr-FR" sz="2200" dirty="0" smtClean="0"/>
              <a:t>cependant, ces deux machines devraient être proches l’une de l’autre.</a:t>
            </a:r>
          </a:p>
          <a:p>
            <a:pPr>
              <a:buClrTx/>
              <a:buNone/>
            </a:pPr>
            <a:r>
              <a:rPr lang="fr-FR" sz="2200" dirty="0" smtClean="0"/>
              <a:t>6.  </a:t>
            </a:r>
            <a:r>
              <a:rPr lang="fr-FR" sz="2200" dirty="0" smtClean="0"/>
              <a:t>Dans </a:t>
            </a:r>
            <a:r>
              <a:rPr lang="fr-FR" sz="2200" dirty="0" smtClean="0"/>
              <a:t>quel cas est-il possible que le rôle de maître d’infrastructure soit pris en charge par un catalogue global ?</a:t>
            </a:r>
          </a:p>
          <a:p>
            <a:pPr>
              <a:buClrTx/>
              <a:buFont typeface="Wingdings" pitchFamily="2" charset="2"/>
              <a:buChar char="q"/>
            </a:pPr>
            <a:r>
              <a:rPr lang="fr-FR" sz="2200" dirty="0" smtClean="0"/>
              <a:t>Dans le cas où le domaine ne comporte qu’un seul contrôleur de domaine ou bien lorsque tous les contrôleurs de domaine sont des catalogues globaux.</a:t>
            </a:r>
          </a:p>
          <a:p>
            <a:pPr lvl="0">
              <a:buClrTx/>
              <a:buNone/>
            </a:pPr>
            <a:r>
              <a:rPr lang="fr-FR" sz="2200" dirty="0" smtClean="0"/>
              <a:t>7.  Est-il </a:t>
            </a:r>
            <a:r>
              <a:rPr lang="fr-FR" sz="2200" dirty="0" smtClean="0"/>
              <a:t>important que le maître d’opérations contrôleur de schéma soit toujours disponible ?</a:t>
            </a:r>
          </a:p>
          <a:p>
            <a:pPr>
              <a:buClrTx/>
              <a:buFont typeface="Wingdings" pitchFamily="2" charset="2"/>
              <a:buChar char="q"/>
            </a:pPr>
            <a:r>
              <a:rPr lang="fr-FR" sz="2200" dirty="0" smtClean="0"/>
              <a:t>Non. Il doit être disponible lorsqu’il est nécessaire de modifier le schéma.</a:t>
            </a:r>
            <a:endParaRPr lang="fr-FR"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checkerboard(across)">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PPWINTOTALSEGMENTS" val="1"/>
</p:tagLst>
</file>

<file path=ppt/tags/tag2.xml><?xml version="1.0" encoding="utf-8"?>
<p:tagLst xmlns:a="http://schemas.openxmlformats.org/drawingml/2006/main" xmlns:r="http://schemas.openxmlformats.org/officeDocument/2006/relationships" xmlns:p="http://schemas.openxmlformats.org/presentationml/2006/main">
  <p:tag name="PPWINTOTALSEGMENTS" val="1"/>
</p:tagLst>
</file>

<file path=ppt/tags/tag3.xml><?xml version="1.0" encoding="utf-8"?>
<p:tagLst xmlns:a="http://schemas.openxmlformats.org/drawingml/2006/main" xmlns:r="http://schemas.openxmlformats.org/officeDocument/2006/relationships" xmlns:p="http://schemas.openxmlformats.org/presentationml/2006/main">
  <p:tag name="PPWINTOTALSEGMENTS" val="5"/>
</p:tagLst>
</file>

<file path=ppt/tags/tag4.xml><?xml version="1.0" encoding="utf-8"?>
<p:tagLst xmlns:a="http://schemas.openxmlformats.org/drawingml/2006/main" xmlns:r="http://schemas.openxmlformats.org/officeDocument/2006/relationships" xmlns:p="http://schemas.openxmlformats.org/presentationml/2006/main">
  <p:tag name="PPWINTOTALSEGMENTS" val="1"/>
</p:tagLst>
</file>

<file path=ppt/tags/tag5.xml><?xml version="1.0" encoding="utf-8"?>
<p:tagLst xmlns:a="http://schemas.openxmlformats.org/drawingml/2006/main" xmlns:r="http://schemas.openxmlformats.org/officeDocument/2006/relationships" xmlns:p="http://schemas.openxmlformats.org/presentationml/2006/main">
  <p:tag name="PPWINTOTALSEGMENTS" val="0"/>
</p:tagLst>
</file>

<file path=ppt/tags/tag6.xml><?xml version="1.0" encoding="utf-8"?>
<p:tagLst xmlns:a="http://schemas.openxmlformats.org/drawingml/2006/main" xmlns:r="http://schemas.openxmlformats.org/officeDocument/2006/relationships" xmlns:p="http://schemas.openxmlformats.org/presentationml/2006/main">
  <p:tag name="PPWINTOTALSEGMENTS" val="1"/>
</p:tagLst>
</file>

<file path=ppt/tags/tag7.xml><?xml version="1.0" encoding="utf-8"?>
<p:tagLst xmlns:a="http://schemas.openxmlformats.org/drawingml/2006/main" xmlns:r="http://schemas.openxmlformats.org/officeDocument/2006/relationships" xmlns:p="http://schemas.openxmlformats.org/presentationml/2006/main">
  <p:tag name="PPWINTOTALSEGMENTS" val="1"/>
</p:tagLst>
</file>

<file path=ppt/tags/tag8.xml><?xml version="1.0" encoding="utf-8"?>
<p:tagLst xmlns:a="http://schemas.openxmlformats.org/drawingml/2006/main" xmlns:r="http://schemas.openxmlformats.org/officeDocument/2006/relationships" xmlns:p="http://schemas.openxmlformats.org/presentationml/2006/main">
  <p:tag name="PPWINTOTALSEGMENTS" val="1"/>
</p:tagLst>
</file>

<file path=ppt/tags/tag9.xml><?xml version="1.0" encoding="utf-8"?>
<p:tagLst xmlns:a="http://schemas.openxmlformats.org/drawingml/2006/main" xmlns:r="http://schemas.openxmlformats.org/officeDocument/2006/relationships" xmlns:p="http://schemas.openxmlformats.org/presentationml/2006/main">
  <p:tag name="PPWINTOTALSEGMENTS" val="0"/>
</p:tagLst>
</file>

<file path=ppt/tags/tag10.xml><?xml version="1.0" encoding="utf-8"?>
<p:tagLst xmlns:a="http://schemas.openxmlformats.org/drawingml/2006/main" xmlns:r="http://schemas.openxmlformats.org/officeDocument/2006/relationships" xmlns:p="http://schemas.openxmlformats.org/presentationml/2006/main">
  <p:tag name="PPWINTOTALSEGMENTS" val="0"/>
</p:tagLst>
</file>

<file path=ppt/tags/tag11.xml><?xml version="1.0" encoding="utf-8"?>
<p:tagLst xmlns:a="http://schemas.openxmlformats.org/drawingml/2006/main" xmlns:r="http://schemas.openxmlformats.org/officeDocument/2006/relationships" xmlns:p="http://schemas.openxmlformats.org/presentationml/2006/main">
  <p:tag name="PPWINTOTALSEGMENTS" val="0"/>
</p:tagLst>
</file>

<file path=ppt/tags/tag12.xml><?xml version="1.0" encoding="utf-8"?>
<p:tagLst xmlns:a="http://schemas.openxmlformats.org/drawingml/2006/main" xmlns:r="http://schemas.openxmlformats.org/officeDocument/2006/relationships" xmlns:p="http://schemas.openxmlformats.org/presentationml/2006/main">
  <p:tag name="PPWINTOTALSEGMENTS" val="0"/>
</p:tagLst>
</file>

<file path=ppt/tags/tag13.xml><?xml version="1.0" encoding="utf-8"?>
<p:tagLst xmlns:a="http://schemas.openxmlformats.org/drawingml/2006/main" xmlns:r="http://schemas.openxmlformats.org/officeDocument/2006/relationships" xmlns:p="http://schemas.openxmlformats.org/presentationml/2006/main">
  <p:tag name="PPWINTOTALSEGMENTS" val="0"/>
</p:tagLst>
</file>

<file path=ppt/tags/tag14.xml><?xml version="1.0" encoding="utf-8"?>
<p:tagLst xmlns:a="http://schemas.openxmlformats.org/drawingml/2006/main" xmlns:r="http://schemas.openxmlformats.org/officeDocument/2006/relationships" xmlns:p="http://schemas.openxmlformats.org/presentationml/2006/main">
  <p:tag name="PPTAGGERGROUP" val="1"/>
</p:tagLst>
</file>

<file path=ppt/tags/tag15.xml><?xml version="1.0" encoding="utf-8"?>
<p:tagLst xmlns:a="http://schemas.openxmlformats.org/drawingml/2006/main" xmlns:r="http://schemas.openxmlformats.org/officeDocument/2006/relationships" xmlns:p="http://schemas.openxmlformats.org/presentationml/2006/main">
  <p:tag name="PPTAGGERGROUP" val="1"/>
</p:tagLst>
</file>

<file path=ppt/tags/tag16.xml><?xml version="1.0" encoding="utf-8"?>
<p:tagLst xmlns:a="http://schemas.openxmlformats.org/drawingml/2006/main" xmlns:r="http://schemas.openxmlformats.org/officeDocument/2006/relationships" xmlns:p="http://schemas.openxmlformats.org/presentationml/2006/main">
  <p:tag name="PPTAGGERGROUP" val="1"/>
</p:tagLst>
</file>

<file path=ppt/tags/tag17.xml><?xml version="1.0" encoding="utf-8"?>
<p:tagLst xmlns:a="http://schemas.openxmlformats.org/drawingml/2006/main" xmlns:r="http://schemas.openxmlformats.org/officeDocument/2006/relationships" xmlns:p="http://schemas.openxmlformats.org/presentationml/2006/main">
  <p:tag name="PPTAGGERGROUP" val="2"/>
</p:tagLst>
</file>

<file path=ppt/tags/tag18.xml><?xml version="1.0" encoding="utf-8"?>
<p:tagLst xmlns:a="http://schemas.openxmlformats.org/drawingml/2006/main" xmlns:r="http://schemas.openxmlformats.org/officeDocument/2006/relationships" xmlns:p="http://schemas.openxmlformats.org/presentationml/2006/main">
  <p:tag name="PPTAGGERGROUP" val="2"/>
</p:tagLst>
</file>

<file path=ppt/tags/tag19.xml><?xml version="1.0" encoding="utf-8"?>
<p:tagLst xmlns:a="http://schemas.openxmlformats.org/drawingml/2006/main" xmlns:r="http://schemas.openxmlformats.org/officeDocument/2006/relationships" xmlns:p="http://schemas.openxmlformats.org/presentationml/2006/main">
  <p:tag name="PPTAGGERGROUP" val="2"/>
</p:tagLst>
</file>

<file path=ppt/tags/tag20.xml><?xml version="1.0" encoding="utf-8"?>
<p:tagLst xmlns:a="http://schemas.openxmlformats.org/drawingml/2006/main" xmlns:r="http://schemas.openxmlformats.org/officeDocument/2006/relationships" xmlns:p="http://schemas.openxmlformats.org/presentationml/2006/main">
  <p:tag name="PPWINTOTALSEGMENTS" val="0"/>
</p:tagLst>
</file>

<file path=ppt/tags/tag21.xml><?xml version="1.0" encoding="utf-8"?>
<p:tagLst xmlns:a="http://schemas.openxmlformats.org/drawingml/2006/main" xmlns:r="http://schemas.openxmlformats.org/officeDocument/2006/relationships" xmlns:p="http://schemas.openxmlformats.org/presentationml/2006/main">
  <p:tag name="PPWINTOTALSEGMENTS" val="0"/>
</p:tagLst>
</file>

<file path=ppt/tags/tag22.xml><?xml version="1.0" encoding="utf-8"?>
<p:tagLst xmlns:a="http://schemas.openxmlformats.org/drawingml/2006/main" xmlns:r="http://schemas.openxmlformats.org/officeDocument/2006/relationships" xmlns:p="http://schemas.openxmlformats.org/presentationml/2006/main">
  <p:tag name="PPTAGGERGROUP" val="1"/>
</p:tagLst>
</file>

<file path=ppt/tags/tag23.xml><?xml version="1.0" encoding="utf-8"?>
<p:tagLst xmlns:a="http://schemas.openxmlformats.org/drawingml/2006/main" xmlns:r="http://schemas.openxmlformats.org/officeDocument/2006/relationships" xmlns:p="http://schemas.openxmlformats.org/presentationml/2006/main">
  <p:tag name="PPTAGGERGROUP" val="1"/>
</p:tagLst>
</file>

<file path=ppt/tags/tag24.xml><?xml version="1.0" encoding="utf-8"?>
<p:tagLst xmlns:a="http://schemas.openxmlformats.org/drawingml/2006/main" xmlns:r="http://schemas.openxmlformats.org/officeDocument/2006/relationships" xmlns:p="http://schemas.openxmlformats.org/presentationml/2006/main">
  <p:tag name="PPTAGGERGROUP" val="1"/>
</p:tagLst>
</file>

<file path=ppt/tags/tag25.xml><?xml version="1.0" encoding="utf-8"?>
<p:tagLst xmlns:a="http://schemas.openxmlformats.org/drawingml/2006/main" xmlns:r="http://schemas.openxmlformats.org/officeDocument/2006/relationships" xmlns:p="http://schemas.openxmlformats.org/presentationml/2006/main">
  <p:tag name="PPTAGGERGROUP" val="1,2"/>
</p:tagLst>
</file>

<file path=ppt/tags/tag26.xml><?xml version="1.0" encoding="utf-8"?>
<p:tagLst xmlns:a="http://schemas.openxmlformats.org/drawingml/2006/main" xmlns:r="http://schemas.openxmlformats.org/officeDocument/2006/relationships" xmlns:p="http://schemas.openxmlformats.org/presentationml/2006/main">
  <p:tag name="PPTAGGERGROUP" val="1,2"/>
</p:tagLst>
</file>

<file path=ppt/tags/tag27.xml><?xml version="1.0" encoding="utf-8"?>
<p:tagLst xmlns:a="http://schemas.openxmlformats.org/drawingml/2006/main" xmlns:r="http://schemas.openxmlformats.org/officeDocument/2006/relationships" xmlns:p="http://schemas.openxmlformats.org/presentationml/2006/main">
  <p:tag name="PPTAGGERGROUP" val="1,2"/>
</p:tagLst>
</file>

<file path=ppt/tags/tag28.xml><?xml version="1.0" encoding="utf-8"?>
<p:tagLst xmlns:a="http://schemas.openxmlformats.org/drawingml/2006/main" xmlns:r="http://schemas.openxmlformats.org/officeDocument/2006/relationships" xmlns:p="http://schemas.openxmlformats.org/presentationml/2006/main">
  <p:tag name="PPWINTOTALSEGMENTS" val="0"/>
</p:tagLst>
</file>

<file path=ppt/tags/tag29.xml><?xml version="1.0" encoding="utf-8"?>
<p:tagLst xmlns:a="http://schemas.openxmlformats.org/drawingml/2006/main" xmlns:r="http://schemas.openxmlformats.org/officeDocument/2006/relationships" xmlns:p="http://schemas.openxmlformats.org/presentationml/2006/main">
  <p:tag name="PPTAGGERGROUP" val="1"/>
</p:tagLst>
</file>

<file path=ppt/tags/tag30.xml><?xml version="1.0" encoding="utf-8"?>
<p:tagLst xmlns:a="http://schemas.openxmlformats.org/drawingml/2006/main" xmlns:r="http://schemas.openxmlformats.org/officeDocument/2006/relationships" xmlns:p="http://schemas.openxmlformats.org/presentationml/2006/main">
  <p:tag name="PPTAGGERGROUP" val="1"/>
</p:tagLst>
</file>

<file path=ppt/tags/tag31.xml><?xml version="1.0" encoding="utf-8"?>
<p:tagLst xmlns:a="http://schemas.openxmlformats.org/drawingml/2006/main" xmlns:r="http://schemas.openxmlformats.org/officeDocument/2006/relationships" xmlns:p="http://schemas.openxmlformats.org/presentationml/2006/main">
  <p:tag name="PPTAGGERGROUP" val="1"/>
</p:tagLst>
</file>

<file path=ppt/tags/tag32.xml><?xml version="1.0" encoding="utf-8"?>
<p:tagLst xmlns:a="http://schemas.openxmlformats.org/drawingml/2006/main" xmlns:r="http://schemas.openxmlformats.org/officeDocument/2006/relationships" xmlns:p="http://schemas.openxmlformats.org/presentationml/2006/main">
  <p:tag name="PPTAGGERGROUP" val="1"/>
</p:tagLst>
</file>

<file path=ppt/tags/tag33.xml><?xml version="1.0" encoding="utf-8"?>
<p:tagLst xmlns:a="http://schemas.openxmlformats.org/drawingml/2006/main" xmlns:r="http://schemas.openxmlformats.org/officeDocument/2006/relationships" xmlns:p="http://schemas.openxmlformats.org/presentationml/2006/main">
  <p:tag name="PPTAGGERGROUP" val="1"/>
</p:tagLst>
</file>

<file path=ppt/tags/tag34.xml><?xml version="1.0" encoding="utf-8"?>
<p:tagLst xmlns:a="http://schemas.openxmlformats.org/drawingml/2006/main" xmlns:r="http://schemas.openxmlformats.org/officeDocument/2006/relationships" xmlns:p="http://schemas.openxmlformats.org/presentationml/2006/main">
  <p:tag name="PPTAGGERGROUP" val="1"/>
</p:tagLst>
</file>

<file path=ppt/tags/tag35.xml><?xml version="1.0" encoding="utf-8"?>
<p:tagLst xmlns:a="http://schemas.openxmlformats.org/drawingml/2006/main" xmlns:r="http://schemas.openxmlformats.org/officeDocument/2006/relationships" xmlns:p="http://schemas.openxmlformats.org/presentationml/2006/main">
  <p:tag name="PPTAGGERGROUP" val="1"/>
</p:tagLst>
</file>

<file path=ppt/tags/tag36.xml><?xml version="1.0" encoding="utf-8"?>
<p:tagLst xmlns:a="http://schemas.openxmlformats.org/drawingml/2006/main" xmlns:r="http://schemas.openxmlformats.org/officeDocument/2006/relationships" xmlns:p="http://schemas.openxmlformats.org/presentationml/2006/main">
  <p:tag name="PPTAGGERGROUP" val="1"/>
</p:tagLst>
</file>

<file path=ppt/tags/tag37.xml><?xml version="1.0" encoding="utf-8"?>
<p:tagLst xmlns:a="http://schemas.openxmlformats.org/drawingml/2006/main" xmlns:r="http://schemas.openxmlformats.org/officeDocument/2006/relationships" xmlns:p="http://schemas.openxmlformats.org/presentationml/2006/main">
  <p:tag name="PPTAGGERGROUP" val="1"/>
</p:tagLst>
</file>

<file path=ppt/tags/tag38.xml><?xml version="1.0" encoding="utf-8"?>
<p:tagLst xmlns:a="http://schemas.openxmlformats.org/drawingml/2006/main" xmlns:r="http://schemas.openxmlformats.org/officeDocument/2006/relationships" xmlns:p="http://schemas.openxmlformats.org/presentationml/2006/main">
  <p:tag name="PPTAGGERGROUP" val="1,2"/>
</p:tagLst>
</file>

<file path=ppt/tags/tag39.xml><?xml version="1.0" encoding="utf-8"?>
<p:tagLst xmlns:a="http://schemas.openxmlformats.org/drawingml/2006/main" xmlns:r="http://schemas.openxmlformats.org/officeDocument/2006/relationships" xmlns:p="http://schemas.openxmlformats.org/presentationml/2006/main">
  <p:tag name="PPTAGGERGROUP" val="1,2"/>
</p:tagLst>
</file>

<file path=ppt/tags/tag40.xml><?xml version="1.0" encoding="utf-8"?>
<p:tagLst xmlns:a="http://schemas.openxmlformats.org/drawingml/2006/main" xmlns:r="http://schemas.openxmlformats.org/officeDocument/2006/relationships" xmlns:p="http://schemas.openxmlformats.org/presentationml/2006/main">
  <p:tag name="PPTAGGERGROUP" val="1"/>
</p:tagLst>
</file>

<file path=ppt/tags/tag41.xml><?xml version="1.0" encoding="utf-8"?>
<p:tagLst xmlns:a="http://schemas.openxmlformats.org/drawingml/2006/main" xmlns:r="http://schemas.openxmlformats.org/officeDocument/2006/relationships" xmlns:p="http://schemas.openxmlformats.org/presentationml/2006/main">
  <p:tag name="PPTAGGERGROUP" val="1,3"/>
</p:tagLst>
</file>

<file path=ppt/tags/tag42.xml><?xml version="1.0" encoding="utf-8"?>
<p:tagLst xmlns:a="http://schemas.openxmlformats.org/drawingml/2006/main" xmlns:r="http://schemas.openxmlformats.org/officeDocument/2006/relationships" xmlns:p="http://schemas.openxmlformats.org/presentationml/2006/main">
  <p:tag name="PPTAGGERGROUP" val="1,3"/>
</p:tagLst>
</file>

<file path=ppt/tags/tag43.xml><?xml version="1.0" encoding="utf-8"?>
<p:tagLst xmlns:a="http://schemas.openxmlformats.org/drawingml/2006/main" xmlns:r="http://schemas.openxmlformats.org/officeDocument/2006/relationships" xmlns:p="http://schemas.openxmlformats.org/presentationml/2006/main">
  <p:tag name="PPTAGGERGROUP" val="1"/>
</p:tagLst>
</file>

<file path=ppt/tags/tag44.xml><?xml version="1.0" encoding="utf-8"?>
<p:tagLst xmlns:a="http://schemas.openxmlformats.org/drawingml/2006/main" xmlns:r="http://schemas.openxmlformats.org/officeDocument/2006/relationships" xmlns:p="http://schemas.openxmlformats.org/presentationml/2006/main">
  <p:tag name="PPTAGGERGROUP" val="1"/>
</p:tagLst>
</file>

<file path=ppt/tags/tag45.xml><?xml version="1.0" encoding="utf-8"?>
<p:tagLst xmlns:a="http://schemas.openxmlformats.org/drawingml/2006/main" xmlns:r="http://schemas.openxmlformats.org/officeDocument/2006/relationships" xmlns:p="http://schemas.openxmlformats.org/presentationml/2006/main">
  <p:tag name="PPTAGGERGROUP" val="1"/>
</p:tagLst>
</file>

<file path=ppt/tags/tag46.xml><?xml version="1.0" encoding="utf-8"?>
<p:tagLst xmlns:a="http://schemas.openxmlformats.org/drawingml/2006/main" xmlns:r="http://schemas.openxmlformats.org/officeDocument/2006/relationships" xmlns:p="http://schemas.openxmlformats.org/presentationml/2006/main">
  <p:tag name="PPTAGGERGROUP" val="1,4"/>
</p:tagLst>
</file>

<file path=ppt/tags/tag47.xml><?xml version="1.0" encoding="utf-8"?>
<p:tagLst xmlns:a="http://schemas.openxmlformats.org/drawingml/2006/main" xmlns:r="http://schemas.openxmlformats.org/officeDocument/2006/relationships" xmlns:p="http://schemas.openxmlformats.org/presentationml/2006/main">
  <p:tag name="PPTAGGERGROUP" val="1,4"/>
</p:tagLst>
</file>

<file path=ppt/tags/tag48.xml><?xml version="1.0" encoding="utf-8"?>
<p:tagLst xmlns:a="http://schemas.openxmlformats.org/drawingml/2006/main" xmlns:r="http://schemas.openxmlformats.org/officeDocument/2006/relationships" xmlns:p="http://schemas.openxmlformats.org/presentationml/2006/main">
  <p:tag name="PPWINTOTALSEGMENTS" val="0"/>
</p:tagLst>
</file>

<file path=ppt/tags/tag49.xml><?xml version="1.0" encoding="utf-8"?>
<p:tagLst xmlns:a="http://schemas.openxmlformats.org/drawingml/2006/main" xmlns:r="http://schemas.openxmlformats.org/officeDocument/2006/relationships" xmlns:p="http://schemas.openxmlformats.org/presentationml/2006/main">
  <p:tag name="PPTAGGERGROUP" val="1"/>
</p:tagLst>
</file>

<file path=ppt/tags/tag50.xml><?xml version="1.0" encoding="utf-8"?>
<p:tagLst xmlns:a="http://schemas.openxmlformats.org/drawingml/2006/main" xmlns:r="http://schemas.openxmlformats.org/officeDocument/2006/relationships" xmlns:p="http://schemas.openxmlformats.org/presentationml/2006/main">
  <p:tag name="PPTAGGERGROUP" val="1"/>
</p:tagLst>
</file>

<file path=ppt/tags/tag51.xml><?xml version="1.0" encoding="utf-8"?>
<p:tagLst xmlns:a="http://schemas.openxmlformats.org/drawingml/2006/main" xmlns:r="http://schemas.openxmlformats.org/officeDocument/2006/relationships" xmlns:p="http://schemas.openxmlformats.org/presentationml/2006/main">
  <p:tag name="PPTAGGERGROUP" val="1,2"/>
</p:tagLst>
</file>

<file path=ppt/tags/tag52.xml><?xml version="1.0" encoding="utf-8"?>
<p:tagLst xmlns:a="http://schemas.openxmlformats.org/drawingml/2006/main" xmlns:r="http://schemas.openxmlformats.org/officeDocument/2006/relationships" xmlns:p="http://schemas.openxmlformats.org/presentationml/2006/main">
  <p:tag name="PPTAGGERGROUP" val="1,2"/>
</p:tagLst>
</file>

<file path=ppt/tags/tag53.xml><?xml version="1.0" encoding="utf-8"?>
<p:tagLst xmlns:a="http://schemas.openxmlformats.org/drawingml/2006/main" xmlns:r="http://schemas.openxmlformats.org/officeDocument/2006/relationships" xmlns:p="http://schemas.openxmlformats.org/presentationml/2006/main">
  <p:tag name="PPTAGGERGROUP" val="3"/>
</p:tagLst>
</file>

<file path=ppt/tags/tag54.xml><?xml version="1.0" encoding="utf-8"?>
<p:tagLst xmlns:a="http://schemas.openxmlformats.org/drawingml/2006/main" xmlns:r="http://schemas.openxmlformats.org/officeDocument/2006/relationships" xmlns:p="http://schemas.openxmlformats.org/presentationml/2006/main">
  <p:tag name="PPTAGGERGROUP" val="3"/>
</p:tagLst>
</file>

<file path=ppt/tags/tag55.xml><?xml version="1.0" encoding="utf-8"?>
<p:tagLst xmlns:a="http://schemas.openxmlformats.org/drawingml/2006/main" xmlns:r="http://schemas.openxmlformats.org/officeDocument/2006/relationships" xmlns:p="http://schemas.openxmlformats.org/presentationml/2006/main">
  <p:tag name="PPTAGGERGROUP" val="4"/>
</p:tagLst>
</file>

<file path=ppt/tags/tag56.xml><?xml version="1.0" encoding="utf-8"?>
<p:tagLst xmlns:a="http://schemas.openxmlformats.org/drawingml/2006/main" xmlns:r="http://schemas.openxmlformats.org/officeDocument/2006/relationships" xmlns:p="http://schemas.openxmlformats.org/presentationml/2006/main">
  <p:tag name="PPTAGGERGROUP" val="4"/>
</p:tagLst>
</file>

<file path=ppt/tags/tag57.xml><?xml version="1.0" encoding="utf-8"?>
<p:tagLst xmlns:a="http://schemas.openxmlformats.org/drawingml/2006/main" xmlns:r="http://schemas.openxmlformats.org/officeDocument/2006/relationships" xmlns:p="http://schemas.openxmlformats.org/presentationml/2006/main">
  <p:tag name="PPTAGGERGROUP" val="5"/>
</p:tagLst>
</file>

<file path=ppt/tags/tag58.xml><?xml version="1.0" encoding="utf-8"?>
<p:tagLst xmlns:a="http://schemas.openxmlformats.org/drawingml/2006/main" xmlns:r="http://schemas.openxmlformats.org/officeDocument/2006/relationships" xmlns:p="http://schemas.openxmlformats.org/presentationml/2006/main">
  <p:tag name="PPWINTOTALSEGMENTS" val="0"/>
</p:tagLst>
</file>

<file path=ppt/tags/tag59.xml><?xml version="1.0" encoding="utf-8"?>
<p:tagLst xmlns:a="http://schemas.openxmlformats.org/drawingml/2006/main" xmlns:r="http://schemas.openxmlformats.org/officeDocument/2006/relationships" xmlns:p="http://schemas.openxmlformats.org/presentationml/2006/main">
  <p:tag name="PPWINTOTALSEGMENTS" val="0"/>
</p:tagLst>
</file>

<file path=ppt/tags/tag60.xml><?xml version="1.0" encoding="utf-8"?>
<p:tagLst xmlns:a="http://schemas.openxmlformats.org/drawingml/2006/main" xmlns:r="http://schemas.openxmlformats.org/officeDocument/2006/relationships" xmlns:p="http://schemas.openxmlformats.org/presentationml/2006/main">
  <p:tag name="PPTAGGERGROUP" val="1"/>
</p:tagLst>
</file>

<file path=ppt/tags/tag61.xml><?xml version="1.0" encoding="utf-8"?>
<p:tagLst xmlns:a="http://schemas.openxmlformats.org/drawingml/2006/main" xmlns:r="http://schemas.openxmlformats.org/officeDocument/2006/relationships" xmlns:p="http://schemas.openxmlformats.org/presentationml/2006/main">
  <p:tag name="PPTAGGERGROUP" val="1"/>
</p:tagLst>
</file>

<file path=ppt/tags/tag62.xml><?xml version="1.0" encoding="utf-8"?>
<p:tagLst xmlns:a="http://schemas.openxmlformats.org/drawingml/2006/main" xmlns:r="http://schemas.openxmlformats.org/officeDocument/2006/relationships" xmlns:p="http://schemas.openxmlformats.org/presentationml/2006/main">
  <p:tag name="PPTAGGERGROUP" val="2"/>
</p:tagLst>
</file>

<file path=ppt/tags/tag63.xml><?xml version="1.0" encoding="utf-8"?>
<p:tagLst xmlns:a="http://schemas.openxmlformats.org/drawingml/2006/main" xmlns:r="http://schemas.openxmlformats.org/officeDocument/2006/relationships" xmlns:p="http://schemas.openxmlformats.org/presentationml/2006/main">
  <p:tag name="PPTAGGERGROUP" val="2"/>
</p:tagLst>
</file>

<file path=ppt/tags/tag64.xml><?xml version="1.0" encoding="utf-8"?>
<p:tagLst xmlns:a="http://schemas.openxmlformats.org/drawingml/2006/main" xmlns:r="http://schemas.openxmlformats.org/officeDocument/2006/relationships" xmlns:p="http://schemas.openxmlformats.org/presentationml/2006/main">
  <p:tag name="PPWINTOTALSEGMENTS" val="0"/>
</p:tagLst>
</file>

<file path=ppt/tags/tag65.xml><?xml version="1.0" encoding="utf-8"?>
<p:tagLst xmlns:a="http://schemas.openxmlformats.org/drawingml/2006/main" xmlns:r="http://schemas.openxmlformats.org/officeDocument/2006/relationships" xmlns:p="http://schemas.openxmlformats.org/presentationml/2006/main">
  <p:tag name="PPWINTOTALSEGMENTS" val="0"/>
</p:tagLst>
</file>

<file path=ppt/tags/tag66.xml><?xml version="1.0" encoding="utf-8"?>
<p:tagLst xmlns:a="http://schemas.openxmlformats.org/drawingml/2006/main" xmlns:r="http://schemas.openxmlformats.org/officeDocument/2006/relationships" xmlns:p="http://schemas.openxmlformats.org/presentationml/2006/main">
  <p:tag name="PPTAGGERGROUP" val="1"/>
</p:tagLst>
</file>

<file path=ppt/tags/tag67.xml><?xml version="1.0" encoding="utf-8"?>
<p:tagLst xmlns:a="http://schemas.openxmlformats.org/drawingml/2006/main" xmlns:r="http://schemas.openxmlformats.org/officeDocument/2006/relationships" xmlns:p="http://schemas.openxmlformats.org/presentationml/2006/main">
  <p:tag name="PPTAGGERGROUP" val="1"/>
</p:tagLst>
</file>

<file path=ppt/tags/tag68.xml><?xml version="1.0" encoding="utf-8"?>
<p:tagLst xmlns:a="http://schemas.openxmlformats.org/drawingml/2006/main" xmlns:r="http://schemas.openxmlformats.org/officeDocument/2006/relationships" xmlns:p="http://schemas.openxmlformats.org/presentationml/2006/main">
  <p:tag name="PPTAGGERGROUP" val="1"/>
</p:tagLst>
</file>

<file path=ppt/tags/tag69.xml><?xml version="1.0" encoding="utf-8"?>
<p:tagLst xmlns:a="http://schemas.openxmlformats.org/drawingml/2006/main" xmlns:r="http://schemas.openxmlformats.org/officeDocument/2006/relationships" xmlns:p="http://schemas.openxmlformats.org/presentationml/2006/main">
  <p:tag name="PPTAGGERGROUP" val="1,2"/>
</p:tagLst>
</file>

<file path=ppt/tags/tag70.xml><?xml version="1.0" encoding="utf-8"?>
<p:tagLst xmlns:a="http://schemas.openxmlformats.org/drawingml/2006/main" xmlns:r="http://schemas.openxmlformats.org/officeDocument/2006/relationships" xmlns:p="http://schemas.openxmlformats.org/presentationml/2006/main">
  <p:tag name="PPTAGGERGROUP" val="1,2"/>
</p:tagLst>
</file>

<file path=ppt/tags/tag71.xml><?xml version="1.0" encoding="utf-8"?>
<p:tagLst xmlns:a="http://schemas.openxmlformats.org/drawingml/2006/main" xmlns:r="http://schemas.openxmlformats.org/officeDocument/2006/relationships" xmlns:p="http://schemas.openxmlformats.org/presentationml/2006/main">
  <p:tag name="PPTAGGERGROUP" val="1,3"/>
</p:tagLst>
</file>

<file path=ppt/tags/tag72.xml><?xml version="1.0" encoding="utf-8"?>
<p:tagLst xmlns:a="http://schemas.openxmlformats.org/drawingml/2006/main" xmlns:r="http://schemas.openxmlformats.org/officeDocument/2006/relationships" xmlns:p="http://schemas.openxmlformats.org/presentationml/2006/main">
  <p:tag name="PPTAGGERGROUP" val="1,3"/>
</p:tagLst>
</file>

<file path=ppt/tags/tag73.xml><?xml version="1.0" encoding="utf-8"?>
<p:tagLst xmlns:a="http://schemas.openxmlformats.org/drawingml/2006/main" xmlns:r="http://schemas.openxmlformats.org/officeDocument/2006/relationships" xmlns:p="http://schemas.openxmlformats.org/presentationml/2006/main">
  <p:tag name="PPWINTOTALSEGMENTS" val="0"/>
</p:tagLst>
</file>

<file path=ppt/tags/tag74.xml><?xml version="1.0" encoding="utf-8"?>
<p:tagLst xmlns:a="http://schemas.openxmlformats.org/drawingml/2006/main" xmlns:r="http://schemas.openxmlformats.org/officeDocument/2006/relationships" xmlns:p="http://schemas.openxmlformats.org/presentationml/2006/main">
  <p:tag name="PPTAGGERGROUP" val="1"/>
</p:tagLst>
</file>

<file path=ppt/tags/tag75.xml><?xml version="1.0" encoding="utf-8"?>
<p:tagLst xmlns:a="http://schemas.openxmlformats.org/drawingml/2006/main" xmlns:r="http://schemas.openxmlformats.org/officeDocument/2006/relationships" xmlns:p="http://schemas.openxmlformats.org/presentationml/2006/main">
  <p:tag name="PPTAGGERGROUP" val="1"/>
</p:tagLst>
</file>

<file path=ppt/tags/tag76.xml><?xml version="1.0" encoding="utf-8"?>
<p:tagLst xmlns:a="http://schemas.openxmlformats.org/drawingml/2006/main" xmlns:r="http://schemas.openxmlformats.org/officeDocument/2006/relationships" xmlns:p="http://schemas.openxmlformats.org/presentationml/2006/main">
  <p:tag name="PPTAGGERGROUP" val="1"/>
</p:tagLst>
</file>

<file path=ppt/tags/tag77.xml><?xml version="1.0" encoding="utf-8"?>
<p:tagLst xmlns:a="http://schemas.openxmlformats.org/drawingml/2006/main" xmlns:r="http://schemas.openxmlformats.org/officeDocument/2006/relationships" xmlns:p="http://schemas.openxmlformats.org/presentationml/2006/main">
  <p:tag name="PPTAGGERGROUP" val="1,2"/>
</p:tagLst>
</file>

<file path=ppt/tags/tag78.xml><?xml version="1.0" encoding="utf-8"?>
<p:tagLst xmlns:a="http://schemas.openxmlformats.org/drawingml/2006/main" xmlns:r="http://schemas.openxmlformats.org/officeDocument/2006/relationships" xmlns:p="http://schemas.openxmlformats.org/presentationml/2006/main">
  <p:tag name="PPTAGGERGROUP" val="1,2"/>
</p:tagLst>
</file>

<file path=ppt/tags/tag79.xml><?xml version="1.0" encoding="utf-8"?>
<p:tagLst xmlns:a="http://schemas.openxmlformats.org/drawingml/2006/main" xmlns:r="http://schemas.openxmlformats.org/officeDocument/2006/relationships" xmlns:p="http://schemas.openxmlformats.org/presentationml/2006/main">
  <p:tag name="PPTAGGERGROUP" val="1"/>
</p:tagLst>
</file>

<file path=ppt/tags/tag80.xml><?xml version="1.0" encoding="utf-8"?>
<p:tagLst xmlns:a="http://schemas.openxmlformats.org/drawingml/2006/main" xmlns:r="http://schemas.openxmlformats.org/officeDocument/2006/relationships" xmlns:p="http://schemas.openxmlformats.org/presentationml/2006/main">
  <p:tag name="PPTAGGERGROUP" val="1,3"/>
</p:tagLst>
</file>

<file path=ppt/tags/tag81.xml><?xml version="1.0" encoding="utf-8"?>
<p:tagLst xmlns:a="http://schemas.openxmlformats.org/drawingml/2006/main" xmlns:r="http://schemas.openxmlformats.org/officeDocument/2006/relationships" xmlns:p="http://schemas.openxmlformats.org/presentationml/2006/main">
  <p:tag name="PPTAGGERGROUP" val="1,3"/>
</p:tagLst>
</file>

<file path=ppt/tags/tag82.xml><?xml version="1.0" encoding="utf-8"?>
<p:tagLst xmlns:a="http://schemas.openxmlformats.org/drawingml/2006/main" xmlns:r="http://schemas.openxmlformats.org/officeDocument/2006/relationships" xmlns:p="http://schemas.openxmlformats.org/presentationml/2006/main">
  <p:tag name="PPWINTOTALSEGMENTS" val="0"/>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20693</TotalTime>
  <Words>1466</Words>
  <Application>Microsoft PowerPoint</Application>
  <PresentationFormat>Affichage à l'écran (4:3)</PresentationFormat>
  <Paragraphs>156</Paragraphs>
  <Slides>21</Slides>
  <Notes>13</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21</vt:i4>
      </vt:variant>
    </vt:vector>
  </HeadingPairs>
  <TitlesOfParts>
    <vt:vector size="29" baseType="lpstr">
      <vt:lpstr>Arial</vt:lpstr>
      <vt:lpstr>Georgia</vt:lpstr>
      <vt:lpstr>Arial Narrow</vt:lpstr>
      <vt:lpstr>Wingdings 2</vt:lpstr>
      <vt:lpstr>Wingdings</vt:lpstr>
      <vt:lpstr>Courier New</vt:lpstr>
      <vt:lpstr>Times New Roman</vt:lpstr>
      <vt:lpstr>Civil</vt:lpstr>
      <vt:lpstr>Chapitre 9  Gestion des maîtres d'opérations</vt:lpstr>
      <vt:lpstr>Plan du cours</vt:lpstr>
      <vt:lpstr>1. Présentation des rôles de maître d'opérations</vt:lpstr>
      <vt:lpstr>Présentation des maîtres d’opérations</vt:lpstr>
      <vt:lpstr>Présentation des maîtres d’opérations</vt:lpstr>
      <vt:lpstr>Définition d'un contrôleur de schéma</vt:lpstr>
      <vt:lpstr>Définition d'un contrôleur de schéma</vt:lpstr>
      <vt:lpstr>Définition d'un maître d'attribution de noms de domaine</vt:lpstr>
      <vt:lpstr>Définition de l'émulateur PDC</vt:lpstr>
      <vt:lpstr>Définition d'un maître RID</vt:lpstr>
      <vt:lpstr>Définition d'un maître d'infrastructure </vt:lpstr>
      <vt:lpstr>Définition d'un maître d'infrastructure </vt:lpstr>
      <vt:lpstr>2. Transfert et prise de rôles de maîtres d'opérations</vt:lpstr>
      <vt:lpstr>Transfert des rôles de maîtres d'opérations</vt:lpstr>
      <vt:lpstr>Les défaillances de maîtres d'opérations</vt:lpstr>
      <vt:lpstr>Les défaillances de maîtres d'opérations</vt:lpstr>
      <vt:lpstr>À quel moment prendre les rôles de maîtres d'opérations</vt:lpstr>
      <vt:lpstr>Exercices</vt:lpstr>
      <vt:lpstr>Exercices</vt:lpstr>
      <vt:lpstr>Exercices</vt:lpstr>
      <vt:lpstr>Exercices</vt:lpstr>
    </vt:vector>
  </TitlesOfParts>
  <Company>Microsoft Corporation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 Title</dc:title>
  <dc:creator>Andy Sweet</dc:creator>
  <cp:lastModifiedBy>Halima</cp:lastModifiedBy>
  <cp:revision>1140</cp:revision>
  <dcterms:created xsi:type="dcterms:W3CDTF">2001-06-11T04:59:20Z</dcterms:created>
  <dcterms:modified xsi:type="dcterms:W3CDTF">2016-03-20T22:05:36Z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3.1.1005</vt:lpwstr>
  </property>
</Properties>
</file>