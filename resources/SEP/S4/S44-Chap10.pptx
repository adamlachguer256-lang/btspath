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ags/tag4.xml" ContentType="application/vnd.openxmlformats-officedocument.presentationml.tags+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commentAuthors.xml" ContentType="application/vnd.openxmlformats-officedocument.presentationml.commentAuthors+xml"/>
  <Override PartName="/ppt/slideLayouts/slideLayout10.xml" ContentType="application/vnd.openxmlformats-officedocument.presentationml.slideLayout+xml"/>
  <Override PartName="/ppt/tags/tag14.xml" ContentType="application/vnd.openxmlformats-officedocument.presentationml.tags+xml"/>
  <Override PartName="/ppt/tags/tag15.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tags/tag7.xml" ContentType="application/vnd.openxmlformats-officedocument.presentationml.tags+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18"/>
  </p:notesMasterIdLst>
  <p:handoutMasterIdLst>
    <p:handoutMasterId r:id="rId19"/>
  </p:handoutMasterIdLst>
  <p:sldIdLst>
    <p:sldId id="416" r:id="rId2"/>
    <p:sldId id="420" r:id="rId3"/>
    <p:sldId id="532" r:id="rId4"/>
    <p:sldId id="524" r:id="rId5"/>
    <p:sldId id="534" r:id="rId6"/>
    <p:sldId id="535" r:id="rId7"/>
    <p:sldId id="525" r:id="rId8"/>
    <p:sldId id="526" r:id="rId9"/>
    <p:sldId id="531" r:id="rId10"/>
    <p:sldId id="495" r:id="rId11"/>
    <p:sldId id="503" r:id="rId12"/>
    <p:sldId id="527" r:id="rId13"/>
    <p:sldId id="533" r:id="rId14"/>
    <p:sldId id="523" r:id="rId15"/>
    <p:sldId id="528" r:id="rId16"/>
    <p:sldId id="529" r:id="rId17"/>
  </p:sldIdLst>
  <p:sldSz cx="9144000" cy="6858000" type="screen4x3"/>
  <p:notesSz cx="6858000" cy="9144000"/>
  <p:embeddedFontLst>
    <p:embeddedFont>
      <p:font typeface="Georgia" pitchFamily="18" charset="0"/>
      <p:regular r:id="rId20"/>
      <p:bold r:id="rId21"/>
      <p:italic r:id="rId22"/>
      <p:boldItalic r:id="rId23"/>
    </p:embeddedFont>
    <p:embeddedFont>
      <p:font typeface="Arial Narrow" pitchFamily="34" charset="0"/>
      <p:regular r:id="rId24"/>
      <p:bold r:id="rId25"/>
      <p:italic r:id="rId26"/>
      <p:boldItalic r:id="rId27"/>
    </p:embeddedFont>
    <p:embeddedFont>
      <p:font typeface="Wingdings 2" pitchFamily="18" charset="2"/>
      <p:regular r:id="rId28"/>
    </p:embeddedFont>
  </p:embeddedFontLst>
  <p:defaultTextStyle>
    <a:defPPr>
      <a:defRPr lang="en-US"/>
    </a:defPPr>
    <a:lvl1pPr algn="ctr" rtl="0" eaLnBrk="0" fontAlgn="base" hangingPunct="0">
      <a:spcBef>
        <a:spcPct val="0"/>
      </a:spcBef>
      <a:spcAft>
        <a:spcPct val="0"/>
      </a:spcAft>
      <a:defRPr b="1"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b="1"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b="1"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b="1"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b="1" kern="1200">
        <a:solidFill>
          <a:schemeClr val="tx1"/>
        </a:solidFill>
        <a:latin typeface="Arial Narrow" pitchFamily="34" charset="0"/>
        <a:ea typeface="+mn-ea"/>
        <a:cs typeface="+mn-cs"/>
      </a:defRPr>
    </a:lvl5pPr>
    <a:lvl6pPr marL="2286000" algn="l" defTabSz="914400" rtl="0" eaLnBrk="1" latinLnBrk="0" hangingPunct="1">
      <a:defRPr b="1" kern="1200">
        <a:solidFill>
          <a:schemeClr val="tx1"/>
        </a:solidFill>
        <a:latin typeface="Arial Narrow" pitchFamily="34" charset="0"/>
        <a:ea typeface="+mn-ea"/>
        <a:cs typeface="+mn-cs"/>
      </a:defRPr>
    </a:lvl6pPr>
    <a:lvl7pPr marL="2743200" algn="l" defTabSz="914400" rtl="0" eaLnBrk="1" latinLnBrk="0" hangingPunct="1">
      <a:defRPr b="1" kern="1200">
        <a:solidFill>
          <a:schemeClr val="tx1"/>
        </a:solidFill>
        <a:latin typeface="Arial Narrow" pitchFamily="34" charset="0"/>
        <a:ea typeface="+mn-ea"/>
        <a:cs typeface="+mn-cs"/>
      </a:defRPr>
    </a:lvl7pPr>
    <a:lvl8pPr marL="3200400" algn="l" defTabSz="914400" rtl="0" eaLnBrk="1" latinLnBrk="0" hangingPunct="1">
      <a:defRPr b="1" kern="1200">
        <a:solidFill>
          <a:schemeClr val="tx1"/>
        </a:solidFill>
        <a:latin typeface="Arial Narrow" pitchFamily="34" charset="0"/>
        <a:ea typeface="+mn-ea"/>
        <a:cs typeface="+mn-cs"/>
      </a:defRPr>
    </a:lvl8pPr>
    <a:lvl9pPr marL="3657600" algn="l" defTabSz="914400" rtl="0" eaLnBrk="1" latinLnBrk="0" hangingPunct="1">
      <a:defRPr b="1" kern="1200">
        <a:solidFill>
          <a:schemeClr val="tx1"/>
        </a:solidFill>
        <a:latin typeface="Arial Narrow"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12" clrIdx="0"/>
  <p:cmAuthor id="1" name="Annie Chowdhry" initials=""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CCCCFF"/>
    <a:srgbClr val="FF7C80"/>
    <a:srgbClr val="333333"/>
    <a:srgbClr val="EEEFD7"/>
    <a:srgbClr val="D5D69C"/>
    <a:srgbClr val="DFE8F2"/>
    <a:srgbClr val="BBCDE3"/>
    <a:srgbClr val="E4E4BF"/>
    <a:srgbClr val="8DACD0"/>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inimized" horzBarState="maximized">
    <p:restoredLeft sz="5599" autoAdjust="0"/>
    <p:restoredTop sz="94660" autoAdjust="0"/>
  </p:normalViewPr>
  <p:slideViewPr>
    <p:cSldViewPr snapToGrid="0">
      <p:cViewPr>
        <p:scale>
          <a:sx n="66" d="100"/>
          <a:sy n="66" d="100"/>
        </p:scale>
        <p:origin x="-1422" y="-174"/>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100" d="100"/>
        <a:sy n="100" d="100"/>
      </p:scale>
      <p:origin x="0" y="624"/>
    </p:cViewPr>
  </p:sorterViewPr>
  <p:notesViewPr>
    <p:cSldViewPr snapToGrid="0">
      <p:cViewPr>
        <p:scale>
          <a:sx n="69" d="100"/>
          <a:sy n="69" d="100"/>
        </p:scale>
        <p:origin x="-1458" y="84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heme" Target="../theme/theme3.xml"/><Relationship Id="rId5" Type="http://schemas.openxmlformats.org/officeDocument/2006/relationships/tags" Target="../tags/tag9.xml"/><Relationship Id="rId4" Type="http://schemas.openxmlformats.org/officeDocument/2006/relationships/tags" Target="../tags/tag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custDataLst>
              <p:tags r:id="rId2"/>
            </p:custDataLst>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278531" name="Rectangle 3"/>
          <p:cNvSpPr>
            <a:spLocks noGrp="1" noChangeArrowheads="1"/>
          </p:cNvSpPr>
          <p:nvPr>
            <p:ph type="dt" sz="quarter" idx="1"/>
            <p:custDataLst>
              <p:tags r:id="rId3"/>
            </p:custDataLst>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278532" name="Rectangle 4"/>
          <p:cNvSpPr>
            <a:spLocks noGrp="1" noChangeArrowheads="1"/>
          </p:cNvSpPr>
          <p:nvPr>
            <p:ph type="ftr" sz="quarter" idx="2"/>
            <p:custDataLst>
              <p:tags r:id="rId4"/>
            </p:custDataLst>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278533" name="Rectangle 5"/>
          <p:cNvSpPr>
            <a:spLocks noGrp="1" noChangeArrowheads="1"/>
          </p:cNvSpPr>
          <p:nvPr>
            <p:ph type="sldNum" sz="quarter" idx="3"/>
            <p:custDataLst>
              <p:tags r:id="rId5"/>
            </p:custDataLst>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BCD7B753-125E-407E-8E36-9D879D5324AC}"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theme" Target="../theme/theme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custDataLst>
              <p:tags r:id="rId2"/>
            </p:custDataLst>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5123" name="Rectangle 3"/>
          <p:cNvSpPr>
            <a:spLocks noGrp="1" noChangeArrowheads="1"/>
          </p:cNvSpPr>
          <p:nvPr>
            <p:ph type="dt" idx="1"/>
            <p:custDataLst>
              <p:tags r:id="rId3"/>
            </p:custDataLst>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custDataLst>
              <p:tags r:id="rId4"/>
            </p:custDataLst>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6" name="Rectangle 6"/>
          <p:cNvSpPr>
            <a:spLocks noGrp="1" noChangeArrowheads="1"/>
          </p:cNvSpPr>
          <p:nvPr>
            <p:ph type="ftr" sz="quarter" idx="4"/>
            <p:custDataLst>
              <p:tags r:id="rId5"/>
            </p:custDataLst>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5127" name="Rectangle 7"/>
          <p:cNvSpPr>
            <a:spLocks noGrp="1" noChangeArrowheads="1"/>
          </p:cNvSpPr>
          <p:nvPr>
            <p:ph type="sldNum" sz="quarter" idx="5"/>
            <p:custDataLst>
              <p:tags r:id="rId6"/>
            </p:custDataLst>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EF6CD75D-A646-4696-9B0B-A09425D73E11}"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13.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859F334E-E285-4B4B-93B8-454DBAA0D590}" type="slidenum">
              <a:rPr lang="en-US"/>
              <a:pPr/>
              <a:t>1</a:t>
            </a:fld>
            <a:endParaRPr lang="en-US"/>
          </a:p>
        </p:txBody>
      </p:sp>
      <p:sp>
        <p:nvSpPr>
          <p:cNvPr id="452610" name="Rectangle 2"/>
          <p:cNvSpPr>
            <a:spLocks noGrp="1" noRot="1" noChangeAspect="1" noChangeArrowheads="1" noTextEdit="1"/>
          </p:cNvSpPr>
          <p:nvPr>
            <p:ph type="sldImg"/>
          </p:nvPr>
        </p:nvSpPr>
        <p:spPr>
          <a:ln/>
        </p:spPr>
      </p:sp>
      <p:sp>
        <p:nvSpPr>
          <p:cNvPr id="45261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E1F8099-147F-4682-B0E3-A129F62CB323}" type="slidenum">
              <a:rPr lang="en-US"/>
              <a:pPr/>
              <a:t>2</a:t>
            </a:fld>
            <a:endParaRPr lang="en-US"/>
          </a:p>
        </p:txBody>
      </p:sp>
      <p:sp>
        <p:nvSpPr>
          <p:cNvPr id="453634" name="Rectangle 2"/>
          <p:cNvSpPr>
            <a:spLocks noGrp="1" noRot="1" noChangeAspect="1" noChangeArrowheads="1" noTextEdit="1"/>
          </p:cNvSpPr>
          <p:nvPr>
            <p:ph type="sldImg"/>
          </p:nvPr>
        </p:nvSpPr>
        <p:spPr>
          <a:ln/>
        </p:spPr>
      </p:sp>
      <p:sp>
        <p:nvSpPr>
          <p:cNvPr id="45363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4EFD20C-7F86-4C5F-BF27-CED53F3D7B5F}" type="slidenum">
              <a:rPr lang="en-US"/>
              <a:pPr/>
              <a:t>10</a:t>
            </a:fld>
            <a:endParaRPr lang="en-US"/>
          </a:p>
        </p:txBody>
      </p:sp>
      <p:sp>
        <p:nvSpPr>
          <p:cNvPr id="455682" name="Rectangle 2"/>
          <p:cNvSpPr>
            <a:spLocks noGrp="1" noRot="1" noChangeAspect="1" noChangeArrowheads="1" noTextEdit="1"/>
          </p:cNvSpPr>
          <p:nvPr>
            <p:ph type="sldImg"/>
          </p:nvPr>
        </p:nvSpPr>
        <p:spPr>
          <a:ln/>
        </p:spPr>
      </p:sp>
      <p:sp>
        <p:nvSpPr>
          <p:cNvPr id="45568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B892CFF-FB5E-4474-A90D-3CEB50A0BAED}" type="slidenum">
              <a:rPr lang="en-US"/>
              <a:pPr/>
              <a:t>11</a:t>
            </a:fld>
            <a:endParaRPr lang="en-US"/>
          </a:p>
        </p:txBody>
      </p:sp>
      <p:sp>
        <p:nvSpPr>
          <p:cNvPr id="461826" name="Rectangle 2"/>
          <p:cNvSpPr>
            <a:spLocks noGrp="1" noRot="1" noChangeAspect="1" noChangeArrowheads="1" noTextEdit="1"/>
          </p:cNvSpPr>
          <p:nvPr>
            <p:ph type="sldImg"/>
          </p:nvPr>
        </p:nvSpPr>
        <p:spPr>
          <a:ln/>
        </p:spPr>
      </p:sp>
      <p:sp>
        <p:nvSpPr>
          <p:cNvPr id="46182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24A3324-BAA6-4186-A5E6-890C7008F6F2}" type="slidenum">
              <a:rPr lang="en-US"/>
              <a:pPr/>
              <a:t>14</a:t>
            </a:fld>
            <a:endParaRPr lang="en-US"/>
          </a:p>
        </p:txBody>
      </p:sp>
      <p:sp>
        <p:nvSpPr>
          <p:cNvPr id="451586" name="Rectangle 2"/>
          <p:cNvSpPr>
            <a:spLocks noGrp="1" noRot="1" noChangeAspect="1" noChangeArrowheads="1" noTextEdit="1"/>
          </p:cNvSpPr>
          <p:nvPr>
            <p:ph type="sldImg"/>
          </p:nvPr>
        </p:nvSpPr>
        <p:spPr>
          <a:ln/>
        </p:spPr>
      </p:sp>
      <p:sp>
        <p:nvSpPr>
          <p:cNvPr id="451587" name="Rectangle 3"/>
          <p:cNvSpPr>
            <a:spLocks noGrp="1" noChangeArrowheads="1"/>
          </p:cNvSpPr>
          <p:nvPr>
            <p:ph type="body" idx="1"/>
          </p:nvPr>
        </p:nvSpPr>
        <p:spPr/>
        <p:txBody>
          <a:bodyPr/>
          <a:lstStyle/>
          <a:p>
            <a:r>
              <a:rPr lang="en-US" b="1">
                <a:solidFill>
                  <a:srgbClr val="000000"/>
                </a:solidFill>
              </a:rPr>
              <a:t>Objectifs</a:t>
            </a:r>
            <a:endParaRPr lang="en-US" b="1"/>
          </a:p>
          <a:p>
            <a:r>
              <a:rPr lang="en-US">
                <a:solidFill>
                  <a:srgbClr val="000000"/>
                </a:solidFill>
              </a:rPr>
              <a:t>À la fin de cette présentation, les stagiaires seront à même d'effectuer les tâches suivantes :</a:t>
            </a:r>
            <a:endParaRPr lang="en-US"/>
          </a:p>
          <a:p>
            <a:pPr>
              <a:buFontTx/>
              <a:buChar char="•"/>
            </a:pPr>
            <a:r>
              <a:rPr lang="en-US">
                <a:solidFill>
                  <a:srgbClr val="000000"/>
                </a:solidFill>
              </a:rPr>
              <a:t>Décrire le processus de modification des données</a:t>
            </a:r>
            <a:endParaRPr lang="en-US"/>
          </a:p>
          <a:p>
            <a:pPr>
              <a:buFontTx/>
              <a:buChar char="•"/>
            </a:pPr>
            <a:r>
              <a:rPr lang="en-US">
                <a:solidFill>
                  <a:srgbClr val="000000"/>
                </a:solidFill>
              </a:rPr>
              <a:t>Nommer les fichiers utilisés dans le processus de modification des données</a:t>
            </a:r>
            <a:endParaRPr lang="en-US"/>
          </a:p>
          <a:p>
            <a:pPr>
              <a:buFontTx/>
              <a:buChar char="•"/>
            </a:pPr>
            <a:r>
              <a:rPr lang="en-US">
                <a:solidFill>
                  <a:srgbClr val="000000"/>
                </a:solidFill>
              </a:rPr>
              <a:t>Décrire dans quelle mesure le processus de modification des données affecte les performances de la base de données, sa fragmentation et l'intégrité de ses données</a:t>
            </a:r>
            <a:endParaRPr lang="en-US"/>
          </a:p>
          <a:p>
            <a:pPr>
              <a:buFontTx/>
              <a:buChar char="•"/>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3/23/2016</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3/23/2016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3/23/2016</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3/23/2016</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3/23/2016</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3/23/2016</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3/23/2016</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3/23/2016</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3/23/2016</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3/23/2016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3/23/2016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re et 4 contenus">
    <p:spTree>
      <p:nvGrpSpPr>
        <p:cNvPr id="1" name=""/>
        <p:cNvGrpSpPr/>
        <p:nvPr/>
      </p:nvGrpSpPr>
      <p:grpSpPr>
        <a:xfrm>
          <a:off x="0" y="0"/>
          <a:ext cx="0" cy="0"/>
          <a:chOff x="0" y="0"/>
          <a:chExt cx="0" cy="0"/>
        </a:xfrm>
      </p:grpSpPr>
      <p:sp>
        <p:nvSpPr>
          <p:cNvPr id="2" name="Titre 1"/>
          <p:cNvSpPr>
            <a:spLocks noGrp="1"/>
          </p:cNvSpPr>
          <p:nvPr>
            <p:ph type="title" sz="quarter"/>
          </p:nvPr>
        </p:nvSpPr>
        <p:spPr>
          <a:xfrm>
            <a:off x="838200" y="77788"/>
            <a:ext cx="7391400" cy="684212"/>
          </a:xfrm>
        </p:spPr>
        <p:txBody>
          <a:bodyPr/>
          <a:lstStyle/>
          <a:p>
            <a:r>
              <a:rPr lang="fr-FR" smtClean="0"/>
              <a:t>Cliquez pour modifier le style du titre</a:t>
            </a:r>
            <a:endParaRPr lang="fr-FR"/>
          </a:p>
        </p:txBody>
      </p:sp>
      <p:sp>
        <p:nvSpPr>
          <p:cNvPr id="3" name="Espace réservé du contenu 2"/>
          <p:cNvSpPr>
            <a:spLocks noGrp="1"/>
          </p:cNvSpPr>
          <p:nvPr>
            <p:ph sz="quarter" idx="1"/>
          </p:nvPr>
        </p:nvSpPr>
        <p:spPr>
          <a:xfrm>
            <a:off x="1050925" y="1447800"/>
            <a:ext cx="3436938" cy="227012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0263" y="1447800"/>
            <a:ext cx="3436937" cy="227012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1050925" y="3870325"/>
            <a:ext cx="3436938" cy="227171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contenu 5"/>
          <p:cNvSpPr>
            <a:spLocks noGrp="1"/>
          </p:cNvSpPr>
          <p:nvPr>
            <p:ph sz="quarter" idx="4"/>
          </p:nvPr>
        </p:nvSpPr>
        <p:spPr>
          <a:xfrm>
            <a:off x="4640263" y="3870325"/>
            <a:ext cx="3436937" cy="227171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3/23/2016</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tags" Target="../tags/tag16.xml"/><Relationship Id="rId7" Type="http://schemas.openxmlformats.org/officeDocument/2006/relationships/notesSlide" Target="../notesSlides/notesSlide5.xml"/><Relationship Id="rId12" Type="http://schemas.openxmlformats.org/officeDocument/2006/relationships/image" Target="../media/image14.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Layout" Target="../slideLayouts/slideLayout2.xml"/><Relationship Id="rId11" Type="http://schemas.openxmlformats.org/officeDocument/2006/relationships/image" Target="../media/image13.png"/><Relationship Id="rId5" Type="http://schemas.openxmlformats.org/officeDocument/2006/relationships/tags" Target="../tags/tag18.xml"/><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tags" Target="../tags/tag17.xml"/><Relationship Id="rId9" Type="http://schemas.openxmlformats.org/officeDocument/2006/relationships/image" Target="../media/image11.png"/><Relationship Id="rId1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0" name="Rectangle 4"/>
          <p:cNvSpPr>
            <a:spLocks noGrp="1" noChangeArrowheads="1"/>
          </p:cNvSpPr>
          <p:nvPr>
            <p:ph type="ctrTitle"/>
          </p:nvPr>
        </p:nvSpPr>
        <p:spPr>
          <a:xfrm>
            <a:off x="1314223" y="2732767"/>
            <a:ext cx="6443662" cy="2927804"/>
          </a:xfrm>
        </p:spPr>
        <p:txBody>
          <a:bodyPr>
            <a:noAutofit/>
          </a:bodyPr>
          <a:lstStyle/>
          <a:p>
            <a:r>
              <a:rPr lang="fr-FR" sz="4800" dirty="0" smtClean="0">
                <a:solidFill>
                  <a:srgbClr val="000000"/>
                </a:solidFill>
              </a:rPr>
              <a:t> Chapitre 10 </a:t>
            </a:r>
            <a:br>
              <a:rPr lang="fr-FR" sz="4800" dirty="0" smtClean="0">
                <a:solidFill>
                  <a:srgbClr val="000000"/>
                </a:solidFill>
              </a:rPr>
            </a:br>
            <a:r>
              <a:rPr lang="fr-FR" sz="4800" dirty="0" smtClean="0">
                <a:solidFill>
                  <a:srgbClr val="000000"/>
                </a:solidFill>
              </a:rPr>
              <a:t>Maintenance </a:t>
            </a:r>
            <a:r>
              <a:rPr lang="fr-FR" sz="4800" dirty="0">
                <a:solidFill>
                  <a:srgbClr val="000000"/>
                </a:solidFill>
              </a:rPr>
              <a:t>d'Active Directory</a:t>
            </a:r>
            <a:endParaRPr lang="en-US" sz="4800" dirty="0">
              <a:solidFill>
                <a:srgbClr val="000000"/>
              </a:solidFill>
            </a:endParaRPr>
          </a:p>
        </p:txBody>
      </p:sp>
      <p:sp>
        <p:nvSpPr>
          <p:cNvPr id="4" name="Rectangle 3"/>
          <p:cNvSpPr/>
          <p:nvPr/>
        </p:nvSpPr>
        <p:spPr>
          <a:xfrm>
            <a:off x="2769802" y="936562"/>
            <a:ext cx="3471353" cy="830997"/>
          </a:xfrm>
          <a:prstGeom prst="rect">
            <a:avLst/>
          </a:prstGeom>
        </p:spPr>
        <p:txBody>
          <a:bodyPr wrap="square">
            <a:spAutoFit/>
          </a:bodyPr>
          <a:lstStyle/>
          <a:p>
            <a:r>
              <a:rPr lang="fr-FR" sz="4800" dirty="0" smtClean="0">
                <a:solidFill>
                  <a:srgbClr val="000000"/>
                </a:solidFill>
              </a:rPr>
              <a:t>Module S44</a:t>
            </a:r>
            <a:endParaRPr lang="fr-FR"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r>
              <a:rPr lang="fr-FR" dirty="0" smtClean="0">
                <a:solidFill>
                  <a:srgbClr val="000000"/>
                </a:solidFill>
              </a:rPr>
              <a:t>Plan du cours</a:t>
            </a:r>
            <a:endParaRPr lang="en-US" dirty="0"/>
          </a:p>
        </p:txBody>
      </p:sp>
      <p:sp>
        <p:nvSpPr>
          <p:cNvPr id="287747" name="Rectangle 3"/>
          <p:cNvSpPr>
            <a:spLocks noGrp="1" noChangeArrowheads="1"/>
          </p:cNvSpPr>
          <p:nvPr>
            <p:ph sz="quarter" idx="1"/>
          </p:nvPr>
        </p:nvSpPr>
        <p:spPr>
          <a:xfrm>
            <a:off x="301752" y="2383391"/>
            <a:ext cx="8503920" cy="2507923"/>
          </a:xfrm>
        </p:spPr>
        <p:txBody>
          <a:bodyPr>
            <a:normAutofit/>
          </a:bodyPr>
          <a:lstStyle/>
          <a:p>
            <a:pPr marL="514350" indent="-514350">
              <a:buClr>
                <a:schemeClr val="tx1"/>
              </a:buClr>
              <a:buFont typeface="+mj-lt"/>
              <a:buAutoNum type="arabicPeriod"/>
            </a:pPr>
            <a:r>
              <a:rPr lang="fr-FR" dirty="0" smtClean="0">
                <a:solidFill>
                  <a:srgbClr val="000000"/>
                </a:solidFill>
              </a:rPr>
              <a:t>Déplacement et défragmentation de la base de données Active Directory</a:t>
            </a:r>
            <a:endParaRPr lang="en-US" dirty="0" smtClean="0"/>
          </a:p>
          <a:p>
            <a:pPr marL="514350" indent="-514350">
              <a:buClr>
                <a:schemeClr val="tx1"/>
              </a:buClr>
              <a:buFont typeface="+mj-lt"/>
              <a:buAutoNum type="arabicPeriod"/>
            </a:pPr>
            <a:r>
              <a:rPr lang="fr-FR" dirty="0" smtClean="0">
                <a:solidFill>
                  <a:srgbClr val="000000"/>
                </a:solidFill>
              </a:rPr>
              <a:t>Sauvegarde d'Active Directory</a:t>
            </a:r>
            <a:endParaRPr lang="en-US" dirty="0" smtClean="0"/>
          </a:p>
          <a:p>
            <a:pPr marL="514350" indent="-514350">
              <a:buClr>
                <a:schemeClr val="tx1"/>
              </a:buClr>
              <a:buFont typeface="+mj-lt"/>
              <a:buAutoNum type="arabicPeriod"/>
            </a:pPr>
            <a:r>
              <a:rPr lang="fr-FR" dirty="0" smtClean="0">
                <a:solidFill>
                  <a:srgbClr val="000000"/>
                </a:solidFill>
              </a:rPr>
              <a:t>Restauration d'Active </a:t>
            </a:r>
            <a:r>
              <a:rPr lang="fr-FR" dirty="0" smtClean="0">
                <a:solidFill>
                  <a:srgbClr val="000000"/>
                </a:solidFill>
              </a:rPr>
              <a:t>Directory</a:t>
            </a:r>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1752" y="246741"/>
            <a:ext cx="8534400" cy="871438"/>
          </a:xfrm>
        </p:spPr>
        <p:txBody>
          <a:bodyPr>
            <a:normAutofit fontScale="90000"/>
          </a:bodyPr>
          <a:lstStyle/>
          <a:p>
            <a:r>
              <a:rPr lang="fr-FR" b="1" dirty="0" smtClean="0">
                <a:solidFill>
                  <a:srgbClr val="000000"/>
                </a:solidFill>
              </a:rPr>
              <a:t>1. Déplacement </a:t>
            </a:r>
            <a:r>
              <a:rPr lang="fr-FR" b="1" dirty="0" smtClean="0">
                <a:solidFill>
                  <a:srgbClr val="000000"/>
                </a:solidFill>
              </a:rPr>
              <a:t>et défragmentation de la base de données Active </a:t>
            </a:r>
            <a:r>
              <a:rPr lang="fr-FR" b="1" dirty="0" smtClean="0">
                <a:solidFill>
                  <a:srgbClr val="000000"/>
                </a:solidFill>
              </a:rPr>
              <a:t>Directory</a:t>
            </a:r>
            <a:endParaRPr lang="fr-FR" b="1" dirty="0"/>
          </a:p>
        </p:txBody>
      </p:sp>
      <p:sp>
        <p:nvSpPr>
          <p:cNvPr id="3" name="Espace réservé du contenu 2"/>
          <p:cNvSpPr>
            <a:spLocks noGrp="1"/>
          </p:cNvSpPr>
          <p:nvPr>
            <p:ph sz="quarter" idx="1"/>
          </p:nvPr>
        </p:nvSpPr>
        <p:spPr>
          <a:xfrm>
            <a:off x="301752" y="1976990"/>
            <a:ext cx="8503920" cy="3291696"/>
          </a:xfrm>
        </p:spPr>
        <p:txBody>
          <a:bodyPr>
            <a:normAutofit/>
          </a:bodyPr>
          <a:lstStyle/>
          <a:p>
            <a:r>
              <a:rPr lang="fr-FR" b="1" dirty="0" smtClean="0">
                <a:solidFill>
                  <a:srgbClr val="C00000"/>
                </a:solidFill>
              </a:rPr>
              <a:t>La défragmentation de la BD AD</a:t>
            </a:r>
          </a:p>
          <a:p>
            <a:r>
              <a:rPr lang="fr-FR" b="1" dirty="0" smtClean="0">
                <a:solidFill>
                  <a:srgbClr val="C00000"/>
                </a:solidFill>
              </a:rPr>
              <a:t>Comment défragmenter une base de données Active Directory</a:t>
            </a:r>
          </a:p>
          <a:p>
            <a:r>
              <a:rPr lang="fr-FR" b="1" dirty="0" smtClean="0">
                <a:solidFill>
                  <a:srgbClr val="C00000"/>
                </a:solidFill>
              </a:rPr>
              <a:t>Déplacement la BD </a:t>
            </a:r>
            <a:r>
              <a:rPr lang="fr-FR" b="1" dirty="0" smtClean="0">
                <a:solidFill>
                  <a:srgbClr val="C00000"/>
                </a:solidFill>
              </a:rPr>
              <a:t>AD</a:t>
            </a:r>
          </a:p>
          <a:p>
            <a:r>
              <a:rPr lang="fr-FR" sz="2800" b="1" dirty="0" smtClean="0">
                <a:solidFill>
                  <a:srgbClr val="C00000"/>
                </a:solidFill>
              </a:rPr>
              <a:t>Comment déplacer la base de données Active Directory et les fichiers journaux</a:t>
            </a:r>
            <a:endParaRPr lang="fr-FR" b="1" dirty="0" smtClean="0">
              <a:solidFill>
                <a:srgbClr val="C00000"/>
              </a:solidFill>
            </a:endParaRPr>
          </a:p>
          <a:p>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La défragmentation de la BD AD</a:t>
            </a:r>
            <a:endParaRPr lang="fr-FR" b="1" dirty="0">
              <a:solidFill>
                <a:srgbClr val="C00000"/>
              </a:solidFill>
            </a:endParaRPr>
          </a:p>
        </p:txBody>
      </p:sp>
      <p:grpSp>
        <p:nvGrpSpPr>
          <p:cNvPr id="6" name="Groupe 5"/>
          <p:cNvGrpSpPr/>
          <p:nvPr/>
        </p:nvGrpSpPr>
        <p:grpSpPr>
          <a:xfrm>
            <a:off x="2743686" y="1344875"/>
            <a:ext cx="6222065" cy="1007810"/>
            <a:chOff x="2569105" y="2310"/>
            <a:chExt cx="6222065" cy="1007810"/>
          </a:xfrm>
          <a:scene3d>
            <a:camera prst="orthographicFront"/>
            <a:lightRig rig="threePt" dir="t">
              <a:rot lat="0" lon="0" rev="7500000"/>
            </a:lightRig>
          </a:scene3d>
        </p:grpSpPr>
        <p:sp>
          <p:nvSpPr>
            <p:cNvPr id="22" name="Arrondir un rectangle avec un coin du même côté 21"/>
            <p:cNvSpPr/>
            <p:nvPr/>
          </p:nvSpPr>
          <p:spPr>
            <a:xfrm rot="5400000">
              <a:off x="5176233" y="-2604818"/>
              <a:ext cx="1007810" cy="6222065"/>
            </a:xfrm>
            <a:prstGeom prst="round2SameRect">
              <a:avLst/>
            </a:prstGeom>
            <a:sp3d extrusionH="190500" prstMaterial="dkEdge">
              <a:bevelT w="120650" h="38100" prst="relaxedInset"/>
              <a:bevelB w="120650" h="57150" prst="relaxedInset"/>
              <a:contourClr>
                <a:schemeClr val="bg1"/>
              </a:contourClr>
            </a:sp3d>
          </p:spPr>
          <p:style>
            <a:lnRef idx="1">
              <a:schemeClr val="dk2">
                <a:alpha val="90000"/>
                <a:hueOff val="0"/>
                <a:satOff val="0"/>
                <a:lumOff val="0"/>
                <a:alphaOff val="0"/>
              </a:schemeClr>
            </a:lnRef>
            <a:fillRef idx="1">
              <a:schemeClr val="lt1">
                <a:alpha val="90000"/>
                <a:tint val="40000"/>
                <a:hueOff val="0"/>
                <a:satOff val="0"/>
                <a:lumOff val="0"/>
                <a:alphaOff val="0"/>
              </a:schemeClr>
            </a:fillRef>
            <a:effectRef idx="2">
              <a:schemeClr val="lt1">
                <a:alpha val="90000"/>
                <a:tint val="40000"/>
                <a:hueOff val="0"/>
                <a:satOff val="0"/>
                <a:lumOff val="0"/>
                <a:alphaOff val="0"/>
              </a:schemeClr>
            </a:effectRef>
            <a:fontRef idx="minor">
              <a:schemeClr val="dk2">
                <a:hueOff val="0"/>
                <a:satOff val="0"/>
                <a:lumOff val="0"/>
                <a:alphaOff val="0"/>
              </a:schemeClr>
            </a:fontRef>
          </p:style>
        </p:sp>
        <p:sp>
          <p:nvSpPr>
            <p:cNvPr id="23" name="Arrondir un rectangle avec un coin du même côté 4"/>
            <p:cNvSpPr/>
            <p:nvPr/>
          </p:nvSpPr>
          <p:spPr>
            <a:xfrm>
              <a:off x="2569106" y="51506"/>
              <a:ext cx="6172868" cy="909416"/>
            </a:xfrm>
            <a:prstGeom prst="rect">
              <a:avLst/>
            </a:prstGeom>
            <a:sp3d/>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fr-FR" sz="2200" kern="1200" dirty="0" smtClean="0"/>
                <a:t>Elle se produit au fur et à mesure que des enregistrements sont ajoutés ou supprimés</a:t>
              </a:r>
              <a:endParaRPr lang="fr-FR" sz="2200" kern="1200" dirty="0"/>
            </a:p>
          </p:txBody>
        </p:sp>
      </p:grpSp>
      <p:grpSp>
        <p:nvGrpSpPr>
          <p:cNvPr id="7" name="Groupe 6"/>
          <p:cNvGrpSpPr/>
          <p:nvPr/>
        </p:nvGrpSpPr>
        <p:grpSpPr>
          <a:xfrm>
            <a:off x="174581" y="1404303"/>
            <a:ext cx="2568283" cy="888951"/>
            <a:chOff x="0" y="61738"/>
            <a:chExt cx="2568283" cy="888951"/>
          </a:xfrm>
          <a:scene3d>
            <a:camera prst="orthographicFront"/>
            <a:lightRig rig="threePt" dir="t">
              <a:rot lat="0" lon="0" rev="7500000"/>
            </a:lightRig>
          </a:scene3d>
        </p:grpSpPr>
        <p:sp>
          <p:nvSpPr>
            <p:cNvPr id="20" name="Rectangle à coins arrondis 19"/>
            <p:cNvSpPr/>
            <p:nvPr/>
          </p:nvSpPr>
          <p:spPr>
            <a:xfrm>
              <a:off x="0" y="61738"/>
              <a:ext cx="2568283" cy="888951"/>
            </a:xfrm>
            <a:prstGeom prst="roundRect">
              <a:avLst/>
            </a:prstGeom>
            <a:sp3d prstMaterial="plastic">
              <a:bevelT w="127000" h="25400" prst="relaxedInset"/>
            </a:sp3d>
          </p:spPr>
          <p:style>
            <a:lnRef idx="0">
              <a:schemeClr val="dk2">
                <a:shade val="80000"/>
                <a:hueOff val="0"/>
                <a:satOff val="0"/>
                <a:lumOff val="0"/>
                <a:alphaOff val="0"/>
              </a:schemeClr>
            </a:lnRef>
            <a:fillRef idx="3">
              <a:schemeClr val="lt1">
                <a:hueOff val="0"/>
                <a:satOff val="0"/>
                <a:lumOff val="0"/>
                <a:alphaOff val="0"/>
              </a:schemeClr>
            </a:fillRef>
            <a:effectRef idx="2">
              <a:schemeClr val="lt1">
                <a:hueOff val="0"/>
                <a:satOff val="0"/>
                <a:lumOff val="0"/>
                <a:alphaOff val="0"/>
              </a:schemeClr>
            </a:effectRef>
            <a:fontRef idx="minor">
              <a:schemeClr val="dk2">
                <a:hueOff val="0"/>
                <a:satOff val="0"/>
                <a:lumOff val="0"/>
                <a:alphaOff val="0"/>
              </a:schemeClr>
            </a:fontRef>
          </p:style>
        </p:sp>
        <p:sp>
          <p:nvSpPr>
            <p:cNvPr id="21" name="Rectangle 20"/>
            <p:cNvSpPr/>
            <p:nvPr/>
          </p:nvSpPr>
          <p:spPr>
            <a:xfrm>
              <a:off x="43395" y="105133"/>
              <a:ext cx="2481493" cy="802161"/>
            </a:xfrm>
            <a:prstGeom prst="rect">
              <a:avLst/>
            </a:prstGeom>
            <a:sp3d/>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36000" tIns="36000" rIns="36000" bIns="36000" numCol="1" spcCol="1270" anchor="ctr" anchorCtr="0">
              <a:noAutofit/>
            </a:bodyPr>
            <a:lstStyle/>
            <a:p>
              <a:pPr lvl="0" algn="ctr" defTabSz="1066800">
                <a:lnSpc>
                  <a:spcPct val="90000"/>
                </a:lnSpc>
                <a:spcBef>
                  <a:spcPct val="0"/>
                </a:spcBef>
                <a:spcAft>
                  <a:spcPct val="35000"/>
                </a:spcAft>
              </a:pPr>
              <a:r>
                <a:rPr lang="fr-FR" sz="2400" b="1" kern="1200" dirty="0" smtClean="0">
                  <a:solidFill>
                    <a:srgbClr val="C00000"/>
                  </a:solidFill>
                </a:rPr>
                <a:t>Fragmentation</a:t>
              </a:r>
              <a:endParaRPr lang="fr-FR" sz="2400" b="1" kern="1200" dirty="0">
                <a:solidFill>
                  <a:srgbClr val="C00000"/>
                </a:solidFill>
              </a:endParaRPr>
            </a:p>
          </p:txBody>
        </p:sp>
      </p:grpSp>
      <p:grpSp>
        <p:nvGrpSpPr>
          <p:cNvPr id="8" name="Groupe 7"/>
          <p:cNvGrpSpPr/>
          <p:nvPr/>
        </p:nvGrpSpPr>
        <p:grpSpPr>
          <a:xfrm>
            <a:off x="2741180" y="2415673"/>
            <a:ext cx="6228238" cy="1421536"/>
            <a:chOff x="2566599" y="1073108"/>
            <a:chExt cx="6228238" cy="1421536"/>
          </a:xfrm>
          <a:scene3d>
            <a:camera prst="orthographicFront"/>
            <a:lightRig rig="threePt" dir="t">
              <a:rot lat="0" lon="0" rev="7500000"/>
            </a:lightRig>
          </a:scene3d>
        </p:grpSpPr>
        <p:sp>
          <p:nvSpPr>
            <p:cNvPr id="18" name="Arrondir un rectangle avec un coin du même côté 17"/>
            <p:cNvSpPr/>
            <p:nvPr/>
          </p:nvSpPr>
          <p:spPr>
            <a:xfrm rot="5400000">
              <a:off x="4969950" y="-1330243"/>
              <a:ext cx="1421536" cy="6228238"/>
            </a:xfrm>
            <a:prstGeom prst="round2SameRect">
              <a:avLst/>
            </a:prstGeom>
            <a:sp3d extrusionH="190500" prstMaterial="dkEdge">
              <a:bevelT w="120650" h="38100" prst="relaxedInset"/>
              <a:bevelB w="120650" h="57150" prst="relaxedInset"/>
              <a:contourClr>
                <a:schemeClr val="bg1"/>
              </a:contourClr>
            </a:sp3d>
          </p:spPr>
          <p:style>
            <a:lnRef idx="1">
              <a:schemeClr val="dk2">
                <a:alpha val="90000"/>
                <a:hueOff val="0"/>
                <a:satOff val="0"/>
                <a:lumOff val="0"/>
                <a:alphaOff val="0"/>
              </a:schemeClr>
            </a:lnRef>
            <a:fillRef idx="1">
              <a:schemeClr val="lt1">
                <a:alpha val="90000"/>
                <a:tint val="40000"/>
                <a:hueOff val="0"/>
                <a:satOff val="0"/>
                <a:lumOff val="0"/>
                <a:alphaOff val="0"/>
              </a:schemeClr>
            </a:fillRef>
            <a:effectRef idx="2">
              <a:schemeClr val="lt1">
                <a:alpha val="90000"/>
                <a:tint val="40000"/>
                <a:hueOff val="0"/>
                <a:satOff val="0"/>
                <a:lumOff val="0"/>
                <a:alphaOff val="0"/>
              </a:schemeClr>
            </a:effectRef>
            <a:fontRef idx="minor">
              <a:schemeClr val="dk2">
                <a:hueOff val="0"/>
                <a:satOff val="0"/>
                <a:lumOff val="0"/>
                <a:alphaOff val="0"/>
              </a:schemeClr>
            </a:fontRef>
          </p:style>
        </p:sp>
        <p:sp>
          <p:nvSpPr>
            <p:cNvPr id="19" name="Arrondir un rectangle avec un coin du même côté 8"/>
            <p:cNvSpPr/>
            <p:nvPr/>
          </p:nvSpPr>
          <p:spPr>
            <a:xfrm>
              <a:off x="2566599" y="1142502"/>
              <a:ext cx="6158844" cy="1282748"/>
            </a:xfrm>
            <a:prstGeom prst="rect">
              <a:avLst/>
            </a:prstGeom>
            <a:sp3d/>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fr-FR" sz="2200" kern="1200" dirty="0" smtClean="0"/>
                <a:t>l’ordinateur doit parcourir la BD AD rechercher tous les enregistrements, à chaque fois que cette dernière est ouverte</a:t>
              </a:r>
              <a:endParaRPr lang="fr-FR" sz="2200" kern="1200" dirty="0"/>
            </a:p>
          </p:txBody>
        </p:sp>
      </p:grpSp>
      <p:grpSp>
        <p:nvGrpSpPr>
          <p:cNvPr id="9" name="Groupe 8"/>
          <p:cNvGrpSpPr/>
          <p:nvPr/>
        </p:nvGrpSpPr>
        <p:grpSpPr>
          <a:xfrm>
            <a:off x="174581" y="2496558"/>
            <a:ext cx="2565776" cy="1259762"/>
            <a:chOff x="0" y="1153993"/>
            <a:chExt cx="2565776" cy="1259762"/>
          </a:xfrm>
          <a:scene3d>
            <a:camera prst="orthographicFront"/>
            <a:lightRig rig="threePt" dir="t">
              <a:rot lat="0" lon="0" rev="7500000"/>
            </a:lightRig>
          </a:scene3d>
        </p:grpSpPr>
        <p:sp>
          <p:nvSpPr>
            <p:cNvPr id="16" name="Rectangle à coins arrondis 15"/>
            <p:cNvSpPr/>
            <p:nvPr/>
          </p:nvSpPr>
          <p:spPr>
            <a:xfrm>
              <a:off x="0" y="1153993"/>
              <a:ext cx="2565776" cy="1259762"/>
            </a:xfrm>
            <a:prstGeom prst="roundRect">
              <a:avLst/>
            </a:prstGeom>
            <a:sp3d prstMaterial="plastic">
              <a:bevelT w="127000" h="25400" prst="relaxedInset"/>
            </a:sp3d>
          </p:spPr>
          <p:style>
            <a:lnRef idx="0">
              <a:schemeClr val="dk2">
                <a:shade val="80000"/>
                <a:hueOff val="0"/>
                <a:satOff val="0"/>
                <a:lumOff val="0"/>
                <a:alphaOff val="0"/>
              </a:schemeClr>
            </a:lnRef>
            <a:fillRef idx="3">
              <a:schemeClr val="lt1">
                <a:hueOff val="0"/>
                <a:satOff val="0"/>
                <a:lumOff val="0"/>
                <a:alphaOff val="0"/>
              </a:schemeClr>
            </a:fillRef>
            <a:effectRef idx="2">
              <a:schemeClr val="lt1">
                <a:hueOff val="0"/>
                <a:satOff val="0"/>
                <a:lumOff val="0"/>
                <a:alphaOff val="0"/>
              </a:schemeClr>
            </a:effectRef>
            <a:fontRef idx="minor">
              <a:schemeClr val="dk2">
                <a:hueOff val="0"/>
                <a:satOff val="0"/>
                <a:lumOff val="0"/>
                <a:alphaOff val="0"/>
              </a:schemeClr>
            </a:fontRef>
          </p:style>
        </p:sp>
        <p:sp>
          <p:nvSpPr>
            <p:cNvPr id="17" name="Rectangle 16"/>
            <p:cNvSpPr/>
            <p:nvPr/>
          </p:nvSpPr>
          <p:spPr>
            <a:xfrm>
              <a:off x="61497" y="1215490"/>
              <a:ext cx="2442782" cy="1136768"/>
            </a:xfrm>
            <a:prstGeom prst="rect">
              <a:avLst/>
            </a:prstGeom>
            <a:sp3d/>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fr-FR" sz="2400" b="1" kern="1200" dirty="0" smtClean="0">
                  <a:solidFill>
                    <a:srgbClr val="C00000"/>
                  </a:solidFill>
                </a:rPr>
                <a:t>Problème</a:t>
              </a:r>
              <a:endParaRPr lang="fr-FR" sz="2400" b="1" kern="1200" dirty="0">
                <a:solidFill>
                  <a:srgbClr val="C00000"/>
                </a:solidFill>
              </a:endParaRPr>
            </a:p>
          </p:txBody>
        </p:sp>
      </p:grpSp>
      <p:grpSp>
        <p:nvGrpSpPr>
          <p:cNvPr id="10" name="Groupe 9"/>
          <p:cNvGrpSpPr/>
          <p:nvPr/>
        </p:nvGrpSpPr>
        <p:grpSpPr>
          <a:xfrm>
            <a:off x="2741180" y="3976918"/>
            <a:ext cx="6228238" cy="2685142"/>
            <a:chOff x="2566599" y="2315045"/>
            <a:chExt cx="6228238" cy="2685142"/>
          </a:xfrm>
          <a:scene3d>
            <a:camera prst="orthographicFront"/>
            <a:lightRig rig="threePt" dir="t">
              <a:rot lat="0" lon="0" rev="7500000"/>
            </a:lightRig>
          </a:scene3d>
        </p:grpSpPr>
        <p:sp>
          <p:nvSpPr>
            <p:cNvPr id="14" name="Arrondir un rectangle avec un coin du même côté 13"/>
            <p:cNvSpPr/>
            <p:nvPr/>
          </p:nvSpPr>
          <p:spPr>
            <a:xfrm rot="5400000">
              <a:off x="4338147" y="543497"/>
              <a:ext cx="2685142" cy="6228238"/>
            </a:xfrm>
            <a:prstGeom prst="round2SameRect">
              <a:avLst/>
            </a:prstGeom>
            <a:sp3d extrusionH="190500" prstMaterial="dkEdge">
              <a:bevelT w="120650" h="38100" prst="relaxedInset"/>
              <a:bevelB w="120650" h="57150" prst="relaxedInset"/>
              <a:contourClr>
                <a:schemeClr val="bg1"/>
              </a:contourClr>
            </a:sp3d>
          </p:spPr>
          <p:style>
            <a:lnRef idx="1">
              <a:schemeClr val="dk2">
                <a:alpha val="90000"/>
                <a:hueOff val="0"/>
                <a:satOff val="0"/>
                <a:lumOff val="0"/>
                <a:alphaOff val="0"/>
              </a:schemeClr>
            </a:lnRef>
            <a:fillRef idx="1">
              <a:schemeClr val="lt1">
                <a:alpha val="90000"/>
                <a:tint val="40000"/>
                <a:hueOff val="0"/>
                <a:satOff val="0"/>
                <a:lumOff val="0"/>
                <a:alphaOff val="0"/>
              </a:schemeClr>
            </a:fillRef>
            <a:effectRef idx="2">
              <a:schemeClr val="lt1">
                <a:alpha val="90000"/>
                <a:tint val="40000"/>
                <a:hueOff val="0"/>
                <a:satOff val="0"/>
                <a:lumOff val="0"/>
                <a:alphaOff val="0"/>
              </a:schemeClr>
            </a:effectRef>
            <a:fontRef idx="minor">
              <a:schemeClr val="dk2">
                <a:hueOff val="0"/>
                <a:satOff val="0"/>
                <a:lumOff val="0"/>
                <a:alphaOff val="0"/>
              </a:schemeClr>
            </a:fontRef>
          </p:style>
        </p:sp>
        <p:sp>
          <p:nvSpPr>
            <p:cNvPr id="15" name="Arrondir un rectangle avec un coin du même côté 12"/>
            <p:cNvSpPr/>
            <p:nvPr/>
          </p:nvSpPr>
          <p:spPr>
            <a:xfrm>
              <a:off x="2566599" y="2668959"/>
              <a:ext cx="6116910" cy="2057917"/>
            </a:xfrm>
            <a:prstGeom prst="rect">
              <a:avLst/>
            </a:prstGeom>
            <a:sp3d/>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fr-FR" sz="2200" kern="1200" dirty="0" smtClean="0"/>
                <a:t>La </a:t>
              </a:r>
              <a:r>
                <a:rPr lang="fr-FR" sz="2200" i="1" kern="1200" dirty="0" smtClean="0"/>
                <a:t>défragmentation est le processus de </a:t>
              </a:r>
              <a:r>
                <a:rPr lang="fr-FR" sz="2200" kern="1200" dirty="0" smtClean="0"/>
                <a:t>réécriture des enregistrements dans la BD AD dans des secteurs contigus</a:t>
              </a:r>
              <a:endParaRPr lang="fr-FR" sz="2200" kern="1200" dirty="0"/>
            </a:p>
            <a:p>
              <a:pPr marL="228600" lvl="1" indent="-228600" algn="l" defTabSz="977900">
                <a:lnSpc>
                  <a:spcPct val="90000"/>
                </a:lnSpc>
                <a:spcBef>
                  <a:spcPct val="0"/>
                </a:spcBef>
                <a:spcAft>
                  <a:spcPct val="15000"/>
                </a:spcAft>
                <a:buChar char="••"/>
              </a:pPr>
              <a:r>
                <a:rPr lang="fr-FR" sz="2200" kern="1200" dirty="0" smtClean="0"/>
                <a:t>Lorsque les enregistrements sont mis à jour, AD enregistre ces mises à jour dans le plus large espace contigu de la BD AD .</a:t>
              </a:r>
              <a:endParaRPr lang="fr-FR" sz="2200" kern="1200" dirty="0"/>
            </a:p>
          </p:txBody>
        </p:sp>
      </p:grpSp>
      <p:grpSp>
        <p:nvGrpSpPr>
          <p:cNvPr id="11" name="Groupe 10"/>
          <p:cNvGrpSpPr/>
          <p:nvPr/>
        </p:nvGrpSpPr>
        <p:grpSpPr>
          <a:xfrm>
            <a:off x="174581" y="4420392"/>
            <a:ext cx="2565776" cy="1878797"/>
            <a:chOff x="0" y="2758519"/>
            <a:chExt cx="2565776" cy="1878797"/>
          </a:xfrm>
          <a:scene3d>
            <a:camera prst="orthographicFront"/>
            <a:lightRig rig="threePt" dir="t">
              <a:rot lat="0" lon="0" rev="7500000"/>
            </a:lightRig>
          </a:scene3d>
        </p:grpSpPr>
        <p:sp>
          <p:nvSpPr>
            <p:cNvPr id="12" name="Rectangle à coins arrondis 11"/>
            <p:cNvSpPr/>
            <p:nvPr/>
          </p:nvSpPr>
          <p:spPr>
            <a:xfrm>
              <a:off x="0" y="2758519"/>
              <a:ext cx="2565776" cy="1878797"/>
            </a:xfrm>
            <a:prstGeom prst="roundRect">
              <a:avLst/>
            </a:prstGeom>
            <a:sp3d prstMaterial="plastic">
              <a:bevelT w="127000" h="25400" prst="relaxedInset"/>
            </a:sp3d>
          </p:spPr>
          <p:style>
            <a:lnRef idx="0">
              <a:schemeClr val="dk2">
                <a:shade val="80000"/>
                <a:hueOff val="0"/>
                <a:satOff val="0"/>
                <a:lumOff val="0"/>
                <a:alphaOff val="0"/>
              </a:schemeClr>
            </a:lnRef>
            <a:fillRef idx="3">
              <a:schemeClr val="lt1">
                <a:hueOff val="0"/>
                <a:satOff val="0"/>
                <a:lumOff val="0"/>
                <a:alphaOff val="0"/>
              </a:schemeClr>
            </a:fillRef>
            <a:effectRef idx="2">
              <a:schemeClr val="lt1">
                <a:hueOff val="0"/>
                <a:satOff val="0"/>
                <a:lumOff val="0"/>
                <a:alphaOff val="0"/>
              </a:schemeClr>
            </a:effectRef>
            <a:fontRef idx="minor">
              <a:schemeClr val="dk2">
                <a:hueOff val="0"/>
                <a:satOff val="0"/>
                <a:lumOff val="0"/>
                <a:alphaOff val="0"/>
              </a:schemeClr>
            </a:fontRef>
          </p:style>
        </p:sp>
        <p:sp>
          <p:nvSpPr>
            <p:cNvPr id="13" name="Rectangle 12"/>
            <p:cNvSpPr/>
            <p:nvPr/>
          </p:nvSpPr>
          <p:spPr>
            <a:xfrm>
              <a:off x="91715" y="2850234"/>
              <a:ext cx="2382346" cy="1695367"/>
            </a:xfrm>
            <a:prstGeom prst="rect">
              <a:avLst/>
            </a:prstGeom>
            <a:sp3d/>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fr-FR" sz="2400" b="1" kern="1200" dirty="0" smtClean="0">
                  <a:solidFill>
                    <a:srgbClr val="C00000"/>
                  </a:solidFill>
                </a:rPr>
                <a:t>Solution</a:t>
              </a:r>
              <a:endParaRPr lang="fr-FR" sz="2400" b="1" kern="1200" dirty="0">
                <a:solidFill>
                  <a:srgbClr val="C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0-#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1000" fill="hold"/>
                                        <p:tgtEl>
                                          <p:spTgt spid="6"/>
                                        </p:tgtEl>
                                        <p:attrNameLst>
                                          <p:attrName>ppt_x</p:attrName>
                                        </p:attrNameLst>
                                      </p:cBhvr>
                                      <p:tavLst>
                                        <p:tav tm="0">
                                          <p:val>
                                            <p:strVal val="0-#ppt_w/2"/>
                                          </p:val>
                                        </p:tav>
                                        <p:tav tm="100000">
                                          <p:val>
                                            <p:strVal val="#ppt_x"/>
                                          </p:val>
                                        </p:tav>
                                      </p:tavLst>
                                    </p:anim>
                                    <p:anim calcmode="lin" valueType="num">
                                      <p:cBhvr additive="base">
                                        <p:cTn id="13"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1000" fill="hold"/>
                                        <p:tgtEl>
                                          <p:spTgt spid="9"/>
                                        </p:tgtEl>
                                        <p:attrNameLst>
                                          <p:attrName>ppt_x</p:attrName>
                                        </p:attrNameLst>
                                      </p:cBhvr>
                                      <p:tavLst>
                                        <p:tav tm="0">
                                          <p:val>
                                            <p:strVal val="0-#ppt_w/2"/>
                                          </p:val>
                                        </p:tav>
                                        <p:tav tm="100000">
                                          <p:val>
                                            <p:strVal val="#ppt_x"/>
                                          </p:val>
                                        </p:tav>
                                      </p:tavLst>
                                    </p:anim>
                                    <p:anim calcmode="lin" valueType="num">
                                      <p:cBhvr additive="base">
                                        <p:cTn id="19" dur="1000" fill="hold"/>
                                        <p:tgtEl>
                                          <p:spTgt spid="9"/>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8"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000" fill="hold"/>
                                        <p:tgtEl>
                                          <p:spTgt spid="8"/>
                                        </p:tgtEl>
                                        <p:attrNameLst>
                                          <p:attrName>ppt_x</p:attrName>
                                        </p:attrNameLst>
                                      </p:cBhvr>
                                      <p:tavLst>
                                        <p:tav tm="0">
                                          <p:val>
                                            <p:strVal val="0-#ppt_w/2"/>
                                          </p:val>
                                        </p:tav>
                                        <p:tav tm="100000">
                                          <p:val>
                                            <p:strVal val="#ppt_x"/>
                                          </p:val>
                                        </p:tav>
                                      </p:tavLst>
                                    </p:anim>
                                    <p:anim calcmode="lin" valueType="num">
                                      <p:cBhvr additive="base">
                                        <p:cTn id="24"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1000" fill="hold"/>
                                        <p:tgtEl>
                                          <p:spTgt spid="11"/>
                                        </p:tgtEl>
                                        <p:attrNameLst>
                                          <p:attrName>ppt_x</p:attrName>
                                        </p:attrNameLst>
                                      </p:cBhvr>
                                      <p:tavLst>
                                        <p:tav tm="0">
                                          <p:val>
                                            <p:strVal val="0-#ppt_w/2"/>
                                          </p:val>
                                        </p:tav>
                                        <p:tav tm="100000">
                                          <p:val>
                                            <p:strVal val="#ppt_x"/>
                                          </p:val>
                                        </p:tav>
                                      </p:tavLst>
                                    </p:anim>
                                    <p:anim calcmode="lin" valueType="num">
                                      <p:cBhvr additive="base">
                                        <p:cTn id="30" dur="1000" fill="hold"/>
                                        <p:tgtEl>
                                          <p:spTgt spid="11"/>
                                        </p:tgtEl>
                                        <p:attrNameLst>
                                          <p:attrName>ppt_y</p:attrName>
                                        </p:attrNameLst>
                                      </p:cBhvr>
                                      <p:tavLst>
                                        <p:tav tm="0">
                                          <p:val>
                                            <p:strVal val="#ppt_y"/>
                                          </p:val>
                                        </p:tav>
                                        <p:tav tm="100000">
                                          <p:val>
                                            <p:strVal val="#ppt_y"/>
                                          </p:val>
                                        </p:tav>
                                      </p:tavLst>
                                    </p:anim>
                                  </p:childTnLst>
                                </p:cTn>
                              </p:par>
                            </p:childTnLst>
                          </p:cTn>
                        </p:par>
                        <p:par>
                          <p:cTn id="31" fill="hold">
                            <p:stCondLst>
                              <p:cond delay="1000"/>
                            </p:stCondLst>
                            <p:childTnLst>
                              <p:par>
                                <p:cTn id="32" presetID="2" presetClass="entr" presetSubtype="8"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1000" fill="hold"/>
                                        <p:tgtEl>
                                          <p:spTgt spid="10"/>
                                        </p:tgtEl>
                                        <p:attrNameLst>
                                          <p:attrName>ppt_x</p:attrName>
                                        </p:attrNameLst>
                                      </p:cBhvr>
                                      <p:tavLst>
                                        <p:tav tm="0">
                                          <p:val>
                                            <p:strVal val="0-#ppt_w/2"/>
                                          </p:val>
                                        </p:tav>
                                        <p:tav tm="100000">
                                          <p:val>
                                            <p:strVal val="#ppt_x"/>
                                          </p:val>
                                        </p:tav>
                                      </p:tavLst>
                                    </p:anim>
                                    <p:anim calcmode="lin" valueType="num">
                                      <p:cBhvr additive="base">
                                        <p:cTn id="35" dur="10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La défragmentation de la BD AD</a:t>
            </a:r>
            <a:endParaRPr lang="fr-FR" b="1" dirty="0">
              <a:solidFill>
                <a:srgbClr val="C00000"/>
              </a:solidFill>
            </a:endParaRPr>
          </a:p>
        </p:txBody>
      </p:sp>
      <p:sp>
        <p:nvSpPr>
          <p:cNvPr id="26" name="Rectangle 25"/>
          <p:cNvSpPr/>
          <p:nvPr/>
        </p:nvSpPr>
        <p:spPr>
          <a:xfrm>
            <a:off x="268514" y="2346392"/>
            <a:ext cx="8396514" cy="1224128"/>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algn="l">
              <a:buFont typeface="Arial" pitchFamily="34" charset="0"/>
              <a:buChar char="•"/>
            </a:pPr>
            <a:r>
              <a:rPr lang="fr-FR" sz="2300" dirty="0" smtClean="0"/>
              <a:t>  Elle s’effectue manuellement</a:t>
            </a:r>
          </a:p>
          <a:p>
            <a:pPr algn="l">
              <a:buFont typeface="Arial" pitchFamily="34" charset="0"/>
              <a:buChar char="•"/>
            </a:pPr>
            <a:r>
              <a:rPr lang="fr-FR" sz="2300" dirty="0" smtClean="0"/>
              <a:t> </a:t>
            </a:r>
            <a:r>
              <a:rPr lang="fr-FR" sz="2300" dirty="0" smtClean="0"/>
              <a:t> A </a:t>
            </a:r>
            <a:r>
              <a:rPr lang="fr-FR" sz="2300" dirty="0" smtClean="0"/>
              <a:t>e</a:t>
            </a:r>
            <a:r>
              <a:rPr lang="fr-FR" sz="2300" dirty="0" smtClean="0"/>
              <a:t>ffectuer uniquement </a:t>
            </a:r>
            <a:r>
              <a:rPr lang="fr-FR" sz="2300" dirty="0" smtClean="0"/>
              <a:t>si vous voulez </a:t>
            </a:r>
            <a:r>
              <a:rPr lang="fr-FR" sz="2300" dirty="0" smtClean="0"/>
              <a:t>créer une </a:t>
            </a:r>
            <a:r>
              <a:rPr lang="fr-FR" sz="2300" dirty="0" smtClean="0"/>
              <a:t>nouvelle version compactée de la </a:t>
            </a:r>
            <a:r>
              <a:rPr lang="fr-FR" sz="2300" dirty="0" smtClean="0"/>
              <a:t>BD </a:t>
            </a:r>
            <a:r>
              <a:rPr lang="fr-FR" sz="2300" dirty="0" smtClean="0"/>
              <a:t>d’origine</a:t>
            </a:r>
          </a:p>
        </p:txBody>
      </p:sp>
      <p:grpSp>
        <p:nvGrpSpPr>
          <p:cNvPr id="27" name="Groupe 26"/>
          <p:cNvGrpSpPr/>
          <p:nvPr/>
        </p:nvGrpSpPr>
        <p:grpSpPr>
          <a:xfrm>
            <a:off x="578393" y="1467912"/>
            <a:ext cx="8289836" cy="839859"/>
            <a:chOff x="353422" y="6459"/>
            <a:chExt cx="4947919" cy="915120"/>
          </a:xfrm>
        </p:grpSpPr>
        <p:sp>
          <p:nvSpPr>
            <p:cNvPr id="32" name="Rectangle à coins arrondis 31"/>
            <p:cNvSpPr/>
            <p:nvPr/>
          </p:nvSpPr>
          <p:spPr>
            <a:xfrm>
              <a:off x="353422" y="6459"/>
              <a:ext cx="4947919" cy="91512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3" name="Rectangle 32"/>
            <p:cNvSpPr/>
            <p:nvPr/>
          </p:nvSpPr>
          <p:spPr>
            <a:xfrm>
              <a:off x="398094" y="51131"/>
              <a:ext cx="4858575" cy="82577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7020" tIns="0" rIns="187020" bIns="0" numCol="1" spcCol="1270" anchor="ctr" anchorCtr="0">
              <a:noAutofit/>
            </a:bodyPr>
            <a:lstStyle/>
            <a:p>
              <a:pPr lvl="0" algn="l" defTabSz="1377950">
                <a:lnSpc>
                  <a:spcPct val="90000"/>
                </a:lnSpc>
                <a:spcBef>
                  <a:spcPct val="0"/>
                </a:spcBef>
                <a:spcAft>
                  <a:spcPct val="35000"/>
                </a:spcAft>
              </a:pPr>
              <a:r>
                <a:rPr lang="fr-FR" sz="2800" kern="1200" dirty="0" smtClean="0">
                  <a:solidFill>
                    <a:schemeClr val="tx1"/>
                  </a:solidFill>
                </a:rPr>
                <a:t>Défragmentation hors connexion</a:t>
              </a:r>
              <a:endParaRPr lang="fr-FR" sz="2800" kern="1200" dirty="0">
                <a:solidFill>
                  <a:schemeClr val="tx1"/>
                </a:solidFill>
              </a:endParaRPr>
            </a:p>
          </p:txBody>
        </p:sp>
      </p:grpSp>
      <p:sp>
        <p:nvSpPr>
          <p:cNvPr id="28" name="Rectangle 27"/>
          <p:cNvSpPr/>
          <p:nvPr/>
        </p:nvSpPr>
        <p:spPr>
          <a:xfrm>
            <a:off x="355599" y="4434698"/>
            <a:ext cx="8280401" cy="189353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algn="l">
              <a:buFont typeface="Arial" pitchFamily="34" charset="0"/>
              <a:buChar char="•"/>
            </a:pPr>
            <a:r>
              <a:rPr lang="fr-FR" sz="2300" dirty="0" smtClean="0"/>
              <a:t>  Elle se </a:t>
            </a:r>
            <a:r>
              <a:rPr lang="fr-FR" sz="2300" dirty="0" smtClean="0"/>
              <a:t>produit automatiquement lors du processus de nettoyage de la </a:t>
            </a:r>
            <a:r>
              <a:rPr lang="fr-FR" sz="2300" dirty="0" smtClean="0"/>
              <a:t>mémoire</a:t>
            </a:r>
          </a:p>
          <a:p>
            <a:pPr algn="l">
              <a:buFont typeface="Arial" pitchFamily="34" charset="0"/>
              <a:buChar char="•"/>
            </a:pPr>
            <a:r>
              <a:rPr lang="fr-FR" sz="2300" dirty="0" smtClean="0"/>
              <a:t> </a:t>
            </a:r>
            <a:r>
              <a:rPr lang="fr-FR" sz="2300" dirty="0" smtClean="0"/>
              <a:t> Un </a:t>
            </a:r>
            <a:r>
              <a:rPr lang="fr-FR" sz="2300" dirty="0" smtClean="0"/>
              <a:t>processus s’exécute toutes les </a:t>
            </a:r>
            <a:r>
              <a:rPr lang="fr-FR" sz="2300" dirty="0" smtClean="0"/>
              <a:t>12h </a:t>
            </a:r>
            <a:r>
              <a:rPr lang="fr-FR" sz="2300" dirty="0" smtClean="0"/>
              <a:t>pour supprimer les objets obsolètes </a:t>
            </a:r>
            <a:r>
              <a:rPr lang="fr-FR" sz="2300" dirty="0" smtClean="0"/>
              <a:t>d’AD et  </a:t>
            </a:r>
            <a:r>
              <a:rPr lang="fr-FR" sz="2300" dirty="0" smtClean="0"/>
              <a:t>défragmenter  la  mémoire  utilisée  par  </a:t>
            </a:r>
            <a:r>
              <a:rPr lang="fr-FR" sz="2300" dirty="0" smtClean="0"/>
              <a:t>AD</a:t>
            </a:r>
          </a:p>
          <a:p>
            <a:pPr algn="l">
              <a:buFont typeface="Arial" pitchFamily="34" charset="0"/>
              <a:buChar char="•"/>
            </a:pPr>
            <a:endParaRPr lang="fr-FR" sz="2300" dirty="0"/>
          </a:p>
        </p:txBody>
      </p:sp>
      <p:grpSp>
        <p:nvGrpSpPr>
          <p:cNvPr id="29" name="Groupe 28"/>
          <p:cNvGrpSpPr/>
          <p:nvPr/>
        </p:nvGrpSpPr>
        <p:grpSpPr>
          <a:xfrm>
            <a:off x="578393" y="3599772"/>
            <a:ext cx="8318864" cy="812574"/>
            <a:chOff x="353422" y="1412619"/>
            <a:chExt cx="4947919" cy="915120"/>
          </a:xfrm>
        </p:grpSpPr>
        <p:sp>
          <p:nvSpPr>
            <p:cNvPr id="30" name="Rectangle à coins arrondis 29"/>
            <p:cNvSpPr/>
            <p:nvPr/>
          </p:nvSpPr>
          <p:spPr>
            <a:xfrm>
              <a:off x="353422" y="1412619"/>
              <a:ext cx="4947919" cy="91512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1" name="Rectangle 30"/>
            <p:cNvSpPr/>
            <p:nvPr/>
          </p:nvSpPr>
          <p:spPr>
            <a:xfrm>
              <a:off x="398094" y="1457291"/>
              <a:ext cx="4858575" cy="82577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7020" tIns="0" rIns="187020" bIns="0" numCol="1" spcCol="1270" anchor="ctr" anchorCtr="0">
              <a:noAutofit/>
            </a:bodyPr>
            <a:lstStyle/>
            <a:p>
              <a:pPr lvl="0" algn="l" defTabSz="1377950">
                <a:lnSpc>
                  <a:spcPct val="90000"/>
                </a:lnSpc>
                <a:spcBef>
                  <a:spcPct val="0"/>
                </a:spcBef>
                <a:spcAft>
                  <a:spcPct val="35000"/>
                </a:spcAft>
              </a:pPr>
              <a:r>
                <a:rPr lang="fr-FR" sz="2800" kern="1200" dirty="0" smtClean="0">
                  <a:solidFill>
                    <a:schemeClr val="tx1"/>
                  </a:solidFill>
                </a:rPr>
                <a:t>Défragmentation  en ligne</a:t>
              </a:r>
              <a:endParaRPr lang="fr-FR" sz="2800" kern="1200" dirty="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checkerboard(across)">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checkerboard(across)">
                                      <p:cBhvr>
                                        <p:cTn id="12" dur="500"/>
                                        <p:tgtEl>
                                          <p:spTgt spid="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6">
                                            <p:txEl>
                                              <p:pRg st="1" end="1"/>
                                            </p:txEl>
                                          </p:spTgt>
                                        </p:tgtEl>
                                        <p:attrNameLst>
                                          <p:attrName>style.visibility</p:attrName>
                                        </p:attrNameLst>
                                      </p:cBhvr>
                                      <p:to>
                                        <p:strVal val="visible"/>
                                      </p:to>
                                    </p:set>
                                    <p:animEffect transition="in" filter="checkerboard(across)">
                                      <p:cBhvr>
                                        <p:cTn id="17" dur="500"/>
                                        <p:tgtEl>
                                          <p:spTgt spid="2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checkerboard(across)">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8">
                                            <p:txEl>
                                              <p:pRg st="0" end="0"/>
                                            </p:txEl>
                                          </p:spTgt>
                                        </p:tgtEl>
                                        <p:attrNameLst>
                                          <p:attrName>style.visibility</p:attrName>
                                        </p:attrNameLst>
                                      </p:cBhvr>
                                      <p:to>
                                        <p:strVal val="visible"/>
                                      </p:to>
                                    </p:set>
                                    <p:animEffect transition="in" filter="checkerboard(across)">
                                      <p:cBhvr>
                                        <p:cTn id="27" dur="500"/>
                                        <p:tgtEl>
                                          <p:spTgt spid="2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8">
                                            <p:txEl>
                                              <p:pRg st="1" end="1"/>
                                            </p:txEl>
                                          </p:spTgt>
                                        </p:tgtEl>
                                        <p:attrNameLst>
                                          <p:attrName>style.visibility</p:attrName>
                                        </p:attrNameLst>
                                      </p:cBhvr>
                                      <p:to>
                                        <p:strVal val="visible"/>
                                      </p:to>
                                    </p:set>
                                    <p:animEffect transition="in" filter="checkerboard(across)">
                                      <p:cBhvr>
                                        <p:cTn id="32"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1752" y="330198"/>
            <a:ext cx="8534400" cy="758952"/>
          </a:xfrm>
        </p:spPr>
        <p:txBody>
          <a:bodyPr vert="horz" anchor="b">
            <a:normAutofit fontScale="90000"/>
          </a:bodyPr>
          <a:lstStyle/>
          <a:p>
            <a:r>
              <a:rPr lang="fr-FR" b="1" dirty="0" smtClean="0">
                <a:solidFill>
                  <a:srgbClr val="C00000"/>
                </a:solidFill>
              </a:rPr>
              <a:t>Comment défragmenter une base de données Active Directory</a:t>
            </a:r>
          </a:p>
        </p:txBody>
      </p:sp>
      <p:sp>
        <p:nvSpPr>
          <p:cNvPr id="3" name="Espace réservé du contenu 2"/>
          <p:cNvSpPr>
            <a:spLocks noGrp="1"/>
          </p:cNvSpPr>
          <p:nvPr>
            <p:ph sz="quarter" idx="1"/>
          </p:nvPr>
        </p:nvSpPr>
        <p:spPr/>
        <p:txBody>
          <a:bodyPr>
            <a:normAutofit/>
          </a:bodyPr>
          <a:lstStyle/>
          <a:p>
            <a:pPr marL="514350" indent="-514350">
              <a:buClr>
                <a:schemeClr val="tx1"/>
              </a:buClr>
              <a:buFont typeface="+mj-lt"/>
              <a:buAutoNum type="arabicPeriod"/>
            </a:pPr>
            <a:r>
              <a:rPr lang="fr-FR" dirty="0" smtClean="0"/>
              <a:t>Sauvegardez les données d’état système.</a:t>
            </a:r>
          </a:p>
          <a:p>
            <a:pPr marL="514350" indent="-514350">
              <a:buClr>
                <a:schemeClr val="tx1"/>
              </a:buClr>
              <a:buFont typeface="+mj-lt"/>
              <a:buAutoNum type="arabicPeriod"/>
            </a:pPr>
            <a:r>
              <a:rPr lang="fr-FR" dirty="0" smtClean="0"/>
              <a:t>Redémarrez </a:t>
            </a:r>
            <a:r>
              <a:rPr lang="fr-FR" dirty="0" smtClean="0"/>
              <a:t>le contrôleur de domaine, appuyez sur F8 pour afficher le </a:t>
            </a:r>
            <a:r>
              <a:rPr lang="fr-FR" dirty="0" smtClean="0"/>
              <a:t>menu </a:t>
            </a:r>
            <a:r>
              <a:rPr lang="fr-FR" b="1" dirty="0" err="1" smtClean="0"/>
              <a:t>Menu</a:t>
            </a:r>
            <a:r>
              <a:rPr lang="fr-FR" b="1" dirty="0" smtClean="0"/>
              <a:t> </a:t>
            </a:r>
            <a:r>
              <a:rPr lang="fr-FR" b="1" dirty="0" smtClean="0"/>
              <a:t>d’options avancées de Windows, sélectionnez Mode </a:t>
            </a:r>
            <a:r>
              <a:rPr lang="fr-FR" b="1" dirty="0" smtClean="0"/>
              <a:t>restauration Active </a:t>
            </a:r>
            <a:r>
              <a:rPr lang="fr-FR" b="1" dirty="0" smtClean="0"/>
              <a:t>Directory, </a:t>
            </a:r>
            <a:r>
              <a:rPr lang="fr-FR" dirty="0" smtClean="0"/>
              <a:t>puis appuyez sur ENTRÉE</a:t>
            </a:r>
            <a:r>
              <a:rPr lang="fr-FR" b="1" dirty="0" smtClean="0"/>
              <a:t>.</a:t>
            </a:r>
          </a:p>
          <a:p>
            <a:pPr marL="514350" indent="-514350">
              <a:buClr>
                <a:schemeClr val="tx1"/>
              </a:buClr>
              <a:buFont typeface="+mj-lt"/>
              <a:buAutoNum type="arabicPeriod"/>
            </a:pPr>
            <a:r>
              <a:rPr lang="fr-FR" dirty="0" smtClean="0"/>
              <a:t>Ouvrez </a:t>
            </a:r>
            <a:r>
              <a:rPr lang="fr-FR" dirty="0" smtClean="0"/>
              <a:t>une session en utilisant le </a:t>
            </a:r>
            <a:r>
              <a:rPr lang="fr-FR" dirty="0" smtClean="0"/>
              <a:t>compte Administrateur local </a:t>
            </a:r>
          </a:p>
          <a:p>
            <a:pPr marL="514350" indent="-514350">
              <a:buClr>
                <a:schemeClr val="tx1"/>
              </a:buClr>
              <a:buFont typeface="+mj-lt"/>
              <a:buAutoNum type="arabicPeriod"/>
            </a:pPr>
            <a:r>
              <a:rPr lang="fr-FR" dirty="0" smtClean="0"/>
              <a:t>Utilisez l’outil </a:t>
            </a:r>
            <a:r>
              <a:rPr lang="fr-FR" b="1" dirty="0" err="1" smtClean="0"/>
              <a:t>ntdsutil</a:t>
            </a:r>
            <a:endParaRPr lang="fr-F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Déplacement la BD AD</a:t>
            </a:r>
            <a:endParaRPr lang="fr-FR" b="1" dirty="0">
              <a:solidFill>
                <a:srgbClr val="C00000"/>
              </a:solidFill>
            </a:endParaRPr>
          </a:p>
        </p:txBody>
      </p:sp>
      <p:sp>
        <p:nvSpPr>
          <p:cNvPr id="3" name="Espace réservé du contenu 2"/>
          <p:cNvSpPr>
            <a:spLocks noGrp="1"/>
          </p:cNvSpPr>
          <p:nvPr>
            <p:ph sz="quarter" idx="1"/>
          </p:nvPr>
        </p:nvSpPr>
        <p:spPr>
          <a:xfrm>
            <a:off x="203199" y="1527047"/>
            <a:ext cx="8766629" cy="4844723"/>
          </a:xfrm>
        </p:spPr>
        <p:txBody>
          <a:bodyPr>
            <a:normAutofit fontScale="92500" lnSpcReduction="20000"/>
          </a:bodyPr>
          <a:lstStyle/>
          <a:p>
            <a:pPr>
              <a:buClrTx/>
              <a:buFont typeface="Wingdings" pitchFamily="2" charset="2"/>
              <a:buChar char="q"/>
            </a:pPr>
            <a:r>
              <a:rPr lang="fr-FR" dirty="0" smtClean="0"/>
              <a:t>Vous déplacez une base de données vers un nouvel emplacement lorsque vous défragmentez cette dernière. </a:t>
            </a:r>
          </a:p>
          <a:p>
            <a:pPr>
              <a:buClrTx/>
              <a:buFont typeface="Wingdings" pitchFamily="2" charset="2"/>
              <a:buChar char="q"/>
            </a:pPr>
            <a:r>
              <a:rPr lang="fr-FR" dirty="0" smtClean="0"/>
              <a:t>Déplacer la base de données ne supprimera pas la base de données originale. </a:t>
            </a:r>
          </a:p>
          <a:p>
            <a:pPr>
              <a:buClrTx/>
              <a:buFont typeface="Wingdings" pitchFamily="2" charset="2"/>
              <a:buChar char="q"/>
            </a:pPr>
            <a:r>
              <a:rPr lang="fr-FR" dirty="0" smtClean="0"/>
              <a:t>Vous pouvez utiliser la base de données originale si la base de données défragmentée ne fonctionne pas ou est corrompue. </a:t>
            </a:r>
          </a:p>
          <a:p>
            <a:pPr>
              <a:buClrTx/>
              <a:buFont typeface="Wingdings" pitchFamily="2" charset="2"/>
              <a:buChar char="q"/>
            </a:pPr>
            <a:r>
              <a:rPr lang="fr-FR" dirty="0" smtClean="0"/>
              <a:t>Si votre espace disque est limité, vous pouvez ajouter un autre disque dur pour y placer la base de données.</a:t>
            </a:r>
          </a:p>
          <a:p>
            <a:pPr>
              <a:buClrTx/>
              <a:buFont typeface="Wingdings" pitchFamily="2" charset="2"/>
              <a:buChar char="q"/>
            </a:pPr>
            <a:r>
              <a:rPr lang="fr-FR" dirty="0" smtClean="0"/>
              <a:t>Si le disque de stockage des fichiers doit être mis à niveau ou doit subir une opération de maintenance, vous pouvez déplacer les fichiers vers un autre emplacement de façon temporaire ou permanente.</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600" b="1" dirty="0" smtClean="0">
                <a:solidFill>
                  <a:srgbClr val="C00000"/>
                </a:solidFill>
              </a:rPr>
              <a:t>Comment déplacer la base de données Active Directory et les fichiers journaux</a:t>
            </a:r>
            <a:endParaRPr lang="fr-FR" sz="2600" b="1" dirty="0">
              <a:solidFill>
                <a:srgbClr val="C00000"/>
              </a:solidFill>
            </a:endParaRPr>
          </a:p>
        </p:txBody>
      </p:sp>
      <p:sp>
        <p:nvSpPr>
          <p:cNvPr id="3" name="Espace réservé du contenu 2"/>
          <p:cNvSpPr>
            <a:spLocks noGrp="1"/>
          </p:cNvSpPr>
          <p:nvPr>
            <p:ph sz="quarter" idx="1"/>
          </p:nvPr>
        </p:nvSpPr>
        <p:spPr>
          <a:xfrm>
            <a:off x="174171" y="1407886"/>
            <a:ext cx="8631501" cy="4691162"/>
          </a:xfrm>
        </p:spPr>
        <p:txBody>
          <a:bodyPr>
            <a:normAutofit fontScale="92500" lnSpcReduction="20000"/>
          </a:bodyPr>
          <a:lstStyle/>
          <a:p>
            <a:r>
              <a:rPr lang="fr-FR" sz="3100" dirty="0" smtClean="0"/>
              <a:t>Vous devez toujours utiliser l’outil </a:t>
            </a:r>
            <a:r>
              <a:rPr lang="fr-FR" sz="3100" b="1" dirty="0" err="1" smtClean="0"/>
              <a:t>Ntdsutil</a:t>
            </a:r>
            <a:r>
              <a:rPr lang="fr-FR" sz="3100" dirty="0" smtClean="0"/>
              <a:t> en Mode restauration AD pour déplacer la BD d’un emplacement vers un autre emplacement sur un </a:t>
            </a:r>
            <a:r>
              <a:rPr lang="fr-FR" sz="3100" dirty="0" smtClean="0"/>
              <a:t>disque</a:t>
            </a:r>
            <a:endParaRPr lang="fr-FR" sz="3100" dirty="0" smtClean="0"/>
          </a:p>
          <a:p>
            <a:r>
              <a:rPr lang="fr-FR" sz="3100" dirty="0" smtClean="0"/>
              <a:t>Exécutez les étapes suivantes :</a:t>
            </a:r>
          </a:p>
          <a:p>
            <a:pPr marL="1051560" lvl="2" indent="-457200">
              <a:buClr>
                <a:srgbClr val="C00000"/>
              </a:buClr>
              <a:buFont typeface="+mj-lt"/>
              <a:buAutoNum type="arabicPeriod"/>
            </a:pPr>
            <a:r>
              <a:rPr lang="fr-FR" sz="2900" dirty="0" smtClean="0"/>
              <a:t>Sauvegardez Active Directory.</a:t>
            </a:r>
          </a:p>
          <a:p>
            <a:pPr marL="1051560" lvl="2" indent="-457200">
              <a:buClr>
                <a:srgbClr val="C00000"/>
              </a:buClr>
              <a:buFont typeface="+mj-lt"/>
              <a:buAutoNum type="arabicPeriod"/>
            </a:pPr>
            <a:r>
              <a:rPr lang="fr-FR" sz="2900" dirty="0" smtClean="0"/>
              <a:t>Redémarrez le contrôleur de domaine</a:t>
            </a:r>
          </a:p>
          <a:p>
            <a:pPr marL="1051560" lvl="2" indent="-457200">
              <a:buClr>
                <a:srgbClr val="C00000"/>
              </a:buClr>
              <a:buFont typeface="+mj-lt"/>
              <a:buAutoNum type="arabicPeriod"/>
            </a:pPr>
            <a:r>
              <a:rPr lang="fr-FR" sz="2900" dirty="0" smtClean="0"/>
              <a:t>Appuyez sur F8 pour </a:t>
            </a:r>
            <a:r>
              <a:rPr lang="fr-FR" sz="2900" b="1" dirty="0" smtClean="0"/>
              <a:t>sélectionnez le Mode restauration</a:t>
            </a:r>
          </a:p>
          <a:p>
            <a:pPr marL="1051560" lvl="2" indent="-457200">
              <a:buClr>
                <a:srgbClr val="C00000"/>
              </a:buClr>
              <a:buFont typeface="+mj-lt"/>
              <a:buAutoNum type="arabicPeriod"/>
            </a:pPr>
            <a:r>
              <a:rPr lang="fr-FR" sz="2900" dirty="0" smtClean="0"/>
              <a:t>Ouvrez une session en utilisant le compte d’administrateur local</a:t>
            </a:r>
          </a:p>
          <a:p>
            <a:pPr marL="1051560" lvl="2" indent="-457200">
              <a:buClr>
                <a:srgbClr val="C00000"/>
              </a:buClr>
              <a:buFont typeface="+mj-lt"/>
              <a:buAutoNum type="arabicPeriod"/>
            </a:pPr>
            <a:r>
              <a:rPr lang="fr-FR" sz="2900" dirty="0" smtClean="0"/>
              <a:t>Lancez l’outil en ligne de commande </a:t>
            </a:r>
            <a:r>
              <a:rPr lang="fr-FR" sz="2900" b="1" dirty="0" err="1" smtClean="0"/>
              <a:t>ntdsutil</a:t>
            </a:r>
            <a:endParaRPr lang="fr-FR" sz="29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smtClean="0">
                <a:solidFill>
                  <a:srgbClr val="000000"/>
                </a:solidFill>
              </a:rPr>
              <a:t>2.  Sauvegarde </a:t>
            </a:r>
            <a:r>
              <a:rPr lang="fr-FR" dirty="0" smtClean="0">
                <a:solidFill>
                  <a:srgbClr val="000000"/>
                </a:solidFill>
              </a:rPr>
              <a:t>d'Active </a:t>
            </a:r>
            <a:r>
              <a:rPr lang="fr-FR" dirty="0" smtClean="0">
                <a:solidFill>
                  <a:srgbClr val="000000"/>
                </a:solidFill>
              </a:rPr>
              <a:t>Directory</a:t>
            </a:r>
            <a:endParaRPr lang="fr-FR" dirty="0"/>
          </a:p>
        </p:txBody>
      </p:sp>
      <p:sp>
        <p:nvSpPr>
          <p:cNvPr id="3" name="Espace réservé du contenu 2"/>
          <p:cNvSpPr>
            <a:spLocks noGrp="1"/>
          </p:cNvSpPr>
          <p:nvPr>
            <p:ph sz="quarter" idx="1"/>
          </p:nvPr>
        </p:nvSpPr>
        <p:spPr/>
        <p:txBody>
          <a:bodyPr/>
          <a:lstStyle/>
          <a:p>
            <a:r>
              <a:rPr lang="fr-FR" sz="2800" b="1" dirty="0" smtClean="0">
                <a:solidFill>
                  <a:srgbClr val="C00000"/>
                </a:solidFill>
              </a:rPr>
              <a:t>Base de données Active Directory et fichiers </a:t>
            </a:r>
            <a:r>
              <a:rPr lang="fr-FR" sz="2800" b="1" dirty="0" smtClean="0">
                <a:solidFill>
                  <a:srgbClr val="C00000"/>
                </a:solidFill>
              </a:rPr>
              <a:t>journaux</a:t>
            </a:r>
          </a:p>
          <a:p>
            <a:r>
              <a:rPr lang="fr-FR" sz="2800" b="1" dirty="0" smtClean="0">
                <a:solidFill>
                  <a:srgbClr val="C00000"/>
                </a:solidFill>
              </a:rPr>
              <a:t>Composants des données d'état </a:t>
            </a:r>
            <a:r>
              <a:rPr lang="fr-FR" sz="2800" b="1" dirty="0" smtClean="0">
                <a:solidFill>
                  <a:srgbClr val="C00000"/>
                </a:solidFill>
              </a:rPr>
              <a:t>système</a:t>
            </a:r>
          </a:p>
          <a:p>
            <a:r>
              <a:rPr lang="fr-FR" sz="2800" b="1" dirty="0" smtClean="0">
                <a:solidFill>
                  <a:srgbClr val="C00000"/>
                </a:solidFill>
              </a:rPr>
              <a:t>Sauvegarde d'Active Directory</a:t>
            </a:r>
            <a:endParaRPr lang="fr-FR" sz="2800" b="1" dirty="0" smtClean="0">
              <a:solidFill>
                <a:srgbClr val="C00000"/>
              </a:solidFill>
            </a:endParaRPr>
          </a:p>
          <a:p>
            <a:endParaRPr lang="fr-FR" sz="2800" b="1" dirty="0" smtClean="0">
              <a:solidFill>
                <a:srgbClr val="C00000"/>
              </a:solidFill>
            </a:endParaRPr>
          </a:p>
          <a:p>
            <a:endParaRPr lang="fr-F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4497" name="Group 257"/>
          <p:cNvGraphicFramePr>
            <a:graphicFrameLocks noGrp="1"/>
          </p:cNvGraphicFramePr>
          <p:nvPr/>
        </p:nvGraphicFramePr>
        <p:xfrm>
          <a:off x="174171" y="1255713"/>
          <a:ext cx="8795658" cy="5420858"/>
        </p:xfrm>
        <a:graphic>
          <a:graphicData uri="http://schemas.openxmlformats.org/drawingml/2006/table">
            <a:tbl>
              <a:tblPr/>
              <a:tblGrid>
                <a:gridCol w="1931490"/>
                <a:gridCol w="6864168"/>
              </a:tblGrid>
              <a:tr h="514537">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sz="2400" b="1" i="0" u="none" strike="noStrike" cap="none" normalizeH="0" baseline="0" dirty="0" smtClean="0">
                          <a:ln>
                            <a:noFill/>
                          </a:ln>
                          <a:solidFill>
                            <a:srgbClr val="000000"/>
                          </a:solidFill>
                          <a:effectLst/>
                          <a:latin typeface="Arial Narrow" pitchFamily="34" charset="0"/>
                        </a:rPr>
                        <a:t>Fichier</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sz="2400" b="1" i="0" u="none" strike="noStrike" cap="none" normalizeH="0" baseline="0" smtClean="0">
                          <a:ln>
                            <a:noFill/>
                          </a:ln>
                          <a:solidFill>
                            <a:srgbClr val="000000"/>
                          </a:solidFill>
                          <a:effectLst/>
                          <a:latin typeface="Arial Narrow" pitchFamily="34" charset="0"/>
                        </a:rPr>
                        <a:t>Description</a:t>
                      </a:r>
                      <a:endParaRPr kumimoji="0" lang="en-US" sz="24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r>
              <a:tr h="1577912">
                <a:tc>
                  <a:txBody>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fr-FR" sz="2200" b="1" i="0" u="none" strike="noStrike" cap="none" normalizeH="0" baseline="0" dirty="0" smtClean="0">
                          <a:ln>
                            <a:noFill/>
                          </a:ln>
                          <a:solidFill>
                            <a:srgbClr val="000000"/>
                          </a:solidFill>
                          <a:effectLst/>
                          <a:latin typeface="Arial Narrow" pitchFamily="34" charset="0"/>
                        </a:rPr>
                        <a:t>Ntds.dit</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95000"/>
                        </a:lnSpc>
                        <a:spcBef>
                          <a:spcPct val="25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Fichier de la base de données Active Directory</a:t>
                      </a:r>
                      <a:endParaRPr kumimoji="0" lang="en-US" sz="2200" b="0" i="0" u="none" strike="noStrike" cap="none" normalizeH="0" baseline="0" dirty="0" smtClean="0">
                        <a:ln>
                          <a:noFill/>
                        </a:ln>
                        <a:solidFill>
                          <a:schemeClr val="tx1"/>
                        </a:solidFill>
                        <a:effectLst/>
                        <a:latin typeface="Arial Narrow" pitchFamily="34" charset="0"/>
                      </a:endParaRPr>
                    </a:p>
                    <a:p>
                      <a:pPr marL="225425" marR="0" lvl="0" indent="-225425" algn="l" defTabSz="914400" rtl="0" eaLnBrk="0" fontAlgn="base" latinLnBrk="0" hangingPunct="0">
                        <a:lnSpc>
                          <a:spcPct val="95000"/>
                        </a:lnSpc>
                        <a:spcBef>
                          <a:spcPct val="25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Conserve tous les objets Active Directory dans le contrôleur de domaine</a:t>
                      </a:r>
                      <a:endParaRPr kumimoji="0" lang="en-US" sz="2200" b="0" i="0" u="none" strike="noStrike" cap="none" normalizeH="0" baseline="0" dirty="0" smtClean="0">
                        <a:ln>
                          <a:noFill/>
                        </a:ln>
                        <a:solidFill>
                          <a:schemeClr val="tx1"/>
                        </a:solidFill>
                        <a:effectLst/>
                        <a:latin typeface="Arial Narrow" pitchFamily="34" charset="0"/>
                      </a:endParaRPr>
                    </a:p>
                    <a:p>
                      <a:pPr marL="225425" marR="0" lvl="0" indent="-225425" algn="l" defTabSz="914400" rtl="0" eaLnBrk="0" fontAlgn="base" latinLnBrk="0" hangingPunct="0">
                        <a:lnSpc>
                          <a:spcPct val="95000"/>
                        </a:lnSpc>
                        <a:spcBef>
                          <a:spcPct val="25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Utilise le dossier </a:t>
                      </a:r>
                      <a:r>
                        <a:rPr kumimoji="0" lang="fr-FR" sz="2200" b="0" i="0" u="none" strike="noStrike" cap="none" normalizeH="0" baseline="0" dirty="0" err="1" smtClean="0">
                          <a:ln>
                            <a:noFill/>
                          </a:ln>
                          <a:solidFill>
                            <a:srgbClr val="000000"/>
                          </a:solidFill>
                          <a:effectLst/>
                          <a:latin typeface="Arial Narrow" pitchFamily="34" charset="0"/>
                        </a:rPr>
                        <a:t>systemroot</a:t>
                      </a:r>
                      <a:r>
                        <a:rPr kumimoji="0" lang="fr-FR" sz="2200" b="0" i="0" u="none" strike="noStrike" cap="none" normalizeH="0" baseline="0" dirty="0" smtClean="0">
                          <a:ln>
                            <a:noFill/>
                          </a:ln>
                          <a:solidFill>
                            <a:srgbClr val="000000"/>
                          </a:solidFill>
                          <a:effectLst/>
                          <a:latin typeface="Arial Narrow" pitchFamily="34" charset="0"/>
                        </a:rPr>
                        <a:t>\NTDS d'emplacement par défaut</a:t>
                      </a:r>
                      <a:endParaRPr kumimoji="0" lang="en-US" sz="2200" b="0" i="0" u="none" strike="noStrike" cap="none" normalizeH="0" baseline="0" dirty="0" smtClean="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1005848">
                <a:tc>
                  <a:txBody>
                    <a:bodyPr/>
                    <a:lstStyle/>
                    <a:p>
                      <a:pPr marL="0" marR="0" lvl="0" indent="0" algn="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sz="2200" b="1" i="0" u="none" strike="noStrike" cap="none" normalizeH="0" baseline="0" smtClean="0">
                          <a:ln>
                            <a:noFill/>
                          </a:ln>
                          <a:solidFill>
                            <a:srgbClr val="000000"/>
                          </a:solidFill>
                          <a:effectLst/>
                          <a:latin typeface="Arial Narrow" pitchFamily="34" charset="0"/>
                        </a:rPr>
                        <a:t>Edb*.log</a:t>
                      </a:r>
                      <a:endParaRPr kumimoji="0" lang="en-US" sz="22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95000"/>
                        </a:lnSpc>
                        <a:spcBef>
                          <a:spcPct val="25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Fichier journal des transactions</a:t>
                      </a:r>
                      <a:endParaRPr kumimoji="0" lang="en-US" sz="2200" b="0" i="0" u="none" strike="noStrike" cap="none" normalizeH="0" baseline="0" dirty="0" smtClean="0">
                        <a:ln>
                          <a:noFill/>
                        </a:ln>
                        <a:solidFill>
                          <a:schemeClr val="tx1"/>
                        </a:solidFill>
                        <a:effectLst/>
                        <a:latin typeface="Arial Narrow" pitchFamily="34" charset="0"/>
                      </a:endParaRPr>
                    </a:p>
                    <a:p>
                      <a:pPr marL="225425" marR="0" lvl="0" indent="-225425" algn="l" defTabSz="914400" rtl="0" eaLnBrk="0" fontAlgn="base" latinLnBrk="0" hangingPunct="0">
                        <a:lnSpc>
                          <a:spcPct val="95000"/>
                        </a:lnSpc>
                        <a:spcBef>
                          <a:spcPct val="25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Utilise le fichier journal des transactions par défaut Edb.log</a:t>
                      </a:r>
                      <a:endParaRPr kumimoji="0" lang="en-US" sz="2200" b="0" i="0" u="none" strike="noStrike" cap="none" normalizeH="0" baseline="0" dirty="0" smtClean="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1325646">
                <a:tc>
                  <a:txBody>
                    <a:bodyPr/>
                    <a:lstStyle/>
                    <a:p>
                      <a:pPr marL="0" marR="0" lvl="0" indent="0" algn="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sz="2200" b="1" i="0" u="none" strike="noStrike" cap="none" normalizeH="0" baseline="0" dirty="0" smtClean="0">
                          <a:ln>
                            <a:noFill/>
                          </a:ln>
                          <a:solidFill>
                            <a:srgbClr val="000000"/>
                          </a:solidFill>
                          <a:effectLst/>
                          <a:latin typeface="Arial Narrow" pitchFamily="34" charset="0"/>
                        </a:rPr>
                        <a:t>Edb.chk</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95000"/>
                        </a:lnSpc>
                        <a:spcBef>
                          <a:spcPct val="25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Fichier de points de vérification</a:t>
                      </a:r>
                      <a:endParaRPr kumimoji="0" lang="en-US" sz="2200" b="0" i="0" u="none" strike="noStrike" cap="none" normalizeH="0" baseline="0" dirty="0" smtClean="0">
                        <a:ln>
                          <a:noFill/>
                        </a:ln>
                        <a:solidFill>
                          <a:schemeClr val="tx1"/>
                        </a:solidFill>
                        <a:effectLst/>
                        <a:latin typeface="Arial Narrow" pitchFamily="34" charset="0"/>
                      </a:endParaRPr>
                    </a:p>
                    <a:p>
                      <a:pPr marL="225425" marR="0" lvl="0" indent="-225425" algn="l" defTabSz="914400" rtl="0" eaLnBrk="0" fontAlgn="base" latinLnBrk="0" hangingPunct="0">
                        <a:lnSpc>
                          <a:spcPct val="95000"/>
                        </a:lnSpc>
                        <a:spcBef>
                          <a:spcPct val="25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Garde une trace des données non inscrites dans le fichier de base de données Active Directory</a:t>
                      </a:r>
                      <a:endParaRPr kumimoji="0" lang="en-US" sz="2200" b="0" i="0" u="none" strike="noStrike" cap="none" normalizeH="0" baseline="0" dirty="0" smtClean="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996915">
                <a:tc>
                  <a:txBody>
                    <a:bodyPr/>
                    <a:lstStyle/>
                    <a:p>
                      <a:pPr marL="0" marR="0" lvl="0" indent="0" algn="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sz="2200" b="1" i="0" u="none" strike="noStrike" cap="none" normalizeH="0" baseline="0" smtClean="0">
                          <a:ln>
                            <a:noFill/>
                          </a:ln>
                          <a:solidFill>
                            <a:srgbClr val="000000"/>
                          </a:solidFill>
                          <a:effectLst/>
                          <a:latin typeface="Arial Narrow" pitchFamily="34" charset="0"/>
                        </a:rPr>
                        <a:t>Res1.log</a:t>
                      </a:r>
                      <a:br>
                        <a:rPr kumimoji="0" lang="fr-FR" sz="2200" b="1" i="0" u="none" strike="noStrike" cap="none" normalizeH="0" baseline="0" smtClean="0">
                          <a:ln>
                            <a:noFill/>
                          </a:ln>
                          <a:solidFill>
                            <a:srgbClr val="000000"/>
                          </a:solidFill>
                          <a:effectLst/>
                          <a:latin typeface="Arial Narrow" pitchFamily="34" charset="0"/>
                        </a:rPr>
                      </a:br>
                      <a:r>
                        <a:rPr kumimoji="0" lang="fr-FR" sz="2200" b="1" i="0" u="none" strike="noStrike" cap="none" normalizeH="0" baseline="0" smtClean="0">
                          <a:ln>
                            <a:noFill/>
                          </a:ln>
                          <a:solidFill>
                            <a:srgbClr val="000000"/>
                          </a:solidFill>
                          <a:effectLst/>
                          <a:latin typeface="Arial Narrow" pitchFamily="34" charset="0"/>
                        </a:rPr>
                        <a:t> Res2.log</a:t>
                      </a:r>
                      <a:endParaRPr kumimoji="0" lang="en-US" sz="22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95000"/>
                        </a:lnSpc>
                        <a:spcBef>
                          <a:spcPct val="25000"/>
                        </a:spcBef>
                        <a:spcAft>
                          <a:spcPct val="0"/>
                        </a:spcAft>
                        <a:buClrTx/>
                        <a:buSzPct val="70000"/>
                        <a:buFontTx/>
                        <a:buBlip>
                          <a:blip r:embed="rId3"/>
                        </a:buBlip>
                        <a:tabLst/>
                      </a:pPr>
                      <a:r>
                        <a:rPr kumimoji="0" lang="fr-FR" sz="2200" b="0" i="0" u="none" strike="noStrike" cap="none" normalizeH="0" baseline="0" dirty="0" smtClean="0">
                          <a:ln>
                            <a:noFill/>
                          </a:ln>
                          <a:solidFill>
                            <a:srgbClr val="000000"/>
                          </a:solidFill>
                          <a:effectLst/>
                          <a:latin typeface="Arial Narrow" pitchFamily="34" charset="0"/>
                        </a:rPr>
                        <a:t>Fichiers journaux réservés de transactions</a:t>
                      </a:r>
                      <a:endParaRPr kumimoji="0" lang="en-US" sz="22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sp>
        <p:nvSpPr>
          <p:cNvPr id="394242" name="Rectangle 2"/>
          <p:cNvSpPr>
            <a:spLocks noGrp="1" noChangeArrowheads="1"/>
          </p:cNvSpPr>
          <p:nvPr>
            <p:ph type="title" sz="quarter"/>
          </p:nvPr>
        </p:nvSpPr>
        <p:spPr>
          <a:xfrm>
            <a:off x="199571" y="251960"/>
            <a:ext cx="8712199" cy="684212"/>
          </a:xfrm>
        </p:spPr>
        <p:txBody>
          <a:bodyPr>
            <a:normAutofit fontScale="90000"/>
          </a:bodyPr>
          <a:lstStyle/>
          <a:p>
            <a:r>
              <a:rPr lang="fr-FR" sz="2600" b="1" dirty="0">
                <a:solidFill>
                  <a:srgbClr val="C00000"/>
                </a:solidFill>
              </a:rPr>
              <a:t>Base de données Active Directory et fichiers journaux</a:t>
            </a:r>
            <a:endParaRPr lang="en-US" sz="2600" b="1" dirty="0">
              <a:solidFill>
                <a:srgbClr val="C00000"/>
              </a:solidFill>
            </a:endParaRPr>
          </a:p>
        </p:txBody>
      </p:sp>
      <p:pic>
        <p:nvPicPr>
          <p:cNvPr id="394430" name="Picture 190" descr="Document_CheckList02"/>
          <p:cNvPicPr>
            <a:picLocks noGrp="1" noChangeAspect="1" noChangeArrowheads="1"/>
          </p:cNvPicPr>
          <p:nvPr>
            <p:ph sz="quarter" idx="1"/>
          </p:nvPr>
        </p:nvPicPr>
        <p:blipFill>
          <a:blip r:embed="rId4" cstate="print"/>
          <a:srcRect/>
          <a:stretch>
            <a:fillRect/>
          </a:stretch>
        </p:blipFill>
        <p:spPr>
          <a:xfrm>
            <a:off x="415478" y="4697403"/>
            <a:ext cx="474663" cy="768350"/>
          </a:xfrm>
          <a:noFill/>
          <a:ln/>
        </p:spPr>
      </p:pic>
      <p:pic>
        <p:nvPicPr>
          <p:cNvPr id="394432" name="Picture 192" descr="Document_BoxesWriting01"/>
          <p:cNvPicPr>
            <a:picLocks noGrp="1" noChangeAspect="1" noChangeArrowheads="1"/>
          </p:cNvPicPr>
          <p:nvPr>
            <p:ph sz="quarter" idx="2"/>
          </p:nvPr>
        </p:nvPicPr>
        <p:blipFill>
          <a:blip r:embed="rId5" cstate="print"/>
          <a:srcRect/>
          <a:stretch>
            <a:fillRect/>
          </a:stretch>
        </p:blipFill>
        <p:spPr>
          <a:xfrm>
            <a:off x="415478" y="3468908"/>
            <a:ext cx="477838" cy="779463"/>
          </a:xfrm>
          <a:noFill/>
          <a:ln/>
        </p:spPr>
      </p:pic>
      <p:pic>
        <p:nvPicPr>
          <p:cNvPr id="394434" name="Picture 194" descr="Document_WritingB01"/>
          <p:cNvPicPr>
            <a:picLocks noGrp="1" noChangeAspect="1" noChangeArrowheads="1"/>
          </p:cNvPicPr>
          <p:nvPr>
            <p:ph sz="quarter" idx="3"/>
          </p:nvPr>
        </p:nvPicPr>
        <p:blipFill>
          <a:blip r:embed="rId6" cstate="print"/>
          <a:srcRect/>
          <a:stretch>
            <a:fillRect/>
          </a:stretch>
        </p:blipFill>
        <p:spPr>
          <a:xfrm>
            <a:off x="415478" y="2161492"/>
            <a:ext cx="477838" cy="779462"/>
          </a:xfrm>
          <a:noFill/>
          <a:ln/>
        </p:spPr>
      </p:pic>
      <p:pic>
        <p:nvPicPr>
          <p:cNvPr id="394427" name="Picture 187" descr="Document_BoxesWriting01"/>
          <p:cNvPicPr>
            <a:picLocks noGrp="1" noChangeAspect="1" noChangeArrowheads="1"/>
          </p:cNvPicPr>
          <p:nvPr>
            <p:ph sz="quarter" idx="4"/>
          </p:nvPr>
        </p:nvPicPr>
        <p:blipFill>
          <a:blip r:embed="rId5" cstate="print"/>
          <a:srcRect/>
          <a:stretch>
            <a:fillRect/>
          </a:stretch>
        </p:blipFill>
        <p:spPr>
          <a:xfrm>
            <a:off x="402778" y="5702290"/>
            <a:ext cx="477838" cy="779463"/>
          </a:xfrm>
          <a:noFill/>
          <a:ln/>
        </p:spPr>
      </p:pic>
      <p:pic>
        <p:nvPicPr>
          <p:cNvPr id="394450" name="Picture 210" descr="Document_BoxesWriting01"/>
          <p:cNvPicPr>
            <a:picLocks noChangeAspect="1" noChangeArrowheads="1"/>
          </p:cNvPicPr>
          <p:nvPr/>
        </p:nvPicPr>
        <p:blipFill>
          <a:blip r:embed="rId5" cstate="print"/>
          <a:srcRect/>
          <a:stretch>
            <a:fillRect/>
          </a:stretch>
        </p:blipFill>
        <p:spPr bwMode="auto">
          <a:xfrm>
            <a:off x="226788" y="5845626"/>
            <a:ext cx="477838" cy="7794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a:xfrm>
            <a:off x="174171" y="228600"/>
            <a:ext cx="8766629" cy="758952"/>
          </a:xfrm>
        </p:spPr>
        <p:txBody>
          <a:bodyPr>
            <a:normAutofit fontScale="90000"/>
          </a:bodyPr>
          <a:lstStyle/>
          <a:p>
            <a:r>
              <a:rPr lang="fr-FR" b="1" dirty="0">
                <a:solidFill>
                  <a:srgbClr val="C00000"/>
                </a:solidFill>
              </a:rPr>
              <a:t>Composants des données d'état système</a:t>
            </a:r>
            <a:endParaRPr lang="en-US" b="1" dirty="0">
              <a:solidFill>
                <a:srgbClr val="C00000"/>
              </a:solidFill>
            </a:endParaRPr>
          </a:p>
        </p:txBody>
      </p:sp>
      <p:sp>
        <p:nvSpPr>
          <p:cNvPr id="402466" name="AutoShape 34"/>
          <p:cNvSpPr>
            <a:spLocks noChangeArrowheads="1"/>
          </p:cNvSpPr>
          <p:nvPr/>
        </p:nvSpPr>
        <p:spPr bwMode="auto">
          <a:xfrm>
            <a:off x="366727" y="1630363"/>
            <a:ext cx="3228975" cy="4371975"/>
          </a:xfrm>
          <a:prstGeom prst="roundRect">
            <a:avLst>
              <a:gd name="adj" fmla="val 2931"/>
            </a:avLst>
          </a:prstGeom>
          <a:gradFill rotWithShape="1">
            <a:gsLst>
              <a:gs pos="0">
                <a:srgbClr val="F0F1FF"/>
              </a:gs>
              <a:gs pos="100000">
                <a:srgbClr val="B3C8DF"/>
              </a:gs>
            </a:gsLst>
            <a:lin ang="5400000" scaled="1"/>
          </a:gradFill>
          <a:ln w="9525" algn="ctr">
            <a:noFill/>
            <a:round/>
            <a:headEnd/>
            <a:tailEnd/>
          </a:ln>
          <a:effectLst/>
        </p:spPr>
        <p:txBody>
          <a:bodyPr wrap="none" anchor="ctr"/>
          <a:lstStyle/>
          <a:p>
            <a:endParaRPr lang="fr-FR"/>
          </a:p>
        </p:txBody>
      </p:sp>
      <p:sp>
        <p:nvSpPr>
          <p:cNvPr id="402435" name="AutoShape 3"/>
          <p:cNvSpPr>
            <a:spLocks noChangeArrowheads="1"/>
          </p:cNvSpPr>
          <p:nvPr/>
        </p:nvSpPr>
        <p:spPr bwMode="auto">
          <a:xfrm>
            <a:off x="3860800" y="1603375"/>
            <a:ext cx="5109029" cy="3233738"/>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algn="l">
              <a:lnSpc>
                <a:spcPct val="90000"/>
              </a:lnSpc>
              <a:spcBef>
                <a:spcPct val="40000"/>
              </a:spcBef>
              <a:buClr>
                <a:srgbClr val="8DACD0"/>
              </a:buClr>
              <a:buSzPct val="70000"/>
              <a:buFont typeface="Wingdings" pitchFamily="2" charset="2"/>
              <a:buNone/>
            </a:pPr>
            <a:r>
              <a:rPr lang="fr-FR" sz="2400" dirty="0">
                <a:solidFill>
                  <a:srgbClr val="000000"/>
                </a:solidFill>
              </a:rPr>
              <a:t>Vous pouvez sauvegarder les données d'état système :</a:t>
            </a:r>
            <a:endParaRPr lang="en-US" sz="2400" dirty="0"/>
          </a:p>
          <a:p>
            <a:pPr algn="l">
              <a:buFontTx/>
              <a:buChar char="•"/>
            </a:pPr>
            <a:endParaRPr lang="en-US" sz="2400" b="0" dirty="0"/>
          </a:p>
        </p:txBody>
      </p:sp>
      <p:sp>
        <p:nvSpPr>
          <p:cNvPr id="402454" name="AutoShape 22"/>
          <p:cNvSpPr>
            <a:spLocks noChangeArrowheads="1"/>
          </p:cNvSpPr>
          <p:nvPr/>
        </p:nvSpPr>
        <p:spPr bwMode="auto">
          <a:xfrm>
            <a:off x="3991430" y="2423886"/>
            <a:ext cx="4789714" cy="224495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85000"/>
              </a:lnSpc>
              <a:spcBef>
                <a:spcPct val="40000"/>
              </a:spcBef>
              <a:buSzPct val="80000"/>
              <a:buFontTx/>
              <a:buBlip>
                <a:blip r:embed="rId3"/>
              </a:buBlip>
            </a:pPr>
            <a:r>
              <a:rPr lang="fr-FR" sz="2400" dirty="0">
                <a:solidFill>
                  <a:srgbClr val="000000"/>
                </a:solidFill>
              </a:rPr>
              <a:t>Séparément</a:t>
            </a:r>
            <a:endParaRPr lang="en-US" sz="2400" dirty="0"/>
          </a:p>
          <a:p>
            <a:pPr marL="225425" indent="-225425" algn="l">
              <a:lnSpc>
                <a:spcPct val="85000"/>
              </a:lnSpc>
              <a:spcBef>
                <a:spcPct val="40000"/>
              </a:spcBef>
              <a:buSzPct val="80000"/>
              <a:buFontTx/>
              <a:buBlip>
                <a:blip r:embed="rId3"/>
              </a:buBlip>
            </a:pPr>
            <a:r>
              <a:rPr lang="fr-FR" sz="2400" dirty="0">
                <a:solidFill>
                  <a:srgbClr val="000000"/>
                </a:solidFill>
              </a:rPr>
              <a:t>Lors d'une procédure de sauvegarde régulière</a:t>
            </a:r>
            <a:endParaRPr lang="en-US" sz="2400" dirty="0"/>
          </a:p>
          <a:p>
            <a:pPr marL="225425" indent="-225425" algn="l">
              <a:lnSpc>
                <a:spcPct val="85000"/>
              </a:lnSpc>
              <a:spcBef>
                <a:spcPct val="40000"/>
              </a:spcBef>
              <a:buSzPct val="80000"/>
              <a:buFontTx/>
              <a:buBlip>
                <a:blip r:embed="rId3"/>
              </a:buBlip>
            </a:pPr>
            <a:r>
              <a:rPr lang="fr-FR" sz="2400" dirty="0">
                <a:solidFill>
                  <a:srgbClr val="000000"/>
                </a:solidFill>
              </a:rPr>
              <a:t>Lorsque le contrôleur de domaine est connecté</a:t>
            </a:r>
            <a:endParaRPr lang="en-US" sz="2400" dirty="0">
              <a:solidFill>
                <a:srgbClr val="000000"/>
              </a:solidFill>
            </a:endParaRPr>
          </a:p>
        </p:txBody>
      </p:sp>
      <p:sp>
        <p:nvSpPr>
          <p:cNvPr id="402455" name="AutoShape 23"/>
          <p:cNvSpPr>
            <a:spLocks noChangeArrowheads="1"/>
          </p:cNvSpPr>
          <p:nvPr/>
        </p:nvSpPr>
        <p:spPr bwMode="auto">
          <a:xfrm>
            <a:off x="207977" y="1319213"/>
            <a:ext cx="3509962" cy="409575"/>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sz="2200">
                <a:solidFill>
                  <a:srgbClr val="000000"/>
                </a:solidFill>
              </a:rPr>
              <a:t>Données d'état système</a:t>
            </a:r>
            <a:endParaRPr lang="en-US" sz="2200"/>
          </a:p>
        </p:txBody>
      </p:sp>
      <p:sp>
        <p:nvSpPr>
          <p:cNvPr id="402457" name="AutoShape 25"/>
          <p:cNvSpPr>
            <a:spLocks noChangeArrowheads="1"/>
          </p:cNvSpPr>
          <p:nvPr/>
        </p:nvSpPr>
        <p:spPr bwMode="auto">
          <a:xfrm>
            <a:off x="509602" y="3355975"/>
            <a:ext cx="2568575" cy="560388"/>
          </a:xfrm>
          <a:prstGeom prst="roundRect">
            <a:avLst>
              <a:gd name="adj" fmla="val 4167"/>
            </a:avLst>
          </a:prstGeom>
          <a:solidFill>
            <a:srgbClr val="F0F1E1"/>
          </a:solidFill>
          <a:ln w="9525">
            <a:solidFill>
              <a:srgbClr val="333333"/>
            </a:solidFill>
            <a:round/>
            <a:headEnd/>
            <a:tailEnd/>
          </a:ln>
          <a:effectLst>
            <a:outerShdw dist="35921" dir="2700000" algn="ctr" rotWithShape="0">
              <a:srgbClr val="AFAFAF"/>
            </a:outerShdw>
          </a:effectLst>
        </p:spPr>
        <p:txBody>
          <a:bodyPr wrap="none" anchor="ctr"/>
          <a:lstStyle/>
          <a:p>
            <a:pPr algn="l">
              <a:lnSpc>
                <a:spcPct val="85000"/>
              </a:lnSpc>
              <a:buSzPct val="85000"/>
            </a:pPr>
            <a:r>
              <a:rPr lang="fr-FR" dirty="0">
                <a:solidFill>
                  <a:srgbClr val="000000"/>
                </a:solidFill>
              </a:rPr>
              <a:t>Dossier partagé SYSVOL</a:t>
            </a:r>
            <a:endParaRPr lang="en-US" dirty="0"/>
          </a:p>
        </p:txBody>
      </p:sp>
      <p:sp>
        <p:nvSpPr>
          <p:cNvPr id="402458" name="AutoShape 26"/>
          <p:cNvSpPr>
            <a:spLocks noChangeArrowheads="1"/>
          </p:cNvSpPr>
          <p:nvPr/>
        </p:nvSpPr>
        <p:spPr bwMode="auto">
          <a:xfrm>
            <a:off x="789002" y="3917950"/>
            <a:ext cx="2603500" cy="560388"/>
          </a:xfrm>
          <a:prstGeom prst="roundRect">
            <a:avLst>
              <a:gd name="adj" fmla="val 4167"/>
            </a:avLst>
          </a:prstGeom>
          <a:solidFill>
            <a:srgbClr val="F0F1E1"/>
          </a:solidFill>
          <a:ln w="9525">
            <a:solidFill>
              <a:srgbClr val="333333"/>
            </a:solidFill>
            <a:round/>
            <a:headEnd/>
            <a:tailEnd/>
          </a:ln>
          <a:effectLst>
            <a:outerShdw dist="35921" dir="2700000" algn="ctr" rotWithShape="0">
              <a:srgbClr val="AFAFAF"/>
            </a:outerShdw>
          </a:effectLst>
        </p:spPr>
        <p:txBody>
          <a:bodyPr wrap="none" anchor="ctr"/>
          <a:lstStyle/>
          <a:p>
            <a:pPr algn="l">
              <a:lnSpc>
                <a:spcPct val="85000"/>
              </a:lnSpc>
              <a:buSzPct val="85000"/>
            </a:pPr>
            <a:r>
              <a:rPr lang="fr-FR">
                <a:solidFill>
                  <a:srgbClr val="000000"/>
                </a:solidFill>
              </a:rPr>
              <a:t>Registre</a:t>
            </a:r>
            <a:endParaRPr lang="en-US"/>
          </a:p>
        </p:txBody>
      </p:sp>
      <p:sp>
        <p:nvSpPr>
          <p:cNvPr id="402459" name="AutoShape 27"/>
          <p:cNvSpPr>
            <a:spLocks noChangeArrowheads="1"/>
          </p:cNvSpPr>
          <p:nvPr/>
        </p:nvSpPr>
        <p:spPr bwMode="auto">
          <a:xfrm>
            <a:off x="1066814" y="4481513"/>
            <a:ext cx="2640013" cy="560387"/>
          </a:xfrm>
          <a:prstGeom prst="roundRect">
            <a:avLst>
              <a:gd name="adj" fmla="val 4167"/>
            </a:avLst>
          </a:prstGeom>
          <a:solidFill>
            <a:srgbClr val="F0F1E1"/>
          </a:solidFill>
          <a:ln w="9525">
            <a:solidFill>
              <a:srgbClr val="333333"/>
            </a:solidFill>
            <a:round/>
            <a:headEnd/>
            <a:tailEnd/>
          </a:ln>
          <a:effectLst>
            <a:outerShdw dist="35921" dir="2700000" algn="ctr" rotWithShape="0">
              <a:srgbClr val="AFAFAF"/>
            </a:outerShdw>
          </a:effectLst>
        </p:spPr>
        <p:txBody>
          <a:bodyPr wrap="none" anchor="ctr"/>
          <a:lstStyle/>
          <a:p>
            <a:pPr algn="l">
              <a:lnSpc>
                <a:spcPct val="85000"/>
              </a:lnSpc>
              <a:buSzPct val="85000"/>
            </a:pPr>
            <a:r>
              <a:rPr lang="fr-FR" dirty="0">
                <a:solidFill>
                  <a:srgbClr val="000000"/>
                </a:solidFill>
              </a:rPr>
              <a:t>Fichiers de démarrage </a:t>
            </a:r>
            <a:br>
              <a:rPr lang="fr-FR" dirty="0">
                <a:solidFill>
                  <a:srgbClr val="000000"/>
                </a:solidFill>
              </a:rPr>
            </a:br>
            <a:r>
              <a:rPr lang="fr-FR" dirty="0">
                <a:solidFill>
                  <a:srgbClr val="000000"/>
                </a:solidFill>
              </a:rPr>
              <a:t>du système</a:t>
            </a:r>
            <a:endParaRPr lang="en-US" dirty="0"/>
          </a:p>
        </p:txBody>
      </p:sp>
      <p:sp>
        <p:nvSpPr>
          <p:cNvPr id="402460" name="AutoShape 28"/>
          <p:cNvSpPr>
            <a:spLocks noChangeArrowheads="1"/>
          </p:cNvSpPr>
          <p:nvPr/>
        </p:nvSpPr>
        <p:spPr bwMode="auto">
          <a:xfrm>
            <a:off x="1346214" y="5045075"/>
            <a:ext cx="2725738" cy="560388"/>
          </a:xfrm>
          <a:prstGeom prst="roundRect">
            <a:avLst>
              <a:gd name="adj" fmla="val 4167"/>
            </a:avLst>
          </a:prstGeom>
          <a:solidFill>
            <a:srgbClr val="F0F1E1"/>
          </a:solidFill>
          <a:ln w="9525">
            <a:solidFill>
              <a:srgbClr val="333333"/>
            </a:solidFill>
            <a:round/>
            <a:headEnd/>
            <a:tailEnd/>
          </a:ln>
          <a:effectLst>
            <a:outerShdw dist="35921" dir="2700000" algn="ctr" rotWithShape="0">
              <a:srgbClr val="AFAFAF"/>
            </a:outerShdw>
          </a:effectLst>
        </p:spPr>
        <p:txBody>
          <a:bodyPr wrap="none" anchor="ctr"/>
          <a:lstStyle/>
          <a:p>
            <a:pPr algn="l">
              <a:lnSpc>
                <a:spcPct val="85000"/>
              </a:lnSpc>
              <a:buSzPct val="85000"/>
            </a:pPr>
            <a:r>
              <a:rPr lang="fr-FR" dirty="0">
                <a:solidFill>
                  <a:srgbClr val="000000"/>
                </a:solidFill>
              </a:rPr>
              <a:t>Base de données des </a:t>
            </a:r>
            <a:br>
              <a:rPr lang="fr-FR" dirty="0">
                <a:solidFill>
                  <a:srgbClr val="000000"/>
                </a:solidFill>
              </a:rPr>
            </a:br>
            <a:r>
              <a:rPr lang="fr-FR" dirty="0">
                <a:solidFill>
                  <a:srgbClr val="000000"/>
                </a:solidFill>
              </a:rPr>
              <a:t>inscriptions de classe COM+</a:t>
            </a:r>
            <a:endParaRPr lang="en-US" dirty="0"/>
          </a:p>
        </p:txBody>
      </p:sp>
      <p:sp>
        <p:nvSpPr>
          <p:cNvPr id="402461" name="AutoShape 29"/>
          <p:cNvSpPr>
            <a:spLocks noChangeArrowheads="1"/>
          </p:cNvSpPr>
          <p:nvPr/>
        </p:nvSpPr>
        <p:spPr bwMode="auto">
          <a:xfrm>
            <a:off x="1624027" y="5608638"/>
            <a:ext cx="2738437" cy="560387"/>
          </a:xfrm>
          <a:prstGeom prst="roundRect">
            <a:avLst>
              <a:gd name="adj" fmla="val 4167"/>
            </a:avLst>
          </a:prstGeom>
          <a:solidFill>
            <a:srgbClr val="F0F1E1"/>
          </a:solidFill>
          <a:ln w="9525">
            <a:solidFill>
              <a:srgbClr val="333333"/>
            </a:solidFill>
            <a:round/>
            <a:headEnd/>
            <a:tailEnd/>
          </a:ln>
          <a:effectLst>
            <a:outerShdw dist="35921" dir="2700000" algn="ctr" rotWithShape="0">
              <a:srgbClr val="AFAFAF"/>
            </a:outerShdw>
          </a:effectLst>
        </p:spPr>
        <p:txBody>
          <a:bodyPr wrap="none" anchor="ctr"/>
          <a:lstStyle/>
          <a:p>
            <a:pPr algn="l">
              <a:lnSpc>
                <a:spcPct val="85000"/>
              </a:lnSpc>
              <a:buSzPct val="85000"/>
            </a:pPr>
            <a:r>
              <a:rPr lang="fr-FR" dirty="0">
                <a:solidFill>
                  <a:srgbClr val="000000"/>
                </a:solidFill>
              </a:rPr>
              <a:t>Base de données des </a:t>
            </a:r>
            <a:br>
              <a:rPr lang="fr-FR" dirty="0">
                <a:solidFill>
                  <a:srgbClr val="000000"/>
                </a:solidFill>
              </a:rPr>
            </a:br>
            <a:r>
              <a:rPr lang="fr-FR" dirty="0">
                <a:solidFill>
                  <a:srgbClr val="000000"/>
                </a:solidFill>
              </a:rPr>
              <a:t>services de certificats</a:t>
            </a:r>
            <a:endParaRPr lang="en-US" dirty="0"/>
          </a:p>
        </p:txBody>
      </p:sp>
      <p:sp>
        <p:nvSpPr>
          <p:cNvPr id="402462" name="AutoShape 30"/>
          <p:cNvSpPr>
            <a:spLocks noChangeArrowheads="1"/>
          </p:cNvSpPr>
          <p:nvPr/>
        </p:nvSpPr>
        <p:spPr bwMode="auto">
          <a:xfrm>
            <a:off x="268302" y="2768600"/>
            <a:ext cx="1708150" cy="430213"/>
          </a:xfrm>
          <a:prstGeom prst="roundRect">
            <a:avLst>
              <a:gd name="adj" fmla="val 4167"/>
            </a:avLst>
          </a:prstGeom>
          <a:solidFill>
            <a:schemeClr val="accent1"/>
          </a:solidFill>
          <a:ln w="9525" algn="ctr">
            <a:solidFill>
              <a:srgbClr val="333333"/>
            </a:solidFill>
            <a:round/>
            <a:headEnd/>
            <a:tailEnd/>
          </a:ln>
          <a:effectLst>
            <a:outerShdw dist="35921" dir="2700000" algn="ctr" rotWithShape="0">
              <a:srgbClr val="AFAFAF"/>
            </a:outerShdw>
          </a:effectLst>
        </p:spPr>
        <p:txBody>
          <a:bodyPr anchor="ctr"/>
          <a:lstStyle/>
          <a:p>
            <a:pPr marL="177800" indent="-177800">
              <a:buSzPct val="85000"/>
            </a:pPr>
            <a:r>
              <a:rPr lang="fr-FR">
                <a:solidFill>
                  <a:srgbClr val="000000"/>
                </a:solidFill>
              </a:rPr>
              <a:t>Active Directory</a:t>
            </a:r>
            <a:endParaRPr lang="en-US"/>
          </a:p>
        </p:txBody>
      </p:sp>
      <p:pic>
        <p:nvPicPr>
          <p:cNvPr id="402463" name="Picture 31" descr="ActiveDirectory01"/>
          <p:cNvPicPr>
            <a:picLocks noChangeAspect="1" noChangeArrowheads="1"/>
          </p:cNvPicPr>
          <p:nvPr/>
        </p:nvPicPr>
        <p:blipFill>
          <a:blip r:embed="rId4" cstate="print"/>
          <a:srcRect/>
          <a:stretch>
            <a:fillRect/>
          </a:stretch>
        </p:blipFill>
        <p:spPr bwMode="auto">
          <a:xfrm>
            <a:off x="273064" y="1885950"/>
            <a:ext cx="1473200" cy="966788"/>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Sauvegarde d'Active Directory</a:t>
            </a:r>
            <a:endParaRPr lang="fr-FR" b="1" dirty="0">
              <a:solidFill>
                <a:srgbClr val="C00000"/>
              </a:solidFill>
            </a:endParaRPr>
          </a:p>
        </p:txBody>
      </p:sp>
      <p:sp>
        <p:nvSpPr>
          <p:cNvPr id="4" name="ZoneTexte 3"/>
          <p:cNvSpPr txBox="1"/>
          <p:nvPr/>
        </p:nvSpPr>
        <p:spPr>
          <a:xfrm>
            <a:off x="174171" y="1451430"/>
            <a:ext cx="8795658" cy="1446550"/>
          </a:xfrm>
          <a:prstGeom prst="rect">
            <a:avLst/>
          </a:prstGeom>
          <a:solidFill>
            <a:srgbClr val="CCCCFF"/>
          </a:solid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l">
              <a:buFont typeface="Wingdings" pitchFamily="2" charset="2"/>
              <a:buChar char="q"/>
            </a:pPr>
            <a:r>
              <a:rPr lang="fr-FR" sz="2200" dirty="0" smtClean="0">
                <a:solidFill>
                  <a:schemeClr val="tx1"/>
                </a:solidFill>
              </a:rPr>
              <a:t> Lorsque vous sauvegardez les données d’état du système sur un DC, vous sauvegardez toutes les données du service d’annuaire AD sur ce serveur ainsi que des composants système, comme le répertoire SYSVOL et le registre</a:t>
            </a:r>
            <a:endParaRPr lang="fr-FR" sz="2200" dirty="0">
              <a:solidFill>
                <a:schemeClr val="tx1"/>
              </a:solidFill>
            </a:endParaRPr>
          </a:p>
        </p:txBody>
      </p:sp>
      <p:pic>
        <p:nvPicPr>
          <p:cNvPr id="1027" name="Picture 3"/>
          <p:cNvPicPr>
            <a:picLocks noChangeAspect="1" noChangeArrowheads="1"/>
          </p:cNvPicPr>
          <p:nvPr/>
        </p:nvPicPr>
        <p:blipFill>
          <a:blip r:embed="rId2"/>
          <a:srcRect t="8275"/>
          <a:stretch>
            <a:fillRect/>
          </a:stretch>
        </p:blipFill>
        <p:spPr bwMode="auto">
          <a:xfrm>
            <a:off x="770846" y="3135087"/>
            <a:ext cx="7632926" cy="3664857"/>
          </a:xfrm>
          <a:prstGeom prst="rect">
            <a:avLst/>
          </a:prstGeom>
          <a:noFill/>
          <a:ln w="9525">
            <a:noFill/>
            <a:miter lim="800000"/>
            <a:headEnd/>
            <a:tailEnd/>
          </a:ln>
          <a:effectLst/>
        </p:spPr>
      </p:pic>
      <p:sp>
        <p:nvSpPr>
          <p:cNvPr id="7" name="ZoneTexte 6"/>
          <p:cNvSpPr txBox="1"/>
          <p:nvPr/>
        </p:nvSpPr>
        <p:spPr>
          <a:xfrm>
            <a:off x="174172" y="1473185"/>
            <a:ext cx="8723086" cy="1446550"/>
          </a:xfrm>
          <a:prstGeom prst="rect">
            <a:avLst/>
          </a:prstGeom>
          <a:solidFill>
            <a:srgbClr val="CCCCFF"/>
          </a:solid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l">
              <a:buFont typeface="Wingdings" pitchFamily="2" charset="2"/>
              <a:buChar char="q"/>
            </a:pPr>
            <a:r>
              <a:rPr lang="fr-FR" sz="2200" dirty="0" smtClean="0">
                <a:solidFill>
                  <a:schemeClr val="tx1"/>
                </a:solidFill>
              </a:rPr>
              <a:t> Sauvegardez quotidiennement au moins 2 DC pour chaque domaine et tout DC qui un serveur catalogue global ou détenant le rôle de maître d’opérations sauf le maître RID</a:t>
            </a:r>
            <a:endParaRPr lang="fr-FR" sz="2200" dirty="0">
              <a:solidFill>
                <a:schemeClr val="tx1"/>
              </a:solidFill>
            </a:endParaRPr>
          </a:p>
        </p:txBody>
      </p:sp>
      <p:pic>
        <p:nvPicPr>
          <p:cNvPr id="1029" name="Picture 5"/>
          <p:cNvPicPr>
            <a:picLocks noChangeAspect="1" noChangeArrowheads="1"/>
          </p:cNvPicPr>
          <p:nvPr/>
        </p:nvPicPr>
        <p:blipFill>
          <a:blip r:embed="rId3"/>
          <a:srcRect/>
          <a:stretch>
            <a:fillRect/>
          </a:stretch>
        </p:blipFill>
        <p:spPr bwMode="auto">
          <a:xfrm>
            <a:off x="647237" y="2960915"/>
            <a:ext cx="8141867" cy="3897086"/>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27"/>
                                        </p:tgtEl>
                                        <p:attrNameLst>
                                          <p:attrName>style.visibility</p:attrName>
                                        </p:attrNameLst>
                                      </p:cBhvr>
                                      <p:to>
                                        <p:strVal val="visible"/>
                                      </p:to>
                                    </p:set>
                                    <p:anim calcmode="lin" valueType="num">
                                      <p:cBhvr additive="base">
                                        <p:cTn id="13" dur="1000" fill="hold"/>
                                        <p:tgtEl>
                                          <p:spTgt spid="1027"/>
                                        </p:tgtEl>
                                        <p:attrNameLst>
                                          <p:attrName>ppt_x</p:attrName>
                                        </p:attrNameLst>
                                      </p:cBhvr>
                                      <p:tavLst>
                                        <p:tav tm="0">
                                          <p:val>
                                            <p:strVal val="0-#ppt_w/2"/>
                                          </p:val>
                                        </p:tav>
                                        <p:tav tm="100000">
                                          <p:val>
                                            <p:strVal val="#ppt_x"/>
                                          </p:val>
                                        </p:tav>
                                      </p:tavLst>
                                    </p:anim>
                                    <p:anim calcmode="lin" valueType="num">
                                      <p:cBhvr additive="base">
                                        <p:cTn id="14" dur="1000" fill="hold"/>
                                        <p:tgtEl>
                                          <p:spTgt spid="10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0-#ppt_w/2"/>
                                          </p:val>
                                        </p:tav>
                                        <p:tav tm="100000">
                                          <p:val>
                                            <p:strVal val="#ppt_x"/>
                                          </p:val>
                                        </p:tav>
                                      </p:tavLst>
                                    </p:anim>
                                    <p:anim calcmode="lin" valueType="num">
                                      <p:cBhvr additive="base">
                                        <p:cTn id="20"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29"/>
                                        </p:tgtEl>
                                        <p:attrNameLst>
                                          <p:attrName>style.visibility</p:attrName>
                                        </p:attrNameLst>
                                      </p:cBhvr>
                                      <p:to>
                                        <p:strVal val="visible"/>
                                      </p:to>
                                    </p:set>
                                    <p:anim calcmode="lin" valueType="num">
                                      <p:cBhvr additive="base">
                                        <p:cTn id="25" dur="1000" fill="hold"/>
                                        <p:tgtEl>
                                          <p:spTgt spid="1029"/>
                                        </p:tgtEl>
                                        <p:attrNameLst>
                                          <p:attrName>ppt_x</p:attrName>
                                        </p:attrNameLst>
                                      </p:cBhvr>
                                      <p:tavLst>
                                        <p:tav tm="0">
                                          <p:val>
                                            <p:strVal val="0-#ppt_w/2"/>
                                          </p:val>
                                        </p:tav>
                                        <p:tav tm="100000">
                                          <p:val>
                                            <p:strVal val="#ppt_x"/>
                                          </p:val>
                                        </p:tav>
                                      </p:tavLst>
                                    </p:anim>
                                    <p:anim calcmode="lin" valueType="num">
                                      <p:cBhvr additive="base">
                                        <p:cTn id="26" dur="1000" fill="hold"/>
                                        <p:tgtEl>
                                          <p:spTgt spid="10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smtClean="0">
                <a:solidFill>
                  <a:srgbClr val="000000"/>
                </a:solidFill>
              </a:rPr>
              <a:t>3.  Restauration </a:t>
            </a:r>
            <a:r>
              <a:rPr lang="fr-FR" dirty="0" smtClean="0">
                <a:solidFill>
                  <a:srgbClr val="000000"/>
                </a:solidFill>
              </a:rPr>
              <a:t>d'Active </a:t>
            </a:r>
            <a:r>
              <a:rPr lang="fr-FR" dirty="0" smtClean="0">
                <a:solidFill>
                  <a:srgbClr val="000000"/>
                </a:solidFill>
              </a:rPr>
              <a:t>Directory</a:t>
            </a:r>
            <a:endParaRPr lang="fr-FR" dirty="0"/>
          </a:p>
        </p:txBody>
      </p:sp>
      <p:sp>
        <p:nvSpPr>
          <p:cNvPr id="4" name="Rectangle 3"/>
          <p:cNvSpPr/>
          <p:nvPr/>
        </p:nvSpPr>
        <p:spPr>
          <a:xfrm>
            <a:off x="411307" y="2213820"/>
            <a:ext cx="8311778" cy="507831"/>
          </a:xfrm>
          <a:prstGeom prst="rect">
            <a:avLst/>
          </a:prstGeom>
        </p:spPr>
        <p:txBody>
          <a:bodyPr wrap="square">
            <a:spAutoFit/>
          </a:bodyPr>
          <a:lstStyle/>
          <a:p>
            <a:pPr algn="l">
              <a:buFont typeface="Arial" pitchFamily="34" charset="0"/>
              <a:buChar char="•"/>
            </a:pPr>
            <a:r>
              <a:rPr lang="fr-FR" sz="2400" dirty="0" smtClean="0">
                <a:solidFill>
                  <a:srgbClr val="C00000"/>
                </a:solidFill>
              </a:rPr>
              <a:t>  </a:t>
            </a:r>
            <a:r>
              <a:rPr lang="fr-FR" sz="2700" dirty="0" smtClean="0">
                <a:solidFill>
                  <a:srgbClr val="C00000"/>
                </a:solidFill>
                <a:latin typeface="+mn-lt"/>
              </a:rPr>
              <a:t>Restauration</a:t>
            </a:r>
            <a:r>
              <a:rPr lang="fr-FR" sz="2400" dirty="0" smtClean="0">
                <a:solidFill>
                  <a:srgbClr val="C00000"/>
                </a:solidFill>
              </a:rPr>
              <a:t> </a:t>
            </a:r>
            <a:r>
              <a:rPr lang="fr-FR" sz="2700" dirty="0" smtClean="0">
                <a:solidFill>
                  <a:srgbClr val="C00000"/>
                </a:solidFill>
                <a:latin typeface="+mn-lt"/>
              </a:rPr>
              <a:t>d'Active Directory</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p:txBody>
          <a:bodyPr>
            <a:normAutofit/>
          </a:bodyPr>
          <a:lstStyle/>
          <a:p>
            <a:r>
              <a:rPr lang="fr-FR" b="1" dirty="0" smtClean="0">
                <a:solidFill>
                  <a:srgbClr val="C00000"/>
                </a:solidFill>
              </a:rPr>
              <a:t>Restauration </a:t>
            </a:r>
            <a:r>
              <a:rPr lang="fr-FR" b="1" dirty="0">
                <a:solidFill>
                  <a:srgbClr val="C00000"/>
                </a:solidFill>
              </a:rPr>
              <a:t>d'Active Directory</a:t>
            </a:r>
            <a:endParaRPr lang="en-US" b="1" dirty="0">
              <a:solidFill>
                <a:srgbClr val="C00000"/>
              </a:solidFill>
            </a:endParaRPr>
          </a:p>
        </p:txBody>
      </p:sp>
      <p:grpSp>
        <p:nvGrpSpPr>
          <p:cNvPr id="27" name="Groupe 26"/>
          <p:cNvGrpSpPr/>
          <p:nvPr/>
        </p:nvGrpSpPr>
        <p:grpSpPr>
          <a:xfrm>
            <a:off x="1342376" y="1500188"/>
            <a:ext cx="5842195" cy="4646612"/>
            <a:chOff x="1342376" y="1500188"/>
            <a:chExt cx="5842195" cy="4646612"/>
          </a:xfrm>
        </p:grpSpPr>
        <p:sp>
          <p:nvSpPr>
            <p:cNvPr id="450566" name="AutoShape 6"/>
            <p:cNvSpPr>
              <a:spLocks noChangeArrowheads="1"/>
            </p:cNvSpPr>
            <p:nvPr/>
          </p:nvSpPr>
          <p:spPr bwMode="auto">
            <a:xfrm>
              <a:off x="3774426" y="4011613"/>
              <a:ext cx="3410145" cy="2135187"/>
            </a:xfrm>
            <a:prstGeom prst="roundRect">
              <a:avLst>
                <a:gd name="adj" fmla="val 2931"/>
              </a:avLst>
            </a:prstGeom>
            <a:gradFill rotWithShape="1">
              <a:gsLst>
                <a:gs pos="0">
                  <a:srgbClr val="F0F1FF"/>
                </a:gs>
                <a:gs pos="100000">
                  <a:srgbClr val="B3C8DF"/>
                </a:gs>
              </a:gsLst>
              <a:lin ang="5400000" scaled="1"/>
            </a:gradFill>
            <a:ln w="9525" algn="ctr">
              <a:noFill/>
              <a:round/>
              <a:headEnd/>
              <a:tailEnd/>
            </a:ln>
            <a:effectLst/>
          </p:spPr>
          <p:txBody>
            <a:bodyPr wrap="none" anchor="ctr"/>
            <a:lstStyle/>
            <a:p>
              <a:endParaRPr lang="fr-FR" sz="2200"/>
            </a:p>
          </p:txBody>
        </p:sp>
        <p:pic>
          <p:nvPicPr>
            <p:cNvPr id="450579" name="Picture 19" descr="Domain01"/>
            <p:cNvPicPr>
              <a:picLocks noChangeAspect="1" noChangeArrowheads="1"/>
            </p:cNvPicPr>
            <p:nvPr>
              <p:custDataLst>
                <p:tags r:id="rId1"/>
              </p:custDataLst>
            </p:nvPr>
          </p:nvPicPr>
          <p:blipFill>
            <a:blip r:embed="rId8"/>
            <a:srcRect/>
            <a:stretch>
              <a:fillRect/>
            </a:stretch>
          </p:blipFill>
          <p:spPr bwMode="auto">
            <a:xfrm>
              <a:off x="1437626" y="1500188"/>
              <a:ext cx="2301875" cy="2536825"/>
            </a:xfrm>
            <a:prstGeom prst="rect">
              <a:avLst/>
            </a:prstGeom>
            <a:noFill/>
          </p:spPr>
        </p:pic>
        <p:sp>
          <p:nvSpPr>
            <p:cNvPr id="450580" name="AutoShape 20"/>
            <p:cNvSpPr>
              <a:spLocks noChangeArrowheads="1"/>
            </p:cNvSpPr>
            <p:nvPr/>
          </p:nvSpPr>
          <p:spPr bwMode="auto">
            <a:xfrm>
              <a:off x="1342376" y="3640138"/>
              <a:ext cx="2266950" cy="784324"/>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sz="2200">
                  <a:solidFill>
                    <a:srgbClr val="000000"/>
                  </a:solidFill>
                </a:rPr>
                <a:t>Contrôleur de domaine</a:t>
              </a:r>
              <a:endParaRPr lang="en-US" sz="2200"/>
            </a:p>
          </p:txBody>
        </p:sp>
        <p:pic>
          <p:nvPicPr>
            <p:cNvPr id="450581" name="Picture 21" descr="Server01"/>
            <p:cNvPicPr>
              <a:picLocks noChangeAspect="1" noChangeArrowheads="1"/>
            </p:cNvPicPr>
            <p:nvPr>
              <p:custDataLst>
                <p:tags r:id="rId2"/>
              </p:custDataLst>
            </p:nvPr>
          </p:nvPicPr>
          <p:blipFill>
            <a:blip r:embed="rId9"/>
            <a:srcRect/>
            <a:stretch>
              <a:fillRect/>
            </a:stretch>
          </p:blipFill>
          <p:spPr bwMode="auto">
            <a:xfrm>
              <a:off x="1888476" y="2173288"/>
              <a:ext cx="1236662" cy="1455737"/>
            </a:xfrm>
            <a:prstGeom prst="rect">
              <a:avLst/>
            </a:prstGeom>
            <a:noFill/>
          </p:spPr>
        </p:pic>
        <p:sp>
          <p:nvSpPr>
            <p:cNvPr id="450582" name="Freeform 22"/>
            <p:cNvSpPr>
              <a:spLocks/>
            </p:cNvSpPr>
            <p:nvPr/>
          </p:nvSpPr>
          <p:spPr bwMode="auto">
            <a:xfrm rot="1710837">
              <a:off x="2590151" y="3654425"/>
              <a:ext cx="2382837" cy="338138"/>
            </a:xfrm>
            <a:custGeom>
              <a:avLst/>
              <a:gdLst/>
              <a:ahLst/>
              <a:cxnLst>
                <a:cxn ang="0">
                  <a:pos x="1375" y="110"/>
                </a:cxn>
                <a:cxn ang="0">
                  <a:pos x="1327" y="94"/>
                </a:cxn>
                <a:cxn ang="0">
                  <a:pos x="1281" y="80"/>
                </a:cxn>
                <a:cxn ang="0">
                  <a:pos x="1235" y="68"/>
                </a:cxn>
                <a:cxn ang="0">
                  <a:pos x="1168" y="55"/>
                </a:cxn>
                <a:cxn ang="0">
                  <a:pos x="1083" y="47"/>
                </a:cxn>
                <a:cxn ang="0">
                  <a:pos x="1042" y="45"/>
                </a:cxn>
                <a:cxn ang="0">
                  <a:pos x="1001" y="45"/>
                </a:cxn>
                <a:cxn ang="0">
                  <a:pos x="943" y="48"/>
                </a:cxn>
                <a:cxn ang="0">
                  <a:pos x="887" y="55"/>
                </a:cxn>
                <a:cxn ang="0">
                  <a:pos x="813" y="67"/>
                </a:cxn>
                <a:cxn ang="0">
                  <a:pos x="742" y="81"/>
                </a:cxn>
                <a:cxn ang="0">
                  <a:pos x="606" y="113"/>
                </a:cxn>
                <a:cxn ang="0">
                  <a:pos x="507" y="134"/>
                </a:cxn>
                <a:cxn ang="0">
                  <a:pos x="442" y="142"/>
                </a:cxn>
                <a:cxn ang="0">
                  <a:pos x="393" y="147"/>
                </a:cxn>
                <a:cxn ang="0">
                  <a:pos x="345" y="147"/>
                </a:cxn>
                <a:cxn ang="0">
                  <a:pos x="296" y="144"/>
                </a:cxn>
                <a:cxn ang="0">
                  <a:pos x="262" y="139"/>
                </a:cxn>
                <a:cxn ang="0">
                  <a:pos x="229" y="132"/>
                </a:cxn>
                <a:cxn ang="0">
                  <a:pos x="209" y="180"/>
                </a:cxn>
                <a:cxn ang="0">
                  <a:pos x="32" y="41"/>
                </a:cxn>
                <a:cxn ang="0">
                  <a:pos x="0" y="15"/>
                </a:cxn>
                <a:cxn ang="0">
                  <a:pos x="122" y="7"/>
                </a:cxn>
                <a:cxn ang="0">
                  <a:pos x="235" y="25"/>
                </a:cxn>
                <a:cxn ang="0">
                  <a:pos x="240" y="55"/>
                </a:cxn>
                <a:cxn ang="0">
                  <a:pos x="272" y="64"/>
                </a:cxn>
                <a:cxn ang="0">
                  <a:pos x="304" y="71"/>
                </a:cxn>
                <a:cxn ang="0">
                  <a:pos x="355" y="77"/>
                </a:cxn>
                <a:cxn ang="0">
                  <a:pos x="422" y="80"/>
                </a:cxn>
                <a:cxn ang="0">
                  <a:pos x="491" y="77"/>
                </a:cxn>
                <a:cxn ang="0">
                  <a:pos x="562" y="68"/>
                </a:cxn>
                <a:cxn ang="0">
                  <a:pos x="707" y="47"/>
                </a:cxn>
                <a:cxn ang="0">
                  <a:pos x="819" y="29"/>
                </a:cxn>
                <a:cxn ang="0">
                  <a:pos x="894" y="20"/>
                </a:cxn>
                <a:cxn ang="0">
                  <a:pos x="971" y="15"/>
                </a:cxn>
                <a:cxn ang="0">
                  <a:pos x="1048" y="15"/>
                </a:cxn>
                <a:cxn ang="0">
                  <a:pos x="1106" y="19"/>
                </a:cxn>
                <a:cxn ang="0">
                  <a:pos x="1165" y="28"/>
                </a:cxn>
                <a:cxn ang="0">
                  <a:pos x="1223" y="42"/>
                </a:cxn>
                <a:cxn ang="0">
                  <a:pos x="1262" y="55"/>
                </a:cxn>
                <a:cxn ang="0">
                  <a:pos x="1303" y="70"/>
                </a:cxn>
                <a:cxn ang="0">
                  <a:pos x="1361" y="97"/>
                </a:cxn>
                <a:cxn ang="0">
                  <a:pos x="1401" y="120"/>
                </a:cxn>
              </a:cxnLst>
              <a:rect l="0" t="0" r="r" b="b"/>
              <a:pathLst>
                <a:path w="1401" h="180">
                  <a:moveTo>
                    <a:pt x="1401" y="120"/>
                  </a:moveTo>
                  <a:lnTo>
                    <a:pt x="1375" y="110"/>
                  </a:lnTo>
                  <a:lnTo>
                    <a:pt x="1352" y="102"/>
                  </a:lnTo>
                  <a:lnTo>
                    <a:pt x="1327" y="94"/>
                  </a:lnTo>
                  <a:lnTo>
                    <a:pt x="1304" y="86"/>
                  </a:lnTo>
                  <a:lnTo>
                    <a:pt x="1281" y="80"/>
                  </a:lnTo>
                  <a:lnTo>
                    <a:pt x="1258" y="74"/>
                  </a:lnTo>
                  <a:lnTo>
                    <a:pt x="1235" y="68"/>
                  </a:lnTo>
                  <a:lnTo>
                    <a:pt x="1212" y="64"/>
                  </a:lnTo>
                  <a:lnTo>
                    <a:pt x="1168" y="55"/>
                  </a:lnTo>
                  <a:lnTo>
                    <a:pt x="1125" y="49"/>
                  </a:lnTo>
                  <a:lnTo>
                    <a:pt x="1083" y="47"/>
                  </a:lnTo>
                  <a:lnTo>
                    <a:pt x="1062" y="45"/>
                  </a:lnTo>
                  <a:lnTo>
                    <a:pt x="1042" y="45"/>
                  </a:lnTo>
                  <a:lnTo>
                    <a:pt x="1022" y="45"/>
                  </a:lnTo>
                  <a:lnTo>
                    <a:pt x="1001" y="45"/>
                  </a:lnTo>
                  <a:lnTo>
                    <a:pt x="962" y="47"/>
                  </a:lnTo>
                  <a:lnTo>
                    <a:pt x="943" y="48"/>
                  </a:lnTo>
                  <a:lnTo>
                    <a:pt x="925" y="51"/>
                  </a:lnTo>
                  <a:lnTo>
                    <a:pt x="887" y="55"/>
                  </a:lnTo>
                  <a:lnTo>
                    <a:pt x="849" y="60"/>
                  </a:lnTo>
                  <a:lnTo>
                    <a:pt x="813" y="67"/>
                  </a:lnTo>
                  <a:lnTo>
                    <a:pt x="777" y="74"/>
                  </a:lnTo>
                  <a:lnTo>
                    <a:pt x="742" y="81"/>
                  </a:lnTo>
                  <a:lnTo>
                    <a:pt x="674" y="97"/>
                  </a:lnTo>
                  <a:lnTo>
                    <a:pt x="606" y="113"/>
                  </a:lnTo>
                  <a:lnTo>
                    <a:pt x="540" y="128"/>
                  </a:lnTo>
                  <a:lnTo>
                    <a:pt x="507" y="134"/>
                  </a:lnTo>
                  <a:lnTo>
                    <a:pt x="475" y="138"/>
                  </a:lnTo>
                  <a:lnTo>
                    <a:pt x="442" y="142"/>
                  </a:lnTo>
                  <a:lnTo>
                    <a:pt x="410" y="145"/>
                  </a:lnTo>
                  <a:lnTo>
                    <a:pt x="393" y="147"/>
                  </a:lnTo>
                  <a:lnTo>
                    <a:pt x="377" y="147"/>
                  </a:lnTo>
                  <a:lnTo>
                    <a:pt x="345" y="147"/>
                  </a:lnTo>
                  <a:lnTo>
                    <a:pt x="311" y="145"/>
                  </a:lnTo>
                  <a:lnTo>
                    <a:pt x="296" y="144"/>
                  </a:lnTo>
                  <a:lnTo>
                    <a:pt x="278" y="141"/>
                  </a:lnTo>
                  <a:lnTo>
                    <a:pt x="262" y="139"/>
                  </a:lnTo>
                  <a:lnTo>
                    <a:pt x="245" y="135"/>
                  </a:lnTo>
                  <a:lnTo>
                    <a:pt x="229" y="132"/>
                  </a:lnTo>
                  <a:lnTo>
                    <a:pt x="211" y="128"/>
                  </a:lnTo>
                  <a:lnTo>
                    <a:pt x="209" y="180"/>
                  </a:lnTo>
                  <a:lnTo>
                    <a:pt x="103" y="97"/>
                  </a:lnTo>
                  <a:lnTo>
                    <a:pt x="32" y="41"/>
                  </a:lnTo>
                  <a:lnTo>
                    <a:pt x="9" y="22"/>
                  </a:lnTo>
                  <a:lnTo>
                    <a:pt x="0" y="15"/>
                  </a:lnTo>
                  <a:lnTo>
                    <a:pt x="38" y="12"/>
                  </a:lnTo>
                  <a:lnTo>
                    <a:pt x="122" y="7"/>
                  </a:lnTo>
                  <a:lnTo>
                    <a:pt x="245" y="0"/>
                  </a:lnTo>
                  <a:lnTo>
                    <a:pt x="235" y="25"/>
                  </a:lnTo>
                  <a:lnTo>
                    <a:pt x="224" y="49"/>
                  </a:lnTo>
                  <a:lnTo>
                    <a:pt x="240" y="55"/>
                  </a:lnTo>
                  <a:lnTo>
                    <a:pt x="256" y="60"/>
                  </a:lnTo>
                  <a:lnTo>
                    <a:pt x="272" y="64"/>
                  </a:lnTo>
                  <a:lnTo>
                    <a:pt x="288" y="68"/>
                  </a:lnTo>
                  <a:lnTo>
                    <a:pt x="304" y="71"/>
                  </a:lnTo>
                  <a:lnTo>
                    <a:pt x="322" y="74"/>
                  </a:lnTo>
                  <a:lnTo>
                    <a:pt x="355" y="77"/>
                  </a:lnTo>
                  <a:lnTo>
                    <a:pt x="388" y="80"/>
                  </a:lnTo>
                  <a:lnTo>
                    <a:pt x="422" y="80"/>
                  </a:lnTo>
                  <a:lnTo>
                    <a:pt x="456" y="78"/>
                  </a:lnTo>
                  <a:lnTo>
                    <a:pt x="491" y="77"/>
                  </a:lnTo>
                  <a:lnTo>
                    <a:pt x="526" y="73"/>
                  </a:lnTo>
                  <a:lnTo>
                    <a:pt x="562" y="68"/>
                  </a:lnTo>
                  <a:lnTo>
                    <a:pt x="633" y="58"/>
                  </a:lnTo>
                  <a:lnTo>
                    <a:pt x="707" y="47"/>
                  </a:lnTo>
                  <a:lnTo>
                    <a:pt x="781" y="34"/>
                  </a:lnTo>
                  <a:lnTo>
                    <a:pt x="819" y="29"/>
                  </a:lnTo>
                  <a:lnTo>
                    <a:pt x="856" y="23"/>
                  </a:lnTo>
                  <a:lnTo>
                    <a:pt x="894" y="20"/>
                  </a:lnTo>
                  <a:lnTo>
                    <a:pt x="933" y="16"/>
                  </a:lnTo>
                  <a:lnTo>
                    <a:pt x="971" y="15"/>
                  </a:lnTo>
                  <a:lnTo>
                    <a:pt x="1010" y="15"/>
                  </a:lnTo>
                  <a:lnTo>
                    <a:pt x="1048" y="15"/>
                  </a:lnTo>
                  <a:lnTo>
                    <a:pt x="1087" y="18"/>
                  </a:lnTo>
                  <a:lnTo>
                    <a:pt x="1106" y="19"/>
                  </a:lnTo>
                  <a:lnTo>
                    <a:pt x="1126" y="22"/>
                  </a:lnTo>
                  <a:lnTo>
                    <a:pt x="1165" y="28"/>
                  </a:lnTo>
                  <a:lnTo>
                    <a:pt x="1204" y="36"/>
                  </a:lnTo>
                  <a:lnTo>
                    <a:pt x="1223" y="42"/>
                  </a:lnTo>
                  <a:lnTo>
                    <a:pt x="1243" y="48"/>
                  </a:lnTo>
                  <a:lnTo>
                    <a:pt x="1262" y="55"/>
                  </a:lnTo>
                  <a:lnTo>
                    <a:pt x="1283" y="63"/>
                  </a:lnTo>
                  <a:lnTo>
                    <a:pt x="1303" y="70"/>
                  </a:lnTo>
                  <a:lnTo>
                    <a:pt x="1322" y="78"/>
                  </a:lnTo>
                  <a:lnTo>
                    <a:pt x="1361" y="97"/>
                  </a:lnTo>
                  <a:lnTo>
                    <a:pt x="1381" y="109"/>
                  </a:lnTo>
                  <a:lnTo>
                    <a:pt x="1401" y="120"/>
                  </a:lnTo>
                  <a:close/>
                </a:path>
              </a:pathLst>
            </a:custGeom>
            <a:solidFill>
              <a:srgbClr val="FF0000">
                <a:alpha val="75000"/>
              </a:srgbClr>
            </a:solidFill>
            <a:ln w="9525">
              <a:noFill/>
              <a:round/>
              <a:headEnd/>
              <a:tailEnd/>
            </a:ln>
          </p:spPr>
          <p:txBody>
            <a:bodyPr/>
            <a:lstStyle/>
            <a:p>
              <a:endParaRPr lang="fr-FR" sz="2200"/>
            </a:p>
          </p:txBody>
        </p:sp>
        <p:pic>
          <p:nvPicPr>
            <p:cNvPr id="450584" name="Picture 24" descr="ActiveDirectory01"/>
            <p:cNvPicPr>
              <a:picLocks noChangeAspect="1" noChangeArrowheads="1"/>
            </p:cNvPicPr>
            <p:nvPr>
              <p:custDataLst>
                <p:tags r:id="rId3"/>
              </p:custDataLst>
            </p:nvPr>
          </p:nvPicPr>
          <p:blipFill>
            <a:blip r:embed="rId10"/>
            <a:srcRect/>
            <a:stretch>
              <a:fillRect/>
            </a:stretch>
          </p:blipFill>
          <p:spPr bwMode="auto">
            <a:xfrm>
              <a:off x="4247501" y="4216400"/>
              <a:ext cx="1706562" cy="1119188"/>
            </a:xfrm>
            <a:prstGeom prst="rect">
              <a:avLst/>
            </a:prstGeom>
            <a:noFill/>
          </p:spPr>
        </p:pic>
        <p:sp>
          <p:nvSpPr>
            <p:cNvPr id="450585" name="AutoShape 25"/>
            <p:cNvSpPr>
              <a:spLocks noChangeArrowheads="1"/>
            </p:cNvSpPr>
            <p:nvPr/>
          </p:nvSpPr>
          <p:spPr bwMode="auto">
            <a:xfrm>
              <a:off x="3874438" y="5340350"/>
              <a:ext cx="3092419" cy="666750"/>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sz="2200" dirty="0">
                  <a:solidFill>
                    <a:srgbClr val="000000"/>
                  </a:solidFill>
                </a:rPr>
                <a:t>Sauvegarde</a:t>
              </a:r>
              <a:r>
                <a:rPr lang="en-US" sz="2200" dirty="0"/>
                <a:t> </a:t>
              </a:r>
              <a:r>
                <a:rPr lang="fr-FR" sz="2200" dirty="0">
                  <a:solidFill>
                    <a:srgbClr val="000000"/>
                  </a:solidFill>
                </a:rPr>
                <a:t>des données d'état système</a:t>
              </a:r>
              <a:endParaRPr lang="en-US" sz="2200" dirty="0">
                <a:solidFill>
                  <a:srgbClr val="000000"/>
                </a:solidFill>
              </a:endParaRPr>
            </a:p>
          </p:txBody>
        </p:sp>
        <p:pic>
          <p:nvPicPr>
            <p:cNvPr id="450586" name="Picture 26" descr="TapeStorage_TapeDrive01"/>
            <p:cNvPicPr>
              <a:picLocks noChangeAspect="1" noChangeArrowheads="1"/>
            </p:cNvPicPr>
            <p:nvPr>
              <p:custDataLst>
                <p:tags r:id="rId4"/>
              </p:custDataLst>
            </p:nvPr>
          </p:nvPicPr>
          <p:blipFill>
            <a:blip r:embed="rId11"/>
            <a:srcRect/>
            <a:stretch>
              <a:fillRect/>
            </a:stretch>
          </p:blipFill>
          <p:spPr bwMode="auto">
            <a:xfrm>
              <a:off x="4571351" y="4445000"/>
              <a:ext cx="1309687" cy="979488"/>
            </a:xfrm>
            <a:prstGeom prst="rect">
              <a:avLst/>
            </a:prstGeom>
            <a:noFill/>
          </p:spPr>
        </p:pic>
        <p:pic>
          <p:nvPicPr>
            <p:cNvPr id="450587" name="Picture 27" descr="TapeStorage_TapeMedia01"/>
            <p:cNvPicPr>
              <a:picLocks noChangeAspect="1" noChangeArrowheads="1"/>
            </p:cNvPicPr>
            <p:nvPr>
              <p:custDataLst>
                <p:tags r:id="rId5"/>
              </p:custDataLst>
            </p:nvPr>
          </p:nvPicPr>
          <p:blipFill>
            <a:blip r:embed="rId12" cstate="print"/>
            <a:srcRect/>
            <a:stretch>
              <a:fillRect/>
            </a:stretch>
          </p:blipFill>
          <p:spPr bwMode="auto">
            <a:xfrm>
              <a:off x="4747563" y="4540250"/>
              <a:ext cx="844550" cy="855663"/>
            </a:xfrm>
            <a:prstGeom prst="rect">
              <a:avLst/>
            </a:prstGeom>
            <a:noFill/>
          </p:spPr>
        </p:pic>
        <p:sp>
          <p:nvSpPr>
            <p:cNvPr id="450588" name="AutoShape 28"/>
            <p:cNvSpPr>
              <a:spLocks noChangeArrowheads="1"/>
            </p:cNvSpPr>
            <p:nvPr/>
          </p:nvSpPr>
          <p:spPr bwMode="auto">
            <a:xfrm>
              <a:off x="3291825" y="1565275"/>
              <a:ext cx="3752487" cy="385763"/>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sz="2200">
                  <a:solidFill>
                    <a:srgbClr val="000000"/>
                  </a:solidFill>
                </a:rPr>
                <a:t>Restauration principale</a:t>
              </a:r>
              <a:endParaRPr lang="en-US" sz="2200"/>
            </a:p>
          </p:txBody>
        </p:sp>
        <p:sp>
          <p:nvSpPr>
            <p:cNvPr id="450589" name="AutoShape 29"/>
            <p:cNvSpPr>
              <a:spLocks noChangeArrowheads="1"/>
            </p:cNvSpPr>
            <p:nvPr/>
          </p:nvSpPr>
          <p:spPr bwMode="auto">
            <a:xfrm>
              <a:off x="3291825" y="2155825"/>
              <a:ext cx="3791145" cy="385763"/>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sz="2200">
                  <a:solidFill>
                    <a:srgbClr val="000000"/>
                  </a:solidFill>
                </a:rPr>
                <a:t>Restauration normale</a:t>
              </a:r>
              <a:endParaRPr lang="en-US" sz="2200"/>
            </a:p>
          </p:txBody>
        </p:sp>
        <p:sp>
          <p:nvSpPr>
            <p:cNvPr id="450590" name="AutoShape 30"/>
            <p:cNvSpPr>
              <a:spLocks noChangeArrowheads="1"/>
            </p:cNvSpPr>
            <p:nvPr/>
          </p:nvSpPr>
          <p:spPr bwMode="auto">
            <a:xfrm>
              <a:off x="3291826" y="2735263"/>
              <a:ext cx="3798878" cy="385762"/>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sz="2200">
                  <a:solidFill>
                    <a:srgbClr val="000000"/>
                  </a:solidFill>
                </a:rPr>
                <a:t>Restauration forcée</a:t>
              </a:r>
              <a:endParaRPr lang="en-US" sz="2200"/>
            </a:p>
          </p:txBody>
        </p:sp>
      </p:grpSp>
      <p:pic>
        <p:nvPicPr>
          <p:cNvPr id="2052" name="Picture 4"/>
          <p:cNvPicPr>
            <a:picLocks noChangeAspect="1" noChangeArrowheads="1"/>
          </p:cNvPicPr>
          <p:nvPr/>
        </p:nvPicPr>
        <p:blipFill>
          <a:blip r:embed="rId13"/>
          <a:srcRect/>
          <a:stretch>
            <a:fillRect/>
          </a:stretch>
        </p:blipFill>
        <p:spPr bwMode="auto">
          <a:xfrm>
            <a:off x="270880" y="1930400"/>
            <a:ext cx="8636548" cy="4927601"/>
          </a:xfrm>
          <a:prstGeom prst="rect">
            <a:avLst/>
          </a:prstGeom>
          <a:noFill/>
          <a:ln w="9525">
            <a:noFill/>
            <a:miter lim="800000"/>
            <a:headEnd/>
            <a:tailEnd/>
          </a:ln>
          <a:effectLst/>
        </p:spPr>
      </p:pic>
      <p:sp>
        <p:nvSpPr>
          <p:cNvPr id="29" name="ZoneTexte 28"/>
          <p:cNvSpPr txBox="1"/>
          <p:nvPr/>
        </p:nvSpPr>
        <p:spPr>
          <a:xfrm>
            <a:off x="174172" y="1284504"/>
            <a:ext cx="8723086" cy="3477875"/>
          </a:xfrm>
          <a:prstGeom prst="rect">
            <a:avLst/>
          </a:prstGeom>
          <a:solidFill>
            <a:srgbClr val="CCCCFF"/>
          </a:solid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fr-FR" sz="2200" u="sng" dirty="0" smtClean="0">
                <a:solidFill>
                  <a:srgbClr val="C00000"/>
                </a:solidFill>
              </a:rPr>
              <a:t>Restauration principale</a:t>
            </a:r>
          </a:p>
          <a:p>
            <a:pPr algn="l">
              <a:buFont typeface="Wingdings" pitchFamily="2" charset="2"/>
              <a:buChar char="q"/>
            </a:pPr>
            <a:r>
              <a:rPr lang="fr-FR" sz="2200" dirty="0" smtClean="0">
                <a:solidFill>
                  <a:schemeClr val="tx1"/>
                </a:solidFill>
              </a:rPr>
              <a:t> Reconstruit le premier DC dans un domaine à partir de la version sauvegardée</a:t>
            </a:r>
          </a:p>
          <a:p>
            <a:pPr algn="l">
              <a:buFont typeface="Wingdings" pitchFamily="2" charset="2"/>
              <a:buChar char="q"/>
            </a:pPr>
            <a:r>
              <a:rPr lang="fr-FR" sz="2200" dirty="0" smtClean="0">
                <a:solidFill>
                  <a:schemeClr val="tx1"/>
                </a:solidFill>
              </a:rPr>
              <a:t> N’exécutez cette restauration que lorsque tous les DC sont perdus</a:t>
            </a:r>
          </a:p>
          <a:p>
            <a:pPr algn="l">
              <a:buFont typeface="Wingdings" pitchFamily="2" charset="2"/>
              <a:buChar char="q"/>
            </a:pPr>
            <a:r>
              <a:rPr lang="fr-FR" sz="2200" dirty="0" smtClean="0">
                <a:solidFill>
                  <a:schemeClr val="tx1"/>
                </a:solidFill>
              </a:rPr>
              <a:t> N’exécutez cette restauration que pour le premier DC, puis activez la </a:t>
            </a:r>
            <a:r>
              <a:rPr lang="fr-FR" sz="2200" i="1" u="sng" dirty="0" smtClean="0">
                <a:solidFill>
                  <a:srgbClr val="C00000"/>
                </a:solidFill>
              </a:rPr>
              <a:t>restauration normale</a:t>
            </a:r>
            <a:r>
              <a:rPr lang="fr-FR" sz="2200" dirty="0" smtClean="0">
                <a:solidFill>
                  <a:schemeClr val="tx1"/>
                </a:solidFill>
              </a:rPr>
              <a:t> des autres DC</a:t>
            </a:r>
          </a:p>
          <a:p>
            <a:pPr algn="l">
              <a:buFont typeface="Wingdings" pitchFamily="2" charset="2"/>
              <a:buChar char="q"/>
            </a:pPr>
            <a:r>
              <a:rPr lang="fr-FR" sz="2200" dirty="0" smtClean="0">
                <a:solidFill>
                  <a:schemeClr val="tx1"/>
                </a:solidFill>
              </a:rPr>
              <a:t> La base de données est restaurée dans son état où elle était au moment de la sauvegarde</a:t>
            </a:r>
          </a:p>
          <a:p>
            <a:pPr algn="l">
              <a:buFont typeface="Wingdings" pitchFamily="2" charset="2"/>
              <a:buChar char="q"/>
            </a:pPr>
            <a:endParaRPr lang="fr-FR" sz="2200" dirty="0">
              <a:solidFill>
                <a:schemeClr val="tx1"/>
              </a:solidFill>
            </a:endParaRPr>
          </a:p>
        </p:txBody>
      </p:sp>
      <p:pic>
        <p:nvPicPr>
          <p:cNvPr id="2054" name="Picture 6"/>
          <p:cNvPicPr>
            <a:picLocks noChangeAspect="1" noChangeArrowheads="1"/>
          </p:cNvPicPr>
          <p:nvPr/>
        </p:nvPicPr>
        <p:blipFill>
          <a:blip r:embed="rId14"/>
          <a:srcRect/>
          <a:stretch>
            <a:fillRect/>
          </a:stretch>
        </p:blipFill>
        <p:spPr bwMode="auto">
          <a:xfrm>
            <a:off x="241074" y="2090057"/>
            <a:ext cx="8718027" cy="4767943"/>
          </a:xfrm>
          <a:prstGeom prst="rect">
            <a:avLst/>
          </a:prstGeom>
          <a:noFill/>
          <a:ln w="9525">
            <a:noFill/>
            <a:miter lim="800000"/>
            <a:headEnd/>
            <a:tailEnd/>
          </a:ln>
          <a:effectLst/>
        </p:spPr>
      </p:pic>
      <p:sp>
        <p:nvSpPr>
          <p:cNvPr id="33" name="ZoneTexte 32"/>
          <p:cNvSpPr txBox="1"/>
          <p:nvPr/>
        </p:nvSpPr>
        <p:spPr>
          <a:xfrm>
            <a:off x="166918" y="1291764"/>
            <a:ext cx="8723086" cy="2800767"/>
          </a:xfrm>
          <a:prstGeom prst="rect">
            <a:avLst/>
          </a:prstGeom>
          <a:solidFill>
            <a:srgbClr val="CCCCFF"/>
          </a:solid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fr-FR" sz="2200" u="sng" dirty="0" smtClean="0">
                <a:solidFill>
                  <a:srgbClr val="C00000"/>
                </a:solidFill>
              </a:rPr>
              <a:t>Restauration normale</a:t>
            </a:r>
          </a:p>
          <a:p>
            <a:pPr algn="l">
              <a:buFont typeface="Wingdings" pitchFamily="2" charset="2"/>
              <a:buChar char="q"/>
            </a:pPr>
            <a:r>
              <a:rPr lang="fr-FR" sz="2200" dirty="0" smtClean="0">
                <a:solidFill>
                  <a:schemeClr val="tx1"/>
                </a:solidFill>
              </a:rPr>
              <a:t> Les données sauvegardées sont restaurées sur le DC dans l’état où elles étaient au moment de la sauvegarde.</a:t>
            </a:r>
          </a:p>
          <a:p>
            <a:pPr algn="l">
              <a:buFont typeface="Wingdings" pitchFamily="2" charset="2"/>
              <a:buChar char="q"/>
            </a:pPr>
            <a:r>
              <a:rPr lang="fr-FR" sz="2200" dirty="0" smtClean="0">
                <a:solidFill>
                  <a:schemeClr val="tx1"/>
                </a:solidFill>
              </a:rPr>
              <a:t> Le processus de réplication met à jour les données avec les modifications qui se sont produites depuis la sauvegarde</a:t>
            </a:r>
          </a:p>
          <a:p>
            <a:pPr algn="l">
              <a:buFont typeface="Wingdings" pitchFamily="2" charset="2"/>
              <a:buChar char="q"/>
            </a:pPr>
            <a:r>
              <a:rPr lang="fr-FR" sz="2200" dirty="0" smtClean="0">
                <a:solidFill>
                  <a:schemeClr val="tx1"/>
                </a:solidFill>
              </a:rPr>
              <a:t> Exécutez cette restauration si vous voulez restaurer un seul DC selon un état antérieur valide.</a:t>
            </a:r>
            <a:endParaRPr lang="fr-FR" sz="2200" dirty="0">
              <a:solidFill>
                <a:schemeClr val="tx1"/>
              </a:solidFill>
            </a:endParaRPr>
          </a:p>
        </p:txBody>
      </p:sp>
      <p:pic>
        <p:nvPicPr>
          <p:cNvPr id="2058" name="Picture 10"/>
          <p:cNvPicPr>
            <a:picLocks noChangeAspect="1" noChangeArrowheads="1"/>
          </p:cNvPicPr>
          <p:nvPr/>
        </p:nvPicPr>
        <p:blipFill>
          <a:blip r:embed="rId15"/>
          <a:srcRect/>
          <a:stretch>
            <a:fillRect/>
          </a:stretch>
        </p:blipFill>
        <p:spPr bwMode="auto">
          <a:xfrm>
            <a:off x="268288" y="1412885"/>
            <a:ext cx="8628969" cy="5445115"/>
          </a:xfrm>
          <a:prstGeom prst="rect">
            <a:avLst/>
          </a:prstGeom>
          <a:noFill/>
          <a:ln w="9525">
            <a:noFill/>
            <a:miter lim="800000"/>
            <a:headEnd/>
            <a:tailEnd/>
          </a:ln>
          <a:effectLst/>
        </p:spPr>
      </p:pic>
      <p:sp>
        <p:nvSpPr>
          <p:cNvPr id="36" name="ZoneTexte 35"/>
          <p:cNvSpPr txBox="1"/>
          <p:nvPr/>
        </p:nvSpPr>
        <p:spPr>
          <a:xfrm>
            <a:off x="145150" y="1269996"/>
            <a:ext cx="8723086" cy="4154984"/>
          </a:xfrm>
          <a:prstGeom prst="rect">
            <a:avLst/>
          </a:prstGeom>
          <a:solidFill>
            <a:srgbClr val="CCCCFF"/>
          </a:solid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fr-FR" sz="2200" u="sng" dirty="0" smtClean="0">
                <a:solidFill>
                  <a:srgbClr val="C00000"/>
                </a:solidFill>
              </a:rPr>
              <a:t>Restauration forcée</a:t>
            </a:r>
          </a:p>
          <a:p>
            <a:pPr algn="l">
              <a:buFont typeface="Wingdings" pitchFamily="2" charset="2"/>
              <a:buChar char="q"/>
            </a:pPr>
            <a:r>
              <a:rPr lang="fr-FR" sz="2200" dirty="0" smtClean="0">
                <a:solidFill>
                  <a:schemeClr val="tx1"/>
                </a:solidFill>
              </a:rPr>
              <a:t> Pour forcer la restauration des données AD, vous devez exécutez l’outil de ligne de commande </a:t>
            </a:r>
            <a:r>
              <a:rPr lang="fr-FR" sz="2200" dirty="0" err="1" smtClean="0">
                <a:solidFill>
                  <a:schemeClr val="tx1"/>
                </a:solidFill>
              </a:rPr>
              <a:t>Ntdsutil</a:t>
            </a:r>
            <a:endParaRPr lang="fr-FR" sz="2200" dirty="0" smtClean="0">
              <a:solidFill>
                <a:schemeClr val="tx1"/>
              </a:solidFill>
            </a:endParaRPr>
          </a:p>
          <a:p>
            <a:pPr algn="l">
              <a:buFont typeface="Wingdings" pitchFamily="2" charset="2"/>
              <a:buChar char="q"/>
            </a:pPr>
            <a:r>
              <a:rPr lang="fr-FR" sz="2200" dirty="0" smtClean="0">
                <a:solidFill>
                  <a:schemeClr val="tx1"/>
                </a:solidFill>
              </a:rPr>
              <a:t> Utilisez cette restauration pour restaurer un objet individuel dans un domaine comportant plusieurs DC</a:t>
            </a:r>
          </a:p>
          <a:p>
            <a:pPr algn="l">
              <a:buFont typeface="Wingdings" pitchFamily="2" charset="2"/>
              <a:buChar char="q"/>
            </a:pPr>
            <a:r>
              <a:rPr lang="fr-FR" sz="2200" dirty="0" smtClean="0">
                <a:solidFill>
                  <a:schemeClr val="tx1"/>
                </a:solidFill>
              </a:rPr>
              <a:t> Utilisez cette restauration pour restaurer un objet supprimé accidentellement</a:t>
            </a:r>
          </a:p>
          <a:p>
            <a:pPr algn="l">
              <a:buFont typeface="Wingdings" pitchFamily="2" charset="2"/>
              <a:buChar char="q"/>
            </a:pPr>
            <a:r>
              <a:rPr lang="fr-FR" sz="2200" dirty="0" smtClean="0">
                <a:solidFill>
                  <a:schemeClr val="tx1"/>
                </a:solidFill>
              </a:rPr>
              <a:t> Utilisez cette restauration pour restaurer un objet conteneur avec tous les objets qu’il contient</a:t>
            </a:r>
          </a:p>
          <a:p>
            <a:pPr algn="l">
              <a:buFont typeface="Wingdings" pitchFamily="2" charset="2"/>
              <a:buChar char="q"/>
            </a:pPr>
            <a:r>
              <a:rPr lang="fr-FR" sz="2200" dirty="0" smtClean="0">
                <a:solidFill>
                  <a:schemeClr val="tx1"/>
                </a:solidFill>
              </a:rPr>
              <a:t> les objets aient subi une restauration forcée ne peuvent pas être remplacées par d’autres copies et elles sont répliquées partout dans AD</a:t>
            </a:r>
            <a:endParaRPr lang="fr-FR" sz="22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1000"/>
                                        <p:tgtEl>
                                          <p:spTgt spid="27"/>
                                        </p:tgtEl>
                                      </p:cBhvr>
                                    </p:animEffect>
                                    <p:set>
                                      <p:cBhvr>
                                        <p:cTn id="7" dur="1" fill="hold">
                                          <p:stCondLst>
                                            <p:cond delay="999"/>
                                          </p:stCondLst>
                                        </p:cTn>
                                        <p:tgtEl>
                                          <p:spTgt spid="27"/>
                                        </p:tgtEl>
                                        <p:attrNameLst>
                                          <p:attrName>style.visibility</p:attrName>
                                        </p:attrNameLst>
                                      </p:cBhvr>
                                      <p:to>
                                        <p:strVal val="hidden"/>
                                      </p:to>
                                    </p:set>
                                  </p:childTnLst>
                                </p:cTn>
                              </p:par>
                              <p:par>
                                <p:cTn id="8" presetID="2" presetClass="entr" presetSubtype="8" fill="hold" grpId="0" nodeType="withEffect">
                                  <p:stCondLst>
                                    <p:cond delay="0"/>
                                  </p:stCondLst>
                                  <p:childTnLst>
                                    <p:set>
                                      <p:cBhvr>
                                        <p:cTn id="9" dur="1" fill="hold">
                                          <p:stCondLst>
                                            <p:cond delay="0"/>
                                          </p:stCondLst>
                                        </p:cTn>
                                        <p:tgtEl>
                                          <p:spTgt spid="29">
                                            <p:bg/>
                                          </p:spTgt>
                                        </p:tgtEl>
                                        <p:attrNameLst>
                                          <p:attrName>style.visibility</p:attrName>
                                        </p:attrNameLst>
                                      </p:cBhvr>
                                      <p:to>
                                        <p:strVal val="visible"/>
                                      </p:to>
                                    </p:set>
                                    <p:anim calcmode="lin" valueType="num">
                                      <p:cBhvr additive="base">
                                        <p:cTn id="10" dur="1000" fill="hold"/>
                                        <p:tgtEl>
                                          <p:spTgt spid="29">
                                            <p:bg/>
                                          </p:spTgt>
                                        </p:tgtEl>
                                        <p:attrNameLst>
                                          <p:attrName>ppt_x</p:attrName>
                                        </p:attrNameLst>
                                      </p:cBhvr>
                                      <p:tavLst>
                                        <p:tav tm="0">
                                          <p:val>
                                            <p:strVal val="0-#ppt_w/2"/>
                                          </p:val>
                                        </p:tav>
                                        <p:tav tm="100000">
                                          <p:val>
                                            <p:strVal val="#ppt_x"/>
                                          </p:val>
                                        </p:tav>
                                      </p:tavLst>
                                    </p:anim>
                                    <p:anim calcmode="lin" valueType="num">
                                      <p:cBhvr additive="base">
                                        <p:cTn id="11" dur="1000" fill="hold"/>
                                        <p:tgtEl>
                                          <p:spTgt spid="29">
                                            <p:bg/>
                                          </p:spTgt>
                                        </p:tgtEl>
                                        <p:attrNameLst>
                                          <p:attrName>ppt_y</p:attrName>
                                        </p:attrNameLst>
                                      </p:cBhvr>
                                      <p:tavLst>
                                        <p:tav tm="0">
                                          <p:val>
                                            <p:strVal val="#ppt_y"/>
                                          </p:val>
                                        </p:tav>
                                        <p:tav tm="100000">
                                          <p:val>
                                            <p:strVal val="#ppt_y"/>
                                          </p:val>
                                        </p:tav>
                                      </p:tavLst>
                                    </p:anim>
                                  </p:childTnLst>
                                </p:cTn>
                              </p:par>
                            </p:childTnLst>
                          </p:cTn>
                        </p:par>
                        <p:par>
                          <p:cTn id="12" fill="hold">
                            <p:stCondLst>
                              <p:cond delay="1000"/>
                            </p:stCondLst>
                            <p:childTnLst>
                              <p:par>
                                <p:cTn id="13" presetID="5" presetClass="entr" presetSubtype="10" fill="hold" nodeType="afterEffect">
                                  <p:stCondLst>
                                    <p:cond delay="0"/>
                                  </p:stCondLst>
                                  <p:childTnLst>
                                    <p:set>
                                      <p:cBhvr>
                                        <p:cTn id="14" dur="1" fill="hold">
                                          <p:stCondLst>
                                            <p:cond delay="0"/>
                                          </p:stCondLst>
                                        </p:cTn>
                                        <p:tgtEl>
                                          <p:spTgt spid="29">
                                            <p:txEl>
                                              <p:pRg st="0" end="0"/>
                                            </p:txEl>
                                          </p:spTgt>
                                        </p:tgtEl>
                                        <p:attrNameLst>
                                          <p:attrName>style.visibility</p:attrName>
                                        </p:attrNameLst>
                                      </p:cBhvr>
                                      <p:to>
                                        <p:strVal val="visible"/>
                                      </p:to>
                                    </p:set>
                                    <p:animEffect transition="in" filter="checkerboard(across)">
                                      <p:cBhvr>
                                        <p:cTn id="15" dur="500"/>
                                        <p:tgtEl>
                                          <p:spTgt spid="29">
                                            <p:txEl>
                                              <p:pRg st="0" end="0"/>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29">
                                            <p:txEl>
                                              <p:pRg st="1" end="1"/>
                                            </p:txEl>
                                          </p:spTgt>
                                        </p:tgtEl>
                                        <p:attrNameLst>
                                          <p:attrName>style.visibility</p:attrName>
                                        </p:attrNameLst>
                                      </p:cBhvr>
                                      <p:to>
                                        <p:strVal val="visible"/>
                                      </p:to>
                                    </p:set>
                                    <p:animEffect transition="in" filter="checkerboard(across)">
                                      <p:cBhvr>
                                        <p:cTn id="18" dur="500"/>
                                        <p:tgtEl>
                                          <p:spTgt spid="29">
                                            <p:txEl>
                                              <p:pRg st="1" end="1"/>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2052"/>
                                        </p:tgtEl>
                                        <p:attrNameLst>
                                          <p:attrName>style.visibility</p:attrName>
                                        </p:attrNameLst>
                                      </p:cBhvr>
                                      <p:to>
                                        <p:strVal val="visible"/>
                                      </p:to>
                                    </p:set>
                                    <p:animEffect transition="in" filter="checkerboard(across)">
                                      <p:cBhvr>
                                        <p:cTn id="21" dur="1000"/>
                                        <p:tgtEl>
                                          <p:spTgt spid="2052"/>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29">
                                            <p:txEl>
                                              <p:pRg st="2" end="2"/>
                                            </p:txEl>
                                          </p:spTgt>
                                        </p:tgtEl>
                                        <p:attrNameLst>
                                          <p:attrName>style.visibility</p:attrName>
                                        </p:attrNameLst>
                                      </p:cBhvr>
                                      <p:to>
                                        <p:strVal val="visible"/>
                                      </p:to>
                                    </p:set>
                                    <p:animEffect transition="in" filter="checkerboard(across)">
                                      <p:cBhvr>
                                        <p:cTn id="26" dur="500"/>
                                        <p:tgtEl>
                                          <p:spTgt spid="29">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29">
                                            <p:txEl>
                                              <p:pRg st="3" end="3"/>
                                            </p:txEl>
                                          </p:spTgt>
                                        </p:tgtEl>
                                        <p:attrNameLst>
                                          <p:attrName>style.visibility</p:attrName>
                                        </p:attrNameLst>
                                      </p:cBhvr>
                                      <p:to>
                                        <p:strVal val="visible"/>
                                      </p:to>
                                    </p:set>
                                    <p:animEffect transition="in" filter="checkerboard(across)">
                                      <p:cBhvr>
                                        <p:cTn id="31" dur="500"/>
                                        <p:tgtEl>
                                          <p:spTgt spid="29">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29">
                                            <p:txEl>
                                              <p:pRg st="4" end="4"/>
                                            </p:txEl>
                                          </p:spTgt>
                                        </p:tgtEl>
                                        <p:attrNameLst>
                                          <p:attrName>style.visibility</p:attrName>
                                        </p:attrNameLst>
                                      </p:cBhvr>
                                      <p:to>
                                        <p:strVal val="visible"/>
                                      </p:to>
                                    </p:set>
                                    <p:animEffect transition="in" filter="checkerboard(across)">
                                      <p:cBhvr>
                                        <p:cTn id="36" dur="500"/>
                                        <p:tgtEl>
                                          <p:spTgt spid="29">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8" presetClass="exit" presetSubtype="16" fill="hold" grpId="1" nodeType="clickEffect">
                                  <p:stCondLst>
                                    <p:cond delay="0"/>
                                  </p:stCondLst>
                                  <p:childTnLst>
                                    <p:animEffect transition="out" filter="diamond(in)">
                                      <p:cBhvr>
                                        <p:cTn id="40" dur="2000"/>
                                        <p:tgtEl>
                                          <p:spTgt spid="29">
                                            <p:txEl>
                                              <p:pRg st="0" end="0"/>
                                            </p:txEl>
                                          </p:spTgt>
                                        </p:tgtEl>
                                      </p:cBhvr>
                                    </p:animEffect>
                                    <p:set>
                                      <p:cBhvr>
                                        <p:cTn id="41" dur="1" fill="hold">
                                          <p:stCondLst>
                                            <p:cond delay="1999"/>
                                          </p:stCondLst>
                                        </p:cTn>
                                        <p:tgtEl>
                                          <p:spTgt spid="29">
                                            <p:txEl>
                                              <p:pRg st="0" end="0"/>
                                            </p:txEl>
                                          </p:spTgt>
                                        </p:tgtEl>
                                        <p:attrNameLst>
                                          <p:attrName>style.visibility</p:attrName>
                                        </p:attrNameLst>
                                      </p:cBhvr>
                                      <p:to>
                                        <p:strVal val="hidden"/>
                                      </p:to>
                                    </p:set>
                                  </p:childTnLst>
                                </p:cTn>
                              </p:par>
                              <p:par>
                                <p:cTn id="42" presetID="8" presetClass="exit" presetSubtype="16" fill="hold" grpId="1" nodeType="withEffect">
                                  <p:stCondLst>
                                    <p:cond delay="0"/>
                                  </p:stCondLst>
                                  <p:childTnLst>
                                    <p:animEffect transition="out" filter="diamond(in)">
                                      <p:cBhvr>
                                        <p:cTn id="43" dur="2000"/>
                                        <p:tgtEl>
                                          <p:spTgt spid="29">
                                            <p:txEl>
                                              <p:pRg st="1" end="1"/>
                                            </p:txEl>
                                          </p:spTgt>
                                        </p:tgtEl>
                                      </p:cBhvr>
                                    </p:animEffect>
                                    <p:set>
                                      <p:cBhvr>
                                        <p:cTn id="44" dur="1" fill="hold">
                                          <p:stCondLst>
                                            <p:cond delay="1999"/>
                                          </p:stCondLst>
                                        </p:cTn>
                                        <p:tgtEl>
                                          <p:spTgt spid="29">
                                            <p:txEl>
                                              <p:pRg st="1" end="1"/>
                                            </p:txEl>
                                          </p:spTgt>
                                        </p:tgtEl>
                                        <p:attrNameLst>
                                          <p:attrName>style.visibility</p:attrName>
                                        </p:attrNameLst>
                                      </p:cBhvr>
                                      <p:to>
                                        <p:strVal val="hidden"/>
                                      </p:to>
                                    </p:set>
                                  </p:childTnLst>
                                </p:cTn>
                              </p:par>
                              <p:par>
                                <p:cTn id="45" presetID="8" presetClass="exit" presetSubtype="16" fill="hold" grpId="1" nodeType="withEffect">
                                  <p:stCondLst>
                                    <p:cond delay="0"/>
                                  </p:stCondLst>
                                  <p:childTnLst>
                                    <p:animEffect transition="out" filter="diamond(in)">
                                      <p:cBhvr>
                                        <p:cTn id="46" dur="2000"/>
                                        <p:tgtEl>
                                          <p:spTgt spid="29">
                                            <p:txEl>
                                              <p:pRg st="2" end="2"/>
                                            </p:txEl>
                                          </p:spTgt>
                                        </p:tgtEl>
                                      </p:cBhvr>
                                    </p:animEffect>
                                    <p:set>
                                      <p:cBhvr>
                                        <p:cTn id="47" dur="1" fill="hold">
                                          <p:stCondLst>
                                            <p:cond delay="1999"/>
                                          </p:stCondLst>
                                        </p:cTn>
                                        <p:tgtEl>
                                          <p:spTgt spid="29">
                                            <p:txEl>
                                              <p:pRg st="2" end="2"/>
                                            </p:txEl>
                                          </p:spTgt>
                                        </p:tgtEl>
                                        <p:attrNameLst>
                                          <p:attrName>style.visibility</p:attrName>
                                        </p:attrNameLst>
                                      </p:cBhvr>
                                      <p:to>
                                        <p:strVal val="hidden"/>
                                      </p:to>
                                    </p:set>
                                  </p:childTnLst>
                                </p:cTn>
                              </p:par>
                              <p:par>
                                <p:cTn id="48" presetID="8" presetClass="exit" presetSubtype="16" fill="hold" grpId="1" nodeType="withEffect">
                                  <p:stCondLst>
                                    <p:cond delay="0"/>
                                  </p:stCondLst>
                                  <p:childTnLst>
                                    <p:animEffect transition="out" filter="diamond(in)">
                                      <p:cBhvr>
                                        <p:cTn id="49" dur="2000"/>
                                        <p:tgtEl>
                                          <p:spTgt spid="29">
                                            <p:txEl>
                                              <p:pRg st="3" end="3"/>
                                            </p:txEl>
                                          </p:spTgt>
                                        </p:tgtEl>
                                      </p:cBhvr>
                                    </p:animEffect>
                                    <p:set>
                                      <p:cBhvr>
                                        <p:cTn id="50" dur="1" fill="hold">
                                          <p:stCondLst>
                                            <p:cond delay="1999"/>
                                          </p:stCondLst>
                                        </p:cTn>
                                        <p:tgtEl>
                                          <p:spTgt spid="29">
                                            <p:txEl>
                                              <p:pRg st="3" end="3"/>
                                            </p:txEl>
                                          </p:spTgt>
                                        </p:tgtEl>
                                        <p:attrNameLst>
                                          <p:attrName>style.visibility</p:attrName>
                                        </p:attrNameLst>
                                      </p:cBhvr>
                                      <p:to>
                                        <p:strVal val="hidden"/>
                                      </p:to>
                                    </p:set>
                                  </p:childTnLst>
                                </p:cTn>
                              </p:par>
                              <p:par>
                                <p:cTn id="51" presetID="8" presetClass="exit" presetSubtype="16" fill="hold" grpId="1" nodeType="withEffect">
                                  <p:stCondLst>
                                    <p:cond delay="0"/>
                                  </p:stCondLst>
                                  <p:childTnLst>
                                    <p:animEffect transition="out" filter="diamond(in)">
                                      <p:cBhvr>
                                        <p:cTn id="52" dur="2000"/>
                                        <p:tgtEl>
                                          <p:spTgt spid="29">
                                            <p:txEl>
                                              <p:pRg st="4" end="4"/>
                                            </p:txEl>
                                          </p:spTgt>
                                        </p:tgtEl>
                                      </p:cBhvr>
                                    </p:animEffect>
                                    <p:set>
                                      <p:cBhvr>
                                        <p:cTn id="53" dur="1" fill="hold">
                                          <p:stCondLst>
                                            <p:cond delay="1999"/>
                                          </p:stCondLst>
                                        </p:cTn>
                                        <p:tgtEl>
                                          <p:spTgt spid="29">
                                            <p:txEl>
                                              <p:pRg st="4" end="4"/>
                                            </p:txEl>
                                          </p:spTgt>
                                        </p:tgtEl>
                                        <p:attrNameLst>
                                          <p:attrName>style.visibility</p:attrName>
                                        </p:attrNameLst>
                                      </p:cBhvr>
                                      <p:to>
                                        <p:strVal val="hidden"/>
                                      </p:to>
                                    </p:set>
                                  </p:childTnLst>
                                </p:cTn>
                              </p:par>
                              <p:par>
                                <p:cTn id="54" presetID="8" presetClass="exit" presetSubtype="16" fill="hold" grpId="1" nodeType="withEffect">
                                  <p:stCondLst>
                                    <p:cond delay="0"/>
                                  </p:stCondLst>
                                  <p:childTnLst>
                                    <p:animEffect transition="out" filter="diamond(in)">
                                      <p:cBhvr>
                                        <p:cTn id="55" dur="2000"/>
                                        <p:tgtEl>
                                          <p:spTgt spid="29">
                                            <p:bg/>
                                          </p:spTgt>
                                        </p:tgtEl>
                                      </p:cBhvr>
                                    </p:animEffect>
                                    <p:set>
                                      <p:cBhvr>
                                        <p:cTn id="56" dur="1" fill="hold">
                                          <p:stCondLst>
                                            <p:cond delay="1999"/>
                                          </p:stCondLst>
                                        </p:cTn>
                                        <p:tgtEl>
                                          <p:spTgt spid="29">
                                            <p:bg/>
                                          </p:spTgt>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3">
                                            <p:bg/>
                                          </p:spTgt>
                                        </p:tgtEl>
                                        <p:attrNameLst>
                                          <p:attrName>style.visibility</p:attrName>
                                        </p:attrNameLst>
                                      </p:cBhvr>
                                      <p:to>
                                        <p:strVal val="visible"/>
                                      </p:to>
                                    </p:set>
                                    <p:anim calcmode="lin" valueType="num">
                                      <p:cBhvr additive="base">
                                        <p:cTn id="61" dur="1000" fill="hold"/>
                                        <p:tgtEl>
                                          <p:spTgt spid="33">
                                            <p:bg/>
                                          </p:spTgt>
                                        </p:tgtEl>
                                        <p:attrNameLst>
                                          <p:attrName>ppt_x</p:attrName>
                                        </p:attrNameLst>
                                      </p:cBhvr>
                                      <p:tavLst>
                                        <p:tav tm="0">
                                          <p:val>
                                            <p:strVal val="0-#ppt_w/2"/>
                                          </p:val>
                                        </p:tav>
                                        <p:tav tm="100000">
                                          <p:val>
                                            <p:strVal val="#ppt_x"/>
                                          </p:val>
                                        </p:tav>
                                      </p:tavLst>
                                    </p:anim>
                                    <p:anim calcmode="lin" valueType="num">
                                      <p:cBhvr additive="base">
                                        <p:cTn id="62" dur="1000" fill="hold"/>
                                        <p:tgtEl>
                                          <p:spTgt spid="33">
                                            <p:bg/>
                                          </p:spTgt>
                                        </p:tgtEl>
                                        <p:attrNameLst>
                                          <p:attrName>ppt_y</p:attrName>
                                        </p:attrNameLst>
                                      </p:cBhvr>
                                      <p:tavLst>
                                        <p:tav tm="0">
                                          <p:val>
                                            <p:strVal val="#ppt_y"/>
                                          </p:val>
                                        </p:tav>
                                        <p:tav tm="100000">
                                          <p:val>
                                            <p:strVal val="#ppt_y"/>
                                          </p:val>
                                        </p:tav>
                                      </p:tavLst>
                                    </p:anim>
                                  </p:childTnLst>
                                </p:cTn>
                              </p:par>
                              <p:par>
                                <p:cTn id="63" presetID="5" presetClass="entr" presetSubtype="10" fill="hold" nodeType="withEffect">
                                  <p:stCondLst>
                                    <p:cond delay="0"/>
                                  </p:stCondLst>
                                  <p:childTnLst>
                                    <p:set>
                                      <p:cBhvr>
                                        <p:cTn id="64" dur="1" fill="hold">
                                          <p:stCondLst>
                                            <p:cond delay="0"/>
                                          </p:stCondLst>
                                        </p:cTn>
                                        <p:tgtEl>
                                          <p:spTgt spid="33">
                                            <p:txEl>
                                              <p:pRg st="0" end="0"/>
                                            </p:txEl>
                                          </p:spTgt>
                                        </p:tgtEl>
                                        <p:attrNameLst>
                                          <p:attrName>style.visibility</p:attrName>
                                        </p:attrNameLst>
                                      </p:cBhvr>
                                      <p:to>
                                        <p:strVal val="visible"/>
                                      </p:to>
                                    </p:set>
                                    <p:animEffect transition="in" filter="checkerboard(across)">
                                      <p:cBhvr>
                                        <p:cTn id="65" dur="500"/>
                                        <p:tgtEl>
                                          <p:spTgt spid="33">
                                            <p:txEl>
                                              <p:pRg st="0" end="0"/>
                                            </p:txEl>
                                          </p:spTgt>
                                        </p:tgtEl>
                                      </p:cBhvr>
                                    </p:animEffect>
                                  </p:childTnLst>
                                </p:cTn>
                              </p:par>
                              <p:par>
                                <p:cTn id="66" presetID="5" presetClass="entr" presetSubtype="10" fill="hold" nodeType="withEffect">
                                  <p:stCondLst>
                                    <p:cond delay="0"/>
                                  </p:stCondLst>
                                  <p:childTnLst>
                                    <p:set>
                                      <p:cBhvr>
                                        <p:cTn id="67" dur="1" fill="hold">
                                          <p:stCondLst>
                                            <p:cond delay="0"/>
                                          </p:stCondLst>
                                        </p:cTn>
                                        <p:tgtEl>
                                          <p:spTgt spid="2054"/>
                                        </p:tgtEl>
                                        <p:attrNameLst>
                                          <p:attrName>style.visibility</p:attrName>
                                        </p:attrNameLst>
                                      </p:cBhvr>
                                      <p:to>
                                        <p:strVal val="visible"/>
                                      </p:to>
                                    </p:set>
                                    <p:animEffect transition="in" filter="checkerboard(across)">
                                      <p:cBhvr>
                                        <p:cTn id="68" dur="1000"/>
                                        <p:tgtEl>
                                          <p:spTgt spid="2054"/>
                                        </p:tgtEl>
                                      </p:cBhvr>
                                    </p:animEffect>
                                  </p:childTnLst>
                                </p:cTn>
                              </p:par>
                              <p:par>
                                <p:cTn id="69" presetID="5" presetClass="entr" presetSubtype="10" fill="hold" nodeType="withEffect">
                                  <p:stCondLst>
                                    <p:cond delay="0"/>
                                  </p:stCondLst>
                                  <p:childTnLst>
                                    <p:set>
                                      <p:cBhvr>
                                        <p:cTn id="70" dur="1" fill="hold">
                                          <p:stCondLst>
                                            <p:cond delay="0"/>
                                          </p:stCondLst>
                                        </p:cTn>
                                        <p:tgtEl>
                                          <p:spTgt spid="33">
                                            <p:txEl>
                                              <p:pRg st="1" end="1"/>
                                            </p:txEl>
                                          </p:spTgt>
                                        </p:tgtEl>
                                        <p:attrNameLst>
                                          <p:attrName>style.visibility</p:attrName>
                                        </p:attrNameLst>
                                      </p:cBhvr>
                                      <p:to>
                                        <p:strVal val="visible"/>
                                      </p:to>
                                    </p:set>
                                    <p:animEffect transition="in" filter="checkerboard(across)">
                                      <p:cBhvr>
                                        <p:cTn id="71" dur="500"/>
                                        <p:tgtEl>
                                          <p:spTgt spid="33">
                                            <p:txEl>
                                              <p:pRg st="1" end="1"/>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 presetClass="entr" presetSubtype="10" fill="hold" nodeType="clickEffect">
                                  <p:stCondLst>
                                    <p:cond delay="0"/>
                                  </p:stCondLst>
                                  <p:childTnLst>
                                    <p:set>
                                      <p:cBhvr>
                                        <p:cTn id="75" dur="1" fill="hold">
                                          <p:stCondLst>
                                            <p:cond delay="0"/>
                                          </p:stCondLst>
                                        </p:cTn>
                                        <p:tgtEl>
                                          <p:spTgt spid="33">
                                            <p:txEl>
                                              <p:pRg st="2" end="2"/>
                                            </p:txEl>
                                          </p:spTgt>
                                        </p:tgtEl>
                                        <p:attrNameLst>
                                          <p:attrName>style.visibility</p:attrName>
                                        </p:attrNameLst>
                                      </p:cBhvr>
                                      <p:to>
                                        <p:strVal val="visible"/>
                                      </p:to>
                                    </p:set>
                                    <p:animEffect transition="in" filter="checkerboard(across)">
                                      <p:cBhvr>
                                        <p:cTn id="76" dur="500"/>
                                        <p:tgtEl>
                                          <p:spTgt spid="33">
                                            <p:txEl>
                                              <p:pRg st="2" end="2"/>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5" presetClass="entr" presetSubtype="10" fill="hold" nodeType="clickEffect">
                                  <p:stCondLst>
                                    <p:cond delay="0"/>
                                  </p:stCondLst>
                                  <p:childTnLst>
                                    <p:set>
                                      <p:cBhvr>
                                        <p:cTn id="80" dur="1" fill="hold">
                                          <p:stCondLst>
                                            <p:cond delay="0"/>
                                          </p:stCondLst>
                                        </p:cTn>
                                        <p:tgtEl>
                                          <p:spTgt spid="33">
                                            <p:txEl>
                                              <p:pRg st="3" end="3"/>
                                            </p:txEl>
                                          </p:spTgt>
                                        </p:tgtEl>
                                        <p:attrNameLst>
                                          <p:attrName>style.visibility</p:attrName>
                                        </p:attrNameLst>
                                      </p:cBhvr>
                                      <p:to>
                                        <p:strVal val="visible"/>
                                      </p:to>
                                    </p:set>
                                    <p:animEffect transition="in" filter="checkerboard(across)">
                                      <p:cBhvr>
                                        <p:cTn id="81" dur="500"/>
                                        <p:tgtEl>
                                          <p:spTgt spid="33">
                                            <p:txEl>
                                              <p:pRg st="3" end="3"/>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5" presetClass="exit" presetSubtype="10" fill="hold" nodeType="clickEffect">
                                  <p:stCondLst>
                                    <p:cond delay="0"/>
                                  </p:stCondLst>
                                  <p:childTnLst>
                                    <p:animEffect transition="out" filter="checkerboard(across)">
                                      <p:cBhvr>
                                        <p:cTn id="85" dur="500"/>
                                        <p:tgtEl>
                                          <p:spTgt spid="2052"/>
                                        </p:tgtEl>
                                      </p:cBhvr>
                                    </p:animEffect>
                                    <p:set>
                                      <p:cBhvr>
                                        <p:cTn id="86" dur="1" fill="hold">
                                          <p:stCondLst>
                                            <p:cond delay="499"/>
                                          </p:stCondLst>
                                        </p:cTn>
                                        <p:tgtEl>
                                          <p:spTgt spid="2052"/>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8" presetClass="exit" presetSubtype="16" fill="hold" grpId="1" nodeType="clickEffect">
                                  <p:stCondLst>
                                    <p:cond delay="0"/>
                                  </p:stCondLst>
                                  <p:childTnLst>
                                    <p:animEffect transition="out" filter="diamond(in)">
                                      <p:cBhvr>
                                        <p:cTn id="90" dur="2000"/>
                                        <p:tgtEl>
                                          <p:spTgt spid="33">
                                            <p:txEl>
                                              <p:pRg st="0" end="0"/>
                                            </p:txEl>
                                          </p:spTgt>
                                        </p:tgtEl>
                                      </p:cBhvr>
                                    </p:animEffect>
                                    <p:set>
                                      <p:cBhvr>
                                        <p:cTn id="91" dur="1" fill="hold">
                                          <p:stCondLst>
                                            <p:cond delay="1999"/>
                                          </p:stCondLst>
                                        </p:cTn>
                                        <p:tgtEl>
                                          <p:spTgt spid="33">
                                            <p:txEl>
                                              <p:pRg st="0" end="0"/>
                                            </p:txEl>
                                          </p:spTgt>
                                        </p:tgtEl>
                                        <p:attrNameLst>
                                          <p:attrName>style.visibility</p:attrName>
                                        </p:attrNameLst>
                                      </p:cBhvr>
                                      <p:to>
                                        <p:strVal val="hidden"/>
                                      </p:to>
                                    </p:set>
                                  </p:childTnLst>
                                </p:cTn>
                              </p:par>
                              <p:par>
                                <p:cTn id="92" presetID="8" presetClass="exit" presetSubtype="16" fill="hold" grpId="1" nodeType="withEffect">
                                  <p:stCondLst>
                                    <p:cond delay="0"/>
                                  </p:stCondLst>
                                  <p:childTnLst>
                                    <p:animEffect transition="out" filter="diamond(in)">
                                      <p:cBhvr>
                                        <p:cTn id="93" dur="2000"/>
                                        <p:tgtEl>
                                          <p:spTgt spid="33">
                                            <p:txEl>
                                              <p:pRg st="1" end="1"/>
                                            </p:txEl>
                                          </p:spTgt>
                                        </p:tgtEl>
                                      </p:cBhvr>
                                    </p:animEffect>
                                    <p:set>
                                      <p:cBhvr>
                                        <p:cTn id="94" dur="1" fill="hold">
                                          <p:stCondLst>
                                            <p:cond delay="1999"/>
                                          </p:stCondLst>
                                        </p:cTn>
                                        <p:tgtEl>
                                          <p:spTgt spid="33">
                                            <p:txEl>
                                              <p:pRg st="1" end="1"/>
                                            </p:txEl>
                                          </p:spTgt>
                                        </p:tgtEl>
                                        <p:attrNameLst>
                                          <p:attrName>style.visibility</p:attrName>
                                        </p:attrNameLst>
                                      </p:cBhvr>
                                      <p:to>
                                        <p:strVal val="hidden"/>
                                      </p:to>
                                    </p:set>
                                  </p:childTnLst>
                                </p:cTn>
                              </p:par>
                              <p:par>
                                <p:cTn id="95" presetID="8" presetClass="exit" presetSubtype="16" fill="hold" grpId="1" nodeType="withEffect">
                                  <p:stCondLst>
                                    <p:cond delay="0"/>
                                  </p:stCondLst>
                                  <p:childTnLst>
                                    <p:animEffect transition="out" filter="diamond(in)">
                                      <p:cBhvr>
                                        <p:cTn id="96" dur="2000"/>
                                        <p:tgtEl>
                                          <p:spTgt spid="33">
                                            <p:txEl>
                                              <p:pRg st="2" end="2"/>
                                            </p:txEl>
                                          </p:spTgt>
                                        </p:tgtEl>
                                      </p:cBhvr>
                                    </p:animEffect>
                                    <p:set>
                                      <p:cBhvr>
                                        <p:cTn id="97" dur="1" fill="hold">
                                          <p:stCondLst>
                                            <p:cond delay="1999"/>
                                          </p:stCondLst>
                                        </p:cTn>
                                        <p:tgtEl>
                                          <p:spTgt spid="33">
                                            <p:txEl>
                                              <p:pRg st="2" end="2"/>
                                            </p:txEl>
                                          </p:spTgt>
                                        </p:tgtEl>
                                        <p:attrNameLst>
                                          <p:attrName>style.visibility</p:attrName>
                                        </p:attrNameLst>
                                      </p:cBhvr>
                                      <p:to>
                                        <p:strVal val="hidden"/>
                                      </p:to>
                                    </p:set>
                                  </p:childTnLst>
                                </p:cTn>
                              </p:par>
                              <p:par>
                                <p:cTn id="98" presetID="8" presetClass="exit" presetSubtype="16" fill="hold" grpId="1" nodeType="withEffect">
                                  <p:stCondLst>
                                    <p:cond delay="0"/>
                                  </p:stCondLst>
                                  <p:childTnLst>
                                    <p:animEffect transition="out" filter="diamond(in)">
                                      <p:cBhvr>
                                        <p:cTn id="99" dur="2000"/>
                                        <p:tgtEl>
                                          <p:spTgt spid="33">
                                            <p:txEl>
                                              <p:pRg st="3" end="3"/>
                                            </p:txEl>
                                          </p:spTgt>
                                        </p:tgtEl>
                                      </p:cBhvr>
                                    </p:animEffect>
                                    <p:set>
                                      <p:cBhvr>
                                        <p:cTn id="100" dur="1" fill="hold">
                                          <p:stCondLst>
                                            <p:cond delay="1999"/>
                                          </p:stCondLst>
                                        </p:cTn>
                                        <p:tgtEl>
                                          <p:spTgt spid="33">
                                            <p:txEl>
                                              <p:pRg st="3" end="3"/>
                                            </p:txEl>
                                          </p:spTgt>
                                        </p:tgtEl>
                                        <p:attrNameLst>
                                          <p:attrName>style.visibility</p:attrName>
                                        </p:attrNameLst>
                                      </p:cBhvr>
                                      <p:to>
                                        <p:strVal val="hidden"/>
                                      </p:to>
                                    </p:set>
                                  </p:childTnLst>
                                </p:cTn>
                              </p:par>
                              <p:par>
                                <p:cTn id="101" presetID="8" presetClass="exit" presetSubtype="16" fill="hold" grpId="1" nodeType="withEffect">
                                  <p:stCondLst>
                                    <p:cond delay="0"/>
                                  </p:stCondLst>
                                  <p:childTnLst>
                                    <p:animEffect transition="out" filter="diamond(in)">
                                      <p:cBhvr>
                                        <p:cTn id="102" dur="2000"/>
                                        <p:tgtEl>
                                          <p:spTgt spid="33">
                                            <p:bg/>
                                          </p:spTgt>
                                        </p:tgtEl>
                                      </p:cBhvr>
                                    </p:animEffect>
                                    <p:set>
                                      <p:cBhvr>
                                        <p:cTn id="103" dur="1" fill="hold">
                                          <p:stCondLst>
                                            <p:cond delay="1999"/>
                                          </p:stCondLst>
                                        </p:cTn>
                                        <p:tgtEl>
                                          <p:spTgt spid="33">
                                            <p:bg/>
                                          </p:spTgt>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5" presetClass="exit" presetSubtype="10" fill="hold" grpId="2" nodeType="clickEffect">
                                  <p:stCondLst>
                                    <p:cond delay="0"/>
                                  </p:stCondLst>
                                  <p:childTnLst>
                                    <p:animEffect transition="out" filter="checkerboard(across)">
                                      <p:cBhvr>
                                        <p:cTn id="107" dur="500"/>
                                        <p:tgtEl>
                                          <p:spTgt spid="33">
                                            <p:txEl>
                                              <p:pRg st="0" end="0"/>
                                            </p:txEl>
                                          </p:spTgt>
                                        </p:tgtEl>
                                      </p:cBhvr>
                                    </p:animEffect>
                                    <p:set>
                                      <p:cBhvr>
                                        <p:cTn id="108" dur="1" fill="hold">
                                          <p:stCondLst>
                                            <p:cond delay="499"/>
                                          </p:stCondLst>
                                        </p:cTn>
                                        <p:tgtEl>
                                          <p:spTgt spid="33">
                                            <p:txEl>
                                              <p:pRg st="0" end="0"/>
                                            </p:txEl>
                                          </p:spTgt>
                                        </p:tgtEl>
                                        <p:attrNameLst>
                                          <p:attrName>style.visibility</p:attrName>
                                        </p:attrNameLst>
                                      </p:cBhvr>
                                      <p:to>
                                        <p:strVal val="hidden"/>
                                      </p:to>
                                    </p:set>
                                  </p:childTnLst>
                                </p:cTn>
                              </p:par>
                              <p:par>
                                <p:cTn id="109" presetID="5" presetClass="exit" presetSubtype="10" fill="hold" grpId="2" nodeType="withEffect">
                                  <p:stCondLst>
                                    <p:cond delay="0"/>
                                  </p:stCondLst>
                                  <p:childTnLst>
                                    <p:animEffect transition="out" filter="checkerboard(across)">
                                      <p:cBhvr>
                                        <p:cTn id="110" dur="500"/>
                                        <p:tgtEl>
                                          <p:spTgt spid="33">
                                            <p:txEl>
                                              <p:pRg st="1" end="1"/>
                                            </p:txEl>
                                          </p:spTgt>
                                        </p:tgtEl>
                                      </p:cBhvr>
                                    </p:animEffect>
                                    <p:set>
                                      <p:cBhvr>
                                        <p:cTn id="111" dur="1" fill="hold">
                                          <p:stCondLst>
                                            <p:cond delay="499"/>
                                          </p:stCondLst>
                                        </p:cTn>
                                        <p:tgtEl>
                                          <p:spTgt spid="33">
                                            <p:txEl>
                                              <p:pRg st="1" end="1"/>
                                            </p:txEl>
                                          </p:spTgt>
                                        </p:tgtEl>
                                        <p:attrNameLst>
                                          <p:attrName>style.visibility</p:attrName>
                                        </p:attrNameLst>
                                      </p:cBhvr>
                                      <p:to>
                                        <p:strVal val="hidden"/>
                                      </p:to>
                                    </p:set>
                                  </p:childTnLst>
                                </p:cTn>
                              </p:par>
                              <p:par>
                                <p:cTn id="112" presetID="5" presetClass="exit" presetSubtype="10" fill="hold" grpId="2" nodeType="withEffect">
                                  <p:stCondLst>
                                    <p:cond delay="0"/>
                                  </p:stCondLst>
                                  <p:childTnLst>
                                    <p:animEffect transition="out" filter="checkerboard(across)">
                                      <p:cBhvr>
                                        <p:cTn id="113" dur="500"/>
                                        <p:tgtEl>
                                          <p:spTgt spid="33">
                                            <p:txEl>
                                              <p:pRg st="2" end="2"/>
                                            </p:txEl>
                                          </p:spTgt>
                                        </p:tgtEl>
                                      </p:cBhvr>
                                    </p:animEffect>
                                    <p:set>
                                      <p:cBhvr>
                                        <p:cTn id="114" dur="1" fill="hold">
                                          <p:stCondLst>
                                            <p:cond delay="499"/>
                                          </p:stCondLst>
                                        </p:cTn>
                                        <p:tgtEl>
                                          <p:spTgt spid="33">
                                            <p:txEl>
                                              <p:pRg st="2" end="2"/>
                                            </p:txEl>
                                          </p:spTgt>
                                        </p:tgtEl>
                                        <p:attrNameLst>
                                          <p:attrName>style.visibility</p:attrName>
                                        </p:attrNameLst>
                                      </p:cBhvr>
                                      <p:to>
                                        <p:strVal val="hidden"/>
                                      </p:to>
                                    </p:set>
                                  </p:childTnLst>
                                </p:cTn>
                              </p:par>
                              <p:par>
                                <p:cTn id="115" presetID="5" presetClass="exit" presetSubtype="10" fill="hold" grpId="2" nodeType="withEffect">
                                  <p:stCondLst>
                                    <p:cond delay="0"/>
                                  </p:stCondLst>
                                  <p:childTnLst>
                                    <p:animEffect transition="out" filter="checkerboard(across)">
                                      <p:cBhvr>
                                        <p:cTn id="116" dur="500"/>
                                        <p:tgtEl>
                                          <p:spTgt spid="33">
                                            <p:txEl>
                                              <p:pRg st="3" end="3"/>
                                            </p:txEl>
                                          </p:spTgt>
                                        </p:tgtEl>
                                      </p:cBhvr>
                                    </p:animEffect>
                                    <p:set>
                                      <p:cBhvr>
                                        <p:cTn id="117" dur="1" fill="hold">
                                          <p:stCondLst>
                                            <p:cond delay="499"/>
                                          </p:stCondLst>
                                        </p:cTn>
                                        <p:tgtEl>
                                          <p:spTgt spid="33">
                                            <p:txEl>
                                              <p:pRg st="3" end="3"/>
                                            </p:txEl>
                                          </p:spTgt>
                                        </p:tgtEl>
                                        <p:attrNameLst>
                                          <p:attrName>style.visibility</p:attrName>
                                        </p:attrNameLst>
                                      </p:cBhvr>
                                      <p:to>
                                        <p:strVal val="hidden"/>
                                      </p:to>
                                    </p:set>
                                  </p:childTnLst>
                                </p:cTn>
                              </p:par>
                              <p:par>
                                <p:cTn id="118" presetID="5" presetClass="exit" presetSubtype="10" fill="hold" grpId="2" nodeType="withEffect">
                                  <p:stCondLst>
                                    <p:cond delay="0"/>
                                  </p:stCondLst>
                                  <p:childTnLst>
                                    <p:animEffect transition="out" filter="checkerboard(across)">
                                      <p:cBhvr>
                                        <p:cTn id="119" dur="500"/>
                                        <p:tgtEl>
                                          <p:spTgt spid="33">
                                            <p:bg/>
                                          </p:spTgt>
                                        </p:tgtEl>
                                      </p:cBhvr>
                                    </p:animEffect>
                                    <p:set>
                                      <p:cBhvr>
                                        <p:cTn id="120" dur="1" fill="hold">
                                          <p:stCondLst>
                                            <p:cond delay="499"/>
                                          </p:stCondLst>
                                        </p:cTn>
                                        <p:tgtEl>
                                          <p:spTgt spid="33">
                                            <p:bg/>
                                          </p:spTgt>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5" presetClass="exit" presetSubtype="10" fill="hold" nodeType="clickEffect">
                                  <p:stCondLst>
                                    <p:cond delay="0"/>
                                  </p:stCondLst>
                                  <p:childTnLst>
                                    <p:animEffect transition="out" filter="checkerboard(across)">
                                      <p:cBhvr>
                                        <p:cTn id="124" dur="500"/>
                                        <p:tgtEl>
                                          <p:spTgt spid="2054"/>
                                        </p:tgtEl>
                                      </p:cBhvr>
                                    </p:animEffect>
                                    <p:set>
                                      <p:cBhvr>
                                        <p:cTn id="125" dur="1" fill="hold">
                                          <p:stCondLst>
                                            <p:cond delay="499"/>
                                          </p:stCondLst>
                                        </p:cTn>
                                        <p:tgtEl>
                                          <p:spTgt spid="2054"/>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2" presetClass="entr" presetSubtype="8" fill="hold" grpId="0" nodeType="clickEffect">
                                  <p:stCondLst>
                                    <p:cond delay="0"/>
                                  </p:stCondLst>
                                  <p:childTnLst>
                                    <p:set>
                                      <p:cBhvr>
                                        <p:cTn id="129" dur="1" fill="hold">
                                          <p:stCondLst>
                                            <p:cond delay="0"/>
                                          </p:stCondLst>
                                        </p:cTn>
                                        <p:tgtEl>
                                          <p:spTgt spid="36">
                                            <p:bg/>
                                          </p:spTgt>
                                        </p:tgtEl>
                                        <p:attrNameLst>
                                          <p:attrName>style.visibility</p:attrName>
                                        </p:attrNameLst>
                                      </p:cBhvr>
                                      <p:to>
                                        <p:strVal val="visible"/>
                                      </p:to>
                                    </p:set>
                                    <p:anim calcmode="lin" valueType="num">
                                      <p:cBhvr additive="base">
                                        <p:cTn id="130" dur="1000" fill="hold"/>
                                        <p:tgtEl>
                                          <p:spTgt spid="36">
                                            <p:bg/>
                                          </p:spTgt>
                                        </p:tgtEl>
                                        <p:attrNameLst>
                                          <p:attrName>ppt_x</p:attrName>
                                        </p:attrNameLst>
                                      </p:cBhvr>
                                      <p:tavLst>
                                        <p:tav tm="0">
                                          <p:val>
                                            <p:strVal val="0-#ppt_w/2"/>
                                          </p:val>
                                        </p:tav>
                                        <p:tav tm="100000">
                                          <p:val>
                                            <p:strVal val="#ppt_x"/>
                                          </p:val>
                                        </p:tav>
                                      </p:tavLst>
                                    </p:anim>
                                    <p:anim calcmode="lin" valueType="num">
                                      <p:cBhvr additive="base">
                                        <p:cTn id="131" dur="1000" fill="hold"/>
                                        <p:tgtEl>
                                          <p:spTgt spid="36">
                                            <p:bg/>
                                          </p:spTgt>
                                        </p:tgtEl>
                                        <p:attrNameLst>
                                          <p:attrName>ppt_y</p:attrName>
                                        </p:attrNameLst>
                                      </p:cBhvr>
                                      <p:tavLst>
                                        <p:tav tm="0">
                                          <p:val>
                                            <p:strVal val="#ppt_y"/>
                                          </p:val>
                                        </p:tav>
                                        <p:tav tm="100000">
                                          <p:val>
                                            <p:strVal val="#ppt_y"/>
                                          </p:val>
                                        </p:tav>
                                      </p:tavLst>
                                    </p:anim>
                                  </p:childTnLst>
                                </p:cTn>
                              </p:par>
                              <p:par>
                                <p:cTn id="132" presetID="5" presetClass="entr" presetSubtype="10" fill="hold" nodeType="withEffect">
                                  <p:stCondLst>
                                    <p:cond delay="0"/>
                                  </p:stCondLst>
                                  <p:childTnLst>
                                    <p:set>
                                      <p:cBhvr>
                                        <p:cTn id="133" dur="1" fill="hold">
                                          <p:stCondLst>
                                            <p:cond delay="0"/>
                                          </p:stCondLst>
                                        </p:cTn>
                                        <p:tgtEl>
                                          <p:spTgt spid="36">
                                            <p:txEl>
                                              <p:pRg st="0" end="0"/>
                                            </p:txEl>
                                          </p:spTgt>
                                        </p:tgtEl>
                                        <p:attrNameLst>
                                          <p:attrName>style.visibility</p:attrName>
                                        </p:attrNameLst>
                                      </p:cBhvr>
                                      <p:to>
                                        <p:strVal val="visible"/>
                                      </p:to>
                                    </p:set>
                                    <p:animEffect transition="in" filter="checkerboard(across)">
                                      <p:cBhvr>
                                        <p:cTn id="134" dur="500"/>
                                        <p:tgtEl>
                                          <p:spTgt spid="36">
                                            <p:txEl>
                                              <p:pRg st="0" end="0"/>
                                            </p:txEl>
                                          </p:spTgt>
                                        </p:tgtEl>
                                      </p:cBhvr>
                                    </p:animEffect>
                                  </p:childTnLst>
                                </p:cTn>
                              </p:par>
                              <p:par>
                                <p:cTn id="135" presetID="5" presetClass="entr" presetSubtype="10" fill="hold" nodeType="withEffect">
                                  <p:stCondLst>
                                    <p:cond delay="0"/>
                                  </p:stCondLst>
                                  <p:childTnLst>
                                    <p:set>
                                      <p:cBhvr>
                                        <p:cTn id="136" dur="1" fill="hold">
                                          <p:stCondLst>
                                            <p:cond delay="0"/>
                                          </p:stCondLst>
                                        </p:cTn>
                                        <p:tgtEl>
                                          <p:spTgt spid="36">
                                            <p:txEl>
                                              <p:pRg st="1" end="1"/>
                                            </p:txEl>
                                          </p:spTgt>
                                        </p:tgtEl>
                                        <p:attrNameLst>
                                          <p:attrName>style.visibility</p:attrName>
                                        </p:attrNameLst>
                                      </p:cBhvr>
                                      <p:to>
                                        <p:strVal val="visible"/>
                                      </p:to>
                                    </p:set>
                                    <p:animEffect transition="in" filter="checkerboard(across)">
                                      <p:cBhvr>
                                        <p:cTn id="137" dur="500"/>
                                        <p:tgtEl>
                                          <p:spTgt spid="36">
                                            <p:txEl>
                                              <p:pRg st="1" end="1"/>
                                            </p:txEl>
                                          </p:spTgt>
                                        </p:tgtEl>
                                      </p:cBhvr>
                                    </p:animEffect>
                                  </p:childTnLst>
                                </p:cTn>
                              </p:par>
                              <p:par>
                                <p:cTn id="138" presetID="5" presetClass="entr" presetSubtype="10" fill="hold" nodeType="withEffect">
                                  <p:stCondLst>
                                    <p:cond delay="0"/>
                                  </p:stCondLst>
                                  <p:childTnLst>
                                    <p:set>
                                      <p:cBhvr>
                                        <p:cTn id="139" dur="1" fill="hold">
                                          <p:stCondLst>
                                            <p:cond delay="0"/>
                                          </p:stCondLst>
                                        </p:cTn>
                                        <p:tgtEl>
                                          <p:spTgt spid="2058"/>
                                        </p:tgtEl>
                                        <p:attrNameLst>
                                          <p:attrName>style.visibility</p:attrName>
                                        </p:attrNameLst>
                                      </p:cBhvr>
                                      <p:to>
                                        <p:strVal val="visible"/>
                                      </p:to>
                                    </p:set>
                                    <p:animEffect transition="in" filter="checkerboard(across)">
                                      <p:cBhvr>
                                        <p:cTn id="140" dur="500"/>
                                        <p:tgtEl>
                                          <p:spTgt spid="2058"/>
                                        </p:tgtEl>
                                      </p:cBhvr>
                                    </p:animEffect>
                                  </p:childTnLst>
                                </p:cTn>
                              </p:par>
                            </p:childTnLst>
                          </p:cTn>
                        </p:par>
                      </p:childTnLst>
                    </p:cTn>
                  </p:par>
                  <p:par>
                    <p:cTn id="141" fill="hold">
                      <p:stCondLst>
                        <p:cond delay="indefinite"/>
                      </p:stCondLst>
                      <p:childTnLst>
                        <p:par>
                          <p:cTn id="142" fill="hold">
                            <p:stCondLst>
                              <p:cond delay="0"/>
                            </p:stCondLst>
                            <p:childTnLst>
                              <p:par>
                                <p:cTn id="143" presetID="5" presetClass="entr" presetSubtype="10" fill="hold" nodeType="clickEffect">
                                  <p:stCondLst>
                                    <p:cond delay="0"/>
                                  </p:stCondLst>
                                  <p:childTnLst>
                                    <p:set>
                                      <p:cBhvr>
                                        <p:cTn id="144" dur="1" fill="hold">
                                          <p:stCondLst>
                                            <p:cond delay="0"/>
                                          </p:stCondLst>
                                        </p:cTn>
                                        <p:tgtEl>
                                          <p:spTgt spid="36">
                                            <p:txEl>
                                              <p:pRg st="2" end="2"/>
                                            </p:txEl>
                                          </p:spTgt>
                                        </p:tgtEl>
                                        <p:attrNameLst>
                                          <p:attrName>style.visibility</p:attrName>
                                        </p:attrNameLst>
                                      </p:cBhvr>
                                      <p:to>
                                        <p:strVal val="visible"/>
                                      </p:to>
                                    </p:set>
                                    <p:animEffect transition="in" filter="checkerboard(across)">
                                      <p:cBhvr>
                                        <p:cTn id="145" dur="1000"/>
                                        <p:tgtEl>
                                          <p:spTgt spid="36">
                                            <p:txEl>
                                              <p:pRg st="2" end="2"/>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5" presetClass="entr" presetSubtype="10" fill="hold" nodeType="clickEffect">
                                  <p:stCondLst>
                                    <p:cond delay="0"/>
                                  </p:stCondLst>
                                  <p:childTnLst>
                                    <p:set>
                                      <p:cBhvr>
                                        <p:cTn id="149" dur="1" fill="hold">
                                          <p:stCondLst>
                                            <p:cond delay="0"/>
                                          </p:stCondLst>
                                        </p:cTn>
                                        <p:tgtEl>
                                          <p:spTgt spid="36">
                                            <p:txEl>
                                              <p:pRg st="3" end="3"/>
                                            </p:txEl>
                                          </p:spTgt>
                                        </p:tgtEl>
                                        <p:attrNameLst>
                                          <p:attrName>style.visibility</p:attrName>
                                        </p:attrNameLst>
                                      </p:cBhvr>
                                      <p:to>
                                        <p:strVal val="visible"/>
                                      </p:to>
                                    </p:set>
                                    <p:animEffect transition="in" filter="checkerboard(across)">
                                      <p:cBhvr>
                                        <p:cTn id="150" dur="1000"/>
                                        <p:tgtEl>
                                          <p:spTgt spid="36">
                                            <p:txEl>
                                              <p:pRg st="3" end="3"/>
                                            </p:txEl>
                                          </p:spTgt>
                                        </p:tgtEl>
                                      </p:cBhvr>
                                    </p:animEffect>
                                  </p:childTnLst>
                                </p:cTn>
                              </p:par>
                            </p:childTnLst>
                          </p:cTn>
                        </p:par>
                      </p:childTnLst>
                    </p:cTn>
                  </p:par>
                  <p:par>
                    <p:cTn id="151" fill="hold">
                      <p:stCondLst>
                        <p:cond delay="indefinite"/>
                      </p:stCondLst>
                      <p:childTnLst>
                        <p:par>
                          <p:cTn id="152" fill="hold">
                            <p:stCondLst>
                              <p:cond delay="0"/>
                            </p:stCondLst>
                            <p:childTnLst>
                              <p:par>
                                <p:cTn id="153" presetID="5" presetClass="entr" presetSubtype="10" fill="hold" nodeType="clickEffect">
                                  <p:stCondLst>
                                    <p:cond delay="0"/>
                                  </p:stCondLst>
                                  <p:childTnLst>
                                    <p:set>
                                      <p:cBhvr>
                                        <p:cTn id="154" dur="1" fill="hold">
                                          <p:stCondLst>
                                            <p:cond delay="0"/>
                                          </p:stCondLst>
                                        </p:cTn>
                                        <p:tgtEl>
                                          <p:spTgt spid="36">
                                            <p:txEl>
                                              <p:pRg st="4" end="4"/>
                                            </p:txEl>
                                          </p:spTgt>
                                        </p:tgtEl>
                                        <p:attrNameLst>
                                          <p:attrName>style.visibility</p:attrName>
                                        </p:attrNameLst>
                                      </p:cBhvr>
                                      <p:to>
                                        <p:strVal val="visible"/>
                                      </p:to>
                                    </p:set>
                                    <p:animEffect transition="in" filter="checkerboard(across)">
                                      <p:cBhvr>
                                        <p:cTn id="155" dur="1000"/>
                                        <p:tgtEl>
                                          <p:spTgt spid="36">
                                            <p:txEl>
                                              <p:pRg st="4" end="4"/>
                                            </p:txEl>
                                          </p:spTgt>
                                        </p:tgtEl>
                                      </p:cBhvr>
                                    </p:animEffect>
                                  </p:childTnLst>
                                </p:cTn>
                              </p:par>
                            </p:childTnLst>
                          </p:cTn>
                        </p:par>
                      </p:childTnLst>
                    </p:cTn>
                  </p:par>
                  <p:par>
                    <p:cTn id="156" fill="hold">
                      <p:stCondLst>
                        <p:cond delay="indefinite"/>
                      </p:stCondLst>
                      <p:childTnLst>
                        <p:par>
                          <p:cTn id="157" fill="hold">
                            <p:stCondLst>
                              <p:cond delay="0"/>
                            </p:stCondLst>
                            <p:childTnLst>
                              <p:par>
                                <p:cTn id="158" presetID="5" presetClass="entr" presetSubtype="10" fill="hold" nodeType="clickEffect">
                                  <p:stCondLst>
                                    <p:cond delay="0"/>
                                  </p:stCondLst>
                                  <p:childTnLst>
                                    <p:set>
                                      <p:cBhvr>
                                        <p:cTn id="159" dur="1" fill="hold">
                                          <p:stCondLst>
                                            <p:cond delay="0"/>
                                          </p:stCondLst>
                                        </p:cTn>
                                        <p:tgtEl>
                                          <p:spTgt spid="36">
                                            <p:txEl>
                                              <p:pRg st="5" end="5"/>
                                            </p:txEl>
                                          </p:spTgt>
                                        </p:tgtEl>
                                        <p:attrNameLst>
                                          <p:attrName>style.visibility</p:attrName>
                                        </p:attrNameLst>
                                      </p:cBhvr>
                                      <p:to>
                                        <p:strVal val="visible"/>
                                      </p:to>
                                    </p:set>
                                    <p:animEffect transition="in" filter="checkerboard(across)">
                                      <p:cBhvr>
                                        <p:cTn id="160" dur="1000"/>
                                        <p:tgtEl>
                                          <p:spTgt spid="36">
                                            <p:txEl>
                                              <p:pRg st="5" end="5"/>
                                            </p:txEl>
                                          </p:spTgt>
                                        </p:tgtEl>
                                      </p:cBhvr>
                                    </p:animEffect>
                                  </p:childTnLst>
                                </p:cTn>
                              </p:par>
                            </p:childTnLst>
                          </p:cTn>
                        </p:par>
                      </p:childTnLst>
                    </p:cTn>
                  </p:par>
                  <p:par>
                    <p:cTn id="161" fill="hold">
                      <p:stCondLst>
                        <p:cond delay="indefinite"/>
                      </p:stCondLst>
                      <p:childTnLst>
                        <p:par>
                          <p:cTn id="162" fill="hold">
                            <p:stCondLst>
                              <p:cond delay="0"/>
                            </p:stCondLst>
                            <p:childTnLst>
                              <p:par>
                                <p:cTn id="163" presetID="5" presetClass="exit" presetSubtype="10" fill="hold" grpId="2" nodeType="clickEffect">
                                  <p:stCondLst>
                                    <p:cond delay="0"/>
                                  </p:stCondLst>
                                  <p:childTnLst>
                                    <p:animEffect transition="out" filter="checkerboard(across)">
                                      <p:cBhvr>
                                        <p:cTn id="164" dur="500"/>
                                        <p:tgtEl>
                                          <p:spTgt spid="36">
                                            <p:txEl>
                                              <p:pRg st="0" end="0"/>
                                            </p:txEl>
                                          </p:spTgt>
                                        </p:tgtEl>
                                      </p:cBhvr>
                                    </p:animEffect>
                                    <p:set>
                                      <p:cBhvr>
                                        <p:cTn id="165" dur="1" fill="hold">
                                          <p:stCondLst>
                                            <p:cond delay="499"/>
                                          </p:stCondLst>
                                        </p:cTn>
                                        <p:tgtEl>
                                          <p:spTgt spid="36">
                                            <p:txEl>
                                              <p:pRg st="0" end="0"/>
                                            </p:txEl>
                                          </p:spTgt>
                                        </p:tgtEl>
                                        <p:attrNameLst>
                                          <p:attrName>style.visibility</p:attrName>
                                        </p:attrNameLst>
                                      </p:cBhvr>
                                      <p:to>
                                        <p:strVal val="hidden"/>
                                      </p:to>
                                    </p:set>
                                  </p:childTnLst>
                                </p:cTn>
                              </p:par>
                              <p:par>
                                <p:cTn id="166" presetID="5" presetClass="exit" presetSubtype="10" fill="hold" grpId="2" nodeType="withEffect">
                                  <p:stCondLst>
                                    <p:cond delay="0"/>
                                  </p:stCondLst>
                                  <p:childTnLst>
                                    <p:animEffect transition="out" filter="checkerboard(across)">
                                      <p:cBhvr>
                                        <p:cTn id="167" dur="500"/>
                                        <p:tgtEl>
                                          <p:spTgt spid="36">
                                            <p:txEl>
                                              <p:pRg st="1" end="1"/>
                                            </p:txEl>
                                          </p:spTgt>
                                        </p:tgtEl>
                                      </p:cBhvr>
                                    </p:animEffect>
                                    <p:set>
                                      <p:cBhvr>
                                        <p:cTn id="168" dur="1" fill="hold">
                                          <p:stCondLst>
                                            <p:cond delay="499"/>
                                          </p:stCondLst>
                                        </p:cTn>
                                        <p:tgtEl>
                                          <p:spTgt spid="36">
                                            <p:txEl>
                                              <p:pRg st="1" end="1"/>
                                            </p:txEl>
                                          </p:spTgt>
                                        </p:tgtEl>
                                        <p:attrNameLst>
                                          <p:attrName>style.visibility</p:attrName>
                                        </p:attrNameLst>
                                      </p:cBhvr>
                                      <p:to>
                                        <p:strVal val="hidden"/>
                                      </p:to>
                                    </p:set>
                                  </p:childTnLst>
                                </p:cTn>
                              </p:par>
                              <p:par>
                                <p:cTn id="169" presetID="5" presetClass="exit" presetSubtype="10" fill="hold" grpId="2" nodeType="withEffect">
                                  <p:stCondLst>
                                    <p:cond delay="0"/>
                                  </p:stCondLst>
                                  <p:childTnLst>
                                    <p:animEffect transition="out" filter="checkerboard(across)">
                                      <p:cBhvr>
                                        <p:cTn id="170" dur="500"/>
                                        <p:tgtEl>
                                          <p:spTgt spid="36">
                                            <p:txEl>
                                              <p:pRg st="2" end="2"/>
                                            </p:txEl>
                                          </p:spTgt>
                                        </p:tgtEl>
                                      </p:cBhvr>
                                    </p:animEffect>
                                    <p:set>
                                      <p:cBhvr>
                                        <p:cTn id="171" dur="1" fill="hold">
                                          <p:stCondLst>
                                            <p:cond delay="499"/>
                                          </p:stCondLst>
                                        </p:cTn>
                                        <p:tgtEl>
                                          <p:spTgt spid="36">
                                            <p:txEl>
                                              <p:pRg st="2" end="2"/>
                                            </p:txEl>
                                          </p:spTgt>
                                        </p:tgtEl>
                                        <p:attrNameLst>
                                          <p:attrName>style.visibility</p:attrName>
                                        </p:attrNameLst>
                                      </p:cBhvr>
                                      <p:to>
                                        <p:strVal val="hidden"/>
                                      </p:to>
                                    </p:set>
                                  </p:childTnLst>
                                </p:cTn>
                              </p:par>
                              <p:par>
                                <p:cTn id="172" presetID="5" presetClass="exit" presetSubtype="10" fill="hold" grpId="2" nodeType="withEffect">
                                  <p:stCondLst>
                                    <p:cond delay="0"/>
                                  </p:stCondLst>
                                  <p:childTnLst>
                                    <p:animEffect transition="out" filter="checkerboard(across)">
                                      <p:cBhvr>
                                        <p:cTn id="173" dur="500"/>
                                        <p:tgtEl>
                                          <p:spTgt spid="36">
                                            <p:txEl>
                                              <p:pRg st="3" end="3"/>
                                            </p:txEl>
                                          </p:spTgt>
                                        </p:tgtEl>
                                      </p:cBhvr>
                                    </p:animEffect>
                                    <p:set>
                                      <p:cBhvr>
                                        <p:cTn id="174" dur="1" fill="hold">
                                          <p:stCondLst>
                                            <p:cond delay="499"/>
                                          </p:stCondLst>
                                        </p:cTn>
                                        <p:tgtEl>
                                          <p:spTgt spid="36">
                                            <p:txEl>
                                              <p:pRg st="3" end="3"/>
                                            </p:txEl>
                                          </p:spTgt>
                                        </p:tgtEl>
                                        <p:attrNameLst>
                                          <p:attrName>style.visibility</p:attrName>
                                        </p:attrNameLst>
                                      </p:cBhvr>
                                      <p:to>
                                        <p:strVal val="hidden"/>
                                      </p:to>
                                    </p:set>
                                  </p:childTnLst>
                                </p:cTn>
                              </p:par>
                              <p:par>
                                <p:cTn id="175" presetID="5" presetClass="exit" presetSubtype="10" fill="hold" grpId="2" nodeType="withEffect">
                                  <p:stCondLst>
                                    <p:cond delay="0"/>
                                  </p:stCondLst>
                                  <p:childTnLst>
                                    <p:animEffect transition="out" filter="checkerboard(across)">
                                      <p:cBhvr>
                                        <p:cTn id="176" dur="500"/>
                                        <p:tgtEl>
                                          <p:spTgt spid="36">
                                            <p:txEl>
                                              <p:pRg st="4" end="4"/>
                                            </p:txEl>
                                          </p:spTgt>
                                        </p:tgtEl>
                                      </p:cBhvr>
                                    </p:animEffect>
                                    <p:set>
                                      <p:cBhvr>
                                        <p:cTn id="177" dur="1" fill="hold">
                                          <p:stCondLst>
                                            <p:cond delay="499"/>
                                          </p:stCondLst>
                                        </p:cTn>
                                        <p:tgtEl>
                                          <p:spTgt spid="36">
                                            <p:txEl>
                                              <p:pRg st="4" end="4"/>
                                            </p:txEl>
                                          </p:spTgt>
                                        </p:tgtEl>
                                        <p:attrNameLst>
                                          <p:attrName>style.visibility</p:attrName>
                                        </p:attrNameLst>
                                      </p:cBhvr>
                                      <p:to>
                                        <p:strVal val="hidden"/>
                                      </p:to>
                                    </p:set>
                                  </p:childTnLst>
                                </p:cTn>
                              </p:par>
                              <p:par>
                                <p:cTn id="178" presetID="5" presetClass="exit" presetSubtype="10" fill="hold" grpId="2" nodeType="withEffect">
                                  <p:stCondLst>
                                    <p:cond delay="0"/>
                                  </p:stCondLst>
                                  <p:childTnLst>
                                    <p:animEffect transition="out" filter="checkerboard(across)">
                                      <p:cBhvr>
                                        <p:cTn id="179" dur="500"/>
                                        <p:tgtEl>
                                          <p:spTgt spid="36">
                                            <p:txEl>
                                              <p:pRg st="5" end="5"/>
                                            </p:txEl>
                                          </p:spTgt>
                                        </p:tgtEl>
                                      </p:cBhvr>
                                    </p:animEffect>
                                    <p:set>
                                      <p:cBhvr>
                                        <p:cTn id="180" dur="1" fill="hold">
                                          <p:stCondLst>
                                            <p:cond delay="499"/>
                                          </p:stCondLst>
                                        </p:cTn>
                                        <p:tgtEl>
                                          <p:spTgt spid="36">
                                            <p:txEl>
                                              <p:pRg st="5" end="5"/>
                                            </p:txEl>
                                          </p:spTgt>
                                        </p:tgtEl>
                                        <p:attrNameLst>
                                          <p:attrName>style.visibility</p:attrName>
                                        </p:attrNameLst>
                                      </p:cBhvr>
                                      <p:to>
                                        <p:strVal val="hidden"/>
                                      </p:to>
                                    </p:set>
                                  </p:childTnLst>
                                </p:cTn>
                              </p:par>
                              <p:par>
                                <p:cTn id="181" presetID="5" presetClass="exit" presetSubtype="10" fill="hold" grpId="2" nodeType="withEffect">
                                  <p:stCondLst>
                                    <p:cond delay="0"/>
                                  </p:stCondLst>
                                  <p:childTnLst>
                                    <p:animEffect transition="out" filter="checkerboard(across)">
                                      <p:cBhvr>
                                        <p:cTn id="182" dur="500"/>
                                        <p:tgtEl>
                                          <p:spTgt spid="36">
                                            <p:bg/>
                                          </p:spTgt>
                                        </p:tgtEl>
                                      </p:cBhvr>
                                    </p:animEffect>
                                    <p:set>
                                      <p:cBhvr>
                                        <p:cTn id="183" dur="1" fill="hold">
                                          <p:stCondLst>
                                            <p:cond delay="499"/>
                                          </p:stCondLst>
                                        </p:cTn>
                                        <p:tgtEl>
                                          <p:spTgt spid="36">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uiExpand="1" build="allAtOnce" animBg="1"/>
      <p:bldP spid="29" grpId="1" build="allAtOnce" animBg="1"/>
      <p:bldP spid="33" grpId="0" build="allAtOnce" animBg="1"/>
      <p:bldP spid="33" grpId="1" build="allAtOnce" animBg="1"/>
      <p:bldP spid="33" grpId="2" build="allAtOnce" animBg="1"/>
      <p:bldP spid="36" grpId="0" build="allAtOnce" animBg="1"/>
      <p:bldP spid="36" grpId="2" build="allAtOnce"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6266" y="286657"/>
            <a:ext cx="8534400" cy="758952"/>
          </a:xfrm>
        </p:spPr>
        <p:txBody>
          <a:bodyPr/>
          <a:lstStyle/>
          <a:p>
            <a:r>
              <a:rPr lang="fr-FR" b="1" dirty="0" smtClean="0">
                <a:solidFill>
                  <a:schemeClr val="tx1"/>
                </a:solidFill>
              </a:rPr>
              <a:t>Exercices</a:t>
            </a:r>
            <a:endParaRPr lang="fr-FR" b="1" dirty="0">
              <a:solidFill>
                <a:schemeClr val="tx1"/>
              </a:solidFill>
            </a:endParaRPr>
          </a:p>
        </p:txBody>
      </p:sp>
      <p:sp>
        <p:nvSpPr>
          <p:cNvPr id="3" name="Espace réservé du contenu 2"/>
          <p:cNvSpPr>
            <a:spLocks noGrp="1"/>
          </p:cNvSpPr>
          <p:nvPr>
            <p:ph sz="quarter" idx="1"/>
          </p:nvPr>
        </p:nvSpPr>
        <p:spPr>
          <a:xfrm>
            <a:off x="301752" y="1527048"/>
            <a:ext cx="8503920" cy="4873752"/>
          </a:xfrm>
        </p:spPr>
        <p:txBody>
          <a:bodyPr>
            <a:normAutofit fontScale="85000" lnSpcReduction="10000"/>
          </a:bodyPr>
          <a:lstStyle/>
          <a:p>
            <a:pPr marL="601663" lvl="0" indent="-514350">
              <a:buClrTx/>
              <a:buNone/>
            </a:pPr>
            <a:r>
              <a:rPr lang="fr-FR" dirty="0" smtClean="0"/>
              <a:t>1.  En </a:t>
            </a:r>
            <a:r>
              <a:rPr lang="fr-FR" dirty="0" smtClean="0"/>
              <a:t>quoi consiste une restauration Active Directory forcée (Restauration faisant autorité) ?</a:t>
            </a:r>
          </a:p>
          <a:p>
            <a:pPr marL="93663" indent="-6350">
              <a:buClrTx/>
              <a:buFont typeface="Wingdings" pitchFamily="2" charset="2"/>
              <a:buChar char="q"/>
            </a:pPr>
            <a:r>
              <a:rPr lang="fr-FR" i="1" dirty="0" smtClean="0"/>
              <a:t>Une restauration autoritaire permet de récupérer les objets effacés par erreur.</a:t>
            </a:r>
            <a:endParaRPr lang="fr-FR" dirty="0" smtClean="0"/>
          </a:p>
          <a:p>
            <a:pPr marL="93663" lvl="0" indent="-6350">
              <a:buClrTx/>
              <a:buNone/>
            </a:pPr>
            <a:r>
              <a:rPr lang="fr-FR" dirty="0" smtClean="0"/>
              <a:t>2.  Quelle </a:t>
            </a:r>
            <a:r>
              <a:rPr lang="fr-FR" dirty="0" smtClean="0"/>
              <a:t>commande système devez-vous utiliser pour réaliser la restauration forcée (Restauration faisant autorité) de certains objets Active Directory ?</a:t>
            </a:r>
          </a:p>
          <a:p>
            <a:pPr marL="93663" indent="-6350">
              <a:buClrTx/>
              <a:buFont typeface="Wingdings" pitchFamily="2" charset="2"/>
              <a:buChar char="q"/>
            </a:pPr>
            <a:r>
              <a:rPr lang="fr-FR" i="1" dirty="0" smtClean="0"/>
              <a:t>Vous devez utiliser </a:t>
            </a:r>
            <a:r>
              <a:rPr lang="fr-FR" i="1" dirty="0" err="1" smtClean="0"/>
              <a:t>ntdsutil</a:t>
            </a:r>
            <a:r>
              <a:rPr lang="fr-FR" i="1" dirty="0" smtClean="0"/>
              <a:t> </a:t>
            </a:r>
            <a:endParaRPr lang="fr-FR" dirty="0" smtClean="0"/>
          </a:p>
          <a:p>
            <a:pPr marL="93663" lvl="0" indent="-6350">
              <a:buClrTx/>
              <a:buNone/>
            </a:pPr>
            <a:r>
              <a:rPr lang="fr-FR" dirty="0" smtClean="0"/>
              <a:t>3.  Est-il </a:t>
            </a:r>
            <a:r>
              <a:rPr lang="fr-FR" dirty="0" smtClean="0"/>
              <a:t>possible de réaliser une opération de défragmentation en mode hors connexion sans redémarrer le serveur ?</a:t>
            </a:r>
          </a:p>
          <a:p>
            <a:pPr marL="93663" lvl="0" indent="-6350">
              <a:buClrTx/>
              <a:buFont typeface="Wingdings" pitchFamily="2" charset="2"/>
              <a:buChar char="q"/>
            </a:pPr>
            <a:r>
              <a:rPr lang="fr-FR" i="1" dirty="0" smtClean="0"/>
              <a:t>Sous Windows Server 2003, cette opération nécessite un arrêt des services Active Directory lesquels ne peuvent être arrêtés qu’en mode Restauration des services d’annuaire (DSRM).</a:t>
            </a:r>
            <a:endParaRPr lang="fr-FR" dirty="0" smtClean="0"/>
          </a:p>
          <a:p>
            <a:pPr marL="93663" indent="-6350">
              <a:buFont typeface="Wingdings" pitchFamily="2" charset="2"/>
              <a:buChar char="q"/>
            </a:pPr>
            <a:endParaRPr lang="fr-FR" dirty="0" smtClean="0"/>
          </a:p>
          <a:p>
            <a:pPr marL="93663" indent="-6350">
              <a:buFont typeface="Wingdings" pitchFamily="2" charset="2"/>
              <a:buChar char="q"/>
            </a:pP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6266" y="286657"/>
            <a:ext cx="8534400" cy="758952"/>
          </a:xfrm>
        </p:spPr>
        <p:txBody>
          <a:bodyPr/>
          <a:lstStyle/>
          <a:p>
            <a:r>
              <a:rPr lang="fr-FR" b="1" dirty="0" smtClean="0">
                <a:solidFill>
                  <a:schemeClr val="tx1"/>
                </a:solidFill>
              </a:rPr>
              <a:t>Exercices</a:t>
            </a:r>
            <a:endParaRPr lang="fr-FR" b="1" dirty="0">
              <a:solidFill>
                <a:schemeClr val="tx1"/>
              </a:solidFill>
            </a:endParaRPr>
          </a:p>
        </p:txBody>
      </p:sp>
      <p:sp>
        <p:nvSpPr>
          <p:cNvPr id="3" name="Espace réservé du contenu 2"/>
          <p:cNvSpPr>
            <a:spLocks noGrp="1"/>
          </p:cNvSpPr>
          <p:nvPr>
            <p:ph sz="quarter" idx="1"/>
          </p:nvPr>
        </p:nvSpPr>
        <p:spPr>
          <a:xfrm>
            <a:off x="301752" y="1527048"/>
            <a:ext cx="8503920" cy="4873752"/>
          </a:xfrm>
        </p:spPr>
        <p:txBody>
          <a:bodyPr>
            <a:normAutofit fontScale="92500" lnSpcReduction="20000"/>
          </a:bodyPr>
          <a:lstStyle/>
          <a:p>
            <a:pPr marL="514350" lvl="0" indent="-514350">
              <a:buClrTx/>
              <a:buNone/>
            </a:pPr>
            <a:r>
              <a:rPr lang="fr-FR" dirty="0" smtClean="0"/>
              <a:t>4.  Où </a:t>
            </a:r>
            <a:r>
              <a:rPr lang="fr-FR" dirty="0" smtClean="0"/>
              <a:t>sont stockés les fichiers liés à la base de données Active Directory ?</a:t>
            </a:r>
          </a:p>
          <a:p>
            <a:pPr marL="514350" indent="-514350">
              <a:buClrTx/>
              <a:buFont typeface="Wingdings" pitchFamily="2" charset="2"/>
              <a:buChar char="q"/>
            </a:pPr>
            <a:r>
              <a:rPr lang="fr-FR" i="1" dirty="0" smtClean="0"/>
              <a:t>Le fichier NTDS.DIT ainsi que les journaux et fichiers de points de contrôle sont stockés dans le répertoire %</a:t>
            </a:r>
            <a:r>
              <a:rPr lang="fr-FR" i="1" dirty="0" err="1" smtClean="0"/>
              <a:t>systemroot</a:t>
            </a:r>
            <a:r>
              <a:rPr lang="fr-FR" i="1" dirty="0" smtClean="0"/>
              <a:t>%\</a:t>
            </a:r>
            <a:r>
              <a:rPr lang="fr-FR" i="1" dirty="0" smtClean="0"/>
              <a:t>NTDS.</a:t>
            </a:r>
          </a:p>
          <a:p>
            <a:pPr marL="514350" indent="-514350">
              <a:buClrTx/>
              <a:buNone/>
            </a:pPr>
            <a:r>
              <a:rPr lang="fr-FR" i="1" dirty="0" smtClean="0"/>
              <a:t>5.  </a:t>
            </a:r>
            <a:r>
              <a:rPr lang="fr-FR" dirty="0" smtClean="0"/>
              <a:t>Les </a:t>
            </a:r>
            <a:r>
              <a:rPr lang="fr-FR" dirty="0" smtClean="0"/>
              <a:t>fichiers Res1.log et Res2.log sont-ils des fichiers de transactions Active Directory ?</a:t>
            </a:r>
          </a:p>
          <a:p>
            <a:pPr marL="514350" indent="-514350">
              <a:buClrTx/>
              <a:buFont typeface="Wingdings" pitchFamily="2" charset="2"/>
              <a:buChar char="q"/>
            </a:pPr>
            <a:r>
              <a:rPr lang="fr-FR" i="1" dirty="0" smtClean="0"/>
              <a:t>Non. </a:t>
            </a:r>
            <a:r>
              <a:rPr lang="fr-FR" i="1" dirty="0" smtClean="0"/>
              <a:t>il </a:t>
            </a:r>
            <a:r>
              <a:rPr lang="fr-FR" i="1" dirty="0" smtClean="0"/>
              <a:t>s’agit simplement de  fichiers de réservations d’espace </a:t>
            </a:r>
            <a:r>
              <a:rPr lang="fr-FR" i="1" dirty="0" smtClean="0"/>
              <a:t>disque</a:t>
            </a:r>
            <a:r>
              <a:rPr lang="fr-FR" i="1" dirty="0" smtClean="0"/>
              <a:t> pour  le  fichier  de </a:t>
            </a:r>
            <a:r>
              <a:rPr lang="fr-FR" i="1" dirty="0" smtClean="0"/>
              <a:t>journal.</a:t>
            </a:r>
            <a:endParaRPr lang="fr-FR" i="1" dirty="0" smtClean="0"/>
          </a:p>
          <a:p>
            <a:pPr marL="514350" lvl="0" indent="-514350">
              <a:buClrTx/>
              <a:buNone/>
            </a:pPr>
            <a:r>
              <a:rPr lang="fr-FR" dirty="0" smtClean="0"/>
              <a:t>6.  Quel </a:t>
            </a:r>
            <a:r>
              <a:rPr lang="fr-FR" dirty="0" smtClean="0"/>
              <a:t>est l’objet du processus de défragmentation en ligne?</a:t>
            </a:r>
          </a:p>
          <a:p>
            <a:pPr marL="514350" indent="-514350">
              <a:buClrTx/>
              <a:buFont typeface="Wingdings" pitchFamily="2" charset="2"/>
              <a:buChar char="q"/>
            </a:pPr>
            <a:r>
              <a:rPr lang="fr-FR" i="1" dirty="0" smtClean="0"/>
              <a:t>Active Directory nettoie la mémoire et optimise les structures de la base de données à l’aide du processus de défragmentation en ligne. </a:t>
            </a:r>
            <a:endParaRPr lang="fr-FR" dirty="0" smtClean="0"/>
          </a:p>
          <a:p>
            <a:pPr marL="514350" indent="-514350">
              <a:buClrTx/>
              <a:buFont typeface="Wingdings" pitchFamily="2" charset="2"/>
              <a:buChar char="q"/>
            </a:pPr>
            <a:endParaRPr lang="fr-FR" dirty="0" smtClean="0"/>
          </a:p>
          <a:p>
            <a:endParaRPr lang="fr-FR" dirty="0" smtClean="0"/>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PWINTOTALSEGMENTS" val="1"/>
</p:tagLst>
</file>

<file path=ppt/tags/tag2.xml><?xml version="1.0" encoding="utf-8"?>
<p:tagLst xmlns:a="http://schemas.openxmlformats.org/drawingml/2006/main" xmlns:r="http://schemas.openxmlformats.org/officeDocument/2006/relationships" xmlns:p="http://schemas.openxmlformats.org/presentationml/2006/main">
  <p:tag name="PPWINTOTALSEGMENTS" val="1"/>
</p:tagLst>
</file>

<file path=ppt/tags/tag3.xml><?xml version="1.0" encoding="utf-8"?>
<p:tagLst xmlns:a="http://schemas.openxmlformats.org/drawingml/2006/main" xmlns:r="http://schemas.openxmlformats.org/officeDocument/2006/relationships" xmlns:p="http://schemas.openxmlformats.org/presentationml/2006/main">
  <p:tag name="PPWINTOTALSEGMENTS" val="5"/>
</p:tagLst>
</file>

<file path=ppt/tags/tag4.xml><?xml version="1.0" encoding="utf-8"?>
<p:tagLst xmlns:a="http://schemas.openxmlformats.org/drawingml/2006/main" xmlns:r="http://schemas.openxmlformats.org/officeDocument/2006/relationships" xmlns:p="http://schemas.openxmlformats.org/presentationml/2006/main">
  <p:tag name="PPWINTOTALSEGMENTS" val="1"/>
</p:tagLst>
</file>

<file path=ppt/tags/tag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xml><?xml version="1.0" encoding="utf-8"?>
<p:tagLst xmlns:a="http://schemas.openxmlformats.org/drawingml/2006/main" xmlns:r="http://schemas.openxmlformats.org/officeDocument/2006/relationships" xmlns:p="http://schemas.openxmlformats.org/presentationml/2006/main">
  <p:tag name="PPWINTOTALSEGMENTS" val="1"/>
</p:tagLst>
</file>

<file path=ppt/tags/tag7.xml><?xml version="1.0" encoding="utf-8"?>
<p:tagLst xmlns:a="http://schemas.openxmlformats.org/drawingml/2006/main" xmlns:r="http://schemas.openxmlformats.org/officeDocument/2006/relationships" xmlns:p="http://schemas.openxmlformats.org/presentationml/2006/main">
  <p:tag name="PPWINTOTALSEGMENTS" val="1"/>
</p:tagLst>
</file>

<file path=ppt/tags/tag8.xml><?xml version="1.0" encoding="utf-8"?>
<p:tagLst xmlns:a="http://schemas.openxmlformats.org/drawingml/2006/main" xmlns:r="http://schemas.openxmlformats.org/officeDocument/2006/relationships" xmlns:p="http://schemas.openxmlformats.org/presentationml/2006/main">
  <p:tag name="PPWINTOTALSEGMENTS" val="1"/>
</p:tagLst>
</file>

<file path=ppt/tags/tag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xml><?xml version="1.0" encoding="utf-8"?>
<p:tagLst xmlns:a="http://schemas.openxmlformats.org/drawingml/2006/main" xmlns:r="http://schemas.openxmlformats.org/officeDocument/2006/relationships" xmlns:p="http://schemas.openxmlformats.org/presentationml/2006/main">
  <p:tag name="PPWINTOTALSEGMENTS" val="0"/>
</p:tagLst>
</file>

<file path=ppt/tags/tag13.xml><?xml version="1.0" encoding="utf-8"?>
<p:tagLst xmlns:a="http://schemas.openxmlformats.org/drawingml/2006/main" xmlns:r="http://schemas.openxmlformats.org/officeDocument/2006/relationships" xmlns:p="http://schemas.openxmlformats.org/presentationml/2006/main">
  <p:tag name="PPWINTOTALSEGMENTS" val="0"/>
</p:tagLst>
</file>

<file path=ppt/tags/tag14.xml><?xml version="1.0" encoding="utf-8"?>
<p:tagLst xmlns:a="http://schemas.openxmlformats.org/drawingml/2006/main" xmlns:r="http://schemas.openxmlformats.org/officeDocument/2006/relationships" xmlns:p="http://schemas.openxmlformats.org/presentationml/2006/main">
  <p:tag name="PPTAGGERGROUP" val="1"/>
</p:tagLst>
</file>

<file path=ppt/tags/tag15.xml><?xml version="1.0" encoding="utf-8"?>
<p:tagLst xmlns:a="http://schemas.openxmlformats.org/drawingml/2006/main" xmlns:r="http://schemas.openxmlformats.org/officeDocument/2006/relationships" xmlns:p="http://schemas.openxmlformats.org/presentationml/2006/main">
  <p:tag name="PPTAGGERGROUP" val="1"/>
</p:tagLst>
</file>

<file path=ppt/tags/tag16.xml><?xml version="1.0" encoding="utf-8"?>
<p:tagLst xmlns:a="http://schemas.openxmlformats.org/drawingml/2006/main" xmlns:r="http://schemas.openxmlformats.org/officeDocument/2006/relationships" xmlns:p="http://schemas.openxmlformats.org/presentationml/2006/main">
  <p:tag name="PPTAGGERGROUP" val="2"/>
</p:tagLst>
</file>

<file path=ppt/tags/tag17.xml><?xml version="1.0" encoding="utf-8"?>
<p:tagLst xmlns:a="http://schemas.openxmlformats.org/drawingml/2006/main" xmlns:r="http://schemas.openxmlformats.org/officeDocument/2006/relationships" xmlns:p="http://schemas.openxmlformats.org/presentationml/2006/main">
  <p:tag name="PPTAGGERGROUP" val="2"/>
</p:tagLst>
</file>

<file path=ppt/tags/tag18.xml><?xml version="1.0" encoding="utf-8"?>
<p:tagLst xmlns:a="http://schemas.openxmlformats.org/drawingml/2006/main" xmlns:r="http://schemas.openxmlformats.org/officeDocument/2006/relationships" xmlns:p="http://schemas.openxmlformats.org/presentationml/2006/main">
  <p:tag name="PPTAGGERGROUP" val="2"/>
</p:tagLst>
</file>

<file path=ppt/tags/tag19.xml><?xml version="1.0" encoding="utf-8"?>
<p:tagLst xmlns:a="http://schemas.openxmlformats.org/drawingml/2006/main" xmlns:r="http://schemas.openxmlformats.org/officeDocument/2006/relationships" xmlns:p="http://schemas.openxmlformats.org/presentationml/2006/main">
  <p:tag name="PPWINTOTALSEGMENTS"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4046</TotalTime>
  <Words>1184</Words>
  <Application>Microsoft PowerPoint</Application>
  <PresentationFormat>Affichage à l'écran (4:3)</PresentationFormat>
  <Paragraphs>127</Paragraphs>
  <Slides>16</Slides>
  <Notes>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Arial</vt:lpstr>
      <vt:lpstr>Georgia</vt:lpstr>
      <vt:lpstr>Arial Narrow</vt:lpstr>
      <vt:lpstr>Wingdings 2</vt:lpstr>
      <vt:lpstr>Wingdings</vt:lpstr>
      <vt:lpstr>Civil</vt:lpstr>
      <vt:lpstr> Chapitre 10  Maintenance d'Active Directory</vt:lpstr>
      <vt:lpstr>Plan du cours</vt:lpstr>
      <vt:lpstr>1. Déplacement et défragmentation de la base de données Active Directory</vt:lpstr>
      <vt:lpstr>La défragmentation de la BD AD</vt:lpstr>
      <vt:lpstr>La défragmentation de la BD AD</vt:lpstr>
      <vt:lpstr>Comment défragmenter une base de données Active Directory</vt:lpstr>
      <vt:lpstr>Déplacement la BD AD</vt:lpstr>
      <vt:lpstr>Comment déplacer la base de données Active Directory et les fichiers journaux</vt:lpstr>
      <vt:lpstr>2.  Sauvegarde d'Active Directory</vt:lpstr>
      <vt:lpstr>Base de données Active Directory et fichiers journaux</vt:lpstr>
      <vt:lpstr>Composants des données d'état système</vt:lpstr>
      <vt:lpstr>Sauvegarde d'Active Directory</vt:lpstr>
      <vt:lpstr>3.  Restauration d'Active Directory</vt:lpstr>
      <vt:lpstr>Restauration d'Active Directory</vt:lpstr>
      <vt:lpstr>Exercices</vt:lpstr>
      <vt:lpstr>Exercices</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Annie Chowdhry</dc:creator>
  <cp:lastModifiedBy>Halima</cp:lastModifiedBy>
  <cp:revision>403</cp:revision>
  <dcterms:created xsi:type="dcterms:W3CDTF">2002-08-07T17:51:12Z</dcterms:created>
  <dcterms:modified xsi:type="dcterms:W3CDTF">2016-03-23T20:34:22Z</dcterms:modified>
</cp:coreProperties>
</file>