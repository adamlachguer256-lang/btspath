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78.xml" ContentType="application/vnd.openxmlformats-officedocument.presentationml.tags+xml"/>
  <Override PartName="/ppt/tags/tag96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85.xml" ContentType="application/vnd.openxmlformats-officedocument.presentationml.tags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92.xml" ContentType="application/vnd.openxmlformats-officedocument.presentationml.tags+xml"/>
  <Override PartName="/ppt/tags/tag34.xml" ContentType="application/vnd.openxmlformats-officedocument.presentationml.tags+xml"/>
  <Override PartName="/ppt/notesSlides/notesSlide12.xml" ContentType="application/vnd.openxmlformats-officedocument.presentationml.notesSlide+xml"/>
  <Override PartName="/ppt/tags/tag52.xml" ContentType="application/vnd.openxmlformats-officedocument.presentationml.tags+xml"/>
  <Override PartName="/ppt/tags/tag81.xml" ContentType="application/vnd.openxmlformats-officedocument.presentationml.tags+xml"/>
  <Override PartName="/ppt/tags/tag12.xml" ContentType="application/vnd.openxmlformats-officedocument.presentationml.tags+xml"/>
  <Override PartName="/ppt/notesSlides/notesSlide7.xml" ContentType="application/vnd.openxmlformats-officedocument.presentationml.notesSlide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tags/tag70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tags/tag39.xml" ContentType="application/vnd.openxmlformats-officedocument.presentationml.tags+xml"/>
  <Override PartName="/ppt/tags/tag68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57.xml" ContentType="application/vnd.openxmlformats-officedocument.presentationml.tags+xml"/>
  <Override PartName="/ppt/tags/tag75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17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notesSlides/notesSlide13.xml" ContentType="application/vnd.openxmlformats-officedocument.presentationml.notesSlide+xml"/>
  <Override PartName="/ppt/tags/tag64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53.xml" ContentType="application/vnd.openxmlformats-officedocument.presentationml.tags+xml"/>
  <Override PartName="/ppt/tags/tag71.xml" ContentType="application/vnd.openxmlformats-officedocument.presentationml.tags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tags/tag2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87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tags/tag76.xml" ContentType="application/vnd.openxmlformats-officedocument.presentationml.tags+xml"/>
  <Override PartName="/ppt/tags/tag94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notesSlides/notesSlide14.xml" ContentType="application/vnd.openxmlformats-officedocument.presentationml.notesSlide+xml"/>
  <Override PartName="/ppt/tags/tag83.xml" ContentType="application/vnd.openxmlformats-officedocument.presentationml.tags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notesSlides/notesSlide9.xml" ContentType="application/vnd.openxmlformats-officedocument.presentationml.notesSlide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90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tags/tag50.xml" ContentType="application/vnd.openxmlformats-officedocument.presentationml.tag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slides/slide28.xml" ContentType="application/vnd.openxmlformats-officedocument.presentationml.slide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tags/tag3.xml" ContentType="application/vnd.openxmlformats-officedocument.presentationml.tags+xml"/>
  <Override PartName="/ppt/tags/tag59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9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slides/slide20.xml" ContentType="application/vnd.openxmlformats-officedocument.presentationml.slide+xml"/>
  <Override PartName="/ppt/tags/tag26.xml" ContentType="application/vnd.openxmlformats-officedocument.presentationml.tags+xml"/>
  <Override PartName="/ppt/tags/tag55.xml" ContentType="application/vnd.openxmlformats-officedocument.presentationml.tags+xml"/>
  <Override PartName="/ppt/tags/tag73.xml" ContentType="application/vnd.openxmlformats-officedocument.presentationml.tags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62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2" r:id="rId1"/>
  </p:sldMasterIdLst>
  <p:notesMasterIdLst>
    <p:notesMasterId r:id="rId38"/>
  </p:notesMasterIdLst>
  <p:handoutMasterIdLst>
    <p:handoutMasterId r:id="rId39"/>
  </p:handoutMasterIdLst>
  <p:sldIdLst>
    <p:sldId id="416" r:id="rId2"/>
    <p:sldId id="532" r:id="rId3"/>
    <p:sldId id="421" r:id="rId4"/>
    <p:sldId id="534" r:id="rId5"/>
    <p:sldId id="549" r:id="rId6"/>
    <p:sldId id="550" r:id="rId7"/>
    <p:sldId id="551" r:id="rId8"/>
    <p:sldId id="531" r:id="rId9"/>
    <p:sldId id="533" r:id="rId10"/>
    <p:sldId id="539" r:id="rId11"/>
    <p:sldId id="540" r:id="rId12"/>
    <p:sldId id="541" r:id="rId13"/>
    <p:sldId id="542" r:id="rId14"/>
    <p:sldId id="543" r:id="rId15"/>
    <p:sldId id="544" r:id="rId16"/>
    <p:sldId id="545" r:id="rId17"/>
    <p:sldId id="546" r:id="rId18"/>
    <p:sldId id="538" r:id="rId19"/>
    <p:sldId id="504" r:id="rId20"/>
    <p:sldId id="491" r:id="rId21"/>
    <p:sldId id="507" r:id="rId22"/>
    <p:sldId id="473" r:id="rId23"/>
    <p:sldId id="508" r:id="rId24"/>
    <p:sldId id="509" r:id="rId25"/>
    <p:sldId id="548" r:id="rId26"/>
    <p:sldId id="500" r:id="rId27"/>
    <p:sldId id="552" r:id="rId28"/>
    <p:sldId id="526" r:id="rId29"/>
    <p:sldId id="486" r:id="rId30"/>
    <p:sldId id="547" r:id="rId31"/>
    <p:sldId id="553" r:id="rId32"/>
    <p:sldId id="554" r:id="rId33"/>
    <p:sldId id="555" r:id="rId34"/>
    <p:sldId id="556" r:id="rId35"/>
    <p:sldId id="557" r:id="rId36"/>
    <p:sldId id="558" r:id="rId37"/>
  </p:sldIdLst>
  <p:sldSz cx="9144000" cy="6858000" type="screen4x3"/>
  <p:notesSz cx="6858000" cy="9144000"/>
  <p:embeddedFontLst>
    <p:embeddedFont>
      <p:font typeface="Georgia" pitchFamily="18" charset="0"/>
      <p:regular r:id="rId40"/>
      <p:bold r:id="rId41"/>
      <p:italic r:id="rId42"/>
      <p:boldItalic r:id="rId43"/>
    </p:embeddedFont>
    <p:embeddedFont>
      <p:font typeface="Arial Narrow" pitchFamily="34" charset="0"/>
      <p:regular r:id="rId44"/>
      <p:bold r:id="rId45"/>
      <p:italic r:id="rId46"/>
      <p:boldItalic r:id="rId47"/>
    </p:embeddedFont>
    <p:embeddedFont>
      <p:font typeface="Wingdings 2" pitchFamily="18" charset="2"/>
      <p:regular r:id="rId48"/>
    </p:embeddedFont>
  </p:embeddedFontLst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  <p:cmAuthor id="1" name="jpick" initials="" lastIdx="6" clrIdx="1"/>
  <p:cmAuthor id="2" name="Annie Chowdhry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D5D69C"/>
    <a:srgbClr val="006600"/>
    <a:srgbClr val="0000FF"/>
    <a:srgbClr val="AEE6E6"/>
    <a:srgbClr val="B5B74F"/>
    <a:srgbClr val="B395D8"/>
    <a:srgbClr val="ADE2A1"/>
    <a:srgbClr val="CC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12083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954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0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13A26CDB-CD09-4CDE-9C01-B93A2C05AAA8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E7F68AAA-7257-42BD-BDC9-085045DE4E75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6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8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9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0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9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9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79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9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73BCDE2-842E-48B3-9A9B-0EC43935D077}" type="slidenum">
              <a:rPr lang="en-US"/>
              <a:pPr/>
              <a:t>1</a:t>
            </a:fld>
            <a:endParaRPr lang="en-US"/>
          </a:p>
        </p:txBody>
      </p:sp>
      <p:sp>
        <p:nvSpPr>
          <p:cNvPr id="476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2354F1A-73C4-4D96-AFEF-F3AACE3D008D}" type="slidenum">
              <a:rPr lang="en-US"/>
              <a:pPr/>
              <a:t>2</a:t>
            </a:fld>
            <a:endParaRPr lang="en-US"/>
          </a:p>
        </p:txBody>
      </p:sp>
      <p:sp>
        <p:nvSpPr>
          <p:cNvPr id="477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7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4B94936-68F3-43E9-9F69-B90A22F76523}" type="slidenum">
              <a:rPr lang="en-US"/>
              <a:pPr/>
              <a:t>3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FCA5AD3-FAF0-47C3-95A5-8A65E4F585CB}" type="slidenum">
              <a:rPr lang="en-US"/>
              <a:pPr/>
              <a:t>8</a:t>
            </a:fld>
            <a:endParaRPr lang="en-US"/>
          </a:p>
        </p:txBody>
      </p:sp>
      <p:sp>
        <p:nvSpPr>
          <p:cNvPr id="480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4B94936-68F3-43E9-9F69-B90A22F76523}" type="slidenum">
              <a:rPr lang="en-US"/>
              <a:pPr/>
              <a:t>9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4B94936-68F3-43E9-9F69-B90A22F76523}" type="slidenum">
              <a:rPr lang="en-US"/>
              <a:pPr/>
              <a:t>18</a:t>
            </a:fld>
            <a:endParaRPr lang="en-US"/>
          </a:p>
        </p:txBody>
      </p:sp>
      <p:sp>
        <p:nvSpPr>
          <p:cNvPr id="478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550C778-0334-44A1-931C-C5D31C8F19DC}" type="slidenum">
              <a:rPr lang="en-US"/>
              <a:pPr/>
              <a:t>19</a:t>
            </a:fld>
            <a:endParaRPr lang="en-US"/>
          </a:p>
        </p:txBody>
      </p:sp>
      <p:sp>
        <p:nvSpPr>
          <p:cNvPr id="481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08C6112A-0BA5-4BB4-B6F9-7DB9155B8021}" type="slidenum">
              <a:rPr lang="en-US"/>
              <a:pPr/>
              <a:t>20</a:t>
            </a:fld>
            <a:endParaRPr lang="en-US"/>
          </a:p>
        </p:txBody>
      </p:sp>
      <p:sp>
        <p:nvSpPr>
          <p:cNvPr id="482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5912729E-BD2D-4CD7-800C-5B25309E3DA7}" type="slidenum">
              <a:rPr lang="en-US"/>
              <a:pPr/>
              <a:t>21</a:t>
            </a:fld>
            <a:endParaRPr lang="en-US"/>
          </a:p>
        </p:txBody>
      </p:sp>
      <p:sp>
        <p:nvSpPr>
          <p:cNvPr id="483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BA525EB-7546-4A2A-95C2-8A701E7503A9}" type="slidenum">
              <a:rPr lang="en-US"/>
              <a:pPr/>
              <a:t>22</a:t>
            </a:fld>
            <a:endParaRPr lang="en-US"/>
          </a:p>
        </p:txBody>
      </p:sp>
      <p:sp>
        <p:nvSpPr>
          <p:cNvPr id="486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758FDF8-BF11-4075-967C-B1CC7E4C855D}" type="slidenum">
              <a:rPr lang="en-US"/>
              <a:pPr/>
              <a:t>23</a:t>
            </a:fld>
            <a:endParaRPr lang="en-US"/>
          </a:p>
        </p:txBody>
      </p:sp>
      <p:sp>
        <p:nvSpPr>
          <p:cNvPr id="487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E75C442C-ACD4-410D-987C-80770BF18230}" type="slidenum">
              <a:rPr lang="en-US"/>
              <a:pPr/>
              <a:t>24</a:t>
            </a:fld>
            <a:endParaRPr lang="en-US"/>
          </a:p>
        </p:txBody>
      </p:sp>
      <p:sp>
        <p:nvSpPr>
          <p:cNvPr id="488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EB0DD33-BAD9-4FB6-9318-29C7F6BC1ECE}" type="slidenum">
              <a:rPr lang="en-US"/>
              <a:pPr/>
              <a:t>26</a:t>
            </a:fld>
            <a:endParaRPr 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EB0DD33-BAD9-4FB6-9318-29C7F6BC1ECE}" type="slidenum">
              <a:rPr lang="en-US"/>
              <a:pPr/>
              <a:t>27</a:t>
            </a:fld>
            <a:endParaRPr lang="en-US"/>
          </a:p>
        </p:txBody>
      </p:sp>
      <p:sp>
        <p:nvSpPr>
          <p:cNvPr id="489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436780A-ADF1-4625-B59F-A1936FBEAEB9}" type="slidenum">
              <a:rPr lang="en-US"/>
              <a:pPr/>
              <a:t>28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B61D5EA2-DEB1-4BF0-9547-7A4D682AE315}" type="slidenum">
              <a:rPr lang="en-US"/>
              <a:pPr/>
              <a:t>29</a:t>
            </a:fld>
            <a:endParaRPr lang="en-US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3/13/2016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3/13/2016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hyperlink" Target="v7.avi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hyperlink" Target="v8.avi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../media/image24.png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23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22.png"/><Relationship Id="rId5" Type="http://schemas.openxmlformats.org/officeDocument/2006/relationships/tags" Target="../tags/tag26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25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23.pn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notesSlide" Target="../notesSlides/notesSlide12.xml"/><Relationship Id="rId17" Type="http://schemas.openxmlformats.org/officeDocument/2006/relationships/image" Target="../media/image28.png"/><Relationship Id="rId2" Type="http://schemas.openxmlformats.org/officeDocument/2006/relationships/tags" Target="../tags/tag32.xml"/><Relationship Id="rId16" Type="http://schemas.openxmlformats.org/officeDocument/2006/relationships/image" Target="../media/image27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35.xml"/><Relationship Id="rId15" Type="http://schemas.openxmlformats.org/officeDocument/2006/relationships/image" Target="../media/image20.png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30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20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29.png"/><Relationship Id="rId5" Type="http://schemas.openxmlformats.org/officeDocument/2006/relationships/tags" Target="../tags/tag46.xml"/><Relationship Id="rId10" Type="http://schemas.openxmlformats.org/officeDocument/2006/relationships/image" Target="../media/image23.png"/><Relationship Id="rId4" Type="http://schemas.openxmlformats.org/officeDocument/2006/relationships/tags" Target="../tags/tag45.xml"/><Relationship Id="rId9" Type="http://schemas.openxmlformats.org/officeDocument/2006/relationships/notesSlide" Target="../notesSlides/notesSlide1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image" Target="../media/image30.png"/><Relationship Id="rId3" Type="http://schemas.openxmlformats.org/officeDocument/2006/relationships/tags" Target="../tags/tag52.xml"/><Relationship Id="rId21" Type="http://schemas.openxmlformats.org/officeDocument/2006/relationships/notesSlide" Target="../notesSlides/notesSlide14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image" Target="../media/image33.png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0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24" Type="http://schemas.openxmlformats.org/officeDocument/2006/relationships/image" Target="../media/image32.png"/><Relationship Id="rId5" Type="http://schemas.openxmlformats.org/officeDocument/2006/relationships/tags" Target="../tags/tag54.xml"/><Relationship Id="rId15" Type="http://schemas.openxmlformats.org/officeDocument/2006/relationships/tags" Target="../tags/tag64.xml"/><Relationship Id="rId23" Type="http://schemas.openxmlformats.org/officeDocument/2006/relationships/image" Target="../media/image31.png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image" Target="../media/image23.png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image" Target="../media/image30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notesSlide" Target="../notesSlides/notesSlide15.xml"/><Relationship Id="rId5" Type="http://schemas.openxmlformats.org/officeDocument/2006/relationships/tags" Target="../tags/tag74.xml"/><Relationship Id="rId15" Type="http://schemas.openxmlformats.org/officeDocument/2006/relationships/image" Target="../media/image35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1" Type="http://schemas.openxmlformats.org/officeDocument/2006/relationships/image" Target="../media/image34.png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image" Target="../media/image23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19" Type="http://schemas.openxmlformats.org/officeDocument/2006/relationships/notesSlide" Target="../notesSlides/notesSlide16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62" name="Rectangle 86"/>
          <p:cNvSpPr>
            <a:spLocks noGrp="1" noChangeArrowheads="1"/>
          </p:cNvSpPr>
          <p:nvPr>
            <p:ph type="ctrTitle"/>
          </p:nvPr>
        </p:nvSpPr>
        <p:spPr>
          <a:xfrm>
            <a:off x="566057" y="2814411"/>
            <a:ext cx="7692571" cy="2836863"/>
          </a:xfrm>
          <a:noFill/>
          <a:ln/>
        </p:spPr>
        <p:txBody>
          <a:bodyPr>
            <a:no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Chapitre 7</a:t>
            </a:r>
            <a:r>
              <a:rPr lang="fr-FR" sz="4800" dirty="0">
                <a:solidFill>
                  <a:srgbClr val="000000"/>
                </a:solidFill>
              </a:rPr>
              <a:t> </a:t>
            </a:r>
            <a:r>
              <a:rPr lang="fr-FR" sz="4800" dirty="0" smtClean="0">
                <a:solidFill>
                  <a:srgbClr val="000000"/>
                </a:solidFill>
              </a:rPr>
              <a:t> </a:t>
            </a:r>
            <a:br>
              <a:rPr lang="fr-FR" sz="4800" dirty="0" smtClean="0">
                <a:solidFill>
                  <a:srgbClr val="000000"/>
                </a:solidFill>
              </a:rPr>
            </a:br>
            <a:r>
              <a:rPr lang="fr-FR" sz="4800" dirty="0" smtClean="0">
                <a:solidFill>
                  <a:srgbClr val="000000"/>
                </a:solidFill>
              </a:rPr>
              <a:t>Implémentation </a:t>
            </a:r>
            <a:r>
              <a:rPr lang="fr-FR" sz="4800" dirty="0">
                <a:solidFill>
                  <a:srgbClr val="000000"/>
                </a:solidFill>
              </a:rPr>
              <a:t>de sites pour gérer la réplication Active Directory </a:t>
            </a:r>
            <a:endParaRPr lang="en-US" sz="48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931889" y="893019"/>
            <a:ext cx="329474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dirty="0" smtClean="0">
                <a:solidFill>
                  <a:srgbClr val="000000"/>
                </a:solidFill>
              </a:rPr>
              <a:t>Module S44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0000"/>
                </a:solidFill>
              </a:rPr>
              <a:t>Plan du cours</a:t>
            </a:r>
            <a:endParaRPr lang="en-US" b="1" dirty="0"/>
          </a:p>
        </p:txBody>
      </p:sp>
      <p:sp>
        <p:nvSpPr>
          <p:cNvPr id="287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991505"/>
            <a:ext cx="8503920" cy="3161066"/>
          </a:xfrm>
        </p:spPr>
        <p:txBody>
          <a:bodyPr>
            <a:normAutofit lnSpcReduction="10000"/>
          </a:bodyPr>
          <a:lstStyle/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Fonctionnement de la réplication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Optimisation de la réplication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Topologie de réplication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Utilisation des sites pour optimiser la réplication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Résolution des conflits de réplication </a:t>
            </a:r>
          </a:p>
          <a:p>
            <a:pPr marL="514350" indent="-514350">
              <a:buClrTx/>
              <a:buFont typeface="+mj-lt"/>
              <a:buAutoNum type="arabicPeriod"/>
            </a:pPr>
            <a:r>
              <a:rPr lang="fr-FR" b="1" dirty="0" smtClean="0"/>
              <a:t> Protocoles de réplication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1"/>
                </a:solidFill>
              </a:rPr>
              <a:t>1. Fonctionnement de la réplication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72724" y="2238248"/>
            <a:ext cx="8503920" cy="141935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Présentation de la réplication 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fr-FR" b="1" dirty="0">
                <a:solidFill>
                  <a:srgbClr val="C00000"/>
                </a:solidFill>
              </a:rPr>
              <a:t>Réplication d'attributs à valeurs multiples </a:t>
            </a:r>
            <a:r>
              <a:rPr lang="fr-FR" b="1" dirty="0" smtClean="0">
                <a:solidFill>
                  <a:srgbClr val="C00000"/>
                </a:solidFill>
              </a:rPr>
              <a:t>liés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Présentation de la réplication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2310819"/>
            <a:ext cx="8503920" cy="3291696"/>
          </a:xfrm>
        </p:spPr>
        <p:txBody>
          <a:bodyPr/>
          <a:lstStyle/>
          <a:p>
            <a:r>
              <a:rPr lang="fr-FR" dirty="0" smtClean="0"/>
              <a:t>La réplication est le processus permettant la propagation dans d’autres DC d’une modification affectant un objet AD dans un DC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Une réplication a lieu en réponse à des modification dans l’une des copies de la base de données AD (ex: Ajout d’un objet AD)</a:t>
            </a:r>
          </a:p>
          <a:p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b="23268"/>
          <a:stretch>
            <a:fillRect/>
          </a:stretch>
        </p:blipFill>
        <p:spPr bwMode="auto">
          <a:xfrm>
            <a:off x="4071115" y="2276696"/>
            <a:ext cx="4901887" cy="3398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76732"/>
          <a:stretch>
            <a:fillRect/>
          </a:stretch>
        </p:blipFill>
        <p:spPr bwMode="auto">
          <a:xfrm>
            <a:off x="4067945" y="5675086"/>
            <a:ext cx="4901887" cy="1030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537029" y="2423886"/>
            <a:ext cx="2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Ajout</a:t>
            </a:r>
            <a:endParaRPr lang="fr-FR" sz="2400" dirty="0"/>
          </a:p>
        </p:txBody>
      </p:sp>
      <p:grpSp>
        <p:nvGrpSpPr>
          <p:cNvPr id="9" name="Groupe 8"/>
          <p:cNvGrpSpPr/>
          <p:nvPr/>
        </p:nvGrpSpPr>
        <p:grpSpPr>
          <a:xfrm>
            <a:off x="2737120" y="4122057"/>
            <a:ext cx="4232037" cy="2008874"/>
            <a:chOff x="2737120" y="4122057"/>
            <a:chExt cx="4232037" cy="2008874"/>
          </a:xfrm>
        </p:grpSpPr>
        <p:sp>
          <p:nvSpPr>
            <p:cNvPr id="8" name="Organigramme : Fusion 7"/>
            <p:cNvSpPr/>
            <p:nvPr/>
          </p:nvSpPr>
          <p:spPr>
            <a:xfrm rot="18571358">
              <a:off x="5211271" y="4373045"/>
              <a:ext cx="1415165" cy="2100607"/>
            </a:xfrm>
            <a:prstGeom prst="flowChartMerg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737120" y="4122057"/>
              <a:ext cx="2834552" cy="1942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10" name="ZoneTexte 9"/>
          <p:cNvSpPr txBox="1"/>
          <p:nvPr/>
        </p:nvSpPr>
        <p:spPr>
          <a:xfrm>
            <a:off x="537029" y="2881090"/>
            <a:ext cx="2656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Modification</a:t>
            </a:r>
            <a:endParaRPr lang="fr-FR" sz="2400" dirty="0"/>
          </a:p>
        </p:txBody>
      </p:sp>
      <p:sp>
        <p:nvSpPr>
          <p:cNvPr id="11" name="Rectangle 10"/>
          <p:cNvSpPr/>
          <p:nvPr/>
        </p:nvSpPr>
        <p:spPr>
          <a:xfrm>
            <a:off x="6647546" y="4093029"/>
            <a:ext cx="2264226" cy="4644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>
                <a:solidFill>
                  <a:schemeClr val="tx1"/>
                </a:solidFill>
              </a:rPr>
              <a:t>Bts</a:t>
            </a:r>
            <a:r>
              <a:rPr lang="fr-FR" dirty="0" smtClean="0">
                <a:solidFill>
                  <a:schemeClr val="tx1"/>
                </a:solidFill>
              </a:rPr>
              <a:t>-Ordinateurs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537029" y="3352804"/>
            <a:ext cx="3643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Modification du conteneur</a:t>
            </a:r>
            <a:endParaRPr lang="fr-FR" sz="2400" dirty="0"/>
          </a:p>
        </p:txBody>
      </p:sp>
      <p:sp>
        <p:nvSpPr>
          <p:cNvPr id="13" name="ZoneTexte 12"/>
          <p:cNvSpPr txBox="1"/>
          <p:nvPr/>
        </p:nvSpPr>
        <p:spPr>
          <a:xfrm>
            <a:off x="537029" y="3868064"/>
            <a:ext cx="3643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2400" dirty="0" smtClean="0"/>
              <a:t>Suppression</a:t>
            </a:r>
            <a:endParaRPr lang="fr-FR" sz="2400" dirty="0"/>
          </a:p>
        </p:txBody>
      </p:sp>
      <p:sp>
        <p:nvSpPr>
          <p:cNvPr id="14" name="Titre 1"/>
          <p:cNvSpPr txBox="1">
            <a:spLocks/>
          </p:cNvSpPr>
          <p:nvPr/>
        </p:nvSpPr>
        <p:spPr>
          <a:xfrm>
            <a:off x="304806" y="308428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Présentation de la réplication</a:t>
            </a:r>
            <a:endParaRPr kumimoji="0" lang="fr-FR" sz="3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10458" y="1341735"/>
            <a:ext cx="87158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Une réplication a lieu en réponse à des modification dans l’une des copies de la base de données 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t="3673" b="2295"/>
          <a:stretch>
            <a:fillRect/>
          </a:stretch>
        </p:blipFill>
        <p:spPr bwMode="auto">
          <a:xfrm>
            <a:off x="213406" y="1277263"/>
            <a:ext cx="8727394" cy="432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5866816"/>
            <a:ext cx="9144000" cy="860553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273050" indent="-11113">
              <a:buNone/>
            </a:pPr>
            <a:r>
              <a:rPr lang="fr-FR" sz="22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Lorsqu’une modification intervient sur un DC, celui-ci notifie ses partenaires de réplication à l’intérieur du même site </a:t>
            </a:r>
          </a:p>
          <a:p>
            <a:endParaRPr lang="fr-FR" sz="2200" b="1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fr-FR" sz="22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0" y="5852307"/>
            <a:ext cx="9144000" cy="86055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>
            <a:normAutofit/>
          </a:bodyPr>
          <a:lstStyle/>
          <a:p>
            <a:pPr marL="273050" marR="0" lvl="0" indent="-111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fr-FR" sz="2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Les partenaires de réplication demandent</a:t>
            </a:r>
            <a:r>
              <a:rPr kumimoji="0" lang="fr-FR" sz="2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alors les modifications auprès du DC</a:t>
            </a:r>
            <a:endParaRPr kumimoji="0" lang="fr-FR" sz="2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fr-FR" sz="2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fr-FR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5515429" y="2119086"/>
            <a:ext cx="1814285" cy="682171"/>
          </a:xfrm>
          <a:prstGeom prst="roundRect">
            <a:avLst/>
          </a:prstGeom>
          <a:solidFill>
            <a:srgbClr val="D5D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002060"/>
                </a:solidFill>
              </a:rPr>
              <a:t>Demande de modification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7104743" y="3360058"/>
            <a:ext cx="1814285" cy="682171"/>
          </a:xfrm>
          <a:prstGeom prst="roundRect">
            <a:avLst/>
          </a:prstGeom>
          <a:solidFill>
            <a:srgbClr val="D5D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002060"/>
                </a:solidFill>
              </a:rPr>
              <a:t>Demande de modification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5080000" y="4426858"/>
            <a:ext cx="1814285" cy="682171"/>
          </a:xfrm>
          <a:prstGeom prst="roundRect">
            <a:avLst/>
          </a:prstGeom>
          <a:solidFill>
            <a:srgbClr val="D5D69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002060"/>
                </a:solidFill>
              </a:rPr>
              <a:t>Demande de modification</a:t>
            </a:r>
            <a:endParaRPr lang="fr-FR" dirty="0">
              <a:solidFill>
                <a:srgbClr val="002060"/>
              </a:solidFill>
            </a:endParaRPr>
          </a:p>
        </p:txBody>
      </p:sp>
      <p:sp>
        <p:nvSpPr>
          <p:cNvPr id="16" name="Espace réservé du contenu 2"/>
          <p:cNvSpPr txBox="1">
            <a:spLocks/>
          </p:cNvSpPr>
          <p:nvPr/>
        </p:nvSpPr>
        <p:spPr>
          <a:xfrm>
            <a:off x="0" y="5866822"/>
            <a:ext cx="9144000" cy="809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273050" marR="0" lvl="0" indent="-111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kumimoji="0" lang="fr-FR" sz="22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Le DC source répond à la demande</a:t>
            </a:r>
            <a:r>
              <a:rPr kumimoji="0" lang="fr-FR" sz="220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de modification en envoyant les informations actualisées ou il la place dans une file d’attente</a:t>
            </a:r>
            <a:endParaRPr kumimoji="0" lang="fr-FR" sz="2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fr-FR" sz="22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Char char=""/>
              <a:tabLst/>
              <a:defRPr/>
            </a:pPr>
            <a:endParaRPr kumimoji="0" lang="fr-FR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2315028" y="2561771"/>
            <a:ext cx="2090057" cy="41365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Mise à jour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8" name="Rectangle à coins arrondis 17"/>
          <p:cNvSpPr/>
          <p:nvPr/>
        </p:nvSpPr>
        <p:spPr>
          <a:xfrm>
            <a:off x="2286000" y="2532743"/>
            <a:ext cx="2090057" cy="44268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Mise à jour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9" name="Rectangle à coins arrondis 18"/>
          <p:cNvSpPr/>
          <p:nvPr/>
        </p:nvSpPr>
        <p:spPr>
          <a:xfrm>
            <a:off x="2285999" y="2532742"/>
            <a:ext cx="2090057" cy="42817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Mise à jour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0" name="Titre 1"/>
          <p:cNvSpPr txBox="1">
            <a:spLocks/>
          </p:cNvSpPr>
          <p:nvPr/>
        </p:nvSpPr>
        <p:spPr>
          <a:xfrm>
            <a:off x="304806" y="308428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Présentation de la réplication</a:t>
            </a:r>
            <a:endParaRPr kumimoji="0" lang="fr-FR" sz="3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04046E-6 L 0.26024 0.2136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07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33526E-6 L 0.48576 0.1352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68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42775E-6 L 0.27934 0.03815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" y="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9202 0.08023 " pathEditMode="relative" ptsTypes="AA">
                                      <p:cBhvr>
                                        <p:cTn id="5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65556 -0.10798 " pathEditMode="relative" ptsTypes="AA">
                                      <p:cBhvr>
                                        <p:cTn id="5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3177 -0.26011 " pathEditMode="relative" ptsTypes="AA">
                                      <p:cBhvr>
                                        <p:cTn id="6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5" presetClass="exit" presetSubtype="10" fill="hold" grpId="2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4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7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70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04046E-6 L 0.26024 0.21364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107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33526E-6 L 0.48576 0.13526 " pathEditMode="relative" rAng="0" ptsTypes="AA">
                                      <p:cBhvr>
                                        <p:cTn id="9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" y="68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42775E-6 L 0.27934 0.03815 " pathEditMode="relative" rAng="0" ptsTypes="AA">
                                      <p:cBhvr>
                                        <p:cTn id="9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" y="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8" grpId="0" animBg="1"/>
      <p:bldP spid="8" grpId="1" animBg="1"/>
      <p:bldP spid="8" grpId="2" animBg="1"/>
      <p:bldP spid="12" grpId="0" uiExpand="1" build="p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5" grpId="0" animBg="1"/>
      <p:bldP spid="15" grpId="1" animBg="1"/>
      <p:bldP spid="15" grpId="2" animBg="1"/>
      <p:bldP spid="16" grpId="0" uiExpand="1" build="p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t="3673" b="2295"/>
          <a:stretch>
            <a:fillRect/>
          </a:stretch>
        </p:blipFill>
        <p:spPr bwMode="auto">
          <a:xfrm>
            <a:off x="213406" y="1277263"/>
            <a:ext cx="8789672" cy="435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itre 1"/>
          <p:cNvSpPr txBox="1">
            <a:spLocks/>
          </p:cNvSpPr>
          <p:nvPr/>
        </p:nvSpPr>
        <p:spPr>
          <a:xfrm>
            <a:off x="304806" y="308428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3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Présentation de la réplication</a:t>
            </a:r>
            <a:endParaRPr kumimoji="0" lang="fr-FR" sz="33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3" name="Rectangle à coins arrondis 22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2177142" y="2438399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5" name="AutoShape 972"/>
          <p:cNvSpPr>
            <a:spLocks noChangeArrowheads="1"/>
          </p:cNvSpPr>
          <p:nvPr/>
        </p:nvSpPr>
        <p:spPr bwMode="auto">
          <a:xfrm>
            <a:off x="880382" y="1873245"/>
            <a:ext cx="2588532" cy="381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Délai de 15 secondes</a:t>
            </a:r>
            <a:endParaRPr lang="en-US" sz="2200" dirty="0"/>
          </a:p>
        </p:txBody>
      </p:sp>
      <p:pic>
        <p:nvPicPr>
          <p:cNvPr id="26" name="Picture 973" descr="Clock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8125" y="1675487"/>
            <a:ext cx="676275" cy="742950"/>
          </a:xfrm>
          <a:prstGeom prst="rect">
            <a:avLst/>
          </a:prstGeom>
          <a:noFill/>
        </p:spPr>
      </p:pic>
      <p:sp>
        <p:nvSpPr>
          <p:cNvPr id="27" name="Espace réservé du contenu 2"/>
          <p:cNvSpPr>
            <a:spLocks noGrp="1"/>
          </p:cNvSpPr>
          <p:nvPr>
            <p:ph sz="quarter" idx="1"/>
          </p:nvPr>
        </p:nvSpPr>
        <p:spPr>
          <a:xfrm>
            <a:off x="0" y="5649106"/>
            <a:ext cx="9144000" cy="115083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273050" indent="-11113">
              <a:buNone/>
            </a:pPr>
            <a:r>
              <a:rPr lang="fr-FR" sz="2200" b="1" dirty="0" smtClean="0">
                <a:solidFill>
                  <a:schemeClr val="tx1"/>
                </a:solidFill>
              </a:rPr>
              <a:t>Lorsqu’une modification intervient sur un DC, un délai s’écoule avant que le premier partenaire de réplication directe soit notifié: 15 secondes</a:t>
            </a:r>
            <a:endParaRPr lang="fr-FR" sz="2200" b="1" dirty="0">
              <a:solidFill>
                <a:schemeClr val="tx1"/>
              </a:solidFill>
            </a:endParaRPr>
          </a:p>
        </p:txBody>
      </p:sp>
      <p:sp>
        <p:nvSpPr>
          <p:cNvPr id="28" name="AutoShape 972"/>
          <p:cNvSpPr>
            <a:spLocks noChangeArrowheads="1"/>
          </p:cNvSpPr>
          <p:nvPr/>
        </p:nvSpPr>
        <p:spPr bwMode="auto">
          <a:xfrm>
            <a:off x="902156" y="1865991"/>
            <a:ext cx="2588532" cy="381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sz="2200" dirty="0" smtClean="0">
                <a:solidFill>
                  <a:srgbClr val="000000"/>
                </a:solidFill>
              </a:rPr>
              <a:t>Délai de 3 secondes</a:t>
            </a:r>
            <a:endParaRPr lang="en-US" sz="2200" dirty="0"/>
          </a:p>
        </p:txBody>
      </p:sp>
      <p:sp>
        <p:nvSpPr>
          <p:cNvPr id="29" name="Espace réservé du contenu 2"/>
          <p:cNvSpPr txBox="1">
            <a:spLocks/>
          </p:cNvSpPr>
          <p:nvPr/>
        </p:nvSpPr>
        <p:spPr>
          <a:xfrm>
            <a:off x="-43542" y="5649106"/>
            <a:ext cx="9144000" cy="11508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>
            <a:normAutofit/>
          </a:bodyPr>
          <a:lstStyle/>
          <a:p>
            <a:pPr marL="273050" marR="0" lvl="0" indent="-111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fr-FR" sz="2200" dirty="0" smtClean="0">
                <a:solidFill>
                  <a:schemeClr val="tx1"/>
                </a:solidFill>
              </a:rPr>
              <a:t>Les partenaires de réplication supplémentaire sont ensuite notifiés à intervalle de 3 secondes</a:t>
            </a:r>
            <a:endParaRPr kumimoji="0" lang="fr-FR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Espace réservé du contenu 2"/>
          <p:cNvSpPr txBox="1">
            <a:spLocks/>
          </p:cNvSpPr>
          <p:nvPr/>
        </p:nvSpPr>
        <p:spPr>
          <a:xfrm>
            <a:off x="-58056" y="5649106"/>
            <a:ext cx="9144000" cy="11508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>
            <a:normAutofit/>
          </a:bodyPr>
          <a:lstStyle/>
          <a:p>
            <a:pPr marL="273050" marR="0" lvl="0" indent="-111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fr-FR" sz="2200" dirty="0" smtClean="0">
                <a:solidFill>
                  <a:schemeClr val="tx1"/>
                </a:solidFill>
              </a:rPr>
              <a:t>Les mises à jour d’attribut susceptibles d’affecter la sécurité n’attendent pas le délai de 15 secondes. Elles déclenchent une notification de modification immédiate</a:t>
            </a:r>
            <a:endParaRPr kumimoji="0" lang="fr-FR" sz="2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74168" y="1248237"/>
            <a:ext cx="8828883" cy="4339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à coins arrondis 10"/>
          <p:cNvSpPr/>
          <p:nvPr/>
        </p:nvSpPr>
        <p:spPr>
          <a:xfrm>
            <a:off x="101598" y="5021943"/>
            <a:ext cx="4034971" cy="44994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rgbClr val="C00000"/>
                </a:solidFill>
              </a:rPr>
              <a:t>Réplication urgente</a:t>
            </a:r>
            <a:endParaRPr lang="fr-FR" sz="2400" dirty="0">
              <a:solidFill>
                <a:srgbClr val="C00000"/>
              </a:solidFill>
            </a:endParaRPr>
          </a:p>
        </p:txBody>
      </p:sp>
      <p:sp>
        <p:nvSpPr>
          <p:cNvPr id="31" name="Rectangle à coins arrondis 30"/>
          <p:cNvSpPr/>
          <p:nvPr/>
        </p:nvSpPr>
        <p:spPr>
          <a:xfrm>
            <a:off x="2315028" y="3185885"/>
            <a:ext cx="2090057" cy="711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rgbClr val="C00000"/>
                </a:solidFill>
              </a:rPr>
              <a:t>Notification de modification</a:t>
            </a:r>
            <a:endParaRPr lang="fr-FR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58382E-6 L 0.2967 0.31075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" y="1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0" presetClass="path" presetSubtype="0" accel="50000" decel="5000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3.05556E-6 3.58382E-6 L 0.52864 0.15861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" y="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0" presetClass="path" presetSubtype="0" accel="50000" decel="5000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3.05556E-6 3.58382E-6 L 0.30625 0.00208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" y="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xit" presetSubtype="1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9" dur="10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2" dur="10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100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4971E-6 L 0.50139 0.0252 " pathEditMode="relative" rAng="0" ptsTypes="AA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" y="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1" animBg="1"/>
      <p:bldP spid="27" grpId="0" uiExpand="1" build="p" animBg="1"/>
      <p:bldP spid="27" grpId="1" uiExpand="1" build="p" animBg="1"/>
      <p:bldP spid="28" grpId="0" animBg="1"/>
      <p:bldP spid="29" grpId="0" uiExpand="1" build="p" animBg="1"/>
      <p:bldP spid="30" grpId="0" uiExpand="1" build="p" animBg="1"/>
      <p:bldP spid="11" grpId="0" animBg="1"/>
      <p:bldP spid="31" grpId="0" animBg="1"/>
      <p:bldP spid="3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Réplication d'attributs à valeurs multiples liés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474170" name="Group 58"/>
          <p:cNvGraphicFramePr>
            <a:graphicFrameLocks noGrp="1"/>
          </p:cNvGraphicFramePr>
          <p:nvPr/>
        </p:nvGraphicFramePr>
        <p:xfrm>
          <a:off x="174171" y="2884488"/>
          <a:ext cx="8766630" cy="3016251"/>
        </p:xfrm>
        <a:graphic>
          <a:graphicData uri="http://schemas.openxmlformats.org/drawingml/2006/table">
            <a:tbl>
              <a:tblPr/>
              <a:tblGrid>
                <a:gridCol w="3886824"/>
                <a:gridCol w="4879806"/>
              </a:tblGrid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Niveau fonctionnel de la forêt</a:t>
                      </a:r>
                      <a:endParaRPr kumimoji="0" lang="en-US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Que se produit-il ? </a:t>
                      </a:r>
                      <a:endParaRPr kumimoji="0" 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228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 Narrow" pitchFamily="34" charset="0"/>
                        </a:rPr>
                        <a:t>&lt;</a:t>
                      </a: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Windows Server 2003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 modification entraîne la réplication de toute la liste des membres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303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 Narrow" pitchFamily="34" charset="0"/>
                        </a:rPr>
                        <a:t>=</a:t>
                      </a:r>
                      <a:r>
                        <a:rPr kumimoji="0" lang="fr-FR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Windows Server 2003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6500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0" lang="fr-FR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 réplication s'applique à chaque valeur, et non à l'attribut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74161" name="AutoShape 49"/>
          <p:cNvSpPr>
            <a:spLocks noChangeArrowheads="1"/>
          </p:cNvSpPr>
          <p:nvPr/>
        </p:nvSpPr>
        <p:spPr bwMode="auto">
          <a:xfrm>
            <a:off x="217714" y="1557338"/>
            <a:ext cx="8737600" cy="847725"/>
          </a:xfrm>
          <a:prstGeom prst="roundRect">
            <a:avLst>
              <a:gd name="adj" fmla="val 19477"/>
            </a:avLst>
          </a:prstGeom>
          <a:gradFill rotWithShape="1">
            <a:gsLst>
              <a:gs pos="0">
                <a:srgbClr val="EAABA0"/>
              </a:gs>
              <a:gs pos="100000">
                <a:srgbClr val="F6D9D4"/>
              </a:gs>
            </a:gsLst>
            <a:lin ang="27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 sz="2400">
                <a:solidFill>
                  <a:srgbClr val="000000"/>
                </a:solidFill>
              </a:rPr>
              <a:t>La réplication des attributs multivaleurs liés dépend du niveau fonctionnel de la forêt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2. Résolution des conflits de réplication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2165677"/>
            <a:ext cx="8503920" cy="2769181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Clr>
                <a:schemeClr val="tx1"/>
              </a:buClr>
            </a:pPr>
            <a:r>
              <a:rPr lang="en-US" b="1" dirty="0" smtClean="0">
                <a:solidFill>
                  <a:srgbClr val="C00000"/>
                </a:solidFill>
              </a:rPr>
              <a:t>Comment </a:t>
            </a:r>
            <a:r>
              <a:rPr lang="en-US" b="1" dirty="0" err="1" smtClean="0">
                <a:solidFill>
                  <a:srgbClr val="C00000"/>
                </a:solidFill>
              </a:rPr>
              <a:t>s’effectue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une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réplication</a:t>
            </a:r>
            <a:r>
              <a:rPr lang="en-US" b="1" dirty="0" smtClean="0">
                <a:solidFill>
                  <a:srgbClr val="C00000"/>
                </a:solidFill>
              </a:rPr>
              <a:t>?</a:t>
            </a:r>
          </a:p>
          <a:p>
            <a:pPr marL="514350" indent="-514350">
              <a:buClr>
                <a:schemeClr val="tx1"/>
              </a:buClr>
            </a:pPr>
            <a:r>
              <a:rPr lang="en-US" b="1" dirty="0" smtClean="0">
                <a:solidFill>
                  <a:srgbClr val="C00000"/>
                </a:solidFill>
              </a:rPr>
              <a:t>Cachet global unique</a:t>
            </a:r>
          </a:p>
          <a:p>
            <a:pPr marL="514350" indent="-514350">
              <a:buClr>
                <a:schemeClr val="tx1"/>
              </a:buClr>
            </a:pPr>
            <a:r>
              <a:rPr lang="en-US" b="1" dirty="0" err="1" smtClean="0">
                <a:solidFill>
                  <a:srgbClr val="C00000"/>
                </a:solidFill>
              </a:rPr>
              <a:t>Présentation</a:t>
            </a:r>
            <a:r>
              <a:rPr lang="en-US" b="1" dirty="0" smtClean="0">
                <a:solidFill>
                  <a:srgbClr val="C00000"/>
                </a:solidFill>
              </a:rPr>
              <a:t> de </a:t>
            </a:r>
            <a:r>
              <a:rPr lang="en-US" b="1" dirty="0" err="1" smtClean="0">
                <a:solidFill>
                  <a:srgbClr val="C00000"/>
                </a:solidFill>
              </a:rPr>
              <a:t>conflits</a:t>
            </a:r>
            <a:r>
              <a:rPr lang="en-US" b="1" dirty="0" smtClean="0">
                <a:solidFill>
                  <a:srgbClr val="C00000"/>
                </a:solidFill>
              </a:rPr>
              <a:t> de </a:t>
            </a:r>
            <a:r>
              <a:rPr lang="en-US" b="1" dirty="0" err="1" smtClean="0">
                <a:solidFill>
                  <a:srgbClr val="C00000"/>
                </a:solidFill>
              </a:rPr>
              <a:t>réplication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</a:pPr>
            <a:r>
              <a:rPr lang="en-US" b="1" dirty="0" smtClean="0">
                <a:solidFill>
                  <a:srgbClr val="C00000"/>
                </a:solidFill>
              </a:rPr>
              <a:t>Types de </a:t>
            </a:r>
            <a:r>
              <a:rPr lang="en-US" b="1" dirty="0" err="1" smtClean="0">
                <a:solidFill>
                  <a:srgbClr val="C00000"/>
                </a:solidFill>
              </a:rPr>
              <a:t>conflits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</a:pPr>
            <a:r>
              <a:rPr lang="en-US" b="1" dirty="0" err="1" smtClean="0">
                <a:solidFill>
                  <a:srgbClr val="C00000"/>
                </a:solidFill>
              </a:rPr>
              <a:t>Conflit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d’attribut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</a:pPr>
            <a:r>
              <a:rPr lang="en-US" b="1" dirty="0" err="1" smtClean="0">
                <a:solidFill>
                  <a:srgbClr val="C00000"/>
                </a:solidFill>
              </a:rPr>
              <a:t>Conflit</a:t>
            </a:r>
            <a:r>
              <a:rPr lang="en-US" b="1" dirty="0" smtClean="0">
                <a:solidFill>
                  <a:srgbClr val="C00000"/>
                </a:solidFill>
              </a:rPr>
              <a:t> de </a:t>
            </a:r>
            <a:r>
              <a:rPr lang="en-US" b="1" dirty="0" err="1" smtClean="0">
                <a:solidFill>
                  <a:srgbClr val="C00000"/>
                </a:solidFill>
              </a:rPr>
              <a:t>conteneur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supprimé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Clr>
                <a:schemeClr val="tx1"/>
              </a:buClr>
            </a:pPr>
            <a:r>
              <a:rPr lang="en-US" b="1" dirty="0" err="1" smtClean="0">
                <a:solidFill>
                  <a:srgbClr val="C00000"/>
                </a:solidFill>
              </a:rPr>
              <a:t>Conflit</a:t>
            </a:r>
            <a:r>
              <a:rPr lang="en-US" b="1" dirty="0" smtClean="0">
                <a:solidFill>
                  <a:srgbClr val="C00000"/>
                </a:solidFill>
              </a:rPr>
              <a:t> RDN</a:t>
            </a:r>
          </a:p>
          <a:p>
            <a:pPr marL="514350" indent="-514350">
              <a:buClr>
                <a:schemeClr val="tx1"/>
              </a:buClr>
            </a:pP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Comment s’effectue une réplication?</a:t>
            </a:r>
            <a:endParaRPr lang="fr-FR" sz="3000" b="1" dirty="0">
              <a:solidFill>
                <a:srgbClr val="C00000"/>
              </a:solidFill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5384799" y="1436914"/>
            <a:ext cx="3377329" cy="3410857"/>
          </a:xfrm>
        </p:spPr>
        <p:txBody>
          <a:bodyPr/>
          <a:lstStyle/>
          <a:p>
            <a:pPr marL="273050" indent="-11113">
              <a:buNone/>
            </a:pPr>
            <a:r>
              <a:rPr lang="fr-FR" dirty="0" smtClean="0"/>
              <a:t>AD réplique les mises à jour au niveau attribut, de sorte que seule la valeur d’attribut mise à jour est répliquée.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252" y="1386101"/>
            <a:ext cx="5111977" cy="3799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Chevron 8"/>
          <p:cNvSpPr/>
          <p:nvPr/>
        </p:nvSpPr>
        <p:spPr>
          <a:xfrm>
            <a:off x="1364333" y="5239657"/>
            <a:ext cx="6749164" cy="566057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dirty="0" smtClean="0">
                <a:solidFill>
                  <a:srgbClr val="C00000"/>
                </a:solidFill>
              </a:rPr>
              <a:t>Réduit le trafic réseau</a:t>
            </a:r>
            <a:endParaRPr lang="fr-FR" sz="2200" dirty="0">
              <a:solidFill>
                <a:srgbClr val="C00000"/>
              </a:solidFill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1400620" y="5914561"/>
            <a:ext cx="6770933" cy="566057"/>
          </a:xfrm>
          <a:prstGeom prst="chevron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200" dirty="0" smtClean="0">
                <a:solidFill>
                  <a:srgbClr val="C00000"/>
                </a:solidFill>
              </a:rPr>
              <a:t>Réduit le risque de conflit de réplication</a:t>
            </a:r>
            <a:endParaRPr lang="fr-FR" sz="2200" dirty="0">
              <a:solidFill>
                <a:srgbClr val="C00000"/>
              </a:solidFill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4152" y="1335315"/>
            <a:ext cx="8626022" cy="3904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025" y="1367291"/>
            <a:ext cx="8660718" cy="3872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ZoneTexte 12"/>
          <p:cNvSpPr txBox="1"/>
          <p:nvPr/>
        </p:nvSpPr>
        <p:spPr>
          <a:xfrm>
            <a:off x="174171" y="5174206"/>
            <a:ext cx="8969829" cy="16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 smtClean="0"/>
              <a:t>Chaque attribut possède un numéro de version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q"/>
            </a:pPr>
            <a:r>
              <a:rPr lang="fr-FR" sz="2400" dirty="0" smtClean="0"/>
              <a:t>Lorsqu’une mise à jour est implémentée, le numéro de version  de l’attribut est incrémenté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3" grpId="0" uiExpand="1" build="allAtOnce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Cachet global unique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1158095"/>
          </a:xfrm>
        </p:spPr>
        <p:txBody>
          <a:bodyPr/>
          <a:lstStyle/>
          <a:p>
            <a:pPr marL="273050" indent="-11113">
              <a:buNone/>
            </a:pPr>
            <a:r>
              <a:rPr lang="fr-FR" dirty="0" smtClean="0"/>
              <a:t>Pour résoudre certains conflits, AD emploie un </a:t>
            </a:r>
            <a:r>
              <a:rPr lang="fr-FR" b="1" dirty="0" smtClean="0"/>
              <a:t>cachet unique global</a:t>
            </a:r>
            <a:endParaRPr lang="fr-FR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579" y="2741159"/>
            <a:ext cx="8535766" cy="30935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Présentation de conflits de réplication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"/>
          </p:nvPr>
        </p:nvSpPr>
        <p:spPr>
          <a:xfrm>
            <a:off x="287238" y="1596572"/>
            <a:ext cx="8522933" cy="1074057"/>
          </a:xfrm>
        </p:spPr>
        <p:txBody>
          <a:bodyPr/>
          <a:lstStyle/>
          <a:p>
            <a:pPr>
              <a:buClrTx/>
              <a:buFont typeface="Wingdings" pitchFamily="2" charset="2"/>
              <a:buChar char="q"/>
            </a:pPr>
            <a:r>
              <a:rPr lang="fr-FR" dirty="0" smtClean="0"/>
              <a:t>La réplication dans AD est basée sur un modèle multi-maîtres</a:t>
            </a:r>
            <a:endParaRPr lang="fr-FR" dirty="0"/>
          </a:p>
        </p:txBody>
      </p:sp>
      <p:sp>
        <p:nvSpPr>
          <p:cNvPr id="9" name="Pentagone 8"/>
          <p:cNvSpPr/>
          <p:nvPr/>
        </p:nvSpPr>
        <p:spPr>
          <a:xfrm>
            <a:off x="609600" y="2830286"/>
            <a:ext cx="7634514" cy="1248228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 smtClean="0">
                <a:solidFill>
                  <a:srgbClr val="C00000"/>
                </a:solidFill>
              </a:rPr>
              <a:t>Des conflits peuvent se produire lorsque des mises à jour simultanés sont incohérentes</a:t>
            </a:r>
            <a:endParaRPr lang="fr-FR" sz="2400" dirty="0">
              <a:solidFill>
                <a:srgbClr val="C00000"/>
              </a:solidFill>
            </a:endParaRPr>
          </a:p>
        </p:txBody>
      </p:sp>
      <p:sp>
        <p:nvSpPr>
          <p:cNvPr id="11" name="Espace réservé du contenu 6"/>
          <p:cNvSpPr txBox="1">
            <a:spLocks/>
          </p:cNvSpPr>
          <p:nvPr/>
        </p:nvSpPr>
        <p:spPr>
          <a:xfrm>
            <a:off x="250952" y="4347029"/>
            <a:ext cx="8522933" cy="20828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 minimise et résout les conflits en: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Répliquant les modifications au niveau attribut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q"/>
              <a:tabLst/>
              <a:defRPr/>
            </a:pPr>
            <a:r>
              <a:rPr lang="fr-FR" sz="2700" b="0" dirty="0" smtClean="0">
                <a:latin typeface="+mn-lt"/>
              </a:rPr>
              <a:t>Gérant les compteurs de mise à jour localement sur chaque contrôleur de domaine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Types de conflits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4" name="Espace réservé du contenu 6"/>
          <p:cNvSpPr txBox="1">
            <a:spLocks/>
          </p:cNvSpPr>
          <p:nvPr/>
        </p:nvSpPr>
        <p:spPr>
          <a:xfrm>
            <a:off x="330781" y="1901371"/>
            <a:ext cx="8522933" cy="2902857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 résout trois types de conflits: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Conflits d’attribut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q"/>
              <a:tabLst/>
              <a:defRPr/>
            </a:pPr>
            <a:r>
              <a:rPr lang="fr-FR" sz="2700" b="0" dirty="0" smtClean="0">
                <a:latin typeface="+mn-lt"/>
              </a:rPr>
              <a:t>Conflits de conteneurs supprimés</a:t>
            </a:r>
          </a:p>
          <a:p>
            <a:pPr marL="274320" marR="0" lvl="0" indent="-27432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Conflits de noms uniques relatifs (RDN)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Conflits d’attribut</a:t>
            </a:r>
            <a:endParaRPr lang="fr-FR" sz="30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323852"/>
            <a:ext cx="8503920" cy="1071009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AD utilise un cachet global unique pour chaque mise à jour d’origine</a:t>
            </a:r>
            <a:endParaRPr lang="fr-F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3270" y="2354943"/>
            <a:ext cx="681037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ce réservé du contenu 2"/>
          <p:cNvSpPr txBox="1">
            <a:spLocks/>
          </p:cNvSpPr>
          <p:nvPr/>
        </p:nvSpPr>
        <p:spPr>
          <a:xfrm>
            <a:off x="188686" y="5540244"/>
            <a:ext cx="8752114" cy="1071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 fontScale="850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  <a:tabLst/>
              <a:defRPr/>
            </a:pPr>
            <a:r>
              <a:rPr lang="fr-FR" sz="2700" dirty="0" smtClean="0">
                <a:solidFill>
                  <a:srgbClr val="C00000"/>
                </a:solidFill>
                <a:latin typeface="+mn-lt"/>
              </a:rPr>
              <a:t> les numéros de version sont tout d’abord comparés.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S’ils diffèrent,</a:t>
            </a:r>
            <a:r>
              <a:rPr kumimoji="0" lang="fr-FR" sz="2700" i="0" u="none" strike="noStrike" kern="1200" cap="none" spc="0" normalizeH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la mise à jour portant le numéro le plus élevé est accepté</a:t>
            </a:r>
            <a:endParaRPr kumimoji="0" lang="fr-FR" sz="27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6813" y="2373984"/>
            <a:ext cx="68103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Espace réservé du contenu 2"/>
          <p:cNvSpPr txBox="1">
            <a:spLocks/>
          </p:cNvSpPr>
          <p:nvPr/>
        </p:nvSpPr>
        <p:spPr>
          <a:xfrm>
            <a:off x="239488" y="5562018"/>
            <a:ext cx="8752114" cy="10710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 fontScale="92500" lnSpcReduction="20000"/>
          </a:bodyPr>
          <a:lstStyle/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lang="fr-FR" sz="2700" dirty="0" smtClean="0">
                <a:solidFill>
                  <a:srgbClr val="C00000"/>
                </a:solidFill>
                <a:latin typeface="+mn-lt"/>
              </a:rPr>
              <a:t>Si les numéros de version sont identiques, la mise à jour comportant l’horodatage le plus récent est acceptée</a:t>
            </a:r>
            <a:endParaRPr kumimoji="0" lang="fr-FR" sz="27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Conflits de conteneurs supprimés</a:t>
            </a:r>
            <a:endParaRPr lang="fr-FR" sz="30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8209" y="1686710"/>
            <a:ext cx="8503920" cy="169511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fr-FR" sz="2400" dirty="0" smtClean="0"/>
              <a:t>Ce conflits se produit lorsqu’un réplica enregistre la suppression d’un objet conteneur, alors qu’un autre enregistre le placement d’un objet dans ce conteneur</a:t>
            </a: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304800" y="4850818"/>
            <a:ext cx="8447314" cy="14628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/>
          </a:bodyPr>
          <a:lstStyle/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lang="fr-FR" sz="2700" dirty="0" smtClean="0">
                <a:solidFill>
                  <a:srgbClr val="C00000"/>
                </a:solidFill>
                <a:latin typeface="+mn-lt"/>
              </a:rPr>
              <a:t>L’objet est déplacé vers un conteneur spécial appelé </a:t>
            </a:r>
            <a:r>
              <a:rPr lang="fr-FR" sz="2700" dirty="0" err="1" smtClean="0">
                <a:solidFill>
                  <a:srgbClr val="C00000"/>
                </a:solidFill>
                <a:latin typeface="+mn-lt"/>
              </a:rPr>
              <a:t>LostAndFound</a:t>
            </a:r>
            <a:endParaRPr lang="fr-FR" sz="2700" dirty="0" smtClean="0">
              <a:solidFill>
                <a:srgbClr val="C00000"/>
              </a:solidFill>
              <a:latin typeface="+mn-lt"/>
            </a:endParaRPr>
          </a:p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kumimoji="0" lang="fr-FR" sz="270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 conteneur est supprimé.</a:t>
            </a:r>
            <a:endParaRPr kumimoji="0" lang="fr-FR" sz="27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22" descr="media icon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71648" y="3565299"/>
            <a:ext cx="1372840" cy="658358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Conflits RDN</a:t>
            </a:r>
            <a:endParaRPr lang="fr-FR" sz="3000" b="1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58209" y="1686710"/>
            <a:ext cx="8503920" cy="169511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fr-FR" sz="2400" dirty="0" smtClean="0"/>
              <a:t>Un conflits de nom unique relatif RDN se produit lorsque deux réplica tentent de placer simultanément des objets portant le même RDN dans le même conteneur</a:t>
            </a:r>
            <a:endParaRPr lang="fr-FR" sz="2400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>
          <a:xfrm>
            <a:off x="304800" y="4267201"/>
            <a:ext cx="8447314" cy="23948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 fontScale="92500" lnSpcReduction="10000"/>
          </a:bodyPr>
          <a:lstStyle/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lang="fr-FR" sz="2700" dirty="0" smtClean="0">
                <a:solidFill>
                  <a:srgbClr val="C00000"/>
                </a:solidFill>
                <a:latin typeface="+mn-lt"/>
              </a:rPr>
              <a:t>L’objet dont le cachet globale unique le plus élevé conserve le RDN</a:t>
            </a:r>
          </a:p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kumimoji="0" lang="fr-FR" sz="270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L’autre objet est renommé en ajoutant des informations au RDN</a:t>
            </a:r>
          </a:p>
          <a:p>
            <a:pPr marL="274320" lvl="0" indent="-274320" algn="l" eaLnBrk="1" fontAlgn="auto" hangingPunct="1">
              <a:spcBef>
                <a:spcPct val="20000"/>
              </a:spcBef>
              <a:spcAft>
                <a:spcPts val="0"/>
              </a:spcAft>
              <a:buSzPct val="85000"/>
              <a:buFont typeface="Wingdings" pitchFamily="2" charset="2"/>
              <a:buChar char="q"/>
            </a:pPr>
            <a:r>
              <a:rPr lang="fr-FR" sz="2700" dirty="0" smtClean="0">
                <a:solidFill>
                  <a:srgbClr val="C00000"/>
                </a:solidFill>
                <a:latin typeface="+mn-lt"/>
              </a:rPr>
              <a:t>Un administrateur doit renommer  le deuxième objet</a:t>
            </a:r>
            <a:endParaRPr kumimoji="0" lang="fr-FR" sz="270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22" descr="media icon">
            <a:hlinkClick r:id="rId2" action="ppaction://hlinkfile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15191" y="3231471"/>
            <a:ext cx="1372840" cy="658358"/>
          </a:xfrm>
          <a:prstGeom prst="rect">
            <a:avLst/>
          </a:prstGeom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3. Optimisation de la réplication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91737" y="1468994"/>
            <a:ext cx="8503920" cy="896838"/>
          </a:xfrm>
          <a:solidFill>
            <a:schemeClr val="bg1">
              <a:lumMod val="95000"/>
            </a:schemeClr>
          </a:solidFill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 Chaque mise à jour dans AD finit par être propagée à chaque DC dans le site</a:t>
            </a:r>
            <a:endParaRPr lang="fr-FR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6714" y="2549752"/>
            <a:ext cx="6553200" cy="320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101598" y="5917616"/>
            <a:ext cx="8940800" cy="657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Cette propagation</a:t>
            </a:r>
            <a:r>
              <a:rPr kumimoji="0" lang="fr-FR" sz="2700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complète est appelée </a:t>
            </a:r>
            <a:r>
              <a:rPr kumimoji="0" lang="fr-FR" sz="2700" b="0" i="1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Convergence</a:t>
            </a:r>
            <a:endParaRPr kumimoji="0" lang="fr-FR" sz="27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30300" y="2525712"/>
            <a:ext cx="65913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Espace réservé du contenu 2"/>
          <p:cNvSpPr txBox="1">
            <a:spLocks/>
          </p:cNvSpPr>
          <p:nvPr/>
        </p:nvSpPr>
        <p:spPr>
          <a:xfrm>
            <a:off x="265468" y="1505295"/>
            <a:ext cx="8503920" cy="896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 fontScale="925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Ces chemins multiples peuvent résulter en une réplication redondante de mise à jour sur un même DC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Espace réservé du contenu 2"/>
          <p:cNvSpPr txBox="1">
            <a:spLocks/>
          </p:cNvSpPr>
          <p:nvPr/>
        </p:nvSpPr>
        <p:spPr>
          <a:xfrm>
            <a:off x="0" y="5881332"/>
            <a:ext cx="8940800" cy="657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fr-FR" sz="23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La réplication AD utilise un système de blocage de propagation </a:t>
            </a:r>
            <a:endParaRPr kumimoji="0" lang="fr-FR" sz="23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27127" y="2520936"/>
            <a:ext cx="6686550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Espace réservé du contenu 2"/>
          <p:cNvSpPr txBox="1">
            <a:spLocks/>
          </p:cNvSpPr>
          <p:nvPr/>
        </p:nvSpPr>
        <p:spPr>
          <a:xfrm>
            <a:off x="214671" y="1527100"/>
            <a:ext cx="8503920" cy="896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>
            <a:normAutofit lnSpcReduction="1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Pct val="85000"/>
              <a:buFont typeface="Wingdings" pitchFamily="2" charset="2"/>
              <a:buChar char="q"/>
              <a:tabLst/>
              <a:defRPr/>
            </a:pPr>
            <a:r>
              <a:rPr kumimoji="0" lang="fr-FR" sz="2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Le blocage des propagations est le processus consistant à éviter une réplication superflue</a:t>
            </a:r>
            <a:endParaRPr kumimoji="0" lang="fr-FR" sz="2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3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56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 animBg="1"/>
      <p:bldP spid="7" grpId="1" animBg="1"/>
      <p:bldP spid="9" grpId="0" build="p" animBg="1"/>
      <p:bldP spid="9" grpId="1" build="allAtOnce" animBg="1"/>
      <p:bldP spid="11" grpId="0" animBg="1"/>
      <p:bldP spid="11" grpId="1" animBg="1"/>
      <p:bldP spid="1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4. Topologie de réplication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2354363"/>
            <a:ext cx="8503920" cy="2116037"/>
          </a:xfrm>
        </p:spPr>
        <p:txBody>
          <a:bodyPr/>
          <a:lstStyle/>
          <a:p>
            <a:pPr marL="514350" indent="-514350">
              <a:buClr>
                <a:schemeClr val="tx1"/>
              </a:buClr>
            </a:pPr>
            <a:r>
              <a:rPr lang="fr-FR" b="1" dirty="0" smtClean="0">
                <a:solidFill>
                  <a:srgbClr val="C00000"/>
                </a:solidFill>
              </a:rPr>
              <a:t>Définition des partitions d'annuaire</a:t>
            </a:r>
          </a:p>
          <a:p>
            <a:pPr marL="514350" indent="-514350">
              <a:buClr>
                <a:schemeClr val="tx1"/>
              </a:buClr>
            </a:pPr>
            <a:r>
              <a:rPr lang="fr-FR" b="1" dirty="0" smtClean="0">
                <a:solidFill>
                  <a:srgbClr val="C00000"/>
                </a:solidFill>
              </a:rPr>
              <a:t>Définition de la topologie de réplication</a:t>
            </a:r>
          </a:p>
          <a:p>
            <a:pPr marL="514350" indent="-514350">
              <a:buClr>
                <a:schemeClr val="tx1"/>
              </a:buClr>
            </a:pPr>
            <a:r>
              <a:rPr lang="fr-FR" sz="2800" b="1" dirty="0" smtClean="0">
                <a:solidFill>
                  <a:srgbClr val="C00000"/>
                </a:solidFill>
              </a:rPr>
              <a:t>Génération automatique de la topologie de réplication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3199" y="228600"/>
            <a:ext cx="8766629" cy="758952"/>
          </a:xfrm>
        </p:spPr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des partitions d'annuaire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0894" name="AutoShape 30"/>
          <p:cNvSpPr>
            <a:spLocks noChangeArrowheads="1"/>
          </p:cNvSpPr>
          <p:nvPr/>
        </p:nvSpPr>
        <p:spPr bwMode="auto">
          <a:xfrm>
            <a:off x="1740135" y="5737225"/>
            <a:ext cx="3311525" cy="5334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F0F1E1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lIns="45720" anchor="ctr"/>
          <a:lstStyle/>
          <a:p>
            <a:pPr marL="177800" indent="-177800" eaLnBrk="1" hangingPunct="1"/>
            <a:r>
              <a:rPr lang="fr-FR">
                <a:solidFill>
                  <a:srgbClr val="000000"/>
                </a:solidFill>
              </a:rPr>
              <a:t>Base de données Active Directory</a:t>
            </a:r>
            <a:endParaRPr lang="en-US"/>
          </a:p>
        </p:txBody>
      </p:sp>
      <p:sp>
        <p:nvSpPr>
          <p:cNvPr id="420895" name="AutoShape 31"/>
          <p:cNvSpPr>
            <a:spLocks noChangeArrowheads="1"/>
          </p:cNvSpPr>
          <p:nvPr/>
        </p:nvSpPr>
        <p:spPr bwMode="auto">
          <a:xfrm>
            <a:off x="141522" y="4656138"/>
            <a:ext cx="28194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fr-FR" sz="2000">
                <a:solidFill>
                  <a:srgbClr val="000000"/>
                </a:solidFill>
              </a:rPr>
              <a:t>Réplication</a:t>
            </a:r>
            <a:br>
              <a:rPr lang="fr-FR" sz="2000">
                <a:solidFill>
                  <a:srgbClr val="000000"/>
                </a:solidFill>
              </a:rPr>
            </a:br>
            <a:r>
              <a:rPr lang="fr-FR" sz="2000">
                <a:solidFill>
                  <a:srgbClr val="000000"/>
                </a:solidFill>
              </a:rPr>
              <a:t>configurable</a:t>
            </a:r>
            <a:endParaRPr lang="en-US" sz="2000"/>
          </a:p>
        </p:txBody>
      </p:sp>
      <p:sp>
        <p:nvSpPr>
          <p:cNvPr id="420896" name="AutoShape 32"/>
          <p:cNvSpPr>
            <a:spLocks noChangeArrowheads="1"/>
          </p:cNvSpPr>
          <p:nvPr/>
        </p:nvSpPr>
        <p:spPr bwMode="auto">
          <a:xfrm>
            <a:off x="141522" y="3760788"/>
            <a:ext cx="2819400" cy="6858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fr-FR" sz="2000">
                <a:solidFill>
                  <a:srgbClr val="000000"/>
                </a:solidFill>
              </a:rPr>
              <a:t>Domaine</a:t>
            </a:r>
            <a:endParaRPr lang="en-US" sz="2000"/>
          </a:p>
        </p:txBody>
      </p:sp>
      <p:sp>
        <p:nvSpPr>
          <p:cNvPr id="420897" name="AutoShape 33"/>
          <p:cNvSpPr>
            <a:spLocks noChangeArrowheads="1"/>
          </p:cNvSpPr>
          <p:nvPr/>
        </p:nvSpPr>
        <p:spPr bwMode="auto">
          <a:xfrm>
            <a:off x="141522" y="1912938"/>
            <a:ext cx="2819400" cy="1627187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0" scaled="1"/>
          </a:gradFill>
          <a:ln w="9525" algn="ctr">
            <a:noFill/>
            <a:round/>
            <a:headEnd/>
            <a:tailEnd/>
          </a:ln>
          <a:effectLst/>
        </p:spPr>
        <p:txBody>
          <a:bodyPr anchor="ctr"/>
          <a:lstStyle/>
          <a:p>
            <a:pPr algn="l"/>
            <a:r>
              <a:rPr lang="fr-FR" sz="2000">
                <a:solidFill>
                  <a:srgbClr val="000000"/>
                </a:solidFill>
              </a:rPr>
              <a:t>Forêt</a:t>
            </a:r>
            <a:endParaRPr lang="en-US" sz="2000"/>
          </a:p>
        </p:txBody>
      </p:sp>
      <p:grpSp>
        <p:nvGrpSpPr>
          <p:cNvPr id="420913" name="Group 34"/>
          <p:cNvGrpSpPr>
            <a:grpSpLocks/>
          </p:cNvGrpSpPr>
          <p:nvPr/>
        </p:nvGrpSpPr>
        <p:grpSpPr bwMode="auto">
          <a:xfrm>
            <a:off x="1936985" y="1379538"/>
            <a:ext cx="2652712" cy="4340225"/>
            <a:chOff x="1467" y="869"/>
            <a:chExt cx="1671" cy="2734"/>
          </a:xfrm>
        </p:grpSpPr>
        <p:pic>
          <p:nvPicPr>
            <p:cNvPr id="420899" name="Picture 35" descr="Partitions01"/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467" y="869"/>
              <a:ext cx="1671" cy="27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20900" name="Text Box 36"/>
            <p:cNvSpPr txBox="1">
              <a:spLocks noChangeArrowheads="1"/>
            </p:cNvSpPr>
            <p:nvPr/>
          </p:nvSpPr>
          <p:spPr bwMode="auto">
            <a:xfrm>
              <a:off x="1968" y="1625"/>
              <a:ext cx="668" cy="2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2200">
                  <a:solidFill>
                    <a:srgbClr val="000000"/>
                  </a:solidFill>
                </a:rPr>
                <a:t>Schéma</a:t>
              </a:r>
              <a:endParaRPr lang="en-US" sz="2200"/>
            </a:p>
          </p:txBody>
        </p:sp>
        <p:sp>
          <p:nvSpPr>
            <p:cNvPr id="420901" name="Text Box 37"/>
            <p:cNvSpPr txBox="1">
              <a:spLocks noChangeArrowheads="1"/>
            </p:cNvSpPr>
            <p:nvPr/>
          </p:nvSpPr>
          <p:spPr bwMode="auto">
            <a:xfrm>
              <a:off x="1773" y="2141"/>
              <a:ext cx="1060" cy="2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2200">
                  <a:solidFill>
                    <a:srgbClr val="000000"/>
                  </a:solidFill>
                </a:rPr>
                <a:t>Configuration</a:t>
              </a:r>
              <a:endParaRPr lang="en-US" sz="2200"/>
            </a:p>
          </p:txBody>
        </p:sp>
        <p:sp>
          <p:nvSpPr>
            <p:cNvPr id="420902" name="Text Box 38"/>
            <p:cNvSpPr txBox="1">
              <a:spLocks noChangeArrowheads="1"/>
            </p:cNvSpPr>
            <p:nvPr/>
          </p:nvSpPr>
          <p:spPr bwMode="auto">
            <a:xfrm>
              <a:off x="1857" y="2649"/>
              <a:ext cx="892" cy="2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fr-FR" sz="2200">
                  <a:solidFill>
                    <a:srgbClr val="000000"/>
                  </a:solidFill>
                </a:rPr>
                <a:t>&lt;Domaine&gt;</a:t>
              </a:r>
              <a:endParaRPr lang="en-US" sz="2200"/>
            </a:p>
          </p:txBody>
        </p:sp>
        <p:sp>
          <p:nvSpPr>
            <p:cNvPr id="420903" name="Text Box 39"/>
            <p:cNvSpPr txBox="1">
              <a:spLocks noChangeArrowheads="1"/>
            </p:cNvSpPr>
            <p:nvPr/>
          </p:nvSpPr>
          <p:spPr bwMode="auto">
            <a:xfrm>
              <a:off x="1769" y="3190"/>
              <a:ext cx="1068" cy="26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fr-FR" sz="2200">
                  <a:solidFill>
                    <a:srgbClr val="000000"/>
                  </a:solidFill>
                </a:rPr>
                <a:t>&lt;Application&gt;</a:t>
              </a:r>
              <a:endParaRPr lang="en-US" sz="2200"/>
            </a:p>
          </p:txBody>
        </p:sp>
      </p:grpSp>
      <p:sp>
        <p:nvSpPr>
          <p:cNvPr id="420904" name="Line 40"/>
          <p:cNvSpPr>
            <a:spLocks noChangeShapeType="1"/>
          </p:cNvSpPr>
          <p:nvPr/>
        </p:nvSpPr>
        <p:spPr bwMode="auto">
          <a:xfrm>
            <a:off x="4408722" y="3132138"/>
            <a:ext cx="16002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20905" name="Line 41"/>
          <p:cNvSpPr>
            <a:spLocks noChangeShapeType="1"/>
          </p:cNvSpPr>
          <p:nvPr/>
        </p:nvSpPr>
        <p:spPr bwMode="auto">
          <a:xfrm>
            <a:off x="4408722" y="4122738"/>
            <a:ext cx="16002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20906" name="Line 42"/>
          <p:cNvSpPr>
            <a:spLocks noChangeShapeType="1"/>
          </p:cNvSpPr>
          <p:nvPr/>
        </p:nvSpPr>
        <p:spPr bwMode="auto">
          <a:xfrm>
            <a:off x="4408722" y="5113338"/>
            <a:ext cx="16002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20907" name="Line 43"/>
          <p:cNvSpPr>
            <a:spLocks noChangeShapeType="1"/>
          </p:cNvSpPr>
          <p:nvPr/>
        </p:nvSpPr>
        <p:spPr bwMode="auto">
          <a:xfrm>
            <a:off x="4408722" y="2065338"/>
            <a:ext cx="16002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20908" name="AutoShape 44"/>
          <p:cNvSpPr>
            <a:spLocks noChangeArrowheads="1"/>
          </p:cNvSpPr>
          <p:nvPr/>
        </p:nvSpPr>
        <p:spPr bwMode="auto">
          <a:xfrm>
            <a:off x="4942121" y="1684338"/>
            <a:ext cx="4027708" cy="838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Définitions et règles de création et de manipulation d'objets et d'attributs</a:t>
            </a:r>
            <a:endParaRPr lang="en-US" sz="2200"/>
          </a:p>
        </p:txBody>
      </p:sp>
      <p:sp>
        <p:nvSpPr>
          <p:cNvPr id="420909" name="AutoShape 45"/>
          <p:cNvSpPr>
            <a:spLocks noChangeArrowheads="1"/>
          </p:cNvSpPr>
          <p:nvPr/>
        </p:nvSpPr>
        <p:spPr bwMode="auto">
          <a:xfrm>
            <a:off x="4942121" y="2674938"/>
            <a:ext cx="4027708" cy="838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Informations sur la structure Active Directory</a:t>
            </a:r>
            <a:endParaRPr lang="en-US" sz="2200">
              <a:cs typeface="Times New Roman" pitchFamily="18" charset="0"/>
            </a:endParaRPr>
          </a:p>
        </p:txBody>
      </p:sp>
      <p:sp>
        <p:nvSpPr>
          <p:cNvPr id="420910" name="AutoShape 46"/>
          <p:cNvSpPr>
            <a:spLocks noChangeArrowheads="1"/>
          </p:cNvSpPr>
          <p:nvPr/>
        </p:nvSpPr>
        <p:spPr bwMode="auto">
          <a:xfrm>
            <a:off x="4942121" y="3665538"/>
            <a:ext cx="4027708" cy="838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Informations sur les objets spécifiques au domaine</a:t>
            </a:r>
            <a:endParaRPr lang="en-US" sz="2200"/>
          </a:p>
        </p:txBody>
      </p:sp>
      <p:sp>
        <p:nvSpPr>
          <p:cNvPr id="420911" name="AutoShape 47"/>
          <p:cNvSpPr>
            <a:spLocks noChangeArrowheads="1"/>
          </p:cNvSpPr>
          <p:nvPr/>
        </p:nvSpPr>
        <p:spPr bwMode="auto">
          <a:xfrm>
            <a:off x="4942121" y="4656138"/>
            <a:ext cx="4027708" cy="838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algn="l">
              <a:lnSpc>
                <a:spcPct val="85000"/>
              </a:lnSpc>
            </a:pPr>
            <a:r>
              <a:rPr lang="fr-FR" sz="2200">
                <a:solidFill>
                  <a:srgbClr val="000000"/>
                </a:solidFill>
              </a:rPr>
              <a:t>Informations sur les applications</a:t>
            </a:r>
            <a:endParaRPr lang="fr-FR" sz="2200"/>
          </a:p>
        </p:txBody>
      </p:sp>
      <p:sp>
        <p:nvSpPr>
          <p:cNvPr id="420912" name="Text Box 48"/>
          <p:cNvSpPr txBox="1">
            <a:spLocks noChangeArrowheads="1"/>
          </p:cNvSpPr>
          <p:nvPr/>
        </p:nvSpPr>
        <p:spPr bwMode="auto">
          <a:xfrm>
            <a:off x="4884972" y="1292225"/>
            <a:ext cx="1754188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fr-FR" sz="2000">
                <a:solidFill>
                  <a:srgbClr val="000000"/>
                </a:solidFill>
              </a:rPr>
              <a:t>Contenu :</a:t>
            </a:r>
            <a:endParaRPr 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de la topologie de réplication</a:t>
            </a:r>
            <a:endParaRPr lang="en-US" b="1" dirty="0">
              <a:solidFill>
                <a:srgbClr val="C00000"/>
              </a:solidFill>
            </a:endParaRPr>
          </a:p>
        </p:txBody>
      </p:sp>
      <p:grpSp>
        <p:nvGrpSpPr>
          <p:cNvPr id="395048" name="Group 808"/>
          <p:cNvGrpSpPr>
            <a:grpSpLocks/>
          </p:cNvGrpSpPr>
          <p:nvPr/>
        </p:nvGrpSpPr>
        <p:grpSpPr bwMode="auto">
          <a:xfrm>
            <a:off x="406075" y="1309231"/>
            <a:ext cx="7257229" cy="5008563"/>
            <a:chOff x="-334" y="779"/>
            <a:chExt cx="4511" cy="3155"/>
          </a:xfrm>
        </p:grpSpPr>
        <p:sp>
          <p:nvSpPr>
            <p:cNvPr id="394953" name="AutoShape 713"/>
            <p:cNvSpPr>
              <a:spLocks noChangeArrowheads="1"/>
            </p:cNvSpPr>
            <p:nvPr/>
          </p:nvSpPr>
          <p:spPr bwMode="auto">
            <a:xfrm>
              <a:off x="1617" y="806"/>
              <a:ext cx="2560" cy="3128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394954" name="AutoShape 714"/>
            <p:cNvSpPr>
              <a:spLocks noChangeArrowheads="1"/>
            </p:cNvSpPr>
            <p:nvPr/>
          </p:nvSpPr>
          <p:spPr bwMode="auto">
            <a:xfrm>
              <a:off x="-236" y="2597"/>
              <a:ext cx="1755" cy="404"/>
            </a:xfrm>
            <a:prstGeom prst="roundRect">
              <a:avLst>
                <a:gd name="adj" fmla="val 5940"/>
              </a:avLst>
            </a:prstGeom>
            <a:gradFill rotWithShape="1">
              <a:gsLst>
                <a:gs pos="0">
                  <a:srgbClr val="D5D69C"/>
                </a:gs>
                <a:gs pos="100000">
                  <a:srgbClr val="EEEFD7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 algn="l">
                <a:lnSpc>
                  <a:spcPct val="85000"/>
                </a:lnSpc>
              </a:pPr>
              <a:r>
                <a:rPr lang="fr-FR" sz="2000" dirty="0">
                  <a:solidFill>
                    <a:srgbClr val="000000"/>
                  </a:solidFill>
                </a:rPr>
                <a:t>Contrôleurs de domaine </a:t>
              </a:r>
              <a:br>
                <a:rPr lang="fr-FR" sz="2000" dirty="0">
                  <a:solidFill>
                    <a:srgbClr val="000000"/>
                  </a:solidFill>
                </a:rPr>
              </a:br>
              <a:r>
                <a:rPr lang="fr-FR" sz="2000" dirty="0">
                  <a:solidFill>
                    <a:srgbClr val="000000"/>
                  </a:solidFill>
                </a:rPr>
                <a:t>du même domaine</a:t>
              </a:r>
              <a:endParaRPr lang="en-US" sz="2000" dirty="0"/>
            </a:p>
          </p:txBody>
        </p:sp>
        <p:grpSp>
          <p:nvGrpSpPr>
            <p:cNvPr id="394955" name="Group 715"/>
            <p:cNvGrpSpPr>
              <a:grpSpLocks/>
            </p:cNvGrpSpPr>
            <p:nvPr/>
          </p:nvGrpSpPr>
          <p:grpSpPr bwMode="auto">
            <a:xfrm>
              <a:off x="1862" y="842"/>
              <a:ext cx="551" cy="712"/>
              <a:chOff x="1862" y="890"/>
              <a:chExt cx="551" cy="712"/>
            </a:xfrm>
          </p:grpSpPr>
          <p:pic>
            <p:nvPicPr>
              <p:cNvPr id="394956" name="Picture 716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62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4957" name="Picture 717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4958" name="Text Box 718"/>
              <p:cNvSpPr txBox="1">
                <a:spLocks noChangeArrowheads="1"/>
              </p:cNvSpPr>
              <p:nvPr/>
            </p:nvSpPr>
            <p:spPr bwMode="auto">
              <a:xfrm>
                <a:off x="1969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A1</a:t>
                </a:r>
              </a:p>
            </p:txBody>
          </p:sp>
        </p:grpSp>
        <p:grpSp>
          <p:nvGrpSpPr>
            <p:cNvPr id="394959" name="Group 719"/>
            <p:cNvGrpSpPr>
              <a:grpSpLocks/>
            </p:cNvGrpSpPr>
            <p:nvPr/>
          </p:nvGrpSpPr>
          <p:grpSpPr bwMode="auto">
            <a:xfrm>
              <a:off x="3194" y="842"/>
              <a:ext cx="551" cy="712"/>
              <a:chOff x="3194" y="890"/>
              <a:chExt cx="551" cy="712"/>
            </a:xfrm>
          </p:grpSpPr>
          <p:pic>
            <p:nvPicPr>
              <p:cNvPr id="394960" name="Picture 720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4961" name="Picture 721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4962" name="Text Box 722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A2</a:t>
                </a:r>
              </a:p>
            </p:txBody>
          </p:sp>
        </p:grpSp>
        <p:grpSp>
          <p:nvGrpSpPr>
            <p:cNvPr id="394963" name="Group 723"/>
            <p:cNvGrpSpPr>
              <a:grpSpLocks/>
            </p:cNvGrpSpPr>
            <p:nvPr/>
          </p:nvGrpSpPr>
          <p:grpSpPr bwMode="auto">
            <a:xfrm>
              <a:off x="1862" y="2489"/>
              <a:ext cx="551" cy="712"/>
              <a:chOff x="1862" y="2537"/>
              <a:chExt cx="551" cy="712"/>
            </a:xfrm>
          </p:grpSpPr>
          <p:pic>
            <p:nvPicPr>
              <p:cNvPr id="394964" name="Picture 724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62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4965" name="Picture 725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4966" name="Text Box 726"/>
              <p:cNvSpPr txBox="1">
                <a:spLocks noChangeArrowheads="1"/>
              </p:cNvSpPr>
              <p:nvPr/>
            </p:nvSpPr>
            <p:spPr bwMode="auto">
              <a:xfrm>
                <a:off x="1969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A3</a:t>
                </a:r>
              </a:p>
            </p:txBody>
          </p:sp>
        </p:grpSp>
        <p:grpSp>
          <p:nvGrpSpPr>
            <p:cNvPr id="394967" name="Group 727"/>
            <p:cNvGrpSpPr>
              <a:grpSpLocks/>
            </p:cNvGrpSpPr>
            <p:nvPr/>
          </p:nvGrpSpPr>
          <p:grpSpPr bwMode="auto">
            <a:xfrm>
              <a:off x="3194" y="2489"/>
              <a:ext cx="551" cy="712"/>
              <a:chOff x="3194" y="2537"/>
              <a:chExt cx="551" cy="712"/>
            </a:xfrm>
          </p:grpSpPr>
          <p:pic>
            <p:nvPicPr>
              <p:cNvPr id="394968" name="Picture 728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4969" name="Picture 729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4970" name="Text Box 730"/>
              <p:cNvSpPr txBox="1">
                <a:spLocks noChangeArrowheads="1"/>
              </p:cNvSpPr>
              <p:nvPr/>
            </p:nvSpPr>
            <p:spPr bwMode="auto">
              <a:xfrm>
                <a:off x="3301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A4</a:t>
                </a:r>
              </a:p>
            </p:txBody>
          </p:sp>
        </p:grpSp>
        <p:sp>
          <p:nvSpPr>
            <p:cNvPr id="394971" name="Line 731"/>
            <p:cNvSpPr>
              <a:spLocks noChangeShapeType="1"/>
            </p:cNvSpPr>
            <p:nvPr/>
          </p:nvSpPr>
          <p:spPr bwMode="auto">
            <a:xfrm rot="-5400000">
              <a:off x="1629" y="2027"/>
              <a:ext cx="779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72" name="Line 732"/>
            <p:cNvSpPr>
              <a:spLocks noChangeShapeType="1"/>
            </p:cNvSpPr>
            <p:nvPr/>
          </p:nvSpPr>
          <p:spPr bwMode="auto">
            <a:xfrm rot="-5400000">
              <a:off x="3121" y="2027"/>
              <a:ext cx="779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94973" name="Group 733"/>
            <p:cNvGrpSpPr>
              <a:grpSpLocks/>
            </p:cNvGrpSpPr>
            <p:nvPr/>
          </p:nvGrpSpPr>
          <p:grpSpPr bwMode="auto">
            <a:xfrm>
              <a:off x="2497" y="1170"/>
              <a:ext cx="574" cy="1761"/>
              <a:chOff x="2497" y="1218"/>
              <a:chExt cx="574" cy="1761"/>
            </a:xfrm>
          </p:grpSpPr>
          <p:sp>
            <p:nvSpPr>
              <p:cNvPr id="394974" name="Line 734"/>
              <p:cNvSpPr>
                <a:spLocks noChangeShapeType="1"/>
              </p:cNvSpPr>
              <p:nvPr/>
            </p:nvSpPr>
            <p:spPr bwMode="auto">
              <a:xfrm>
                <a:off x="2497" y="1218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4975" name="Line 735"/>
              <p:cNvSpPr>
                <a:spLocks noChangeShapeType="1"/>
              </p:cNvSpPr>
              <p:nvPr/>
            </p:nvSpPr>
            <p:spPr bwMode="auto">
              <a:xfrm>
                <a:off x="2497" y="1335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4976" name="Line 736"/>
              <p:cNvSpPr>
                <a:spLocks noChangeShapeType="1"/>
              </p:cNvSpPr>
              <p:nvPr/>
            </p:nvSpPr>
            <p:spPr bwMode="auto">
              <a:xfrm>
                <a:off x="2497" y="2979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4977" name="Line 737"/>
              <p:cNvSpPr>
                <a:spLocks noChangeShapeType="1"/>
              </p:cNvSpPr>
              <p:nvPr/>
            </p:nvSpPr>
            <p:spPr bwMode="auto">
              <a:xfrm>
                <a:off x="2497" y="2847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394978" name="Line 738"/>
            <p:cNvSpPr>
              <a:spLocks noChangeShapeType="1"/>
            </p:cNvSpPr>
            <p:nvPr/>
          </p:nvSpPr>
          <p:spPr bwMode="auto">
            <a:xfrm rot="-5400000">
              <a:off x="1775" y="2027"/>
              <a:ext cx="779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79" name="Line 739"/>
            <p:cNvSpPr>
              <a:spLocks noChangeShapeType="1"/>
            </p:cNvSpPr>
            <p:nvPr/>
          </p:nvSpPr>
          <p:spPr bwMode="auto">
            <a:xfrm rot="-5400000">
              <a:off x="2975" y="2027"/>
              <a:ext cx="779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80" name="AutoShape 740"/>
            <p:cNvSpPr>
              <a:spLocks noChangeArrowheads="1"/>
            </p:cNvSpPr>
            <p:nvPr/>
          </p:nvSpPr>
          <p:spPr bwMode="auto">
            <a:xfrm>
              <a:off x="-334" y="779"/>
              <a:ext cx="1972" cy="626"/>
            </a:xfrm>
            <a:prstGeom prst="roundRect">
              <a:avLst>
                <a:gd name="adj" fmla="val 6037"/>
              </a:avLst>
            </a:prstGeom>
            <a:solidFill>
              <a:schemeClr val="bg1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 anchor="ctr"/>
            <a:lstStyle/>
            <a:p>
              <a:pPr algn="l">
                <a:spcBef>
                  <a:spcPct val="20000"/>
                </a:spcBef>
              </a:pPr>
              <a:endParaRPr lang="es-ES" sz="1600" b="0"/>
            </a:p>
          </p:txBody>
        </p:sp>
        <p:sp>
          <p:nvSpPr>
            <p:cNvPr id="394981" name="Text Box 741"/>
            <p:cNvSpPr txBox="1">
              <a:spLocks noChangeArrowheads="1"/>
            </p:cNvSpPr>
            <p:nvPr/>
          </p:nvSpPr>
          <p:spPr bwMode="auto">
            <a:xfrm>
              <a:off x="298" y="872"/>
              <a:ext cx="1346" cy="46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85000"/>
                </a:lnSpc>
                <a:spcBef>
                  <a:spcPct val="10000"/>
                </a:spcBef>
              </a:pPr>
              <a:r>
                <a:rPr lang="fr-FR" sz="1600" b="0" dirty="0">
                  <a:solidFill>
                    <a:srgbClr val="000000"/>
                  </a:solidFill>
                </a:rPr>
                <a:t>Topologie de domaine A</a:t>
              </a:r>
              <a:endParaRPr lang="en-US" sz="1600" b="0" dirty="0"/>
            </a:p>
            <a:p>
              <a:pPr algn="l">
                <a:lnSpc>
                  <a:spcPct val="85000"/>
                </a:lnSpc>
                <a:spcBef>
                  <a:spcPct val="10000"/>
                </a:spcBef>
              </a:pPr>
              <a:r>
                <a:rPr lang="fr-FR" sz="1600" b="0" dirty="0">
                  <a:solidFill>
                    <a:srgbClr val="000000"/>
                  </a:solidFill>
                </a:rPr>
                <a:t>Topologie de configuration</a:t>
              </a:r>
              <a:br>
                <a:rPr lang="fr-FR" sz="1600" b="0" dirty="0">
                  <a:solidFill>
                    <a:srgbClr val="000000"/>
                  </a:solidFill>
                </a:rPr>
              </a:br>
              <a:r>
                <a:rPr lang="fr-FR" sz="1600" b="0" dirty="0">
                  <a:solidFill>
                    <a:srgbClr val="000000"/>
                  </a:solidFill>
                </a:rPr>
                <a:t>et schéma</a:t>
              </a:r>
              <a:endParaRPr lang="en-US" sz="1600" b="0" dirty="0">
                <a:solidFill>
                  <a:srgbClr val="000000"/>
                </a:solidFill>
              </a:endParaRPr>
            </a:p>
          </p:txBody>
        </p:sp>
        <p:sp>
          <p:nvSpPr>
            <p:cNvPr id="394982" name="Line 742"/>
            <p:cNvSpPr>
              <a:spLocks noChangeShapeType="1"/>
            </p:cNvSpPr>
            <p:nvPr/>
          </p:nvSpPr>
          <p:spPr bwMode="auto">
            <a:xfrm>
              <a:off x="-279" y="1169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83" name="Line 743"/>
            <p:cNvSpPr>
              <a:spLocks noChangeShapeType="1"/>
            </p:cNvSpPr>
            <p:nvPr/>
          </p:nvSpPr>
          <p:spPr bwMode="auto">
            <a:xfrm>
              <a:off x="-279" y="986"/>
              <a:ext cx="574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395044" name="Group 804"/>
          <p:cNvGrpSpPr>
            <a:grpSpLocks/>
          </p:cNvGrpSpPr>
          <p:nvPr/>
        </p:nvGrpSpPr>
        <p:grpSpPr bwMode="auto">
          <a:xfrm>
            <a:off x="102260" y="1181325"/>
            <a:ext cx="8928100" cy="5181600"/>
            <a:chOff x="-603" y="4032"/>
            <a:chExt cx="5624" cy="3264"/>
          </a:xfrm>
        </p:grpSpPr>
        <p:sp>
          <p:nvSpPr>
            <p:cNvPr id="394985" name="AutoShape 745"/>
            <p:cNvSpPr>
              <a:spLocks noChangeArrowheads="1"/>
            </p:cNvSpPr>
            <p:nvPr/>
          </p:nvSpPr>
          <p:spPr bwMode="auto">
            <a:xfrm>
              <a:off x="546" y="4168"/>
              <a:ext cx="4437" cy="3128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grpSp>
          <p:nvGrpSpPr>
            <p:cNvPr id="395043" name="Group 803"/>
            <p:cNvGrpSpPr>
              <a:grpSpLocks/>
            </p:cNvGrpSpPr>
            <p:nvPr/>
          </p:nvGrpSpPr>
          <p:grpSpPr bwMode="auto">
            <a:xfrm>
              <a:off x="-597" y="4032"/>
              <a:ext cx="2160" cy="810"/>
              <a:chOff x="-597" y="4032"/>
              <a:chExt cx="2160" cy="810"/>
            </a:xfrm>
          </p:grpSpPr>
          <p:sp>
            <p:nvSpPr>
              <p:cNvPr id="394987" name="AutoShape 747"/>
              <p:cNvSpPr>
                <a:spLocks noChangeArrowheads="1"/>
              </p:cNvSpPr>
              <p:nvPr/>
            </p:nvSpPr>
            <p:spPr bwMode="auto">
              <a:xfrm>
                <a:off x="-597" y="4033"/>
                <a:ext cx="2124" cy="736"/>
              </a:xfrm>
              <a:prstGeom prst="roundRect">
                <a:avLst>
                  <a:gd name="adj" fmla="val 6037"/>
                </a:avLst>
              </a:prstGeom>
              <a:solidFill>
                <a:schemeClr val="bg1"/>
              </a:solidFill>
              <a:ln w="9525" algn="ctr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 anchor="ctr"/>
              <a:lstStyle/>
              <a:p>
                <a:pPr algn="l">
                  <a:spcBef>
                    <a:spcPct val="20000"/>
                  </a:spcBef>
                </a:pPr>
                <a:endParaRPr lang="es-ES" sz="2000" b="0" dirty="0"/>
              </a:p>
            </p:txBody>
          </p:sp>
          <p:sp>
            <p:nvSpPr>
              <p:cNvPr id="394988" name="Text Box 748"/>
              <p:cNvSpPr txBox="1">
                <a:spLocks noChangeArrowheads="1"/>
              </p:cNvSpPr>
              <p:nvPr/>
            </p:nvSpPr>
            <p:spPr bwMode="auto">
              <a:xfrm>
                <a:off x="0" y="4032"/>
                <a:ext cx="1563" cy="81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 algn="l">
                  <a:lnSpc>
                    <a:spcPct val="85000"/>
                  </a:lnSpc>
                  <a:spcBef>
                    <a:spcPct val="10000"/>
                  </a:spcBef>
                </a:pPr>
                <a:r>
                  <a:rPr lang="fr-FR" b="0" dirty="0">
                    <a:solidFill>
                      <a:srgbClr val="000000"/>
                    </a:solidFill>
                  </a:rPr>
                  <a:t>Topologie de domaine A</a:t>
                </a:r>
                <a:endParaRPr lang="en-US" b="0" dirty="0"/>
              </a:p>
              <a:p>
                <a:pPr algn="l">
                  <a:lnSpc>
                    <a:spcPct val="85000"/>
                  </a:lnSpc>
                  <a:spcBef>
                    <a:spcPct val="10000"/>
                  </a:spcBef>
                </a:pPr>
                <a:r>
                  <a:rPr lang="fr-FR" b="0" dirty="0">
                    <a:solidFill>
                      <a:srgbClr val="000000"/>
                    </a:solidFill>
                  </a:rPr>
                  <a:t>Topologie de domaine B</a:t>
                </a:r>
                <a:endParaRPr lang="en-US" b="0" dirty="0"/>
              </a:p>
              <a:p>
                <a:pPr algn="l">
                  <a:lnSpc>
                    <a:spcPct val="85000"/>
                  </a:lnSpc>
                  <a:spcBef>
                    <a:spcPct val="10000"/>
                  </a:spcBef>
                </a:pPr>
                <a:r>
                  <a:rPr lang="fr-FR" b="0" dirty="0">
                    <a:solidFill>
                      <a:srgbClr val="000000"/>
                    </a:solidFill>
                  </a:rPr>
                  <a:t>Topologie de configuration</a:t>
                </a:r>
                <a:br>
                  <a:rPr lang="fr-FR" b="0" dirty="0">
                    <a:solidFill>
                      <a:srgbClr val="000000"/>
                    </a:solidFill>
                  </a:rPr>
                </a:br>
                <a:r>
                  <a:rPr lang="fr-FR" b="0" dirty="0">
                    <a:solidFill>
                      <a:srgbClr val="000000"/>
                    </a:solidFill>
                  </a:rPr>
                  <a:t>et </a:t>
                </a:r>
                <a:r>
                  <a:rPr lang="fr-FR" b="0" dirty="0" smtClean="0">
                    <a:solidFill>
                      <a:srgbClr val="000000"/>
                    </a:solidFill>
                  </a:rPr>
                  <a:t>schéma</a:t>
                </a:r>
                <a:endParaRPr lang="en-US" b="0" dirty="0" smtClean="0">
                  <a:solidFill>
                    <a:srgbClr val="000000"/>
                  </a:solidFill>
                </a:endParaRPr>
              </a:p>
              <a:p>
                <a:pPr algn="l">
                  <a:lnSpc>
                    <a:spcPct val="70000"/>
                  </a:lnSpc>
                  <a:spcBef>
                    <a:spcPct val="10000"/>
                  </a:spcBef>
                </a:pPr>
                <a:endParaRPr lang="en-US" sz="1600" b="0" dirty="0"/>
              </a:p>
            </p:txBody>
          </p:sp>
          <p:sp>
            <p:nvSpPr>
              <p:cNvPr id="394989" name="Line 749"/>
              <p:cNvSpPr>
                <a:spLocks noChangeShapeType="1"/>
              </p:cNvSpPr>
              <p:nvPr/>
            </p:nvSpPr>
            <p:spPr bwMode="auto">
              <a:xfrm>
                <a:off x="-568" y="4466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4990" name="Line 750"/>
              <p:cNvSpPr>
                <a:spLocks noChangeShapeType="1"/>
              </p:cNvSpPr>
              <p:nvPr/>
            </p:nvSpPr>
            <p:spPr bwMode="auto">
              <a:xfrm>
                <a:off x="-568" y="4156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94991" name="Line 751"/>
              <p:cNvSpPr>
                <a:spLocks noChangeShapeType="1"/>
              </p:cNvSpPr>
              <p:nvPr/>
            </p:nvSpPr>
            <p:spPr bwMode="auto">
              <a:xfrm>
                <a:off x="-568" y="4307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B395D8"/>
                </a:solidFill>
                <a:prstDash val="sysDot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394992" name="Line 752"/>
            <p:cNvSpPr>
              <a:spLocks noChangeShapeType="1"/>
            </p:cNvSpPr>
            <p:nvPr/>
          </p:nvSpPr>
          <p:spPr bwMode="auto">
            <a:xfrm rot="-5400000">
              <a:off x="4413" y="5409"/>
              <a:ext cx="780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93" name="Line 753"/>
            <p:cNvSpPr>
              <a:spLocks noChangeShapeType="1"/>
            </p:cNvSpPr>
            <p:nvPr/>
          </p:nvSpPr>
          <p:spPr bwMode="auto">
            <a:xfrm rot="5400000" flipH="1">
              <a:off x="4292" y="5412"/>
              <a:ext cx="766" cy="7"/>
            </a:xfrm>
            <a:prstGeom prst="line">
              <a:avLst/>
            </a:prstGeom>
            <a:noFill/>
            <a:ln w="50800">
              <a:solidFill>
                <a:srgbClr val="B395D8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94" name="Line 754"/>
            <p:cNvSpPr>
              <a:spLocks noChangeShapeType="1"/>
            </p:cNvSpPr>
            <p:nvPr/>
          </p:nvSpPr>
          <p:spPr bwMode="auto">
            <a:xfrm rot="-2243910">
              <a:off x="1066" y="4805"/>
              <a:ext cx="779" cy="1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95" name="Freeform 755"/>
            <p:cNvSpPr>
              <a:spLocks/>
            </p:cNvSpPr>
            <p:nvPr/>
          </p:nvSpPr>
          <p:spPr bwMode="auto">
            <a:xfrm>
              <a:off x="1282" y="4825"/>
              <a:ext cx="3110" cy="454"/>
            </a:xfrm>
            <a:custGeom>
              <a:avLst/>
              <a:gdLst/>
              <a:ahLst/>
              <a:cxnLst>
                <a:cxn ang="0">
                  <a:pos x="0" y="452"/>
                </a:cxn>
                <a:cxn ang="0">
                  <a:pos x="2559" y="454"/>
                </a:cxn>
                <a:cxn ang="0">
                  <a:pos x="2559" y="0"/>
                </a:cxn>
                <a:cxn ang="0">
                  <a:pos x="3040" y="0"/>
                </a:cxn>
              </a:cxnLst>
              <a:rect l="0" t="0" r="r" b="b"/>
              <a:pathLst>
                <a:path w="3040" h="454">
                  <a:moveTo>
                    <a:pt x="0" y="452"/>
                  </a:moveTo>
                  <a:lnTo>
                    <a:pt x="2559" y="454"/>
                  </a:lnTo>
                  <a:lnTo>
                    <a:pt x="2559" y="0"/>
                  </a:lnTo>
                  <a:lnTo>
                    <a:pt x="3040" y="0"/>
                  </a:lnTo>
                </a:path>
              </a:pathLst>
            </a:custGeom>
            <a:noFill/>
            <a:ln w="50800" cap="flat" cmpd="sng">
              <a:solidFill>
                <a:srgbClr val="B395D8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4996" name="Freeform 756"/>
            <p:cNvSpPr>
              <a:spLocks/>
            </p:cNvSpPr>
            <p:nvPr/>
          </p:nvSpPr>
          <p:spPr bwMode="auto">
            <a:xfrm flipV="1">
              <a:off x="1282" y="5432"/>
              <a:ext cx="3110" cy="454"/>
            </a:xfrm>
            <a:custGeom>
              <a:avLst/>
              <a:gdLst/>
              <a:ahLst/>
              <a:cxnLst>
                <a:cxn ang="0">
                  <a:pos x="0" y="452"/>
                </a:cxn>
                <a:cxn ang="0">
                  <a:pos x="2559" y="454"/>
                </a:cxn>
                <a:cxn ang="0">
                  <a:pos x="2559" y="0"/>
                </a:cxn>
                <a:cxn ang="0">
                  <a:pos x="3040" y="0"/>
                </a:cxn>
              </a:cxnLst>
              <a:rect l="0" t="0" r="r" b="b"/>
              <a:pathLst>
                <a:path w="3040" h="454">
                  <a:moveTo>
                    <a:pt x="0" y="452"/>
                  </a:moveTo>
                  <a:lnTo>
                    <a:pt x="2559" y="454"/>
                  </a:lnTo>
                  <a:lnTo>
                    <a:pt x="2559" y="0"/>
                  </a:lnTo>
                  <a:lnTo>
                    <a:pt x="3040" y="0"/>
                  </a:lnTo>
                </a:path>
              </a:pathLst>
            </a:custGeom>
            <a:noFill/>
            <a:ln w="50800" cap="flat" cmpd="sng">
              <a:solidFill>
                <a:srgbClr val="B395D8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94997" name="Group 757"/>
            <p:cNvGrpSpPr>
              <a:grpSpLocks/>
            </p:cNvGrpSpPr>
            <p:nvPr/>
          </p:nvGrpSpPr>
          <p:grpSpPr bwMode="auto">
            <a:xfrm>
              <a:off x="1862" y="4204"/>
              <a:ext cx="551" cy="712"/>
              <a:chOff x="1862" y="890"/>
              <a:chExt cx="551" cy="712"/>
            </a:xfrm>
          </p:grpSpPr>
          <p:pic>
            <p:nvPicPr>
              <p:cNvPr id="394998" name="Picture 758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862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4999" name="Picture 759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00" name="Text Box 760"/>
              <p:cNvSpPr txBox="1">
                <a:spLocks noChangeArrowheads="1"/>
              </p:cNvSpPr>
              <p:nvPr/>
            </p:nvSpPr>
            <p:spPr bwMode="auto">
              <a:xfrm>
                <a:off x="1969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A1</a:t>
                </a:r>
              </a:p>
            </p:txBody>
          </p:sp>
        </p:grpSp>
        <p:grpSp>
          <p:nvGrpSpPr>
            <p:cNvPr id="395001" name="Group 761"/>
            <p:cNvGrpSpPr>
              <a:grpSpLocks/>
            </p:cNvGrpSpPr>
            <p:nvPr/>
          </p:nvGrpSpPr>
          <p:grpSpPr bwMode="auto">
            <a:xfrm>
              <a:off x="3194" y="4204"/>
              <a:ext cx="551" cy="712"/>
              <a:chOff x="3194" y="890"/>
              <a:chExt cx="551" cy="712"/>
            </a:xfrm>
          </p:grpSpPr>
          <p:pic>
            <p:nvPicPr>
              <p:cNvPr id="395002" name="Picture 762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03" name="Picture 763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04" name="Text Box 764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A2</a:t>
                </a:r>
              </a:p>
            </p:txBody>
          </p:sp>
        </p:grpSp>
        <p:grpSp>
          <p:nvGrpSpPr>
            <p:cNvPr id="395005" name="Group 765"/>
            <p:cNvGrpSpPr>
              <a:grpSpLocks/>
            </p:cNvGrpSpPr>
            <p:nvPr/>
          </p:nvGrpSpPr>
          <p:grpSpPr bwMode="auto">
            <a:xfrm>
              <a:off x="1862" y="5851"/>
              <a:ext cx="551" cy="712"/>
              <a:chOff x="1862" y="2537"/>
              <a:chExt cx="551" cy="712"/>
            </a:xfrm>
          </p:grpSpPr>
          <p:pic>
            <p:nvPicPr>
              <p:cNvPr id="395006" name="Picture 766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862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07" name="Picture 767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08" name="Text Box 768"/>
              <p:cNvSpPr txBox="1">
                <a:spLocks noChangeArrowheads="1"/>
              </p:cNvSpPr>
              <p:nvPr/>
            </p:nvSpPr>
            <p:spPr bwMode="auto">
              <a:xfrm>
                <a:off x="1969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A3</a:t>
                </a:r>
              </a:p>
            </p:txBody>
          </p:sp>
        </p:grpSp>
        <p:grpSp>
          <p:nvGrpSpPr>
            <p:cNvPr id="395009" name="Group 769"/>
            <p:cNvGrpSpPr>
              <a:grpSpLocks/>
            </p:cNvGrpSpPr>
            <p:nvPr/>
          </p:nvGrpSpPr>
          <p:grpSpPr bwMode="auto">
            <a:xfrm>
              <a:off x="3194" y="5851"/>
              <a:ext cx="551" cy="712"/>
              <a:chOff x="3194" y="2537"/>
              <a:chExt cx="551" cy="712"/>
            </a:xfrm>
          </p:grpSpPr>
          <p:pic>
            <p:nvPicPr>
              <p:cNvPr id="395010" name="Picture 770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194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11" name="Picture 771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12" name="Text Box 772"/>
              <p:cNvSpPr txBox="1">
                <a:spLocks noChangeArrowheads="1"/>
              </p:cNvSpPr>
              <p:nvPr/>
            </p:nvSpPr>
            <p:spPr bwMode="auto">
              <a:xfrm>
                <a:off x="3301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A4</a:t>
                </a:r>
              </a:p>
            </p:txBody>
          </p:sp>
        </p:grpSp>
        <p:sp>
          <p:nvSpPr>
            <p:cNvPr id="395013" name="Line 773"/>
            <p:cNvSpPr>
              <a:spLocks noChangeShapeType="1"/>
            </p:cNvSpPr>
            <p:nvPr/>
          </p:nvSpPr>
          <p:spPr bwMode="auto">
            <a:xfrm>
              <a:off x="2497" y="4532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14" name="Line 774"/>
            <p:cNvSpPr>
              <a:spLocks noChangeShapeType="1"/>
            </p:cNvSpPr>
            <p:nvPr/>
          </p:nvSpPr>
          <p:spPr bwMode="auto">
            <a:xfrm>
              <a:off x="2497" y="4649"/>
              <a:ext cx="574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15" name="Line 775"/>
            <p:cNvSpPr>
              <a:spLocks noChangeShapeType="1"/>
            </p:cNvSpPr>
            <p:nvPr/>
          </p:nvSpPr>
          <p:spPr bwMode="auto">
            <a:xfrm>
              <a:off x="2497" y="6293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16" name="Line 776"/>
            <p:cNvSpPr>
              <a:spLocks noChangeShapeType="1"/>
            </p:cNvSpPr>
            <p:nvPr/>
          </p:nvSpPr>
          <p:spPr bwMode="auto">
            <a:xfrm>
              <a:off x="2497" y="6161"/>
              <a:ext cx="574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17" name="Line 777"/>
            <p:cNvSpPr>
              <a:spLocks noChangeShapeType="1"/>
            </p:cNvSpPr>
            <p:nvPr/>
          </p:nvSpPr>
          <p:spPr bwMode="auto">
            <a:xfrm rot="-5400000">
              <a:off x="1775" y="5354"/>
              <a:ext cx="779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18" name="Line 778"/>
            <p:cNvSpPr>
              <a:spLocks noChangeShapeType="1"/>
            </p:cNvSpPr>
            <p:nvPr/>
          </p:nvSpPr>
          <p:spPr bwMode="auto">
            <a:xfrm rot="-5400000">
              <a:off x="2975" y="5354"/>
              <a:ext cx="779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395019" name="Group 779"/>
            <p:cNvGrpSpPr>
              <a:grpSpLocks/>
            </p:cNvGrpSpPr>
            <p:nvPr/>
          </p:nvGrpSpPr>
          <p:grpSpPr bwMode="auto">
            <a:xfrm>
              <a:off x="639" y="5092"/>
              <a:ext cx="551" cy="712"/>
              <a:chOff x="1862" y="890"/>
              <a:chExt cx="551" cy="712"/>
            </a:xfrm>
          </p:grpSpPr>
          <p:pic>
            <p:nvPicPr>
              <p:cNvPr id="395020" name="Picture 780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1862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21" name="Picture 781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22" name="Text Box 782"/>
              <p:cNvSpPr txBox="1">
                <a:spLocks noChangeArrowheads="1"/>
              </p:cNvSpPr>
              <p:nvPr/>
            </p:nvSpPr>
            <p:spPr bwMode="auto">
              <a:xfrm>
                <a:off x="1969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B1</a:t>
                </a:r>
              </a:p>
            </p:txBody>
          </p:sp>
        </p:grpSp>
        <p:grpSp>
          <p:nvGrpSpPr>
            <p:cNvPr id="395023" name="Group 783"/>
            <p:cNvGrpSpPr>
              <a:grpSpLocks/>
            </p:cNvGrpSpPr>
            <p:nvPr/>
          </p:nvGrpSpPr>
          <p:grpSpPr bwMode="auto">
            <a:xfrm>
              <a:off x="4470" y="4204"/>
              <a:ext cx="551" cy="712"/>
              <a:chOff x="3194" y="890"/>
              <a:chExt cx="551" cy="712"/>
            </a:xfrm>
          </p:grpSpPr>
          <p:pic>
            <p:nvPicPr>
              <p:cNvPr id="395024" name="Picture 784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25" name="Picture 785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26" name="Text Box 786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B2</a:t>
                </a:r>
              </a:p>
            </p:txBody>
          </p:sp>
        </p:grpSp>
        <p:grpSp>
          <p:nvGrpSpPr>
            <p:cNvPr id="395027" name="Group 787"/>
            <p:cNvGrpSpPr>
              <a:grpSpLocks/>
            </p:cNvGrpSpPr>
            <p:nvPr/>
          </p:nvGrpSpPr>
          <p:grpSpPr bwMode="auto">
            <a:xfrm>
              <a:off x="4470" y="5851"/>
              <a:ext cx="551" cy="712"/>
              <a:chOff x="3194" y="2537"/>
              <a:chExt cx="551" cy="712"/>
            </a:xfrm>
          </p:grpSpPr>
          <p:pic>
            <p:nvPicPr>
              <p:cNvPr id="395028" name="Picture 788" descr="Server01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194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395029" name="Picture 789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395030" name="Text Box 790"/>
              <p:cNvSpPr txBox="1">
                <a:spLocks noChangeArrowheads="1"/>
              </p:cNvSpPr>
              <p:nvPr/>
            </p:nvSpPr>
            <p:spPr bwMode="auto">
              <a:xfrm>
                <a:off x="3301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B3</a:t>
                </a:r>
              </a:p>
            </p:txBody>
          </p:sp>
        </p:grpSp>
        <p:sp>
          <p:nvSpPr>
            <p:cNvPr id="395031" name="Line 791"/>
            <p:cNvSpPr>
              <a:spLocks noChangeShapeType="1"/>
            </p:cNvSpPr>
            <p:nvPr/>
          </p:nvSpPr>
          <p:spPr bwMode="auto">
            <a:xfrm rot="2243910" flipV="1">
              <a:off x="1066" y="6016"/>
              <a:ext cx="779" cy="1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32" name="Line 792"/>
            <p:cNvSpPr>
              <a:spLocks noChangeShapeType="1"/>
            </p:cNvSpPr>
            <p:nvPr/>
          </p:nvSpPr>
          <p:spPr bwMode="auto">
            <a:xfrm>
              <a:off x="3825" y="4532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33" name="Line 793"/>
            <p:cNvSpPr>
              <a:spLocks noChangeShapeType="1"/>
            </p:cNvSpPr>
            <p:nvPr/>
          </p:nvSpPr>
          <p:spPr bwMode="auto">
            <a:xfrm>
              <a:off x="3825" y="6293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95034" name="AutoShape 794"/>
            <p:cNvSpPr>
              <a:spLocks noChangeArrowheads="1"/>
            </p:cNvSpPr>
            <p:nvPr/>
          </p:nvSpPr>
          <p:spPr bwMode="auto">
            <a:xfrm>
              <a:off x="-603" y="5922"/>
              <a:ext cx="1655" cy="548"/>
            </a:xfrm>
            <a:prstGeom prst="roundRect">
              <a:avLst>
                <a:gd name="adj" fmla="val 5940"/>
              </a:avLst>
            </a:prstGeom>
            <a:gradFill rotWithShape="1">
              <a:gsLst>
                <a:gs pos="0">
                  <a:srgbClr val="D5D69C"/>
                </a:gs>
                <a:gs pos="100000">
                  <a:srgbClr val="EEEFD7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pPr>
                <a:lnSpc>
                  <a:spcPct val="85000"/>
                </a:lnSpc>
              </a:pPr>
              <a:r>
                <a:rPr lang="fr-FR" sz="2000" dirty="0">
                  <a:solidFill>
                    <a:srgbClr val="000000"/>
                  </a:solidFill>
                </a:rPr>
                <a:t>Contrôleurs de </a:t>
              </a:r>
              <a:r>
                <a:rPr lang="fr-FR" sz="2000" dirty="0" smtClean="0">
                  <a:solidFill>
                    <a:srgbClr val="000000"/>
                  </a:solidFill>
                </a:rPr>
                <a:t>domaine de </a:t>
              </a:r>
              <a:r>
                <a:rPr lang="fr-FR" sz="2000" dirty="0">
                  <a:solidFill>
                    <a:srgbClr val="000000"/>
                  </a:solidFill>
                </a:rPr>
                <a:t>différents domaines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94" name="Rectangle 93"/>
          <p:cNvSpPr/>
          <p:nvPr/>
        </p:nvSpPr>
        <p:spPr>
          <a:xfrm>
            <a:off x="87084" y="1182080"/>
            <a:ext cx="8962572" cy="45243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 La topologie de réplication est l’itinéraire suivi par les données de la réplication à travers un réseau.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 Pour créer une topologie de réplication, AD doit déterminer quels DC répliquent les données avec les autres DC.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 La topologie de réplication peut différer pour les partitions de schéma, de configuration, de domaines et d’applications.  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 Les DC qui sont liés par des objets de connexion sont appelés </a:t>
            </a:r>
            <a:r>
              <a:rPr lang="fr-FR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partenaires de réplication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. </a:t>
            </a:r>
          </a:p>
          <a:p>
            <a:pPr algn="l">
              <a:buFont typeface="Wingdings" pitchFamily="2" charset="2"/>
              <a:buChar char="q"/>
            </a:pPr>
            <a:r>
              <a:rPr lang="fr-FR" sz="2400" dirty="0" smtClean="0">
                <a:latin typeface="Arial" pitchFamily="34" charset="0"/>
                <a:cs typeface="Arial" pitchFamily="34" charset="0"/>
              </a:rPr>
              <a:t> Les liens qui relient les partenaires de réplication sont appelés </a:t>
            </a:r>
            <a:r>
              <a:rPr lang="fr-FR" sz="2400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objets de connexion</a:t>
            </a:r>
            <a:r>
              <a:rPr lang="fr-FR" sz="2400" dirty="0" smtClean="0">
                <a:latin typeface="Arial" pitchFamily="34" charset="0"/>
                <a:cs typeface="Arial" pitchFamily="34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1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4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37" dur="5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0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3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46" dur="500"/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39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build="allAtOnce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000" b="1" dirty="0">
                <a:solidFill>
                  <a:srgbClr val="C00000"/>
                </a:solidFill>
              </a:rPr>
              <a:t>Génération automatique de la topologie de réplication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425592" name="Oval 632"/>
          <p:cNvSpPr>
            <a:spLocks noChangeArrowheads="1"/>
          </p:cNvSpPr>
          <p:nvPr/>
        </p:nvSpPr>
        <p:spPr bwMode="auto">
          <a:xfrm>
            <a:off x="931863" y="1221471"/>
            <a:ext cx="7164387" cy="46482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noFill/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5593" name="Group 633"/>
          <p:cNvGrpSpPr>
            <a:grpSpLocks/>
          </p:cNvGrpSpPr>
          <p:nvPr/>
        </p:nvGrpSpPr>
        <p:grpSpPr bwMode="auto">
          <a:xfrm>
            <a:off x="2462213" y="2891521"/>
            <a:ext cx="196850" cy="1214438"/>
            <a:chOff x="1569" y="1857"/>
            <a:chExt cx="124" cy="765"/>
          </a:xfrm>
        </p:grpSpPr>
        <p:sp>
          <p:nvSpPr>
            <p:cNvPr id="425594" name="Line 634"/>
            <p:cNvSpPr>
              <a:spLocks noChangeShapeType="1"/>
            </p:cNvSpPr>
            <p:nvPr/>
          </p:nvSpPr>
          <p:spPr bwMode="auto">
            <a:xfrm>
              <a:off x="1569" y="1857"/>
              <a:ext cx="0" cy="765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595" name="Line 635"/>
            <p:cNvSpPr>
              <a:spLocks noChangeShapeType="1"/>
            </p:cNvSpPr>
            <p:nvPr/>
          </p:nvSpPr>
          <p:spPr bwMode="auto">
            <a:xfrm>
              <a:off x="1693" y="1857"/>
              <a:ext cx="0" cy="765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25596" name="AutoShape 636"/>
          <p:cNvSpPr>
            <a:spLocks noChangeArrowheads="1"/>
          </p:cNvSpPr>
          <p:nvPr/>
        </p:nvSpPr>
        <p:spPr bwMode="auto">
          <a:xfrm>
            <a:off x="1989138" y="3226484"/>
            <a:ext cx="373062" cy="438150"/>
          </a:xfrm>
          <a:prstGeom prst="rightArrow">
            <a:avLst>
              <a:gd name="adj1" fmla="val 50000"/>
              <a:gd name="adj2" fmla="val 52764"/>
            </a:avLst>
          </a:prstGeom>
          <a:solidFill>
            <a:srgbClr val="FF0000">
              <a:alpha val="75000"/>
            </a:srgb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5597" name="Oval 637"/>
          <p:cNvSpPr>
            <a:spLocks noChangeArrowheads="1"/>
          </p:cNvSpPr>
          <p:nvPr/>
        </p:nvSpPr>
        <p:spPr bwMode="auto">
          <a:xfrm>
            <a:off x="1641475" y="1910446"/>
            <a:ext cx="5746750" cy="32686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grpSp>
        <p:nvGrpSpPr>
          <p:cNvPr id="425598" name="Group 638"/>
          <p:cNvGrpSpPr>
            <a:grpSpLocks/>
          </p:cNvGrpSpPr>
          <p:nvPr/>
        </p:nvGrpSpPr>
        <p:grpSpPr bwMode="auto">
          <a:xfrm>
            <a:off x="2257425" y="1294496"/>
            <a:ext cx="5770563" cy="4505325"/>
            <a:chOff x="1422" y="916"/>
            <a:chExt cx="3635" cy="2838"/>
          </a:xfrm>
        </p:grpSpPr>
        <p:grpSp>
          <p:nvGrpSpPr>
            <p:cNvPr id="425599" name="Group 639"/>
            <p:cNvGrpSpPr>
              <a:grpSpLocks/>
            </p:cNvGrpSpPr>
            <p:nvPr/>
          </p:nvGrpSpPr>
          <p:grpSpPr bwMode="auto">
            <a:xfrm>
              <a:off x="1422" y="1142"/>
              <a:ext cx="551" cy="712"/>
              <a:chOff x="1862" y="890"/>
              <a:chExt cx="551" cy="712"/>
            </a:xfrm>
          </p:grpSpPr>
          <p:pic>
            <p:nvPicPr>
              <p:cNvPr id="425600" name="Picture 640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62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01" name="Picture 641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02" name="Text Box 642"/>
              <p:cNvSpPr txBox="1">
                <a:spLocks noChangeArrowheads="1"/>
              </p:cNvSpPr>
              <p:nvPr/>
            </p:nvSpPr>
            <p:spPr bwMode="auto">
              <a:xfrm>
                <a:off x="1969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A1</a:t>
                </a:r>
              </a:p>
            </p:txBody>
          </p:sp>
        </p:grpSp>
        <p:grpSp>
          <p:nvGrpSpPr>
            <p:cNvPr id="425603" name="Group 643"/>
            <p:cNvGrpSpPr>
              <a:grpSpLocks/>
            </p:cNvGrpSpPr>
            <p:nvPr/>
          </p:nvGrpSpPr>
          <p:grpSpPr bwMode="auto">
            <a:xfrm>
              <a:off x="2619" y="1007"/>
              <a:ext cx="551" cy="712"/>
              <a:chOff x="3194" y="890"/>
              <a:chExt cx="551" cy="712"/>
            </a:xfrm>
          </p:grpSpPr>
          <p:pic>
            <p:nvPicPr>
              <p:cNvPr id="425604" name="Picture 644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05" name="Picture 645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06" name="Text Box 646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A2</a:t>
                </a:r>
              </a:p>
            </p:txBody>
          </p:sp>
        </p:grpSp>
        <p:grpSp>
          <p:nvGrpSpPr>
            <p:cNvPr id="425607" name="Group 647"/>
            <p:cNvGrpSpPr>
              <a:grpSpLocks/>
            </p:cNvGrpSpPr>
            <p:nvPr/>
          </p:nvGrpSpPr>
          <p:grpSpPr bwMode="auto">
            <a:xfrm>
              <a:off x="1422" y="2789"/>
              <a:ext cx="551" cy="712"/>
              <a:chOff x="1862" y="2537"/>
              <a:chExt cx="551" cy="712"/>
            </a:xfrm>
          </p:grpSpPr>
          <p:pic>
            <p:nvPicPr>
              <p:cNvPr id="425608" name="Picture 648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862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09" name="Picture 649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013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10" name="Text Box 650"/>
              <p:cNvSpPr txBox="1">
                <a:spLocks noChangeArrowheads="1"/>
              </p:cNvSpPr>
              <p:nvPr/>
            </p:nvSpPr>
            <p:spPr bwMode="auto">
              <a:xfrm>
                <a:off x="1969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A7</a:t>
                </a:r>
              </a:p>
            </p:txBody>
          </p:sp>
        </p:grpSp>
        <p:grpSp>
          <p:nvGrpSpPr>
            <p:cNvPr id="425611" name="Group 651"/>
            <p:cNvGrpSpPr>
              <a:grpSpLocks/>
            </p:cNvGrpSpPr>
            <p:nvPr/>
          </p:nvGrpSpPr>
          <p:grpSpPr bwMode="auto">
            <a:xfrm>
              <a:off x="2619" y="2953"/>
              <a:ext cx="551" cy="712"/>
              <a:chOff x="3194" y="2537"/>
              <a:chExt cx="551" cy="712"/>
            </a:xfrm>
          </p:grpSpPr>
          <p:pic>
            <p:nvPicPr>
              <p:cNvPr id="425612" name="Picture 652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13" name="Picture 653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14" name="Text Box 654"/>
              <p:cNvSpPr txBox="1">
                <a:spLocks noChangeArrowheads="1"/>
              </p:cNvSpPr>
              <p:nvPr/>
            </p:nvSpPr>
            <p:spPr bwMode="auto">
              <a:xfrm>
                <a:off x="3301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A6</a:t>
                </a:r>
              </a:p>
            </p:txBody>
          </p:sp>
        </p:grpSp>
        <p:grpSp>
          <p:nvGrpSpPr>
            <p:cNvPr id="425615" name="Group 655"/>
            <p:cNvGrpSpPr>
              <a:grpSpLocks/>
            </p:cNvGrpSpPr>
            <p:nvPr/>
          </p:nvGrpSpPr>
          <p:grpSpPr bwMode="auto">
            <a:xfrm>
              <a:off x="1998" y="1470"/>
              <a:ext cx="574" cy="1761"/>
              <a:chOff x="2497" y="1218"/>
              <a:chExt cx="574" cy="1761"/>
            </a:xfrm>
          </p:grpSpPr>
          <p:sp>
            <p:nvSpPr>
              <p:cNvPr id="425616" name="Line 656"/>
              <p:cNvSpPr>
                <a:spLocks noChangeShapeType="1"/>
              </p:cNvSpPr>
              <p:nvPr/>
            </p:nvSpPr>
            <p:spPr bwMode="auto">
              <a:xfrm>
                <a:off x="2497" y="1218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5617" name="Line 657"/>
              <p:cNvSpPr>
                <a:spLocks noChangeShapeType="1"/>
              </p:cNvSpPr>
              <p:nvPr/>
            </p:nvSpPr>
            <p:spPr bwMode="auto">
              <a:xfrm>
                <a:off x="2497" y="1335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5618" name="Line 658"/>
              <p:cNvSpPr>
                <a:spLocks noChangeShapeType="1"/>
              </p:cNvSpPr>
              <p:nvPr/>
            </p:nvSpPr>
            <p:spPr bwMode="auto">
              <a:xfrm>
                <a:off x="2497" y="2979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5619" name="Line 659"/>
              <p:cNvSpPr>
                <a:spLocks noChangeShapeType="1"/>
              </p:cNvSpPr>
              <p:nvPr/>
            </p:nvSpPr>
            <p:spPr bwMode="auto">
              <a:xfrm>
                <a:off x="2497" y="2847"/>
                <a:ext cx="574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25620" name="Group 660"/>
            <p:cNvGrpSpPr>
              <a:grpSpLocks/>
            </p:cNvGrpSpPr>
            <p:nvPr/>
          </p:nvGrpSpPr>
          <p:grpSpPr bwMode="auto">
            <a:xfrm>
              <a:off x="3818" y="1142"/>
              <a:ext cx="551" cy="712"/>
              <a:chOff x="3194" y="890"/>
              <a:chExt cx="551" cy="712"/>
            </a:xfrm>
          </p:grpSpPr>
          <p:pic>
            <p:nvPicPr>
              <p:cNvPr id="425621" name="Picture 661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22" name="Picture 662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23" name="Text Box 663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A3</a:t>
                </a:r>
              </a:p>
            </p:txBody>
          </p:sp>
        </p:grpSp>
        <p:grpSp>
          <p:nvGrpSpPr>
            <p:cNvPr id="425624" name="Group 664"/>
            <p:cNvGrpSpPr>
              <a:grpSpLocks/>
            </p:cNvGrpSpPr>
            <p:nvPr/>
          </p:nvGrpSpPr>
          <p:grpSpPr bwMode="auto">
            <a:xfrm>
              <a:off x="3818" y="2789"/>
              <a:ext cx="551" cy="712"/>
              <a:chOff x="3194" y="2537"/>
              <a:chExt cx="551" cy="712"/>
            </a:xfrm>
          </p:grpSpPr>
          <p:pic>
            <p:nvPicPr>
              <p:cNvPr id="425625" name="Picture 665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2543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26" name="Picture 666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2908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27" name="Text Box 667"/>
              <p:cNvSpPr txBox="1">
                <a:spLocks noChangeArrowheads="1"/>
              </p:cNvSpPr>
              <p:nvPr/>
            </p:nvSpPr>
            <p:spPr bwMode="auto">
              <a:xfrm>
                <a:off x="3301" y="2537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A5</a:t>
                </a:r>
              </a:p>
            </p:txBody>
          </p:sp>
        </p:grpSp>
        <p:sp>
          <p:nvSpPr>
            <p:cNvPr id="425628" name="Line 668"/>
            <p:cNvSpPr>
              <a:spLocks noChangeShapeType="1"/>
            </p:cNvSpPr>
            <p:nvPr/>
          </p:nvSpPr>
          <p:spPr bwMode="auto">
            <a:xfrm>
              <a:off x="3197" y="1470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29" name="Line 669"/>
            <p:cNvSpPr>
              <a:spLocks noChangeShapeType="1"/>
            </p:cNvSpPr>
            <p:nvPr/>
          </p:nvSpPr>
          <p:spPr bwMode="auto">
            <a:xfrm>
              <a:off x="3197" y="1587"/>
              <a:ext cx="574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30" name="Line 670"/>
            <p:cNvSpPr>
              <a:spLocks noChangeShapeType="1"/>
            </p:cNvSpPr>
            <p:nvPr/>
          </p:nvSpPr>
          <p:spPr bwMode="auto">
            <a:xfrm>
              <a:off x="3197" y="3231"/>
              <a:ext cx="574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31" name="Line 671"/>
            <p:cNvSpPr>
              <a:spLocks noChangeShapeType="1"/>
            </p:cNvSpPr>
            <p:nvPr/>
          </p:nvSpPr>
          <p:spPr bwMode="auto">
            <a:xfrm>
              <a:off x="3197" y="3099"/>
              <a:ext cx="574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425632" name="Group 672"/>
            <p:cNvGrpSpPr>
              <a:grpSpLocks/>
            </p:cNvGrpSpPr>
            <p:nvPr/>
          </p:nvGrpSpPr>
          <p:grpSpPr bwMode="auto">
            <a:xfrm>
              <a:off x="4506" y="1954"/>
              <a:ext cx="551" cy="712"/>
              <a:chOff x="3194" y="890"/>
              <a:chExt cx="551" cy="712"/>
            </a:xfrm>
          </p:grpSpPr>
          <p:pic>
            <p:nvPicPr>
              <p:cNvPr id="425633" name="Picture 673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34" name="Picture 674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35" name="Text Box 675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A4</a:t>
                </a:r>
              </a:p>
            </p:txBody>
          </p:sp>
        </p:grpSp>
        <p:grpSp>
          <p:nvGrpSpPr>
            <p:cNvPr id="425636" name="Group 676"/>
            <p:cNvGrpSpPr>
              <a:grpSpLocks/>
            </p:cNvGrpSpPr>
            <p:nvPr/>
          </p:nvGrpSpPr>
          <p:grpSpPr bwMode="auto">
            <a:xfrm rot="-2776761">
              <a:off x="4426" y="1669"/>
              <a:ext cx="100" cy="375"/>
              <a:chOff x="5422" y="1514"/>
              <a:chExt cx="146" cy="779"/>
            </a:xfrm>
          </p:grpSpPr>
          <p:sp>
            <p:nvSpPr>
              <p:cNvPr id="425637" name="Line 677"/>
              <p:cNvSpPr>
                <a:spLocks noChangeShapeType="1"/>
              </p:cNvSpPr>
              <p:nvPr/>
            </p:nvSpPr>
            <p:spPr bwMode="auto">
              <a:xfrm rot="-5400000">
                <a:off x="5178" y="1904"/>
                <a:ext cx="779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5638" name="Line 678"/>
              <p:cNvSpPr>
                <a:spLocks noChangeShapeType="1"/>
              </p:cNvSpPr>
              <p:nvPr/>
            </p:nvSpPr>
            <p:spPr bwMode="auto">
              <a:xfrm rot="-5400000">
                <a:off x="5032" y="1904"/>
                <a:ext cx="779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25639" name="Line 679"/>
            <p:cNvSpPr>
              <a:spLocks noChangeShapeType="1"/>
            </p:cNvSpPr>
            <p:nvPr/>
          </p:nvSpPr>
          <p:spPr bwMode="auto">
            <a:xfrm rot="8176761" flipH="1">
              <a:off x="4253" y="2731"/>
              <a:ext cx="375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40" name="Line 680"/>
            <p:cNvSpPr>
              <a:spLocks noChangeShapeType="1"/>
            </p:cNvSpPr>
            <p:nvPr/>
          </p:nvSpPr>
          <p:spPr bwMode="auto">
            <a:xfrm rot="8176761" flipH="1">
              <a:off x="4322" y="2804"/>
              <a:ext cx="375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41" name="Text Box 681"/>
            <p:cNvSpPr txBox="1">
              <a:spLocks noChangeArrowheads="1"/>
            </p:cNvSpPr>
            <p:nvPr/>
          </p:nvSpPr>
          <p:spPr bwMode="auto">
            <a:xfrm>
              <a:off x="1780" y="3378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2" name="Text Box 682"/>
            <p:cNvSpPr txBox="1">
              <a:spLocks noChangeArrowheads="1"/>
            </p:cNvSpPr>
            <p:nvPr/>
          </p:nvSpPr>
          <p:spPr bwMode="auto">
            <a:xfrm>
              <a:off x="2433" y="3542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3" name="Text Box 683"/>
            <p:cNvSpPr txBox="1">
              <a:spLocks noChangeArrowheads="1"/>
            </p:cNvSpPr>
            <p:nvPr/>
          </p:nvSpPr>
          <p:spPr bwMode="auto">
            <a:xfrm>
              <a:off x="3597" y="3378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4" name="Text Box 684"/>
            <p:cNvSpPr txBox="1">
              <a:spLocks noChangeArrowheads="1"/>
            </p:cNvSpPr>
            <p:nvPr/>
          </p:nvSpPr>
          <p:spPr bwMode="auto">
            <a:xfrm>
              <a:off x="1780" y="1010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5" name="Text Box 685"/>
            <p:cNvSpPr txBox="1">
              <a:spLocks noChangeArrowheads="1"/>
            </p:cNvSpPr>
            <p:nvPr/>
          </p:nvSpPr>
          <p:spPr bwMode="auto">
            <a:xfrm>
              <a:off x="2433" y="916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6" name="Text Box 686"/>
            <p:cNvSpPr txBox="1">
              <a:spLocks noChangeArrowheads="1"/>
            </p:cNvSpPr>
            <p:nvPr/>
          </p:nvSpPr>
          <p:spPr bwMode="auto">
            <a:xfrm>
              <a:off x="3597" y="1057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  <p:sp>
          <p:nvSpPr>
            <p:cNvPr id="425647" name="Text Box 687"/>
            <p:cNvSpPr txBox="1">
              <a:spLocks noChangeArrowheads="1"/>
            </p:cNvSpPr>
            <p:nvPr/>
          </p:nvSpPr>
          <p:spPr bwMode="auto">
            <a:xfrm>
              <a:off x="4637" y="2667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</p:grpSp>
      <p:grpSp>
        <p:nvGrpSpPr>
          <p:cNvPr id="425648" name="Group 688"/>
          <p:cNvGrpSpPr>
            <a:grpSpLocks/>
          </p:cNvGrpSpPr>
          <p:nvPr/>
        </p:nvGrpSpPr>
        <p:grpSpPr bwMode="auto">
          <a:xfrm>
            <a:off x="1096963" y="2942321"/>
            <a:ext cx="874712" cy="1468438"/>
            <a:chOff x="691" y="1954"/>
            <a:chExt cx="551" cy="925"/>
          </a:xfrm>
        </p:grpSpPr>
        <p:grpSp>
          <p:nvGrpSpPr>
            <p:cNvPr id="425649" name="Group 689"/>
            <p:cNvGrpSpPr>
              <a:grpSpLocks/>
            </p:cNvGrpSpPr>
            <p:nvPr/>
          </p:nvGrpSpPr>
          <p:grpSpPr bwMode="auto">
            <a:xfrm>
              <a:off x="691" y="1954"/>
              <a:ext cx="551" cy="712"/>
              <a:chOff x="3194" y="890"/>
              <a:chExt cx="551" cy="712"/>
            </a:xfrm>
          </p:grpSpPr>
          <p:pic>
            <p:nvPicPr>
              <p:cNvPr id="425650" name="Picture 690" descr="Server01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3194" y="896"/>
                <a:ext cx="500" cy="706"/>
              </a:xfrm>
              <a:prstGeom prst="rect">
                <a:avLst/>
              </a:prstGeom>
              <a:noFill/>
            </p:spPr>
          </p:pic>
          <p:pic>
            <p:nvPicPr>
              <p:cNvPr id="425651" name="Picture 691" descr="ActiveDirectory01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345" y="1261"/>
                <a:ext cx="400" cy="262"/>
              </a:xfrm>
              <a:prstGeom prst="rect">
                <a:avLst/>
              </a:prstGeom>
              <a:noFill/>
            </p:spPr>
          </p:pic>
          <p:sp>
            <p:nvSpPr>
              <p:cNvPr id="425652" name="Text Box 692"/>
              <p:cNvSpPr txBox="1">
                <a:spLocks noChangeArrowheads="1"/>
              </p:cNvSpPr>
              <p:nvPr/>
            </p:nvSpPr>
            <p:spPr bwMode="auto">
              <a:xfrm>
                <a:off x="3301" y="890"/>
                <a:ext cx="324" cy="23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>
                    <a:solidFill>
                      <a:srgbClr val="4D4D4D"/>
                    </a:solidFill>
                  </a:rPr>
                  <a:t>A8</a:t>
                </a:r>
              </a:p>
            </p:txBody>
          </p:sp>
        </p:grpSp>
        <p:sp>
          <p:nvSpPr>
            <p:cNvPr id="425653" name="Text Box 693"/>
            <p:cNvSpPr txBox="1">
              <a:spLocks noChangeArrowheads="1"/>
            </p:cNvSpPr>
            <p:nvPr/>
          </p:nvSpPr>
          <p:spPr bwMode="auto">
            <a:xfrm>
              <a:off x="770" y="2667"/>
              <a:ext cx="344" cy="21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600"/>
                <a:t>KCC</a:t>
              </a:r>
            </a:p>
          </p:txBody>
        </p:sp>
      </p:grpSp>
      <p:grpSp>
        <p:nvGrpSpPr>
          <p:cNvPr id="425654" name="Group 694"/>
          <p:cNvGrpSpPr>
            <a:grpSpLocks/>
          </p:cNvGrpSpPr>
          <p:nvPr/>
        </p:nvGrpSpPr>
        <p:grpSpPr bwMode="auto">
          <a:xfrm flipH="1">
            <a:off x="1676400" y="2708959"/>
            <a:ext cx="704850" cy="1582737"/>
            <a:chOff x="4253" y="1807"/>
            <a:chExt cx="444" cy="997"/>
          </a:xfrm>
        </p:grpSpPr>
        <p:grpSp>
          <p:nvGrpSpPr>
            <p:cNvPr id="425655" name="Group 695"/>
            <p:cNvGrpSpPr>
              <a:grpSpLocks/>
            </p:cNvGrpSpPr>
            <p:nvPr/>
          </p:nvGrpSpPr>
          <p:grpSpPr bwMode="auto">
            <a:xfrm rot="-2776761">
              <a:off x="4426" y="1669"/>
              <a:ext cx="100" cy="375"/>
              <a:chOff x="5422" y="1514"/>
              <a:chExt cx="146" cy="779"/>
            </a:xfrm>
          </p:grpSpPr>
          <p:sp>
            <p:nvSpPr>
              <p:cNvPr id="425656" name="Line 696"/>
              <p:cNvSpPr>
                <a:spLocks noChangeShapeType="1"/>
              </p:cNvSpPr>
              <p:nvPr/>
            </p:nvSpPr>
            <p:spPr bwMode="auto">
              <a:xfrm rot="-5400000">
                <a:off x="5178" y="1904"/>
                <a:ext cx="779" cy="0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25657" name="Line 697"/>
              <p:cNvSpPr>
                <a:spLocks noChangeShapeType="1"/>
              </p:cNvSpPr>
              <p:nvPr/>
            </p:nvSpPr>
            <p:spPr bwMode="auto">
              <a:xfrm rot="-5400000">
                <a:off x="5032" y="1904"/>
                <a:ext cx="779" cy="0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25658" name="Line 698"/>
            <p:cNvSpPr>
              <a:spLocks noChangeShapeType="1"/>
            </p:cNvSpPr>
            <p:nvPr/>
          </p:nvSpPr>
          <p:spPr bwMode="auto">
            <a:xfrm rot="8176761" flipH="1">
              <a:off x="4253" y="2731"/>
              <a:ext cx="375" cy="0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59" name="Line 699"/>
            <p:cNvSpPr>
              <a:spLocks noChangeShapeType="1"/>
            </p:cNvSpPr>
            <p:nvPr/>
          </p:nvSpPr>
          <p:spPr bwMode="auto">
            <a:xfrm rot="8176761" flipH="1">
              <a:off x="4322" y="2804"/>
              <a:ext cx="375" cy="0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25668" name="Group 708"/>
          <p:cNvGrpSpPr>
            <a:grpSpLocks/>
          </p:cNvGrpSpPr>
          <p:nvPr/>
        </p:nvGrpSpPr>
        <p:grpSpPr bwMode="auto">
          <a:xfrm>
            <a:off x="4486275" y="2639109"/>
            <a:ext cx="196850" cy="1793875"/>
            <a:chOff x="1569" y="1857"/>
            <a:chExt cx="124" cy="765"/>
          </a:xfrm>
        </p:grpSpPr>
        <p:sp>
          <p:nvSpPr>
            <p:cNvPr id="425669" name="Line 709"/>
            <p:cNvSpPr>
              <a:spLocks noChangeShapeType="1"/>
            </p:cNvSpPr>
            <p:nvPr/>
          </p:nvSpPr>
          <p:spPr bwMode="auto">
            <a:xfrm>
              <a:off x="1569" y="1857"/>
              <a:ext cx="0" cy="765"/>
            </a:xfrm>
            <a:prstGeom prst="line">
              <a:avLst/>
            </a:prstGeom>
            <a:noFill/>
            <a:ln w="50800">
              <a:solidFill>
                <a:srgbClr val="8DACD0"/>
              </a:solidFill>
              <a:round/>
              <a:headEnd type="stealth" w="med" len="med"/>
              <a:tailEnd type="stealth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25670" name="Line 710"/>
            <p:cNvSpPr>
              <a:spLocks noChangeShapeType="1"/>
            </p:cNvSpPr>
            <p:nvPr/>
          </p:nvSpPr>
          <p:spPr bwMode="auto">
            <a:xfrm>
              <a:off x="1693" y="1857"/>
              <a:ext cx="0" cy="765"/>
            </a:xfrm>
            <a:prstGeom prst="line">
              <a:avLst/>
            </a:prstGeom>
            <a:noFill/>
            <a:ln w="50800">
              <a:solidFill>
                <a:srgbClr val="97DFC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25671" name="Group 711"/>
          <p:cNvGrpSpPr>
            <a:grpSpLocks/>
          </p:cNvGrpSpPr>
          <p:nvPr/>
        </p:nvGrpSpPr>
        <p:grpSpPr bwMode="auto">
          <a:xfrm>
            <a:off x="2128838" y="3231246"/>
            <a:ext cx="4884737" cy="419100"/>
            <a:chOff x="1341" y="2136"/>
            <a:chExt cx="3077" cy="264"/>
          </a:xfrm>
        </p:grpSpPr>
        <p:sp>
          <p:nvSpPr>
            <p:cNvPr id="425672" name="Rectangle 712"/>
            <p:cNvSpPr>
              <a:spLocks noChangeArrowheads="1"/>
            </p:cNvSpPr>
            <p:nvPr/>
          </p:nvSpPr>
          <p:spPr bwMode="auto">
            <a:xfrm>
              <a:off x="1582" y="2145"/>
              <a:ext cx="2584" cy="231"/>
            </a:xfrm>
            <a:prstGeom prst="rect">
              <a:avLst/>
            </a:prstGeom>
            <a:gradFill rotWithShape="1">
              <a:gsLst>
                <a:gs pos="0">
                  <a:srgbClr val="EEEFD7">
                    <a:alpha val="50000"/>
                  </a:srgbClr>
                </a:gs>
                <a:gs pos="50000">
                  <a:srgbClr val="FFFFFF">
                    <a:alpha val="50000"/>
                  </a:srgbClr>
                </a:gs>
                <a:gs pos="100000">
                  <a:srgbClr val="EEEFD7">
                    <a:alpha val="50000"/>
                  </a:srgbClr>
                </a:gs>
              </a:gsLst>
              <a:lin ang="0" scaled="1"/>
            </a:gra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fr-FR" sz="2000" dirty="0">
                  <a:solidFill>
                    <a:srgbClr val="000000"/>
                  </a:solidFill>
                </a:rPr>
                <a:t>Génération automatique de la topologie de réplication</a:t>
              </a:r>
              <a:endParaRPr lang="en-US" sz="2000" dirty="0">
                <a:solidFill>
                  <a:srgbClr val="000000"/>
                </a:solidFill>
              </a:endParaRPr>
            </a:p>
          </p:txBody>
        </p:sp>
        <p:grpSp>
          <p:nvGrpSpPr>
            <p:cNvPr id="425673" name="Group 713"/>
            <p:cNvGrpSpPr>
              <a:grpSpLocks/>
            </p:cNvGrpSpPr>
            <p:nvPr/>
          </p:nvGrpSpPr>
          <p:grpSpPr bwMode="auto">
            <a:xfrm rot="-5400000">
              <a:off x="2748" y="729"/>
              <a:ext cx="264" cy="3077"/>
              <a:chOff x="1569" y="1857"/>
              <a:chExt cx="124" cy="765"/>
            </a:xfrm>
          </p:grpSpPr>
          <p:sp>
            <p:nvSpPr>
              <p:cNvPr id="425674" name="Line 714"/>
              <p:cNvSpPr>
                <a:spLocks noChangeShapeType="1"/>
              </p:cNvSpPr>
              <p:nvPr/>
            </p:nvSpPr>
            <p:spPr bwMode="auto">
              <a:xfrm>
                <a:off x="1569" y="1857"/>
                <a:ext cx="0" cy="765"/>
              </a:xfrm>
              <a:prstGeom prst="line">
                <a:avLst/>
              </a:prstGeom>
              <a:noFill/>
              <a:ln w="50800">
                <a:solidFill>
                  <a:srgbClr val="8DACD0"/>
                </a:solidFill>
                <a:round/>
                <a:headEnd type="stealth" w="med" len="med"/>
                <a:tailEnd type="stealth" w="med" len="med"/>
              </a:ln>
              <a:effectLst/>
            </p:spPr>
            <p:txBody>
              <a:bodyPr wrap="none" anchor="ctr"/>
              <a:lstStyle/>
              <a:p>
                <a:endParaRPr lang="fr-FR" sz="2000"/>
              </a:p>
            </p:txBody>
          </p:sp>
          <p:sp>
            <p:nvSpPr>
              <p:cNvPr id="425675" name="Line 715"/>
              <p:cNvSpPr>
                <a:spLocks noChangeShapeType="1"/>
              </p:cNvSpPr>
              <p:nvPr/>
            </p:nvSpPr>
            <p:spPr bwMode="auto">
              <a:xfrm>
                <a:off x="1693" y="1857"/>
                <a:ext cx="0" cy="765"/>
              </a:xfrm>
              <a:prstGeom prst="line">
                <a:avLst/>
              </a:prstGeom>
              <a:noFill/>
              <a:ln w="50800">
                <a:solidFill>
                  <a:srgbClr val="97DFC1"/>
                </a:solidFill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fr-FR" sz="2000"/>
              </a:p>
            </p:txBody>
          </p:sp>
        </p:grpSp>
      </p:grpSp>
      <p:sp>
        <p:nvSpPr>
          <p:cNvPr id="87" name="Rectangle 86"/>
          <p:cNvSpPr/>
          <p:nvPr/>
        </p:nvSpPr>
        <p:spPr>
          <a:xfrm>
            <a:off x="0" y="5965368"/>
            <a:ext cx="9144000" cy="7694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fr-FR" sz="2200" dirty="0" smtClean="0"/>
              <a:t>KCC est un processus intégré qui s’exécute sur chaque DC et génère la topologie de réplication pour toutes les partitions d’annuaire contenues dans ce DC.</a:t>
            </a:r>
            <a:endParaRPr lang="fr-FR" sz="2200" dirty="0"/>
          </a:p>
        </p:txBody>
      </p:sp>
      <p:sp>
        <p:nvSpPr>
          <p:cNvPr id="88" name="Rectangle 87"/>
          <p:cNvSpPr/>
          <p:nvPr/>
        </p:nvSpPr>
        <p:spPr>
          <a:xfrm>
            <a:off x="0" y="5943594"/>
            <a:ext cx="9144000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fr-FR" sz="2400" dirty="0" smtClean="0"/>
              <a:t>Lorsque vous ajoutez des DC à un site, AD utilise KCC </a:t>
            </a:r>
            <a:r>
              <a:rPr lang="fr-FR" sz="2400" i="1" dirty="0" smtClean="0"/>
              <a:t>pour établir un chemin de réplication entre les </a:t>
            </a:r>
            <a:r>
              <a:rPr lang="fr-FR" sz="2400" dirty="0" smtClean="0"/>
              <a:t>DC.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25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255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25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42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1000"/>
                                        <p:tgtEl>
                                          <p:spTgt spid="4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596" grpId="0" animBg="1"/>
      <p:bldP spid="425597" grpId="0" animBg="1"/>
      <p:bldP spid="87" grpId="0" animBg="1"/>
      <p:bldP spid="8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88686"/>
            <a:ext cx="8737600" cy="92949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0000"/>
                </a:solidFill>
              </a:rPr>
              <a:t>5. Utilisation des sites pour optimiser la réplication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696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8209" y="1933447"/>
            <a:ext cx="8503920" cy="3988381"/>
          </a:xfrm>
        </p:spPr>
        <p:txBody>
          <a:bodyPr>
            <a:normAutofit/>
          </a:bodyPr>
          <a:lstStyle/>
          <a:p>
            <a:pPr marL="514350" indent="-514350">
              <a:buClrTx/>
            </a:pPr>
            <a:r>
              <a:rPr lang="fr-FR" b="1" dirty="0">
                <a:solidFill>
                  <a:srgbClr val="C00000"/>
                </a:solidFill>
              </a:rPr>
              <a:t>Définition des </a:t>
            </a:r>
            <a:r>
              <a:rPr lang="fr-FR" b="1" dirty="0" smtClean="0">
                <a:solidFill>
                  <a:srgbClr val="C00000"/>
                </a:solidFill>
              </a:rPr>
              <a:t>sites</a:t>
            </a:r>
            <a:endParaRPr lang="en-US" b="1" dirty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r>
              <a:rPr lang="fr-FR" b="1" dirty="0">
                <a:solidFill>
                  <a:srgbClr val="C00000"/>
                </a:solidFill>
              </a:rPr>
              <a:t>Définition des liens de </a:t>
            </a:r>
            <a:r>
              <a:rPr lang="fr-FR" b="1" dirty="0" smtClean="0">
                <a:solidFill>
                  <a:srgbClr val="C00000"/>
                </a:solidFill>
              </a:rPr>
              <a:t>sites</a:t>
            </a:r>
          </a:p>
          <a:p>
            <a:pPr marL="514350" indent="-514350">
              <a:buClrTx/>
            </a:pPr>
            <a:r>
              <a:rPr lang="fr-FR" b="1" dirty="0" smtClean="0">
                <a:solidFill>
                  <a:srgbClr val="C00000"/>
                </a:solidFill>
              </a:rPr>
              <a:t>Coût des liens de sites</a:t>
            </a:r>
            <a:endParaRPr lang="en-US" b="1" dirty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r>
              <a:rPr lang="fr-FR" b="1" dirty="0">
                <a:solidFill>
                  <a:srgbClr val="C00000"/>
                </a:solidFill>
              </a:rPr>
              <a:t>Réplication à l'intérieur des sites et réplication entre </a:t>
            </a:r>
            <a:r>
              <a:rPr lang="fr-FR" b="1" dirty="0" smtClean="0">
                <a:solidFill>
                  <a:srgbClr val="C00000"/>
                </a:solidFill>
              </a:rPr>
              <a:t> les </a:t>
            </a:r>
            <a:r>
              <a:rPr lang="fr-FR" b="1" dirty="0">
                <a:solidFill>
                  <a:srgbClr val="C00000"/>
                </a:solidFill>
              </a:rPr>
              <a:t>sites</a:t>
            </a:r>
            <a:endParaRPr lang="en-US" sz="1800" b="1" dirty="0">
              <a:solidFill>
                <a:srgbClr val="C00000"/>
              </a:solidFill>
            </a:endParaRPr>
          </a:p>
          <a:p>
            <a:pPr marL="514350" indent="-514350">
              <a:buClrTx/>
            </a:pPr>
            <a:r>
              <a:rPr lang="fr-FR" b="1" dirty="0" smtClean="0">
                <a:solidFill>
                  <a:srgbClr val="C00000"/>
                </a:solidFill>
              </a:rPr>
              <a:t>Définition d'un serveur de tête de pont</a:t>
            </a:r>
          </a:p>
          <a:p>
            <a:pPr marL="514350" indent="-514350">
              <a:buClrTx/>
            </a:pPr>
            <a:r>
              <a:rPr lang="fr-FR" b="1" dirty="0" smtClean="0">
                <a:solidFill>
                  <a:srgbClr val="C00000"/>
                </a:solidFill>
              </a:rPr>
              <a:t>Définition du générateur de topologie </a:t>
            </a:r>
            <a:r>
              <a:rPr lang="fr-FR" b="1" dirty="0" err="1" smtClean="0">
                <a:solidFill>
                  <a:srgbClr val="C00000"/>
                </a:solidFill>
              </a:rPr>
              <a:t>inter-sites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des </a:t>
            </a:r>
            <a:r>
              <a:rPr lang="fr-FR" b="1" dirty="0" smtClean="0">
                <a:solidFill>
                  <a:srgbClr val="C00000"/>
                </a:solidFill>
              </a:rPr>
              <a:t>sites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30186" name="Picture 106" descr="07_1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1"/>
          <a:srcRect/>
          <a:stretch>
            <a:fillRect/>
          </a:stretch>
        </p:blipFill>
        <p:spPr>
          <a:xfrm>
            <a:off x="846138" y="1524900"/>
            <a:ext cx="7340600" cy="3644900"/>
          </a:xfrm>
          <a:noFill/>
          <a:ln/>
        </p:spPr>
      </p:pic>
      <p:pic>
        <p:nvPicPr>
          <p:cNvPr id="430159" name="Picture 79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5324842" y="1550591"/>
            <a:ext cx="3411538" cy="2081212"/>
          </a:xfrm>
          <a:prstGeom prst="rect">
            <a:avLst/>
          </a:prstGeom>
          <a:noFill/>
        </p:spPr>
      </p:pic>
      <p:pic>
        <p:nvPicPr>
          <p:cNvPr id="430160" name="Picture 80" descr="Site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2"/>
          <a:srcRect/>
          <a:stretch>
            <a:fillRect/>
          </a:stretch>
        </p:blipFill>
        <p:spPr bwMode="auto">
          <a:xfrm>
            <a:off x="5307226" y="3348046"/>
            <a:ext cx="3411538" cy="2195512"/>
          </a:xfrm>
          <a:prstGeom prst="rect">
            <a:avLst/>
          </a:prstGeom>
          <a:noFill/>
          <a:ln>
            <a:noFill/>
          </a:ln>
        </p:spPr>
      </p:pic>
      <p:sp>
        <p:nvSpPr>
          <p:cNvPr id="430105" name="Text Box 25"/>
          <p:cNvSpPr txBox="1">
            <a:spLocks noChangeArrowheads="1"/>
          </p:cNvSpPr>
          <p:nvPr/>
        </p:nvSpPr>
        <p:spPr bwMode="auto">
          <a:xfrm>
            <a:off x="5712192" y="2920603"/>
            <a:ext cx="22685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 dirty="0">
                <a:solidFill>
                  <a:srgbClr val="CC0000"/>
                </a:solidFill>
              </a:rPr>
              <a:t>Premier-Site-par-</a:t>
            </a:r>
            <a:r>
              <a:rPr lang="fr-FR" dirty="0" err="1">
                <a:solidFill>
                  <a:srgbClr val="CC0000"/>
                </a:solidFill>
              </a:rPr>
              <a:t>defaut</a:t>
            </a:r>
            <a:endParaRPr lang="en-US" dirty="0">
              <a:solidFill>
                <a:srgbClr val="CC0000"/>
              </a:solidFill>
            </a:endParaRPr>
          </a:p>
        </p:txBody>
      </p:sp>
      <p:sp>
        <p:nvSpPr>
          <p:cNvPr id="430109" name="Text Box 29"/>
          <p:cNvSpPr txBox="1">
            <a:spLocks noChangeArrowheads="1"/>
          </p:cNvSpPr>
          <p:nvPr/>
        </p:nvSpPr>
        <p:spPr bwMode="auto">
          <a:xfrm>
            <a:off x="6239769" y="4928061"/>
            <a:ext cx="14446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>
                <a:solidFill>
                  <a:srgbClr val="CC0000"/>
                </a:solidFill>
              </a:rPr>
              <a:t>Site Redmond</a:t>
            </a:r>
            <a:endParaRPr lang="en-US">
              <a:solidFill>
                <a:srgbClr val="CC0000"/>
              </a:solidFill>
            </a:endParaRPr>
          </a:p>
        </p:txBody>
      </p:sp>
      <p:sp>
        <p:nvSpPr>
          <p:cNvPr id="430113" name="Freeform 33"/>
          <p:cNvSpPr>
            <a:spLocks/>
          </p:cNvSpPr>
          <p:nvPr>
            <p:custDataLst>
              <p:tags r:id="rId3"/>
            </p:custDataLst>
          </p:nvPr>
        </p:nvSpPr>
        <p:spPr bwMode="auto">
          <a:xfrm rot="6211019" flipV="1">
            <a:off x="3501649" y="2696495"/>
            <a:ext cx="1028795" cy="2793231"/>
          </a:xfrm>
          <a:custGeom>
            <a:avLst/>
            <a:gdLst/>
            <a:ahLst/>
            <a:cxnLst>
              <a:cxn ang="0">
                <a:pos x="850" y="10"/>
              </a:cxn>
              <a:cxn ang="0">
                <a:pos x="796" y="34"/>
              </a:cxn>
              <a:cxn ang="0">
                <a:pos x="738" y="69"/>
              </a:cxn>
              <a:cxn ang="0">
                <a:pos x="678" y="109"/>
              </a:cxn>
              <a:cxn ang="0">
                <a:pos x="589" y="190"/>
              </a:cxn>
              <a:cxn ang="0">
                <a:pos x="504" y="287"/>
              </a:cxn>
              <a:cxn ang="0">
                <a:pos x="453" y="359"/>
              </a:cxn>
              <a:cxn ang="0">
                <a:pos x="403" y="436"/>
              </a:cxn>
              <a:cxn ang="0">
                <a:pos x="361" y="518"/>
              </a:cxn>
              <a:cxn ang="0">
                <a:pos x="326" y="604"/>
              </a:cxn>
              <a:cxn ang="0">
                <a:pos x="299" y="692"/>
              </a:cxn>
              <a:cxn ang="0">
                <a:pos x="282" y="781"/>
              </a:cxn>
              <a:cxn ang="0">
                <a:pos x="275" y="871"/>
              </a:cxn>
              <a:cxn ang="0">
                <a:pos x="281" y="964"/>
              </a:cxn>
              <a:cxn ang="0">
                <a:pos x="413" y="995"/>
              </a:cxn>
              <a:cxn ang="0">
                <a:pos x="0" y="1050"/>
              </a:cxn>
              <a:cxn ang="0">
                <a:pos x="125" y="1007"/>
              </a:cxn>
              <a:cxn ang="0">
                <a:pos x="110" y="921"/>
              </a:cxn>
              <a:cxn ang="0">
                <a:pos x="114" y="836"/>
              </a:cxn>
              <a:cxn ang="0">
                <a:pos x="130" y="746"/>
              </a:cxn>
              <a:cxn ang="0">
                <a:pos x="158" y="657"/>
              </a:cxn>
              <a:cxn ang="0">
                <a:pos x="196" y="568"/>
              </a:cxn>
              <a:cxn ang="0">
                <a:pos x="246" y="479"/>
              </a:cxn>
              <a:cxn ang="0">
                <a:pos x="300" y="395"/>
              </a:cxn>
              <a:cxn ang="0">
                <a:pos x="359" y="313"/>
              </a:cxn>
              <a:cxn ang="0">
                <a:pos x="425" y="239"/>
              </a:cxn>
              <a:cxn ang="0">
                <a:pos x="498" y="175"/>
              </a:cxn>
              <a:cxn ang="0">
                <a:pos x="566" y="116"/>
              </a:cxn>
              <a:cxn ang="0">
                <a:pos x="640" y="70"/>
              </a:cxn>
              <a:cxn ang="0">
                <a:pos x="713" y="34"/>
              </a:cxn>
              <a:cxn ang="0">
                <a:pos x="782" y="11"/>
              </a:cxn>
              <a:cxn ang="0">
                <a:pos x="846" y="0"/>
              </a:cxn>
            </a:cxnLst>
            <a:rect l="0" t="0" r="r" b="b"/>
            <a:pathLst>
              <a:path w="878" h="1326">
                <a:moveTo>
                  <a:pt x="878" y="2"/>
                </a:moveTo>
                <a:lnTo>
                  <a:pt x="850" y="10"/>
                </a:lnTo>
                <a:lnTo>
                  <a:pt x="824" y="21"/>
                </a:lnTo>
                <a:lnTo>
                  <a:pt x="796" y="34"/>
                </a:lnTo>
                <a:lnTo>
                  <a:pt x="768" y="49"/>
                </a:lnTo>
                <a:lnTo>
                  <a:pt x="738" y="69"/>
                </a:lnTo>
                <a:lnTo>
                  <a:pt x="709" y="87"/>
                </a:lnTo>
                <a:lnTo>
                  <a:pt x="678" y="109"/>
                </a:lnTo>
                <a:lnTo>
                  <a:pt x="648" y="135"/>
                </a:lnTo>
                <a:lnTo>
                  <a:pt x="589" y="190"/>
                </a:lnTo>
                <a:lnTo>
                  <a:pt x="533" y="253"/>
                </a:lnTo>
                <a:lnTo>
                  <a:pt x="504" y="287"/>
                </a:lnTo>
                <a:lnTo>
                  <a:pt x="479" y="322"/>
                </a:lnTo>
                <a:lnTo>
                  <a:pt x="453" y="359"/>
                </a:lnTo>
                <a:lnTo>
                  <a:pt x="427" y="398"/>
                </a:lnTo>
                <a:lnTo>
                  <a:pt x="403" y="436"/>
                </a:lnTo>
                <a:lnTo>
                  <a:pt x="382" y="477"/>
                </a:lnTo>
                <a:lnTo>
                  <a:pt x="361" y="518"/>
                </a:lnTo>
                <a:lnTo>
                  <a:pt x="345" y="561"/>
                </a:lnTo>
                <a:lnTo>
                  <a:pt x="326" y="604"/>
                </a:lnTo>
                <a:lnTo>
                  <a:pt x="313" y="646"/>
                </a:lnTo>
                <a:lnTo>
                  <a:pt x="299" y="692"/>
                </a:lnTo>
                <a:lnTo>
                  <a:pt x="291" y="737"/>
                </a:lnTo>
                <a:lnTo>
                  <a:pt x="282" y="781"/>
                </a:lnTo>
                <a:lnTo>
                  <a:pt x="278" y="826"/>
                </a:lnTo>
                <a:lnTo>
                  <a:pt x="275" y="871"/>
                </a:lnTo>
                <a:lnTo>
                  <a:pt x="276" y="920"/>
                </a:lnTo>
                <a:lnTo>
                  <a:pt x="281" y="964"/>
                </a:lnTo>
                <a:lnTo>
                  <a:pt x="285" y="1008"/>
                </a:lnTo>
                <a:lnTo>
                  <a:pt x="413" y="995"/>
                </a:lnTo>
                <a:lnTo>
                  <a:pt x="306" y="1326"/>
                </a:lnTo>
                <a:lnTo>
                  <a:pt x="0" y="1050"/>
                </a:lnTo>
                <a:lnTo>
                  <a:pt x="134" y="1043"/>
                </a:lnTo>
                <a:lnTo>
                  <a:pt x="125" y="1007"/>
                </a:lnTo>
                <a:lnTo>
                  <a:pt x="116" y="964"/>
                </a:lnTo>
                <a:lnTo>
                  <a:pt x="110" y="921"/>
                </a:lnTo>
                <a:lnTo>
                  <a:pt x="112" y="880"/>
                </a:lnTo>
                <a:lnTo>
                  <a:pt x="114" y="836"/>
                </a:lnTo>
                <a:lnTo>
                  <a:pt x="122" y="792"/>
                </a:lnTo>
                <a:lnTo>
                  <a:pt x="130" y="746"/>
                </a:lnTo>
                <a:lnTo>
                  <a:pt x="142" y="703"/>
                </a:lnTo>
                <a:lnTo>
                  <a:pt x="158" y="657"/>
                </a:lnTo>
                <a:lnTo>
                  <a:pt x="177" y="612"/>
                </a:lnTo>
                <a:lnTo>
                  <a:pt x="196" y="568"/>
                </a:lnTo>
                <a:lnTo>
                  <a:pt x="218" y="521"/>
                </a:lnTo>
                <a:lnTo>
                  <a:pt x="246" y="479"/>
                </a:lnTo>
                <a:lnTo>
                  <a:pt x="270" y="435"/>
                </a:lnTo>
                <a:lnTo>
                  <a:pt x="300" y="395"/>
                </a:lnTo>
                <a:lnTo>
                  <a:pt x="330" y="354"/>
                </a:lnTo>
                <a:lnTo>
                  <a:pt x="359" y="313"/>
                </a:lnTo>
                <a:lnTo>
                  <a:pt x="393" y="278"/>
                </a:lnTo>
                <a:lnTo>
                  <a:pt x="425" y="239"/>
                </a:lnTo>
                <a:lnTo>
                  <a:pt x="461" y="208"/>
                </a:lnTo>
                <a:lnTo>
                  <a:pt x="498" y="175"/>
                </a:lnTo>
                <a:lnTo>
                  <a:pt x="531" y="143"/>
                </a:lnTo>
                <a:lnTo>
                  <a:pt x="566" y="116"/>
                </a:lnTo>
                <a:lnTo>
                  <a:pt x="604" y="92"/>
                </a:lnTo>
                <a:lnTo>
                  <a:pt x="640" y="70"/>
                </a:lnTo>
                <a:lnTo>
                  <a:pt x="674" y="49"/>
                </a:lnTo>
                <a:lnTo>
                  <a:pt x="713" y="34"/>
                </a:lnTo>
                <a:lnTo>
                  <a:pt x="746" y="18"/>
                </a:lnTo>
                <a:lnTo>
                  <a:pt x="782" y="11"/>
                </a:lnTo>
                <a:lnTo>
                  <a:pt x="813" y="2"/>
                </a:lnTo>
                <a:lnTo>
                  <a:pt x="846" y="0"/>
                </a:lnTo>
                <a:lnTo>
                  <a:pt x="878" y="2"/>
                </a:lnTo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30164" name="Picture 84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970144" y="3927936"/>
            <a:ext cx="935038" cy="1274763"/>
          </a:xfrm>
          <a:prstGeom prst="rect">
            <a:avLst/>
          </a:prstGeom>
          <a:noFill/>
        </p:spPr>
      </p:pic>
      <p:pic>
        <p:nvPicPr>
          <p:cNvPr id="430165" name="Picture 85" descr="ActiveDirectory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52719" y="4610561"/>
            <a:ext cx="747713" cy="488950"/>
          </a:xfrm>
          <a:prstGeom prst="rect">
            <a:avLst/>
          </a:prstGeom>
          <a:noFill/>
        </p:spPr>
      </p:pic>
      <p:sp>
        <p:nvSpPr>
          <p:cNvPr id="430167" name="Text Box 87"/>
          <p:cNvSpPr txBox="1">
            <a:spLocks noChangeArrowheads="1"/>
          </p:cNvSpPr>
          <p:nvPr/>
        </p:nvSpPr>
        <p:spPr bwMode="auto">
          <a:xfrm>
            <a:off x="8240019" y="3981911"/>
            <a:ext cx="461963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solidFill>
                  <a:srgbClr val="000000"/>
                </a:solidFill>
              </a:rPr>
              <a:t>B1</a:t>
            </a:r>
            <a:endParaRPr lang="en-US"/>
          </a:p>
        </p:txBody>
      </p:sp>
      <p:pic>
        <p:nvPicPr>
          <p:cNvPr id="430171" name="Picture 91" descr="Server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8044230" y="2022078"/>
            <a:ext cx="935037" cy="1274763"/>
          </a:xfrm>
          <a:prstGeom prst="rect">
            <a:avLst/>
          </a:prstGeom>
          <a:noFill/>
        </p:spPr>
      </p:pic>
      <p:pic>
        <p:nvPicPr>
          <p:cNvPr id="430172" name="Picture 92" descr="ActiveDirectory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326805" y="2704703"/>
            <a:ext cx="747712" cy="488950"/>
          </a:xfrm>
          <a:prstGeom prst="rect">
            <a:avLst/>
          </a:prstGeom>
          <a:noFill/>
        </p:spPr>
      </p:pic>
      <p:sp>
        <p:nvSpPr>
          <p:cNvPr id="430173" name="Text Box 93"/>
          <p:cNvSpPr txBox="1">
            <a:spLocks noChangeArrowheads="1"/>
          </p:cNvSpPr>
          <p:nvPr/>
        </p:nvSpPr>
        <p:spPr bwMode="auto">
          <a:xfrm>
            <a:off x="8314105" y="2076053"/>
            <a:ext cx="461962" cy="3667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>
                <a:solidFill>
                  <a:srgbClr val="000000"/>
                </a:solidFill>
              </a:rPr>
              <a:t>A1</a:t>
            </a:r>
            <a:endParaRPr lang="en-US"/>
          </a:p>
        </p:txBody>
      </p:sp>
      <p:sp>
        <p:nvSpPr>
          <p:cNvPr id="430175" name="AutoShape 95"/>
          <p:cNvSpPr>
            <a:spLocks noChangeArrowheads="1"/>
          </p:cNvSpPr>
          <p:nvPr/>
        </p:nvSpPr>
        <p:spPr bwMode="auto">
          <a:xfrm>
            <a:off x="6331317" y="1971278"/>
            <a:ext cx="1562100" cy="81597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>
                <a:solidFill>
                  <a:srgbClr val="000000"/>
                </a:solidFill>
              </a:rPr>
              <a:t>Sous-réseau IP</a:t>
            </a:r>
            <a:endParaRPr lang="en-US"/>
          </a:p>
        </p:txBody>
      </p:sp>
      <p:sp>
        <p:nvSpPr>
          <p:cNvPr id="430176" name="AutoShape 96"/>
          <p:cNvSpPr>
            <a:spLocks noChangeArrowheads="1"/>
          </p:cNvSpPr>
          <p:nvPr/>
        </p:nvSpPr>
        <p:spPr bwMode="auto">
          <a:xfrm>
            <a:off x="5401569" y="4093036"/>
            <a:ext cx="1562100" cy="81597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dirty="0">
                <a:solidFill>
                  <a:srgbClr val="000000"/>
                </a:solidFill>
              </a:rPr>
              <a:t>Sous-réseau IP</a:t>
            </a:r>
            <a:endParaRPr lang="en-US" dirty="0"/>
          </a:p>
        </p:txBody>
      </p:sp>
      <p:sp>
        <p:nvSpPr>
          <p:cNvPr id="430177" name="AutoShape 97"/>
          <p:cNvSpPr>
            <a:spLocks noChangeArrowheads="1"/>
          </p:cNvSpPr>
          <p:nvPr/>
        </p:nvSpPr>
        <p:spPr bwMode="auto">
          <a:xfrm>
            <a:off x="6354069" y="3410411"/>
            <a:ext cx="1562100" cy="81597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>
                <a:solidFill>
                  <a:srgbClr val="000000"/>
                </a:solidFill>
              </a:rPr>
              <a:t>Sous-réseau IP</a:t>
            </a:r>
            <a:endParaRPr lang="en-US"/>
          </a:p>
        </p:txBody>
      </p:sp>
      <p:sp>
        <p:nvSpPr>
          <p:cNvPr id="19" name="Freeform 33"/>
          <p:cNvSpPr>
            <a:spLocks/>
          </p:cNvSpPr>
          <p:nvPr>
            <p:custDataLst>
              <p:tags r:id="rId8"/>
            </p:custDataLst>
          </p:nvPr>
        </p:nvSpPr>
        <p:spPr bwMode="auto">
          <a:xfrm rot="5400000" flipV="1">
            <a:off x="3651004" y="1560178"/>
            <a:ext cx="1028795" cy="2380740"/>
          </a:xfrm>
          <a:custGeom>
            <a:avLst/>
            <a:gdLst/>
            <a:ahLst/>
            <a:cxnLst>
              <a:cxn ang="0">
                <a:pos x="850" y="10"/>
              </a:cxn>
              <a:cxn ang="0">
                <a:pos x="796" y="34"/>
              </a:cxn>
              <a:cxn ang="0">
                <a:pos x="738" y="69"/>
              </a:cxn>
              <a:cxn ang="0">
                <a:pos x="678" y="109"/>
              </a:cxn>
              <a:cxn ang="0">
                <a:pos x="589" y="190"/>
              </a:cxn>
              <a:cxn ang="0">
                <a:pos x="504" y="287"/>
              </a:cxn>
              <a:cxn ang="0">
                <a:pos x="453" y="359"/>
              </a:cxn>
              <a:cxn ang="0">
                <a:pos x="403" y="436"/>
              </a:cxn>
              <a:cxn ang="0">
                <a:pos x="361" y="518"/>
              </a:cxn>
              <a:cxn ang="0">
                <a:pos x="326" y="604"/>
              </a:cxn>
              <a:cxn ang="0">
                <a:pos x="299" y="692"/>
              </a:cxn>
              <a:cxn ang="0">
                <a:pos x="282" y="781"/>
              </a:cxn>
              <a:cxn ang="0">
                <a:pos x="275" y="871"/>
              </a:cxn>
              <a:cxn ang="0">
                <a:pos x="281" y="964"/>
              </a:cxn>
              <a:cxn ang="0">
                <a:pos x="413" y="995"/>
              </a:cxn>
              <a:cxn ang="0">
                <a:pos x="0" y="1050"/>
              </a:cxn>
              <a:cxn ang="0">
                <a:pos x="125" y="1007"/>
              </a:cxn>
              <a:cxn ang="0">
                <a:pos x="110" y="921"/>
              </a:cxn>
              <a:cxn ang="0">
                <a:pos x="114" y="836"/>
              </a:cxn>
              <a:cxn ang="0">
                <a:pos x="130" y="746"/>
              </a:cxn>
              <a:cxn ang="0">
                <a:pos x="158" y="657"/>
              </a:cxn>
              <a:cxn ang="0">
                <a:pos x="196" y="568"/>
              </a:cxn>
              <a:cxn ang="0">
                <a:pos x="246" y="479"/>
              </a:cxn>
              <a:cxn ang="0">
                <a:pos x="300" y="395"/>
              </a:cxn>
              <a:cxn ang="0">
                <a:pos x="359" y="313"/>
              </a:cxn>
              <a:cxn ang="0">
                <a:pos x="425" y="239"/>
              </a:cxn>
              <a:cxn ang="0">
                <a:pos x="498" y="175"/>
              </a:cxn>
              <a:cxn ang="0">
                <a:pos x="566" y="116"/>
              </a:cxn>
              <a:cxn ang="0">
                <a:pos x="640" y="70"/>
              </a:cxn>
              <a:cxn ang="0">
                <a:pos x="713" y="34"/>
              </a:cxn>
              <a:cxn ang="0">
                <a:pos x="782" y="11"/>
              </a:cxn>
              <a:cxn ang="0">
                <a:pos x="846" y="0"/>
              </a:cxn>
            </a:cxnLst>
            <a:rect l="0" t="0" r="r" b="b"/>
            <a:pathLst>
              <a:path w="878" h="1326">
                <a:moveTo>
                  <a:pt x="878" y="2"/>
                </a:moveTo>
                <a:lnTo>
                  <a:pt x="850" y="10"/>
                </a:lnTo>
                <a:lnTo>
                  <a:pt x="824" y="21"/>
                </a:lnTo>
                <a:lnTo>
                  <a:pt x="796" y="34"/>
                </a:lnTo>
                <a:lnTo>
                  <a:pt x="768" y="49"/>
                </a:lnTo>
                <a:lnTo>
                  <a:pt x="738" y="69"/>
                </a:lnTo>
                <a:lnTo>
                  <a:pt x="709" y="87"/>
                </a:lnTo>
                <a:lnTo>
                  <a:pt x="678" y="109"/>
                </a:lnTo>
                <a:lnTo>
                  <a:pt x="648" y="135"/>
                </a:lnTo>
                <a:lnTo>
                  <a:pt x="589" y="190"/>
                </a:lnTo>
                <a:lnTo>
                  <a:pt x="533" y="253"/>
                </a:lnTo>
                <a:lnTo>
                  <a:pt x="504" y="287"/>
                </a:lnTo>
                <a:lnTo>
                  <a:pt x="479" y="322"/>
                </a:lnTo>
                <a:lnTo>
                  <a:pt x="453" y="359"/>
                </a:lnTo>
                <a:lnTo>
                  <a:pt x="427" y="398"/>
                </a:lnTo>
                <a:lnTo>
                  <a:pt x="403" y="436"/>
                </a:lnTo>
                <a:lnTo>
                  <a:pt x="382" y="477"/>
                </a:lnTo>
                <a:lnTo>
                  <a:pt x="361" y="518"/>
                </a:lnTo>
                <a:lnTo>
                  <a:pt x="345" y="561"/>
                </a:lnTo>
                <a:lnTo>
                  <a:pt x="326" y="604"/>
                </a:lnTo>
                <a:lnTo>
                  <a:pt x="313" y="646"/>
                </a:lnTo>
                <a:lnTo>
                  <a:pt x="299" y="692"/>
                </a:lnTo>
                <a:lnTo>
                  <a:pt x="291" y="737"/>
                </a:lnTo>
                <a:lnTo>
                  <a:pt x="282" y="781"/>
                </a:lnTo>
                <a:lnTo>
                  <a:pt x="278" y="826"/>
                </a:lnTo>
                <a:lnTo>
                  <a:pt x="275" y="871"/>
                </a:lnTo>
                <a:lnTo>
                  <a:pt x="276" y="920"/>
                </a:lnTo>
                <a:lnTo>
                  <a:pt x="281" y="964"/>
                </a:lnTo>
                <a:lnTo>
                  <a:pt x="285" y="1008"/>
                </a:lnTo>
                <a:lnTo>
                  <a:pt x="413" y="995"/>
                </a:lnTo>
                <a:lnTo>
                  <a:pt x="306" y="1326"/>
                </a:lnTo>
                <a:lnTo>
                  <a:pt x="0" y="1050"/>
                </a:lnTo>
                <a:lnTo>
                  <a:pt x="134" y="1043"/>
                </a:lnTo>
                <a:lnTo>
                  <a:pt x="125" y="1007"/>
                </a:lnTo>
                <a:lnTo>
                  <a:pt x="116" y="964"/>
                </a:lnTo>
                <a:lnTo>
                  <a:pt x="110" y="921"/>
                </a:lnTo>
                <a:lnTo>
                  <a:pt x="112" y="880"/>
                </a:lnTo>
                <a:lnTo>
                  <a:pt x="114" y="836"/>
                </a:lnTo>
                <a:lnTo>
                  <a:pt x="122" y="792"/>
                </a:lnTo>
                <a:lnTo>
                  <a:pt x="130" y="746"/>
                </a:lnTo>
                <a:lnTo>
                  <a:pt x="142" y="703"/>
                </a:lnTo>
                <a:lnTo>
                  <a:pt x="158" y="657"/>
                </a:lnTo>
                <a:lnTo>
                  <a:pt x="177" y="612"/>
                </a:lnTo>
                <a:lnTo>
                  <a:pt x="196" y="568"/>
                </a:lnTo>
                <a:lnTo>
                  <a:pt x="218" y="521"/>
                </a:lnTo>
                <a:lnTo>
                  <a:pt x="246" y="479"/>
                </a:lnTo>
                <a:lnTo>
                  <a:pt x="270" y="435"/>
                </a:lnTo>
                <a:lnTo>
                  <a:pt x="300" y="395"/>
                </a:lnTo>
                <a:lnTo>
                  <a:pt x="330" y="354"/>
                </a:lnTo>
                <a:lnTo>
                  <a:pt x="359" y="313"/>
                </a:lnTo>
                <a:lnTo>
                  <a:pt x="393" y="278"/>
                </a:lnTo>
                <a:lnTo>
                  <a:pt x="425" y="239"/>
                </a:lnTo>
                <a:lnTo>
                  <a:pt x="461" y="208"/>
                </a:lnTo>
                <a:lnTo>
                  <a:pt x="498" y="175"/>
                </a:lnTo>
                <a:lnTo>
                  <a:pt x="531" y="143"/>
                </a:lnTo>
                <a:lnTo>
                  <a:pt x="566" y="116"/>
                </a:lnTo>
                <a:lnTo>
                  <a:pt x="604" y="92"/>
                </a:lnTo>
                <a:lnTo>
                  <a:pt x="640" y="70"/>
                </a:lnTo>
                <a:lnTo>
                  <a:pt x="674" y="49"/>
                </a:lnTo>
                <a:lnTo>
                  <a:pt x="713" y="34"/>
                </a:lnTo>
                <a:lnTo>
                  <a:pt x="746" y="18"/>
                </a:lnTo>
                <a:lnTo>
                  <a:pt x="782" y="11"/>
                </a:lnTo>
                <a:lnTo>
                  <a:pt x="813" y="2"/>
                </a:lnTo>
                <a:lnTo>
                  <a:pt x="846" y="0"/>
                </a:lnTo>
                <a:lnTo>
                  <a:pt x="878" y="2"/>
                </a:lnTo>
              </a:path>
            </a:pathLst>
          </a:custGeom>
          <a:solidFill>
            <a:srgbClr val="FF0000">
              <a:alpha val="75000"/>
            </a:srgbClr>
          </a:solidFill>
          <a:ln w="9525" cap="flat" cmpd="sng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203200" y="5573487"/>
            <a:ext cx="873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Un site est représenté par un ou plusieurs sous réseaux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Les sites s’appuient sur la structure physique d’un réseau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45" y="313191"/>
            <a:ext cx="8783184" cy="684212"/>
          </a:xfrm>
          <a:noFill/>
        </p:spPr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des liens de sites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431249" name="Picture 145" descr="Site0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144474" y="4797411"/>
            <a:ext cx="4492625" cy="2012950"/>
          </a:xfrm>
          <a:prstGeom prst="rect">
            <a:avLst/>
          </a:prstGeom>
          <a:noFill/>
        </p:spPr>
      </p:pic>
      <p:pic>
        <p:nvPicPr>
          <p:cNvPr id="431250" name="Picture 146" descr="Site0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5505212" y="2117711"/>
            <a:ext cx="3411537" cy="2012950"/>
          </a:xfrm>
          <a:prstGeom prst="rect">
            <a:avLst/>
          </a:prstGeom>
          <a:noFill/>
        </p:spPr>
      </p:pic>
      <p:sp>
        <p:nvSpPr>
          <p:cNvPr id="431251" name="Text Box 147"/>
          <p:cNvSpPr txBox="1">
            <a:spLocks noChangeArrowheads="1"/>
          </p:cNvSpPr>
          <p:nvPr/>
        </p:nvSpPr>
        <p:spPr bwMode="auto">
          <a:xfrm>
            <a:off x="6530737" y="3548049"/>
            <a:ext cx="642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 sz="2400">
                <a:solidFill>
                  <a:srgbClr val="CC0000"/>
                </a:solidFill>
              </a:rPr>
              <a:t>Site</a:t>
            </a:r>
            <a:endParaRPr lang="en-US" sz="2400">
              <a:solidFill>
                <a:srgbClr val="CC0000"/>
              </a:solidFill>
            </a:endParaRPr>
          </a:p>
        </p:txBody>
      </p:sp>
      <p:sp>
        <p:nvSpPr>
          <p:cNvPr id="431252" name="AutoShape 148"/>
          <p:cNvSpPr>
            <a:spLocks noChangeArrowheads="1"/>
          </p:cNvSpPr>
          <p:nvPr/>
        </p:nvSpPr>
        <p:spPr bwMode="auto">
          <a:xfrm>
            <a:off x="5598874" y="2886061"/>
            <a:ext cx="1392238" cy="6223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31253" name="AutoShape 149"/>
          <p:cNvSpPr>
            <a:spLocks noChangeArrowheads="1"/>
          </p:cNvSpPr>
          <p:nvPr/>
        </p:nvSpPr>
        <p:spPr bwMode="auto">
          <a:xfrm>
            <a:off x="7297499" y="3298811"/>
            <a:ext cx="1392238" cy="6223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31254" name="Rectangle 150"/>
          <p:cNvSpPr>
            <a:spLocks noChangeArrowheads="1"/>
          </p:cNvSpPr>
          <p:nvPr/>
        </p:nvSpPr>
        <p:spPr bwMode="auto">
          <a:xfrm rot="793229">
            <a:off x="6335474" y="2416161"/>
            <a:ext cx="2176463" cy="223838"/>
          </a:xfrm>
          <a:prstGeom prst="rect">
            <a:avLst/>
          </a:prstGeom>
          <a:gradFill rotWithShape="1">
            <a:gsLst>
              <a:gs pos="0">
                <a:srgbClr val="B395D8"/>
              </a:gs>
              <a:gs pos="50000">
                <a:srgbClr val="B395D8">
                  <a:gamma/>
                  <a:tint val="21176"/>
                  <a:invGamma/>
                </a:srgbClr>
              </a:gs>
              <a:gs pos="100000">
                <a:srgbClr val="B395D8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endParaRPr lang="fr-FR"/>
          </a:p>
        </p:txBody>
      </p:sp>
      <p:pic>
        <p:nvPicPr>
          <p:cNvPr id="431256" name="Picture 152" descr="Server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5830649" y="1971661"/>
            <a:ext cx="793750" cy="1095375"/>
          </a:xfrm>
          <a:prstGeom prst="rect">
            <a:avLst/>
          </a:prstGeom>
          <a:noFill/>
        </p:spPr>
      </p:pic>
      <p:pic>
        <p:nvPicPr>
          <p:cNvPr id="431257" name="Picture 153" descr="ActiveDirectory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070362" y="2551099"/>
            <a:ext cx="635000" cy="415925"/>
          </a:xfrm>
          <a:prstGeom prst="rect">
            <a:avLst/>
          </a:prstGeom>
          <a:noFill/>
        </p:spPr>
      </p:pic>
      <p:sp>
        <p:nvSpPr>
          <p:cNvPr id="431258" name="Text Box 154"/>
          <p:cNvSpPr txBox="1">
            <a:spLocks noChangeArrowheads="1"/>
          </p:cNvSpPr>
          <p:nvPr/>
        </p:nvSpPr>
        <p:spPr bwMode="auto">
          <a:xfrm>
            <a:off x="6046549" y="2008174"/>
            <a:ext cx="3921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A1</a:t>
            </a:r>
            <a:endParaRPr lang="en-US" sz="1400"/>
          </a:p>
        </p:txBody>
      </p:sp>
      <p:pic>
        <p:nvPicPr>
          <p:cNvPr id="431260" name="Picture 156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97612" y="2473311"/>
            <a:ext cx="793750" cy="1095375"/>
          </a:xfrm>
          <a:prstGeom prst="rect">
            <a:avLst/>
          </a:prstGeom>
          <a:noFill/>
        </p:spPr>
      </p:pic>
      <p:pic>
        <p:nvPicPr>
          <p:cNvPr id="431261" name="Picture 157" descr="ActiveDirectory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437324" y="3052749"/>
            <a:ext cx="635000" cy="415925"/>
          </a:xfrm>
          <a:prstGeom prst="rect">
            <a:avLst/>
          </a:prstGeom>
          <a:noFill/>
        </p:spPr>
      </p:pic>
      <p:sp>
        <p:nvSpPr>
          <p:cNvPr id="431262" name="Text Box 158"/>
          <p:cNvSpPr txBox="1">
            <a:spLocks noChangeArrowheads="1"/>
          </p:cNvSpPr>
          <p:nvPr/>
        </p:nvSpPr>
        <p:spPr bwMode="auto">
          <a:xfrm>
            <a:off x="8413512" y="2509824"/>
            <a:ext cx="39211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A2</a:t>
            </a:r>
            <a:endParaRPr lang="en-US" sz="1400"/>
          </a:p>
        </p:txBody>
      </p:sp>
      <p:sp>
        <p:nvSpPr>
          <p:cNvPr id="431263" name="Text Box 159"/>
          <p:cNvSpPr txBox="1">
            <a:spLocks noChangeArrowheads="1"/>
          </p:cNvSpPr>
          <p:nvPr/>
        </p:nvSpPr>
        <p:spPr bwMode="auto">
          <a:xfrm rot="825946">
            <a:off x="6740287" y="2389174"/>
            <a:ext cx="1533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fr-FR" sz="1400" dirty="0">
                <a:solidFill>
                  <a:srgbClr val="000000"/>
                </a:solidFill>
              </a:rPr>
              <a:t>RPC  ou   SMTP</a:t>
            </a:r>
            <a:endParaRPr lang="en-US" sz="1400" dirty="0"/>
          </a:p>
        </p:txBody>
      </p:sp>
      <p:sp>
        <p:nvSpPr>
          <p:cNvPr id="431264" name="Arc 160"/>
          <p:cNvSpPr>
            <a:spLocks/>
          </p:cNvSpPr>
          <p:nvPr/>
        </p:nvSpPr>
        <p:spPr bwMode="auto">
          <a:xfrm flipH="1">
            <a:off x="6556137" y="3994136"/>
            <a:ext cx="1352550" cy="1804988"/>
          </a:xfrm>
          <a:custGeom>
            <a:avLst/>
            <a:gdLst>
              <a:gd name="G0" fmla="+- 21600 0 0"/>
              <a:gd name="G1" fmla="+- 5682 0 0"/>
              <a:gd name="G2" fmla="+- 21600 0 0"/>
              <a:gd name="T0" fmla="*/ 20510 w 21600"/>
              <a:gd name="T1" fmla="*/ 27254 h 27254"/>
              <a:gd name="T2" fmla="*/ 761 w 21600"/>
              <a:gd name="T3" fmla="*/ 0 h 27254"/>
              <a:gd name="T4" fmla="*/ 21600 w 21600"/>
              <a:gd name="T5" fmla="*/ 5682 h 27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7254" fill="none" extrusionOk="0">
                <a:moveTo>
                  <a:pt x="20509" y="27254"/>
                </a:moveTo>
                <a:cubicBezTo>
                  <a:pt x="9018" y="26673"/>
                  <a:pt x="0" y="17187"/>
                  <a:pt x="0" y="5682"/>
                </a:cubicBezTo>
                <a:cubicBezTo>
                  <a:pt x="-1" y="3762"/>
                  <a:pt x="255" y="1851"/>
                  <a:pt x="760" y="-1"/>
                </a:cubicBezTo>
              </a:path>
              <a:path w="21600" h="27254" stroke="0" extrusionOk="0">
                <a:moveTo>
                  <a:pt x="20509" y="27254"/>
                </a:moveTo>
                <a:cubicBezTo>
                  <a:pt x="9018" y="26673"/>
                  <a:pt x="0" y="17187"/>
                  <a:pt x="0" y="5682"/>
                </a:cubicBezTo>
                <a:cubicBezTo>
                  <a:pt x="-1" y="3762"/>
                  <a:pt x="255" y="1851"/>
                  <a:pt x="760" y="-1"/>
                </a:cubicBezTo>
                <a:lnTo>
                  <a:pt x="21600" y="5682"/>
                </a:lnTo>
                <a:close/>
              </a:path>
            </a:pathLst>
          </a:custGeom>
          <a:noFill/>
          <a:ln w="57150">
            <a:solidFill>
              <a:srgbClr val="CC0000"/>
            </a:solidFill>
            <a:round/>
            <a:headEnd type="diamond" w="med" len="med"/>
            <a:tailEnd type="diamond" w="med" len="med"/>
          </a:ln>
          <a:effectLst/>
        </p:spPr>
        <p:txBody>
          <a:bodyPr wrap="none" anchor="ctr"/>
          <a:lstStyle/>
          <a:p>
            <a:endParaRPr lang="fr-FR"/>
          </a:p>
        </p:txBody>
      </p:sp>
      <p:pic>
        <p:nvPicPr>
          <p:cNvPr id="431265" name="Picture 161" descr="Bell01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908562" y="4600561"/>
            <a:ext cx="598487" cy="736600"/>
          </a:xfrm>
          <a:prstGeom prst="rect">
            <a:avLst/>
          </a:prstGeom>
          <a:noFill/>
        </p:spPr>
      </p:pic>
      <p:pic>
        <p:nvPicPr>
          <p:cNvPr id="431266" name="Picture 162" descr="Clock01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6311662" y="4251311"/>
            <a:ext cx="830262" cy="890588"/>
          </a:xfrm>
          <a:prstGeom prst="rect">
            <a:avLst/>
          </a:prstGeom>
          <a:noFill/>
        </p:spPr>
      </p:pic>
      <p:sp>
        <p:nvSpPr>
          <p:cNvPr id="431267" name="AutoShape 163"/>
          <p:cNvSpPr>
            <a:spLocks noChangeArrowheads="1"/>
          </p:cNvSpPr>
          <p:nvPr/>
        </p:nvSpPr>
        <p:spPr bwMode="auto">
          <a:xfrm>
            <a:off x="7462599" y="4616436"/>
            <a:ext cx="1274763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Lien de sites</a:t>
            </a:r>
            <a:endParaRPr lang="en-US"/>
          </a:p>
        </p:txBody>
      </p:sp>
      <p:sp>
        <p:nvSpPr>
          <p:cNvPr id="431268" name="AutoShape 164"/>
          <p:cNvSpPr>
            <a:spLocks noChangeArrowheads="1"/>
          </p:cNvSpPr>
          <p:nvPr/>
        </p:nvSpPr>
        <p:spPr bwMode="auto">
          <a:xfrm>
            <a:off x="2019062" y="5705461"/>
            <a:ext cx="1392237" cy="6223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31269" name="AutoShape 165"/>
          <p:cNvSpPr>
            <a:spLocks noChangeArrowheads="1"/>
          </p:cNvSpPr>
          <p:nvPr/>
        </p:nvSpPr>
        <p:spPr bwMode="auto">
          <a:xfrm>
            <a:off x="4905137" y="5899136"/>
            <a:ext cx="1392237" cy="6223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31270" name="Text Box 166"/>
          <p:cNvSpPr txBox="1">
            <a:spLocks noChangeArrowheads="1"/>
          </p:cNvSpPr>
          <p:nvPr/>
        </p:nvSpPr>
        <p:spPr bwMode="auto">
          <a:xfrm>
            <a:off x="3322399" y="6188061"/>
            <a:ext cx="642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fr-FR" sz="2400">
                <a:solidFill>
                  <a:srgbClr val="CC0000"/>
                </a:solidFill>
              </a:rPr>
              <a:t>Site</a:t>
            </a:r>
            <a:endParaRPr lang="en-US" sz="2400">
              <a:solidFill>
                <a:srgbClr val="CC0000"/>
              </a:solidFill>
            </a:endParaRPr>
          </a:p>
        </p:txBody>
      </p:sp>
      <p:sp>
        <p:nvSpPr>
          <p:cNvPr id="431271" name="Rectangle 167"/>
          <p:cNvSpPr>
            <a:spLocks noChangeArrowheads="1"/>
          </p:cNvSpPr>
          <p:nvPr/>
        </p:nvSpPr>
        <p:spPr bwMode="auto">
          <a:xfrm>
            <a:off x="3322399" y="5049824"/>
            <a:ext cx="2176463" cy="173037"/>
          </a:xfrm>
          <a:prstGeom prst="rect">
            <a:avLst/>
          </a:prstGeom>
          <a:gradFill rotWithShape="1">
            <a:gsLst>
              <a:gs pos="0">
                <a:srgbClr val="B395D8"/>
              </a:gs>
              <a:gs pos="50000">
                <a:srgbClr val="B395D8">
                  <a:gamma/>
                  <a:tint val="21176"/>
                  <a:invGamma/>
                </a:srgbClr>
              </a:gs>
              <a:gs pos="100000">
                <a:srgbClr val="B395D8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endParaRPr lang="fr-FR"/>
          </a:p>
        </p:txBody>
      </p:sp>
      <p:sp>
        <p:nvSpPr>
          <p:cNvPr id="431272" name="Rectangle 168"/>
          <p:cNvSpPr>
            <a:spLocks noChangeArrowheads="1"/>
          </p:cNvSpPr>
          <p:nvPr/>
        </p:nvSpPr>
        <p:spPr bwMode="auto">
          <a:xfrm rot="2275265">
            <a:off x="2663587" y="5557824"/>
            <a:ext cx="2176462" cy="173037"/>
          </a:xfrm>
          <a:prstGeom prst="rect">
            <a:avLst/>
          </a:prstGeom>
          <a:gradFill rotWithShape="1">
            <a:gsLst>
              <a:gs pos="0">
                <a:srgbClr val="B395D8"/>
              </a:gs>
              <a:gs pos="50000">
                <a:srgbClr val="B395D8">
                  <a:gamma/>
                  <a:tint val="21176"/>
                  <a:invGamma/>
                </a:srgbClr>
              </a:gs>
              <a:gs pos="100000">
                <a:srgbClr val="B395D8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endParaRPr lang="fr-FR"/>
          </a:p>
        </p:txBody>
      </p:sp>
      <p:sp>
        <p:nvSpPr>
          <p:cNvPr id="431273" name="Rectangle 169"/>
          <p:cNvSpPr>
            <a:spLocks noChangeArrowheads="1"/>
          </p:cNvSpPr>
          <p:nvPr/>
        </p:nvSpPr>
        <p:spPr bwMode="auto">
          <a:xfrm rot="19324735" flipH="1">
            <a:off x="3989149" y="5557824"/>
            <a:ext cx="2176463" cy="173037"/>
          </a:xfrm>
          <a:prstGeom prst="rect">
            <a:avLst/>
          </a:prstGeom>
          <a:gradFill rotWithShape="1">
            <a:gsLst>
              <a:gs pos="0">
                <a:srgbClr val="B395D8"/>
              </a:gs>
              <a:gs pos="50000">
                <a:srgbClr val="B395D8">
                  <a:gamma/>
                  <a:tint val="21176"/>
                  <a:invGamma/>
                </a:srgbClr>
              </a:gs>
              <a:gs pos="100000">
                <a:srgbClr val="B395D8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endParaRPr lang="fr-FR"/>
          </a:p>
        </p:txBody>
      </p:sp>
      <p:pic>
        <p:nvPicPr>
          <p:cNvPr id="431275" name="Picture 171" descr="Server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028837" y="5745149"/>
            <a:ext cx="793750" cy="1095375"/>
          </a:xfrm>
          <a:prstGeom prst="rect">
            <a:avLst/>
          </a:prstGeom>
          <a:noFill/>
        </p:spPr>
      </p:pic>
      <p:pic>
        <p:nvPicPr>
          <p:cNvPr id="431276" name="Picture 172" descr="ActiveDirectory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268549" y="6324586"/>
            <a:ext cx="635000" cy="415925"/>
          </a:xfrm>
          <a:prstGeom prst="rect">
            <a:avLst/>
          </a:prstGeom>
          <a:noFill/>
        </p:spPr>
      </p:pic>
      <p:sp>
        <p:nvSpPr>
          <p:cNvPr id="431277" name="Text Box 173"/>
          <p:cNvSpPr txBox="1">
            <a:spLocks noChangeArrowheads="1"/>
          </p:cNvSpPr>
          <p:nvPr/>
        </p:nvSpPr>
        <p:spPr bwMode="auto">
          <a:xfrm>
            <a:off x="4244737" y="5781661"/>
            <a:ext cx="392112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B3</a:t>
            </a:r>
            <a:endParaRPr lang="en-US" sz="1400"/>
          </a:p>
        </p:txBody>
      </p:sp>
      <p:pic>
        <p:nvPicPr>
          <p:cNvPr id="431279" name="Picture 175" descr="Server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585799" y="4675174"/>
            <a:ext cx="793750" cy="1095375"/>
          </a:xfrm>
          <a:prstGeom prst="rect">
            <a:avLst/>
          </a:prstGeom>
          <a:noFill/>
        </p:spPr>
      </p:pic>
      <p:pic>
        <p:nvPicPr>
          <p:cNvPr id="431280" name="Picture 176" descr="ActiveDirectory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825512" y="5254611"/>
            <a:ext cx="635000" cy="415925"/>
          </a:xfrm>
          <a:prstGeom prst="rect">
            <a:avLst/>
          </a:prstGeom>
          <a:noFill/>
        </p:spPr>
      </p:pic>
      <p:sp>
        <p:nvSpPr>
          <p:cNvPr id="431281" name="Text Box 177"/>
          <p:cNvSpPr txBox="1">
            <a:spLocks noChangeArrowheads="1"/>
          </p:cNvSpPr>
          <p:nvPr/>
        </p:nvSpPr>
        <p:spPr bwMode="auto">
          <a:xfrm>
            <a:off x="2801699" y="4711686"/>
            <a:ext cx="3921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B1</a:t>
            </a:r>
            <a:endParaRPr lang="en-US" sz="1400"/>
          </a:p>
        </p:txBody>
      </p:sp>
      <p:grpSp>
        <p:nvGrpSpPr>
          <p:cNvPr id="431291" name="Group 178"/>
          <p:cNvGrpSpPr>
            <a:grpSpLocks/>
          </p:cNvGrpSpPr>
          <p:nvPr/>
        </p:nvGrpSpPr>
        <p:grpSpPr bwMode="auto">
          <a:xfrm>
            <a:off x="5343287" y="4675174"/>
            <a:ext cx="874712" cy="1095375"/>
            <a:chOff x="2991" y="2497"/>
            <a:chExt cx="551" cy="690"/>
          </a:xfrm>
        </p:grpSpPr>
        <p:pic>
          <p:nvPicPr>
            <p:cNvPr id="431283" name="Picture 179" descr="Server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2991" y="2497"/>
              <a:ext cx="500" cy="690"/>
            </a:xfrm>
            <a:prstGeom prst="rect">
              <a:avLst/>
            </a:prstGeom>
            <a:noFill/>
          </p:spPr>
        </p:pic>
        <p:pic>
          <p:nvPicPr>
            <p:cNvPr id="431284" name="Picture 180" descr="ActiveDirectory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3142" y="2862"/>
              <a:ext cx="400" cy="262"/>
            </a:xfrm>
            <a:prstGeom prst="rect">
              <a:avLst/>
            </a:prstGeom>
            <a:noFill/>
          </p:spPr>
        </p:pic>
        <p:sp>
          <p:nvSpPr>
            <p:cNvPr id="431285" name="Text Box 181"/>
            <p:cNvSpPr txBox="1">
              <a:spLocks noChangeArrowheads="1"/>
            </p:cNvSpPr>
            <p:nvPr/>
          </p:nvSpPr>
          <p:spPr bwMode="auto">
            <a:xfrm>
              <a:off x="3127" y="2520"/>
              <a:ext cx="247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>
                  <a:solidFill>
                    <a:srgbClr val="000000"/>
                  </a:solidFill>
                </a:rPr>
                <a:t>B2</a:t>
              </a:r>
              <a:endParaRPr lang="en-US" sz="1400"/>
            </a:p>
          </p:txBody>
        </p:sp>
      </p:grpSp>
      <p:sp>
        <p:nvSpPr>
          <p:cNvPr id="431288" name="AutoShape 184"/>
          <p:cNvSpPr>
            <a:spLocks noChangeArrowheads="1"/>
          </p:cNvSpPr>
          <p:nvPr/>
        </p:nvSpPr>
        <p:spPr bwMode="auto">
          <a:xfrm>
            <a:off x="7118112" y="5719749"/>
            <a:ext cx="800100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Coût</a:t>
            </a:r>
            <a:endParaRPr lang="en-US"/>
          </a:p>
        </p:txBody>
      </p:sp>
      <p:sp>
        <p:nvSpPr>
          <p:cNvPr id="431290" name="AutoShape 186"/>
          <p:cNvSpPr>
            <a:spLocks noChangeArrowheads="1"/>
          </p:cNvSpPr>
          <p:nvPr/>
        </p:nvSpPr>
        <p:spPr bwMode="auto">
          <a:xfrm>
            <a:off x="0" y="1291771"/>
            <a:ext cx="5471886" cy="3338286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algn="l">
              <a:buFont typeface="Wingdings" pitchFamily="2" charset="2"/>
              <a:buChar char="q"/>
            </a:pPr>
            <a:r>
              <a:rPr lang="fr-FR" sz="2200" dirty="0" smtClean="0">
                <a:solidFill>
                  <a:srgbClr val="000000"/>
                </a:solidFill>
              </a:rPr>
              <a:t> Pour que deux sites échangent des données de réplication, ils doivent être connectés par un </a:t>
            </a:r>
            <a:r>
              <a:rPr lang="fr-FR" sz="2200" i="1" dirty="0" smtClean="0">
                <a:solidFill>
                  <a:srgbClr val="000000"/>
                </a:solidFill>
              </a:rPr>
              <a:t>lien de sites 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>
                <a:solidFill>
                  <a:srgbClr val="000000"/>
                </a:solidFill>
              </a:rPr>
              <a:t> Représente </a:t>
            </a:r>
            <a:r>
              <a:rPr lang="fr-FR" sz="2200" dirty="0">
                <a:solidFill>
                  <a:srgbClr val="000000"/>
                </a:solidFill>
              </a:rPr>
              <a:t>la connexion physique entre les </a:t>
            </a:r>
            <a:r>
              <a:rPr lang="fr-FR" sz="2200" dirty="0" smtClean="0">
                <a:solidFill>
                  <a:srgbClr val="000000"/>
                </a:solidFill>
              </a:rPr>
              <a:t>sites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>
                <a:solidFill>
                  <a:srgbClr val="000000"/>
                </a:solidFill>
              </a:rPr>
              <a:t>Les attributs de lien de sites déterminent les caractéristiques de la connexion, tels que le coût, la fréquence de la réplication et les protocoles</a:t>
            </a:r>
            <a:endParaRPr lang="en-US" sz="220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3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31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31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C00000"/>
                </a:solidFill>
              </a:rPr>
              <a:t>Coût des liens de sites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947962"/>
            <a:ext cx="8503920" cy="3857752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i="1" dirty="0" smtClean="0"/>
              <a:t>C’est un nombre sans unité de mesure qui représente</a:t>
            </a:r>
            <a:r>
              <a:rPr lang="fr-FR" dirty="0" smtClean="0"/>
              <a:t> la fiabilité du réseau. 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Plus le coût d’un lien est bas, plus sa priorité est élevée, ce qui en fait un chemin privilégié. 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En définissant le coût du lien de sites, vous pouvez déterminer la priorité relative de chaque lien de sites.</a:t>
            </a:r>
          </a:p>
          <a:p>
            <a:pPr>
              <a:buClr>
                <a:schemeClr val="tx1"/>
              </a:buClr>
              <a:buFont typeface="Wingdings" pitchFamily="2" charset="2"/>
              <a:buChar char="q"/>
            </a:pPr>
            <a:r>
              <a:rPr lang="fr-FR" dirty="0" smtClean="0"/>
              <a:t>La valeur par défaut du coût est de 100 et peut s’échelonner de 1 à 99999.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Réplication à l'intérieur des sites et réplication entre </a:t>
            </a:r>
            <a:r>
              <a:rPr lang="fr-FR" sz="2600" b="1" dirty="0" smtClean="0">
                <a:solidFill>
                  <a:srgbClr val="C00000"/>
                </a:solidFill>
              </a:rPr>
              <a:t> les </a:t>
            </a:r>
            <a:r>
              <a:rPr lang="fr-FR" sz="2600" b="1" dirty="0">
                <a:solidFill>
                  <a:srgbClr val="C00000"/>
                </a:solidFill>
              </a:rPr>
              <a:t>sites</a:t>
            </a:r>
            <a:endParaRPr lang="en-US" sz="2600" b="1" dirty="0">
              <a:solidFill>
                <a:srgbClr val="C00000"/>
              </a:solidFill>
            </a:endParaRPr>
          </a:p>
        </p:txBody>
      </p:sp>
      <p:pic>
        <p:nvPicPr>
          <p:cNvPr id="414839" name="Picture 119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/>
          <a:srcRect/>
          <a:stretch>
            <a:fillRect/>
          </a:stretch>
        </p:blipFill>
        <p:spPr bwMode="auto">
          <a:xfrm>
            <a:off x="175766" y="1309687"/>
            <a:ext cx="4817148" cy="2824062"/>
          </a:xfrm>
          <a:prstGeom prst="rect">
            <a:avLst/>
          </a:prstGeom>
          <a:noFill/>
        </p:spPr>
      </p:pic>
      <p:sp>
        <p:nvSpPr>
          <p:cNvPr id="414840" name="AutoShape 120"/>
          <p:cNvSpPr>
            <a:spLocks noChangeArrowheads="1"/>
          </p:cNvSpPr>
          <p:nvPr/>
        </p:nvSpPr>
        <p:spPr bwMode="auto">
          <a:xfrm>
            <a:off x="753616" y="3145971"/>
            <a:ext cx="1415868" cy="6714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  <p:pic>
        <p:nvPicPr>
          <p:cNvPr id="414842" name="Picture 122" descr="Serv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63115" y="1420813"/>
            <a:ext cx="967435" cy="1335060"/>
          </a:xfrm>
          <a:prstGeom prst="rect">
            <a:avLst/>
          </a:prstGeom>
          <a:noFill/>
        </p:spPr>
      </p:pic>
      <p:pic>
        <p:nvPicPr>
          <p:cNvPr id="414843" name="Picture 123" descr="ActiveDirectory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802828" y="2000250"/>
            <a:ext cx="773948" cy="506936"/>
          </a:xfrm>
          <a:prstGeom prst="rect">
            <a:avLst/>
          </a:prstGeom>
          <a:noFill/>
        </p:spPr>
      </p:pic>
      <p:sp>
        <p:nvSpPr>
          <p:cNvPr id="414844" name="Text Box 124"/>
          <p:cNvSpPr txBox="1">
            <a:spLocks noChangeArrowheads="1"/>
          </p:cNvSpPr>
          <p:nvPr/>
        </p:nvSpPr>
        <p:spPr bwMode="auto">
          <a:xfrm>
            <a:off x="779016" y="1457324"/>
            <a:ext cx="44156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A1</a:t>
            </a:r>
            <a:endParaRPr lang="en-US" sz="1400"/>
          </a:p>
        </p:txBody>
      </p:sp>
      <p:pic>
        <p:nvPicPr>
          <p:cNvPr id="414846" name="Picture 126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446015" y="2340882"/>
            <a:ext cx="967435" cy="1335060"/>
          </a:xfrm>
          <a:prstGeom prst="rect">
            <a:avLst/>
          </a:prstGeom>
          <a:noFill/>
        </p:spPr>
      </p:pic>
      <p:pic>
        <p:nvPicPr>
          <p:cNvPr id="414847" name="Picture 127" descr="ActiveDirectory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685728" y="2920320"/>
            <a:ext cx="773948" cy="506936"/>
          </a:xfrm>
          <a:prstGeom prst="rect">
            <a:avLst/>
          </a:prstGeom>
          <a:noFill/>
        </p:spPr>
      </p:pic>
      <p:sp>
        <p:nvSpPr>
          <p:cNvPr id="414848" name="Text Box 128"/>
          <p:cNvSpPr txBox="1">
            <a:spLocks noChangeArrowheads="1"/>
          </p:cNvSpPr>
          <p:nvPr/>
        </p:nvSpPr>
        <p:spPr bwMode="auto">
          <a:xfrm>
            <a:off x="3661916" y="2377394"/>
            <a:ext cx="441564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A2</a:t>
            </a:r>
            <a:endParaRPr lang="en-US" sz="1400"/>
          </a:p>
        </p:txBody>
      </p:sp>
      <p:sp>
        <p:nvSpPr>
          <p:cNvPr id="414851" name="Line 131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rot="1251268">
            <a:off x="1440386" y="2201636"/>
            <a:ext cx="2111344" cy="45719"/>
          </a:xfrm>
          <a:prstGeom prst="line">
            <a:avLst/>
          </a:prstGeom>
          <a:noFill/>
          <a:ln w="44450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52" name="Line 132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rot="1251268">
            <a:off x="1387086" y="2337667"/>
            <a:ext cx="2090736" cy="45719"/>
          </a:xfrm>
          <a:prstGeom prst="line">
            <a:avLst/>
          </a:prstGeom>
          <a:noFill/>
          <a:ln w="44450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53" name="AutoShape 133"/>
          <p:cNvSpPr>
            <a:spLocks noChangeArrowheads="1"/>
          </p:cNvSpPr>
          <p:nvPr/>
        </p:nvSpPr>
        <p:spPr bwMode="auto">
          <a:xfrm>
            <a:off x="1812477" y="2772909"/>
            <a:ext cx="1237097" cy="40245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600" dirty="0">
                <a:solidFill>
                  <a:srgbClr val="000000"/>
                </a:solidFill>
              </a:rPr>
              <a:t>Réplication</a:t>
            </a:r>
            <a:endParaRPr lang="en-US" sz="1600" dirty="0"/>
          </a:p>
        </p:txBody>
      </p:sp>
      <p:sp>
        <p:nvSpPr>
          <p:cNvPr id="414977" name="AutoShape 257"/>
          <p:cNvSpPr>
            <a:spLocks noChangeArrowheads="1"/>
          </p:cNvSpPr>
          <p:nvPr/>
        </p:nvSpPr>
        <p:spPr bwMode="auto">
          <a:xfrm>
            <a:off x="2748877" y="1628321"/>
            <a:ext cx="1415868" cy="671400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  <p:sp>
        <p:nvSpPr>
          <p:cNvPr id="46" name="Rectangle 45"/>
          <p:cNvSpPr/>
          <p:nvPr/>
        </p:nvSpPr>
        <p:spPr>
          <a:xfrm>
            <a:off x="326570" y="4133230"/>
            <a:ext cx="852714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spcBef>
                <a:spcPct val="40000"/>
              </a:spcBef>
              <a:buSzPct val="80000"/>
            </a:pPr>
            <a:r>
              <a:rPr lang="fr-FR" sz="2400" dirty="0" smtClean="0">
                <a:solidFill>
                  <a:srgbClr val="000000"/>
                </a:solidFill>
              </a:rPr>
              <a:t>La réplication à l'intérieur des sites: </a:t>
            </a:r>
            <a:r>
              <a:rPr lang="fr-FR" sz="2400" dirty="0" smtClean="0">
                <a:solidFill>
                  <a:srgbClr val="C00000"/>
                </a:solidFill>
              </a:rPr>
              <a:t>Intrasite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225425" lvl="0" indent="-225425" algn="l">
              <a:spcBef>
                <a:spcPts val="0"/>
              </a:spcBef>
              <a:buSzPct val="80000"/>
              <a:buBlip>
                <a:blip r:embed="rId13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Suppose des liaisons réseau rapides et très fiables</a:t>
            </a:r>
            <a:endParaRPr lang="en-US" sz="2400" b="0" dirty="0" smtClean="0">
              <a:cs typeface="Times New Roman" pitchFamily="18" charset="0"/>
            </a:endParaRPr>
          </a:p>
          <a:p>
            <a:pPr marL="225425" lvl="0" indent="-225425" algn="l">
              <a:spcBef>
                <a:spcPts val="0"/>
              </a:spcBef>
              <a:buSzPct val="80000"/>
              <a:buBlip>
                <a:blip r:embed="rId13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Ne réduit pas la taille du trafic de réplications</a:t>
            </a:r>
            <a:endParaRPr lang="en-US" sz="2400" b="0" dirty="0" smtClean="0">
              <a:cs typeface="Times New Roman" pitchFamily="18" charset="0"/>
            </a:endParaRPr>
          </a:p>
          <a:p>
            <a:pPr marL="225425" lvl="0" indent="-225425" algn="l">
              <a:spcBef>
                <a:spcPts val="0"/>
              </a:spcBef>
              <a:buSzPct val="80000"/>
              <a:buBlip>
                <a:blip r:embed="rId13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Utilise un mécanisme de notification de modification</a:t>
            </a:r>
            <a:endParaRPr lang="en-US" sz="24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600" b="1" dirty="0">
                <a:solidFill>
                  <a:srgbClr val="C00000"/>
                </a:solidFill>
              </a:rPr>
              <a:t>Réplication à l'intérieur des sites et réplication entre </a:t>
            </a:r>
            <a:r>
              <a:rPr lang="fr-FR" sz="2600" b="1" dirty="0" smtClean="0">
                <a:solidFill>
                  <a:srgbClr val="C00000"/>
                </a:solidFill>
              </a:rPr>
              <a:t> les </a:t>
            </a:r>
            <a:r>
              <a:rPr lang="fr-FR" sz="2600" b="1" dirty="0">
                <a:solidFill>
                  <a:srgbClr val="C00000"/>
                </a:solidFill>
              </a:rPr>
              <a:t>sites</a:t>
            </a:r>
            <a:endParaRPr lang="en-US" sz="2600" b="1" dirty="0">
              <a:solidFill>
                <a:srgbClr val="C00000"/>
              </a:solidFill>
            </a:endParaRPr>
          </a:p>
        </p:txBody>
      </p:sp>
      <p:pic>
        <p:nvPicPr>
          <p:cNvPr id="414857" name="Picture 137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2"/>
          <a:srcRect/>
          <a:stretch>
            <a:fillRect/>
          </a:stretch>
        </p:blipFill>
        <p:spPr bwMode="auto">
          <a:xfrm>
            <a:off x="4158959" y="3497027"/>
            <a:ext cx="3097738" cy="1786173"/>
          </a:xfrm>
          <a:prstGeom prst="rect">
            <a:avLst/>
          </a:prstGeom>
          <a:noFill/>
        </p:spPr>
      </p:pic>
      <p:pic>
        <p:nvPicPr>
          <p:cNvPr id="414859" name="Picture 139" descr="Serv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4916255" y="3566877"/>
            <a:ext cx="665630" cy="917703"/>
          </a:xfrm>
          <a:prstGeom prst="rect">
            <a:avLst/>
          </a:prstGeom>
          <a:noFill/>
        </p:spPr>
      </p:pic>
      <p:pic>
        <p:nvPicPr>
          <p:cNvPr id="414860" name="Picture 140" descr="ActiveDirectory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103761" y="3958990"/>
            <a:ext cx="533685" cy="346600"/>
          </a:xfrm>
          <a:prstGeom prst="rect">
            <a:avLst/>
          </a:prstGeom>
          <a:noFill/>
        </p:spPr>
      </p:pic>
      <p:sp>
        <p:nvSpPr>
          <p:cNvPr id="414861" name="Text Box 141"/>
          <p:cNvSpPr txBox="1">
            <a:spLocks noChangeArrowheads="1"/>
          </p:cNvSpPr>
          <p:nvPr/>
        </p:nvSpPr>
        <p:spPr bwMode="auto">
          <a:xfrm>
            <a:off x="5060220" y="3552590"/>
            <a:ext cx="42165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200">
                <a:solidFill>
                  <a:srgbClr val="000000"/>
                </a:solidFill>
              </a:rPr>
              <a:t>A1</a:t>
            </a:r>
            <a:endParaRPr lang="en-US" sz="1200"/>
          </a:p>
        </p:txBody>
      </p:sp>
      <p:pic>
        <p:nvPicPr>
          <p:cNvPr id="414862" name="Picture 142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6494230" y="4149490"/>
            <a:ext cx="665630" cy="917703"/>
          </a:xfrm>
          <a:prstGeom prst="rect">
            <a:avLst/>
          </a:prstGeom>
          <a:noFill/>
        </p:spPr>
      </p:pic>
      <p:pic>
        <p:nvPicPr>
          <p:cNvPr id="414863" name="Picture 143" descr="ActiveDirectory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682119" y="4541602"/>
            <a:ext cx="531716" cy="346600"/>
          </a:xfrm>
          <a:prstGeom prst="rect">
            <a:avLst/>
          </a:prstGeom>
          <a:noFill/>
        </p:spPr>
      </p:pic>
      <p:sp>
        <p:nvSpPr>
          <p:cNvPr id="414864" name="Text Box 144"/>
          <p:cNvSpPr txBox="1">
            <a:spLocks noChangeArrowheads="1"/>
          </p:cNvSpPr>
          <p:nvPr/>
        </p:nvSpPr>
        <p:spPr bwMode="auto">
          <a:xfrm>
            <a:off x="6663595" y="4147901"/>
            <a:ext cx="42165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200">
                <a:solidFill>
                  <a:srgbClr val="000000"/>
                </a:solidFill>
              </a:rPr>
              <a:t>A2</a:t>
            </a:r>
            <a:endParaRPr lang="en-US" sz="1200"/>
          </a:p>
        </p:txBody>
      </p:sp>
      <p:sp>
        <p:nvSpPr>
          <p:cNvPr id="414865" name="AutoShape 145"/>
          <p:cNvSpPr>
            <a:spLocks noChangeArrowheads="1"/>
          </p:cNvSpPr>
          <p:nvPr/>
        </p:nvSpPr>
        <p:spPr bwMode="auto">
          <a:xfrm>
            <a:off x="5967299" y="3655777"/>
            <a:ext cx="1106835" cy="523839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000">
                <a:solidFill>
                  <a:srgbClr val="000000"/>
                </a:solidFill>
              </a:rPr>
              <a:t>Sous-réseau IP</a:t>
            </a:r>
            <a:endParaRPr lang="en-US" sz="1000"/>
          </a:p>
        </p:txBody>
      </p:sp>
      <p:sp>
        <p:nvSpPr>
          <p:cNvPr id="414867" name="Line 14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rot="1251268">
            <a:off x="5532342" y="3970191"/>
            <a:ext cx="986881" cy="45719"/>
          </a:xfrm>
          <a:prstGeom prst="line">
            <a:avLst/>
          </a:prstGeom>
          <a:noFill/>
          <a:ln w="28575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68" name="Line 14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rot="1251268">
            <a:off x="5495830" y="4063853"/>
            <a:ext cx="986882" cy="45719"/>
          </a:xfrm>
          <a:prstGeom prst="line">
            <a:avLst/>
          </a:prstGeom>
          <a:noFill/>
          <a:ln w="28575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69" name="AutoShape 149"/>
          <p:cNvSpPr>
            <a:spLocks noChangeArrowheads="1"/>
          </p:cNvSpPr>
          <p:nvPr/>
        </p:nvSpPr>
        <p:spPr bwMode="auto">
          <a:xfrm>
            <a:off x="5730309" y="4270140"/>
            <a:ext cx="846937" cy="279643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 sz="1200">
                <a:solidFill>
                  <a:srgbClr val="000000"/>
                </a:solidFill>
              </a:rPr>
              <a:t>Réplication</a:t>
            </a:r>
            <a:endParaRPr lang="en-US" sz="1200"/>
          </a:p>
        </p:txBody>
      </p:sp>
      <p:pic>
        <p:nvPicPr>
          <p:cNvPr id="414872" name="Picture 152" descr="Site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2"/>
          <a:srcRect/>
          <a:stretch>
            <a:fillRect/>
          </a:stretch>
        </p:blipFill>
        <p:spPr bwMode="auto">
          <a:xfrm>
            <a:off x="282128" y="4903301"/>
            <a:ext cx="2911015" cy="1826557"/>
          </a:xfrm>
          <a:prstGeom prst="rect">
            <a:avLst/>
          </a:prstGeom>
          <a:noFill/>
        </p:spPr>
      </p:pic>
      <p:pic>
        <p:nvPicPr>
          <p:cNvPr id="414874" name="Picture 154" descr="Server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550416" y="5146425"/>
            <a:ext cx="646467" cy="891283"/>
          </a:xfrm>
          <a:prstGeom prst="rect">
            <a:avLst/>
          </a:prstGeom>
          <a:noFill/>
        </p:spPr>
      </p:pic>
      <p:pic>
        <p:nvPicPr>
          <p:cNvPr id="414875" name="Picture 155" descr="ActiveDirectory0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712340" y="5632823"/>
            <a:ext cx="518321" cy="336622"/>
          </a:xfrm>
          <a:prstGeom prst="rect">
            <a:avLst/>
          </a:prstGeom>
          <a:noFill/>
        </p:spPr>
      </p:pic>
      <p:sp>
        <p:nvSpPr>
          <p:cNvPr id="414876" name="Text Box 156"/>
          <p:cNvSpPr txBox="1">
            <a:spLocks noChangeArrowheads="1"/>
          </p:cNvSpPr>
          <p:nvPr/>
        </p:nvSpPr>
        <p:spPr bwMode="auto">
          <a:xfrm>
            <a:off x="618677" y="5248891"/>
            <a:ext cx="44372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200">
                <a:solidFill>
                  <a:srgbClr val="000000"/>
                </a:solidFill>
              </a:rPr>
              <a:t>B1</a:t>
            </a:r>
            <a:endParaRPr lang="en-US" sz="1200"/>
          </a:p>
        </p:txBody>
      </p:sp>
      <p:pic>
        <p:nvPicPr>
          <p:cNvPr id="414877" name="Picture 157" descr="Server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2137916" y="5729037"/>
            <a:ext cx="646467" cy="891283"/>
          </a:xfrm>
          <a:prstGeom prst="rect">
            <a:avLst/>
          </a:prstGeom>
          <a:noFill/>
        </p:spPr>
      </p:pic>
      <p:pic>
        <p:nvPicPr>
          <p:cNvPr id="414878" name="Picture 158" descr="ActiveDirectory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2299841" y="6215436"/>
            <a:ext cx="516409" cy="336622"/>
          </a:xfrm>
          <a:prstGeom prst="rect">
            <a:avLst/>
          </a:prstGeom>
          <a:noFill/>
        </p:spPr>
      </p:pic>
      <p:sp>
        <p:nvSpPr>
          <p:cNvPr id="414879" name="Text Box 159"/>
          <p:cNvSpPr txBox="1">
            <a:spLocks noChangeArrowheads="1"/>
          </p:cNvSpPr>
          <p:nvPr/>
        </p:nvSpPr>
        <p:spPr bwMode="auto">
          <a:xfrm>
            <a:off x="2231577" y="5831504"/>
            <a:ext cx="44372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200">
                <a:solidFill>
                  <a:srgbClr val="000000"/>
                </a:solidFill>
              </a:rPr>
              <a:t>B2</a:t>
            </a:r>
            <a:endParaRPr lang="en-US" sz="1200"/>
          </a:p>
        </p:txBody>
      </p:sp>
      <p:sp>
        <p:nvSpPr>
          <p:cNvPr id="414884" name="AutoShape 164"/>
          <p:cNvSpPr>
            <a:spLocks noChangeArrowheads="1"/>
          </p:cNvSpPr>
          <p:nvPr/>
        </p:nvSpPr>
        <p:spPr bwMode="auto">
          <a:xfrm>
            <a:off x="1352103" y="6001244"/>
            <a:ext cx="891283" cy="253952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 sz="1200">
                <a:solidFill>
                  <a:srgbClr val="000000"/>
                </a:solidFill>
              </a:rPr>
              <a:t>Réplication</a:t>
            </a:r>
            <a:endParaRPr lang="en-US" sz="1200"/>
          </a:p>
        </p:txBody>
      </p:sp>
      <p:sp>
        <p:nvSpPr>
          <p:cNvPr id="414893" name="Arc 173"/>
          <p:cNvSpPr>
            <a:spLocks/>
          </p:cNvSpPr>
          <p:nvPr>
            <p:custDataLst>
              <p:tags r:id="rId13"/>
            </p:custDataLst>
          </p:nvPr>
        </p:nvSpPr>
        <p:spPr bwMode="auto">
          <a:xfrm flipH="1">
            <a:off x="2512566" y="5167086"/>
            <a:ext cx="2552920" cy="1057947"/>
          </a:xfrm>
          <a:custGeom>
            <a:avLst/>
            <a:gdLst>
              <a:gd name="G0" fmla="+- 21446 0 0"/>
              <a:gd name="G1" fmla="+- 0 0 0"/>
              <a:gd name="G2" fmla="+- 21600 0 0"/>
              <a:gd name="T0" fmla="*/ 16419 w 21446"/>
              <a:gd name="T1" fmla="*/ 21007 h 21007"/>
              <a:gd name="T2" fmla="*/ 0 w 21446"/>
              <a:gd name="T3" fmla="*/ 2578 h 21007"/>
              <a:gd name="T4" fmla="*/ 21446 w 21446"/>
              <a:gd name="T5" fmla="*/ 0 h 2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6" h="21007" fill="none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</a:path>
              <a:path w="21446" h="21007" stroke="0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  <a:lnTo>
                  <a:pt x="21446" y="0"/>
                </a:lnTo>
                <a:close/>
              </a:path>
            </a:pathLst>
          </a:custGeom>
          <a:noFill/>
          <a:ln w="44450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94" name="Arc 174"/>
          <p:cNvSpPr>
            <a:spLocks/>
          </p:cNvSpPr>
          <p:nvPr>
            <p:custDataLst>
              <p:tags r:id="rId14"/>
            </p:custDataLst>
          </p:nvPr>
        </p:nvSpPr>
        <p:spPr bwMode="auto">
          <a:xfrm flipH="1">
            <a:off x="2399852" y="4963886"/>
            <a:ext cx="2433404" cy="1103984"/>
          </a:xfrm>
          <a:custGeom>
            <a:avLst/>
            <a:gdLst>
              <a:gd name="G0" fmla="+- 21141 0 0"/>
              <a:gd name="G1" fmla="+- 0 0 0"/>
              <a:gd name="G2" fmla="+- 21600 0 0"/>
              <a:gd name="T0" fmla="*/ 14701 w 21141"/>
              <a:gd name="T1" fmla="*/ 20618 h 20618"/>
              <a:gd name="T2" fmla="*/ 0 w 21141"/>
              <a:gd name="T3" fmla="*/ 4429 h 20618"/>
              <a:gd name="T4" fmla="*/ 21141 w 21141"/>
              <a:gd name="T5" fmla="*/ 0 h 20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141" h="20618" fill="none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</a:path>
              <a:path w="21141" h="20618" stroke="0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  <a:lnTo>
                  <a:pt x="21141" y="0"/>
                </a:lnTo>
                <a:close/>
              </a:path>
            </a:pathLst>
          </a:custGeom>
          <a:noFill/>
          <a:ln w="57150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70" name="AutoShape 150"/>
          <p:cNvSpPr>
            <a:spLocks noChangeArrowheads="1"/>
          </p:cNvSpPr>
          <p:nvPr/>
        </p:nvSpPr>
        <p:spPr bwMode="auto">
          <a:xfrm>
            <a:off x="4487188" y="5845393"/>
            <a:ext cx="1054100" cy="27305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 sz="1600" dirty="0">
                <a:solidFill>
                  <a:srgbClr val="000000"/>
                </a:solidFill>
              </a:rPr>
              <a:t>Réplication</a:t>
            </a:r>
            <a:endParaRPr lang="en-US" sz="1600" dirty="0"/>
          </a:p>
        </p:txBody>
      </p:sp>
      <p:sp>
        <p:nvSpPr>
          <p:cNvPr id="414898" name="Line 178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rot="1251268">
            <a:off x="5532342" y="3970191"/>
            <a:ext cx="986881" cy="45719"/>
          </a:xfrm>
          <a:prstGeom prst="line">
            <a:avLst/>
          </a:prstGeom>
          <a:noFill/>
          <a:ln w="28575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14899" name="Line 179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rot="1251268">
            <a:off x="5495830" y="4063853"/>
            <a:ext cx="986882" cy="45719"/>
          </a:xfrm>
          <a:prstGeom prst="line">
            <a:avLst/>
          </a:prstGeom>
          <a:noFill/>
          <a:ln w="28575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2" name="Group 180"/>
          <p:cNvGrpSpPr>
            <a:grpSpLocks/>
          </p:cNvGrpSpPr>
          <p:nvPr>
            <p:custDataLst>
              <p:tags r:id="rId17"/>
            </p:custDataLst>
          </p:nvPr>
        </p:nvGrpSpPr>
        <p:grpSpPr bwMode="auto">
          <a:xfrm>
            <a:off x="1123503" y="5695655"/>
            <a:ext cx="1082546" cy="105515"/>
            <a:chOff x="918" y="3321"/>
            <a:chExt cx="566" cy="59"/>
          </a:xfrm>
        </p:grpSpPr>
        <p:sp>
          <p:nvSpPr>
            <p:cNvPr id="414901" name="Line 18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rot="1251268">
              <a:off x="941" y="3321"/>
              <a:ext cx="543" cy="0"/>
            </a:xfrm>
            <a:prstGeom prst="line">
              <a:avLst/>
            </a:prstGeom>
            <a:noFill/>
            <a:ln w="28575" cap="rnd">
              <a:solidFill>
                <a:srgbClr val="CC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414902" name="Line 18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rot="1251268">
              <a:off x="918" y="3380"/>
              <a:ext cx="543" cy="0"/>
            </a:xfrm>
            <a:prstGeom prst="line">
              <a:avLst/>
            </a:prstGeom>
            <a:noFill/>
            <a:ln w="28575" cap="rnd">
              <a:solidFill>
                <a:srgbClr val="0066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sp>
        <p:nvSpPr>
          <p:cNvPr id="414978" name="AutoShape 258"/>
          <p:cNvSpPr>
            <a:spLocks noChangeArrowheads="1"/>
          </p:cNvSpPr>
          <p:nvPr/>
        </p:nvSpPr>
        <p:spPr bwMode="auto">
          <a:xfrm>
            <a:off x="4805249" y="4341577"/>
            <a:ext cx="1106835" cy="523839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000">
                <a:solidFill>
                  <a:srgbClr val="000000"/>
                </a:solidFill>
              </a:rPr>
              <a:t>Sous-réseau IP</a:t>
            </a:r>
            <a:endParaRPr lang="en-US" sz="1000"/>
          </a:p>
        </p:txBody>
      </p:sp>
      <p:sp>
        <p:nvSpPr>
          <p:cNvPr id="414979" name="AutoShape 259"/>
          <p:cNvSpPr>
            <a:spLocks noChangeArrowheads="1"/>
          </p:cNvSpPr>
          <p:nvPr/>
        </p:nvSpPr>
        <p:spPr bwMode="auto">
          <a:xfrm>
            <a:off x="1472752" y="5271484"/>
            <a:ext cx="1164789" cy="475712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000">
                <a:solidFill>
                  <a:srgbClr val="000000"/>
                </a:solidFill>
              </a:rPr>
              <a:t>Sous-réseau IP</a:t>
            </a:r>
            <a:endParaRPr lang="en-US" sz="1000"/>
          </a:p>
        </p:txBody>
      </p:sp>
      <p:sp>
        <p:nvSpPr>
          <p:cNvPr id="414980" name="AutoShape 260"/>
          <p:cNvSpPr>
            <a:spLocks noChangeArrowheads="1"/>
          </p:cNvSpPr>
          <p:nvPr/>
        </p:nvSpPr>
        <p:spPr bwMode="auto">
          <a:xfrm>
            <a:off x="434527" y="6023959"/>
            <a:ext cx="1164789" cy="475712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000">
                <a:solidFill>
                  <a:srgbClr val="000000"/>
                </a:solidFill>
              </a:rPr>
              <a:t>Sous-réseau IP</a:t>
            </a:r>
            <a:endParaRPr lang="en-US" sz="1000"/>
          </a:p>
        </p:txBody>
      </p:sp>
      <p:sp>
        <p:nvSpPr>
          <p:cNvPr id="46" name="Rectangle 45"/>
          <p:cNvSpPr/>
          <p:nvPr/>
        </p:nvSpPr>
        <p:spPr>
          <a:xfrm>
            <a:off x="239485" y="1390029"/>
            <a:ext cx="8657772" cy="1902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lvl="0" indent="-225425" algn="l">
              <a:lnSpc>
                <a:spcPct val="90000"/>
              </a:lnSpc>
              <a:spcBef>
                <a:spcPct val="35000"/>
              </a:spcBef>
              <a:buSzPct val="70000"/>
            </a:pPr>
            <a:r>
              <a:rPr lang="fr-FR" sz="2400" dirty="0" smtClean="0">
                <a:solidFill>
                  <a:srgbClr val="000000"/>
                </a:solidFill>
              </a:rPr>
              <a:t>La réplication entre les sites:  </a:t>
            </a:r>
            <a:r>
              <a:rPr lang="fr-FR" sz="2400" dirty="0" err="1" smtClean="0">
                <a:solidFill>
                  <a:srgbClr val="C00000"/>
                </a:solidFill>
              </a:rPr>
              <a:t>Intersite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225425" lvl="0" indent="-225425" algn="l">
              <a:spcBef>
                <a:spcPts val="0"/>
              </a:spcBef>
              <a:buSzPct val="70000"/>
              <a:buBlip>
                <a:blip r:embed="rId2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Suppose la disponibilité d'une bande passante limitée et des liaisons réseau non fiables</a:t>
            </a:r>
            <a:endParaRPr lang="en-US" sz="2400" b="0" dirty="0" smtClean="0">
              <a:cs typeface="Times New Roman" pitchFamily="18" charset="0"/>
            </a:endParaRPr>
          </a:p>
          <a:p>
            <a:pPr marL="225425" lvl="0" indent="-225425" algn="l">
              <a:spcBef>
                <a:spcPts val="0"/>
              </a:spcBef>
              <a:buSzPct val="70000"/>
              <a:buBlip>
                <a:blip r:embed="rId2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Compresse tout le trafic de réplications entre les sites</a:t>
            </a:r>
            <a:endParaRPr lang="en-US" sz="2400" b="0" dirty="0" smtClean="0"/>
          </a:p>
          <a:p>
            <a:pPr marL="225425" lvl="0" indent="-225425" algn="l">
              <a:spcBef>
                <a:spcPts val="0"/>
              </a:spcBef>
              <a:buSzPct val="70000"/>
              <a:buBlip>
                <a:blip r:embed="rId26"/>
              </a:buBlip>
            </a:pPr>
            <a:r>
              <a:rPr lang="fr-FR" sz="2400" b="0" dirty="0" smtClean="0">
                <a:solidFill>
                  <a:srgbClr val="000000"/>
                </a:solidFill>
              </a:rPr>
              <a:t>Se produit lors d'une programmation manuelle</a:t>
            </a:r>
            <a:endParaRPr lang="en-US" sz="2400" b="0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solidFill>
                  <a:srgbClr val="C00000"/>
                </a:solidFill>
              </a:rPr>
              <a:t>Définition d'un serveur de tête de pont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58793" name="AutoShape 41"/>
          <p:cNvSpPr>
            <a:spLocks noChangeArrowheads="1"/>
          </p:cNvSpPr>
          <p:nvPr/>
        </p:nvSpPr>
        <p:spPr bwMode="auto">
          <a:xfrm>
            <a:off x="246743" y="1422395"/>
            <a:ext cx="5428343" cy="358502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300" dirty="0">
                <a:solidFill>
                  <a:srgbClr val="000000"/>
                </a:solidFill>
              </a:rPr>
              <a:t>Envoie et reçoit des données répliquées</a:t>
            </a:r>
            <a:endParaRPr lang="en-US" sz="2300" dirty="0"/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300" dirty="0">
                <a:solidFill>
                  <a:srgbClr val="000000"/>
                </a:solidFill>
              </a:rPr>
              <a:t>Est désigné pour chaque partition du </a:t>
            </a:r>
            <a:r>
              <a:rPr lang="fr-FR" sz="2300" dirty="0" smtClean="0">
                <a:solidFill>
                  <a:srgbClr val="000000"/>
                </a:solidFill>
              </a:rPr>
              <a:t>site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300" dirty="0" smtClean="0"/>
              <a:t>Les duplications intersites passent uniquement par des têtes de ponts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r>
              <a:rPr lang="fr-FR" sz="2300" dirty="0" smtClean="0"/>
              <a:t>Lorsqu’un serveur tête de pont reçoit une mise à jour depuis un autre site, il la communiquera aux </a:t>
            </a:r>
            <a:r>
              <a:rPr lang="fr-FR" sz="2300" dirty="0" err="1" smtClean="0"/>
              <a:t>DCs</a:t>
            </a:r>
            <a:r>
              <a:rPr lang="fr-FR" sz="2300" dirty="0" smtClean="0"/>
              <a:t> de son site suivant la procédure de duplication intrasite</a:t>
            </a:r>
          </a:p>
          <a:p>
            <a:pPr marL="225425" indent="-225425" algn="l">
              <a:lnSpc>
                <a:spcPct val="85000"/>
              </a:lnSpc>
              <a:spcBef>
                <a:spcPct val="40000"/>
              </a:spcBef>
              <a:buSzPct val="80000"/>
              <a:buFontTx/>
              <a:buBlip>
                <a:blip r:embed="rId12"/>
              </a:buBlip>
            </a:pPr>
            <a:endParaRPr lang="en-US" sz="2300" dirty="0">
              <a:solidFill>
                <a:srgbClr val="000000"/>
              </a:solidFill>
            </a:endParaRPr>
          </a:p>
        </p:txBody>
      </p:sp>
      <p:pic>
        <p:nvPicPr>
          <p:cNvPr id="458795" name="Picture 43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5703413" y="2134949"/>
            <a:ext cx="3411537" cy="2012950"/>
          </a:xfrm>
          <a:prstGeom prst="rect">
            <a:avLst/>
          </a:prstGeom>
          <a:noFill/>
        </p:spPr>
      </p:pic>
      <p:sp>
        <p:nvSpPr>
          <p:cNvPr id="458797" name="AutoShape 45"/>
          <p:cNvSpPr>
            <a:spLocks noChangeArrowheads="1"/>
          </p:cNvSpPr>
          <p:nvPr/>
        </p:nvSpPr>
        <p:spPr bwMode="auto">
          <a:xfrm>
            <a:off x="6001863" y="2360374"/>
            <a:ext cx="1479550" cy="661988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pic>
        <p:nvPicPr>
          <p:cNvPr id="458799" name="Picture 47" descr="Serv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765575" y="2773124"/>
            <a:ext cx="1001713" cy="1379538"/>
          </a:xfrm>
          <a:prstGeom prst="rect">
            <a:avLst/>
          </a:prstGeom>
          <a:noFill/>
        </p:spPr>
      </p:pic>
      <p:pic>
        <p:nvPicPr>
          <p:cNvPr id="458800" name="Picture 48" descr="ActiveDirectory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067200" y="3503374"/>
            <a:ext cx="801688" cy="523875"/>
          </a:xfrm>
          <a:prstGeom prst="rect">
            <a:avLst/>
          </a:prstGeom>
          <a:noFill/>
        </p:spPr>
      </p:pic>
      <p:sp>
        <p:nvSpPr>
          <p:cNvPr id="458801" name="Text Box 49"/>
          <p:cNvSpPr txBox="1">
            <a:spLocks noChangeArrowheads="1"/>
          </p:cNvSpPr>
          <p:nvPr/>
        </p:nvSpPr>
        <p:spPr bwMode="auto">
          <a:xfrm>
            <a:off x="8038625" y="2819162"/>
            <a:ext cx="4937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A1</a:t>
            </a:r>
            <a:endParaRPr lang="en-US" sz="1400"/>
          </a:p>
        </p:txBody>
      </p:sp>
      <p:sp>
        <p:nvSpPr>
          <p:cNvPr id="458802" name="AutoShape 50"/>
          <p:cNvSpPr>
            <a:spLocks noChangeArrowheads="1"/>
          </p:cNvSpPr>
          <p:nvPr/>
        </p:nvSpPr>
        <p:spPr bwMode="auto">
          <a:xfrm>
            <a:off x="6806759" y="2322286"/>
            <a:ext cx="2337241" cy="377371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 dirty="0">
                <a:solidFill>
                  <a:srgbClr val="000000"/>
                </a:solidFill>
              </a:rPr>
              <a:t>Serveur de </a:t>
            </a:r>
            <a:r>
              <a:rPr lang="fr-FR" dirty="0" smtClean="0">
                <a:solidFill>
                  <a:srgbClr val="000000"/>
                </a:solidFill>
              </a:rPr>
              <a:t>tête </a:t>
            </a:r>
            <a:r>
              <a:rPr lang="fr-FR" dirty="0">
                <a:solidFill>
                  <a:srgbClr val="000000"/>
                </a:solidFill>
              </a:rPr>
              <a:t>de pont</a:t>
            </a:r>
            <a:endParaRPr lang="en-US" dirty="0"/>
          </a:p>
        </p:txBody>
      </p:sp>
      <p:sp>
        <p:nvSpPr>
          <p:cNvPr id="458803" name="Arc 51"/>
          <p:cNvSpPr>
            <a:spLocks/>
          </p:cNvSpPr>
          <p:nvPr>
            <p:custDataLst>
              <p:tags r:id="rId4"/>
            </p:custDataLst>
          </p:nvPr>
        </p:nvSpPr>
        <p:spPr bwMode="auto">
          <a:xfrm flipH="1">
            <a:off x="6809900" y="3938349"/>
            <a:ext cx="1343025" cy="1804988"/>
          </a:xfrm>
          <a:custGeom>
            <a:avLst/>
            <a:gdLst>
              <a:gd name="G0" fmla="+- 21446 0 0"/>
              <a:gd name="G1" fmla="+- 0 0 0"/>
              <a:gd name="G2" fmla="+- 21600 0 0"/>
              <a:gd name="T0" fmla="*/ 16419 w 21446"/>
              <a:gd name="T1" fmla="*/ 21007 h 21007"/>
              <a:gd name="T2" fmla="*/ 0 w 21446"/>
              <a:gd name="T3" fmla="*/ 2578 h 21007"/>
              <a:gd name="T4" fmla="*/ 21446 w 21446"/>
              <a:gd name="T5" fmla="*/ 0 h 2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6" h="21007" fill="none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</a:path>
              <a:path w="21446" h="21007" stroke="0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  <a:lnTo>
                  <a:pt x="21446" y="0"/>
                </a:lnTo>
                <a:close/>
              </a:path>
            </a:pathLst>
          </a:custGeom>
          <a:noFill/>
          <a:ln w="57150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58804" name="Arc 52"/>
          <p:cNvSpPr>
            <a:spLocks/>
          </p:cNvSpPr>
          <p:nvPr>
            <p:custDataLst>
              <p:tags r:id="rId5"/>
            </p:custDataLst>
          </p:nvPr>
        </p:nvSpPr>
        <p:spPr bwMode="auto">
          <a:xfrm flipH="1">
            <a:off x="6633688" y="3847862"/>
            <a:ext cx="1323975" cy="1771650"/>
          </a:xfrm>
          <a:custGeom>
            <a:avLst/>
            <a:gdLst>
              <a:gd name="G0" fmla="+- 21141 0 0"/>
              <a:gd name="G1" fmla="+- 0 0 0"/>
              <a:gd name="G2" fmla="+- 21600 0 0"/>
              <a:gd name="T0" fmla="*/ 14701 w 21141"/>
              <a:gd name="T1" fmla="*/ 20618 h 20618"/>
              <a:gd name="T2" fmla="*/ 0 w 21141"/>
              <a:gd name="T3" fmla="*/ 4429 h 20618"/>
              <a:gd name="T4" fmla="*/ 21141 w 21141"/>
              <a:gd name="T5" fmla="*/ 0 h 20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141" h="20618" fill="none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</a:path>
              <a:path w="21141" h="20618" stroke="0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  <a:lnTo>
                  <a:pt x="21141" y="0"/>
                </a:lnTo>
                <a:close/>
              </a:path>
            </a:pathLst>
          </a:custGeom>
          <a:noFill/>
          <a:ln w="57150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58805" name="AutoShape 53"/>
          <p:cNvSpPr>
            <a:spLocks noChangeArrowheads="1"/>
          </p:cNvSpPr>
          <p:nvPr/>
        </p:nvSpPr>
        <p:spPr bwMode="auto">
          <a:xfrm>
            <a:off x="7360763" y="4727337"/>
            <a:ext cx="1304925" cy="330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Réplication</a:t>
            </a:r>
            <a:endParaRPr lang="en-US"/>
          </a:p>
        </p:txBody>
      </p:sp>
      <p:pic>
        <p:nvPicPr>
          <p:cNvPr id="458806" name="Picture 54" descr="Site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>
            <a:off x="3565050" y="4736862"/>
            <a:ext cx="3411538" cy="2012950"/>
          </a:xfrm>
          <a:prstGeom prst="rect">
            <a:avLst/>
          </a:prstGeom>
          <a:noFill/>
        </p:spPr>
      </p:pic>
      <p:grpSp>
        <p:nvGrpSpPr>
          <p:cNvPr id="458814" name="Group 57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5884388" y="5092462"/>
            <a:ext cx="1103312" cy="1379537"/>
            <a:chOff x="3021" y="2833"/>
            <a:chExt cx="695" cy="869"/>
          </a:xfrm>
        </p:grpSpPr>
        <p:pic>
          <p:nvPicPr>
            <p:cNvPr id="458810" name="Picture 58" descr="Server01"/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3021" y="2833"/>
              <a:ext cx="631" cy="869"/>
            </a:xfrm>
            <a:prstGeom prst="rect">
              <a:avLst/>
            </a:prstGeom>
            <a:noFill/>
          </p:spPr>
        </p:pic>
        <p:pic>
          <p:nvPicPr>
            <p:cNvPr id="458811" name="Picture 59" descr="ActiveDirectory01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5" cstate="print"/>
            <a:srcRect/>
            <a:stretch>
              <a:fillRect/>
            </a:stretch>
          </p:blipFill>
          <p:spPr bwMode="auto">
            <a:xfrm>
              <a:off x="3211" y="3293"/>
              <a:ext cx="505" cy="330"/>
            </a:xfrm>
            <a:prstGeom prst="rect">
              <a:avLst/>
            </a:prstGeom>
            <a:noFill/>
          </p:spPr>
        </p:pic>
        <p:sp>
          <p:nvSpPr>
            <p:cNvPr id="458812" name="Text Box 60"/>
            <p:cNvSpPr txBox="1">
              <a:spLocks noChangeArrowheads="1"/>
            </p:cNvSpPr>
            <p:nvPr/>
          </p:nvSpPr>
          <p:spPr bwMode="auto">
            <a:xfrm>
              <a:off x="3193" y="2862"/>
              <a:ext cx="311" cy="19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fr-FR" sz="1400" dirty="0">
                  <a:solidFill>
                    <a:srgbClr val="000000"/>
                  </a:solidFill>
                </a:rPr>
                <a:t>B1</a:t>
              </a:r>
              <a:endParaRPr lang="en-US" sz="1400" dirty="0"/>
            </a:p>
          </p:txBody>
        </p:sp>
      </p:grpSp>
      <p:sp>
        <p:nvSpPr>
          <p:cNvPr id="458813" name="AutoShape 61"/>
          <p:cNvSpPr>
            <a:spLocks noChangeArrowheads="1"/>
          </p:cNvSpPr>
          <p:nvPr/>
        </p:nvSpPr>
        <p:spPr bwMode="auto">
          <a:xfrm>
            <a:off x="4995388" y="6478349"/>
            <a:ext cx="2247900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Serveur de tête de pont</a:t>
            </a:r>
            <a:endParaRPr lang="en-US"/>
          </a:p>
        </p:txBody>
      </p:sp>
      <p:sp>
        <p:nvSpPr>
          <p:cNvPr id="458815" name="AutoShape 63"/>
          <p:cNvSpPr>
            <a:spLocks noChangeArrowheads="1"/>
          </p:cNvSpPr>
          <p:nvPr/>
        </p:nvSpPr>
        <p:spPr bwMode="auto">
          <a:xfrm>
            <a:off x="5852638" y="3050937"/>
            <a:ext cx="1479550" cy="661987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58816" name="AutoShape 64"/>
          <p:cNvSpPr>
            <a:spLocks noChangeArrowheads="1"/>
          </p:cNvSpPr>
          <p:nvPr/>
        </p:nvSpPr>
        <p:spPr bwMode="auto">
          <a:xfrm>
            <a:off x="4038125" y="4905137"/>
            <a:ext cx="1479550" cy="661987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  <p:sp>
        <p:nvSpPr>
          <p:cNvPr id="458817" name="AutoShape 65"/>
          <p:cNvSpPr>
            <a:spLocks noChangeArrowheads="1"/>
          </p:cNvSpPr>
          <p:nvPr/>
        </p:nvSpPr>
        <p:spPr bwMode="auto">
          <a:xfrm>
            <a:off x="3688875" y="5644912"/>
            <a:ext cx="1479550" cy="661987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600">
                <a:solidFill>
                  <a:srgbClr val="000000"/>
                </a:solidFill>
              </a:rPr>
              <a:t>Sous-réseau IP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58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587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587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587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/>
          <p:cNvSpPr>
            <a:spLocks noGrp="1" noChangeArrowheads="1"/>
          </p:cNvSpPr>
          <p:nvPr>
            <p:ph type="title"/>
          </p:nvPr>
        </p:nvSpPr>
        <p:spPr>
          <a:xfrm>
            <a:off x="301752" y="344714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Définition du générateur de topologie </a:t>
            </a:r>
            <a:r>
              <a:rPr lang="fr-FR" b="1" dirty="0" err="1">
                <a:solidFill>
                  <a:srgbClr val="C00000"/>
                </a:solidFill>
              </a:rPr>
              <a:t>inter-sites</a:t>
            </a: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383268" name="Picture 292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4635500" y="1760538"/>
            <a:ext cx="3411538" cy="2062162"/>
          </a:xfrm>
          <a:prstGeom prst="rect">
            <a:avLst/>
          </a:prstGeom>
          <a:noFill/>
        </p:spPr>
      </p:pic>
      <p:pic>
        <p:nvPicPr>
          <p:cNvPr id="383271" name="Picture 295" descr="Server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651375" y="1576388"/>
            <a:ext cx="1001713" cy="1379537"/>
          </a:xfrm>
          <a:prstGeom prst="rect">
            <a:avLst/>
          </a:prstGeom>
          <a:noFill/>
        </p:spPr>
      </p:pic>
      <p:pic>
        <p:nvPicPr>
          <p:cNvPr id="383272" name="Picture 296" descr="ActiveDirectory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953000" y="2306638"/>
            <a:ext cx="801688" cy="523875"/>
          </a:xfrm>
          <a:prstGeom prst="rect">
            <a:avLst/>
          </a:prstGeom>
          <a:noFill/>
        </p:spPr>
      </p:pic>
      <p:sp>
        <p:nvSpPr>
          <p:cNvPr id="383273" name="Text Box 297"/>
          <p:cNvSpPr txBox="1">
            <a:spLocks noChangeArrowheads="1"/>
          </p:cNvSpPr>
          <p:nvPr/>
        </p:nvSpPr>
        <p:spPr bwMode="auto">
          <a:xfrm>
            <a:off x="4924425" y="1622425"/>
            <a:ext cx="4937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A1</a:t>
            </a:r>
            <a:endParaRPr lang="en-US" sz="1400"/>
          </a:p>
        </p:txBody>
      </p:sp>
      <p:pic>
        <p:nvPicPr>
          <p:cNvPr id="383275" name="Picture 299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7343775" y="2257425"/>
            <a:ext cx="1001713" cy="1379538"/>
          </a:xfrm>
          <a:prstGeom prst="rect">
            <a:avLst/>
          </a:prstGeom>
          <a:noFill/>
        </p:spPr>
      </p:pic>
      <p:pic>
        <p:nvPicPr>
          <p:cNvPr id="383276" name="Picture 300" descr="ActiveDirectory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7645400" y="2987675"/>
            <a:ext cx="801688" cy="523875"/>
          </a:xfrm>
          <a:prstGeom prst="rect">
            <a:avLst/>
          </a:prstGeom>
          <a:noFill/>
        </p:spPr>
      </p:pic>
      <p:sp>
        <p:nvSpPr>
          <p:cNvPr id="383277" name="Text Box 301"/>
          <p:cNvSpPr txBox="1">
            <a:spLocks noChangeArrowheads="1"/>
          </p:cNvSpPr>
          <p:nvPr/>
        </p:nvSpPr>
        <p:spPr bwMode="auto">
          <a:xfrm>
            <a:off x="7616825" y="2303463"/>
            <a:ext cx="4937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A2</a:t>
            </a:r>
            <a:endParaRPr lang="en-US" sz="1400"/>
          </a:p>
        </p:txBody>
      </p:sp>
      <p:sp>
        <p:nvSpPr>
          <p:cNvPr id="383278" name="AutoShape 302"/>
          <p:cNvSpPr>
            <a:spLocks noChangeArrowheads="1"/>
          </p:cNvSpPr>
          <p:nvPr/>
        </p:nvSpPr>
        <p:spPr bwMode="auto">
          <a:xfrm>
            <a:off x="7207250" y="1739900"/>
            <a:ext cx="1279525" cy="5334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Serveur de tête de pont</a:t>
            </a:r>
            <a:endParaRPr lang="en-US"/>
          </a:p>
        </p:txBody>
      </p:sp>
      <p:sp>
        <p:nvSpPr>
          <p:cNvPr id="383279" name="Arc 303"/>
          <p:cNvSpPr>
            <a:spLocks/>
          </p:cNvSpPr>
          <p:nvPr>
            <p:custDataLst>
              <p:tags r:id="rId6"/>
            </p:custDataLst>
          </p:nvPr>
        </p:nvSpPr>
        <p:spPr bwMode="auto">
          <a:xfrm flipH="1">
            <a:off x="6300788" y="3422650"/>
            <a:ext cx="1343025" cy="1804988"/>
          </a:xfrm>
          <a:custGeom>
            <a:avLst/>
            <a:gdLst>
              <a:gd name="G0" fmla="+- 21446 0 0"/>
              <a:gd name="G1" fmla="+- 0 0 0"/>
              <a:gd name="G2" fmla="+- 21600 0 0"/>
              <a:gd name="T0" fmla="*/ 16419 w 21446"/>
              <a:gd name="T1" fmla="*/ 21007 h 21007"/>
              <a:gd name="T2" fmla="*/ 0 w 21446"/>
              <a:gd name="T3" fmla="*/ 2578 h 21007"/>
              <a:gd name="T4" fmla="*/ 21446 w 21446"/>
              <a:gd name="T5" fmla="*/ 0 h 2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46" h="21007" fill="none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</a:path>
              <a:path w="21446" h="21007" stroke="0" extrusionOk="0">
                <a:moveTo>
                  <a:pt x="16419" y="21006"/>
                </a:moveTo>
                <a:cubicBezTo>
                  <a:pt x="7629" y="18903"/>
                  <a:pt x="1079" y="11550"/>
                  <a:pt x="0" y="2577"/>
                </a:cubicBezTo>
                <a:lnTo>
                  <a:pt x="21446" y="0"/>
                </a:lnTo>
                <a:close/>
              </a:path>
            </a:pathLst>
          </a:custGeom>
          <a:noFill/>
          <a:ln w="57150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383280" name="Arc 304"/>
          <p:cNvSpPr>
            <a:spLocks/>
          </p:cNvSpPr>
          <p:nvPr>
            <p:custDataLst>
              <p:tags r:id="rId7"/>
            </p:custDataLst>
          </p:nvPr>
        </p:nvSpPr>
        <p:spPr bwMode="auto">
          <a:xfrm flipH="1">
            <a:off x="6124575" y="3332163"/>
            <a:ext cx="1323975" cy="1771650"/>
          </a:xfrm>
          <a:custGeom>
            <a:avLst/>
            <a:gdLst>
              <a:gd name="G0" fmla="+- 21141 0 0"/>
              <a:gd name="G1" fmla="+- 0 0 0"/>
              <a:gd name="G2" fmla="+- 21600 0 0"/>
              <a:gd name="T0" fmla="*/ 14701 w 21141"/>
              <a:gd name="T1" fmla="*/ 20618 h 20618"/>
              <a:gd name="T2" fmla="*/ 0 w 21141"/>
              <a:gd name="T3" fmla="*/ 4429 h 20618"/>
              <a:gd name="T4" fmla="*/ 21141 w 21141"/>
              <a:gd name="T5" fmla="*/ 0 h 20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141" h="20618" fill="none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</a:path>
              <a:path w="21141" h="20618" stroke="0" extrusionOk="0">
                <a:moveTo>
                  <a:pt x="14701" y="20617"/>
                </a:moveTo>
                <a:cubicBezTo>
                  <a:pt x="7229" y="18283"/>
                  <a:pt x="1604" y="12090"/>
                  <a:pt x="-1" y="4429"/>
                </a:cubicBezTo>
                <a:lnTo>
                  <a:pt x="21141" y="0"/>
                </a:lnTo>
                <a:close/>
              </a:path>
            </a:pathLst>
          </a:custGeom>
          <a:noFill/>
          <a:ln w="57150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383281" name="AutoShape 305"/>
          <p:cNvSpPr>
            <a:spLocks noChangeArrowheads="1"/>
          </p:cNvSpPr>
          <p:nvPr/>
        </p:nvSpPr>
        <p:spPr bwMode="auto">
          <a:xfrm>
            <a:off x="6851650" y="4211638"/>
            <a:ext cx="1304925" cy="330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Réplication</a:t>
            </a:r>
            <a:endParaRPr lang="en-US"/>
          </a:p>
        </p:txBody>
      </p:sp>
      <p:pic>
        <p:nvPicPr>
          <p:cNvPr id="383282" name="Picture 306" descr="Site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2708275" y="4067175"/>
            <a:ext cx="3411538" cy="2139950"/>
          </a:xfrm>
          <a:prstGeom prst="rect">
            <a:avLst/>
          </a:prstGeom>
          <a:noFill/>
        </p:spPr>
      </p:pic>
      <p:pic>
        <p:nvPicPr>
          <p:cNvPr id="383284" name="Picture 308" descr="Server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349875" y="4473575"/>
            <a:ext cx="1001713" cy="1379538"/>
          </a:xfrm>
          <a:prstGeom prst="rect">
            <a:avLst/>
          </a:prstGeom>
          <a:noFill/>
        </p:spPr>
      </p:pic>
      <p:pic>
        <p:nvPicPr>
          <p:cNvPr id="383285" name="Picture 309" descr="ActiveDirectory0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5651500" y="5203825"/>
            <a:ext cx="801688" cy="523875"/>
          </a:xfrm>
          <a:prstGeom prst="rect">
            <a:avLst/>
          </a:prstGeom>
          <a:noFill/>
        </p:spPr>
      </p:pic>
      <p:sp>
        <p:nvSpPr>
          <p:cNvPr id="383286" name="Text Box 310"/>
          <p:cNvSpPr txBox="1">
            <a:spLocks noChangeArrowheads="1"/>
          </p:cNvSpPr>
          <p:nvPr/>
        </p:nvSpPr>
        <p:spPr bwMode="auto">
          <a:xfrm>
            <a:off x="5622925" y="4519613"/>
            <a:ext cx="4937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B2</a:t>
            </a:r>
            <a:endParaRPr lang="en-US" sz="1400"/>
          </a:p>
        </p:txBody>
      </p:sp>
      <p:sp>
        <p:nvSpPr>
          <p:cNvPr id="383287" name="AutoShape 311"/>
          <p:cNvSpPr>
            <a:spLocks noChangeArrowheads="1"/>
          </p:cNvSpPr>
          <p:nvPr/>
        </p:nvSpPr>
        <p:spPr bwMode="auto">
          <a:xfrm>
            <a:off x="4810125" y="5859463"/>
            <a:ext cx="2244725" cy="3810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>
                <a:solidFill>
                  <a:srgbClr val="000000"/>
                </a:solidFill>
              </a:rPr>
              <a:t>Serveur de tête de pont</a:t>
            </a:r>
            <a:endParaRPr lang="en-US"/>
          </a:p>
        </p:txBody>
      </p:sp>
      <p:pic>
        <p:nvPicPr>
          <p:cNvPr id="383289" name="Picture 313" descr="Server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813050" y="3933825"/>
            <a:ext cx="1001713" cy="1379538"/>
          </a:xfrm>
          <a:prstGeom prst="rect">
            <a:avLst/>
          </a:prstGeom>
          <a:noFill/>
        </p:spPr>
      </p:pic>
      <p:pic>
        <p:nvPicPr>
          <p:cNvPr id="383290" name="Picture 314" descr="ActiveDirectory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3114675" y="4664075"/>
            <a:ext cx="801688" cy="523875"/>
          </a:xfrm>
          <a:prstGeom prst="rect">
            <a:avLst/>
          </a:prstGeom>
          <a:noFill/>
        </p:spPr>
      </p:pic>
      <p:sp>
        <p:nvSpPr>
          <p:cNvPr id="383291" name="Text Box 315"/>
          <p:cNvSpPr txBox="1">
            <a:spLocks noChangeArrowheads="1"/>
          </p:cNvSpPr>
          <p:nvPr/>
        </p:nvSpPr>
        <p:spPr bwMode="auto">
          <a:xfrm>
            <a:off x="3086100" y="3979863"/>
            <a:ext cx="493713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fr-FR" sz="1400">
                <a:solidFill>
                  <a:srgbClr val="000000"/>
                </a:solidFill>
              </a:rPr>
              <a:t>B1</a:t>
            </a:r>
            <a:endParaRPr lang="en-US" sz="1400"/>
          </a:p>
        </p:txBody>
      </p:sp>
      <p:sp>
        <p:nvSpPr>
          <p:cNvPr id="383293" name="Line 317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 rot="787016">
            <a:off x="5929313" y="2530475"/>
            <a:ext cx="1274762" cy="0"/>
          </a:xfrm>
          <a:prstGeom prst="line">
            <a:avLst/>
          </a:prstGeom>
          <a:noFill/>
          <a:ln w="44450" cap="rnd">
            <a:solidFill>
              <a:srgbClr val="CC00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383294" name="Line 318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 rot="787016">
            <a:off x="5895975" y="2674938"/>
            <a:ext cx="1274763" cy="0"/>
          </a:xfrm>
          <a:prstGeom prst="line">
            <a:avLst/>
          </a:prstGeom>
          <a:noFill/>
          <a:ln w="44450" cap="rnd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383295" name="AutoShape 319"/>
          <p:cNvSpPr>
            <a:spLocks noChangeArrowheads="1"/>
          </p:cNvSpPr>
          <p:nvPr/>
        </p:nvSpPr>
        <p:spPr bwMode="auto">
          <a:xfrm>
            <a:off x="5857875" y="2832100"/>
            <a:ext cx="1098550" cy="330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600">
                <a:solidFill>
                  <a:srgbClr val="000000"/>
                </a:solidFill>
              </a:rPr>
              <a:t>Réplication</a:t>
            </a:r>
            <a:endParaRPr lang="en-US" sz="1600"/>
          </a:p>
        </p:txBody>
      </p:sp>
      <p:sp>
        <p:nvSpPr>
          <p:cNvPr id="383296" name="AutoShape 320"/>
          <p:cNvSpPr>
            <a:spLocks noChangeArrowheads="1"/>
          </p:cNvSpPr>
          <p:nvPr/>
        </p:nvSpPr>
        <p:spPr bwMode="auto">
          <a:xfrm>
            <a:off x="5791200" y="1819275"/>
            <a:ext cx="1343025" cy="54292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  <p:grpSp>
        <p:nvGrpSpPr>
          <p:cNvPr id="383309" name="Group 322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3994150" y="4848225"/>
            <a:ext cx="1308100" cy="144463"/>
            <a:chOff x="2516" y="3054"/>
            <a:chExt cx="824" cy="91"/>
          </a:xfrm>
        </p:grpSpPr>
        <p:sp>
          <p:nvSpPr>
            <p:cNvPr id="383299" name="Line 32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rot="787016">
              <a:off x="2537" y="3054"/>
              <a:ext cx="803" cy="0"/>
            </a:xfrm>
            <a:prstGeom prst="line">
              <a:avLst/>
            </a:prstGeom>
            <a:noFill/>
            <a:ln w="44450" cap="rnd">
              <a:solidFill>
                <a:srgbClr val="CC00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383300" name="Line 324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rot="787016">
              <a:off x="2516" y="3145"/>
              <a:ext cx="803" cy="0"/>
            </a:xfrm>
            <a:prstGeom prst="line">
              <a:avLst/>
            </a:prstGeom>
            <a:noFill/>
            <a:ln w="44450" cap="rnd">
              <a:solidFill>
                <a:srgbClr val="006600"/>
              </a:solidFill>
              <a:prstDash val="sysDot"/>
              <a:round/>
              <a:headEnd type="triangle" w="med" len="med"/>
              <a:tailEnd type="triangle" w="med" len="med"/>
            </a:ln>
            <a:effectLst/>
          </p:spPr>
          <p:txBody>
            <a:bodyPr anchor="ctr"/>
            <a:lstStyle/>
            <a:p>
              <a:endParaRPr lang="fr-FR"/>
            </a:p>
          </p:txBody>
        </p:sp>
      </p:grpSp>
      <p:sp>
        <p:nvSpPr>
          <p:cNvPr id="383301" name="AutoShape 325"/>
          <p:cNvSpPr>
            <a:spLocks noChangeArrowheads="1"/>
          </p:cNvSpPr>
          <p:nvPr/>
        </p:nvSpPr>
        <p:spPr bwMode="auto">
          <a:xfrm>
            <a:off x="3956050" y="5149850"/>
            <a:ext cx="1098550" cy="330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85000"/>
              </a:lnSpc>
            </a:pPr>
            <a:r>
              <a:rPr lang="fr-FR" sz="1600">
                <a:solidFill>
                  <a:srgbClr val="000000"/>
                </a:solidFill>
              </a:rPr>
              <a:t>Réplication</a:t>
            </a:r>
            <a:endParaRPr lang="en-US" sz="1600"/>
          </a:p>
        </p:txBody>
      </p:sp>
      <p:sp>
        <p:nvSpPr>
          <p:cNvPr id="383303" name="AutoShape 327"/>
          <p:cNvSpPr>
            <a:spLocks noChangeArrowheads="1"/>
          </p:cNvSpPr>
          <p:nvPr/>
        </p:nvSpPr>
        <p:spPr bwMode="auto">
          <a:xfrm>
            <a:off x="4648872" y="1295400"/>
            <a:ext cx="4146785" cy="320004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fr-FR" dirty="0">
                <a:solidFill>
                  <a:srgbClr val="000000"/>
                </a:solidFill>
              </a:rPr>
              <a:t>Générateur de topologie </a:t>
            </a:r>
            <a:r>
              <a:rPr lang="fr-FR" dirty="0" err="1" smtClean="0">
                <a:solidFill>
                  <a:srgbClr val="000000"/>
                </a:solidFill>
              </a:rPr>
              <a:t>inter-sites</a:t>
            </a:r>
            <a:r>
              <a:rPr lang="fr-FR" dirty="0" smtClean="0">
                <a:solidFill>
                  <a:srgbClr val="000000"/>
                </a:solidFill>
              </a:rPr>
              <a:t> ISTG</a:t>
            </a:r>
            <a:endParaRPr lang="en-US" dirty="0"/>
          </a:p>
        </p:txBody>
      </p:sp>
      <p:sp>
        <p:nvSpPr>
          <p:cNvPr id="383305" name="AutoShape 329"/>
          <p:cNvSpPr>
            <a:spLocks noChangeArrowheads="1"/>
          </p:cNvSpPr>
          <p:nvPr/>
        </p:nvSpPr>
        <p:spPr bwMode="auto">
          <a:xfrm>
            <a:off x="174171" y="1451432"/>
            <a:ext cx="4412343" cy="239485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Il sélectionne automatiquement un ou plusieurs DC pour devenir des serveurs de tête de pont. </a:t>
            </a:r>
          </a:p>
          <a:p>
            <a:pPr algn="l">
              <a:buFont typeface="Wingdings" pitchFamily="2" charset="2"/>
              <a:buChar char="q"/>
            </a:pPr>
            <a:r>
              <a:rPr lang="fr-FR" sz="2200" dirty="0" smtClean="0"/>
              <a:t>Il exécute le vérificateur KCC pour déterminer la topologie de réplication et les objets de connexion résultants</a:t>
            </a:r>
            <a:endParaRPr lang="en-US" sz="2200" dirty="0"/>
          </a:p>
        </p:txBody>
      </p:sp>
      <p:sp>
        <p:nvSpPr>
          <p:cNvPr id="383310" name="AutoShape 334"/>
          <p:cNvSpPr>
            <a:spLocks noChangeArrowheads="1"/>
          </p:cNvSpPr>
          <p:nvPr/>
        </p:nvSpPr>
        <p:spPr bwMode="auto">
          <a:xfrm>
            <a:off x="5545138" y="3211513"/>
            <a:ext cx="1343025" cy="54292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  <p:sp>
        <p:nvSpPr>
          <p:cNvPr id="383311" name="AutoShape 335"/>
          <p:cNvSpPr>
            <a:spLocks noChangeArrowheads="1"/>
          </p:cNvSpPr>
          <p:nvPr/>
        </p:nvSpPr>
        <p:spPr bwMode="auto">
          <a:xfrm>
            <a:off x="4067175" y="4164013"/>
            <a:ext cx="1343025" cy="54292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  <p:sp>
        <p:nvSpPr>
          <p:cNvPr id="383312" name="AutoShape 336"/>
          <p:cNvSpPr>
            <a:spLocks noChangeArrowheads="1"/>
          </p:cNvSpPr>
          <p:nvPr/>
        </p:nvSpPr>
        <p:spPr bwMode="auto">
          <a:xfrm>
            <a:off x="3341688" y="5578475"/>
            <a:ext cx="1343025" cy="542925"/>
          </a:xfrm>
          <a:prstGeom prst="star8">
            <a:avLst>
              <a:gd name="adj" fmla="val 39301"/>
            </a:avLst>
          </a:prstGeom>
          <a:gradFill rotWithShape="0">
            <a:gsLst>
              <a:gs pos="0">
                <a:srgbClr val="B395D8">
                  <a:gamma/>
                  <a:tint val="3922"/>
                  <a:invGamma/>
                </a:srgbClr>
              </a:gs>
              <a:gs pos="100000">
                <a:srgbClr val="B395D8"/>
              </a:gs>
            </a:gsLst>
            <a:path path="shape">
              <a:fillToRect l="50000" t="50000" r="50000" b="50000"/>
            </a:path>
          </a:gradFill>
          <a:ln w="9525">
            <a:solidFill>
              <a:srgbClr val="808080"/>
            </a:solidFill>
            <a:miter lim="800000"/>
            <a:headEnd/>
            <a:tailEnd/>
          </a:ln>
          <a:effectLst>
            <a:outerShdw dist="35921" dir="2700000" algn="ctr" rotWithShape="0">
              <a:schemeClr val="folHlink"/>
            </a:outerShdw>
          </a:effectLst>
        </p:spPr>
        <p:txBody>
          <a:bodyPr wrap="none" bIns="0" anchor="ctr"/>
          <a:lstStyle/>
          <a:p>
            <a:r>
              <a:rPr lang="fr-FR" sz="1400">
                <a:solidFill>
                  <a:srgbClr val="000000"/>
                </a:solidFill>
              </a:rPr>
              <a:t>Sous-réseau IP</a:t>
            </a:r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6. Protocoles de réplication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330952"/>
          </a:xfrm>
        </p:spPr>
        <p:txBody>
          <a:bodyPr>
            <a:normAutofit/>
          </a:bodyPr>
          <a:lstStyle/>
          <a:p>
            <a:pPr marL="273050" lvl="1" indent="-273050"/>
            <a:r>
              <a:rPr lang="fr-FR" sz="2400" b="1" i="1" dirty="0" smtClean="0">
                <a:solidFill>
                  <a:srgbClr val="C00000"/>
                </a:solidFill>
              </a:rPr>
              <a:t>RPC (</a:t>
            </a:r>
            <a:r>
              <a:rPr lang="fr-FR" sz="2400" b="1" i="1" dirty="0" err="1" smtClean="0">
                <a:solidFill>
                  <a:srgbClr val="C00000"/>
                </a:solidFill>
              </a:rPr>
              <a:t>Remote</a:t>
            </a:r>
            <a:r>
              <a:rPr lang="fr-FR" sz="2400" b="1" i="1" dirty="0" smtClean="0">
                <a:solidFill>
                  <a:srgbClr val="C00000"/>
                </a:solidFill>
              </a:rPr>
              <a:t> </a:t>
            </a:r>
            <a:r>
              <a:rPr lang="fr-FR" sz="2400" b="1" i="1" dirty="0" err="1" smtClean="0">
                <a:solidFill>
                  <a:srgbClr val="C00000"/>
                </a:solidFill>
              </a:rPr>
              <a:t>Procedure</a:t>
            </a:r>
            <a:r>
              <a:rPr lang="fr-FR" sz="2400" b="1" i="1" dirty="0" smtClean="0">
                <a:solidFill>
                  <a:srgbClr val="C00000"/>
                </a:solidFill>
              </a:rPr>
              <a:t> Call) sur IP: </a:t>
            </a:r>
          </a:p>
          <a:p>
            <a:pPr marL="531813" lvl="2"/>
            <a:r>
              <a:rPr lang="fr-FR" sz="2200" i="1" dirty="0" smtClean="0"/>
              <a:t>C’</a:t>
            </a:r>
            <a:r>
              <a:rPr lang="fr-FR" sz="2200" dirty="0" smtClean="0"/>
              <a:t>est le protocole par défaut. </a:t>
            </a:r>
          </a:p>
          <a:p>
            <a:pPr marL="531813" lvl="2"/>
            <a:r>
              <a:rPr lang="fr-FR" sz="2200" dirty="0" smtClean="0"/>
              <a:t>Fournit une connectivité fiable et à haut débit entre les sites. </a:t>
            </a:r>
          </a:p>
          <a:p>
            <a:pPr marL="531813" lvl="2"/>
            <a:r>
              <a:rPr lang="fr-FR" sz="2200" dirty="0" smtClean="0"/>
              <a:t>Entre les sites, il permet une réplication de toutes les partitions AD. </a:t>
            </a:r>
          </a:p>
          <a:p>
            <a:pPr marL="273050" lvl="1" indent="-273050"/>
            <a:r>
              <a:rPr lang="fr-FR" sz="2400" b="1" i="1" dirty="0" smtClean="0">
                <a:solidFill>
                  <a:srgbClr val="C00000"/>
                </a:solidFill>
              </a:rPr>
              <a:t>SMTP (Simple Mail Transfer Protocol):</a:t>
            </a:r>
          </a:p>
          <a:p>
            <a:pPr marL="531813" lvl="2"/>
            <a:r>
              <a:rPr lang="fr-FR" sz="2200" i="1" dirty="0" smtClean="0"/>
              <a:t>Il prend en </a:t>
            </a:r>
            <a:r>
              <a:rPr lang="fr-FR" sz="2200" dirty="0" smtClean="0"/>
              <a:t>charge la réplication du schéma, de la configuration et du catalogue global entre les sites et entre les domaines. </a:t>
            </a:r>
          </a:p>
          <a:p>
            <a:pPr marL="531813" lvl="2"/>
            <a:r>
              <a:rPr lang="fr-FR" sz="2200" dirty="0" smtClean="0"/>
              <a:t>Vous ne pouvez pas l’utiliser pour la réplication de la partition de </a:t>
            </a:r>
            <a:r>
              <a:rPr lang="fr-FR" sz="2200" dirty="0" smtClean="0"/>
              <a:t>domaine</a:t>
            </a:r>
            <a:endParaRPr lang="fr-FR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105981"/>
          </a:xfrm>
        </p:spPr>
        <p:txBody>
          <a:bodyPr>
            <a:noAutofit/>
          </a:bodyPr>
          <a:lstStyle/>
          <a:p>
            <a:pPr lvl="0">
              <a:buClrTx/>
              <a:buFont typeface="Wingdings" pitchFamily="2" charset="2"/>
              <a:buChar char="q"/>
            </a:pPr>
            <a:r>
              <a:rPr lang="fr-FR" sz="2500" i="1" dirty="0" smtClean="0"/>
              <a:t>Quels sont les ordinateurs qui disposent d’un réplica d’un domaine donné ?</a:t>
            </a:r>
            <a:endParaRPr lang="fr-FR" sz="2500" dirty="0" smtClean="0"/>
          </a:p>
          <a:p>
            <a:pPr>
              <a:buClrTx/>
              <a:buNone/>
            </a:pPr>
            <a:r>
              <a:rPr lang="fr-FR" sz="2500" i="1" dirty="0" smtClean="0"/>
              <a:t>Les contrôleurs de domaine du même domaine</a:t>
            </a:r>
            <a:endParaRPr lang="fr-FR" sz="2500" dirty="0" smtClean="0"/>
          </a:p>
          <a:p>
            <a:pPr lvl="0">
              <a:buClrTx/>
              <a:buFont typeface="Wingdings" pitchFamily="2" charset="2"/>
              <a:buChar char="q"/>
            </a:pPr>
            <a:r>
              <a:rPr lang="fr-FR" sz="2500" i="1" dirty="0" smtClean="0"/>
              <a:t>Pourquoi </a:t>
            </a:r>
            <a:r>
              <a:rPr lang="fr-FR" sz="2500" i="1" dirty="0" smtClean="0"/>
              <a:t>les services de réplication intégrés à Active Directory sont-ils </a:t>
            </a:r>
            <a:r>
              <a:rPr lang="fr-FR" sz="2500" i="1" dirty="0" smtClean="0"/>
              <a:t>importants</a:t>
            </a:r>
            <a:r>
              <a:rPr lang="fr-FR" sz="2500" i="1" dirty="0" smtClean="0"/>
              <a:t> </a:t>
            </a:r>
            <a:r>
              <a:rPr lang="fr-FR" sz="2500" i="1" dirty="0" smtClean="0"/>
              <a:t>?</a:t>
            </a:r>
            <a:endParaRPr lang="fr-FR" sz="2500" dirty="0" smtClean="0"/>
          </a:p>
          <a:p>
            <a:pPr>
              <a:buClrTx/>
              <a:buNone/>
            </a:pPr>
            <a:r>
              <a:rPr lang="fr-FR" sz="2500" i="1" dirty="0" smtClean="0"/>
              <a:t>Les mécanismes de réplication permettent de garantir la stabilité de l’information offerte par les services d’annuaires Active Directory en tout point du réseau.</a:t>
            </a:r>
            <a:endParaRPr lang="fr-FR" sz="2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105981"/>
          </a:xfrm>
        </p:spPr>
        <p:txBody>
          <a:bodyPr>
            <a:noAutofit/>
          </a:bodyPr>
          <a:lstStyle/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i="1" dirty="0" smtClean="0"/>
              <a:t>Quelles sont les partions qui </a:t>
            </a:r>
            <a:r>
              <a:rPr lang="fr-FR" sz="2600" i="1" dirty="0" smtClean="0"/>
              <a:t>doivent être répliquées au sein d’un domaine donné ?</a:t>
            </a:r>
            <a:endParaRPr lang="fr-FR" sz="2600" dirty="0" smtClean="0"/>
          </a:p>
          <a:p>
            <a:pPr>
              <a:buClr>
                <a:schemeClr val="tx1"/>
              </a:buClr>
              <a:buNone/>
            </a:pPr>
            <a:r>
              <a:rPr lang="fr-FR" sz="2600" i="1" dirty="0" smtClean="0"/>
              <a:t>Les </a:t>
            </a:r>
            <a:r>
              <a:rPr lang="fr-FR" sz="2600" i="1" dirty="0" smtClean="0"/>
              <a:t>partitions de schéma, de configuration et de domaine doivent être répliquées.</a:t>
            </a:r>
            <a:endParaRPr lang="fr-FR" sz="2600" dirty="0" smtClean="0"/>
          </a:p>
          <a:p>
            <a:pPr lvl="0">
              <a:buClr>
                <a:schemeClr val="tx1"/>
              </a:buClr>
              <a:buFont typeface="Wingdings" pitchFamily="2" charset="2"/>
              <a:buChar char="q"/>
            </a:pPr>
            <a:r>
              <a:rPr lang="fr-FR" sz="2600" i="1" dirty="0" smtClean="0"/>
              <a:t>Quelles sont les partions qui </a:t>
            </a:r>
            <a:r>
              <a:rPr lang="fr-FR" sz="2600" i="1" dirty="0" smtClean="0"/>
              <a:t>doivent être répliquées entre des domaines d’une même forêt ?</a:t>
            </a:r>
            <a:endParaRPr lang="fr-FR" sz="2600" dirty="0" smtClean="0"/>
          </a:p>
          <a:p>
            <a:pPr>
              <a:buClr>
                <a:schemeClr val="tx1"/>
              </a:buClr>
              <a:buNone/>
            </a:pPr>
            <a:r>
              <a:rPr lang="fr-FR" sz="2600" i="1" dirty="0" smtClean="0"/>
              <a:t>Au sein de la forêt, seules les partitions de schéma, de configuration </a:t>
            </a:r>
            <a:r>
              <a:rPr lang="fr-FR" sz="2600" i="1" dirty="0" smtClean="0"/>
              <a:t>doivent </a:t>
            </a:r>
            <a:r>
              <a:rPr lang="fr-FR" sz="2600" i="1" dirty="0" smtClean="0"/>
              <a:t>être répliquées.</a:t>
            </a:r>
            <a:endParaRPr lang="fr-FR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105981"/>
          </a:xfrm>
        </p:spPr>
        <p:txBody>
          <a:bodyPr>
            <a:noAutofit/>
          </a:bodyPr>
          <a:lstStyle/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Qu’est ce qu’on entend </a:t>
            </a:r>
            <a:r>
              <a:rPr lang="fr-FR" sz="2600" i="1" dirty="0" smtClean="0"/>
              <a:t>par Réplication Multi-maîtres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Il s’agit du modèle de réplication utilisé par AD. Dans ce modèle n’importe quel DC accepte et réplique les modifications de l’annuaire. </a:t>
            </a:r>
          </a:p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Que se passe-t-il lorsque deux administrateurs modifient les valeurs </a:t>
            </a:r>
            <a:r>
              <a:rPr lang="fr-FR" sz="2600" i="1" dirty="0" smtClean="0"/>
              <a:t>d’un attribut </a:t>
            </a:r>
            <a:r>
              <a:rPr lang="fr-FR" sz="2600" i="1" dirty="0" smtClean="0"/>
              <a:t>d’un même compte utilisateur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Un conflit de réplication se produira puisque le même attribut </a:t>
            </a:r>
            <a:r>
              <a:rPr lang="fr-FR" sz="2600" i="1" dirty="0" smtClean="0"/>
              <a:t>sera modifié </a:t>
            </a:r>
            <a:r>
              <a:rPr lang="fr-FR" sz="2600" i="1" dirty="0" smtClean="0"/>
              <a:t>dans le même cycle de réplication. La modification qui a le numéro de version la plus grande l’emportera.</a:t>
            </a:r>
            <a:endParaRPr lang="fr-FR" sz="2600" dirty="0" smtClean="0"/>
          </a:p>
          <a:p>
            <a:endParaRPr lang="fr-FR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1" y="1527047"/>
            <a:ext cx="8668077" cy="5105981"/>
          </a:xfrm>
        </p:spPr>
        <p:txBody>
          <a:bodyPr>
            <a:noAutofit/>
          </a:bodyPr>
          <a:lstStyle/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AD gère deux grands types de réplications. Lesquelles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AD utilise la réplication intra-site pour répliquer rapidement les données d’un site tandis que la réplication </a:t>
            </a:r>
            <a:r>
              <a:rPr lang="fr-FR" sz="2600" i="1" dirty="0" err="1" smtClean="0"/>
              <a:t>inter-sites</a:t>
            </a:r>
            <a:r>
              <a:rPr lang="fr-FR" sz="2600" i="1" dirty="0" smtClean="0"/>
              <a:t> sera utilisée pour répliquer les données entre les sites en fonction du temps et d’un planning hebdomadaire.</a:t>
            </a:r>
            <a:endParaRPr lang="fr-FR" sz="2600" dirty="0" smtClean="0"/>
          </a:p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Qu’</a:t>
            </a:r>
            <a:r>
              <a:rPr lang="fr-FR" sz="2600" i="1" dirty="0" smtClean="0"/>
              <a:t>est ce qu’une </a:t>
            </a:r>
            <a:r>
              <a:rPr lang="fr-FR" sz="2600" i="1" dirty="0" smtClean="0"/>
              <a:t>réplication urgente </a:t>
            </a:r>
            <a:r>
              <a:rPr lang="fr-FR" sz="2600" i="1" dirty="0" smtClean="0"/>
              <a:t>?</a:t>
            </a:r>
            <a:endParaRPr lang="fr-FR" sz="2600" dirty="0" smtClean="0"/>
          </a:p>
          <a:p>
            <a:pPr>
              <a:buNone/>
            </a:pPr>
            <a:r>
              <a:rPr lang="fr-FR" sz="2600" i="1" dirty="0" smtClean="0"/>
              <a:t>Au lieu d’attendre ces 15 secondes, les mises à </a:t>
            </a:r>
            <a:r>
              <a:rPr lang="fr-FR" sz="2600" i="1" dirty="0" smtClean="0"/>
              <a:t>jour des </a:t>
            </a:r>
            <a:r>
              <a:rPr lang="fr-FR" sz="2600" i="1" dirty="0" smtClean="0"/>
              <a:t>attributs de sécurité sensibles déclenchent une </a:t>
            </a:r>
            <a:r>
              <a:rPr lang="fr-FR" sz="2600" i="1" dirty="0" smtClean="0"/>
              <a:t> notification de modification </a:t>
            </a:r>
            <a:r>
              <a:rPr lang="fr-FR" sz="2600" i="1" dirty="0" smtClean="0"/>
              <a:t>immédiate.</a:t>
            </a:r>
            <a:endParaRPr lang="fr-FR" sz="26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4859239"/>
          </a:xfrm>
        </p:spPr>
        <p:txBody>
          <a:bodyPr>
            <a:noAutofit/>
          </a:bodyPr>
          <a:lstStyle/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Quels protocoles peuvent être utilisés pour répliquer les données de l’annuaire Active Directory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Les réplications intrasite utilisent les RPC sur IP. Les réplications intersites utilisent le protocole RPC sur IP ou le protocole SMTP.</a:t>
            </a:r>
          </a:p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Est-il possible de répliquer la partition de domaine de deux contrôleurs de domaine du même domaine à l’aide du protocole SMTP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Non. Le protocole SMTP ne peut être utilisé que pour répliquer les partitions de schéma, de configuration et de catalogues.</a:t>
            </a:r>
            <a:endParaRPr lang="fr-FR" sz="2600" dirty="0" smtClean="0"/>
          </a:p>
          <a:p>
            <a:endParaRPr lang="fr-F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7"/>
            <a:ext cx="8503920" cy="5105981"/>
          </a:xfrm>
        </p:spPr>
        <p:txBody>
          <a:bodyPr>
            <a:noAutofit/>
          </a:bodyPr>
          <a:lstStyle/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Quelle est la latence de réplication au sein d’un site Active Directory comprenant des OS Win Server 2003?</a:t>
            </a:r>
          </a:p>
          <a:p>
            <a:pPr lvl="0">
              <a:buClrTx/>
              <a:buNone/>
            </a:pPr>
            <a:r>
              <a:rPr lang="fr-FR" sz="2600" i="1" dirty="0" smtClean="0"/>
              <a:t>15 secondes</a:t>
            </a:r>
            <a:endParaRPr lang="fr-FR" sz="2600" dirty="0" smtClean="0"/>
          </a:p>
          <a:p>
            <a:pPr lvl="0">
              <a:buClrTx/>
              <a:buFont typeface="Wingdings" pitchFamily="2" charset="2"/>
              <a:buChar char="q"/>
            </a:pPr>
            <a:r>
              <a:rPr lang="fr-FR" sz="2600" i="1" dirty="0" smtClean="0"/>
              <a:t>Quel est le rôle d’un serveur tête de pont ?</a:t>
            </a:r>
            <a:endParaRPr lang="fr-FR" sz="2600" dirty="0" smtClean="0"/>
          </a:p>
          <a:p>
            <a:pPr>
              <a:buClrTx/>
              <a:buNone/>
            </a:pPr>
            <a:r>
              <a:rPr lang="fr-FR" sz="2600" i="1" dirty="0" smtClean="0"/>
              <a:t>Le serveur tête de pont distant reçoit les modifications et les réplique vers les contrôleurs de son site.</a:t>
            </a:r>
            <a:endParaRPr lang="fr-FR" sz="2600" dirty="0" smtClean="0"/>
          </a:p>
          <a:p>
            <a:endParaRPr lang="fr-F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,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6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7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,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0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7189</TotalTime>
  <Words>2069</Words>
  <Application>Microsoft PowerPoint</Application>
  <PresentationFormat>Affichage à l'écran (4:3)</PresentationFormat>
  <Paragraphs>315</Paragraphs>
  <Slides>36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3" baseType="lpstr">
      <vt:lpstr>Arial</vt:lpstr>
      <vt:lpstr>Georgia</vt:lpstr>
      <vt:lpstr>Arial Narrow</vt:lpstr>
      <vt:lpstr>Wingdings 2</vt:lpstr>
      <vt:lpstr>Wingdings</vt:lpstr>
      <vt:lpstr>Times New Roman</vt:lpstr>
      <vt:lpstr>Civil</vt:lpstr>
      <vt:lpstr>Chapitre 7   Implémentation de sites pour gérer la réplication Active Directory </vt:lpstr>
      <vt:lpstr>Plan du cours</vt:lpstr>
      <vt:lpstr>1. Fonctionnement de la réplication</vt:lpstr>
      <vt:lpstr>Présentation de la réplication</vt:lpstr>
      <vt:lpstr>Diapositive 5</vt:lpstr>
      <vt:lpstr>Diapositive 6</vt:lpstr>
      <vt:lpstr>Diapositive 7</vt:lpstr>
      <vt:lpstr>Réplication d'attributs à valeurs multiples liés</vt:lpstr>
      <vt:lpstr>2. Résolution des conflits de réplication</vt:lpstr>
      <vt:lpstr>Comment s’effectue une réplication?</vt:lpstr>
      <vt:lpstr>Cachet global unique</vt:lpstr>
      <vt:lpstr>Présentation de conflits de réplication</vt:lpstr>
      <vt:lpstr>Types de conflits</vt:lpstr>
      <vt:lpstr>Conflits d’attribut</vt:lpstr>
      <vt:lpstr>Conflits de conteneurs supprimés</vt:lpstr>
      <vt:lpstr>Conflits RDN</vt:lpstr>
      <vt:lpstr>3. Optimisation de la réplication</vt:lpstr>
      <vt:lpstr>4. Topologie de réplication</vt:lpstr>
      <vt:lpstr>Définition des partitions d'annuaire</vt:lpstr>
      <vt:lpstr>Définition de la topologie de réplication</vt:lpstr>
      <vt:lpstr>Génération automatique de la topologie de réplication</vt:lpstr>
      <vt:lpstr>5. Utilisation des sites pour optimiser la réplication</vt:lpstr>
      <vt:lpstr>Définition des sites</vt:lpstr>
      <vt:lpstr>Définition des liens de sites</vt:lpstr>
      <vt:lpstr>Coût des liens de sites</vt:lpstr>
      <vt:lpstr>Réplication à l'intérieur des sites et réplication entre  les sites</vt:lpstr>
      <vt:lpstr>Réplication à l'intérieur des sites et réplication entre  les sites</vt:lpstr>
      <vt:lpstr>Définition d'un serveur de tête de pont</vt:lpstr>
      <vt:lpstr>Définition du générateur de topologie inter-sites</vt:lpstr>
      <vt:lpstr>6. Protocoles de réplication</vt:lpstr>
      <vt:lpstr>Exercices</vt:lpstr>
      <vt:lpstr>Exercices</vt:lpstr>
      <vt:lpstr>Exercices</vt:lpstr>
      <vt:lpstr>Exercices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Annie Chowdhry</dc:creator>
  <cp:lastModifiedBy>Halima</cp:lastModifiedBy>
  <cp:revision>712</cp:revision>
  <dcterms:created xsi:type="dcterms:W3CDTF">2002-08-07T17:51:12Z</dcterms:created>
  <dcterms:modified xsi:type="dcterms:W3CDTF">2016-03-13T23:28:37Z</dcterms:modified>
</cp:coreProperties>
</file>