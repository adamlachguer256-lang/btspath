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78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34.xml" ContentType="application/vnd.openxmlformats-officedocument.presentationml.tags+xml"/>
  <Override PartName="/ppt/tags/tag52.xml" ContentType="application/vnd.openxmlformats-officedocument.presentationml.tags+xml"/>
  <Override PartName="/ppt/notesSlides/notesSlide12.xml" ContentType="application/vnd.openxmlformats-officedocument.presentationml.notesSlide+xml"/>
  <Override PartName="/ppt/tags/tag81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70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9.xml" ContentType="application/vnd.openxmlformats-officedocument.presentationml.tags+xml"/>
  <Override PartName="/ppt/tags/tag68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57.xml" ContentType="application/vnd.openxmlformats-officedocument.presentationml.tags+xml"/>
  <Override PartName="/ppt/tags/tag66.xml" ContentType="application/vnd.openxmlformats-officedocument.presentationml.tags+xml"/>
  <Override PartName="/ppt/notesSlides/notesSlide15.xml" ContentType="application/vnd.openxmlformats-officedocument.presentationml.notesSlide+xml"/>
  <Override PartName="/ppt/tags/tag75.xml" ContentType="application/vnd.openxmlformats-officedocument.presentationml.tags+xml"/>
  <Override PartName="/ppt/tags/tag84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55.xml" ContentType="application/vnd.openxmlformats-officedocument.presentationml.tags+xml"/>
  <Override PartName="/ppt/tags/tag64.xml" ContentType="application/vnd.openxmlformats-officedocument.presentationml.tags+xml"/>
  <Override PartName="/ppt/notesSlides/notesSlide13.xml" ContentType="application/vnd.openxmlformats-officedocument.presentationml.notesSlide+xml"/>
  <Override PartName="/ppt/tags/tag73.xml" ContentType="application/vnd.openxmlformats-officedocument.presentationml.tags+xml"/>
  <Override PartName="/ppt/tags/tag8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tags/tag44.xml" ContentType="application/vnd.openxmlformats-officedocument.presentationml.tags+xml"/>
  <Override PartName="/ppt/tags/tag53.xml" ContentType="application/vnd.openxmlformats-officedocument.presentationml.tags+xml"/>
  <Override PartName="/ppt/notesSlides/notesSlide11.xml" ContentType="application/vnd.openxmlformats-officedocument.presentationml.notesSlide+xml"/>
  <Override PartName="/ppt/tags/tag62.xml" ContentType="application/vnd.openxmlformats-officedocument.presentationml.tags+xml"/>
  <Override PartName="/ppt/tags/tag71.xml" ContentType="application/vnd.openxmlformats-officedocument.presentationml.tags+xml"/>
  <Override PartName="/ppt/tags/tag80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tags/tag76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notesSlides/notesSlide14.xml" ContentType="application/vnd.openxmlformats-officedocument.presentationml.notesSlide+xml"/>
  <Override PartName="/ppt/tags/tag83.xml" ContentType="application/vnd.openxmlformats-officedocument.presentationml.tags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notesSlides/notesSlide9.xml" ContentType="application/vnd.openxmlformats-officedocument.presentationml.notesSlide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32.xml" ContentType="application/vnd.openxmlformats-officedocument.presentationml.tags+xml"/>
  <Override PartName="/ppt/tags/tag50.xml" ContentType="application/vnd.openxmlformats-officedocument.presentationml.tags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Default Extension="jpeg" ContentType="image/jpeg"/>
  <Override PartName="/ppt/tags/tag3.xml" ContentType="application/vnd.openxmlformats-officedocument.presentationml.tags+xml"/>
  <Override PartName="/ppt/tags/tag59.xml" ContentType="application/vnd.openxmlformats-officedocument.presentationml.tags+xml"/>
  <Override PartName="/ppt/tags/tag77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1" r:id="rId1"/>
  </p:sldMasterIdLst>
  <p:notesMasterIdLst>
    <p:notesMasterId r:id="rId28"/>
  </p:notesMasterIdLst>
  <p:handoutMasterIdLst>
    <p:handoutMasterId r:id="rId29"/>
  </p:handoutMasterIdLst>
  <p:sldIdLst>
    <p:sldId id="416" r:id="rId2"/>
    <p:sldId id="420" r:id="rId3"/>
    <p:sldId id="421" r:id="rId4"/>
    <p:sldId id="554" r:id="rId5"/>
    <p:sldId id="560" r:id="rId6"/>
    <p:sldId id="555" r:id="rId7"/>
    <p:sldId id="556" r:id="rId8"/>
    <p:sldId id="537" r:id="rId9"/>
    <p:sldId id="542" r:id="rId10"/>
    <p:sldId id="504" r:id="rId11"/>
    <p:sldId id="557" r:id="rId12"/>
    <p:sldId id="474" r:id="rId13"/>
    <p:sldId id="479" r:id="rId14"/>
    <p:sldId id="552" r:id="rId15"/>
    <p:sldId id="553" r:id="rId16"/>
    <p:sldId id="508" r:id="rId17"/>
    <p:sldId id="509" r:id="rId18"/>
    <p:sldId id="543" r:id="rId19"/>
    <p:sldId id="544" r:id="rId20"/>
    <p:sldId id="545" r:id="rId21"/>
    <p:sldId id="476" r:id="rId22"/>
    <p:sldId id="550" r:id="rId23"/>
    <p:sldId id="549" r:id="rId24"/>
    <p:sldId id="558" r:id="rId25"/>
    <p:sldId id="561" r:id="rId26"/>
    <p:sldId id="559" r:id="rId27"/>
  </p:sldIdLst>
  <p:sldSz cx="9144000" cy="6858000" type="screen4x3"/>
  <p:notesSz cx="6858000" cy="9144000"/>
  <p:embeddedFontLst>
    <p:embeddedFont>
      <p:font typeface="Georgia" pitchFamily="18" charset="0"/>
      <p:regular r:id="rId30"/>
      <p:bold r:id="rId31"/>
      <p:italic r:id="rId32"/>
      <p:boldItalic r:id="rId33"/>
    </p:embeddedFont>
    <p:embeddedFont>
      <p:font typeface="Arial Narrow" pitchFamily="34" charset="0"/>
      <p:regular r:id="rId34"/>
      <p:bold r:id="rId35"/>
      <p:italic r:id="rId36"/>
      <p:boldItalic r:id="rId37"/>
    </p:embeddedFont>
    <p:embeddedFont>
      <p:font typeface="Wingdings 2" pitchFamily="18" charset="2"/>
      <p:regular r:id="rId38"/>
    </p:embeddedFont>
    <p:embeddedFont>
      <p:font typeface="Calibri" pitchFamily="34" charset="0"/>
      <p:regular r:id="rId39"/>
      <p:bold r:id="rId40"/>
      <p:italic r:id="rId41"/>
      <p:boldItalic r:id="rId42"/>
    </p:embeddedFont>
    <p:embeddedFont>
      <p:font typeface="Verdana" pitchFamily="34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1" clrIdx="0"/>
  <p:cmAuthor id="1" name="Annie Chowdhry" initials="" lastIdx="2" clrIdx="1"/>
  <p:cmAuthor id="2" name="jpick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EEEFD7"/>
    <a:srgbClr val="333333"/>
    <a:srgbClr val="D5D69C"/>
    <a:srgbClr val="DFE8F2"/>
    <a:srgbClr val="8DACD0"/>
    <a:srgbClr val="CC0000"/>
    <a:srgbClr val="B395D8"/>
    <a:srgbClr val="F0F1E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inimized" horzBarState="maximized">
    <p:restoredLeft sz="15620" autoAdjust="0"/>
    <p:restoredTop sz="94660" autoAdjust="0"/>
  </p:normalViewPr>
  <p:slideViewPr>
    <p:cSldViewPr snapToGrid="0">
      <p:cViewPr>
        <p:scale>
          <a:sx n="80" d="100"/>
          <a:sy n="80" d="100"/>
        </p:scale>
        <p:origin x="-1194" y="144"/>
      </p:cViewPr>
      <p:guideLst>
        <p:guide orient="horz" pos="2160"/>
        <p:guide pos="2880"/>
        <p:guide pos="686"/>
        <p:guide pos="24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0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3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  <p:custDataLst>
              <p:tags r:id="rId4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  <p:custDataLst>
              <p:tags r:id="rId5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B815948F-19F6-4A17-8DF6-03B9CF719C9E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" Target="../theme/theme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  <p:custDataLst>
              <p:tags r:id="rId4"/>
            </p:custDataLst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  <p:custDataLst>
              <p:tags r:id="rId5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  <p:custDataLst>
              <p:tags r:id="rId6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0952C795-2D50-41FC-B773-A0B79446078D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9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0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2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5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6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7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7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0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3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4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5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6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4D3A05E-5C37-4BE5-8804-795C1D1493D8}" type="slidenum">
              <a:rPr lang="en-US"/>
              <a:pPr/>
              <a:t>1</a:t>
            </a:fld>
            <a:endParaRPr lang="en-US"/>
          </a:p>
        </p:txBody>
      </p:sp>
      <p:sp>
        <p:nvSpPr>
          <p:cNvPr id="494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1257451-4319-481C-BC62-79138F4DC22C}" type="slidenum">
              <a:rPr lang="en-US"/>
              <a:pPr/>
              <a:t>2</a:t>
            </a:fld>
            <a:endParaRPr lang="en-US"/>
          </a:p>
        </p:txBody>
      </p:sp>
      <p:sp>
        <p:nvSpPr>
          <p:cNvPr id="49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C7352D1-671B-4075-82F4-6B7F51472435}" type="slidenum">
              <a:rPr lang="en-US"/>
              <a:pPr/>
              <a:t>3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41D12CF-8A6E-4ED4-91BC-BF5828E35BE4}" type="slidenum">
              <a:rPr lang="en-US"/>
              <a:pPr/>
              <a:t>8</a:t>
            </a:fld>
            <a:endParaRPr lang="en-US"/>
          </a:p>
        </p:txBody>
      </p:sp>
      <p:sp>
        <p:nvSpPr>
          <p:cNvPr id="498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EA322B1-1589-4D6D-AC07-88499E8C51C0}" type="slidenum">
              <a:rPr lang="en-US"/>
              <a:pPr/>
              <a:t>9</a:t>
            </a:fld>
            <a:endParaRPr lang="en-US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043D0BE-94C5-4D14-8092-1906FA41FC32}" type="slidenum">
              <a:rPr lang="en-US"/>
              <a:pPr/>
              <a:t>10</a:t>
            </a:fld>
            <a:endParaRPr lang="en-US"/>
          </a:p>
        </p:txBody>
      </p:sp>
      <p:sp>
        <p:nvSpPr>
          <p:cNvPr id="501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043D0BE-94C5-4D14-8092-1906FA41FC32}" type="slidenum">
              <a:rPr lang="en-US"/>
              <a:pPr/>
              <a:t>11</a:t>
            </a:fld>
            <a:endParaRPr lang="en-US"/>
          </a:p>
        </p:txBody>
      </p:sp>
      <p:sp>
        <p:nvSpPr>
          <p:cNvPr id="501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E9732E1-0A60-4E11-A634-E9D95008D7EC}" type="slidenum">
              <a:rPr lang="en-US"/>
              <a:pPr/>
              <a:t>12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90B08B7F-C69F-4EB9-8752-96AC0F8B62FA}" type="slidenum">
              <a:rPr lang="en-US"/>
              <a:pPr/>
              <a:t>13</a:t>
            </a:fld>
            <a:endParaRPr lang="en-US"/>
          </a:p>
        </p:txBody>
      </p:sp>
      <p:sp>
        <p:nvSpPr>
          <p:cNvPr id="507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4B50FA2-1AAE-4574-9FDB-69B1FBBDC388}" type="slidenum">
              <a:rPr lang="en-US"/>
              <a:pPr/>
              <a:t>15</a:t>
            </a:fld>
            <a:endParaRPr lang="en-US"/>
          </a:p>
        </p:txBody>
      </p:sp>
      <p:sp>
        <p:nvSpPr>
          <p:cNvPr id="512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69033687-5D35-48D8-AFE0-5E685889D770}" type="slidenum">
              <a:rPr lang="en-US"/>
              <a:pPr/>
              <a:t>16</a:t>
            </a:fld>
            <a:endParaRPr lang="en-US"/>
          </a:p>
        </p:txBody>
      </p:sp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E11A237F-A7B4-4C2E-A0F5-04143C4CB21D}" type="slidenum">
              <a:rPr lang="en-US"/>
              <a:pPr/>
              <a:t>17</a:t>
            </a:fld>
            <a:endParaRPr lang="en-US"/>
          </a:p>
        </p:txBody>
      </p:sp>
      <p:sp>
        <p:nvSpPr>
          <p:cNvPr id="515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7340804-647C-4520-88C3-1D8DA35332BA}" type="slidenum">
              <a:rPr lang="en-US"/>
              <a:pPr/>
              <a:t>18</a:t>
            </a:fld>
            <a:endParaRPr lang="en-US"/>
          </a:p>
        </p:txBody>
      </p:sp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BD128D9-3266-4E5C-B41E-C459779CF487}" type="slidenum">
              <a:rPr lang="en-US"/>
              <a:pPr/>
              <a:t>19</a:t>
            </a:fld>
            <a:endParaRPr lang="en-US"/>
          </a:p>
        </p:txBody>
      </p:sp>
      <p:sp>
        <p:nvSpPr>
          <p:cNvPr id="519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9AEF6F5-E4EF-41B0-8D92-462D264A612D}" type="slidenum">
              <a:rPr lang="en-US"/>
              <a:pPr/>
              <a:t>20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9C3D0B05-3E8F-4753-AA8C-E36AE1DC32E4}" type="slidenum">
              <a:rPr lang="en-US"/>
              <a:pPr/>
              <a:t>21</a:t>
            </a:fld>
            <a:endParaRPr lang="en-US"/>
          </a:p>
        </p:txBody>
      </p:sp>
      <p:sp>
        <p:nvSpPr>
          <p:cNvPr id="529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F4C5B36-6842-4061-B875-38DA67A71141}" type="slidenum">
              <a:rPr lang="en-US"/>
              <a:pPr/>
              <a:t>22</a:t>
            </a:fld>
            <a:endParaRPr lang="en-US"/>
          </a:p>
        </p:txBody>
      </p:sp>
      <p:sp>
        <p:nvSpPr>
          <p:cNvPr id="53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295C3200-549E-4733-B6BF-C49754A3B3D8}" type="slidenum">
              <a:rPr lang="en-US"/>
              <a:pPr/>
              <a:t>23</a:t>
            </a:fld>
            <a:endParaRPr lang="en-US"/>
          </a:p>
        </p:txBody>
      </p:sp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3/6/2016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1" Type="http://schemas.openxmlformats.org/officeDocument/2006/relationships/image" Target="../media/image5.png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tags" Target="../tags/tag29.xml"/><Relationship Id="rId2" Type="http://schemas.openxmlformats.org/officeDocument/2006/relationships/tags" Target="../tags/tag14.xml"/><Relationship Id="rId16" Type="http://schemas.openxmlformats.org/officeDocument/2006/relationships/tags" Target="../tags/tag28.xml"/><Relationship Id="rId20" Type="http://schemas.openxmlformats.org/officeDocument/2006/relationships/image" Target="../media/image4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10" Type="http://schemas.openxmlformats.org/officeDocument/2006/relationships/tags" Target="../tags/tag22.xml"/><Relationship Id="rId19" Type="http://schemas.openxmlformats.org/officeDocument/2006/relationships/image" Target="../media/image3.png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Relationship Id="rId2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15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14.png"/><Relationship Id="rId2" Type="http://schemas.openxmlformats.org/officeDocument/2006/relationships/tags" Target="../tags/tag31.xml"/><Relationship Id="rId16" Type="http://schemas.openxmlformats.org/officeDocument/2006/relationships/image" Target="../media/image18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13.png"/><Relationship Id="rId5" Type="http://schemas.openxmlformats.org/officeDocument/2006/relationships/tags" Target="../tags/tag34.xml"/><Relationship Id="rId15" Type="http://schemas.openxmlformats.org/officeDocument/2006/relationships/image" Target="../media/image17.png"/><Relationship Id="rId10" Type="http://schemas.openxmlformats.org/officeDocument/2006/relationships/notesSlide" Target="../notesSlides/notesSlide4.xml"/><Relationship Id="rId4" Type="http://schemas.openxmlformats.org/officeDocument/2006/relationships/tags" Target="../tags/tag33.xml"/><Relationship Id="rId9" Type="http://schemas.openxmlformats.org/officeDocument/2006/relationships/slideLayout" Target="../slideLayouts/slideLayout6.xml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31.png"/><Relationship Id="rId3" Type="http://schemas.openxmlformats.org/officeDocument/2006/relationships/tags" Target="../tags/tag45.xml"/><Relationship Id="rId21" Type="http://schemas.openxmlformats.org/officeDocument/2006/relationships/image" Target="../media/image34.png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image" Target="../media/image30.png"/><Relationship Id="rId2" Type="http://schemas.openxmlformats.org/officeDocument/2006/relationships/tags" Target="../tags/tag44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image" Target="../media/image28.png"/><Relationship Id="rId10" Type="http://schemas.openxmlformats.org/officeDocument/2006/relationships/tags" Target="../tags/tag52.xml"/><Relationship Id="rId19" Type="http://schemas.openxmlformats.org/officeDocument/2006/relationships/image" Target="../media/image32.png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notesSlide" Target="../notesSlides/notesSlide9.xml"/><Relationship Id="rId2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image" Target="../media/image35.png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image" Target="../media/image13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notesSlide" Target="../notesSlides/notesSlide12.xml"/><Relationship Id="rId5" Type="http://schemas.openxmlformats.org/officeDocument/2006/relationships/tags" Target="../tags/tag62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9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38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9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38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13" Type="http://schemas.openxmlformats.org/officeDocument/2006/relationships/image" Target="../media/image45.png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image" Target="../media/image44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image" Target="../media/image43.png"/><Relationship Id="rId5" Type="http://schemas.openxmlformats.org/officeDocument/2006/relationships/tags" Target="../tags/tag81.xml"/><Relationship Id="rId10" Type="http://schemas.openxmlformats.org/officeDocument/2006/relationships/image" Target="../media/image13.png"/><Relationship Id="rId4" Type="http://schemas.openxmlformats.org/officeDocument/2006/relationships/tags" Target="../tags/tag80.xml"/><Relationship Id="rId9" Type="http://schemas.openxmlformats.org/officeDocument/2006/relationships/notesSlide" Target="../notesSlides/notesSlide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62" name="Rectangle 86"/>
          <p:cNvSpPr>
            <a:spLocks noGrp="1" noChangeArrowheads="1"/>
          </p:cNvSpPr>
          <p:nvPr>
            <p:ph type="ctrTitle"/>
          </p:nvPr>
        </p:nvSpPr>
        <p:spPr>
          <a:xfrm>
            <a:off x="1183595" y="2835275"/>
            <a:ext cx="6443662" cy="3113088"/>
          </a:xfrm>
          <a:noFill/>
          <a:ln/>
        </p:spPr>
        <p:txBody>
          <a:bodyPr>
            <a:normAutofit/>
          </a:bodyPr>
          <a:lstStyle/>
          <a:p>
            <a:r>
              <a:rPr lang="fr-FR" sz="4800" dirty="0" smtClean="0">
                <a:solidFill>
                  <a:srgbClr val="000000"/>
                </a:solidFill>
              </a:rPr>
              <a:t>Chapitre 5</a:t>
            </a:r>
            <a:br>
              <a:rPr lang="fr-FR" sz="4800" dirty="0" smtClean="0">
                <a:solidFill>
                  <a:srgbClr val="000000"/>
                </a:solidFill>
              </a:rPr>
            </a:br>
            <a:r>
              <a:rPr lang="fr-FR" sz="4800" dirty="0">
                <a:solidFill>
                  <a:srgbClr val="000000"/>
                </a:solidFill>
              </a:rPr>
              <a:t> </a:t>
            </a:r>
            <a:r>
              <a:rPr lang="fr-FR" sz="4800" dirty="0" smtClean="0">
                <a:solidFill>
                  <a:srgbClr val="000000"/>
                </a:solidFill>
              </a:rPr>
              <a:t> </a:t>
            </a:r>
            <a:r>
              <a:rPr lang="fr-FR" sz="4800" dirty="0">
                <a:solidFill>
                  <a:srgbClr val="000000"/>
                </a:solidFill>
              </a:rPr>
              <a:t>Implémentation d'une stratégie de groupe 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02030" y="747874"/>
            <a:ext cx="32391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 smtClean="0">
                <a:solidFill>
                  <a:srgbClr val="000000"/>
                </a:solidFill>
              </a:rPr>
              <a:t>Module S44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0000"/>
                </a:solidFill>
              </a:rPr>
              <a:t>Plan du cours</a:t>
            </a:r>
            <a:endParaRPr lang="en-US" b="1" dirty="0"/>
          </a:p>
        </p:txBody>
      </p:sp>
      <p:sp>
        <p:nvSpPr>
          <p:cNvPr id="287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87238" y="1962477"/>
            <a:ext cx="8503920" cy="3611009"/>
          </a:xfrm>
        </p:spPr>
        <p:txBody>
          <a:bodyPr>
            <a:normAutofit/>
          </a:bodyPr>
          <a:lstStyle/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>
                <a:solidFill>
                  <a:srgbClr val="000000"/>
                </a:solidFill>
              </a:rPr>
              <a:t>Création et configuration d'objets Stratégie de groupe</a:t>
            </a:r>
            <a:endParaRPr lang="en-US" dirty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>
                <a:solidFill>
                  <a:srgbClr val="000000"/>
                </a:solidFill>
              </a:rPr>
              <a:t>Configuration des fréquences d'actualisation et des paramètres de stratégie de groupe</a:t>
            </a:r>
            <a:endParaRPr lang="en-US" dirty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>
                <a:solidFill>
                  <a:srgbClr val="000000"/>
                </a:solidFill>
              </a:rPr>
              <a:t>Gestion des objets Stratégie de groupe</a:t>
            </a:r>
            <a:endParaRPr lang="en-US" dirty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>
                <a:solidFill>
                  <a:srgbClr val="000000"/>
                </a:solidFill>
              </a:rPr>
              <a:t>Délégation </a:t>
            </a:r>
            <a:r>
              <a:rPr lang="fr-FR" dirty="0">
                <a:solidFill>
                  <a:srgbClr val="000000"/>
                </a:solidFill>
              </a:rPr>
              <a:t>du contrôle administratif de la stratégie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>
                <a:solidFill>
                  <a:srgbClr val="000000"/>
                </a:solidFill>
              </a:rPr>
              <a:t>de </a:t>
            </a:r>
            <a:r>
              <a:rPr lang="fr-FR" dirty="0" smtClean="0">
                <a:solidFill>
                  <a:srgbClr val="000000"/>
                </a:solidFill>
              </a:rPr>
              <a:t>groupe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1881" y="311725"/>
            <a:ext cx="8787740" cy="758952"/>
          </a:xfrm>
        </p:spPr>
        <p:txBody>
          <a:bodyPr>
            <a:noAutofit/>
          </a:bodyPr>
          <a:lstStyle/>
          <a:p>
            <a:r>
              <a:rPr lang="fr-FR" sz="3000" b="1" dirty="0" smtClean="0">
                <a:solidFill>
                  <a:srgbClr val="000000"/>
                </a:solidFill>
              </a:rPr>
              <a:t>1. Création </a:t>
            </a:r>
            <a:r>
              <a:rPr lang="fr-FR" sz="3000" b="1" dirty="0">
                <a:solidFill>
                  <a:srgbClr val="000000"/>
                </a:solidFill>
              </a:rPr>
              <a:t>et configuration d'objets Stratégie de groupe</a:t>
            </a:r>
            <a:endParaRPr lang="en-US" sz="3000" b="1" dirty="0">
              <a:solidFill>
                <a:srgbClr val="000000"/>
              </a:solidFill>
            </a:endParaRPr>
          </a:p>
        </p:txBody>
      </p:sp>
      <p:sp>
        <p:nvSpPr>
          <p:cNvPr id="288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46743" y="1908616"/>
            <a:ext cx="8708571" cy="2895604"/>
          </a:xfrm>
        </p:spPr>
        <p:txBody>
          <a:bodyPr>
            <a:normAutofit/>
          </a:bodyPr>
          <a:lstStyle/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fr-FR" dirty="0" smtClean="0">
                <a:solidFill>
                  <a:srgbClr val="C00000"/>
                </a:solidFill>
              </a:rPr>
              <a:t>Introductions aux stratégies </a:t>
            </a:r>
            <a:r>
              <a:rPr lang="fr-FR" dirty="0">
                <a:solidFill>
                  <a:srgbClr val="C00000"/>
                </a:solidFill>
              </a:rPr>
              <a:t>de groupe</a:t>
            </a:r>
            <a:endParaRPr lang="en-US" dirty="0">
              <a:solidFill>
                <a:srgbClr val="C00000"/>
              </a:solidFill>
            </a:endParaRP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fr-FR" dirty="0">
                <a:solidFill>
                  <a:srgbClr val="C00000"/>
                </a:solidFill>
              </a:rPr>
              <a:t>Composants d'un objet Stratégie de groupe</a:t>
            </a:r>
            <a:endParaRPr lang="en-US" dirty="0">
              <a:solidFill>
                <a:srgbClr val="C00000"/>
              </a:solidFill>
            </a:endParaRP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fr-FR" dirty="0">
                <a:solidFill>
                  <a:srgbClr val="C00000"/>
                </a:solidFill>
              </a:rPr>
              <a:t>Pourquoi spécifier un contrôleur de domaine pour la gestion des objets Stratégie de groupe ?</a:t>
            </a:r>
            <a:endParaRPr lang="en-US" dirty="0">
              <a:solidFill>
                <a:srgbClr val="C00000"/>
              </a:solidFill>
            </a:endParaRP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fr-FR" dirty="0" smtClean="0">
                <a:solidFill>
                  <a:srgbClr val="C00000"/>
                </a:solidFill>
              </a:rPr>
              <a:t>Définition </a:t>
            </a:r>
            <a:r>
              <a:rPr lang="fr-FR" dirty="0">
                <a:solidFill>
                  <a:srgbClr val="C00000"/>
                </a:solidFill>
              </a:rPr>
              <a:t>des filtres WMI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600" b="1" dirty="0" smtClean="0">
                <a:solidFill>
                  <a:srgbClr val="C00000"/>
                </a:solidFill>
              </a:rPr>
              <a:t>Introduction </a:t>
            </a:r>
            <a:r>
              <a:rPr lang="fr-FR" sz="2600" b="1" dirty="0">
                <a:solidFill>
                  <a:srgbClr val="C00000"/>
                </a:solidFill>
              </a:rPr>
              <a:t>aux stratégies de groupe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11" name="AutoShape 4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0150" y="1812925"/>
            <a:ext cx="898525" cy="1487488"/>
          </a:xfrm>
          <a:prstGeom prst="curvedRightArrow">
            <a:avLst>
              <a:gd name="adj1" fmla="val 30320"/>
              <a:gd name="adj2" fmla="val 63429"/>
              <a:gd name="adj3" fmla="val 33333"/>
            </a:avLst>
          </a:prstGeom>
          <a:solidFill>
            <a:srgbClr val="FF0000">
              <a:alpha val="75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2" name="AutoShape 4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86263" y="3449638"/>
            <a:ext cx="898525" cy="1487487"/>
          </a:xfrm>
          <a:prstGeom prst="curvedRightArrow">
            <a:avLst>
              <a:gd name="adj1" fmla="val 33110"/>
              <a:gd name="adj2" fmla="val 66219"/>
              <a:gd name="adj3" fmla="val 33333"/>
            </a:avLst>
          </a:prstGeom>
          <a:solidFill>
            <a:srgbClr val="FF0000">
              <a:alpha val="75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3" name="Line 42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889700" y="4730750"/>
            <a:ext cx="1004888" cy="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4" name="Line 40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194375" y="3327400"/>
            <a:ext cx="1004888" cy="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5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295850" y="2332038"/>
            <a:ext cx="1316038" cy="21399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6" name="Line 9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2195963" y="1949450"/>
            <a:ext cx="708025" cy="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Oval 4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4488" y="1560513"/>
            <a:ext cx="1519237" cy="809625"/>
          </a:xfrm>
          <a:prstGeom prst="ellipse">
            <a:avLst/>
          </a:prstGeom>
          <a:solidFill>
            <a:srgbClr val="FFFFFF"/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18" name="Picture 22" descr="Collection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481463" y="1560513"/>
            <a:ext cx="1666875" cy="81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991050" y="1782763"/>
            <a:ext cx="6492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fr-FR">
                <a:solidFill>
                  <a:srgbClr val="000000"/>
                </a:solidFill>
              </a:rPr>
              <a:t>Site</a:t>
            </a:r>
            <a:endParaRPr lang="en-US"/>
          </a:p>
        </p:txBody>
      </p:sp>
      <p:pic>
        <p:nvPicPr>
          <p:cNvPr id="20" name="Picture 31" descr="2Domain0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1106938" y="2757488"/>
            <a:ext cx="1506537" cy="1328737"/>
          </a:xfrm>
          <a:prstGeom prst="rect">
            <a:avLst/>
          </a:prstGeom>
          <a:noFill/>
        </p:spPr>
      </p:pic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1335538" y="3463925"/>
            <a:ext cx="10509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fr-FR">
                <a:solidFill>
                  <a:srgbClr val="000000"/>
                </a:solidFill>
              </a:rPr>
              <a:t>Domaine</a:t>
            </a:r>
            <a:endParaRPr lang="en-US"/>
          </a:p>
        </p:txBody>
      </p:sp>
      <p:sp>
        <p:nvSpPr>
          <p:cNvPr id="22" name="Line 17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V="1">
            <a:off x="1973713" y="4819650"/>
            <a:ext cx="685800" cy="9906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3" name="Line 18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H="1" flipV="1">
            <a:off x="2735713" y="4819650"/>
            <a:ext cx="685800" cy="9906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4" name="Oval 19"/>
          <p:cNvSpPr>
            <a:spLocks noChangeArrowheads="1"/>
          </p:cNvSpPr>
          <p:nvPr/>
        </p:nvSpPr>
        <p:spPr bwMode="auto">
          <a:xfrm>
            <a:off x="3123063" y="5570538"/>
            <a:ext cx="633412" cy="592137"/>
          </a:xfrm>
          <a:prstGeom prst="ellipse">
            <a:avLst/>
          </a:prstGeom>
          <a:gradFill rotWithShape="0">
            <a:gsLst>
              <a:gs pos="0">
                <a:srgbClr val="CCFFFF"/>
              </a:gs>
              <a:gs pos="100000">
                <a:srgbClr val="006666"/>
              </a:gs>
            </a:gsLst>
            <a:path path="rect">
              <a:fillToRect r="100000" b="100000"/>
            </a:path>
          </a:gradFill>
          <a:ln w="9525">
            <a:solidFill>
              <a:srgbClr val="006666"/>
            </a:solidFill>
            <a:round/>
            <a:headEnd/>
            <a:tailEnd/>
          </a:ln>
          <a:effectLst>
            <a:outerShdw dist="63500" dir="3187806" algn="ctr" rotWithShape="0">
              <a:srgbClr val="B2B2B2"/>
            </a:outerShdw>
          </a:effectLst>
        </p:spPr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fr-FR">
                <a:solidFill>
                  <a:srgbClr val="000000"/>
                </a:solidFill>
              </a:rPr>
              <a:t>OU</a:t>
            </a:r>
            <a:endParaRPr lang="en-US"/>
          </a:p>
        </p:txBody>
      </p:sp>
      <p:sp>
        <p:nvSpPr>
          <p:cNvPr id="25" name="Oval 20"/>
          <p:cNvSpPr>
            <a:spLocks noChangeArrowheads="1"/>
          </p:cNvSpPr>
          <p:nvPr/>
        </p:nvSpPr>
        <p:spPr bwMode="auto">
          <a:xfrm>
            <a:off x="1675263" y="5570538"/>
            <a:ext cx="633412" cy="592137"/>
          </a:xfrm>
          <a:prstGeom prst="ellipse">
            <a:avLst/>
          </a:prstGeom>
          <a:gradFill rotWithShape="0">
            <a:gsLst>
              <a:gs pos="0">
                <a:srgbClr val="CCFFFF"/>
              </a:gs>
              <a:gs pos="100000">
                <a:srgbClr val="006666"/>
              </a:gs>
            </a:gsLst>
            <a:path path="rect">
              <a:fillToRect r="100000" b="100000"/>
            </a:path>
          </a:gradFill>
          <a:ln w="9525">
            <a:solidFill>
              <a:srgbClr val="006666"/>
            </a:solidFill>
            <a:round/>
            <a:headEnd/>
            <a:tailEnd/>
          </a:ln>
          <a:effectLst>
            <a:outerShdw dist="63500" dir="3187806" algn="ctr" rotWithShape="0">
              <a:srgbClr val="B2B2B2"/>
            </a:outerShdw>
          </a:effectLst>
        </p:spPr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fr-FR">
                <a:solidFill>
                  <a:srgbClr val="000000"/>
                </a:solidFill>
              </a:rPr>
              <a:t>OU</a:t>
            </a:r>
            <a:endParaRPr lang="en-US"/>
          </a:p>
        </p:txBody>
      </p:sp>
      <p:sp>
        <p:nvSpPr>
          <p:cNvPr id="26" name="AutoShape 4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905450" y="4598988"/>
            <a:ext cx="679450" cy="1123950"/>
          </a:xfrm>
          <a:prstGeom prst="curvedRightArrow">
            <a:avLst>
              <a:gd name="adj1" fmla="val 33084"/>
              <a:gd name="adj2" fmla="val 66168"/>
              <a:gd name="adj3" fmla="val 33333"/>
            </a:avLst>
          </a:prstGeom>
          <a:solidFill>
            <a:srgbClr val="FF0000">
              <a:alpha val="75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27" name="Picture 23" descr="2Ou01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332488" y="4406900"/>
            <a:ext cx="750887" cy="750888"/>
          </a:xfrm>
          <a:prstGeom prst="rect">
            <a:avLst/>
          </a:prstGeom>
          <a:noFill/>
        </p:spPr>
      </p:pic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2349950" y="4597400"/>
            <a:ext cx="7175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fr-FR">
                <a:solidFill>
                  <a:srgbClr val="000000"/>
                </a:solidFill>
              </a:rPr>
              <a:t>OU</a:t>
            </a:r>
            <a:endParaRPr lang="en-US"/>
          </a:p>
        </p:txBody>
      </p:sp>
      <p:sp>
        <p:nvSpPr>
          <p:cNvPr id="29" name="AutoShape 52"/>
          <p:cNvSpPr>
            <a:spLocks noChangeArrowheads="1"/>
          </p:cNvSpPr>
          <p:nvPr/>
        </p:nvSpPr>
        <p:spPr bwMode="auto">
          <a:xfrm>
            <a:off x="2619825" y="1349375"/>
            <a:ext cx="746125" cy="276225"/>
          </a:xfrm>
          <a:prstGeom prst="roundRect">
            <a:avLst>
              <a:gd name="adj" fmla="val 1092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>
                <a:solidFill>
                  <a:srgbClr val="000000"/>
                </a:solidFill>
              </a:rPr>
              <a:t>GPO1</a:t>
            </a:r>
            <a:endParaRPr lang="en-US"/>
          </a:p>
        </p:txBody>
      </p:sp>
      <p:pic>
        <p:nvPicPr>
          <p:cNvPr id="30" name="Picture 29" descr="GroupPolicyObject01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2619825" y="1625600"/>
            <a:ext cx="1090613" cy="646113"/>
          </a:xfrm>
          <a:prstGeom prst="rect">
            <a:avLst/>
          </a:prstGeom>
          <a:noFill/>
        </p:spPr>
      </p:pic>
      <p:sp>
        <p:nvSpPr>
          <p:cNvPr id="31" name="AutoShape 53"/>
          <p:cNvSpPr>
            <a:spLocks noChangeArrowheads="1"/>
          </p:cNvSpPr>
          <p:nvPr/>
        </p:nvSpPr>
        <p:spPr bwMode="auto">
          <a:xfrm>
            <a:off x="3045275" y="2635250"/>
            <a:ext cx="746125" cy="276225"/>
          </a:xfrm>
          <a:prstGeom prst="roundRect">
            <a:avLst>
              <a:gd name="adj" fmla="val 1092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>
                <a:solidFill>
                  <a:srgbClr val="000000"/>
                </a:solidFill>
              </a:rPr>
              <a:t>GPO2</a:t>
            </a:r>
            <a:endParaRPr lang="en-US"/>
          </a:p>
        </p:txBody>
      </p:sp>
      <p:pic>
        <p:nvPicPr>
          <p:cNvPr id="32" name="Picture 54" descr="GroupPolicyObject01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3045275" y="2911475"/>
            <a:ext cx="1090613" cy="646113"/>
          </a:xfrm>
          <a:prstGeom prst="rect">
            <a:avLst/>
          </a:prstGeom>
          <a:noFill/>
        </p:spPr>
      </p:pic>
      <p:sp>
        <p:nvSpPr>
          <p:cNvPr id="33" name="AutoShape 55"/>
          <p:cNvSpPr>
            <a:spLocks noChangeArrowheads="1"/>
          </p:cNvSpPr>
          <p:nvPr/>
        </p:nvSpPr>
        <p:spPr bwMode="auto">
          <a:xfrm>
            <a:off x="3331025" y="3111500"/>
            <a:ext cx="746125" cy="276225"/>
          </a:xfrm>
          <a:prstGeom prst="roundRect">
            <a:avLst>
              <a:gd name="adj" fmla="val 1092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>
                <a:solidFill>
                  <a:srgbClr val="000000"/>
                </a:solidFill>
              </a:rPr>
              <a:t>GPO3</a:t>
            </a:r>
            <a:endParaRPr lang="en-US"/>
          </a:p>
        </p:txBody>
      </p:sp>
      <p:pic>
        <p:nvPicPr>
          <p:cNvPr id="34" name="Picture 56" descr="GroupPolicyObject01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3331025" y="3387725"/>
            <a:ext cx="1090613" cy="646113"/>
          </a:xfrm>
          <a:prstGeom prst="rect">
            <a:avLst/>
          </a:prstGeom>
          <a:noFill/>
        </p:spPr>
      </p:pic>
      <p:sp>
        <p:nvSpPr>
          <p:cNvPr id="35" name="AutoShape 57"/>
          <p:cNvSpPr>
            <a:spLocks noChangeArrowheads="1"/>
          </p:cNvSpPr>
          <p:nvPr/>
        </p:nvSpPr>
        <p:spPr bwMode="auto">
          <a:xfrm>
            <a:off x="3816800" y="4321175"/>
            <a:ext cx="746125" cy="276225"/>
          </a:xfrm>
          <a:prstGeom prst="roundRect">
            <a:avLst>
              <a:gd name="adj" fmla="val 1092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>
                <a:solidFill>
                  <a:srgbClr val="000000"/>
                </a:solidFill>
              </a:rPr>
              <a:t>GPO4</a:t>
            </a:r>
            <a:endParaRPr lang="en-US"/>
          </a:p>
        </p:txBody>
      </p:sp>
      <p:pic>
        <p:nvPicPr>
          <p:cNvPr id="36" name="Picture 58" descr="GroupPolicyObject01"/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3816800" y="4597400"/>
            <a:ext cx="1090613" cy="646113"/>
          </a:xfrm>
          <a:prstGeom prst="rect">
            <a:avLst/>
          </a:prstGeom>
          <a:noFill/>
        </p:spPr>
      </p:pic>
      <p:sp>
        <p:nvSpPr>
          <p:cNvPr id="37" name="ZoneTexte 36"/>
          <p:cNvSpPr txBox="1"/>
          <p:nvPr/>
        </p:nvSpPr>
        <p:spPr>
          <a:xfrm>
            <a:off x="4940135" y="2470068"/>
            <a:ext cx="3823855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 smtClean="0"/>
              <a:t>  Vous pouvez lier un GPO à un site, un domaine ou une OU.</a:t>
            </a:r>
          </a:p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 smtClean="0"/>
              <a:t>  Un GPO peut être associé à plusieurs conteneurs et vice-versa.</a:t>
            </a:r>
          </a:p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 smtClean="0"/>
              <a:t>  L’ordre de priorité par défaut est site, domaine puis OU</a:t>
            </a:r>
            <a:endParaRPr lang="fr-FR" sz="2200" dirty="0"/>
          </a:p>
        </p:txBody>
      </p:sp>
      <p:sp>
        <p:nvSpPr>
          <p:cNvPr id="38" name="Rectangle 37"/>
          <p:cNvSpPr/>
          <p:nvPr/>
        </p:nvSpPr>
        <p:spPr>
          <a:xfrm>
            <a:off x="3859481" y="1399795"/>
            <a:ext cx="511826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fr-FR" sz="2200" dirty="0" smtClean="0">
                <a:solidFill>
                  <a:srgbClr val="002060"/>
                </a:solidFill>
              </a:rPr>
              <a:t>Une stratégie de groupes est un objet Active Directory qui va contenir un ensemble de paramètres</a:t>
            </a:r>
            <a:endParaRPr lang="fr-FR" sz="2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10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10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8" grpId="0"/>
      <p:bldP spid="29" grpId="0" animBg="1"/>
      <p:bldP spid="31" grpId="0" animBg="1"/>
      <p:bldP spid="33" grpId="0" animBg="1"/>
      <p:bldP spid="35" grpId="0" animBg="1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546" name="Picture 2"/>
          <p:cNvPicPr>
            <a:picLocks noChangeAspect="1" noChangeArrowheads="1"/>
          </p:cNvPicPr>
          <p:nvPr/>
        </p:nvPicPr>
        <p:blipFill>
          <a:blip r:embed="rId2"/>
          <a:srcRect l="26103" t="24188" r="26710" b="23539"/>
          <a:stretch>
            <a:fillRect/>
          </a:stretch>
        </p:blipFill>
        <p:spPr bwMode="auto">
          <a:xfrm>
            <a:off x="154421" y="1971293"/>
            <a:ext cx="5320109" cy="3313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600" b="1" dirty="0" smtClean="0">
                <a:solidFill>
                  <a:srgbClr val="C00000"/>
                </a:solidFill>
              </a:rPr>
              <a:t>Introduction </a:t>
            </a:r>
            <a:r>
              <a:rPr lang="fr-FR" sz="2600" b="1" dirty="0">
                <a:solidFill>
                  <a:srgbClr val="C00000"/>
                </a:solidFill>
              </a:rPr>
              <a:t>aux stratégies de groupe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6" name="AutoShape 24"/>
          <p:cNvSpPr>
            <a:spLocks noChangeArrowheads="1"/>
          </p:cNvSpPr>
          <p:nvPr/>
        </p:nvSpPr>
        <p:spPr bwMode="auto">
          <a:xfrm>
            <a:off x="1187567" y="1523010"/>
            <a:ext cx="2889664" cy="422275"/>
          </a:xfrm>
          <a:prstGeom prst="roundRect">
            <a:avLst>
              <a:gd name="adj" fmla="val 416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200" dirty="0" smtClean="0">
                <a:solidFill>
                  <a:srgbClr val="000000"/>
                </a:solidFill>
              </a:rPr>
              <a:t>Stratégie </a:t>
            </a:r>
            <a:r>
              <a:rPr lang="fr-FR" sz="2200" dirty="0">
                <a:solidFill>
                  <a:srgbClr val="000000"/>
                </a:solidFill>
              </a:rPr>
              <a:t>de groupe</a:t>
            </a:r>
            <a:endParaRPr lang="en-US" sz="2200" dirty="0"/>
          </a:p>
        </p:txBody>
      </p:sp>
      <p:sp>
        <p:nvSpPr>
          <p:cNvPr id="7" name="AutoShape 24"/>
          <p:cNvSpPr>
            <a:spLocks noChangeArrowheads="1"/>
          </p:cNvSpPr>
          <p:nvPr/>
        </p:nvSpPr>
        <p:spPr bwMode="auto">
          <a:xfrm>
            <a:off x="3370649" y="5321135"/>
            <a:ext cx="2092036" cy="422275"/>
          </a:xfrm>
          <a:prstGeom prst="roundRect">
            <a:avLst>
              <a:gd name="adj" fmla="val 416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200" dirty="0" smtClean="0">
                <a:solidFill>
                  <a:srgbClr val="000000"/>
                </a:solidFill>
              </a:rPr>
              <a:t>Ordinateurs</a:t>
            </a:r>
            <a:endParaRPr lang="en-US" sz="2200" dirty="0"/>
          </a:p>
        </p:txBody>
      </p:sp>
      <p:sp>
        <p:nvSpPr>
          <p:cNvPr id="8" name="AutoShape 24"/>
          <p:cNvSpPr>
            <a:spLocks noChangeArrowheads="1"/>
          </p:cNvSpPr>
          <p:nvPr/>
        </p:nvSpPr>
        <p:spPr bwMode="auto">
          <a:xfrm>
            <a:off x="19830" y="5307280"/>
            <a:ext cx="1939636" cy="422275"/>
          </a:xfrm>
          <a:prstGeom prst="roundRect">
            <a:avLst>
              <a:gd name="adj" fmla="val 416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200" dirty="0" smtClean="0">
                <a:solidFill>
                  <a:srgbClr val="000000"/>
                </a:solidFill>
              </a:rPr>
              <a:t>Utilisateurs</a:t>
            </a:r>
            <a:endParaRPr lang="en-US" sz="2200" dirty="0"/>
          </a:p>
        </p:txBody>
      </p:sp>
      <p:pic>
        <p:nvPicPr>
          <p:cNvPr id="492547" name="Picture 3"/>
          <p:cNvPicPr>
            <a:picLocks noChangeAspect="1" noChangeArrowheads="1"/>
          </p:cNvPicPr>
          <p:nvPr/>
        </p:nvPicPr>
        <p:blipFill>
          <a:blip r:embed="rId3"/>
          <a:srcRect l="54580" t="18019" r="19408" b="18182"/>
          <a:stretch>
            <a:fillRect/>
          </a:stretch>
        </p:blipFill>
        <p:spPr bwMode="auto">
          <a:xfrm>
            <a:off x="5533901" y="1995043"/>
            <a:ext cx="3384468" cy="4667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5486400" y="1265161"/>
            <a:ext cx="3657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les types de paramètres que vous pouvez configurer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600" b="1" dirty="0" smtClean="0">
                <a:solidFill>
                  <a:srgbClr val="C00000"/>
                </a:solidFill>
              </a:rPr>
              <a:t>Introduction </a:t>
            </a:r>
            <a:r>
              <a:rPr lang="fr-FR" sz="2600" b="1" dirty="0">
                <a:solidFill>
                  <a:srgbClr val="C00000"/>
                </a:solidFill>
              </a:rPr>
              <a:t>aux stratégies de groupe</a:t>
            </a:r>
            <a:endParaRPr lang="en-US" sz="2600" b="1" dirty="0">
              <a:solidFill>
                <a:srgbClr val="C00000"/>
              </a:solidFill>
            </a:endParaRPr>
          </a:p>
        </p:txBody>
      </p:sp>
      <p:pic>
        <p:nvPicPr>
          <p:cNvPr id="493570" name="Picture 2"/>
          <p:cNvPicPr>
            <a:picLocks noChangeAspect="1" noChangeArrowheads="1"/>
          </p:cNvPicPr>
          <p:nvPr/>
        </p:nvPicPr>
        <p:blipFill>
          <a:blip r:embed="rId2"/>
          <a:srcRect l="19349" t="24351" r="46789" b="16721"/>
          <a:stretch>
            <a:fillRect/>
          </a:stretch>
        </p:blipFill>
        <p:spPr bwMode="auto">
          <a:xfrm>
            <a:off x="0" y="1045028"/>
            <a:ext cx="4405745" cy="454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190000" y="5605161"/>
            <a:ext cx="4073236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fr-FR" sz="2200" dirty="0" smtClean="0"/>
              <a:t>Déployer, mettre à niveau, gérer et désinstaller des logiciels à partir un emplacement centralisée </a:t>
            </a:r>
            <a:endParaRPr lang="fr-FR" sz="2200" dirty="0"/>
          </a:p>
        </p:txBody>
      </p:sp>
      <p:sp>
        <p:nvSpPr>
          <p:cNvPr id="10" name="ZoneTexte 9"/>
          <p:cNvSpPr txBox="1"/>
          <p:nvPr/>
        </p:nvSpPr>
        <p:spPr>
          <a:xfrm>
            <a:off x="4439392" y="5340200"/>
            <a:ext cx="4704608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fr-FR" sz="2200" dirty="0" smtClean="0"/>
              <a:t>Appliquer des scripts qui seront automatiquement exécutés au démarrage, à l’arrêt ou lorsqu’un utilisateur ouvre ou met fin à une session</a:t>
            </a:r>
            <a:endParaRPr lang="fr-FR" sz="2200" dirty="0"/>
          </a:p>
        </p:txBody>
      </p:sp>
      <p:pic>
        <p:nvPicPr>
          <p:cNvPr id="493571" name="Picture 3"/>
          <p:cNvPicPr>
            <a:picLocks noChangeAspect="1" noChangeArrowheads="1"/>
          </p:cNvPicPr>
          <p:nvPr/>
        </p:nvPicPr>
        <p:blipFill>
          <a:blip r:embed="rId3"/>
          <a:srcRect l="19058" t="24229" r="45802" b="17492"/>
          <a:stretch>
            <a:fillRect/>
          </a:stretch>
        </p:blipFill>
        <p:spPr bwMode="auto">
          <a:xfrm>
            <a:off x="4572000" y="1045028"/>
            <a:ext cx="4572000" cy="4263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600" b="1" dirty="0" smtClean="0">
                <a:solidFill>
                  <a:srgbClr val="C00000"/>
                </a:solidFill>
              </a:rPr>
              <a:t>Introduction </a:t>
            </a:r>
            <a:r>
              <a:rPr lang="fr-FR" sz="2600" b="1" dirty="0">
                <a:solidFill>
                  <a:srgbClr val="C00000"/>
                </a:solidFill>
              </a:rPr>
              <a:t>aux stratégies de groupe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5047013" y="5470829"/>
            <a:ext cx="4096987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fr-FR" sz="2200" dirty="0" smtClean="0"/>
              <a:t>Contrôler le comportement et la présentation du bureau</a:t>
            </a:r>
            <a:endParaRPr lang="fr-FR" sz="2200" dirty="0"/>
          </a:p>
        </p:txBody>
      </p:sp>
      <p:pic>
        <p:nvPicPr>
          <p:cNvPr id="494594" name="Picture 2"/>
          <p:cNvPicPr>
            <a:picLocks noChangeAspect="1" noChangeArrowheads="1"/>
          </p:cNvPicPr>
          <p:nvPr/>
        </p:nvPicPr>
        <p:blipFill>
          <a:blip r:embed="rId2"/>
          <a:srcRect l="18984" t="23701" r="51901" b="18020"/>
          <a:stretch>
            <a:fillRect/>
          </a:stretch>
        </p:blipFill>
        <p:spPr bwMode="auto">
          <a:xfrm>
            <a:off x="275422" y="1151896"/>
            <a:ext cx="3667179" cy="4263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4595" name="Picture 3"/>
          <p:cNvPicPr>
            <a:picLocks noChangeAspect="1" noChangeArrowheads="1"/>
          </p:cNvPicPr>
          <p:nvPr/>
        </p:nvPicPr>
        <p:blipFill>
          <a:blip r:embed="rId3"/>
          <a:srcRect l="19151" t="24066" r="50730" b="17817"/>
          <a:stretch>
            <a:fillRect/>
          </a:stretch>
        </p:blipFill>
        <p:spPr bwMode="auto">
          <a:xfrm>
            <a:off x="5005991" y="1104404"/>
            <a:ext cx="3793634" cy="4251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283667" y="5516351"/>
            <a:ext cx="4276460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fr-FR" sz="2200" dirty="0" smtClean="0"/>
              <a:t>Protéger les ressources résidentes dans un ordinateur ou sur le réseau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9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9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2"/>
          <p:cNvSpPr>
            <a:spLocks noChangeArrowheads="1"/>
          </p:cNvSpPr>
          <p:nvPr/>
        </p:nvSpPr>
        <p:spPr bwMode="auto">
          <a:xfrm>
            <a:off x="195943" y="2250395"/>
            <a:ext cx="4376057" cy="3642405"/>
          </a:xfrm>
          <a:prstGeom prst="roundRect">
            <a:avLst>
              <a:gd name="adj" fmla="val 4167"/>
            </a:avLst>
          </a:prstGeom>
          <a:solidFill>
            <a:srgbClr val="EEEFD7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b"/>
          <a:lstStyle/>
          <a:p>
            <a:pPr marL="231775" indent="-231775" algn="l">
              <a:buSzPct val="80000"/>
              <a:buFontTx/>
              <a:buBlip>
                <a:blip r:embed="rId11"/>
              </a:buBlip>
            </a:pPr>
            <a:r>
              <a:rPr lang="fr-FR" sz="2400" dirty="0" smtClean="0">
                <a:solidFill>
                  <a:srgbClr val="000000"/>
                </a:solidFill>
              </a:rPr>
              <a:t>Contient les paramètres de la stratégie de groupe</a:t>
            </a:r>
            <a:endParaRPr lang="en-US" sz="2400" dirty="0" smtClean="0"/>
          </a:p>
          <a:p>
            <a:pPr marL="231775" indent="-231775" algn="l">
              <a:buSzPct val="80000"/>
              <a:buFontTx/>
              <a:buBlip>
                <a:blip r:embed="rId11"/>
              </a:buBlip>
            </a:pPr>
            <a:r>
              <a:rPr lang="fr-FR" sz="2400" dirty="0" smtClean="0">
                <a:solidFill>
                  <a:srgbClr val="000000"/>
                </a:solidFill>
              </a:rPr>
              <a:t>Enregistre le contenu à deux emplacements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6" y="228600"/>
            <a:ext cx="8766628" cy="758952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Composants d'un objet Stratégie de groupe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57752" name="AutoShape 24"/>
          <p:cNvSpPr>
            <a:spLocks noChangeArrowheads="1"/>
          </p:cNvSpPr>
          <p:nvPr/>
        </p:nvSpPr>
        <p:spPr bwMode="auto">
          <a:xfrm>
            <a:off x="333831" y="2057400"/>
            <a:ext cx="4064000" cy="42227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400" dirty="0">
                <a:solidFill>
                  <a:srgbClr val="000000"/>
                </a:solidFill>
              </a:rPr>
              <a:t>Objet Stratégie de </a:t>
            </a:r>
            <a:r>
              <a:rPr lang="fr-FR" sz="2400" dirty="0" smtClean="0">
                <a:solidFill>
                  <a:srgbClr val="000000"/>
                </a:solidFill>
              </a:rPr>
              <a:t>groupe GPO</a:t>
            </a:r>
            <a:endParaRPr lang="en-US" sz="2400" dirty="0"/>
          </a:p>
        </p:txBody>
      </p:sp>
      <p:pic>
        <p:nvPicPr>
          <p:cNvPr id="457753" name="Picture 25" descr="GroupPolicyObject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2"/>
          <a:srcRect/>
          <a:stretch>
            <a:fillRect/>
          </a:stretch>
        </p:blipFill>
        <p:spPr bwMode="auto">
          <a:xfrm>
            <a:off x="890588" y="2659063"/>
            <a:ext cx="2724150" cy="1614487"/>
          </a:xfrm>
          <a:prstGeom prst="rect">
            <a:avLst/>
          </a:prstGeom>
          <a:noFill/>
        </p:spPr>
      </p:pic>
      <p:sp>
        <p:nvSpPr>
          <p:cNvPr id="457748" name="AutoShape 20"/>
          <p:cNvSpPr>
            <a:spLocks noChangeArrowheads="1"/>
          </p:cNvSpPr>
          <p:nvPr/>
        </p:nvSpPr>
        <p:spPr bwMode="auto">
          <a:xfrm>
            <a:off x="4862286" y="4064000"/>
            <a:ext cx="4257437" cy="24860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b"/>
          <a:lstStyle/>
          <a:p>
            <a:pPr marL="231775" indent="-231775" algn="l">
              <a:lnSpc>
                <a:spcPct val="85000"/>
              </a:lnSpc>
              <a:buSzPct val="80000"/>
              <a:buFontTx/>
              <a:buBlip>
                <a:blip r:embed="rId11"/>
              </a:buBlip>
            </a:pPr>
            <a:r>
              <a:rPr lang="fr-FR" sz="2200" dirty="0">
                <a:solidFill>
                  <a:srgbClr val="000000"/>
                </a:solidFill>
              </a:rPr>
              <a:t>Enregistré dans le dossier </a:t>
            </a:r>
            <a:r>
              <a:rPr lang="fr-FR" sz="2200" dirty="0" smtClean="0">
                <a:solidFill>
                  <a:srgbClr val="000000"/>
                </a:solidFill>
              </a:rPr>
              <a:t>partagé </a:t>
            </a:r>
            <a:r>
              <a:rPr lang="fr-FR" sz="2200" dirty="0">
                <a:solidFill>
                  <a:srgbClr val="000000"/>
                </a:solidFill>
              </a:rPr>
              <a:t>SYSVOL</a:t>
            </a:r>
            <a:endParaRPr lang="en-US" sz="2200" dirty="0"/>
          </a:p>
          <a:p>
            <a:pPr marL="231775" indent="-231775" algn="l">
              <a:lnSpc>
                <a:spcPct val="85000"/>
              </a:lnSpc>
              <a:buSzPct val="80000"/>
              <a:buFontTx/>
              <a:buBlip>
                <a:blip r:embed="rId11"/>
              </a:buBlip>
            </a:pPr>
            <a:r>
              <a:rPr lang="fr-FR" sz="2200" dirty="0">
                <a:solidFill>
                  <a:srgbClr val="000000"/>
                </a:solidFill>
              </a:rPr>
              <a:t>Fournit les paramètres de </a:t>
            </a:r>
            <a:r>
              <a:rPr lang="fr-FR" sz="2200" dirty="0" smtClean="0">
                <a:solidFill>
                  <a:srgbClr val="000000"/>
                </a:solidFill>
              </a:rPr>
              <a:t>la </a:t>
            </a:r>
            <a:r>
              <a:rPr lang="fr-FR" sz="2200" dirty="0">
                <a:solidFill>
                  <a:srgbClr val="000000"/>
                </a:solidFill>
              </a:rPr>
              <a:t>stratégie de groupe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457749" name="AutoShape 21"/>
          <p:cNvSpPr>
            <a:spLocks noChangeArrowheads="1"/>
          </p:cNvSpPr>
          <p:nvPr/>
        </p:nvSpPr>
        <p:spPr bwMode="auto">
          <a:xfrm>
            <a:off x="4738255" y="3810000"/>
            <a:ext cx="4405745" cy="42227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400" dirty="0">
                <a:solidFill>
                  <a:srgbClr val="000000"/>
                </a:solidFill>
              </a:rPr>
              <a:t>Modèle de stratégie de </a:t>
            </a:r>
            <a:r>
              <a:rPr lang="fr-FR" sz="2400" dirty="0" smtClean="0">
                <a:solidFill>
                  <a:srgbClr val="000000"/>
                </a:solidFill>
              </a:rPr>
              <a:t>groupe GPT</a:t>
            </a:r>
            <a:endParaRPr lang="en-US" sz="2400" dirty="0"/>
          </a:p>
        </p:txBody>
      </p:sp>
      <p:sp>
        <p:nvSpPr>
          <p:cNvPr id="457750" name="AutoShape 22"/>
          <p:cNvSpPr>
            <a:spLocks noChangeArrowheads="1"/>
          </p:cNvSpPr>
          <p:nvPr/>
        </p:nvSpPr>
        <p:spPr bwMode="auto">
          <a:xfrm>
            <a:off x="4876799" y="1430338"/>
            <a:ext cx="4254035" cy="228123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b"/>
          <a:lstStyle/>
          <a:p>
            <a:pPr marL="231775" indent="-231775" algn="l">
              <a:lnSpc>
                <a:spcPct val="85000"/>
              </a:lnSpc>
              <a:buSzPct val="80000"/>
              <a:buFontTx/>
              <a:buBlip>
                <a:blip r:embed="rId11"/>
              </a:buBlip>
            </a:pPr>
            <a:r>
              <a:rPr lang="fr-FR" sz="2200" dirty="0">
                <a:solidFill>
                  <a:srgbClr val="000000"/>
                </a:solidFill>
              </a:rPr>
              <a:t>Enregistré dans Active Directory</a:t>
            </a:r>
            <a:endParaRPr lang="en-US" sz="2200" dirty="0"/>
          </a:p>
          <a:p>
            <a:pPr marL="231775" indent="-231775" algn="l">
              <a:lnSpc>
                <a:spcPct val="85000"/>
              </a:lnSpc>
              <a:buSzPct val="80000"/>
              <a:buFontTx/>
              <a:buBlip>
                <a:blip r:embed="rId11"/>
              </a:buBlip>
            </a:pPr>
            <a:r>
              <a:rPr lang="fr-FR" sz="2200" dirty="0">
                <a:solidFill>
                  <a:srgbClr val="000000"/>
                </a:solidFill>
              </a:rPr>
              <a:t>Fournit des informations de version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457751" name="AutoShape 23"/>
          <p:cNvSpPr>
            <a:spLocks noChangeArrowheads="1"/>
          </p:cNvSpPr>
          <p:nvPr/>
        </p:nvSpPr>
        <p:spPr bwMode="auto">
          <a:xfrm>
            <a:off x="4631377" y="1212850"/>
            <a:ext cx="4512623" cy="42227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400" dirty="0">
                <a:solidFill>
                  <a:srgbClr val="000000"/>
                </a:solidFill>
              </a:rPr>
              <a:t>Conteneur Stratégie de </a:t>
            </a:r>
            <a:r>
              <a:rPr lang="fr-FR" sz="2400" dirty="0" smtClean="0">
                <a:solidFill>
                  <a:srgbClr val="000000"/>
                </a:solidFill>
              </a:rPr>
              <a:t>groupe GPC</a:t>
            </a:r>
            <a:endParaRPr lang="en-US" sz="2400" dirty="0"/>
          </a:p>
        </p:txBody>
      </p:sp>
      <p:grpSp>
        <p:nvGrpSpPr>
          <p:cNvPr id="457764" name="Group 26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6436848" y="1738313"/>
            <a:ext cx="1622425" cy="1046162"/>
            <a:chOff x="3689" y="1165"/>
            <a:chExt cx="1022" cy="659"/>
          </a:xfrm>
        </p:grpSpPr>
        <p:pic>
          <p:nvPicPr>
            <p:cNvPr id="457755" name="Picture 27" descr="Server01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689" y="1165"/>
              <a:ext cx="495" cy="645"/>
            </a:xfrm>
            <a:prstGeom prst="rect">
              <a:avLst/>
            </a:prstGeom>
            <a:noFill/>
          </p:spPr>
        </p:pic>
        <p:pic>
          <p:nvPicPr>
            <p:cNvPr id="457756" name="Picture 28" descr="ActiveDirectory01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3900" y="1442"/>
              <a:ext cx="583" cy="382"/>
            </a:xfrm>
            <a:prstGeom prst="rect">
              <a:avLst/>
            </a:prstGeom>
            <a:noFill/>
          </p:spPr>
        </p:pic>
        <p:pic>
          <p:nvPicPr>
            <p:cNvPr id="457757" name="Picture 29" descr="GroupPolicyObject01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4162" y="1189"/>
              <a:ext cx="549" cy="325"/>
            </a:xfrm>
            <a:prstGeom prst="rect">
              <a:avLst/>
            </a:prstGeom>
            <a:noFill/>
          </p:spPr>
        </p:pic>
      </p:grpSp>
      <p:pic>
        <p:nvPicPr>
          <p:cNvPr id="457758" name="Picture 30" descr="Server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368585" y="4303713"/>
            <a:ext cx="785813" cy="1023937"/>
          </a:xfrm>
          <a:prstGeom prst="rect">
            <a:avLst/>
          </a:prstGeom>
          <a:noFill/>
        </p:spPr>
      </p:pic>
      <p:pic>
        <p:nvPicPr>
          <p:cNvPr id="457759" name="Picture 31" descr="Folder_Open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790860" y="4535488"/>
            <a:ext cx="966788" cy="863600"/>
          </a:xfrm>
          <a:prstGeom prst="rect">
            <a:avLst/>
          </a:prstGeom>
          <a:noFill/>
        </p:spPr>
      </p:pic>
      <p:pic>
        <p:nvPicPr>
          <p:cNvPr id="457760" name="Picture 32" descr="GroupPolicyObject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119473" y="4341813"/>
            <a:ext cx="871537" cy="515937"/>
          </a:xfrm>
          <a:prstGeom prst="rect">
            <a:avLst/>
          </a:prstGeom>
          <a:noFill/>
        </p:spPr>
      </p:pic>
      <p:sp>
        <p:nvSpPr>
          <p:cNvPr id="17" name="Flèche droite 16"/>
          <p:cNvSpPr/>
          <p:nvPr/>
        </p:nvSpPr>
        <p:spPr>
          <a:xfrm>
            <a:off x="4484914" y="2699657"/>
            <a:ext cx="493486" cy="537029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droite 17"/>
          <p:cNvSpPr/>
          <p:nvPr/>
        </p:nvSpPr>
        <p:spPr>
          <a:xfrm>
            <a:off x="4477660" y="4637279"/>
            <a:ext cx="493486" cy="537029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5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5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45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45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5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5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5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5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5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5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57752" grpId="0" animBg="1"/>
      <p:bldP spid="457748" grpId="0" animBg="1"/>
      <p:bldP spid="457749" grpId="0" animBg="1"/>
      <p:bldP spid="457750" grpId="0" animBg="1"/>
      <p:bldP spid="457751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600" b="1" dirty="0">
                <a:solidFill>
                  <a:srgbClr val="C00000"/>
                </a:solidFill>
              </a:rPr>
              <a:t>Pourquoi spécifier un contrôleur de domaine pour la gestion des objets Stratégie de groupe ?</a:t>
            </a:r>
            <a:endParaRPr lang="en-US" sz="2600" b="1" dirty="0">
              <a:solidFill>
                <a:srgbClr val="C00000"/>
              </a:solidFill>
            </a:endParaRPr>
          </a:p>
        </p:txBody>
      </p:sp>
      <p:graphicFrame>
        <p:nvGraphicFramePr>
          <p:cNvPr id="463890" name="Object 18"/>
          <p:cNvGraphicFramePr>
            <a:graphicFrameLocks noChangeAspect="1"/>
          </p:cNvGraphicFramePr>
          <p:nvPr>
            <p:ph sz="quarter" idx="1"/>
          </p:nvPr>
        </p:nvGraphicFramePr>
        <p:xfrm>
          <a:off x="1814286" y="1706563"/>
          <a:ext cx="4640489" cy="5153647"/>
        </p:xfrm>
        <a:graphic>
          <a:graphicData uri="http://schemas.openxmlformats.org/presentationml/2006/ole">
            <p:oleObj spid="_x0000_s463890" name="Imagem de bitmap" r:id="rId4" imgW="4315427" imgH="4791744" progId="PBrush">
              <p:embed/>
            </p:oleObj>
          </a:graphicData>
        </a:graphic>
      </p:graphicFrame>
      <p:sp>
        <p:nvSpPr>
          <p:cNvPr id="463880" name="Rectangle 8"/>
          <p:cNvSpPr>
            <a:spLocks noChangeArrowheads="1"/>
          </p:cNvSpPr>
          <p:nvPr/>
        </p:nvSpPr>
        <p:spPr bwMode="auto">
          <a:xfrm>
            <a:off x="246743" y="1338263"/>
            <a:ext cx="8723086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342900" indent="-342900" algn="l">
              <a:lnSpc>
                <a:spcPct val="90000"/>
              </a:lnSpc>
              <a:spcBef>
                <a:spcPct val="10000"/>
              </a:spcBef>
              <a:spcAft>
                <a:spcPct val="70000"/>
              </a:spcAft>
              <a:buSzPct val="80000"/>
            </a:pPr>
            <a:r>
              <a:rPr lang="fr-FR" sz="2200" dirty="0">
                <a:solidFill>
                  <a:srgbClr val="000000"/>
                </a:solidFill>
              </a:rPr>
              <a:t>Choisir un contrôleur de domaine pour éviter des conflits de réplication</a:t>
            </a:r>
            <a:endParaRPr lang="en-US" sz="2200" dirty="0"/>
          </a:p>
        </p:txBody>
      </p:sp>
      <p:sp>
        <p:nvSpPr>
          <p:cNvPr id="463882" name="Rectangle 10"/>
          <p:cNvSpPr>
            <a:spLocks noChangeArrowheads="1"/>
          </p:cNvSpPr>
          <p:nvPr/>
        </p:nvSpPr>
        <p:spPr bwMode="auto">
          <a:xfrm>
            <a:off x="1886857" y="3406994"/>
            <a:ext cx="4564743" cy="1420812"/>
          </a:xfrm>
          <a:prstGeom prst="rect">
            <a:avLst/>
          </a:prstGeom>
          <a:noFill/>
          <a:ln w="28575" algn="ctr">
            <a:solidFill>
              <a:srgbClr val="CC0000"/>
            </a:solidFill>
            <a:miter lim="800000"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463884" name="Line 12"/>
          <p:cNvSpPr>
            <a:spLocks noChangeShapeType="1"/>
          </p:cNvSpPr>
          <p:nvPr/>
        </p:nvSpPr>
        <p:spPr bwMode="auto">
          <a:xfrm>
            <a:off x="6473645" y="4120687"/>
            <a:ext cx="795289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463885" name="AutoShape 13"/>
          <p:cNvSpPr>
            <a:spLocks noChangeArrowheads="1"/>
          </p:cNvSpPr>
          <p:nvPr/>
        </p:nvSpPr>
        <p:spPr bwMode="auto">
          <a:xfrm>
            <a:off x="6806424" y="3841969"/>
            <a:ext cx="1547001" cy="4667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>
                <a:solidFill>
                  <a:srgbClr val="000000"/>
                </a:solidFill>
              </a:rPr>
              <a:t>Options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Définition des filtres WMI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01885" y="1301890"/>
            <a:ext cx="876399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fr-FR" sz="2200" dirty="0" smtClean="0"/>
              <a:t> Un filtre WMI est lié à un objet Stratégie de groupe. </a:t>
            </a:r>
          </a:p>
          <a:p>
            <a:pPr algn="l">
              <a:buFont typeface="Wingdings" pitchFamily="2" charset="2"/>
              <a:buChar char="q"/>
            </a:pPr>
            <a:r>
              <a:rPr lang="fr-FR" sz="2200" dirty="0" smtClean="0"/>
              <a:t> Il se compose d’une ou de plusieurs requêtes évaluées par Active Directory en fonction de l’espace de stockage WMI de l’ordinateur de destination. </a:t>
            </a:r>
          </a:p>
          <a:p>
            <a:pPr algn="l">
              <a:buFont typeface="Wingdings" pitchFamily="2" charset="2"/>
              <a:buChar char="q"/>
            </a:pPr>
            <a:r>
              <a:rPr lang="fr-FR" sz="2200" dirty="0" smtClean="0"/>
              <a:t> Si la valeur totale des requêtes est faux (false), Active Directory n’applique pas l’objet Stratégie de groupe.</a:t>
            </a:r>
          </a:p>
          <a:p>
            <a:pPr algn="l">
              <a:buFont typeface="Wingdings" pitchFamily="2" charset="2"/>
              <a:buChar char="q"/>
            </a:pPr>
            <a:r>
              <a:rPr lang="fr-FR" sz="2200" dirty="0" smtClean="0"/>
              <a:t> Si toutes les requêtes sont vraies (</a:t>
            </a:r>
            <a:r>
              <a:rPr lang="fr-FR" sz="2200" dirty="0" err="1" smtClean="0"/>
              <a:t>true</a:t>
            </a:r>
            <a:r>
              <a:rPr lang="fr-FR" sz="2200" dirty="0" smtClean="0"/>
              <a:t>), Active Directory applique l’objet Stratégie de groupe. </a:t>
            </a:r>
          </a:p>
          <a:p>
            <a:pPr algn="l">
              <a:buFont typeface="Wingdings" pitchFamily="2" charset="2"/>
              <a:buChar char="q"/>
            </a:pPr>
            <a:r>
              <a:rPr lang="fr-FR" sz="2200" dirty="0" smtClean="0"/>
              <a:t> Chaque objet Stratégie de groupe ne peut comporter qu’un seul filtre WMI.</a:t>
            </a:r>
          </a:p>
          <a:p>
            <a:pPr algn="l">
              <a:buFont typeface="Wingdings" pitchFamily="2" charset="2"/>
              <a:buChar char="q"/>
            </a:pPr>
            <a:r>
              <a:rPr lang="fr-FR" sz="2200" dirty="0" smtClean="0"/>
              <a:t> Vous pouvez lier un même filtre WMI à plusieurs objets Stratégie de groupe.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4068" y="4625877"/>
            <a:ext cx="176348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>
                <a:solidFill>
                  <a:srgbClr val="C00000"/>
                </a:solidFill>
              </a:rPr>
              <a:t>Exemple de</a:t>
            </a:r>
          </a:p>
          <a:p>
            <a:r>
              <a:rPr lang="fr-FR" sz="2200" dirty="0" smtClean="0">
                <a:solidFill>
                  <a:srgbClr val="C00000"/>
                </a:solidFill>
              </a:rPr>
              <a:t>requête WQL</a:t>
            </a:r>
            <a:endParaRPr lang="fr-FR" sz="2200" dirty="0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953492" y="4641893"/>
            <a:ext cx="6976752" cy="15511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200" dirty="0" smtClean="0"/>
              <a:t>Select * FROM Win32LogicalDisk WHERE (Name = "C:" OR Name = </a:t>
            </a:r>
            <a:r>
              <a:rPr lang="fr-FR" sz="2200" dirty="0" smtClean="0"/>
              <a:t>"D:" OR Name  </a:t>
            </a:r>
            <a:r>
              <a:rPr lang="en-US" sz="2200" dirty="0" smtClean="0"/>
              <a:t>= "E:") AND </a:t>
            </a:r>
            <a:r>
              <a:rPr lang="en-US" sz="2200" dirty="0" err="1" smtClean="0"/>
              <a:t>DriveType</a:t>
            </a:r>
            <a:r>
              <a:rPr lang="en-US" sz="2200" dirty="0" smtClean="0"/>
              <a:t> = 3 AND </a:t>
            </a:r>
            <a:r>
              <a:rPr lang="en-US" sz="2200" dirty="0" err="1" smtClean="0"/>
              <a:t>FreeSpace</a:t>
            </a:r>
            <a:r>
              <a:rPr lang="en-US" sz="2200" dirty="0" smtClean="0"/>
              <a:t> &gt; 10485760 AND </a:t>
            </a:r>
            <a:r>
              <a:rPr lang="fr-FR" sz="2200" dirty="0" err="1" smtClean="0"/>
              <a:t>FileSystem</a:t>
            </a:r>
            <a:r>
              <a:rPr lang="fr-FR" sz="2200" dirty="0" smtClean="0"/>
              <a:t> = "NTFS" 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Définition des filtres WMI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17838" name="AutoShape 46"/>
          <p:cNvSpPr>
            <a:spLocks noChangeArrowheads="1"/>
          </p:cNvSpPr>
          <p:nvPr/>
        </p:nvSpPr>
        <p:spPr bwMode="auto">
          <a:xfrm>
            <a:off x="1533525" y="1441450"/>
            <a:ext cx="1636713" cy="1854200"/>
          </a:xfrm>
          <a:prstGeom prst="roundRect">
            <a:avLst>
              <a:gd name="adj" fmla="val 4167"/>
            </a:avLst>
          </a:prstGeom>
          <a:solidFill>
            <a:srgbClr val="F0F1E1"/>
          </a:solidFill>
          <a:ln w="9525">
            <a:noFill/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 algn="l"/>
            <a:endParaRPr lang="fr-FR"/>
          </a:p>
        </p:txBody>
      </p:sp>
      <p:sp>
        <p:nvSpPr>
          <p:cNvPr id="417839" name="AutoShape 47"/>
          <p:cNvSpPr>
            <a:spLocks noChangeArrowheads="1"/>
          </p:cNvSpPr>
          <p:nvPr/>
        </p:nvSpPr>
        <p:spPr bwMode="auto">
          <a:xfrm>
            <a:off x="568325" y="4243388"/>
            <a:ext cx="7889875" cy="1852612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D5D69C"/>
              </a:gs>
              <a:gs pos="100000">
                <a:srgbClr val="EEEFD7"/>
              </a:gs>
            </a:gsLst>
            <a:lin ang="2700000" scaled="1"/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endParaRPr lang="fr-FR" b="0">
              <a:latin typeface="Arial" charset="0"/>
            </a:endParaRPr>
          </a:p>
        </p:txBody>
      </p:sp>
      <p:sp>
        <p:nvSpPr>
          <p:cNvPr id="417840" name="Line 48"/>
          <p:cNvSpPr>
            <a:spLocks noChangeShapeType="1"/>
          </p:cNvSpPr>
          <p:nvPr/>
        </p:nvSpPr>
        <p:spPr bwMode="auto">
          <a:xfrm flipV="1">
            <a:off x="1639888" y="3181350"/>
            <a:ext cx="2932112" cy="1792288"/>
          </a:xfrm>
          <a:prstGeom prst="line">
            <a:avLst/>
          </a:prstGeom>
          <a:noFill/>
          <a:ln w="57150">
            <a:solidFill>
              <a:srgbClr val="33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7841" name="Line 49"/>
          <p:cNvSpPr>
            <a:spLocks noChangeShapeType="1"/>
          </p:cNvSpPr>
          <p:nvPr/>
        </p:nvSpPr>
        <p:spPr bwMode="auto">
          <a:xfrm flipV="1">
            <a:off x="3671888" y="3181350"/>
            <a:ext cx="900112" cy="20542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7842" name="Line 50"/>
          <p:cNvSpPr>
            <a:spLocks noChangeShapeType="1"/>
          </p:cNvSpPr>
          <p:nvPr/>
        </p:nvSpPr>
        <p:spPr bwMode="auto">
          <a:xfrm flipH="1" flipV="1">
            <a:off x="4572000" y="3181350"/>
            <a:ext cx="855663" cy="2068513"/>
          </a:xfrm>
          <a:prstGeom prst="line">
            <a:avLst/>
          </a:prstGeom>
          <a:noFill/>
          <a:ln w="57150">
            <a:solidFill>
              <a:srgbClr val="33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7843" name="Line 51"/>
          <p:cNvSpPr>
            <a:spLocks noChangeShapeType="1"/>
          </p:cNvSpPr>
          <p:nvPr/>
        </p:nvSpPr>
        <p:spPr bwMode="auto">
          <a:xfrm flipH="1" flipV="1">
            <a:off x="4572000" y="3181350"/>
            <a:ext cx="2801938" cy="2009775"/>
          </a:xfrm>
          <a:prstGeom prst="line">
            <a:avLst/>
          </a:prstGeom>
          <a:noFill/>
          <a:ln w="57150">
            <a:solidFill>
              <a:srgbClr val="33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7844" name="Oval 52"/>
          <p:cNvSpPr>
            <a:spLocks noChangeArrowheads="1"/>
          </p:cNvSpPr>
          <p:nvPr/>
        </p:nvSpPr>
        <p:spPr bwMode="auto">
          <a:xfrm rot="-1929138">
            <a:off x="4102100" y="2795588"/>
            <a:ext cx="1179513" cy="606425"/>
          </a:xfrm>
          <a:prstGeom prst="ellipse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17845" name="Picture 53" descr="Link_Link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-929586">
            <a:off x="5087938" y="2928938"/>
            <a:ext cx="835025" cy="414337"/>
          </a:xfrm>
          <a:prstGeom prst="rect">
            <a:avLst/>
          </a:prstGeom>
          <a:noFill/>
        </p:spPr>
      </p:pic>
      <p:pic>
        <p:nvPicPr>
          <p:cNvPr id="417846" name="Picture 54" descr="Filter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-1769641">
            <a:off x="3795713" y="2619375"/>
            <a:ext cx="1468437" cy="947738"/>
          </a:xfrm>
          <a:prstGeom prst="rect">
            <a:avLst/>
          </a:prstGeom>
          <a:noFill/>
        </p:spPr>
      </p:pic>
      <p:pic>
        <p:nvPicPr>
          <p:cNvPr id="417847" name="Picture 55" descr="GroupPolicyObject0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59463" y="2624138"/>
            <a:ext cx="1579562" cy="935037"/>
          </a:xfrm>
          <a:prstGeom prst="rect">
            <a:avLst/>
          </a:prstGeom>
          <a:noFill/>
        </p:spPr>
      </p:pic>
      <p:sp>
        <p:nvSpPr>
          <p:cNvPr id="417848" name="AutoShape 56"/>
          <p:cNvSpPr>
            <a:spLocks noChangeArrowheads="1"/>
          </p:cNvSpPr>
          <p:nvPr/>
        </p:nvSpPr>
        <p:spPr bwMode="auto">
          <a:xfrm>
            <a:off x="3450550" y="1338263"/>
            <a:ext cx="2340655" cy="974131"/>
          </a:xfrm>
          <a:prstGeom prst="roundRect">
            <a:avLst>
              <a:gd name="adj" fmla="val 3449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en-US" sz="2200" dirty="0"/>
              <a:t> </a:t>
            </a:r>
            <a:r>
              <a:rPr lang="fr-FR" sz="2200" dirty="0">
                <a:solidFill>
                  <a:srgbClr val="000000"/>
                </a:solidFill>
              </a:rPr>
              <a:t>500Mo d'espace disque libre ?</a:t>
            </a:r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417849" name="AutoShape 57"/>
          <p:cNvSpPr>
            <a:spLocks noChangeArrowheads="1"/>
          </p:cNvSpPr>
          <p:nvPr/>
        </p:nvSpPr>
        <p:spPr bwMode="auto">
          <a:xfrm>
            <a:off x="3381829" y="1957388"/>
            <a:ext cx="2656113" cy="45243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600" dirty="0">
                <a:solidFill>
                  <a:srgbClr val="000000"/>
                </a:solidFill>
              </a:rPr>
              <a:t>Filtre WMI</a:t>
            </a:r>
            <a:endParaRPr lang="en-US" sz="2600" dirty="0"/>
          </a:p>
        </p:txBody>
      </p:sp>
      <p:pic>
        <p:nvPicPr>
          <p:cNvPr id="417850" name="Picture 58" descr="Computer_Workstation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66813" y="4370388"/>
            <a:ext cx="1027112" cy="1284287"/>
          </a:xfrm>
          <a:prstGeom prst="rect">
            <a:avLst/>
          </a:prstGeom>
          <a:noFill/>
        </p:spPr>
      </p:pic>
      <p:pic>
        <p:nvPicPr>
          <p:cNvPr id="417851" name="Picture 59" descr="UserWithDesktopComputer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784350" y="1598613"/>
            <a:ext cx="1184275" cy="1376362"/>
          </a:xfrm>
          <a:prstGeom prst="rect">
            <a:avLst/>
          </a:prstGeom>
          <a:noFill/>
        </p:spPr>
      </p:pic>
      <p:sp>
        <p:nvSpPr>
          <p:cNvPr id="417852" name="Rectangle 60"/>
          <p:cNvSpPr>
            <a:spLocks noChangeArrowheads="1"/>
          </p:cNvSpPr>
          <p:nvPr/>
        </p:nvSpPr>
        <p:spPr bwMode="auto">
          <a:xfrm>
            <a:off x="1521054" y="2924175"/>
            <a:ext cx="168026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2000" dirty="0">
                <a:solidFill>
                  <a:srgbClr val="000000"/>
                </a:solidFill>
              </a:rPr>
              <a:t>Administrateur</a:t>
            </a:r>
            <a:endParaRPr lang="en-US" sz="2000" dirty="0"/>
          </a:p>
        </p:txBody>
      </p:sp>
      <p:pic>
        <p:nvPicPr>
          <p:cNvPr id="417853" name="Picture 61" descr="Computer_Workstation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52775" y="4370388"/>
            <a:ext cx="1027113" cy="1284287"/>
          </a:xfrm>
          <a:prstGeom prst="rect">
            <a:avLst/>
          </a:prstGeom>
          <a:noFill/>
        </p:spPr>
      </p:pic>
      <p:pic>
        <p:nvPicPr>
          <p:cNvPr id="417854" name="Picture 62" descr="Computer_Workstation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21263" y="4370388"/>
            <a:ext cx="1027112" cy="1284287"/>
          </a:xfrm>
          <a:prstGeom prst="rect">
            <a:avLst/>
          </a:prstGeom>
          <a:noFill/>
        </p:spPr>
      </p:pic>
      <p:pic>
        <p:nvPicPr>
          <p:cNvPr id="417855" name="Picture 63" descr="Computer_Workstation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70700" y="4370388"/>
            <a:ext cx="1027113" cy="1284287"/>
          </a:xfrm>
          <a:prstGeom prst="rect">
            <a:avLst/>
          </a:prstGeom>
          <a:noFill/>
        </p:spPr>
      </p:pic>
      <p:sp>
        <p:nvSpPr>
          <p:cNvPr id="417856" name="AutoShape 64"/>
          <p:cNvSpPr>
            <a:spLocks noChangeArrowheads="1"/>
          </p:cNvSpPr>
          <p:nvPr/>
        </p:nvSpPr>
        <p:spPr bwMode="auto">
          <a:xfrm>
            <a:off x="290287" y="1308099"/>
            <a:ext cx="1698852" cy="956129"/>
          </a:xfrm>
          <a:prstGeom prst="wedgeEllipseCallout">
            <a:avLst>
              <a:gd name="adj1" fmla="val 54741"/>
              <a:gd name="adj2" fmla="val 45051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miter lim="800000"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0" tIns="0" rIns="0" bIns="0" anchor="ctr"/>
          <a:lstStyle/>
          <a:p>
            <a:r>
              <a:rPr lang="fr-FR" sz="2000" dirty="0">
                <a:solidFill>
                  <a:srgbClr val="000000"/>
                </a:solidFill>
              </a:rPr>
              <a:t>Installer</a:t>
            </a:r>
            <a:br>
              <a:rPr lang="fr-FR" sz="2000" dirty="0">
                <a:solidFill>
                  <a:srgbClr val="000000"/>
                </a:solidFill>
              </a:rPr>
            </a:br>
            <a:r>
              <a:rPr lang="fr-FR" sz="2000" dirty="0" err="1" smtClean="0">
                <a:solidFill>
                  <a:srgbClr val="000000"/>
                </a:solidFill>
              </a:rPr>
              <a:t>MSOffice</a:t>
            </a:r>
            <a:r>
              <a:rPr lang="fr-FR" sz="2000" dirty="0" smtClean="0">
                <a:solidFill>
                  <a:srgbClr val="000000"/>
                </a:solidFill>
              </a:rPr>
              <a:t> </a:t>
            </a:r>
            <a:r>
              <a:rPr lang="fr-FR" sz="2000" dirty="0">
                <a:solidFill>
                  <a:srgbClr val="000000"/>
                </a:solidFill>
              </a:rPr>
              <a:t>?</a:t>
            </a:r>
            <a:endParaRPr lang="en-US" sz="2000" dirty="0"/>
          </a:p>
        </p:txBody>
      </p:sp>
      <p:sp>
        <p:nvSpPr>
          <p:cNvPr id="417857" name="Rectangle 65"/>
          <p:cNvSpPr>
            <a:spLocks noChangeArrowheads="1"/>
          </p:cNvSpPr>
          <p:nvPr/>
        </p:nvSpPr>
        <p:spPr bwMode="auto">
          <a:xfrm>
            <a:off x="1206500" y="5643563"/>
            <a:ext cx="761747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2200" dirty="0">
                <a:solidFill>
                  <a:srgbClr val="000000"/>
                </a:solidFill>
              </a:rPr>
              <a:t>10Go</a:t>
            </a:r>
            <a:endParaRPr lang="en-US" sz="2200" dirty="0"/>
          </a:p>
        </p:txBody>
      </p:sp>
      <p:sp>
        <p:nvSpPr>
          <p:cNvPr id="417858" name="Rectangle 66"/>
          <p:cNvSpPr>
            <a:spLocks noChangeArrowheads="1"/>
          </p:cNvSpPr>
          <p:nvPr/>
        </p:nvSpPr>
        <p:spPr bwMode="auto">
          <a:xfrm>
            <a:off x="3162300" y="5651500"/>
            <a:ext cx="902811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2200">
                <a:solidFill>
                  <a:srgbClr val="000000"/>
                </a:solidFill>
              </a:rPr>
              <a:t>400Mo</a:t>
            </a:r>
            <a:endParaRPr lang="en-US" sz="2200"/>
          </a:p>
        </p:txBody>
      </p:sp>
      <p:sp>
        <p:nvSpPr>
          <p:cNvPr id="417859" name="Rectangle 67"/>
          <p:cNvSpPr>
            <a:spLocks noChangeArrowheads="1"/>
          </p:cNvSpPr>
          <p:nvPr/>
        </p:nvSpPr>
        <p:spPr bwMode="auto">
          <a:xfrm>
            <a:off x="5033963" y="5643563"/>
            <a:ext cx="761747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2200">
                <a:solidFill>
                  <a:srgbClr val="000000"/>
                </a:solidFill>
              </a:rPr>
              <a:t>35Go</a:t>
            </a:r>
            <a:endParaRPr lang="en-US" sz="2200"/>
          </a:p>
        </p:txBody>
      </p:sp>
      <p:sp>
        <p:nvSpPr>
          <p:cNvPr id="417860" name="Rectangle 68"/>
          <p:cNvSpPr>
            <a:spLocks noChangeArrowheads="1"/>
          </p:cNvSpPr>
          <p:nvPr/>
        </p:nvSpPr>
        <p:spPr bwMode="auto">
          <a:xfrm>
            <a:off x="6864350" y="5665788"/>
            <a:ext cx="902811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2200">
                <a:solidFill>
                  <a:srgbClr val="000000"/>
                </a:solidFill>
              </a:rPr>
              <a:t>750Mo</a:t>
            </a:r>
            <a:endParaRPr lang="en-US" sz="2200"/>
          </a:p>
        </p:txBody>
      </p:sp>
      <p:pic>
        <p:nvPicPr>
          <p:cNvPr id="417861" name="Picture 69" descr="puzzle_rgb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143750" y="2195513"/>
            <a:ext cx="795338" cy="725487"/>
          </a:xfrm>
          <a:prstGeom prst="rect">
            <a:avLst/>
          </a:prstGeom>
          <a:noFill/>
        </p:spPr>
      </p:pic>
      <p:sp>
        <p:nvSpPr>
          <p:cNvPr id="417862" name="Rectangle 70"/>
          <p:cNvSpPr>
            <a:spLocks noChangeArrowheads="1"/>
          </p:cNvSpPr>
          <p:nvPr/>
        </p:nvSpPr>
        <p:spPr bwMode="auto">
          <a:xfrm>
            <a:off x="5656947" y="3499079"/>
            <a:ext cx="1934029" cy="7694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2200" dirty="0">
                <a:solidFill>
                  <a:srgbClr val="000000"/>
                </a:solidFill>
              </a:rPr>
              <a:t>Objet Stratégie</a:t>
            </a:r>
            <a:br>
              <a:rPr lang="fr-FR" sz="2200" dirty="0">
                <a:solidFill>
                  <a:srgbClr val="000000"/>
                </a:solidFill>
              </a:rPr>
            </a:br>
            <a:r>
              <a:rPr lang="fr-FR" sz="2200" dirty="0">
                <a:solidFill>
                  <a:srgbClr val="000000"/>
                </a:solidFill>
              </a:rPr>
              <a:t>de groupe</a:t>
            </a:r>
            <a:endParaRPr lang="en-US" sz="2200" dirty="0"/>
          </a:p>
        </p:txBody>
      </p:sp>
      <p:pic>
        <p:nvPicPr>
          <p:cNvPr id="417863" name="Picture 71" descr="Validate_CheckMark0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995488" y="5641975"/>
            <a:ext cx="333375" cy="315913"/>
          </a:xfrm>
          <a:prstGeom prst="rect">
            <a:avLst/>
          </a:prstGeom>
          <a:noFill/>
        </p:spPr>
      </p:pic>
      <p:pic>
        <p:nvPicPr>
          <p:cNvPr id="417864" name="Picture 72" descr="Validate_CheckMark0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845175" y="5641975"/>
            <a:ext cx="333375" cy="315913"/>
          </a:xfrm>
          <a:prstGeom prst="rect">
            <a:avLst/>
          </a:prstGeom>
          <a:noFill/>
        </p:spPr>
      </p:pic>
      <p:pic>
        <p:nvPicPr>
          <p:cNvPr id="417865" name="Picture 73" descr="Validate_CheckMark0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796213" y="5641975"/>
            <a:ext cx="333375" cy="315913"/>
          </a:xfrm>
          <a:prstGeom prst="rect">
            <a:avLst/>
          </a:prstGeom>
          <a:noFill/>
        </p:spPr>
      </p:pic>
      <p:pic>
        <p:nvPicPr>
          <p:cNvPr id="417866" name="Picture 74" descr="Validate_XMark0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62413" y="5641975"/>
            <a:ext cx="338137" cy="4111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1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1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1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417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417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1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17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41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417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1000"/>
                                        <p:tgtEl>
                                          <p:spTgt spid="41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1000"/>
                                        <p:tgtEl>
                                          <p:spTgt spid="41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1000"/>
                                        <p:tgtEl>
                                          <p:spTgt spid="41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1000"/>
                                        <p:tgtEl>
                                          <p:spTgt spid="41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41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1000"/>
                                        <p:tgtEl>
                                          <p:spTgt spid="417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1000"/>
                                        <p:tgtEl>
                                          <p:spTgt spid="41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1000"/>
                                        <p:tgtEl>
                                          <p:spTgt spid="417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1000"/>
                                        <p:tgtEl>
                                          <p:spTgt spid="41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1000"/>
                                        <p:tgtEl>
                                          <p:spTgt spid="417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1000"/>
                                        <p:tgtEl>
                                          <p:spTgt spid="41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1000"/>
                                        <p:tgtEl>
                                          <p:spTgt spid="41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1000"/>
                                        <p:tgtEl>
                                          <p:spTgt spid="41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1000"/>
                                        <p:tgtEl>
                                          <p:spTgt spid="417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1000"/>
                                        <p:tgtEl>
                                          <p:spTgt spid="41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1000"/>
                                        <p:tgtEl>
                                          <p:spTgt spid="41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1000"/>
                                        <p:tgtEl>
                                          <p:spTgt spid="41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1000"/>
                                        <p:tgtEl>
                                          <p:spTgt spid="41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1000"/>
                                        <p:tgtEl>
                                          <p:spTgt spid="41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838" grpId="0" animBg="1"/>
      <p:bldP spid="417839" grpId="0" animBg="1"/>
      <p:bldP spid="417840" grpId="0" animBg="1"/>
      <p:bldP spid="417841" grpId="0" animBg="1"/>
      <p:bldP spid="417842" grpId="0" animBg="1"/>
      <p:bldP spid="417843" grpId="0" animBg="1"/>
      <p:bldP spid="417848" grpId="0" animBg="1"/>
      <p:bldP spid="417849" grpId="0" animBg="1"/>
      <p:bldP spid="417852" grpId="0"/>
      <p:bldP spid="417856" grpId="0" animBg="1"/>
      <p:bldP spid="417857" grpId="0"/>
      <p:bldP spid="417858" grpId="0"/>
      <p:bldP spid="417859" grpId="0"/>
      <p:bldP spid="417860" grpId="0"/>
      <p:bldP spid="4178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32463"/>
            <a:ext cx="8723085" cy="684213"/>
          </a:xfrm>
        </p:spPr>
        <p:txBody>
          <a:bodyPr>
            <a:noAutofit/>
          </a:bodyPr>
          <a:lstStyle/>
          <a:p>
            <a:r>
              <a:rPr lang="fr-FR" sz="2600" b="1" dirty="0" smtClean="0">
                <a:solidFill>
                  <a:srgbClr val="000000"/>
                </a:solidFill>
              </a:rPr>
              <a:t>2. Configuration </a:t>
            </a:r>
            <a:r>
              <a:rPr lang="fr-FR" sz="2600" b="1" dirty="0">
                <a:solidFill>
                  <a:srgbClr val="000000"/>
                </a:solidFill>
              </a:rPr>
              <a:t>des fréquences d'actualisation et des paramètres de stratégie de groupe</a:t>
            </a:r>
            <a:endParaRPr lang="en-US" sz="2600" b="1" dirty="0">
              <a:solidFill>
                <a:srgbClr val="000000"/>
              </a:solidFill>
            </a:endParaRPr>
          </a:p>
        </p:txBody>
      </p:sp>
      <p:sp>
        <p:nvSpPr>
          <p:cNvPr id="3706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03200" y="1933440"/>
            <a:ext cx="8752114" cy="391581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À quel moment la stratégie de groupe est-elle </a:t>
            </a:r>
            <a:br>
              <a:rPr lang="fr-FR" dirty="0">
                <a:solidFill>
                  <a:srgbClr val="C00000"/>
                </a:solidFill>
              </a:rPr>
            </a:br>
            <a:r>
              <a:rPr lang="fr-FR" dirty="0">
                <a:solidFill>
                  <a:srgbClr val="C00000"/>
                </a:solidFill>
              </a:rPr>
              <a:t>appliquée ?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fr-FR" dirty="0" smtClean="0">
                <a:solidFill>
                  <a:srgbClr val="C00000"/>
                </a:solidFill>
              </a:rPr>
              <a:t>Les </a:t>
            </a:r>
            <a:r>
              <a:rPr lang="fr-FR" dirty="0">
                <a:solidFill>
                  <a:srgbClr val="C00000"/>
                </a:solidFill>
              </a:rPr>
              <a:t>fréquences d'actualisation des composants de la stratégie de groupe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fr-FR" dirty="0" smtClean="0">
                <a:solidFill>
                  <a:srgbClr val="C00000"/>
                </a:solidFill>
              </a:rPr>
              <a:t>Les </a:t>
            </a:r>
            <a:r>
              <a:rPr lang="fr-FR" dirty="0">
                <a:solidFill>
                  <a:srgbClr val="C00000"/>
                </a:solidFill>
              </a:rPr>
              <a:t>fréquences d'actualisation </a:t>
            </a:r>
            <a:r>
              <a:rPr lang="fr-FR" dirty="0" smtClean="0">
                <a:solidFill>
                  <a:srgbClr val="C00000"/>
                </a:solidFill>
              </a:rPr>
              <a:t>des paramètres de la stratégie de groupe</a:t>
            </a:r>
          </a:p>
          <a:p>
            <a:r>
              <a:rPr lang="fr-FR" dirty="0" smtClean="0">
                <a:solidFill>
                  <a:srgbClr val="C00000"/>
                </a:solidFill>
              </a:rPr>
              <a:t>Comment actualiser les paramètres de stratégie de groupe sur l'ordinateur d'un utilisateur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600" b="1" dirty="0">
                <a:solidFill>
                  <a:srgbClr val="C00000"/>
                </a:solidFill>
              </a:rPr>
              <a:t>À quel moment la stratégie de groupe est-elle </a:t>
            </a:r>
            <a:br>
              <a:rPr lang="fr-FR" sz="2600" b="1" dirty="0">
                <a:solidFill>
                  <a:srgbClr val="C00000"/>
                </a:solidFill>
              </a:rPr>
            </a:br>
            <a:r>
              <a:rPr lang="fr-FR" sz="2600" b="1" dirty="0">
                <a:solidFill>
                  <a:srgbClr val="C00000"/>
                </a:solidFill>
              </a:rPr>
              <a:t>appliquée ?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376766" name="AutoShape 958"/>
          <p:cNvSpPr>
            <a:spLocks noChangeArrowheads="1"/>
          </p:cNvSpPr>
          <p:nvPr/>
        </p:nvSpPr>
        <p:spPr bwMode="auto">
          <a:xfrm>
            <a:off x="188686" y="1364114"/>
            <a:ext cx="8766627" cy="2324100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pPr algn="l">
              <a:lnSpc>
                <a:spcPct val="85000"/>
              </a:lnSpc>
            </a:pPr>
            <a:r>
              <a:rPr lang="fr-FR" sz="2400">
                <a:solidFill>
                  <a:srgbClr val="000000"/>
                </a:solidFill>
              </a:rPr>
              <a:t>Démarrage de </a:t>
            </a:r>
            <a:br>
              <a:rPr lang="fr-FR" sz="2400">
                <a:solidFill>
                  <a:srgbClr val="000000"/>
                </a:solidFill>
              </a:rPr>
            </a:br>
            <a:r>
              <a:rPr lang="fr-FR" sz="2400">
                <a:solidFill>
                  <a:srgbClr val="000000"/>
                </a:solidFill>
              </a:rPr>
              <a:t>l'ordinateur</a:t>
            </a:r>
            <a:endParaRPr lang="en-US" sz="2400"/>
          </a:p>
        </p:txBody>
      </p:sp>
      <p:sp>
        <p:nvSpPr>
          <p:cNvPr id="376768" name="Line 960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2371725" y="1855788"/>
            <a:ext cx="1208088" cy="398462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376769" name="AutoShape 961"/>
          <p:cNvSpPr>
            <a:spLocks noChangeArrowheads="1"/>
          </p:cNvSpPr>
          <p:nvPr/>
        </p:nvSpPr>
        <p:spPr bwMode="auto">
          <a:xfrm>
            <a:off x="3971924" y="1617663"/>
            <a:ext cx="3444875" cy="3730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sz="2200">
                <a:solidFill>
                  <a:srgbClr val="000000"/>
                </a:solidFill>
              </a:rPr>
              <a:t>Intervalle d'actualisation</a:t>
            </a:r>
            <a:endParaRPr lang="en-US" sz="2200"/>
          </a:p>
        </p:txBody>
      </p:sp>
      <p:pic>
        <p:nvPicPr>
          <p:cNvPr id="376770" name="Picture 962" descr="Clock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387725" y="1425575"/>
            <a:ext cx="676275" cy="725488"/>
          </a:xfrm>
          <a:prstGeom prst="rect">
            <a:avLst/>
          </a:prstGeom>
          <a:noFill/>
        </p:spPr>
      </p:pic>
      <p:sp>
        <p:nvSpPr>
          <p:cNvPr id="376771" name="Line 96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319338" y="2859088"/>
            <a:ext cx="1171575" cy="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pic>
        <p:nvPicPr>
          <p:cNvPr id="376773" name="Picture 965" descr="script-2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6"/>
          <a:srcRect/>
          <a:stretch>
            <a:fillRect/>
          </a:stretch>
        </p:blipFill>
        <p:spPr bwMode="auto">
          <a:xfrm>
            <a:off x="3332163" y="2324100"/>
            <a:ext cx="831850" cy="1165225"/>
          </a:xfrm>
          <a:prstGeom prst="rect">
            <a:avLst/>
          </a:prstGeom>
          <a:noFill/>
        </p:spPr>
      </p:pic>
      <p:pic>
        <p:nvPicPr>
          <p:cNvPr id="376774" name="Picture 966" descr="Computer_DesktopComputerSansKeyboard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603625" y="2822575"/>
            <a:ext cx="504825" cy="614363"/>
          </a:xfrm>
          <a:prstGeom prst="rect">
            <a:avLst/>
          </a:prstGeom>
          <a:noFill/>
        </p:spPr>
      </p:pic>
      <p:pic>
        <p:nvPicPr>
          <p:cNvPr id="376775" name="Picture 967" descr="Computer_DesktopComputer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8"/>
          <a:srcRect/>
          <a:stretch>
            <a:fillRect/>
          </a:stretch>
        </p:blipFill>
        <p:spPr bwMode="auto">
          <a:xfrm>
            <a:off x="1476375" y="1930400"/>
            <a:ext cx="1416050" cy="1587500"/>
          </a:xfrm>
          <a:prstGeom prst="rect">
            <a:avLst/>
          </a:prstGeom>
          <a:noFill/>
        </p:spPr>
      </p:pic>
      <p:sp>
        <p:nvSpPr>
          <p:cNvPr id="376777" name="AutoShape 969"/>
          <p:cNvSpPr>
            <a:spLocks noChangeArrowheads="1"/>
          </p:cNvSpPr>
          <p:nvPr/>
        </p:nvSpPr>
        <p:spPr bwMode="auto">
          <a:xfrm>
            <a:off x="200562" y="3747838"/>
            <a:ext cx="8766627" cy="2557462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pPr algn="l"/>
            <a:r>
              <a:rPr lang="fr-FR" sz="2400">
                <a:solidFill>
                  <a:srgbClr val="000000"/>
                </a:solidFill>
              </a:rPr>
              <a:t>Ouverture de session de l'utilisateur</a:t>
            </a:r>
            <a:endParaRPr lang="en-US" sz="2400"/>
          </a:p>
        </p:txBody>
      </p:sp>
      <p:sp>
        <p:nvSpPr>
          <p:cNvPr id="376779" name="Line 971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V="1">
            <a:off x="2371725" y="4642981"/>
            <a:ext cx="1208088" cy="407987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376780" name="AutoShape 972"/>
          <p:cNvSpPr>
            <a:spLocks noChangeArrowheads="1"/>
          </p:cNvSpPr>
          <p:nvPr/>
        </p:nvSpPr>
        <p:spPr bwMode="auto">
          <a:xfrm>
            <a:off x="3971925" y="4485818"/>
            <a:ext cx="3169104" cy="381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sz="2200">
                <a:solidFill>
                  <a:srgbClr val="000000"/>
                </a:solidFill>
              </a:rPr>
              <a:t>Intervalle d'actualisation</a:t>
            </a:r>
            <a:endParaRPr lang="en-US" sz="2200"/>
          </a:p>
        </p:txBody>
      </p:sp>
      <p:pic>
        <p:nvPicPr>
          <p:cNvPr id="376781" name="Picture 973" descr="Clock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3387725" y="4244518"/>
            <a:ext cx="676275" cy="742950"/>
          </a:xfrm>
          <a:prstGeom prst="rect">
            <a:avLst/>
          </a:prstGeom>
          <a:noFill/>
        </p:spPr>
      </p:pic>
      <p:sp>
        <p:nvSpPr>
          <p:cNvPr id="376782" name="Line 974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319338" y="5558968"/>
            <a:ext cx="1171575" cy="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pic>
        <p:nvPicPr>
          <p:cNvPr id="376783" name="Picture 975" descr="script-2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6"/>
          <a:srcRect/>
          <a:stretch>
            <a:fillRect/>
          </a:stretch>
        </p:blipFill>
        <p:spPr bwMode="auto">
          <a:xfrm>
            <a:off x="3332163" y="5011281"/>
            <a:ext cx="831850" cy="1192212"/>
          </a:xfrm>
          <a:prstGeom prst="rect">
            <a:avLst/>
          </a:prstGeom>
          <a:noFill/>
        </p:spPr>
      </p:pic>
      <p:pic>
        <p:nvPicPr>
          <p:cNvPr id="376784" name="Picture 976" descr="UserWithDesktopComputer01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0"/>
          <a:srcRect/>
          <a:stretch>
            <a:fillRect/>
          </a:stretch>
        </p:blipFill>
        <p:spPr bwMode="auto">
          <a:xfrm>
            <a:off x="1390650" y="4346118"/>
            <a:ext cx="1589088" cy="1889125"/>
          </a:xfrm>
          <a:prstGeom prst="rect">
            <a:avLst/>
          </a:prstGeom>
          <a:noFill/>
        </p:spPr>
      </p:pic>
      <p:pic>
        <p:nvPicPr>
          <p:cNvPr id="376785" name="Picture 977" descr="User_UserHalfE01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3673475" y="5457368"/>
            <a:ext cx="419100" cy="676275"/>
          </a:xfrm>
          <a:prstGeom prst="rect">
            <a:avLst/>
          </a:prstGeom>
          <a:noFill/>
        </p:spPr>
      </p:pic>
      <p:sp>
        <p:nvSpPr>
          <p:cNvPr id="21" name="Rectangle 20"/>
          <p:cNvSpPr/>
          <p:nvPr/>
        </p:nvSpPr>
        <p:spPr>
          <a:xfrm>
            <a:off x="4221678" y="2213211"/>
            <a:ext cx="4572000" cy="14957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22"/>
              </a:buBlip>
            </a:pPr>
            <a:r>
              <a:rPr lang="fr-FR" sz="2400" dirty="0" smtClean="0">
                <a:solidFill>
                  <a:srgbClr val="000000"/>
                </a:solidFill>
              </a:rPr>
              <a:t>Application des paramètres de l'ordinateur</a:t>
            </a:r>
            <a:endParaRPr lang="en-US" sz="2400" dirty="0" smtClean="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22"/>
              </a:buBlip>
            </a:pPr>
            <a:r>
              <a:rPr lang="fr-FR" sz="2400" dirty="0" smtClean="0">
                <a:solidFill>
                  <a:srgbClr val="000000"/>
                </a:solidFill>
              </a:rPr>
              <a:t>Exécution des scripts de démarrage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04805" y="4897034"/>
            <a:ext cx="4572000" cy="14957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22"/>
              </a:buBlip>
            </a:pPr>
            <a:r>
              <a:rPr lang="fr-FR" sz="2400" dirty="0" smtClean="0">
                <a:solidFill>
                  <a:srgbClr val="000000"/>
                </a:solidFill>
              </a:rPr>
              <a:t>Application des paramètres de l'utilisateur</a:t>
            </a:r>
            <a:endParaRPr lang="en-US" sz="2400" dirty="0" smtClean="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22"/>
              </a:buBlip>
            </a:pPr>
            <a:r>
              <a:rPr lang="fr-FR" sz="2400" dirty="0" smtClean="0">
                <a:solidFill>
                  <a:srgbClr val="000000"/>
                </a:solidFill>
              </a:rPr>
              <a:t>Exécution des scripts d'ouverture de session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76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37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37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37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1000"/>
                                        <p:tgtEl>
                                          <p:spTgt spid="37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1000"/>
                                        <p:tgtEl>
                                          <p:spTgt spid="376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37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1000"/>
                                        <p:tgtEl>
                                          <p:spTgt spid="376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1000"/>
                                        <p:tgtEl>
                                          <p:spTgt spid="37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1000"/>
                                        <p:tgtEl>
                                          <p:spTgt spid="37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1000"/>
                                        <p:tgtEl>
                                          <p:spTgt spid="376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1000"/>
                                        <p:tgtEl>
                                          <p:spTgt spid="37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1000"/>
                                        <p:tgtEl>
                                          <p:spTgt spid="37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1000"/>
                                        <p:tgtEl>
                                          <p:spTgt spid="37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1000"/>
                                        <p:tgtEl>
                                          <p:spTgt spid="37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1000"/>
                                        <p:tgtEl>
                                          <p:spTgt spid="376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766" grpId="0" animBg="1"/>
      <p:bldP spid="376768" grpId="0" animBg="1"/>
      <p:bldP spid="376769" grpId="0" animBg="1"/>
      <p:bldP spid="376771" grpId="0" animBg="1"/>
      <p:bldP spid="376777" grpId="0" animBg="1"/>
      <p:bldP spid="376779" grpId="0" animBg="1"/>
      <p:bldP spid="376780" grpId="0" animBg="1"/>
      <p:bldP spid="37678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600" b="1" dirty="0" smtClean="0">
                <a:solidFill>
                  <a:srgbClr val="C00000"/>
                </a:solidFill>
              </a:rPr>
              <a:t>Fréquence d’actualisation des paramètres de stratégie de groupe</a:t>
            </a:r>
            <a:endParaRPr lang="fr-FR" sz="2600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2180191"/>
            <a:ext cx="8503920" cy="2377295"/>
          </a:xfrm>
        </p:spPr>
        <p:txBody>
          <a:bodyPr/>
          <a:lstStyle/>
          <a:p>
            <a:r>
              <a:rPr lang="fr-FR" dirty="0" smtClean="0"/>
              <a:t>Les stratégies sont rafraîchies toutes les cinq minutes sur les contrôleurs de domaine </a:t>
            </a:r>
          </a:p>
          <a:p>
            <a:r>
              <a:rPr lang="fr-FR" dirty="0" smtClean="0"/>
              <a:t>Les stratégies sont rafraîchies toutes les 90 minutes (plus une valeur aléatoire en 0 et 30 minutes) pour tout les ordinateurs membres du domaine.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85057" y="368074"/>
            <a:ext cx="8784772" cy="684212"/>
          </a:xfrm>
        </p:spPr>
        <p:txBody>
          <a:bodyPr>
            <a:normAutofit fontScale="90000"/>
          </a:bodyPr>
          <a:lstStyle/>
          <a:p>
            <a:r>
              <a:rPr lang="fr-FR" sz="2500" b="1" dirty="0">
                <a:solidFill>
                  <a:srgbClr val="C00000"/>
                </a:solidFill>
              </a:rPr>
              <a:t>Comment actualiser les paramètres de stratégie de groupe sur l'ordinateur d'un </a:t>
            </a:r>
            <a:r>
              <a:rPr lang="fr-FR" sz="2500" b="1" dirty="0" smtClean="0">
                <a:solidFill>
                  <a:srgbClr val="C00000"/>
                </a:solidFill>
              </a:rPr>
              <a:t>utilisateur</a:t>
            </a:r>
            <a:endParaRPr lang="en-US" sz="25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7713" y="2185296"/>
            <a:ext cx="869405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fr-FR" sz="2400" b="0" dirty="0"/>
              <a:t>Vous pouvez actualiser un objet Stratégie de groupe à l’aide de la </a:t>
            </a:r>
            <a:r>
              <a:rPr lang="fr-FR" sz="2400" b="0" dirty="0" smtClean="0"/>
              <a:t>commande </a:t>
            </a:r>
            <a:r>
              <a:rPr lang="fr-FR" sz="2400" dirty="0" err="1" smtClean="0"/>
              <a:t>gpupdate</a:t>
            </a:r>
            <a:r>
              <a:rPr lang="fr-FR" sz="2400" b="0" dirty="0" smtClean="0"/>
              <a:t>.</a:t>
            </a:r>
          </a:p>
          <a:p>
            <a:pPr algn="l"/>
            <a:endParaRPr lang="fr-FR" sz="2400" b="0" dirty="0"/>
          </a:p>
          <a:p>
            <a:r>
              <a:rPr lang="fr-FR" sz="2400" dirty="0" err="1" smtClean="0"/>
              <a:t>gpupdate</a:t>
            </a:r>
            <a:r>
              <a:rPr lang="fr-FR" sz="2400" dirty="0" smtClean="0"/>
              <a:t> </a:t>
            </a:r>
            <a:r>
              <a:rPr lang="fr-FR" sz="2400" dirty="0"/>
              <a:t>[/</a:t>
            </a:r>
            <a:r>
              <a:rPr lang="fr-FR" sz="2400" dirty="0" err="1"/>
              <a:t>target</a:t>
            </a:r>
            <a:r>
              <a:rPr lang="fr-FR" sz="2400" dirty="0"/>
              <a:t>:{</a:t>
            </a:r>
            <a:r>
              <a:rPr lang="fr-FR" sz="2400" i="1" dirty="0" err="1"/>
              <a:t>ordinateur|utilisateur</a:t>
            </a:r>
            <a:r>
              <a:rPr lang="fr-FR" sz="2400" i="1" dirty="0"/>
              <a:t>}] [/force] </a:t>
            </a:r>
            <a:r>
              <a:rPr lang="fr-FR" sz="2400" dirty="0" smtClean="0"/>
              <a:t>[</a:t>
            </a:r>
            <a:r>
              <a:rPr lang="fr-FR" sz="2400" i="1" dirty="0" smtClean="0"/>
              <a:t>/</a:t>
            </a:r>
            <a:r>
              <a:rPr lang="fr-FR" sz="2400" i="1" dirty="0" err="1"/>
              <a:t>wait:valeur</a:t>
            </a:r>
            <a:r>
              <a:rPr lang="fr-FR" sz="2400" i="1" dirty="0"/>
              <a:t>] [/</a:t>
            </a:r>
            <a:r>
              <a:rPr lang="fr-FR" sz="2400" i="1" dirty="0" err="1"/>
              <a:t>logoff</a:t>
            </a:r>
            <a:r>
              <a:rPr lang="fr-FR" sz="2400" i="1" dirty="0"/>
              <a:t>] [/boot] 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37378" y="323603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0000"/>
                </a:solidFill>
              </a:rPr>
              <a:t>3. Gestion </a:t>
            </a:r>
            <a:r>
              <a:rPr lang="fr-FR" b="1" dirty="0">
                <a:solidFill>
                  <a:srgbClr val="000000"/>
                </a:solidFill>
              </a:rPr>
              <a:t>des objets Stratégie de groupe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24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87238" y="1962477"/>
            <a:ext cx="8503920" cy="2290209"/>
          </a:xfrm>
        </p:spPr>
        <p:txBody>
          <a:bodyPr/>
          <a:lstStyle/>
          <a:p>
            <a:r>
              <a:rPr lang="fr-FR" dirty="0">
                <a:solidFill>
                  <a:srgbClr val="C00000"/>
                </a:solidFill>
              </a:rPr>
              <a:t>Définition d'une opération de copie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r>
              <a:rPr lang="fr-FR" dirty="0">
                <a:solidFill>
                  <a:srgbClr val="C00000"/>
                </a:solidFill>
              </a:rPr>
              <a:t>Définition d'une opération de sauvegarde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fr-FR" dirty="0" smtClean="0">
                <a:solidFill>
                  <a:srgbClr val="C00000"/>
                </a:solidFill>
              </a:rPr>
              <a:t>Définition </a:t>
            </a:r>
            <a:r>
              <a:rPr lang="fr-FR" dirty="0">
                <a:solidFill>
                  <a:srgbClr val="C00000"/>
                </a:solidFill>
              </a:rPr>
              <a:t>d'une opération de restauration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fr-FR" dirty="0" smtClean="0">
                <a:solidFill>
                  <a:srgbClr val="C00000"/>
                </a:solidFill>
              </a:rPr>
              <a:t>Définition </a:t>
            </a:r>
            <a:r>
              <a:rPr lang="fr-FR" dirty="0">
                <a:solidFill>
                  <a:srgbClr val="C00000"/>
                </a:solidFill>
              </a:rPr>
              <a:t>d'une opération </a:t>
            </a:r>
            <a:r>
              <a:rPr lang="fr-FR" dirty="0" smtClean="0">
                <a:solidFill>
                  <a:srgbClr val="C00000"/>
                </a:solidFill>
              </a:rPr>
              <a:t>d'importation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077" name="AutoShape 93"/>
          <p:cNvSpPr>
            <a:spLocks noChangeArrowheads="1"/>
          </p:cNvSpPr>
          <p:nvPr/>
        </p:nvSpPr>
        <p:spPr bwMode="auto">
          <a:xfrm>
            <a:off x="1262063" y="1543050"/>
            <a:ext cx="6489700" cy="3598863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Définition d'une opération de copie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26024" name="AutoShape 40"/>
          <p:cNvSpPr>
            <a:spLocks noChangeArrowheads="1"/>
          </p:cNvSpPr>
          <p:nvPr/>
        </p:nvSpPr>
        <p:spPr bwMode="auto">
          <a:xfrm>
            <a:off x="261257" y="4668838"/>
            <a:ext cx="8606972" cy="1586819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12"/>
              </a:buBlip>
            </a:pPr>
            <a:r>
              <a:rPr lang="fr-FR" sz="2400" dirty="0">
                <a:solidFill>
                  <a:srgbClr val="000000"/>
                </a:solidFill>
              </a:rPr>
              <a:t>La copie d'un objet Stratégie de groupe transfert uniquement les paramètres de l'objet Stratégie de groupe</a:t>
            </a:r>
            <a:endParaRPr lang="en-US" sz="2400" dirty="0"/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12"/>
              </a:buBlip>
            </a:pPr>
            <a:r>
              <a:rPr lang="fr-FR" sz="2400" dirty="0">
                <a:solidFill>
                  <a:srgbClr val="000000"/>
                </a:solidFill>
              </a:rPr>
              <a:t>L'objet Stratégie de groupe ainsi créé n'a aucun lien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26053" name="AutoShape 6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860675" y="1562100"/>
            <a:ext cx="3175000" cy="2870200"/>
          </a:xfrm>
          <a:custGeom>
            <a:avLst/>
            <a:gdLst>
              <a:gd name="G0" fmla="+- -3051117 0 0"/>
              <a:gd name="G1" fmla="+- -9437420 0 0"/>
              <a:gd name="G2" fmla="+- -3051117 0 -9437420"/>
              <a:gd name="G3" fmla="+- 10800 0 0"/>
              <a:gd name="G4" fmla="+- 0 0 -305111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883 0 0"/>
              <a:gd name="G9" fmla="+- 0 0 -9437420"/>
              <a:gd name="G10" fmla="+- 5883 0 2700"/>
              <a:gd name="G11" fmla="cos G10 -3051117"/>
              <a:gd name="G12" fmla="sin G10 -3051117"/>
              <a:gd name="G13" fmla="cos 13500 -3051117"/>
              <a:gd name="G14" fmla="sin 13500 -3051117"/>
              <a:gd name="G15" fmla="+- G11 10800 0"/>
              <a:gd name="G16" fmla="+- G12 10800 0"/>
              <a:gd name="G17" fmla="+- G13 10800 0"/>
              <a:gd name="G18" fmla="+- G14 10800 0"/>
              <a:gd name="G19" fmla="*/ 5883 1 2"/>
              <a:gd name="G20" fmla="+- G19 5400 0"/>
              <a:gd name="G21" fmla="cos G20 -3051117"/>
              <a:gd name="G22" fmla="sin G20 -3051117"/>
              <a:gd name="G23" fmla="+- G21 10800 0"/>
              <a:gd name="G24" fmla="+- G12 G23 G22"/>
              <a:gd name="G25" fmla="+- G22 G23 G11"/>
              <a:gd name="G26" fmla="cos 10800 -3051117"/>
              <a:gd name="G27" fmla="sin 10800 -3051117"/>
              <a:gd name="G28" fmla="cos 5883 -3051117"/>
              <a:gd name="G29" fmla="sin 5883 -305111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9437420"/>
              <a:gd name="G36" fmla="sin G34 -9437420"/>
              <a:gd name="G37" fmla="+/ -9437420 -305111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883 G39"/>
              <a:gd name="G43" fmla="sin 5883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9806 w 21600"/>
              <a:gd name="T5" fmla="*/ 45 h 21600"/>
              <a:gd name="T6" fmla="*/ 4050 w 21600"/>
              <a:gd name="T7" fmla="*/ 5897 h 21600"/>
              <a:gd name="T8" fmla="*/ 10258 w 21600"/>
              <a:gd name="T9" fmla="*/ 4941 h 21600"/>
              <a:gd name="T10" fmla="*/ 20083 w 21600"/>
              <a:gd name="T11" fmla="*/ 998 h 21600"/>
              <a:gd name="T12" fmla="*/ 20281 w 21600"/>
              <a:gd name="T13" fmla="*/ 8291 h 21600"/>
              <a:gd name="T14" fmla="*/ 12988 w 21600"/>
              <a:gd name="T15" fmla="*/ 8488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4845" y="6528"/>
                </a:moveTo>
                <a:cubicBezTo>
                  <a:pt x="13752" y="5493"/>
                  <a:pt x="12304" y="4917"/>
                  <a:pt x="10800" y="4917"/>
                </a:cubicBezTo>
                <a:cubicBezTo>
                  <a:pt x="8916" y="4916"/>
                  <a:pt x="7147" y="5818"/>
                  <a:pt x="6040" y="7342"/>
                </a:cubicBezTo>
                <a:lnTo>
                  <a:pt x="2062" y="4452"/>
                </a:lnTo>
                <a:cubicBezTo>
                  <a:pt x="4094" y="1655"/>
                  <a:pt x="7342" y="-1"/>
                  <a:pt x="10800" y="0"/>
                </a:cubicBezTo>
                <a:cubicBezTo>
                  <a:pt x="13562" y="0"/>
                  <a:pt x="16220" y="1058"/>
                  <a:pt x="18226" y="2958"/>
                </a:cubicBezTo>
                <a:lnTo>
                  <a:pt x="20083" y="998"/>
                </a:lnTo>
                <a:lnTo>
                  <a:pt x="20281" y="8291"/>
                </a:lnTo>
                <a:lnTo>
                  <a:pt x="12988" y="8488"/>
                </a:lnTo>
                <a:lnTo>
                  <a:pt x="14845" y="6528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6054" name="Line 70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030413" y="2592388"/>
            <a:ext cx="708025" cy="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26055" name="Picture 71" descr="Server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3"/>
          <a:srcRect/>
          <a:stretch>
            <a:fillRect/>
          </a:stretch>
        </p:blipFill>
        <p:spPr bwMode="auto">
          <a:xfrm>
            <a:off x="641350" y="2222500"/>
            <a:ext cx="1425575" cy="1677988"/>
          </a:xfrm>
          <a:prstGeom prst="rect">
            <a:avLst/>
          </a:prstGeom>
          <a:noFill/>
        </p:spPr>
      </p:pic>
      <p:pic>
        <p:nvPicPr>
          <p:cNvPr id="426057" name="Picture 73" descr="Document_Document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4"/>
          <a:srcRect/>
          <a:stretch>
            <a:fillRect/>
          </a:stretch>
        </p:blipFill>
        <p:spPr bwMode="auto">
          <a:xfrm>
            <a:off x="2649538" y="2197100"/>
            <a:ext cx="1071562" cy="1738313"/>
          </a:xfrm>
          <a:prstGeom prst="rect">
            <a:avLst/>
          </a:prstGeom>
          <a:noFill/>
        </p:spPr>
      </p:pic>
      <p:sp>
        <p:nvSpPr>
          <p:cNvPr id="426058" name="Text Box 74"/>
          <p:cNvSpPr txBox="1">
            <a:spLocks noChangeArrowheads="1"/>
          </p:cNvSpPr>
          <p:nvPr/>
        </p:nvSpPr>
        <p:spPr bwMode="auto">
          <a:xfrm>
            <a:off x="2620963" y="2293938"/>
            <a:ext cx="70326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>
            <a:spAutoFit/>
          </a:bodyPr>
          <a:lstStyle/>
          <a:p>
            <a:r>
              <a:rPr lang="fr-FR">
                <a:solidFill>
                  <a:srgbClr val="000000"/>
                </a:solidFill>
              </a:rPr>
              <a:t>DACL</a:t>
            </a:r>
            <a:endParaRPr lang="en-US"/>
          </a:p>
        </p:txBody>
      </p:sp>
      <p:sp>
        <p:nvSpPr>
          <p:cNvPr id="426060" name="AutoShape 76"/>
          <p:cNvSpPr>
            <a:spLocks noChangeArrowheads="1"/>
          </p:cNvSpPr>
          <p:nvPr/>
        </p:nvSpPr>
        <p:spPr bwMode="auto">
          <a:xfrm>
            <a:off x="2082800" y="2749550"/>
            <a:ext cx="1160463" cy="331788"/>
          </a:xfrm>
          <a:prstGeom prst="roundRect">
            <a:avLst>
              <a:gd name="adj" fmla="val 10921"/>
            </a:avLst>
          </a:prstGeom>
          <a:solidFill>
            <a:srgbClr val="F2C9C2"/>
          </a:solidFill>
          <a:ln w="9525" algn="ctr">
            <a:solidFill>
              <a:srgbClr val="4D4D4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fr-FR" sz="1600">
                <a:solidFill>
                  <a:srgbClr val="000000"/>
                </a:solidFill>
              </a:rPr>
              <a:t>Utilisateur 1</a:t>
            </a:r>
            <a:endParaRPr lang="en-US" sz="1600"/>
          </a:p>
        </p:txBody>
      </p:sp>
      <p:sp>
        <p:nvSpPr>
          <p:cNvPr id="426061" name="AutoShape 77"/>
          <p:cNvSpPr>
            <a:spLocks noChangeArrowheads="1"/>
          </p:cNvSpPr>
          <p:nvPr/>
        </p:nvSpPr>
        <p:spPr bwMode="auto">
          <a:xfrm>
            <a:off x="2082800" y="3033713"/>
            <a:ext cx="1144588" cy="288925"/>
          </a:xfrm>
          <a:prstGeom prst="roundRect">
            <a:avLst>
              <a:gd name="adj" fmla="val 1092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>
                <a:solidFill>
                  <a:srgbClr val="000000"/>
                </a:solidFill>
              </a:rPr>
              <a:t>GPO1</a:t>
            </a:r>
            <a:endParaRPr lang="en-US"/>
          </a:p>
        </p:txBody>
      </p:sp>
      <p:pic>
        <p:nvPicPr>
          <p:cNvPr id="426062" name="Picture 78" descr="GroupPolicyObject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317750" y="3336925"/>
            <a:ext cx="1246188" cy="738188"/>
          </a:xfrm>
          <a:prstGeom prst="rect">
            <a:avLst/>
          </a:prstGeom>
          <a:noFill/>
        </p:spPr>
      </p:pic>
      <p:sp>
        <p:nvSpPr>
          <p:cNvPr id="426063" name="AutoShape 79"/>
          <p:cNvSpPr>
            <a:spLocks noChangeArrowheads="1"/>
          </p:cNvSpPr>
          <p:nvPr/>
        </p:nvSpPr>
        <p:spPr bwMode="auto">
          <a:xfrm>
            <a:off x="3230563" y="2762250"/>
            <a:ext cx="1212850" cy="276225"/>
          </a:xfrm>
          <a:prstGeom prst="roundRect">
            <a:avLst>
              <a:gd name="adj" fmla="val 10921"/>
            </a:avLst>
          </a:prstGeom>
          <a:solidFill>
            <a:srgbClr val="CBEDC3"/>
          </a:solidFill>
          <a:ln w="9525" algn="ctr">
            <a:solidFill>
              <a:srgbClr val="4D4D4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fr-FR" sz="1600">
                <a:solidFill>
                  <a:srgbClr val="000000"/>
                </a:solidFill>
              </a:rPr>
              <a:t>Lire</a:t>
            </a:r>
            <a:endParaRPr lang="en-US" sz="1600"/>
          </a:p>
        </p:txBody>
      </p:sp>
      <p:sp>
        <p:nvSpPr>
          <p:cNvPr id="426064" name="AutoShape 80"/>
          <p:cNvSpPr>
            <a:spLocks noChangeArrowheads="1"/>
          </p:cNvSpPr>
          <p:nvPr/>
        </p:nvSpPr>
        <p:spPr bwMode="auto">
          <a:xfrm>
            <a:off x="3230563" y="3032125"/>
            <a:ext cx="1212850" cy="290513"/>
          </a:xfrm>
          <a:prstGeom prst="roundRect">
            <a:avLst>
              <a:gd name="adj" fmla="val 10921"/>
            </a:avLst>
          </a:prstGeom>
          <a:solidFill>
            <a:srgbClr val="CBEDC3"/>
          </a:solidFill>
          <a:ln w="9525" algn="ctr">
            <a:solidFill>
              <a:srgbClr val="4D4D4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fr-FR" sz="1600">
                <a:solidFill>
                  <a:srgbClr val="000000"/>
                </a:solidFill>
              </a:rPr>
              <a:t>Contrôle total</a:t>
            </a:r>
            <a:endParaRPr lang="en-US" sz="1600"/>
          </a:p>
        </p:txBody>
      </p:sp>
      <p:sp>
        <p:nvSpPr>
          <p:cNvPr id="426065" name="Line 81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604000" y="2592388"/>
            <a:ext cx="708025" cy="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26066" name="Picture 82" descr="Server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3"/>
          <a:srcRect/>
          <a:stretch>
            <a:fillRect/>
          </a:stretch>
        </p:blipFill>
        <p:spPr bwMode="auto">
          <a:xfrm>
            <a:off x="7123113" y="2222500"/>
            <a:ext cx="1425575" cy="1677988"/>
          </a:xfrm>
          <a:prstGeom prst="rect">
            <a:avLst/>
          </a:prstGeom>
          <a:noFill/>
        </p:spPr>
      </p:pic>
      <p:pic>
        <p:nvPicPr>
          <p:cNvPr id="426068" name="Picture 84" descr="Document_Document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4"/>
          <a:srcRect/>
          <a:stretch>
            <a:fillRect/>
          </a:stretch>
        </p:blipFill>
        <p:spPr bwMode="auto">
          <a:xfrm>
            <a:off x="5870575" y="2197100"/>
            <a:ext cx="1071563" cy="1738313"/>
          </a:xfrm>
          <a:prstGeom prst="rect">
            <a:avLst/>
          </a:prstGeom>
          <a:noFill/>
        </p:spPr>
      </p:pic>
      <p:sp>
        <p:nvSpPr>
          <p:cNvPr id="426069" name="Text Box 85"/>
          <p:cNvSpPr txBox="1">
            <a:spLocks noChangeArrowheads="1"/>
          </p:cNvSpPr>
          <p:nvPr/>
        </p:nvSpPr>
        <p:spPr bwMode="auto">
          <a:xfrm>
            <a:off x="5842000" y="2293938"/>
            <a:ext cx="7032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>
            <a:spAutoFit/>
          </a:bodyPr>
          <a:lstStyle/>
          <a:p>
            <a:r>
              <a:rPr lang="fr-FR">
                <a:solidFill>
                  <a:srgbClr val="000000"/>
                </a:solidFill>
              </a:rPr>
              <a:t>DACL</a:t>
            </a:r>
            <a:endParaRPr lang="en-US"/>
          </a:p>
        </p:txBody>
      </p:sp>
      <p:sp>
        <p:nvSpPr>
          <p:cNvPr id="426071" name="AutoShape 87"/>
          <p:cNvSpPr>
            <a:spLocks noChangeArrowheads="1"/>
          </p:cNvSpPr>
          <p:nvPr/>
        </p:nvSpPr>
        <p:spPr bwMode="auto">
          <a:xfrm>
            <a:off x="5080000" y="2749550"/>
            <a:ext cx="1119188" cy="358775"/>
          </a:xfrm>
          <a:prstGeom prst="roundRect">
            <a:avLst>
              <a:gd name="adj" fmla="val 10921"/>
            </a:avLst>
          </a:prstGeom>
          <a:solidFill>
            <a:srgbClr val="F2C9C2"/>
          </a:solidFill>
          <a:ln w="9525" algn="ctr">
            <a:solidFill>
              <a:srgbClr val="4D4D4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fr-FR" sz="1600">
                <a:solidFill>
                  <a:srgbClr val="000000"/>
                </a:solidFill>
              </a:rPr>
              <a:t>Utilisateur 1</a:t>
            </a:r>
            <a:endParaRPr lang="en-US" sz="1600"/>
          </a:p>
        </p:txBody>
      </p:sp>
      <p:sp>
        <p:nvSpPr>
          <p:cNvPr id="426072" name="AutoShape 88"/>
          <p:cNvSpPr>
            <a:spLocks noChangeArrowheads="1"/>
          </p:cNvSpPr>
          <p:nvPr/>
        </p:nvSpPr>
        <p:spPr bwMode="auto">
          <a:xfrm>
            <a:off x="5080000" y="3060700"/>
            <a:ext cx="1119188" cy="276225"/>
          </a:xfrm>
          <a:prstGeom prst="roundRect">
            <a:avLst>
              <a:gd name="adj" fmla="val 1092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>
                <a:solidFill>
                  <a:srgbClr val="000000"/>
                </a:solidFill>
              </a:rPr>
              <a:t>GPO2</a:t>
            </a:r>
            <a:endParaRPr lang="en-US"/>
          </a:p>
        </p:txBody>
      </p:sp>
      <p:pic>
        <p:nvPicPr>
          <p:cNvPr id="426073" name="Picture 89" descr="GroupPolicyObject0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467350" y="3336925"/>
            <a:ext cx="1246188" cy="738188"/>
          </a:xfrm>
          <a:prstGeom prst="rect">
            <a:avLst/>
          </a:prstGeom>
          <a:noFill/>
        </p:spPr>
      </p:pic>
      <p:sp>
        <p:nvSpPr>
          <p:cNvPr id="426074" name="AutoShape 90"/>
          <p:cNvSpPr>
            <a:spLocks noChangeArrowheads="1"/>
          </p:cNvSpPr>
          <p:nvPr/>
        </p:nvSpPr>
        <p:spPr bwMode="auto">
          <a:xfrm>
            <a:off x="6215063" y="2762250"/>
            <a:ext cx="1171575" cy="303213"/>
          </a:xfrm>
          <a:prstGeom prst="roundRect">
            <a:avLst>
              <a:gd name="adj" fmla="val 10921"/>
            </a:avLst>
          </a:prstGeom>
          <a:solidFill>
            <a:srgbClr val="CBEDC3"/>
          </a:solidFill>
          <a:ln w="9525" algn="ctr">
            <a:solidFill>
              <a:srgbClr val="4D4D4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fr-FR" sz="1600">
                <a:solidFill>
                  <a:srgbClr val="000000"/>
                </a:solidFill>
              </a:rPr>
              <a:t>Lire</a:t>
            </a:r>
            <a:endParaRPr lang="en-US" sz="1600"/>
          </a:p>
        </p:txBody>
      </p:sp>
      <p:sp>
        <p:nvSpPr>
          <p:cNvPr id="426075" name="AutoShape 91"/>
          <p:cNvSpPr>
            <a:spLocks noChangeArrowheads="1"/>
          </p:cNvSpPr>
          <p:nvPr/>
        </p:nvSpPr>
        <p:spPr bwMode="auto">
          <a:xfrm>
            <a:off x="6213475" y="3060700"/>
            <a:ext cx="1171575" cy="276225"/>
          </a:xfrm>
          <a:prstGeom prst="roundRect">
            <a:avLst>
              <a:gd name="adj" fmla="val 10921"/>
            </a:avLst>
          </a:prstGeom>
          <a:solidFill>
            <a:srgbClr val="CBEDC3"/>
          </a:solidFill>
          <a:ln w="9525" algn="ctr">
            <a:solidFill>
              <a:srgbClr val="4D4D4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fr-FR" sz="1600">
                <a:solidFill>
                  <a:srgbClr val="000000"/>
                </a:solidFill>
              </a:rPr>
              <a:t>Contrôle total</a:t>
            </a:r>
            <a:endParaRPr lang="en-US" sz="1600"/>
          </a:p>
        </p:txBody>
      </p:sp>
      <p:sp>
        <p:nvSpPr>
          <p:cNvPr id="426076" name="Text Box 92"/>
          <p:cNvSpPr txBox="1">
            <a:spLocks noChangeArrowheads="1"/>
          </p:cNvSpPr>
          <p:nvPr/>
        </p:nvSpPr>
        <p:spPr bwMode="auto">
          <a:xfrm>
            <a:off x="3886200" y="1609725"/>
            <a:ext cx="116681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fr-FR" sz="2000">
                <a:solidFill>
                  <a:srgbClr val="000000"/>
                </a:solidFill>
              </a:rPr>
              <a:t>Opération</a:t>
            </a:r>
            <a:br>
              <a:rPr lang="fr-FR" sz="2000">
                <a:solidFill>
                  <a:srgbClr val="000000"/>
                </a:solidFill>
              </a:rPr>
            </a:br>
            <a:r>
              <a:rPr lang="fr-FR" sz="2000">
                <a:solidFill>
                  <a:srgbClr val="000000"/>
                </a:solidFill>
              </a:rPr>
              <a:t>de copie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2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260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Définition d'une opération de sauvegarde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64943" name="AutoShape 47"/>
          <p:cNvSpPr>
            <a:spLocks noChangeArrowheads="1"/>
          </p:cNvSpPr>
          <p:nvPr/>
        </p:nvSpPr>
        <p:spPr bwMode="auto">
          <a:xfrm>
            <a:off x="1262063" y="1543050"/>
            <a:ext cx="6489700" cy="3598863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64944" name="AutoShape 48"/>
          <p:cNvSpPr>
            <a:spLocks noChangeArrowheads="1"/>
          </p:cNvSpPr>
          <p:nvPr/>
        </p:nvSpPr>
        <p:spPr bwMode="auto">
          <a:xfrm>
            <a:off x="232229" y="4751387"/>
            <a:ext cx="8694057" cy="159135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182880"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SzPct val="80000"/>
            </a:pPr>
            <a:r>
              <a:rPr lang="fr-FR" sz="2400" dirty="0">
                <a:solidFill>
                  <a:srgbClr val="000000"/>
                </a:solidFill>
              </a:rPr>
              <a:t>Lors d'une opération de sauvegarde, la console Gestion de stratégie de groupe exporte toutes les données de l'objet Stratégie de groupe vers le fichier sélectionné et enregistre les fichiers GPT</a:t>
            </a:r>
            <a:endParaRPr lang="en-US" sz="2400" dirty="0"/>
          </a:p>
        </p:txBody>
      </p:sp>
      <p:sp>
        <p:nvSpPr>
          <p:cNvPr id="464945" name="AutoShape 49"/>
          <p:cNvSpPr>
            <a:spLocks noChangeArrowheads="1"/>
          </p:cNvSpPr>
          <p:nvPr/>
        </p:nvSpPr>
        <p:spPr bwMode="auto">
          <a:xfrm>
            <a:off x="2959100" y="1444625"/>
            <a:ext cx="2905125" cy="2762250"/>
          </a:xfrm>
          <a:custGeom>
            <a:avLst/>
            <a:gdLst>
              <a:gd name="G0" fmla="+- -2513050 0 0"/>
              <a:gd name="G1" fmla="+- -10060766 0 0"/>
              <a:gd name="G2" fmla="+- -2513050 0 -10060766"/>
              <a:gd name="G3" fmla="+- 10800 0 0"/>
              <a:gd name="G4" fmla="+- 0 0 -251305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162 0 0"/>
              <a:gd name="G9" fmla="+- 0 0 -10060766"/>
              <a:gd name="G10" fmla="+- 5162 0 2700"/>
              <a:gd name="G11" fmla="cos G10 -2513050"/>
              <a:gd name="G12" fmla="sin G10 -2513050"/>
              <a:gd name="G13" fmla="cos 13500 -2513050"/>
              <a:gd name="G14" fmla="sin 13500 -2513050"/>
              <a:gd name="G15" fmla="+- G11 10800 0"/>
              <a:gd name="G16" fmla="+- G12 10800 0"/>
              <a:gd name="G17" fmla="+- G13 10800 0"/>
              <a:gd name="G18" fmla="+- G14 10800 0"/>
              <a:gd name="G19" fmla="*/ 5162 1 2"/>
              <a:gd name="G20" fmla="+- G19 5400 0"/>
              <a:gd name="G21" fmla="cos G20 -2513050"/>
              <a:gd name="G22" fmla="sin G20 -2513050"/>
              <a:gd name="G23" fmla="+- G21 10800 0"/>
              <a:gd name="G24" fmla="+- G12 G23 G22"/>
              <a:gd name="G25" fmla="+- G22 G23 G11"/>
              <a:gd name="G26" fmla="cos 10800 -2513050"/>
              <a:gd name="G27" fmla="sin 10800 -2513050"/>
              <a:gd name="G28" fmla="cos 5162 -2513050"/>
              <a:gd name="G29" fmla="sin 5162 -251305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0060766"/>
              <a:gd name="G36" fmla="sin G34 -10060766"/>
              <a:gd name="G37" fmla="+/ -10060766 -251305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162 G39"/>
              <a:gd name="G43" fmla="sin 516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9684 w 21600"/>
              <a:gd name="T5" fmla="*/ 57 h 21600"/>
              <a:gd name="T6" fmla="*/ 3656 w 21600"/>
              <a:gd name="T7" fmla="*/ 7240 h 21600"/>
              <a:gd name="T8" fmla="*/ 10266 w 21600"/>
              <a:gd name="T9" fmla="*/ 5665 h 21600"/>
              <a:gd name="T10" fmla="*/ 21387 w 21600"/>
              <a:gd name="T11" fmla="*/ 2424 h 21600"/>
              <a:gd name="T12" fmla="*/ 20483 w 21600"/>
              <a:gd name="T13" fmla="*/ 10177 h 21600"/>
              <a:gd name="T14" fmla="*/ 12730 w 21600"/>
              <a:gd name="T15" fmla="*/ 927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4848" y="7597"/>
                </a:moveTo>
                <a:cubicBezTo>
                  <a:pt x="13869" y="6359"/>
                  <a:pt x="12378" y="5638"/>
                  <a:pt x="10800" y="5638"/>
                </a:cubicBezTo>
                <a:cubicBezTo>
                  <a:pt x="8842" y="5637"/>
                  <a:pt x="7052" y="6745"/>
                  <a:pt x="6179" y="8497"/>
                </a:cubicBezTo>
                <a:lnTo>
                  <a:pt x="1133" y="5983"/>
                </a:lnTo>
                <a:cubicBezTo>
                  <a:pt x="2960" y="2317"/>
                  <a:pt x="6703" y="-1"/>
                  <a:pt x="10800" y="0"/>
                </a:cubicBezTo>
                <a:cubicBezTo>
                  <a:pt x="14101" y="0"/>
                  <a:pt x="17221" y="1510"/>
                  <a:pt x="19270" y="4099"/>
                </a:cubicBezTo>
                <a:lnTo>
                  <a:pt x="21387" y="2424"/>
                </a:lnTo>
                <a:lnTo>
                  <a:pt x="20483" y="10177"/>
                </a:lnTo>
                <a:lnTo>
                  <a:pt x="12730" y="9272"/>
                </a:lnTo>
                <a:lnTo>
                  <a:pt x="14848" y="7597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464946" name="Picture 50" descr="Server0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79450" y="2222500"/>
            <a:ext cx="1425575" cy="1677988"/>
          </a:xfrm>
          <a:prstGeom prst="rect">
            <a:avLst/>
          </a:prstGeom>
          <a:noFill/>
        </p:spPr>
      </p:pic>
      <p:sp>
        <p:nvSpPr>
          <p:cNvPr id="464947" name="Text Box 51"/>
          <p:cNvSpPr txBox="1">
            <a:spLocks noChangeArrowheads="1"/>
          </p:cNvSpPr>
          <p:nvPr/>
        </p:nvSpPr>
        <p:spPr bwMode="auto">
          <a:xfrm>
            <a:off x="3565525" y="1544638"/>
            <a:ext cx="1822450" cy="609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fr-FR" sz="2000">
                <a:solidFill>
                  <a:srgbClr val="000000"/>
                </a:solidFill>
              </a:rPr>
              <a:t>Opération de sauvegarde</a:t>
            </a:r>
            <a:endParaRPr lang="en-US" sz="2000"/>
          </a:p>
        </p:txBody>
      </p:sp>
      <p:pic>
        <p:nvPicPr>
          <p:cNvPr id="464948" name="Picture 52" descr="TapeStorage_TapeDrive0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11775" y="2765425"/>
            <a:ext cx="1770063" cy="1323975"/>
          </a:xfrm>
          <a:prstGeom prst="rect">
            <a:avLst/>
          </a:prstGeom>
          <a:noFill/>
        </p:spPr>
      </p:pic>
      <p:sp>
        <p:nvSpPr>
          <p:cNvPr id="464949" name="AutoShape 53"/>
          <p:cNvSpPr>
            <a:spLocks noChangeArrowheads="1"/>
          </p:cNvSpPr>
          <p:nvPr/>
        </p:nvSpPr>
        <p:spPr bwMode="auto">
          <a:xfrm>
            <a:off x="7080250" y="2697163"/>
            <a:ext cx="1287463" cy="12287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>
            <a:spAutoFit/>
          </a:bodyPr>
          <a:lstStyle/>
          <a:p>
            <a:r>
              <a:rPr lang="fr-FR">
                <a:solidFill>
                  <a:srgbClr val="000000"/>
                </a:solidFill>
              </a:rPr>
              <a:t>Sauvegarde</a:t>
            </a:r>
            <a:endParaRPr lang="en-US"/>
          </a:p>
          <a:p>
            <a:r>
              <a:rPr lang="fr-FR">
                <a:solidFill>
                  <a:srgbClr val="000000"/>
                </a:solidFill>
              </a:rPr>
              <a:t>d'un objet </a:t>
            </a:r>
            <a:br>
              <a:rPr lang="fr-FR">
                <a:solidFill>
                  <a:srgbClr val="000000"/>
                </a:solidFill>
              </a:rPr>
            </a:br>
            <a:r>
              <a:rPr lang="fr-FR">
                <a:solidFill>
                  <a:srgbClr val="000000"/>
                </a:solidFill>
              </a:rPr>
              <a:t>Stratégie </a:t>
            </a:r>
            <a:br>
              <a:rPr lang="fr-FR">
                <a:solidFill>
                  <a:srgbClr val="000000"/>
                </a:solidFill>
              </a:rPr>
            </a:br>
            <a:r>
              <a:rPr lang="fr-FR">
                <a:solidFill>
                  <a:srgbClr val="000000"/>
                </a:solidFill>
              </a:rPr>
              <a:t>de groupe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64954" name="Line 58"/>
          <p:cNvSpPr>
            <a:spLocks noChangeShapeType="1"/>
          </p:cNvSpPr>
          <p:nvPr/>
        </p:nvSpPr>
        <p:spPr bwMode="auto">
          <a:xfrm flipV="1">
            <a:off x="6308725" y="2551113"/>
            <a:ext cx="477838" cy="41275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64953" name="Picture 57" descr="TapeStorage_TapeMedia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43575" y="2717800"/>
            <a:ext cx="1141413" cy="1157288"/>
          </a:xfrm>
          <a:prstGeom prst="rect">
            <a:avLst/>
          </a:prstGeom>
          <a:noFill/>
        </p:spPr>
      </p:pic>
      <p:sp>
        <p:nvSpPr>
          <p:cNvPr id="464955" name="Line 59"/>
          <p:cNvSpPr>
            <a:spLocks noChangeShapeType="1"/>
          </p:cNvSpPr>
          <p:nvPr/>
        </p:nvSpPr>
        <p:spPr bwMode="auto">
          <a:xfrm>
            <a:off x="1700213" y="3052763"/>
            <a:ext cx="1171575" cy="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64957" name="AutoShape 61"/>
          <p:cNvSpPr>
            <a:spLocks noChangeArrowheads="1"/>
          </p:cNvSpPr>
          <p:nvPr/>
        </p:nvSpPr>
        <p:spPr bwMode="auto">
          <a:xfrm>
            <a:off x="2428875" y="2454275"/>
            <a:ext cx="746125" cy="276225"/>
          </a:xfrm>
          <a:prstGeom prst="roundRect">
            <a:avLst>
              <a:gd name="adj" fmla="val 1092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>
                <a:solidFill>
                  <a:srgbClr val="000000"/>
                </a:solidFill>
              </a:rPr>
              <a:t>GPO1</a:t>
            </a:r>
            <a:endParaRPr lang="en-US"/>
          </a:p>
        </p:txBody>
      </p:sp>
      <p:pic>
        <p:nvPicPr>
          <p:cNvPr id="464958" name="Picture 62" descr="GroupPolicyObject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28875" y="2730500"/>
            <a:ext cx="1246188" cy="738188"/>
          </a:xfrm>
          <a:prstGeom prst="rect">
            <a:avLst/>
          </a:prstGeom>
          <a:noFill/>
        </p:spPr>
      </p:pic>
      <p:grpSp>
        <p:nvGrpSpPr>
          <p:cNvPr id="464964" name="Group 65"/>
          <p:cNvGrpSpPr>
            <a:grpSpLocks/>
          </p:cNvGrpSpPr>
          <p:nvPr/>
        </p:nvGrpSpPr>
        <p:grpSpPr bwMode="auto">
          <a:xfrm>
            <a:off x="6551613" y="1611313"/>
            <a:ext cx="1246187" cy="1014412"/>
            <a:chOff x="4127" y="1015"/>
            <a:chExt cx="785" cy="639"/>
          </a:xfrm>
        </p:grpSpPr>
        <p:sp>
          <p:nvSpPr>
            <p:cNvPr id="464962" name="AutoShape 66"/>
            <p:cNvSpPr>
              <a:spLocks noChangeArrowheads="1"/>
            </p:cNvSpPr>
            <p:nvPr/>
          </p:nvSpPr>
          <p:spPr bwMode="auto">
            <a:xfrm>
              <a:off x="4127" y="1015"/>
              <a:ext cx="470" cy="174"/>
            </a:xfrm>
            <a:prstGeom prst="roundRect">
              <a:avLst>
                <a:gd name="adj" fmla="val 10921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fr-FR">
                  <a:solidFill>
                    <a:srgbClr val="000000"/>
                  </a:solidFill>
                </a:rPr>
                <a:t>GPO1</a:t>
              </a:r>
              <a:endParaRPr lang="en-US"/>
            </a:p>
          </p:txBody>
        </p:sp>
        <p:pic>
          <p:nvPicPr>
            <p:cNvPr id="464963" name="Picture 67" descr="GroupPolicyObject01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127" y="1189"/>
              <a:ext cx="785" cy="4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64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4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600" b="1" dirty="0">
                <a:solidFill>
                  <a:srgbClr val="C00000"/>
                </a:solidFill>
              </a:rPr>
              <a:t>Définition d'une opération de restauration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465941" name="AutoShape 21"/>
          <p:cNvSpPr>
            <a:spLocks noChangeArrowheads="1"/>
          </p:cNvSpPr>
          <p:nvPr/>
        </p:nvSpPr>
        <p:spPr bwMode="auto">
          <a:xfrm>
            <a:off x="1262063" y="1543050"/>
            <a:ext cx="6489700" cy="3598863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65942" name="AutoShape 22"/>
          <p:cNvSpPr>
            <a:spLocks noChangeArrowheads="1"/>
          </p:cNvSpPr>
          <p:nvPr/>
        </p:nvSpPr>
        <p:spPr bwMode="auto">
          <a:xfrm>
            <a:off x="188687" y="4668838"/>
            <a:ext cx="8737600" cy="10509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182880"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SzPct val="80000"/>
            </a:pPr>
            <a:r>
              <a:rPr lang="fr-FR" sz="2400" dirty="0">
                <a:solidFill>
                  <a:srgbClr val="000000"/>
                </a:solidFill>
              </a:rPr>
              <a:t>Lors d'une opération de restauration, le contenu de l'objet Stratégie de groupe est rétabli tel quel</a:t>
            </a:r>
            <a:endParaRPr lang="en-US" sz="2400" dirty="0"/>
          </a:p>
        </p:txBody>
      </p:sp>
      <p:sp>
        <p:nvSpPr>
          <p:cNvPr id="465943" name="AutoShape 23"/>
          <p:cNvSpPr>
            <a:spLocks noChangeArrowheads="1"/>
          </p:cNvSpPr>
          <p:nvPr/>
        </p:nvSpPr>
        <p:spPr bwMode="auto">
          <a:xfrm flipH="1">
            <a:off x="3302000" y="1393825"/>
            <a:ext cx="3009900" cy="2995613"/>
          </a:xfrm>
          <a:custGeom>
            <a:avLst/>
            <a:gdLst>
              <a:gd name="G0" fmla="+- -2849817 0 0"/>
              <a:gd name="G1" fmla="+- -10360252 0 0"/>
              <a:gd name="G2" fmla="+- -2849817 0 -10360252"/>
              <a:gd name="G3" fmla="+- 10800 0 0"/>
              <a:gd name="G4" fmla="+- 0 0 -284981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588 0 0"/>
              <a:gd name="G9" fmla="+- 0 0 -10360252"/>
              <a:gd name="G10" fmla="+- 5588 0 2700"/>
              <a:gd name="G11" fmla="cos G10 -2849817"/>
              <a:gd name="G12" fmla="sin G10 -2849817"/>
              <a:gd name="G13" fmla="cos 13500 -2849817"/>
              <a:gd name="G14" fmla="sin 13500 -2849817"/>
              <a:gd name="G15" fmla="+- G11 10800 0"/>
              <a:gd name="G16" fmla="+- G12 10800 0"/>
              <a:gd name="G17" fmla="+- G13 10800 0"/>
              <a:gd name="G18" fmla="+- G14 10800 0"/>
              <a:gd name="G19" fmla="*/ 5588 1 2"/>
              <a:gd name="G20" fmla="+- G19 5400 0"/>
              <a:gd name="G21" fmla="cos G20 -2849817"/>
              <a:gd name="G22" fmla="sin G20 -2849817"/>
              <a:gd name="G23" fmla="+- G21 10800 0"/>
              <a:gd name="G24" fmla="+- G12 G23 G22"/>
              <a:gd name="G25" fmla="+- G22 G23 G11"/>
              <a:gd name="G26" fmla="cos 10800 -2849817"/>
              <a:gd name="G27" fmla="sin 10800 -2849817"/>
              <a:gd name="G28" fmla="cos 5588 -2849817"/>
              <a:gd name="G29" fmla="sin 5588 -284981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0360252"/>
              <a:gd name="G36" fmla="sin G34 -10360252"/>
              <a:gd name="G37" fmla="+/ -10360252 -284981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588 G39"/>
              <a:gd name="G43" fmla="sin 5588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8779 w 21600"/>
              <a:gd name="T5" fmla="*/ 190 h 21600"/>
              <a:gd name="T6" fmla="*/ 3198 w 21600"/>
              <a:gd name="T7" fmla="*/ 7741 h 21600"/>
              <a:gd name="T8" fmla="*/ 9754 w 21600"/>
              <a:gd name="T9" fmla="*/ 5310 h 21600"/>
              <a:gd name="T10" fmla="*/ 20595 w 21600"/>
              <a:gd name="T11" fmla="*/ 1509 h 21600"/>
              <a:gd name="T12" fmla="*/ 20396 w 21600"/>
              <a:gd name="T13" fmla="*/ 9011 h 21600"/>
              <a:gd name="T14" fmla="*/ 12895 w 21600"/>
              <a:gd name="T15" fmla="*/ 881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4854" y="6954"/>
                </a:moveTo>
                <a:cubicBezTo>
                  <a:pt x="13799" y="5842"/>
                  <a:pt x="12333" y="5212"/>
                  <a:pt x="10800" y="5212"/>
                </a:cubicBezTo>
                <a:cubicBezTo>
                  <a:pt x="8519" y="5211"/>
                  <a:pt x="6467" y="6598"/>
                  <a:pt x="5615" y="8714"/>
                </a:cubicBezTo>
                <a:lnTo>
                  <a:pt x="780" y="6769"/>
                </a:lnTo>
                <a:cubicBezTo>
                  <a:pt x="2425" y="2679"/>
                  <a:pt x="6391" y="-1"/>
                  <a:pt x="10800" y="0"/>
                </a:cubicBezTo>
                <a:cubicBezTo>
                  <a:pt x="13763" y="0"/>
                  <a:pt x="16596" y="1217"/>
                  <a:pt x="18636" y="3367"/>
                </a:cubicBezTo>
                <a:lnTo>
                  <a:pt x="20595" y="1509"/>
                </a:lnTo>
                <a:lnTo>
                  <a:pt x="20396" y="9011"/>
                </a:lnTo>
                <a:lnTo>
                  <a:pt x="12895" y="8812"/>
                </a:lnTo>
                <a:lnTo>
                  <a:pt x="14854" y="6954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465944" name="Picture 24" descr="Server0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79450" y="2222500"/>
            <a:ext cx="1425575" cy="1677988"/>
          </a:xfrm>
          <a:prstGeom prst="rect">
            <a:avLst/>
          </a:prstGeom>
          <a:noFill/>
        </p:spPr>
      </p:pic>
      <p:sp>
        <p:nvSpPr>
          <p:cNvPr id="465945" name="Text Box 25"/>
          <p:cNvSpPr txBox="1">
            <a:spLocks noChangeArrowheads="1"/>
          </p:cNvSpPr>
          <p:nvPr/>
        </p:nvSpPr>
        <p:spPr bwMode="auto">
          <a:xfrm>
            <a:off x="3971925" y="1530350"/>
            <a:ext cx="1692275" cy="609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fr-FR" sz="2000">
                <a:solidFill>
                  <a:srgbClr val="000000"/>
                </a:solidFill>
              </a:rPr>
              <a:t>Opération de restauration</a:t>
            </a:r>
            <a:endParaRPr lang="en-US" sz="2000"/>
          </a:p>
        </p:txBody>
      </p:sp>
      <p:pic>
        <p:nvPicPr>
          <p:cNvPr id="465946" name="Picture 26" descr="TapeStorage_TapeDrive0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11775" y="2765425"/>
            <a:ext cx="1770063" cy="1323975"/>
          </a:xfrm>
          <a:prstGeom prst="rect">
            <a:avLst/>
          </a:prstGeom>
          <a:noFill/>
        </p:spPr>
      </p:pic>
      <p:sp>
        <p:nvSpPr>
          <p:cNvPr id="465951" name="Line 31"/>
          <p:cNvSpPr>
            <a:spLocks noChangeShapeType="1"/>
          </p:cNvSpPr>
          <p:nvPr/>
        </p:nvSpPr>
        <p:spPr bwMode="auto">
          <a:xfrm flipV="1">
            <a:off x="6308725" y="2551113"/>
            <a:ext cx="477838" cy="41275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65950" name="Picture 30" descr="TapeStorage_TapeMedia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43575" y="2717800"/>
            <a:ext cx="1141413" cy="1157288"/>
          </a:xfrm>
          <a:prstGeom prst="rect">
            <a:avLst/>
          </a:prstGeom>
          <a:noFill/>
        </p:spPr>
      </p:pic>
      <p:sp>
        <p:nvSpPr>
          <p:cNvPr id="465952" name="Line 32"/>
          <p:cNvSpPr>
            <a:spLocks noChangeShapeType="1"/>
          </p:cNvSpPr>
          <p:nvPr/>
        </p:nvSpPr>
        <p:spPr bwMode="auto">
          <a:xfrm>
            <a:off x="1700213" y="3052763"/>
            <a:ext cx="1171575" cy="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65954" name="AutoShape 34"/>
          <p:cNvSpPr>
            <a:spLocks noChangeArrowheads="1"/>
          </p:cNvSpPr>
          <p:nvPr/>
        </p:nvSpPr>
        <p:spPr bwMode="auto">
          <a:xfrm>
            <a:off x="2428875" y="2454275"/>
            <a:ext cx="746125" cy="276225"/>
          </a:xfrm>
          <a:prstGeom prst="roundRect">
            <a:avLst>
              <a:gd name="adj" fmla="val 1092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>
                <a:solidFill>
                  <a:srgbClr val="000000"/>
                </a:solidFill>
              </a:rPr>
              <a:t>GPO1</a:t>
            </a:r>
            <a:endParaRPr lang="en-US"/>
          </a:p>
        </p:txBody>
      </p:sp>
      <p:pic>
        <p:nvPicPr>
          <p:cNvPr id="465955" name="Picture 35" descr="GroupPolicyObject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28875" y="2730500"/>
            <a:ext cx="1246188" cy="738188"/>
          </a:xfrm>
          <a:prstGeom prst="rect">
            <a:avLst/>
          </a:prstGeom>
          <a:noFill/>
        </p:spPr>
      </p:pic>
      <p:sp>
        <p:nvSpPr>
          <p:cNvPr id="465956" name="AutoShape 36"/>
          <p:cNvSpPr>
            <a:spLocks noChangeArrowheads="1"/>
          </p:cNvSpPr>
          <p:nvPr/>
        </p:nvSpPr>
        <p:spPr bwMode="auto">
          <a:xfrm>
            <a:off x="7019925" y="2697163"/>
            <a:ext cx="1365250" cy="12287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>
            <a:spAutoFit/>
          </a:bodyPr>
          <a:lstStyle/>
          <a:p>
            <a:r>
              <a:rPr lang="fr-FR">
                <a:solidFill>
                  <a:srgbClr val="000000"/>
                </a:solidFill>
              </a:rPr>
              <a:t>Objet Stratégie</a:t>
            </a:r>
            <a:br>
              <a:rPr lang="fr-FR">
                <a:solidFill>
                  <a:srgbClr val="000000"/>
                </a:solidFill>
              </a:rPr>
            </a:br>
            <a:r>
              <a:rPr lang="fr-FR">
                <a:solidFill>
                  <a:srgbClr val="000000"/>
                </a:solidFill>
              </a:rPr>
              <a:t>de groupe</a:t>
            </a:r>
            <a:br>
              <a:rPr lang="fr-FR">
                <a:solidFill>
                  <a:srgbClr val="000000"/>
                </a:solidFill>
              </a:rPr>
            </a:br>
            <a:r>
              <a:rPr lang="fr-FR">
                <a:solidFill>
                  <a:srgbClr val="000000"/>
                </a:solidFill>
              </a:rPr>
              <a:t>sauvegardé</a:t>
            </a:r>
            <a:endParaRPr lang="en-US"/>
          </a:p>
        </p:txBody>
      </p:sp>
      <p:grpSp>
        <p:nvGrpSpPr>
          <p:cNvPr id="465960" name="Group 37"/>
          <p:cNvGrpSpPr>
            <a:grpSpLocks/>
          </p:cNvGrpSpPr>
          <p:nvPr/>
        </p:nvGrpSpPr>
        <p:grpSpPr bwMode="auto">
          <a:xfrm>
            <a:off x="6551613" y="1592263"/>
            <a:ext cx="1246187" cy="1014412"/>
            <a:chOff x="4127" y="1003"/>
            <a:chExt cx="785" cy="639"/>
          </a:xfrm>
        </p:grpSpPr>
        <p:sp>
          <p:nvSpPr>
            <p:cNvPr id="465958" name="AutoShape 38"/>
            <p:cNvSpPr>
              <a:spLocks noChangeArrowheads="1"/>
            </p:cNvSpPr>
            <p:nvPr/>
          </p:nvSpPr>
          <p:spPr bwMode="auto">
            <a:xfrm>
              <a:off x="4127" y="1003"/>
              <a:ext cx="470" cy="174"/>
            </a:xfrm>
            <a:prstGeom prst="roundRect">
              <a:avLst>
                <a:gd name="adj" fmla="val 10921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fr-FR">
                  <a:solidFill>
                    <a:srgbClr val="000000"/>
                  </a:solidFill>
                </a:rPr>
                <a:t>GPO1</a:t>
              </a:r>
              <a:endParaRPr lang="en-US"/>
            </a:p>
          </p:txBody>
        </p:sp>
        <p:pic>
          <p:nvPicPr>
            <p:cNvPr id="465959" name="Picture 39" descr="GroupPolicyObject01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127" y="1177"/>
              <a:ext cx="785" cy="4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65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Définition d'une opération d'importation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66992" name="AutoShape 48"/>
          <p:cNvSpPr>
            <a:spLocks noChangeArrowheads="1"/>
          </p:cNvSpPr>
          <p:nvPr/>
        </p:nvSpPr>
        <p:spPr bwMode="auto">
          <a:xfrm>
            <a:off x="1262063" y="1543050"/>
            <a:ext cx="6489700" cy="3598863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66993" name="AutoShape 49"/>
          <p:cNvSpPr>
            <a:spLocks noChangeArrowheads="1"/>
          </p:cNvSpPr>
          <p:nvPr/>
        </p:nvSpPr>
        <p:spPr bwMode="auto">
          <a:xfrm>
            <a:off x="246743" y="4530725"/>
            <a:ext cx="8723086" cy="13811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182880"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SzPct val="80000"/>
            </a:pPr>
            <a:r>
              <a:rPr lang="fr-FR" sz="2400" dirty="0">
                <a:solidFill>
                  <a:srgbClr val="000000"/>
                </a:solidFill>
              </a:rPr>
              <a:t>Lors d'une opération d'importation, tous les paramètres d'objet Stratégie de groupe sont copiés depuis l'objet Stratégie de groupe source vers l'objet Stratégie de </a:t>
            </a:r>
            <a:r>
              <a:rPr lang="fr-FR" sz="2400" dirty="0" smtClean="0">
                <a:solidFill>
                  <a:srgbClr val="000000"/>
                </a:solidFill>
              </a:rPr>
              <a:t>groupe </a:t>
            </a:r>
            <a:r>
              <a:rPr lang="fr-FR" sz="2400" dirty="0">
                <a:solidFill>
                  <a:srgbClr val="000000"/>
                </a:solidFill>
              </a:rPr>
              <a:t>cible</a:t>
            </a:r>
            <a:endParaRPr lang="en-US" sz="2400" dirty="0"/>
          </a:p>
        </p:txBody>
      </p:sp>
      <p:sp>
        <p:nvSpPr>
          <p:cNvPr id="466994" name="AutoShape 50"/>
          <p:cNvSpPr>
            <a:spLocks noChangeArrowheads="1"/>
          </p:cNvSpPr>
          <p:nvPr/>
        </p:nvSpPr>
        <p:spPr bwMode="auto">
          <a:xfrm>
            <a:off x="2873375" y="1417638"/>
            <a:ext cx="2847975" cy="2762250"/>
          </a:xfrm>
          <a:custGeom>
            <a:avLst/>
            <a:gdLst>
              <a:gd name="G0" fmla="+- -3051117 0 0"/>
              <a:gd name="G1" fmla="+- -9437420 0 0"/>
              <a:gd name="G2" fmla="+- -3051117 0 -9437420"/>
              <a:gd name="G3" fmla="+- 10800 0 0"/>
              <a:gd name="G4" fmla="+- 0 0 -305111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883 0 0"/>
              <a:gd name="G9" fmla="+- 0 0 -9437420"/>
              <a:gd name="G10" fmla="+- 5883 0 2700"/>
              <a:gd name="G11" fmla="cos G10 -3051117"/>
              <a:gd name="G12" fmla="sin G10 -3051117"/>
              <a:gd name="G13" fmla="cos 13500 -3051117"/>
              <a:gd name="G14" fmla="sin 13500 -3051117"/>
              <a:gd name="G15" fmla="+- G11 10800 0"/>
              <a:gd name="G16" fmla="+- G12 10800 0"/>
              <a:gd name="G17" fmla="+- G13 10800 0"/>
              <a:gd name="G18" fmla="+- G14 10800 0"/>
              <a:gd name="G19" fmla="*/ 5883 1 2"/>
              <a:gd name="G20" fmla="+- G19 5400 0"/>
              <a:gd name="G21" fmla="cos G20 -3051117"/>
              <a:gd name="G22" fmla="sin G20 -3051117"/>
              <a:gd name="G23" fmla="+- G21 10800 0"/>
              <a:gd name="G24" fmla="+- G12 G23 G22"/>
              <a:gd name="G25" fmla="+- G22 G23 G11"/>
              <a:gd name="G26" fmla="cos 10800 -3051117"/>
              <a:gd name="G27" fmla="sin 10800 -3051117"/>
              <a:gd name="G28" fmla="cos 5883 -3051117"/>
              <a:gd name="G29" fmla="sin 5883 -305111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9437420"/>
              <a:gd name="G36" fmla="sin G34 -9437420"/>
              <a:gd name="G37" fmla="+/ -9437420 -305111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883 G39"/>
              <a:gd name="G43" fmla="sin 5883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9806 w 21600"/>
              <a:gd name="T5" fmla="*/ 45 h 21600"/>
              <a:gd name="T6" fmla="*/ 4050 w 21600"/>
              <a:gd name="T7" fmla="*/ 5897 h 21600"/>
              <a:gd name="T8" fmla="*/ 10258 w 21600"/>
              <a:gd name="T9" fmla="*/ 4941 h 21600"/>
              <a:gd name="T10" fmla="*/ 20083 w 21600"/>
              <a:gd name="T11" fmla="*/ 998 h 21600"/>
              <a:gd name="T12" fmla="*/ 20281 w 21600"/>
              <a:gd name="T13" fmla="*/ 8291 h 21600"/>
              <a:gd name="T14" fmla="*/ 12988 w 21600"/>
              <a:gd name="T15" fmla="*/ 8488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4845" y="6528"/>
                </a:moveTo>
                <a:cubicBezTo>
                  <a:pt x="13752" y="5493"/>
                  <a:pt x="12304" y="4917"/>
                  <a:pt x="10800" y="4917"/>
                </a:cubicBezTo>
                <a:cubicBezTo>
                  <a:pt x="8916" y="4916"/>
                  <a:pt x="7147" y="5818"/>
                  <a:pt x="6040" y="7342"/>
                </a:cubicBezTo>
                <a:lnTo>
                  <a:pt x="2062" y="4452"/>
                </a:lnTo>
                <a:cubicBezTo>
                  <a:pt x="4094" y="1655"/>
                  <a:pt x="7342" y="-1"/>
                  <a:pt x="10800" y="0"/>
                </a:cubicBezTo>
                <a:cubicBezTo>
                  <a:pt x="13562" y="0"/>
                  <a:pt x="16220" y="1058"/>
                  <a:pt x="18226" y="2958"/>
                </a:cubicBezTo>
                <a:lnTo>
                  <a:pt x="20083" y="998"/>
                </a:lnTo>
                <a:lnTo>
                  <a:pt x="20281" y="8291"/>
                </a:lnTo>
                <a:lnTo>
                  <a:pt x="12988" y="8488"/>
                </a:lnTo>
                <a:lnTo>
                  <a:pt x="14845" y="6528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66995" name="Line 51"/>
          <p:cNvSpPr>
            <a:spLocks noChangeShapeType="1"/>
          </p:cNvSpPr>
          <p:nvPr/>
        </p:nvSpPr>
        <p:spPr bwMode="auto">
          <a:xfrm>
            <a:off x="3149600" y="3094038"/>
            <a:ext cx="2768600" cy="0"/>
          </a:xfrm>
          <a:prstGeom prst="line">
            <a:avLst/>
          </a:prstGeom>
          <a:noFill/>
          <a:ln w="76200" cap="rnd">
            <a:solidFill>
              <a:srgbClr val="CC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66996" name="Picture 52" descr="Server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6438" y="2222500"/>
            <a:ext cx="1425575" cy="1677988"/>
          </a:xfrm>
          <a:prstGeom prst="rect">
            <a:avLst/>
          </a:prstGeom>
          <a:noFill/>
        </p:spPr>
      </p:pic>
      <p:sp>
        <p:nvSpPr>
          <p:cNvPr id="466997" name="AutoShape 53"/>
          <p:cNvSpPr>
            <a:spLocks noChangeArrowheads="1"/>
          </p:cNvSpPr>
          <p:nvPr/>
        </p:nvSpPr>
        <p:spPr bwMode="auto">
          <a:xfrm>
            <a:off x="1989138" y="2505075"/>
            <a:ext cx="746125" cy="276225"/>
          </a:xfrm>
          <a:prstGeom prst="roundRect">
            <a:avLst>
              <a:gd name="adj" fmla="val 1092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>
                <a:solidFill>
                  <a:srgbClr val="000000"/>
                </a:solidFill>
              </a:rPr>
              <a:t>GPO1</a:t>
            </a:r>
            <a:endParaRPr lang="en-US"/>
          </a:p>
        </p:txBody>
      </p:sp>
      <p:pic>
        <p:nvPicPr>
          <p:cNvPr id="466998" name="Picture 54" descr="GroupPolicyObject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60563" y="2770188"/>
            <a:ext cx="1246187" cy="738187"/>
          </a:xfrm>
          <a:prstGeom prst="rect">
            <a:avLst/>
          </a:prstGeom>
          <a:noFill/>
        </p:spPr>
      </p:pic>
      <p:sp>
        <p:nvSpPr>
          <p:cNvPr id="466999" name="Text Box 55"/>
          <p:cNvSpPr txBox="1">
            <a:spLocks noChangeArrowheads="1"/>
          </p:cNvSpPr>
          <p:nvPr/>
        </p:nvSpPr>
        <p:spPr bwMode="auto">
          <a:xfrm>
            <a:off x="3519488" y="1476375"/>
            <a:ext cx="1558925" cy="609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fr-FR" sz="2000">
                <a:solidFill>
                  <a:srgbClr val="000000"/>
                </a:solidFill>
              </a:rPr>
              <a:t>Opération d'importation</a:t>
            </a:r>
            <a:endParaRPr lang="en-US" sz="2000"/>
          </a:p>
        </p:txBody>
      </p:sp>
      <p:pic>
        <p:nvPicPr>
          <p:cNvPr id="467000" name="Picture 56" descr="Server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34213" y="2222500"/>
            <a:ext cx="1425575" cy="1677988"/>
          </a:xfrm>
          <a:prstGeom prst="rect">
            <a:avLst/>
          </a:prstGeom>
          <a:noFill/>
        </p:spPr>
      </p:pic>
      <p:sp>
        <p:nvSpPr>
          <p:cNvPr id="467001" name="AutoShape 57"/>
          <p:cNvSpPr>
            <a:spLocks noChangeArrowheads="1"/>
          </p:cNvSpPr>
          <p:nvPr/>
        </p:nvSpPr>
        <p:spPr bwMode="auto">
          <a:xfrm>
            <a:off x="6353175" y="2490788"/>
            <a:ext cx="746125" cy="276225"/>
          </a:xfrm>
          <a:prstGeom prst="roundRect">
            <a:avLst>
              <a:gd name="adj" fmla="val 1092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>
                <a:solidFill>
                  <a:srgbClr val="000000"/>
                </a:solidFill>
              </a:rPr>
              <a:t>GPO2</a:t>
            </a:r>
            <a:endParaRPr lang="en-US"/>
          </a:p>
        </p:txBody>
      </p:sp>
      <p:pic>
        <p:nvPicPr>
          <p:cNvPr id="467002" name="Picture 58" descr="GroupPolicyObject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94388" y="2770188"/>
            <a:ext cx="1246187" cy="738187"/>
          </a:xfrm>
          <a:prstGeom prst="rect">
            <a:avLst/>
          </a:prstGeom>
          <a:noFill/>
        </p:spPr>
      </p:pic>
      <p:pic>
        <p:nvPicPr>
          <p:cNvPr id="467003" name="Picture 59" descr="Document_CheckList0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63975" y="2460625"/>
            <a:ext cx="1314450" cy="1676400"/>
          </a:xfrm>
          <a:prstGeom prst="rect">
            <a:avLst/>
          </a:prstGeom>
          <a:noFill/>
        </p:spPr>
      </p:pic>
      <p:sp>
        <p:nvSpPr>
          <p:cNvPr id="467004" name="Text Box 60"/>
          <p:cNvSpPr txBox="1">
            <a:spLocks noChangeArrowheads="1"/>
          </p:cNvSpPr>
          <p:nvPr/>
        </p:nvSpPr>
        <p:spPr bwMode="auto">
          <a:xfrm>
            <a:off x="3222173" y="3621995"/>
            <a:ext cx="2888342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r>
              <a:rPr lang="fr-FR">
                <a:solidFill>
                  <a:srgbClr val="000000"/>
                </a:solidFill>
              </a:rPr>
              <a:t>Paramètres</a:t>
            </a:r>
            <a:br>
              <a:rPr lang="fr-FR">
                <a:solidFill>
                  <a:srgbClr val="000000"/>
                </a:solidFill>
              </a:rPr>
            </a:br>
            <a:r>
              <a:rPr lang="fr-FR">
                <a:solidFill>
                  <a:srgbClr val="000000"/>
                </a:solidFill>
              </a:rPr>
              <a:t>de l’objet Stratégie</a:t>
            </a:r>
            <a:br>
              <a:rPr lang="fr-FR">
                <a:solidFill>
                  <a:srgbClr val="000000"/>
                </a:solidFill>
              </a:rPr>
            </a:br>
            <a:r>
              <a:rPr lang="fr-FR">
                <a:solidFill>
                  <a:srgbClr val="000000"/>
                </a:solidFill>
              </a:rPr>
              <a:t>de groupe</a:t>
            </a:r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66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600" b="1" dirty="0" smtClean="0">
                <a:solidFill>
                  <a:srgbClr val="000000"/>
                </a:solidFill>
              </a:rPr>
              <a:t>4. Délégation </a:t>
            </a:r>
            <a:r>
              <a:rPr lang="fr-FR" sz="2600" b="1" dirty="0">
                <a:solidFill>
                  <a:srgbClr val="000000"/>
                </a:solidFill>
              </a:rPr>
              <a:t>du contrôle administratif de la stratégie de groupe</a:t>
            </a:r>
            <a:endParaRPr lang="en-US" sz="2600" b="1" dirty="0">
              <a:solidFill>
                <a:srgbClr val="000000"/>
              </a:solidFill>
            </a:endParaRPr>
          </a:p>
        </p:txBody>
      </p:sp>
      <p:sp>
        <p:nvSpPr>
          <p:cNvPr id="3727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2267276"/>
            <a:ext cx="8503920" cy="2116038"/>
          </a:xfrm>
        </p:spPr>
        <p:txBody>
          <a:bodyPr/>
          <a:lstStyle/>
          <a:p>
            <a:r>
              <a:rPr lang="fr-FR" dirty="0">
                <a:solidFill>
                  <a:srgbClr val="C00000"/>
                </a:solidFill>
              </a:rPr>
              <a:t>Délégation des objets Stratégie de groupe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fr-FR" dirty="0">
                <a:solidFill>
                  <a:srgbClr val="C00000"/>
                </a:solidFill>
              </a:rPr>
              <a:t>Délégation de la stratégie de groupe pour un site, </a:t>
            </a:r>
            <a:br>
              <a:rPr lang="fr-FR" dirty="0">
                <a:solidFill>
                  <a:srgbClr val="C00000"/>
                </a:solidFill>
              </a:rPr>
            </a:br>
            <a:r>
              <a:rPr lang="fr-FR" dirty="0">
                <a:solidFill>
                  <a:srgbClr val="C00000"/>
                </a:solidFill>
              </a:rPr>
              <a:t>un domaine ou une unité d'organisation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fr-FR" dirty="0">
                <a:solidFill>
                  <a:srgbClr val="C00000"/>
                </a:solidFill>
              </a:rPr>
              <a:t>Délégation de filtres </a:t>
            </a:r>
            <a:r>
              <a:rPr lang="fr-FR" dirty="0" smtClean="0">
                <a:solidFill>
                  <a:srgbClr val="C00000"/>
                </a:solidFill>
              </a:rPr>
              <a:t>WMI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Délégation des objets Stratégie de groupe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487528" name="Group 104"/>
          <p:cNvGraphicFramePr>
            <a:graphicFrameLocks noGrp="1"/>
          </p:cNvGraphicFramePr>
          <p:nvPr/>
        </p:nvGraphicFramePr>
        <p:xfrm>
          <a:off x="174171" y="1802725"/>
          <a:ext cx="8737600" cy="3940048"/>
        </p:xfrm>
        <a:graphic>
          <a:graphicData uri="http://schemas.openxmlformats.org/drawingml/2006/table">
            <a:tbl>
              <a:tblPr/>
              <a:tblGrid>
                <a:gridCol w="3033486"/>
                <a:gridCol w="2974849"/>
                <a:gridCol w="2729265"/>
              </a:tblGrid>
              <a:tr h="1039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Méthodes d'affectation d'autorisation pour créer des GPO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Permet aux utilisateurs de créer uniquement des GPO dans le domaine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Permet aux utilisateurs de modifier ou de supprimer des GPO ou de lier un GPO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1247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Ajouter le groupe ou l'utilisateur au groupe </a:t>
                      </a: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itchFamily="34" charset="0"/>
                        </a:rPr>
                        <a:t>Propriétaires créateurs </a:t>
                      </a:r>
                      <a:b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itchFamily="34" charset="0"/>
                        </a:rPr>
                        <a:t>de la stratégie de groupe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93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Attribuer explicitement au groupe ou à l'utilisateur l'autorisation de créer des objets Stratégie de groupe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87456" name="Picture 32" descr="Validate_CheckMark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03725" y="3435672"/>
            <a:ext cx="685800" cy="649287"/>
          </a:xfrm>
          <a:prstGeom prst="rect">
            <a:avLst/>
          </a:prstGeom>
          <a:noFill/>
        </p:spPr>
      </p:pic>
      <p:pic>
        <p:nvPicPr>
          <p:cNvPr id="487458" name="Picture 34" descr="Validate_CheckMark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30713" y="4858072"/>
            <a:ext cx="685800" cy="649287"/>
          </a:xfrm>
          <a:prstGeom prst="rect">
            <a:avLst/>
          </a:prstGeom>
          <a:noFill/>
        </p:spPr>
      </p:pic>
      <p:pic>
        <p:nvPicPr>
          <p:cNvPr id="487470" name="Picture 46" descr="Validate_XMark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40538" y="3407097"/>
            <a:ext cx="695325" cy="846137"/>
          </a:xfrm>
          <a:prstGeom prst="rect">
            <a:avLst/>
          </a:prstGeom>
          <a:noFill/>
        </p:spPr>
      </p:pic>
      <p:pic>
        <p:nvPicPr>
          <p:cNvPr id="8" name="Picture 46" descr="Validate_XMark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0434" y="4652027"/>
            <a:ext cx="695325" cy="8461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Délégation de filtres WMI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75174" name="AutoShape 38"/>
          <p:cNvSpPr>
            <a:spLocks noChangeArrowheads="1"/>
          </p:cNvSpPr>
          <p:nvPr/>
        </p:nvSpPr>
        <p:spPr bwMode="auto">
          <a:xfrm>
            <a:off x="3860338" y="1287463"/>
            <a:ext cx="2200048" cy="45243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600" i="1" u="sng">
                <a:solidFill>
                  <a:srgbClr val="000000"/>
                </a:solidFill>
              </a:rPr>
              <a:t>Création</a:t>
            </a:r>
            <a:endParaRPr lang="en-US" sz="2600" i="1" u="sng"/>
          </a:p>
        </p:txBody>
      </p:sp>
      <p:sp>
        <p:nvSpPr>
          <p:cNvPr id="475175" name="AutoShape 39"/>
          <p:cNvSpPr>
            <a:spLocks noChangeArrowheads="1"/>
          </p:cNvSpPr>
          <p:nvPr/>
        </p:nvSpPr>
        <p:spPr bwMode="auto">
          <a:xfrm>
            <a:off x="3503204" y="1741488"/>
            <a:ext cx="5486400" cy="1889125"/>
          </a:xfrm>
          <a:prstGeom prst="roundRect">
            <a:avLst>
              <a:gd name="adj" fmla="val 4167"/>
            </a:avLst>
          </a:prstGeom>
          <a:solidFill>
            <a:srgbClr val="DFE8F2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>
              <a:lnSpc>
                <a:spcPct val="85000"/>
              </a:lnSpc>
            </a:pPr>
            <a:r>
              <a:rPr lang="fr-FR" sz="2400" dirty="0">
                <a:solidFill>
                  <a:srgbClr val="000000"/>
                </a:solidFill>
              </a:rPr>
              <a:t>Pour créer un filtre WMI, utilisez les autorisations suivantes :</a:t>
            </a:r>
            <a:endParaRPr lang="en-US" sz="2400" dirty="0"/>
          </a:p>
        </p:txBody>
      </p:sp>
      <p:sp>
        <p:nvSpPr>
          <p:cNvPr id="475176" name="AutoShape 40"/>
          <p:cNvSpPr>
            <a:spLocks noChangeArrowheads="1"/>
          </p:cNvSpPr>
          <p:nvPr/>
        </p:nvSpPr>
        <p:spPr bwMode="auto">
          <a:xfrm>
            <a:off x="3560351" y="2489200"/>
            <a:ext cx="4989865" cy="96361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0"/>
              </a:buBlip>
            </a:pPr>
            <a:r>
              <a:rPr lang="fr-FR" sz="2400" dirty="0" smtClean="0">
                <a:solidFill>
                  <a:srgbClr val="000000"/>
                </a:solidFill>
              </a:rPr>
              <a:t>Propriétaire créateur</a:t>
            </a:r>
            <a:endParaRPr lang="en-US" sz="2400" dirty="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0"/>
              </a:buBlip>
            </a:pPr>
            <a:r>
              <a:rPr lang="fr-FR" sz="2400" dirty="0">
                <a:solidFill>
                  <a:srgbClr val="000000"/>
                </a:solidFill>
              </a:rPr>
              <a:t>Contrôle total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75177" name="AutoShape 41"/>
          <p:cNvSpPr>
            <a:spLocks noChangeArrowheads="1"/>
          </p:cNvSpPr>
          <p:nvPr/>
        </p:nvSpPr>
        <p:spPr bwMode="auto">
          <a:xfrm>
            <a:off x="3860338" y="3776663"/>
            <a:ext cx="2200048" cy="45243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600" i="1" u="sng">
                <a:solidFill>
                  <a:srgbClr val="000000"/>
                </a:solidFill>
              </a:rPr>
              <a:t>Délégation</a:t>
            </a:r>
            <a:endParaRPr lang="en-US" sz="2600" i="1" u="sng"/>
          </a:p>
        </p:txBody>
      </p:sp>
      <p:sp>
        <p:nvSpPr>
          <p:cNvPr id="475178" name="AutoShape 42"/>
          <p:cNvSpPr>
            <a:spLocks noChangeArrowheads="1"/>
          </p:cNvSpPr>
          <p:nvPr/>
        </p:nvSpPr>
        <p:spPr bwMode="auto">
          <a:xfrm>
            <a:off x="3431951" y="4230688"/>
            <a:ext cx="5533901" cy="1990725"/>
          </a:xfrm>
          <a:prstGeom prst="roundRect">
            <a:avLst>
              <a:gd name="adj" fmla="val 4167"/>
            </a:avLst>
          </a:prstGeom>
          <a:solidFill>
            <a:srgbClr val="DFE8F2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>
              <a:lnSpc>
                <a:spcPct val="85000"/>
              </a:lnSpc>
            </a:pPr>
            <a:r>
              <a:rPr lang="fr-FR" sz="2400">
                <a:solidFill>
                  <a:srgbClr val="000000"/>
                </a:solidFill>
              </a:rPr>
              <a:t>Pour déléguer un filtre WMI, affectez les autorisations suivantes :</a:t>
            </a:r>
            <a:endParaRPr lang="en-US" sz="2400"/>
          </a:p>
        </p:txBody>
      </p:sp>
      <p:sp>
        <p:nvSpPr>
          <p:cNvPr id="475179" name="AutoShape 43"/>
          <p:cNvSpPr>
            <a:spLocks noChangeArrowheads="1"/>
          </p:cNvSpPr>
          <p:nvPr/>
        </p:nvSpPr>
        <p:spPr bwMode="auto">
          <a:xfrm>
            <a:off x="3510610" y="5047013"/>
            <a:ext cx="5087107" cy="99183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0"/>
              </a:buBlip>
            </a:pPr>
            <a:r>
              <a:rPr lang="fr-FR" sz="2400" dirty="0">
                <a:solidFill>
                  <a:srgbClr val="000000"/>
                </a:solidFill>
              </a:rPr>
              <a:t>Modifier</a:t>
            </a:r>
            <a:endParaRPr lang="en-US" sz="2400" dirty="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0"/>
              </a:buBlip>
            </a:pPr>
            <a:r>
              <a:rPr lang="fr-FR" sz="2400" dirty="0">
                <a:solidFill>
                  <a:srgbClr val="000000"/>
                </a:solidFill>
              </a:rPr>
              <a:t>Contrôle total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9" name="AutoShape 2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16225" y="4731327"/>
            <a:ext cx="2727619" cy="1092200"/>
          </a:xfrm>
          <a:prstGeom prst="roundRect">
            <a:avLst>
              <a:gd name="adj" fmla="val 4167"/>
            </a:avLst>
          </a:prstGeom>
          <a:solidFill>
            <a:srgbClr val="F0F1E1"/>
          </a:soli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 algn="l"/>
            <a:endParaRPr lang="fr-FR"/>
          </a:p>
        </p:txBody>
      </p:sp>
      <p:pic>
        <p:nvPicPr>
          <p:cNvPr id="10" name="Picture 28" descr="UserWithDesktopComputer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187837" y="4582102"/>
            <a:ext cx="1236663" cy="1438275"/>
          </a:xfrm>
          <a:prstGeom prst="rect">
            <a:avLst/>
          </a:prstGeom>
          <a:noFill/>
        </p:spPr>
      </p:pic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736862" y="4871027"/>
            <a:ext cx="157003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Administrateur </a:t>
            </a:r>
            <a:br>
              <a:rPr lang="fr-FR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12" name="AutoShape 3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946412" y="3443865"/>
            <a:ext cx="2212975" cy="596900"/>
          </a:xfrm>
          <a:prstGeom prst="leftArrow">
            <a:avLst>
              <a:gd name="adj1" fmla="val 49472"/>
              <a:gd name="adj2" fmla="val 100599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3" name="AutoShape 3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25751" y="1648402"/>
            <a:ext cx="2682468" cy="1092200"/>
          </a:xfrm>
          <a:prstGeom prst="roundRect">
            <a:avLst>
              <a:gd name="adj" fmla="val 4167"/>
            </a:avLst>
          </a:prstGeom>
          <a:solidFill>
            <a:srgbClr val="F0F1E1"/>
          </a:soli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 algn="l"/>
            <a:endParaRPr lang="fr-FR"/>
          </a:p>
        </p:txBody>
      </p:sp>
      <p:pic>
        <p:nvPicPr>
          <p:cNvPr id="14" name="Picture 32" descr="UserWithDesktopComputer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97187" y="1499177"/>
            <a:ext cx="1236663" cy="1438275"/>
          </a:xfrm>
          <a:prstGeom prst="rect">
            <a:avLst/>
          </a:prstGeom>
          <a:noFill/>
        </p:spPr>
      </p:pic>
      <p:sp>
        <p:nvSpPr>
          <p:cNvPr id="15" name="Rectangle 33"/>
          <p:cNvSpPr>
            <a:spLocks noChangeArrowheads="1"/>
          </p:cNvSpPr>
          <p:nvPr/>
        </p:nvSpPr>
        <p:spPr bwMode="auto">
          <a:xfrm>
            <a:off x="1949712" y="1748415"/>
            <a:ext cx="1570038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>
                <a:solidFill>
                  <a:srgbClr val="000000"/>
                </a:solidFill>
              </a:rPr>
              <a:t>Administrateur </a:t>
            </a:r>
            <a:br>
              <a:rPr lang="fr-FR">
                <a:solidFill>
                  <a:srgbClr val="000000"/>
                </a:solidFill>
              </a:rPr>
            </a:br>
            <a:r>
              <a:rPr lang="fr-FR">
                <a:solidFill>
                  <a:srgbClr val="000000"/>
                </a:solidFill>
              </a:rPr>
              <a:t>d'entreprise</a:t>
            </a:r>
            <a:endParaRPr lang="en-US"/>
          </a:p>
        </p:txBody>
      </p:sp>
      <p:sp>
        <p:nvSpPr>
          <p:cNvPr id="16" name="Oval 3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9670862">
            <a:off x="1629037" y="3232727"/>
            <a:ext cx="854075" cy="476250"/>
          </a:xfrm>
          <a:prstGeom prst="ellipse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17" name="Picture 36" descr="Filter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 rot="19830359">
            <a:off x="1524262" y="3129540"/>
            <a:ext cx="1063625" cy="744537"/>
          </a:xfrm>
          <a:prstGeom prst="rect">
            <a:avLst/>
          </a:prstGeom>
          <a:noFill/>
        </p:spPr>
      </p:pic>
      <p:sp>
        <p:nvSpPr>
          <p:cNvPr id="18" name="AutoShape 37"/>
          <p:cNvSpPr>
            <a:spLocks noChangeArrowheads="1"/>
          </p:cNvSpPr>
          <p:nvPr/>
        </p:nvSpPr>
        <p:spPr bwMode="auto">
          <a:xfrm>
            <a:off x="201875" y="3347027"/>
            <a:ext cx="1219200" cy="45720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28398" dir="1593903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/>
          <a:p>
            <a:r>
              <a:rPr lang="fr-FR" sz="2000">
                <a:solidFill>
                  <a:srgbClr val="000000"/>
                </a:solidFill>
              </a:rPr>
              <a:t>Filtre WMI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7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7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7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47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47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7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74" grpId="0" animBg="1"/>
      <p:bldP spid="475175" grpId="0" animBg="1"/>
      <p:bldP spid="475176" grpId="0" animBg="1"/>
      <p:bldP spid="475177" grpId="0" animBg="1"/>
      <p:bldP spid="475178" grpId="0" animBg="1"/>
      <p:bldP spid="47517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Exercices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495617" name="Rectangle 1"/>
          <p:cNvSpPr>
            <a:spLocks noChangeArrowheads="1"/>
          </p:cNvSpPr>
          <p:nvPr/>
        </p:nvSpPr>
        <p:spPr bwMode="auto">
          <a:xfrm>
            <a:off x="166255" y="1567544"/>
            <a:ext cx="8787739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Que contient un objet stratégie de groupe ?</a:t>
            </a:r>
          </a:p>
          <a:p>
            <a:pPr marL="87313" indent="-6350" algn="l" eaLnBrk="1" hangingPunct="1"/>
            <a:r>
              <a:rPr lang="fr-FR" sz="2400" i="1" dirty="0" smtClean="0"/>
              <a:t>Un objet stratégie de groupe contient deux grandes familles de paramètres. Les paramètres ordinateur s’appliquent aux ordinateurs, tandis que les paramètres utilisateur s’appliquent aux utilisateurs.</a:t>
            </a:r>
            <a:endParaRPr lang="fr-FR" sz="2400" dirty="0" smtClean="0"/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À quel emplacement du système de fichiers est stockée la structure GPT d’un objet stratégie de groupe ?</a:t>
            </a:r>
          </a:p>
          <a:p>
            <a:pPr marL="6350" indent="-6350" algn="l"/>
            <a:r>
              <a:rPr lang="fr-FR" sz="2400" i="1" dirty="0" smtClean="0"/>
              <a:t>Le modèle qui formate le contenu de tout objet stratégie de groupe est stocké dans le volume système </a:t>
            </a:r>
            <a:r>
              <a:rPr lang="fr-FR" sz="2400" i="1" dirty="0" err="1" smtClean="0"/>
              <a:t>Sysvol</a:t>
            </a:r>
            <a:r>
              <a:rPr lang="fr-FR" sz="2400" i="1" dirty="0" smtClean="0"/>
              <a:t> à l’emplacement C:\Windows\Sysvol\Sysvol</a:t>
            </a:r>
            <a:endParaRPr lang="fr-FR" sz="2400" dirty="0" smtClean="0"/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À quel moment la partie ordinateur des objets stratégies de groupe est-elle appliquée ?</a:t>
            </a:r>
          </a:p>
          <a:p>
            <a:pPr marL="6350" lvl="0" indent="-6350" algn="l"/>
            <a:r>
              <a:rPr lang="fr-FR" sz="2400" i="1" dirty="0" smtClean="0"/>
              <a:t>lors du démarrage puis lors du cycle de rafraîchissement lorsque la session est fermée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95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95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95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95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95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4956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Exercices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495617" name="Rectangle 1"/>
          <p:cNvSpPr>
            <a:spLocks noChangeArrowheads="1"/>
          </p:cNvSpPr>
          <p:nvPr/>
        </p:nvSpPr>
        <p:spPr bwMode="auto">
          <a:xfrm>
            <a:off x="166255" y="1567544"/>
            <a:ext cx="8787739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À quel moment la partie utilisateur des objets stratégies de groupe est-elle appliquée ?</a:t>
            </a:r>
          </a:p>
          <a:p>
            <a:pPr lvl="0" algn="l"/>
            <a:r>
              <a:rPr lang="fr-FR" sz="2400" i="1" dirty="0" smtClean="0"/>
              <a:t>lors de l’ouverture de session de l’utilisateur. Par défaut, les paramètres ne sont pas rafraîchis lorsque l’utilisateur est en session, mais ce paramètre peut être modifié en fonction des besoins.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Est-il possible de lier le même objet stratégie de groupe à plusieurs sites, domaines ou 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OUs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 ?</a:t>
            </a:r>
          </a:p>
          <a:p>
            <a:pPr marL="457200" lvl="0" indent="-457200" algn="l"/>
            <a:r>
              <a:rPr lang="en-US" sz="2400" i="1" dirty="0" err="1" smtClean="0"/>
              <a:t>Oui</a:t>
            </a:r>
            <a:r>
              <a:rPr lang="en-US" sz="2400" i="1" dirty="0" smtClean="0"/>
              <a:t>.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Est-il possible de lier plusieurs objets stratégies de groupe à un même site, domaine ou 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OU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 ?</a:t>
            </a:r>
          </a:p>
          <a:p>
            <a:pPr marL="457200" lvl="0" indent="-457200" algn="l"/>
            <a:r>
              <a:rPr lang="en-US" sz="2400" i="1" dirty="0" err="1" smtClean="0"/>
              <a:t>Oui</a:t>
            </a:r>
            <a:r>
              <a:rPr lang="en-US" sz="2400" i="1" dirty="0" smtClean="0"/>
              <a:t>.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95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95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95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95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95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4956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Exercices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495617" name="Rectangle 1"/>
          <p:cNvSpPr>
            <a:spLocks noChangeArrowheads="1"/>
          </p:cNvSpPr>
          <p:nvPr/>
        </p:nvSpPr>
        <p:spPr bwMode="auto">
          <a:xfrm>
            <a:off x="190006" y="1318162"/>
            <a:ext cx="8787739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/>
            <a:r>
              <a:rPr lang="fr-FR" sz="2400" b="0" dirty="0" smtClean="0">
                <a:latin typeface="Calibri" pitchFamily="34" charset="0"/>
                <a:ea typeface="Calibri" pitchFamily="34" charset="0"/>
                <a:cs typeface="Verdana" pitchFamily="34" charset="0"/>
              </a:rPr>
              <a:t>Quel est le contrôleur de domaine qui sera sollicité pour les opérations de création et de modification d’un objet stratégie de groupe ?</a:t>
            </a:r>
          </a:p>
          <a:p>
            <a:pPr algn="l"/>
            <a:r>
              <a:rPr lang="fr-FR" sz="2400" i="1" dirty="0" smtClean="0"/>
              <a:t>Par défaut, c’est le contrôleur de domaine jouant le rôle de maître d’opérations PDC </a:t>
            </a:r>
            <a:r>
              <a:rPr lang="fr-FR" sz="2400" i="1" dirty="0" err="1" smtClean="0"/>
              <a:t>Emulator</a:t>
            </a:r>
            <a:r>
              <a:rPr lang="fr-FR" sz="2400" i="1" dirty="0" smtClean="0"/>
              <a:t> qui sera sollicité.</a:t>
            </a:r>
            <a:endParaRPr lang="fr-FR" sz="2400" dirty="0" smtClean="0"/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erdana" pitchFamily="34" charset="0"/>
              </a:rPr>
              <a:t>Quelle commande permet de forcer le rafraîchissement des stratégies de groupe sur un ordinateur Windows XP Professionnel ou Windows Server 2003 ?</a:t>
            </a:r>
          </a:p>
          <a:p>
            <a:pPr marL="457200" lvl="0" indent="-457200" algn="l"/>
            <a:r>
              <a:rPr lang="fr-FR" sz="2400" i="1" dirty="0" smtClean="0"/>
              <a:t>Utilisez la commande </a:t>
            </a:r>
            <a:r>
              <a:rPr lang="fr-FR" sz="2400" i="1" dirty="0" err="1" smtClean="0"/>
              <a:t>Gpupdate</a:t>
            </a:r>
            <a:r>
              <a:rPr lang="fr-FR" sz="2400" i="1" dirty="0" smtClean="0"/>
              <a:t> /</a:t>
            </a:r>
            <a:r>
              <a:rPr lang="fr-FR" sz="2400" i="1" dirty="0" smtClean="0"/>
              <a:t>force</a:t>
            </a:r>
          </a:p>
          <a:p>
            <a:pPr marL="457200" lvl="0" indent="-457200" algn="l"/>
            <a:r>
              <a:rPr lang="fr-FR" sz="2400" b="0" dirty="0" smtClean="0">
                <a:latin typeface="Calibri" pitchFamily="34" charset="0"/>
                <a:ea typeface="Calibri" pitchFamily="34" charset="0"/>
                <a:cs typeface="Verdana" pitchFamily="34" charset="0"/>
              </a:rPr>
              <a:t>Qu’est-ce qu’un filtre WMI ?</a:t>
            </a:r>
          </a:p>
          <a:p>
            <a:pPr lvl="0" algn="l"/>
            <a:r>
              <a:rPr lang="fr-FR" sz="2400" i="1" dirty="0" smtClean="0"/>
              <a:t>Les filtres WMI permettent à un administrateur de spécifier une requête WMI qui permettra de filtrer l’application d’un objet Stratégie de groupe. </a:t>
            </a:r>
            <a:r>
              <a:rPr lang="en-US" sz="2400" i="1" dirty="0" err="1" smtClean="0"/>
              <a:t>Cette</a:t>
            </a:r>
            <a:r>
              <a:rPr lang="en-US" sz="2400" i="1" dirty="0" smtClean="0"/>
              <a:t> nouvelle </a:t>
            </a:r>
            <a:r>
              <a:rPr lang="en-US" sz="2400" i="1" dirty="0" err="1" smtClean="0"/>
              <a:t>fonctionnalité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permet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une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gestion</a:t>
            </a:r>
            <a:r>
              <a:rPr lang="en-US" sz="2400" i="1" dirty="0" smtClean="0"/>
              <a:t> des exceptions.</a:t>
            </a:r>
            <a:endParaRPr lang="fr-FR" sz="2400" b="0" dirty="0" smtClean="0">
              <a:latin typeface="Arial" pitchFamily="34" charset="0"/>
              <a:cs typeface="Arial" pitchFamily="34" charset="0"/>
            </a:endParaRPr>
          </a:p>
          <a:p>
            <a:pPr marL="457200" lvl="0" indent="-457200" algn="l"/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495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495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495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2000"/>
                                        <p:tgtEl>
                                          <p:spTgt spid="495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2000"/>
                                        <p:tgtEl>
                                          <p:spTgt spid="495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2000"/>
                                        <p:tgtEl>
                                          <p:spTgt spid="4956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10637</TotalTime>
  <Words>1275</Words>
  <Application>Microsoft PowerPoint</Application>
  <PresentationFormat>Affichage à l'écran (4:3)</PresentationFormat>
  <Paragraphs>190</Paragraphs>
  <Slides>26</Slides>
  <Notes>18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5" baseType="lpstr">
      <vt:lpstr>Arial</vt:lpstr>
      <vt:lpstr>Georgia</vt:lpstr>
      <vt:lpstr>Arial Narrow</vt:lpstr>
      <vt:lpstr>Wingdings 2</vt:lpstr>
      <vt:lpstr>Wingdings</vt:lpstr>
      <vt:lpstr>Calibri</vt:lpstr>
      <vt:lpstr>Verdana</vt:lpstr>
      <vt:lpstr>Civil</vt:lpstr>
      <vt:lpstr>Imagem de bitmap</vt:lpstr>
      <vt:lpstr>Chapitre 5   Implémentation d'une stratégie de groupe </vt:lpstr>
      <vt:lpstr>Plan du cours</vt:lpstr>
      <vt:lpstr>1. Création et configuration d'objets Stratégie de groupe</vt:lpstr>
      <vt:lpstr>Introduction aux stratégies de groupe</vt:lpstr>
      <vt:lpstr>Introduction aux stratégies de groupe</vt:lpstr>
      <vt:lpstr>Introduction aux stratégies de groupe</vt:lpstr>
      <vt:lpstr>Introduction aux stratégies de groupe</vt:lpstr>
      <vt:lpstr>Composants d'un objet Stratégie de groupe</vt:lpstr>
      <vt:lpstr>Pourquoi spécifier un contrôleur de domaine pour la gestion des objets Stratégie de groupe ?</vt:lpstr>
      <vt:lpstr>Définition des filtres WMI</vt:lpstr>
      <vt:lpstr>Définition des filtres WMI</vt:lpstr>
      <vt:lpstr>2. Configuration des fréquences d'actualisation et des paramètres de stratégie de groupe</vt:lpstr>
      <vt:lpstr>À quel moment la stratégie de groupe est-elle  appliquée ?</vt:lpstr>
      <vt:lpstr>Fréquence d’actualisation des paramètres de stratégie de groupe</vt:lpstr>
      <vt:lpstr>Comment actualiser les paramètres de stratégie de groupe sur l'ordinateur d'un utilisateur</vt:lpstr>
      <vt:lpstr>3. Gestion des objets Stratégie de groupe</vt:lpstr>
      <vt:lpstr>Définition d'une opération de copie</vt:lpstr>
      <vt:lpstr>Définition d'une opération de sauvegarde</vt:lpstr>
      <vt:lpstr>Définition d'une opération de restauration</vt:lpstr>
      <vt:lpstr>Définition d'une opération d'importation</vt:lpstr>
      <vt:lpstr>4. Délégation du contrôle administratif de la stratégie de groupe</vt:lpstr>
      <vt:lpstr>Délégation des objets Stratégie de groupe</vt:lpstr>
      <vt:lpstr>Délégation de filtres WMI</vt:lpstr>
      <vt:lpstr>Exercices</vt:lpstr>
      <vt:lpstr>Exercices</vt:lpstr>
      <vt:lpstr>Exercices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Annie Chowdhry</dc:creator>
  <cp:lastModifiedBy>Halima</cp:lastModifiedBy>
  <cp:revision>920</cp:revision>
  <dcterms:created xsi:type="dcterms:W3CDTF">2002-08-07T17:51:12Z</dcterms:created>
  <dcterms:modified xsi:type="dcterms:W3CDTF">2016-03-06T20:54:58Z</dcterms:modified>
</cp:coreProperties>
</file>